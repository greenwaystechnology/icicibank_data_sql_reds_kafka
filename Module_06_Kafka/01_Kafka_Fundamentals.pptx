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tells a story in six parts: how computing became distributed, how systems learned to message each other, and why a log-based system - Kafka - was the answer. It follows the way the Apache Kafka documentation and Confluent's Kafka 101 course explain Kafka: events first, then the log, then the platform.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Parts 1 to 3 are the 'before Kafka' story: why data had to move, and how messaging tried to move it. Part 4 is where Kafka appears. Parts 5 and 6 give the vocabulary: event, log, topic, partition, producer, consumer.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Tanenbaum's definition is the classic one. Stress 'appears as a single system': the hard part is hiding the fact that data is constantly moving between machines. Keep asking the same question through Part 1 - where is the data, and how does it move?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history that follows is really the story of these layers moving onto separate machines, one by one. The integration layer is where every era struggled - and where Kafka lives.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map for Part 1. We will visit each era briefly. The last box is where this course is heading - it is the answer to the problems the other seven created.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and data layers sit together on the mainframe; only the screen is remote. Data never has to move between machines - which is exactly why it is simple, and why it cannot scale beyond one very expensive computer.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light - three dates. The point is the last line: once two machines talk over a wire, the wire can be slow, broken or busy. Every design since then is a different answer to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is the bridge era: the mainframe is still the server, but clients are now real computers running the user interface. 2.2 is ordinary computers on both sides. Data now moves over a LAN as SQL queries and results.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way of classifying the eras we are walking through. Each step to the right moves one more layer onto its own machine: two tier over a LAN or WAN, three tier over the internet, N tier splitting the business layer itself.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Birrell and Nelson described RPC in 1984; CORBA, DCOM and Java RMI brought it to objects. The idea is appealing - but a remote call is not a local call. The right-hand card is the synchronous coupling that messaging, and later Kafka, set out to remove.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tier runs over the internet. Notice the new integration point: every web application talks to the same database - which quietly becomes the way systems share data with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SOAP and WSDL appeared around 2000; ESB products followed. Keep the left card in mind: a central hub is right. Microservices later reacted against the heavy bus with 'smart endpoints and dumb pipes' (Lewis and Fowler, 2014). Kafka is a central hub that stays a simple, fast pipe - and remembers what went through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made machines cheap and elastic; containers made services easy to ship. Point at the Notification service: it needs to know about orders and payments. How does that data get to it? Direct API calls - which brings back the N x M problem.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 Peter Deutsch and colleagues at Sun listed the first seven in 1994; James Gosling added the eighth. Ask the room which one has hurt them most. The answer is almost always number 1 or number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bridge into Part 2. Every row is a different answer to the question at the top, and every answer had a cost. Kafka is a different kind of answer: publish the data once, as events, and let anyone who needs it read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take information in, analyze it, manipulate it, and create more as output. Ask the room what data their own applications create - they will name all four kinds within a minute.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recommendation you see 'a little later' is the whole point: data created in one place, analyzed in another, used in a third. The two cards are the business case for everything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in motion' is the phrase Confluent uses for event streaming. Neither side is wrong - a bank needs month-end reports AND instant fraud checks. The point is that the right-hand side needs a different kind of system.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most monitoring starts: a front-end server and a back-end server, each writing straight to one metrics server. Nothing wrong with it yet.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Clustering doubles the servers and doubles the direct connections. The metrics server must know about - and accept connections from - every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publisher is still writing directly to the metrics server. Before long you want to analyze metrics over a longer term, or keep different sources apart - and the direct design has no good answer.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one of the 15 red lines is code, configuration and a failure point. The broker turns a multiplication into an addition - the same argument Jay Kreps made about LinkedIn's data pipelines, which we will meet in Part 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real improvement: the direct connections are gone, replaced by a pub/sub system in the middle. Point out the word queue - Part 3 explains where queues come from and why Kafka chose something else.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it as a story about three teams. Each decision is sensible on its own. The result on the next slide is not.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on the goal. Before we meet Kafka, Part 3 looks at the messaging systems these teams would actually have used - and why none of them fully fit.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Store-and-forward is the core idea of every messaging system since the 1980s. It breaks the time coupling we saw with remote calls: the sender does not care whether the receiver is up right now.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messaging product offers one or both of these models. Kafka can do both, using consumer groups - the next deck shows how.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sender does not direct the message to a receiver; it classifies it, and receivers subscribe to classes. The broker is the central point where messages are published - that is what makes this work.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each term to the metrics example. The Kafka note is a preview; topics return in Part 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clicks, three at a time. TIB from Teknekron (later TIBCO) put publish/subscribe on trading floors; IBM MQSeries brought reliable queues to banks and is still widely used. The bottom line is the one to remember: queue, queue, queue... then log.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Java developers met messaging through JMS in a J2EE application server. It is worth saying clearly that Kafka is not a JMS provider - the mental model is different, as Part 4 shows.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4 is the one to stress: in a traditional queue, reading a message removes it. The broker's job is to get each message to a consumer and then forget it. Hold that thought - Kafka does the opposite.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families of tools existed side by side: messaging systems (real time, modest volume, delete after reading) and log aggregators (huge volume, batch, hours of delay). LinkedIn needed the best of both.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lists come from the 2011 Kafka paper by Kreps, Narkhede and Rao. The same click had to reach the news feed within seconds AND land in Hadoop for tomorrow's analysis. No existing tool did both.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Paraphrasing the 2011 paper: traditional messaging offered delivery guarantees that were overkill for logs, did not focus on throughput, scaled out poorly, and slowed down when messages piled up. Log aggregators were built for offline consumption. Kafka combined both.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this next to 'Everyone builds their own'. Same publishers, same consumers - one system in the middle instead of three.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early years are about the log; the middle years add Connect and Streams, which turn Kafka from a message pipe into a streaming platform; the recent years simplify operations by removing ZooKeeper.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statements, one per click. The third surprises most developers: Kafka's design comes from logging, not from message queues.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Java developer has used a logging framework. The log lines here are the kind of record Kafka was inspired by: timestamped, one per line, in order.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cannot insert a new entry in the middle of a log file, and you do not edit old entries. That makes a log immutable - exactly the property Kafka relies 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Jay Kreps' 2013 essay, 'The Log: What every software engineer should know about real-time data's unifying abstraction', is the best background reading for this deck. The picture here is Kafka's core idea in one line: append at the end, read from anywhere.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row to linger on is 'Read by': a Log4j file is read by a person after something goes wrong; Kafka is read by many programs while the data is still arriving.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database replica stays in sync by replaying the primary's commit log. Kafka generalises that trick: any system can stay in sync with any other by reading the same log.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slide for understanding Kafka. Two readers at different offsets of the same log, neither affecting the other. Contrast with rule 4 of traditional messaging: there, reading removes the message.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chips build, then ask: what do all of these have in common? Get the room to say 'they happened'. That is the bridge into Part 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events from the last five minutes of their own lives. Everything they say will be in the past tense - which is the grammar of events.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 WHEN / DETAILS previews how Kafka stores an event: something that happened, a timestamp, and the data. Next slide gives Confluent's two-word version.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Notification plus state is the way Confluent's Kafka 101 course describes an event. The code box mirrors the example in the Apache Kafka introduction, with our own payment to Ramesh. Kafka stores events as key/value pairs - Part 6 comes back to that.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is familiar to every developer. The right-hand card gives the reasons a table is an awkward home for a never-ending, ordered stream of facts.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Confluent's Kafka 101 opens with exactly this point: we naturally think of data as tables of things, but Kafka encourages us to think of events first - an item sold, a turn signal used, a click. Kafka supports both ways of thinking.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Confluent calls this the stream-table duality. The table tells you what is true NOW; the stream tells you HOW you got here. From the stream you can always rebuild the table - from the table alone you can never recover the history.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sketch from the notes turned sideways: frontend server, the click event, Kafka, events.log. The replay step is what separates this from the traditional queue in Part 3.</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Recording and reporting are separate - that separation is the heart of event-driven design.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 builds line by line on the first click - let it play. A recorder that never forgets and never rewrites is the mental model to carry into every later Kafka topic.</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definition at the top of the Apache Kafka introduction page, broken into its four verbs. The nervous-system comparison works well in class: signals arrive from everywhere, travel continuously, and trigger reactions.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class which of these is closest to their own work. For a bank, the first card is the obvious one - but fraud, notifications and customer 360 views are all event streaming too.</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Clients exist for many languages, but the Kafka server itself is a JVM process that reads and writes commit-log files.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mirrors 'How does Kafka work in a nutshell?' in the Apache docs. Brokers are the storage layer; Connect servers integrate existing systems; clients - in many languages - read, write and process events.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is usually an identifier - a customer, an order, a device - but unlike a database key it does not have to be unique. It matters for partitioning, two slides 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folder analogy is from the Apache docs. Confluent's Kafka 101 adds the key point: topics are logs, not queues - which is Part 4's queue-vs-log slide again.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the idea here - the next deck goes deep. Partitions are the unit of scale and of ordering; replication is the unit of safety. Both come straight from the Apache intro.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Apache docs call producers and consumers 'fully decoupled and agnostic of each other' - the key design element behind Kafka's scalability. Compare with the direct connections of Part 2.</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card is the Apache project: the five core APIs listed in the Apache docs. The right card is the wider platform Confluent calls a data streaming platform - some of it open source, some commercial. This course focuses on the left side first.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Paraphrasing the Apache intro. Every capability answers a problem we built up earlier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definition, then reveal the six phrases one at a time and ask which part of the deck explains each one.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figure is from the Kafka home page; the second from LinkedIn's 2019 engineering blog about running Kafka at 7 trillion messages a day - a long way from the metrics problem it started with.</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leave with. If learners can explain why a log is different from a queue, and what an event is, they are ready for topics and partitions in depth.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edge1"/>
          <p:cNvSpPr/>
          <p:nvPr/>
        </p:nvSpPr>
        <p:spPr>
          <a:xfrm>
            <a:off x="0" y="0"/>
            <a:ext cx="128016" cy="51435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a0f_kick2"/>
          <p:cNvSpPr txBox="1"/>
          <p:nvPr/>
        </p:nvSpPr>
        <p:spPr>
          <a:xfrm>
            <a:off x="548640" y="868680"/>
            <a:ext cx="4937760" cy="292608"/>
          </a:xfrm>
          <a:prstGeom prst="rect">
            <a:avLst/>
          </a:prstGeom>
          <a:noFill/>
        </p:spPr>
        <p:txBody>
          <a:bodyPr wrap="square" lIns="0" tIns="0" rIns="0" bIns="0" anchor="ctr">
            <a:spAutoFit/>
          </a:bodyPr>
          <a:lstStyle/>
          <a:p>
            <a:pPr algn="l"/>
            <a:r>
              <a:rPr sz="1050" b="1" spc="300">
                <a:solidFill>
                  <a:srgbClr val="FB923C"/>
                </a:solidFill>
                <a:latin typeface="Segoe UI"/>
              </a:rPr>
              <a:t>APACHE KAFKA TRAINING</a:t>
            </a:r>
          </a:p>
        </p:txBody>
      </p:sp>
      <p:sp>
        <p:nvSpPr>
          <p:cNvPr id="4" name="a0ud200_t3"/>
          <p:cNvSpPr txBox="1"/>
          <p:nvPr/>
        </p:nvSpPr>
        <p:spPr>
          <a:xfrm>
            <a:off x="548640" y="1188720"/>
            <a:ext cx="5212080" cy="1417320"/>
          </a:xfrm>
          <a:prstGeom prst="rect">
            <a:avLst/>
          </a:prstGeom>
          <a:noFill/>
        </p:spPr>
        <p:txBody>
          <a:bodyPr wrap="square" lIns="0" tIns="0" rIns="0" bIns="0" anchor="ctr">
            <a:spAutoFit/>
          </a:bodyPr>
          <a:lstStyle/>
          <a:p>
            <a:pPr algn="l"/>
            <a:r>
              <a:rPr sz="4200" b="0">
                <a:solidFill>
                  <a:srgbClr val="FFFFFF"/>
                </a:solidFill>
                <a:latin typeface="Bahnschrift SemiBold"/>
              </a:rPr>
              <a:t>Apache Kafka</a:t>
            </a:r>
          </a:p>
        </p:txBody>
      </p:sp>
      <p:sp>
        <p:nvSpPr>
          <p:cNvPr id="5" name="a0fd500_sub4"/>
          <p:cNvSpPr txBox="1"/>
          <p:nvPr/>
        </p:nvSpPr>
        <p:spPr>
          <a:xfrm>
            <a:off x="548640" y="2670048"/>
            <a:ext cx="5029200" cy="457200"/>
          </a:xfrm>
          <a:prstGeom prst="rect">
            <a:avLst/>
          </a:prstGeom>
          <a:noFill/>
        </p:spPr>
        <p:txBody>
          <a:bodyPr wrap="square" lIns="0" tIns="0" rIns="0" bIns="0" anchor="ctr">
            <a:spAutoFit/>
          </a:bodyPr>
          <a:lstStyle/>
          <a:p>
            <a:pPr algn="l"/>
            <a:r>
              <a:rPr sz="1450" b="0">
                <a:solidFill>
                  <a:srgbClr val="D6D3D1"/>
                </a:solidFill>
                <a:latin typeface="Segoe UI"/>
              </a:rPr>
              <a:t>Kafka Fundamentals</a:t>
            </a:r>
          </a:p>
          <a:p>
            <a:pPr algn="l"/>
            <a:r>
              <a:rPr sz="1450" b="0">
                <a:solidFill>
                  <a:srgbClr val="D6D3D1"/>
                </a:solidFill>
                <a:latin typeface="Segoe UI"/>
              </a:rPr>
              <a:t>from distributed systems and messaging to event streaming</a:t>
            </a:r>
          </a:p>
        </p:txBody>
      </p:sp>
      <p:sp>
        <p:nvSpPr>
          <p:cNvPr id="6" name="a0ud800_pill5"/>
          <p:cNvSpPr/>
          <p:nvPr/>
        </p:nvSpPr>
        <p:spPr>
          <a:xfrm>
            <a:off x="548640"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SYSTEMS</a:t>
            </a:r>
          </a:p>
        </p:txBody>
      </p:sp>
      <p:sp>
        <p:nvSpPr>
          <p:cNvPr id="7" name="a0ud950_pill6"/>
          <p:cNvSpPr/>
          <p:nvPr/>
        </p:nvSpPr>
        <p:spPr>
          <a:xfrm>
            <a:off x="1572768"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MESSAGING</a:t>
            </a:r>
          </a:p>
        </p:txBody>
      </p:sp>
      <p:sp>
        <p:nvSpPr>
          <p:cNvPr id="8" name="a0ud1100_pill7"/>
          <p:cNvSpPr/>
          <p:nvPr/>
        </p:nvSpPr>
        <p:spPr>
          <a:xfrm>
            <a:off x="2596896"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LOG</a:t>
            </a:r>
          </a:p>
        </p:txBody>
      </p:sp>
      <p:sp>
        <p:nvSpPr>
          <p:cNvPr id="9" name="a0ud1250_pill8"/>
          <p:cNvSpPr/>
          <p:nvPr/>
        </p:nvSpPr>
        <p:spPr>
          <a:xfrm>
            <a:off x="3621024"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EVENTS</a:t>
            </a:r>
          </a:p>
        </p:txBody>
      </p:sp>
      <p:sp>
        <p:nvSpPr>
          <p:cNvPr id="10" name="a0fd1400_nt9"/>
          <p:cNvSpPr txBox="1"/>
          <p:nvPr/>
        </p:nvSpPr>
        <p:spPr>
          <a:xfrm>
            <a:off x="548640" y="3950208"/>
            <a:ext cx="4937760" cy="457200"/>
          </a:xfrm>
          <a:prstGeom prst="rect">
            <a:avLst/>
          </a:prstGeom>
          <a:noFill/>
        </p:spPr>
        <p:txBody>
          <a:bodyPr wrap="square" lIns="0" tIns="0" rIns="0" bIns="0" anchor="ctr">
            <a:spAutoFit/>
          </a:bodyPr>
          <a:lstStyle/>
          <a:p>
            <a:pPr algn="l"/>
            <a:r>
              <a:rPr sz="1050" b="0">
                <a:solidFill>
                  <a:srgbClr val="A8A29E"/>
                </a:solidFill>
                <a:latin typeface="Segoe UI"/>
              </a:rPr>
              <a:t>Deck 1  ·  Apache Kafka Training</a:t>
            </a:r>
          </a:p>
        </p:txBody>
      </p:sp>
      <p:sp>
        <p:nvSpPr>
          <p:cNvPr id="11" name="a0fd1600_lc10"/>
          <p:cNvSpPr/>
          <p:nvPr/>
        </p:nvSpPr>
        <p:spPr>
          <a:xfrm>
            <a:off x="54864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d1600_lct11"/>
          <p:cNvSpPr txBox="1"/>
          <p:nvPr/>
        </p:nvSpPr>
        <p:spPr>
          <a:xfrm>
            <a:off x="54864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0</a:t>
            </a:r>
          </a:p>
        </p:txBody>
      </p:sp>
      <p:sp>
        <p:nvSpPr>
          <p:cNvPr id="13" name="a0fd1645_lc12"/>
          <p:cNvSpPr/>
          <p:nvPr/>
        </p:nvSpPr>
        <p:spPr>
          <a:xfrm>
            <a:off x="98755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fd1645_lct13"/>
          <p:cNvSpPr txBox="1"/>
          <p:nvPr/>
        </p:nvSpPr>
        <p:spPr>
          <a:xfrm>
            <a:off x="98755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a:t>
            </a:r>
          </a:p>
        </p:txBody>
      </p:sp>
      <p:sp>
        <p:nvSpPr>
          <p:cNvPr id="15" name="a0fd1690_lc14"/>
          <p:cNvSpPr/>
          <p:nvPr/>
        </p:nvSpPr>
        <p:spPr>
          <a:xfrm>
            <a:off x="142646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fd1690_lct15"/>
          <p:cNvSpPr txBox="1"/>
          <p:nvPr/>
        </p:nvSpPr>
        <p:spPr>
          <a:xfrm>
            <a:off x="142646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2</a:t>
            </a:r>
          </a:p>
        </p:txBody>
      </p:sp>
      <p:sp>
        <p:nvSpPr>
          <p:cNvPr id="17" name="a0fd1735_lc16"/>
          <p:cNvSpPr/>
          <p:nvPr/>
        </p:nvSpPr>
        <p:spPr>
          <a:xfrm>
            <a:off x="1865376"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0fd1735_lct17"/>
          <p:cNvSpPr txBox="1"/>
          <p:nvPr/>
        </p:nvSpPr>
        <p:spPr>
          <a:xfrm>
            <a:off x="1865376"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3</a:t>
            </a:r>
          </a:p>
        </p:txBody>
      </p:sp>
      <p:sp>
        <p:nvSpPr>
          <p:cNvPr id="19" name="a0fd1780_lc18"/>
          <p:cNvSpPr/>
          <p:nvPr/>
        </p:nvSpPr>
        <p:spPr>
          <a:xfrm>
            <a:off x="230428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fd1780_lct19"/>
          <p:cNvSpPr txBox="1"/>
          <p:nvPr/>
        </p:nvSpPr>
        <p:spPr>
          <a:xfrm>
            <a:off x="230428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4</a:t>
            </a:r>
          </a:p>
        </p:txBody>
      </p:sp>
      <p:sp>
        <p:nvSpPr>
          <p:cNvPr id="21" name="a0fd1825_lc20"/>
          <p:cNvSpPr/>
          <p:nvPr/>
        </p:nvSpPr>
        <p:spPr>
          <a:xfrm>
            <a:off x="274320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0fd1825_lct21"/>
          <p:cNvSpPr txBox="1"/>
          <p:nvPr/>
        </p:nvSpPr>
        <p:spPr>
          <a:xfrm>
            <a:off x="274320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5</a:t>
            </a:r>
          </a:p>
        </p:txBody>
      </p:sp>
      <p:sp>
        <p:nvSpPr>
          <p:cNvPr id="23" name="a0fd1870_lc22"/>
          <p:cNvSpPr/>
          <p:nvPr/>
        </p:nvSpPr>
        <p:spPr>
          <a:xfrm>
            <a:off x="318211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fd1870_lct23"/>
          <p:cNvSpPr txBox="1"/>
          <p:nvPr/>
        </p:nvSpPr>
        <p:spPr>
          <a:xfrm>
            <a:off x="318211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6</a:t>
            </a:r>
          </a:p>
        </p:txBody>
      </p:sp>
      <p:sp>
        <p:nvSpPr>
          <p:cNvPr id="25" name="a0fd1915_lc24"/>
          <p:cNvSpPr/>
          <p:nvPr/>
        </p:nvSpPr>
        <p:spPr>
          <a:xfrm>
            <a:off x="362102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0fd1915_lct25"/>
          <p:cNvSpPr txBox="1"/>
          <p:nvPr/>
        </p:nvSpPr>
        <p:spPr>
          <a:xfrm>
            <a:off x="362102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7</a:t>
            </a:r>
          </a:p>
        </p:txBody>
      </p:sp>
      <p:sp>
        <p:nvSpPr>
          <p:cNvPr id="27" name="a0fd1960_lc26"/>
          <p:cNvSpPr/>
          <p:nvPr/>
        </p:nvSpPr>
        <p:spPr>
          <a:xfrm>
            <a:off x="4059935"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0fd1960_lct27"/>
          <p:cNvSpPr txBox="1"/>
          <p:nvPr/>
        </p:nvSpPr>
        <p:spPr>
          <a:xfrm>
            <a:off x="4059935"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8</a:t>
            </a:r>
          </a:p>
        </p:txBody>
      </p:sp>
      <p:sp>
        <p:nvSpPr>
          <p:cNvPr id="29" name="a0fd2005_lc28"/>
          <p:cNvSpPr/>
          <p:nvPr/>
        </p:nvSpPr>
        <p:spPr>
          <a:xfrm>
            <a:off x="449884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0fd2005_lct29"/>
          <p:cNvSpPr txBox="1"/>
          <p:nvPr/>
        </p:nvSpPr>
        <p:spPr>
          <a:xfrm>
            <a:off x="449884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9</a:t>
            </a:r>
          </a:p>
        </p:txBody>
      </p:sp>
      <p:sp>
        <p:nvSpPr>
          <p:cNvPr id="31" name="a0fd2050_lc30"/>
          <p:cNvSpPr/>
          <p:nvPr/>
        </p:nvSpPr>
        <p:spPr>
          <a:xfrm>
            <a:off x="4937759"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0fd2050_lct31"/>
          <p:cNvSpPr txBox="1"/>
          <p:nvPr/>
        </p:nvSpPr>
        <p:spPr>
          <a:xfrm>
            <a:off x="4937759"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10</a:t>
            </a:r>
          </a:p>
        </p:txBody>
      </p:sp>
      <p:sp>
        <p:nvSpPr>
          <p:cNvPr id="33" name="a0fd2095_lc32"/>
          <p:cNvSpPr/>
          <p:nvPr/>
        </p:nvSpPr>
        <p:spPr>
          <a:xfrm>
            <a:off x="5376671"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0fd2095_lct33"/>
          <p:cNvSpPr txBox="1"/>
          <p:nvPr/>
        </p:nvSpPr>
        <p:spPr>
          <a:xfrm>
            <a:off x="5376671"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11</a:t>
            </a:r>
          </a:p>
        </p:txBody>
      </p:sp>
      <p:sp>
        <p:nvSpPr>
          <p:cNvPr id="35" name="a0fd2140_lc34"/>
          <p:cNvSpPr/>
          <p:nvPr/>
        </p:nvSpPr>
        <p:spPr>
          <a:xfrm>
            <a:off x="5815583"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0fd2140_lct35"/>
          <p:cNvSpPr txBox="1"/>
          <p:nvPr/>
        </p:nvSpPr>
        <p:spPr>
          <a:xfrm>
            <a:off x="5815583"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12</a:t>
            </a:r>
          </a:p>
        </p:txBody>
      </p:sp>
      <p:sp>
        <p:nvSpPr>
          <p:cNvPr id="37" name="a0fd2185_lc36"/>
          <p:cNvSpPr/>
          <p:nvPr/>
        </p:nvSpPr>
        <p:spPr>
          <a:xfrm>
            <a:off x="6254496" y="4553712"/>
            <a:ext cx="384048" cy="237744"/>
          </a:xfrm>
          <a:prstGeom prst="roundRect">
            <a:avLst>
              <a:gd name="adj" fmla="val 15384"/>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0fd2185_lct37"/>
          <p:cNvSpPr txBox="1"/>
          <p:nvPr/>
        </p:nvSpPr>
        <p:spPr>
          <a:xfrm>
            <a:off x="6254496"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13</a:t>
            </a:r>
          </a:p>
        </p:txBody>
      </p:sp>
      <p:sp>
        <p:nvSpPr>
          <p:cNvPr id="39" name="a0fd2230_lc38"/>
          <p:cNvSpPr/>
          <p:nvPr/>
        </p:nvSpPr>
        <p:spPr>
          <a:xfrm>
            <a:off x="6693407" y="4553712"/>
            <a:ext cx="384048" cy="237744"/>
          </a:xfrm>
          <a:prstGeom prst="roundRect">
            <a:avLst>
              <a:gd name="adj" fmla="val 15384"/>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0fd2230_lct39"/>
          <p:cNvSpPr txBox="1"/>
          <p:nvPr/>
        </p:nvSpPr>
        <p:spPr>
          <a:xfrm>
            <a:off x="6693407"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14</a:t>
            </a:r>
          </a:p>
        </p:txBody>
      </p:sp>
      <p:sp>
        <p:nvSpPr>
          <p:cNvPr id="41" name="a0fd2275_lc40"/>
          <p:cNvSpPr/>
          <p:nvPr/>
        </p:nvSpPr>
        <p:spPr>
          <a:xfrm>
            <a:off x="7132319" y="4553712"/>
            <a:ext cx="384048" cy="237744"/>
          </a:xfrm>
          <a:prstGeom prst="roundRect">
            <a:avLst>
              <a:gd name="adj" fmla="val 15384"/>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0fd2275_lct41"/>
          <p:cNvSpPr txBox="1"/>
          <p:nvPr/>
        </p:nvSpPr>
        <p:spPr>
          <a:xfrm>
            <a:off x="7132319"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15</a:t>
            </a:r>
          </a:p>
        </p:txBody>
      </p:sp>
      <p:sp>
        <p:nvSpPr>
          <p:cNvPr id="43" name="a0fd2320_lc42"/>
          <p:cNvSpPr/>
          <p:nvPr/>
        </p:nvSpPr>
        <p:spPr>
          <a:xfrm>
            <a:off x="7571231" y="4553712"/>
            <a:ext cx="384048" cy="237744"/>
          </a:xfrm>
          <a:prstGeom prst="roundRect">
            <a:avLst>
              <a:gd name="adj" fmla="val 15384"/>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0fd2320_lct43"/>
          <p:cNvSpPr txBox="1"/>
          <p:nvPr/>
        </p:nvSpPr>
        <p:spPr>
          <a:xfrm>
            <a:off x="7571231"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16</a:t>
            </a:r>
          </a:p>
        </p:txBody>
      </p:sp>
      <p:sp>
        <p:nvSpPr>
          <p:cNvPr id="45" name="a0fd2365_lc44"/>
          <p:cNvSpPr/>
          <p:nvPr/>
        </p:nvSpPr>
        <p:spPr>
          <a:xfrm>
            <a:off x="8010144" y="4553712"/>
            <a:ext cx="384048" cy="237744"/>
          </a:xfrm>
          <a:prstGeom prst="roundRect">
            <a:avLst>
              <a:gd name="adj" fmla="val 15384"/>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0fd2365_lct45"/>
          <p:cNvSpPr txBox="1"/>
          <p:nvPr/>
        </p:nvSpPr>
        <p:spPr>
          <a:xfrm>
            <a:off x="8010144"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17</a:t>
            </a:r>
          </a:p>
        </p:txBody>
      </p:sp>
      <p:cxnSp>
        <p:nvCxnSpPr>
          <p:cNvPr id="47" name="a0fd2410_la46"/>
          <p:cNvCxnSpPr/>
          <p:nvPr/>
        </p:nvCxnSpPr>
        <p:spPr>
          <a:xfrm>
            <a:off x="8449056" y="4672584"/>
            <a:ext cx="237744" cy="0"/>
          </a:xfrm>
          <a:prstGeom prst="line">
            <a:avLst/>
          </a:prstGeom>
          <a:ln w="19050">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a0fd900_lg47"/>
          <p:cNvSpPr/>
          <p:nvPr/>
        </p:nvSpPr>
        <p:spPr>
          <a:xfrm>
            <a:off x="5806440" y="1188720"/>
            <a:ext cx="2880360" cy="1783080"/>
          </a:xfrm>
          <a:prstGeom prst="roundRect">
            <a:avLst>
              <a:gd name="adj" fmla="val 410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0fd900_lgt48"/>
          <p:cNvSpPr txBox="1"/>
          <p:nvPr/>
        </p:nvSpPr>
        <p:spPr>
          <a:xfrm>
            <a:off x="5961888" y="1280160"/>
            <a:ext cx="2560320" cy="219456"/>
          </a:xfrm>
          <a:prstGeom prst="rect">
            <a:avLst/>
          </a:prstGeom>
          <a:noFill/>
        </p:spPr>
        <p:txBody>
          <a:bodyPr wrap="square" lIns="0" tIns="0" rIns="0" bIns="0" anchor="ctr">
            <a:spAutoFit/>
          </a:bodyPr>
          <a:lstStyle/>
          <a:p>
            <a:pPr algn="l"/>
            <a:r>
              <a:rPr sz="900" b="1">
                <a:solidFill>
                  <a:srgbClr val="78716C"/>
                </a:solidFill>
                <a:latin typeface="Consolas"/>
              </a:rPr>
              <a:t>events.log</a:t>
            </a:r>
          </a:p>
        </p:txBody>
      </p:sp>
      <p:sp>
        <p:nvSpPr>
          <p:cNvPr id="50" name="a0wd1100_ll49"/>
          <p:cNvSpPr txBox="1"/>
          <p:nvPr/>
        </p:nvSpPr>
        <p:spPr>
          <a:xfrm>
            <a:off x="5961888" y="1600200"/>
            <a:ext cx="2606040" cy="256032"/>
          </a:xfrm>
          <a:prstGeom prst="rect">
            <a:avLst/>
          </a:prstGeom>
          <a:noFill/>
        </p:spPr>
        <p:txBody>
          <a:bodyPr wrap="none" lIns="0" tIns="0" rIns="0" bIns="0" anchor="ctr">
            <a:spAutoFit/>
          </a:bodyPr>
          <a:lstStyle/>
          <a:p>
            <a:pPr algn="l"/>
            <a:r>
              <a:rPr sz="850" b="0">
                <a:solidFill>
                  <a:srgbClr val="D6D3D1"/>
                </a:solidFill>
                <a:latin typeface="Consolas"/>
              </a:rPr>
              <a:t>17-07-2023 15:48:59  iphone 15 link</a:t>
            </a:r>
          </a:p>
        </p:txBody>
      </p:sp>
      <p:sp>
        <p:nvSpPr>
          <p:cNvPr id="51" name="a0wd1400_ll50"/>
          <p:cNvSpPr txBox="1"/>
          <p:nvPr/>
        </p:nvSpPr>
        <p:spPr>
          <a:xfrm>
            <a:off x="5961888" y="1901952"/>
            <a:ext cx="2606040" cy="256032"/>
          </a:xfrm>
          <a:prstGeom prst="rect">
            <a:avLst/>
          </a:prstGeom>
          <a:noFill/>
        </p:spPr>
        <p:txBody>
          <a:bodyPr wrap="none" lIns="0" tIns="0" rIns="0" bIns="0" anchor="ctr">
            <a:spAutoFit/>
          </a:bodyPr>
          <a:lstStyle/>
          <a:p>
            <a:pPr algn="l"/>
            <a:r>
              <a:rPr sz="850" b="0">
                <a:solidFill>
                  <a:srgbClr val="D6D3D1"/>
                </a:solidFill>
                <a:latin typeface="Consolas"/>
              </a:rPr>
              <a:t>17-07-2023 15:49:58  dell laptop link</a:t>
            </a:r>
          </a:p>
        </p:txBody>
      </p:sp>
      <p:sp>
        <p:nvSpPr>
          <p:cNvPr id="52" name="a0wd1700_ll51"/>
          <p:cNvSpPr txBox="1"/>
          <p:nvPr/>
        </p:nvSpPr>
        <p:spPr>
          <a:xfrm>
            <a:off x="5961888" y="2203704"/>
            <a:ext cx="2606040" cy="256032"/>
          </a:xfrm>
          <a:prstGeom prst="rect">
            <a:avLst/>
          </a:prstGeom>
          <a:noFill/>
        </p:spPr>
        <p:txBody>
          <a:bodyPr wrap="none" lIns="0" tIns="0" rIns="0" bIns="0" anchor="ctr">
            <a:spAutoFit/>
          </a:bodyPr>
          <a:lstStyle/>
          <a:p>
            <a:pPr algn="l"/>
            <a:r>
              <a:rPr sz="850" b="0">
                <a:solidFill>
                  <a:srgbClr val="D6D3D1"/>
                </a:solidFill>
                <a:latin typeface="Consolas"/>
              </a:rPr>
              <a:t>17-07-2023 15:50:12  payment $500</a:t>
            </a:r>
          </a:p>
        </p:txBody>
      </p:sp>
      <p:sp>
        <p:nvSpPr>
          <p:cNvPr id="53" name="a0wd2000_ll52"/>
          <p:cNvSpPr txBox="1"/>
          <p:nvPr/>
        </p:nvSpPr>
        <p:spPr>
          <a:xfrm>
            <a:off x="5961888" y="2505456"/>
            <a:ext cx="2606040" cy="256032"/>
          </a:xfrm>
          <a:prstGeom prst="rect">
            <a:avLst/>
          </a:prstGeom>
          <a:noFill/>
        </p:spPr>
        <p:txBody>
          <a:bodyPr wrap="none" lIns="0" tIns="0" rIns="0" bIns="0" anchor="ctr">
            <a:spAutoFit/>
          </a:bodyPr>
          <a:lstStyle/>
          <a:p>
            <a:pPr algn="l"/>
            <a:r>
              <a:rPr sz="850" b="1">
                <a:solidFill>
                  <a:srgbClr val="FDBA74"/>
                </a:solidFill>
                <a:latin typeface="Consolas"/>
              </a:rPr>
              <a:t>17-07-2023 15:51:40  location: office</a:t>
            </a:r>
          </a:p>
        </p:txBody>
      </p:sp>
      <p:sp>
        <p:nvSpPr>
          <p:cNvPr id="54" name="a0fd2400_cap53"/>
          <p:cNvSpPr txBox="1"/>
          <p:nvPr/>
        </p:nvSpPr>
        <p:spPr>
          <a:xfrm>
            <a:off x="5806440" y="3090672"/>
            <a:ext cx="2880360" cy="256032"/>
          </a:xfrm>
          <a:prstGeom prst="rect">
            <a:avLst/>
          </a:prstGeom>
          <a:noFill/>
        </p:spPr>
        <p:txBody>
          <a:bodyPr wrap="square" lIns="0" tIns="0" rIns="0" bIns="0" anchor="ctr">
            <a:spAutoFit/>
          </a:bodyPr>
          <a:lstStyle/>
          <a:p>
            <a:pPr algn="l"/>
            <a:r>
              <a:rPr sz="850" b="0">
                <a:solidFill>
                  <a:srgbClr val="78716C"/>
                </a:solidFill>
                <a:latin typeface="Segoe UI"/>
              </a:rPr>
              <a:t>append-only  ·  immutable  ·  replayable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12" presetID="2" presetClass="entr" presetSubtype="4" fill="hold" grpId="0" nodeType="withEffect">
                                  <p:stCondLst>
                                    <p:cond delay="20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ppt_x</p:attrName>
                                        </p:attrNameLst>
                                      </p:cBhvr>
                                      <p:tavLst>
                                        <p:tav tm="0">
                                          <p:val>
                                            <p:strVal val="#ppt_x"/>
                                          </p:val>
                                        </p:tav>
                                        <p:tav tm="100000">
                                          <p:val>
                                            <p:strVal val="#ppt_x"/>
                                          </p:val>
                                        </p:tav>
                                      </p:tavLst>
                                    </p:anim>
                                    <p:anim calcmode="lin" valueType="num">
                                      <p:cBhvr additive="base">
                                        <p:cTn id="10" dur="500" fill="hold"/>
                                        <p:tgtEl>
                                          <p:spTgt spid="4"/>
                                        </p:tgtEl>
                                        <p:attrNameLst>
                                          <p:attrName>ppt_y</p:attrName>
                                        </p:attrNameLst>
                                      </p:cBhvr>
                                      <p:tavLst>
                                        <p:tav tm="0">
                                          <p:val>
                                            <p:strVal val="#ppt_y+0.1"/>
                                          </p:val>
                                        </p:tav>
                                        <p:tav tm="100000">
                                          <p:val>
                                            <p:strVal val="#ppt_y"/>
                                          </p:val>
                                        </p:tav>
                                      </p:tavLst>
                                    </p:anim>
                                    <p:animEffect transition="in" filter="fade">
                                      <p:cBhvr>
                                        <p:cTn id="11" dur="500"/>
                                        <p:tgtEl>
                                          <p:spTgt spid="4"/>
                                        </p:tgtEl>
                                      </p:cBhvr>
                                    </p:animEffect>
                                  </p:childTnLst>
                                </p:cTn>
                              </p:par>
                              <p:par>
                                <p:cTn id="15" presetID="10" presetClass="entr" presetSubtype="0" fill="hold" grpId="0" nodeType="withEffect">
                                  <p:stCondLst>
                                    <p:cond delay="5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20" presetID="2" presetClass="entr" presetSubtype="4" fill="hold" grpId="0" nodeType="withEffect">
                                  <p:stCondLst>
                                    <p:cond delay="8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3" presetID="10" presetClass="entr" presetSubtype="0" fill="hold" grpId="0" nodeType="withEffect">
                                  <p:stCondLst>
                                    <p:cond delay="90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6" presetID="10" presetClass="entr" presetSubtype="0" fill="hold" grpId="0" nodeType="withEffect">
                                  <p:stCondLst>
                                    <p:cond delay="90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31" presetID="2" presetClass="entr" presetSubtype="4" fill="hold" grpId="0" nodeType="withEffect">
                                  <p:stCondLst>
                                    <p:cond delay="95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par>
                                <p:cTn id="36" presetID="2" presetClass="entr" presetSubtype="4" fill="hold" grpId="0" nodeType="withEffect">
                                  <p:stCondLst>
                                    <p:cond delay="110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ppt_y+0.1"/>
                                          </p:val>
                                        </p:tav>
                                        <p:tav tm="100000">
                                          <p:val>
                                            <p:strVal val="#ppt_y"/>
                                          </p:val>
                                        </p:tav>
                                      </p:tavLst>
                                    </p:anim>
                                    <p:animEffect transition="in" filter="fade">
                                      <p:cBhvr>
                                        <p:cTn id="35" dur="500"/>
                                        <p:tgtEl>
                                          <p:spTgt spid="8"/>
                                        </p:tgtEl>
                                      </p:cBhvr>
                                    </p:animEffect>
                                  </p:childTnLst>
                                </p:cTn>
                              </p:par>
                              <p:par>
                                <p:cTn id="39" presetID="22" presetClass="entr" presetSubtype="8" fill="hold" grpId="0" nodeType="withEffect">
                                  <p:stCondLst>
                                    <p:cond delay="1100"/>
                                  </p:stCondLst>
                                  <p:childTnLst>
                                    <p:set>
                                      <p:cBhvr>
                                        <p:cTn id="37" dur="1" fill="hold">
                                          <p:stCondLst>
                                            <p:cond delay="0"/>
                                          </p:stCondLst>
                                        </p:cTn>
                                        <p:tgtEl>
                                          <p:spTgt spid="50"/>
                                        </p:tgtEl>
                                        <p:attrNameLst>
                                          <p:attrName>style.visibility</p:attrName>
                                        </p:attrNameLst>
                                      </p:cBhvr>
                                      <p:to>
                                        <p:strVal val="visible"/>
                                      </p:to>
                                    </p:set>
                                    <p:animEffect transition="in" filter="wipe(left)">
                                      <p:cBhvr>
                                        <p:cTn id="38" dur="500"/>
                                        <p:tgtEl>
                                          <p:spTgt spid="50"/>
                                        </p:tgtEl>
                                      </p:cBhvr>
                                    </p:animEffect>
                                  </p:childTnLst>
                                </p:cTn>
                              </p:par>
                              <p:par>
                                <p:cTn id="44" presetID="2" presetClass="entr" presetSubtype="4" fill="hold" grpId="0" nodeType="withEffect">
                                  <p:stCondLst>
                                    <p:cond delay="125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ppt_x"/>
                                          </p:val>
                                        </p:tav>
                                        <p:tav tm="100000">
                                          <p:val>
                                            <p:strVal val="#ppt_x"/>
                                          </p:val>
                                        </p:tav>
                                      </p:tavLst>
                                    </p:anim>
                                    <p:anim calcmode="lin" valueType="num">
                                      <p:cBhvr additive="base">
                                        <p:cTn id="42" dur="500" fill="hold"/>
                                        <p:tgtEl>
                                          <p:spTgt spid="9"/>
                                        </p:tgtEl>
                                        <p:attrNameLst>
                                          <p:attrName>ppt_y</p:attrName>
                                        </p:attrNameLst>
                                      </p:cBhvr>
                                      <p:tavLst>
                                        <p:tav tm="0">
                                          <p:val>
                                            <p:strVal val="#ppt_y+0.1"/>
                                          </p:val>
                                        </p:tav>
                                        <p:tav tm="100000">
                                          <p:val>
                                            <p:strVal val="#ppt_y"/>
                                          </p:val>
                                        </p:tav>
                                      </p:tavLst>
                                    </p:anim>
                                    <p:animEffect transition="in" filter="fade">
                                      <p:cBhvr>
                                        <p:cTn id="43" dur="500"/>
                                        <p:tgtEl>
                                          <p:spTgt spid="9"/>
                                        </p:tgtEl>
                                      </p:cBhvr>
                                    </p:animEffect>
                                  </p:childTnLst>
                                </p:cTn>
                              </p:par>
                              <p:par>
                                <p:cTn id="47" presetID="10" presetClass="entr" presetSubtype="0" fill="hold" grpId="0" nodeType="withEffect">
                                  <p:stCondLst>
                                    <p:cond delay="140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par>
                                <p:cTn id="50" presetID="22" presetClass="entr" presetSubtype="8" fill="hold" grpId="0" nodeType="withEffect">
                                  <p:stCondLst>
                                    <p:cond delay="1400"/>
                                  </p:stCondLst>
                                  <p:childTnLst>
                                    <p:set>
                                      <p:cBhvr>
                                        <p:cTn id="48" dur="1" fill="hold">
                                          <p:stCondLst>
                                            <p:cond delay="0"/>
                                          </p:stCondLst>
                                        </p:cTn>
                                        <p:tgtEl>
                                          <p:spTgt spid="51"/>
                                        </p:tgtEl>
                                        <p:attrNameLst>
                                          <p:attrName>style.visibility</p:attrName>
                                        </p:attrNameLst>
                                      </p:cBhvr>
                                      <p:to>
                                        <p:strVal val="visible"/>
                                      </p:to>
                                    </p:set>
                                    <p:animEffect transition="in" filter="wipe(left)">
                                      <p:cBhvr>
                                        <p:cTn id="49" dur="500"/>
                                        <p:tgtEl>
                                          <p:spTgt spid="51"/>
                                        </p:tgtEl>
                                      </p:cBhvr>
                                    </p:animEffect>
                                  </p:childTnLst>
                                </p:cTn>
                              </p:par>
                              <p:par>
                                <p:cTn id="53" presetID="10" presetClass="entr" presetSubtype="0" fill="hold" grpId="0" nodeType="withEffect">
                                  <p:stCondLst>
                                    <p:cond delay="160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500"/>
                                        <p:tgtEl>
                                          <p:spTgt spid="11"/>
                                        </p:tgtEl>
                                      </p:cBhvr>
                                    </p:animEffect>
                                  </p:childTnLst>
                                </p:cTn>
                              </p:par>
                              <p:par>
                                <p:cTn id="56" presetID="10" presetClass="entr" presetSubtype="0" fill="hold" grpId="0" nodeType="withEffect">
                                  <p:stCondLst>
                                    <p:cond delay="160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childTnLst>
                                </p:cTn>
                              </p:par>
                              <p:par>
                                <p:cTn id="59" presetID="10" presetClass="entr" presetSubtype="0" fill="hold" grpId="0" nodeType="withEffect">
                                  <p:stCondLst>
                                    <p:cond delay="1645"/>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500"/>
                                        <p:tgtEl>
                                          <p:spTgt spid="13"/>
                                        </p:tgtEl>
                                      </p:cBhvr>
                                    </p:animEffect>
                                  </p:childTnLst>
                                </p:cTn>
                              </p:par>
                              <p:par>
                                <p:cTn id="62" presetID="10" presetClass="entr" presetSubtype="0" fill="hold" grpId="0" nodeType="withEffect">
                                  <p:stCondLst>
                                    <p:cond delay="1645"/>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500"/>
                                        <p:tgtEl>
                                          <p:spTgt spid="14"/>
                                        </p:tgtEl>
                                      </p:cBhvr>
                                    </p:animEffect>
                                  </p:childTnLst>
                                </p:cTn>
                              </p:par>
                              <p:par>
                                <p:cTn id="65" presetID="10" presetClass="entr" presetSubtype="0" fill="hold" grpId="0" nodeType="withEffect">
                                  <p:stCondLst>
                                    <p:cond delay="169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cTn>
                              </p:par>
                              <p:par>
                                <p:cTn id="68" presetID="10" presetClass="entr" presetSubtype="0" fill="hold" grpId="0" nodeType="withEffect">
                                  <p:stCondLst>
                                    <p:cond delay="169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par>
                                <p:cTn id="71" presetID="22" presetClass="entr" presetSubtype="8" fill="hold" grpId="0" nodeType="withEffect">
                                  <p:stCondLst>
                                    <p:cond delay="1700"/>
                                  </p:stCondLst>
                                  <p:childTnLst>
                                    <p:set>
                                      <p:cBhvr>
                                        <p:cTn id="69" dur="1" fill="hold">
                                          <p:stCondLst>
                                            <p:cond delay="0"/>
                                          </p:stCondLst>
                                        </p:cTn>
                                        <p:tgtEl>
                                          <p:spTgt spid="52"/>
                                        </p:tgtEl>
                                        <p:attrNameLst>
                                          <p:attrName>style.visibility</p:attrName>
                                        </p:attrNameLst>
                                      </p:cBhvr>
                                      <p:to>
                                        <p:strVal val="visible"/>
                                      </p:to>
                                    </p:set>
                                    <p:animEffect transition="in" filter="wipe(left)">
                                      <p:cBhvr>
                                        <p:cTn id="70" dur="500"/>
                                        <p:tgtEl>
                                          <p:spTgt spid="52"/>
                                        </p:tgtEl>
                                      </p:cBhvr>
                                    </p:animEffect>
                                  </p:childTnLst>
                                </p:cTn>
                              </p:par>
                              <p:par>
                                <p:cTn id="74" presetID="10" presetClass="entr" presetSubtype="0" fill="hold" grpId="0" nodeType="withEffect">
                                  <p:stCondLst>
                                    <p:cond delay="1735"/>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500"/>
                                        <p:tgtEl>
                                          <p:spTgt spid="17"/>
                                        </p:tgtEl>
                                      </p:cBhvr>
                                    </p:animEffect>
                                  </p:childTnLst>
                                </p:cTn>
                              </p:par>
                              <p:par>
                                <p:cTn id="77" presetID="10" presetClass="entr" presetSubtype="0" fill="hold" grpId="0" nodeType="withEffect">
                                  <p:stCondLst>
                                    <p:cond delay="1735"/>
                                  </p:stCondLst>
                                  <p:childTnLst>
                                    <p:set>
                                      <p:cBhvr>
                                        <p:cTn id="75" dur="1" fill="hold">
                                          <p:stCondLst>
                                            <p:cond delay="0"/>
                                          </p:stCondLst>
                                        </p:cTn>
                                        <p:tgtEl>
                                          <p:spTgt spid="18"/>
                                        </p:tgtEl>
                                        <p:attrNameLst>
                                          <p:attrName>style.visibility</p:attrName>
                                        </p:attrNameLst>
                                      </p:cBhvr>
                                      <p:to>
                                        <p:strVal val="visible"/>
                                      </p:to>
                                    </p:set>
                                    <p:animEffect transition="in" filter="fade">
                                      <p:cBhvr>
                                        <p:cTn id="76" dur="500"/>
                                        <p:tgtEl>
                                          <p:spTgt spid="18"/>
                                        </p:tgtEl>
                                      </p:cBhvr>
                                    </p:animEffect>
                                  </p:childTnLst>
                                </p:cTn>
                              </p:par>
                              <p:par>
                                <p:cTn id="80" presetID="10" presetClass="entr" presetSubtype="0" fill="hold" grpId="0" nodeType="withEffect">
                                  <p:stCondLst>
                                    <p:cond delay="178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500"/>
                                        <p:tgtEl>
                                          <p:spTgt spid="19"/>
                                        </p:tgtEl>
                                      </p:cBhvr>
                                    </p:animEffect>
                                  </p:childTnLst>
                                </p:cTn>
                              </p:par>
                              <p:par>
                                <p:cTn id="83" presetID="10" presetClass="entr" presetSubtype="0" fill="hold" grpId="0" nodeType="withEffect">
                                  <p:stCondLst>
                                    <p:cond delay="178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par>
                                <p:cTn id="86" presetID="10" presetClass="entr" presetSubtype="0" fill="hold" grpId="0" nodeType="withEffect">
                                  <p:stCondLst>
                                    <p:cond delay="1825"/>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childTnLst>
                                </p:cTn>
                              </p:par>
                              <p:par>
                                <p:cTn id="89" presetID="10" presetClass="entr" presetSubtype="0" fill="hold" grpId="0" nodeType="withEffect">
                                  <p:stCondLst>
                                    <p:cond delay="1825"/>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00"/>
                                        <p:tgtEl>
                                          <p:spTgt spid="22"/>
                                        </p:tgtEl>
                                      </p:cBhvr>
                                    </p:animEffect>
                                  </p:childTnLst>
                                </p:cTn>
                              </p:par>
                              <p:par>
                                <p:cTn id="92" presetID="10" presetClass="entr" presetSubtype="0" fill="hold" grpId="0" nodeType="withEffect">
                                  <p:stCondLst>
                                    <p:cond delay="187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500"/>
                                        <p:tgtEl>
                                          <p:spTgt spid="23"/>
                                        </p:tgtEl>
                                      </p:cBhvr>
                                    </p:animEffect>
                                  </p:childTnLst>
                                </p:cTn>
                              </p:par>
                              <p:par>
                                <p:cTn id="95" presetID="10" presetClass="entr" presetSubtype="0" fill="hold" grpId="0" nodeType="withEffect">
                                  <p:stCondLst>
                                    <p:cond delay="187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00"/>
                                        <p:tgtEl>
                                          <p:spTgt spid="24"/>
                                        </p:tgtEl>
                                      </p:cBhvr>
                                    </p:animEffect>
                                  </p:childTnLst>
                                </p:cTn>
                              </p:par>
                              <p:par>
                                <p:cTn id="98" presetID="10" presetClass="entr" presetSubtype="0" fill="hold" grpId="0" nodeType="withEffect">
                                  <p:stCondLst>
                                    <p:cond delay="1915"/>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00"/>
                                        <p:tgtEl>
                                          <p:spTgt spid="25"/>
                                        </p:tgtEl>
                                      </p:cBhvr>
                                    </p:animEffect>
                                  </p:childTnLst>
                                </p:cTn>
                              </p:par>
                              <p:par>
                                <p:cTn id="101" presetID="10" presetClass="entr" presetSubtype="0" fill="hold" grpId="0" nodeType="withEffect">
                                  <p:stCondLst>
                                    <p:cond delay="1915"/>
                                  </p:stCondLst>
                                  <p:childTnLst>
                                    <p:set>
                                      <p:cBhvr>
                                        <p:cTn id="99" dur="1" fill="hold">
                                          <p:stCondLst>
                                            <p:cond delay="0"/>
                                          </p:stCondLst>
                                        </p:cTn>
                                        <p:tgtEl>
                                          <p:spTgt spid="26"/>
                                        </p:tgtEl>
                                        <p:attrNameLst>
                                          <p:attrName>style.visibility</p:attrName>
                                        </p:attrNameLst>
                                      </p:cBhvr>
                                      <p:to>
                                        <p:strVal val="visible"/>
                                      </p:to>
                                    </p:set>
                                    <p:animEffect transition="in" filter="fade">
                                      <p:cBhvr>
                                        <p:cTn id="100" dur="500"/>
                                        <p:tgtEl>
                                          <p:spTgt spid="26"/>
                                        </p:tgtEl>
                                      </p:cBhvr>
                                    </p:animEffect>
                                  </p:childTnLst>
                                </p:cTn>
                              </p:par>
                              <p:par>
                                <p:cTn id="104" presetID="10" presetClass="entr" presetSubtype="0" fill="hold" grpId="0" nodeType="withEffect">
                                  <p:stCondLst>
                                    <p:cond delay="1960"/>
                                  </p:stCondLst>
                                  <p:childTnLst>
                                    <p:set>
                                      <p:cBhvr>
                                        <p:cTn id="102" dur="1" fill="hold">
                                          <p:stCondLst>
                                            <p:cond delay="0"/>
                                          </p:stCondLst>
                                        </p:cTn>
                                        <p:tgtEl>
                                          <p:spTgt spid="27"/>
                                        </p:tgtEl>
                                        <p:attrNameLst>
                                          <p:attrName>style.visibility</p:attrName>
                                        </p:attrNameLst>
                                      </p:cBhvr>
                                      <p:to>
                                        <p:strVal val="visible"/>
                                      </p:to>
                                    </p:set>
                                    <p:animEffect transition="in" filter="fade">
                                      <p:cBhvr>
                                        <p:cTn id="103" dur="500"/>
                                        <p:tgtEl>
                                          <p:spTgt spid="27"/>
                                        </p:tgtEl>
                                      </p:cBhvr>
                                    </p:animEffect>
                                  </p:childTnLst>
                                </p:cTn>
                              </p:par>
                              <p:par>
                                <p:cTn id="107" presetID="10" presetClass="entr" presetSubtype="0" fill="hold" grpId="0" nodeType="withEffect">
                                  <p:stCondLst>
                                    <p:cond delay="196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00"/>
                                        <p:tgtEl>
                                          <p:spTgt spid="28"/>
                                        </p:tgtEl>
                                      </p:cBhvr>
                                    </p:animEffect>
                                  </p:childTnLst>
                                </p:cTn>
                              </p:par>
                              <p:par>
                                <p:cTn id="110" presetID="22" presetClass="entr" presetSubtype="8" fill="hold" grpId="0" nodeType="withEffect">
                                  <p:stCondLst>
                                    <p:cond delay="2000"/>
                                  </p:stCondLst>
                                  <p:childTnLst>
                                    <p:set>
                                      <p:cBhvr>
                                        <p:cTn id="108" dur="1" fill="hold">
                                          <p:stCondLst>
                                            <p:cond delay="0"/>
                                          </p:stCondLst>
                                        </p:cTn>
                                        <p:tgtEl>
                                          <p:spTgt spid="53"/>
                                        </p:tgtEl>
                                        <p:attrNameLst>
                                          <p:attrName>style.visibility</p:attrName>
                                        </p:attrNameLst>
                                      </p:cBhvr>
                                      <p:to>
                                        <p:strVal val="visible"/>
                                      </p:to>
                                    </p:set>
                                    <p:animEffect transition="in" filter="wipe(left)">
                                      <p:cBhvr>
                                        <p:cTn id="109" dur="500"/>
                                        <p:tgtEl>
                                          <p:spTgt spid="53"/>
                                        </p:tgtEl>
                                      </p:cBhvr>
                                    </p:animEffect>
                                  </p:childTnLst>
                                </p:cTn>
                              </p:par>
                              <p:par>
                                <p:cTn id="113" presetID="10" presetClass="entr" presetSubtype="0" fill="hold" grpId="0" nodeType="withEffect">
                                  <p:stCondLst>
                                    <p:cond delay="2005"/>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500"/>
                                        <p:tgtEl>
                                          <p:spTgt spid="29"/>
                                        </p:tgtEl>
                                      </p:cBhvr>
                                    </p:animEffect>
                                  </p:childTnLst>
                                </p:cTn>
                              </p:par>
                              <p:par>
                                <p:cTn id="116" presetID="10" presetClass="entr" presetSubtype="0" fill="hold" grpId="0" nodeType="withEffect">
                                  <p:stCondLst>
                                    <p:cond delay="2005"/>
                                  </p:stCondLst>
                                  <p:childTnLst>
                                    <p:set>
                                      <p:cBhvr>
                                        <p:cTn id="114" dur="1" fill="hold">
                                          <p:stCondLst>
                                            <p:cond delay="0"/>
                                          </p:stCondLst>
                                        </p:cTn>
                                        <p:tgtEl>
                                          <p:spTgt spid="30"/>
                                        </p:tgtEl>
                                        <p:attrNameLst>
                                          <p:attrName>style.visibility</p:attrName>
                                        </p:attrNameLst>
                                      </p:cBhvr>
                                      <p:to>
                                        <p:strVal val="visible"/>
                                      </p:to>
                                    </p:set>
                                    <p:animEffect transition="in" filter="fade">
                                      <p:cBhvr>
                                        <p:cTn id="115" dur="500"/>
                                        <p:tgtEl>
                                          <p:spTgt spid="30"/>
                                        </p:tgtEl>
                                      </p:cBhvr>
                                    </p:animEffect>
                                  </p:childTnLst>
                                </p:cTn>
                              </p:par>
                              <p:par>
                                <p:cTn id="119" presetID="10" presetClass="entr" presetSubtype="0" fill="hold" grpId="0" nodeType="withEffect">
                                  <p:stCondLst>
                                    <p:cond delay="205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00"/>
                                        <p:tgtEl>
                                          <p:spTgt spid="31"/>
                                        </p:tgtEl>
                                      </p:cBhvr>
                                    </p:animEffect>
                                  </p:childTnLst>
                                </p:cTn>
                              </p:par>
                              <p:par>
                                <p:cTn id="122" presetID="10" presetClass="entr" presetSubtype="0" fill="hold" grpId="0" nodeType="withEffect">
                                  <p:stCondLst>
                                    <p:cond delay="2050"/>
                                  </p:stCondLst>
                                  <p:childTnLst>
                                    <p:set>
                                      <p:cBhvr>
                                        <p:cTn id="120" dur="1" fill="hold">
                                          <p:stCondLst>
                                            <p:cond delay="0"/>
                                          </p:stCondLst>
                                        </p:cTn>
                                        <p:tgtEl>
                                          <p:spTgt spid="32"/>
                                        </p:tgtEl>
                                        <p:attrNameLst>
                                          <p:attrName>style.visibility</p:attrName>
                                        </p:attrNameLst>
                                      </p:cBhvr>
                                      <p:to>
                                        <p:strVal val="visible"/>
                                      </p:to>
                                    </p:set>
                                    <p:animEffect transition="in" filter="fade">
                                      <p:cBhvr>
                                        <p:cTn id="121" dur="500"/>
                                        <p:tgtEl>
                                          <p:spTgt spid="32"/>
                                        </p:tgtEl>
                                      </p:cBhvr>
                                    </p:animEffect>
                                  </p:childTnLst>
                                </p:cTn>
                              </p:par>
                              <p:par>
                                <p:cTn id="125" presetID="10" presetClass="entr" presetSubtype="0" fill="hold" grpId="0" nodeType="withEffect">
                                  <p:stCondLst>
                                    <p:cond delay="2095"/>
                                  </p:stCondLst>
                                  <p:childTnLst>
                                    <p:set>
                                      <p:cBhvr>
                                        <p:cTn id="123" dur="1" fill="hold">
                                          <p:stCondLst>
                                            <p:cond delay="0"/>
                                          </p:stCondLst>
                                        </p:cTn>
                                        <p:tgtEl>
                                          <p:spTgt spid="33"/>
                                        </p:tgtEl>
                                        <p:attrNameLst>
                                          <p:attrName>style.visibility</p:attrName>
                                        </p:attrNameLst>
                                      </p:cBhvr>
                                      <p:to>
                                        <p:strVal val="visible"/>
                                      </p:to>
                                    </p:set>
                                    <p:animEffect transition="in" filter="fade">
                                      <p:cBhvr>
                                        <p:cTn id="124" dur="500"/>
                                        <p:tgtEl>
                                          <p:spTgt spid="33"/>
                                        </p:tgtEl>
                                      </p:cBhvr>
                                    </p:animEffect>
                                  </p:childTnLst>
                                </p:cTn>
                              </p:par>
                              <p:par>
                                <p:cTn id="128" presetID="10" presetClass="entr" presetSubtype="0" fill="hold" grpId="0" nodeType="withEffect">
                                  <p:stCondLst>
                                    <p:cond delay="2095"/>
                                  </p:stCondLst>
                                  <p:childTnLst>
                                    <p:set>
                                      <p:cBhvr>
                                        <p:cTn id="126" dur="1" fill="hold">
                                          <p:stCondLst>
                                            <p:cond delay="0"/>
                                          </p:stCondLst>
                                        </p:cTn>
                                        <p:tgtEl>
                                          <p:spTgt spid="34"/>
                                        </p:tgtEl>
                                        <p:attrNameLst>
                                          <p:attrName>style.visibility</p:attrName>
                                        </p:attrNameLst>
                                      </p:cBhvr>
                                      <p:to>
                                        <p:strVal val="visible"/>
                                      </p:to>
                                    </p:set>
                                    <p:animEffect transition="in" filter="fade">
                                      <p:cBhvr>
                                        <p:cTn id="127" dur="500"/>
                                        <p:tgtEl>
                                          <p:spTgt spid="34"/>
                                        </p:tgtEl>
                                      </p:cBhvr>
                                    </p:animEffect>
                                  </p:childTnLst>
                                </p:cTn>
                              </p:par>
                              <p:par>
                                <p:cTn id="131" presetID="10" presetClass="entr" presetSubtype="0" fill="hold" grpId="0" nodeType="withEffect">
                                  <p:stCondLst>
                                    <p:cond delay="214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500"/>
                                        <p:tgtEl>
                                          <p:spTgt spid="35"/>
                                        </p:tgtEl>
                                      </p:cBhvr>
                                    </p:animEffect>
                                  </p:childTnLst>
                                </p:cTn>
                              </p:par>
                              <p:par>
                                <p:cTn id="134" presetID="10" presetClass="entr" presetSubtype="0" fill="hold" grpId="0" nodeType="withEffect">
                                  <p:stCondLst>
                                    <p:cond delay="2140"/>
                                  </p:stCondLst>
                                  <p:childTnLst>
                                    <p:set>
                                      <p:cBhvr>
                                        <p:cTn id="132" dur="1" fill="hold">
                                          <p:stCondLst>
                                            <p:cond delay="0"/>
                                          </p:stCondLst>
                                        </p:cTn>
                                        <p:tgtEl>
                                          <p:spTgt spid="36"/>
                                        </p:tgtEl>
                                        <p:attrNameLst>
                                          <p:attrName>style.visibility</p:attrName>
                                        </p:attrNameLst>
                                      </p:cBhvr>
                                      <p:to>
                                        <p:strVal val="visible"/>
                                      </p:to>
                                    </p:set>
                                    <p:animEffect transition="in" filter="fade">
                                      <p:cBhvr>
                                        <p:cTn id="133" dur="500"/>
                                        <p:tgtEl>
                                          <p:spTgt spid="36"/>
                                        </p:tgtEl>
                                      </p:cBhvr>
                                    </p:animEffect>
                                  </p:childTnLst>
                                </p:cTn>
                              </p:par>
                              <p:par>
                                <p:cTn id="137" presetID="10" presetClass="entr" presetSubtype="0" fill="hold" grpId="0" nodeType="withEffect">
                                  <p:stCondLst>
                                    <p:cond delay="2185"/>
                                  </p:stCondLst>
                                  <p:childTnLst>
                                    <p:set>
                                      <p:cBhvr>
                                        <p:cTn id="135" dur="1" fill="hold">
                                          <p:stCondLst>
                                            <p:cond delay="0"/>
                                          </p:stCondLst>
                                        </p:cTn>
                                        <p:tgtEl>
                                          <p:spTgt spid="37"/>
                                        </p:tgtEl>
                                        <p:attrNameLst>
                                          <p:attrName>style.visibility</p:attrName>
                                        </p:attrNameLst>
                                      </p:cBhvr>
                                      <p:to>
                                        <p:strVal val="visible"/>
                                      </p:to>
                                    </p:set>
                                    <p:animEffect transition="in" filter="fade">
                                      <p:cBhvr>
                                        <p:cTn id="136" dur="500"/>
                                        <p:tgtEl>
                                          <p:spTgt spid="37"/>
                                        </p:tgtEl>
                                      </p:cBhvr>
                                    </p:animEffect>
                                  </p:childTnLst>
                                </p:cTn>
                              </p:par>
                              <p:par>
                                <p:cTn id="140" presetID="10" presetClass="entr" presetSubtype="0" fill="hold" grpId="0" nodeType="withEffect">
                                  <p:stCondLst>
                                    <p:cond delay="2185"/>
                                  </p:stCondLst>
                                  <p:childTnLst>
                                    <p:set>
                                      <p:cBhvr>
                                        <p:cTn id="138" dur="1" fill="hold">
                                          <p:stCondLst>
                                            <p:cond delay="0"/>
                                          </p:stCondLst>
                                        </p:cTn>
                                        <p:tgtEl>
                                          <p:spTgt spid="38"/>
                                        </p:tgtEl>
                                        <p:attrNameLst>
                                          <p:attrName>style.visibility</p:attrName>
                                        </p:attrNameLst>
                                      </p:cBhvr>
                                      <p:to>
                                        <p:strVal val="visible"/>
                                      </p:to>
                                    </p:set>
                                    <p:animEffect transition="in" filter="fade">
                                      <p:cBhvr>
                                        <p:cTn id="139" dur="500"/>
                                        <p:tgtEl>
                                          <p:spTgt spid="38"/>
                                        </p:tgtEl>
                                      </p:cBhvr>
                                    </p:animEffect>
                                  </p:childTnLst>
                                </p:cTn>
                              </p:par>
                              <p:par>
                                <p:cTn id="143" presetID="10" presetClass="entr" presetSubtype="0" fill="hold" grpId="0" nodeType="withEffect">
                                  <p:stCondLst>
                                    <p:cond delay="2230"/>
                                  </p:stCondLst>
                                  <p:childTnLst>
                                    <p:set>
                                      <p:cBhvr>
                                        <p:cTn id="141" dur="1" fill="hold">
                                          <p:stCondLst>
                                            <p:cond delay="0"/>
                                          </p:stCondLst>
                                        </p:cTn>
                                        <p:tgtEl>
                                          <p:spTgt spid="39"/>
                                        </p:tgtEl>
                                        <p:attrNameLst>
                                          <p:attrName>style.visibility</p:attrName>
                                        </p:attrNameLst>
                                      </p:cBhvr>
                                      <p:to>
                                        <p:strVal val="visible"/>
                                      </p:to>
                                    </p:set>
                                    <p:animEffect transition="in" filter="fade">
                                      <p:cBhvr>
                                        <p:cTn id="142" dur="500"/>
                                        <p:tgtEl>
                                          <p:spTgt spid="39"/>
                                        </p:tgtEl>
                                      </p:cBhvr>
                                    </p:animEffect>
                                  </p:childTnLst>
                                </p:cTn>
                              </p:par>
                              <p:par>
                                <p:cTn id="146" presetID="10" presetClass="entr" presetSubtype="0" fill="hold" grpId="0" nodeType="withEffect">
                                  <p:stCondLst>
                                    <p:cond delay="2230"/>
                                  </p:stCondLst>
                                  <p:childTnLst>
                                    <p:set>
                                      <p:cBhvr>
                                        <p:cTn id="144" dur="1" fill="hold">
                                          <p:stCondLst>
                                            <p:cond delay="0"/>
                                          </p:stCondLst>
                                        </p:cTn>
                                        <p:tgtEl>
                                          <p:spTgt spid="40"/>
                                        </p:tgtEl>
                                        <p:attrNameLst>
                                          <p:attrName>style.visibility</p:attrName>
                                        </p:attrNameLst>
                                      </p:cBhvr>
                                      <p:to>
                                        <p:strVal val="visible"/>
                                      </p:to>
                                    </p:set>
                                    <p:animEffect transition="in" filter="fade">
                                      <p:cBhvr>
                                        <p:cTn id="145" dur="500"/>
                                        <p:tgtEl>
                                          <p:spTgt spid="40"/>
                                        </p:tgtEl>
                                      </p:cBhvr>
                                    </p:animEffect>
                                  </p:childTnLst>
                                </p:cTn>
                              </p:par>
                              <p:par>
                                <p:cTn id="149" presetID="10" presetClass="entr" presetSubtype="0" fill="hold" grpId="0" nodeType="withEffect">
                                  <p:stCondLst>
                                    <p:cond delay="2275"/>
                                  </p:stCondLst>
                                  <p:childTnLst>
                                    <p:set>
                                      <p:cBhvr>
                                        <p:cTn id="147" dur="1" fill="hold">
                                          <p:stCondLst>
                                            <p:cond delay="0"/>
                                          </p:stCondLst>
                                        </p:cTn>
                                        <p:tgtEl>
                                          <p:spTgt spid="41"/>
                                        </p:tgtEl>
                                        <p:attrNameLst>
                                          <p:attrName>style.visibility</p:attrName>
                                        </p:attrNameLst>
                                      </p:cBhvr>
                                      <p:to>
                                        <p:strVal val="visible"/>
                                      </p:to>
                                    </p:set>
                                    <p:animEffect transition="in" filter="fade">
                                      <p:cBhvr>
                                        <p:cTn id="148" dur="500"/>
                                        <p:tgtEl>
                                          <p:spTgt spid="41"/>
                                        </p:tgtEl>
                                      </p:cBhvr>
                                    </p:animEffect>
                                  </p:childTnLst>
                                </p:cTn>
                              </p:par>
                              <p:par>
                                <p:cTn id="152" presetID="10" presetClass="entr" presetSubtype="0" fill="hold" grpId="0" nodeType="withEffect">
                                  <p:stCondLst>
                                    <p:cond delay="2275"/>
                                  </p:stCondLst>
                                  <p:childTnLst>
                                    <p:set>
                                      <p:cBhvr>
                                        <p:cTn id="150" dur="1" fill="hold">
                                          <p:stCondLst>
                                            <p:cond delay="0"/>
                                          </p:stCondLst>
                                        </p:cTn>
                                        <p:tgtEl>
                                          <p:spTgt spid="42"/>
                                        </p:tgtEl>
                                        <p:attrNameLst>
                                          <p:attrName>style.visibility</p:attrName>
                                        </p:attrNameLst>
                                      </p:cBhvr>
                                      <p:to>
                                        <p:strVal val="visible"/>
                                      </p:to>
                                    </p:set>
                                    <p:animEffect transition="in" filter="fade">
                                      <p:cBhvr>
                                        <p:cTn id="151" dur="500"/>
                                        <p:tgtEl>
                                          <p:spTgt spid="42"/>
                                        </p:tgtEl>
                                      </p:cBhvr>
                                    </p:animEffect>
                                  </p:childTnLst>
                                </p:cTn>
                              </p:par>
                              <p:par>
                                <p:cTn id="155" presetID="10" presetClass="entr" presetSubtype="0" fill="hold" grpId="0" nodeType="withEffect">
                                  <p:stCondLst>
                                    <p:cond delay="2320"/>
                                  </p:stCondLst>
                                  <p:childTnLst>
                                    <p:set>
                                      <p:cBhvr>
                                        <p:cTn id="153" dur="1" fill="hold">
                                          <p:stCondLst>
                                            <p:cond delay="0"/>
                                          </p:stCondLst>
                                        </p:cTn>
                                        <p:tgtEl>
                                          <p:spTgt spid="43"/>
                                        </p:tgtEl>
                                        <p:attrNameLst>
                                          <p:attrName>style.visibility</p:attrName>
                                        </p:attrNameLst>
                                      </p:cBhvr>
                                      <p:to>
                                        <p:strVal val="visible"/>
                                      </p:to>
                                    </p:set>
                                    <p:animEffect transition="in" filter="fade">
                                      <p:cBhvr>
                                        <p:cTn id="154" dur="500"/>
                                        <p:tgtEl>
                                          <p:spTgt spid="43"/>
                                        </p:tgtEl>
                                      </p:cBhvr>
                                    </p:animEffect>
                                  </p:childTnLst>
                                </p:cTn>
                              </p:par>
                              <p:par>
                                <p:cTn id="158" presetID="10" presetClass="entr" presetSubtype="0" fill="hold" grpId="0" nodeType="withEffect">
                                  <p:stCondLst>
                                    <p:cond delay="2320"/>
                                  </p:stCondLst>
                                  <p:childTnLst>
                                    <p:set>
                                      <p:cBhvr>
                                        <p:cTn id="156" dur="1" fill="hold">
                                          <p:stCondLst>
                                            <p:cond delay="0"/>
                                          </p:stCondLst>
                                        </p:cTn>
                                        <p:tgtEl>
                                          <p:spTgt spid="44"/>
                                        </p:tgtEl>
                                        <p:attrNameLst>
                                          <p:attrName>style.visibility</p:attrName>
                                        </p:attrNameLst>
                                      </p:cBhvr>
                                      <p:to>
                                        <p:strVal val="visible"/>
                                      </p:to>
                                    </p:set>
                                    <p:animEffect transition="in" filter="fade">
                                      <p:cBhvr>
                                        <p:cTn id="157" dur="500"/>
                                        <p:tgtEl>
                                          <p:spTgt spid="44"/>
                                        </p:tgtEl>
                                      </p:cBhvr>
                                    </p:animEffect>
                                  </p:childTnLst>
                                </p:cTn>
                              </p:par>
                              <p:par>
                                <p:cTn id="161" presetID="10" presetClass="entr" presetSubtype="0" fill="hold" grpId="0" nodeType="withEffect">
                                  <p:stCondLst>
                                    <p:cond delay="2365"/>
                                  </p:stCondLst>
                                  <p:childTnLst>
                                    <p:set>
                                      <p:cBhvr>
                                        <p:cTn id="159" dur="1" fill="hold">
                                          <p:stCondLst>
                                            <p:cond delay="0"/>
                                          </p:stCondLst>
                                        </p:cTn>
                                        <p:tgtEl>
                                          <p:spTgt spid="45"/>
                                        </p:tgtEl>
                                        <p:attrNameLst>
                                          <p:attrName>style.visibility</p:attrName>
                                        </p:attrNameLst>
                                      </p:cBhvr>
                                      <p:to>
                                        <p:strVal val="visible"/>
                                      </p:to>
                                    </p:set>
                                    <p:animEffect transition="in" filter="fade">
                                      <p:cBhvr>
                                        <p:cTn id="160" dur="500"/>
                                        <p:tgtEl>
                                          <p:spTgt spid="45"/>
                                        </p:tgtEl>
                                      </p:cBhvr>
                                    </p:animEffect>
                                  </p:childTnLst>
                                </p:cTn>
                              </p:par>
                              <p:par>
                                <p:cTn id="164" presetID="10" presetClass="entr" presetSubtype="0" fill="hold" grpId="0" nodeType="withEffect">
                                  <p:stCondLst>
                                    <p:cond delay="2365"/>
                                  </p:stCondLst>
                                  <p:childTnLst>
                                    <p:set>
                                      <p:cBhvr>
                                        <p:cTn id="162" dur="1" fill="hold">
                                          <p:stCondLst>
                                            <p:cond delay="0"/>
                                          </p:stCondLst>
                                        </p:cTn>
                                        <p:tgtEl>
                                          <p:spTgt spid="46"/>
                                        </p:tgtEl>
                                        <p:attrNameLst>
                                          <p:attrName>style.visibility</p:attrName>
                                        </p:attrNameLst>
                                      </p:cBhvr>
                                      <p:to>
                                        <p:strVal val="visible"/>
                                      </p:to>
                                    </p:set>
                                    <p:animEffect transition="in" filter="fade">
                                      <p:cBhvr>
                                        <p:cTn id="163" dur="500"/>
                                        <p:tgtEl>
                                          <p:spTgt spid="46"/>
                                        </p:tgtEl>
                                      </p:cBhvr>
                                    </p:animEffect>
                                  </p:childTnLst>
                                </p:cTn>
                              </p:par>
                              <p:par>
                                <p:cTn id="167" presetID="10" presetClass="entr" presetSubtype="0" fill="hold" grpId="0" nodeType="withEffect">
                                  <p:stCondLst>
                                    <p:cond delay="2400"/>
                                  </p:stCondLst>
                                  <p:childTnLst>
                                    <p:set>
                                      <p:cBhvr>
                                        <p:cTn id="165" dur="1" fill="hold">
                                          <p:stCondLst>
                                            <p:cond delay="0"/>
                                          </p:stCondLst>
                                        </p:cTn>
                                        <p:tgtEl>
                                          <p:spTgt spid="54"/>
                                        </p:tgtEl>
                                        <p:attrNameLst>
                                          <p:attrName>style.visibility</p:attrName>
                                        </p:attrNameLst>
                                      </p:cBhvr>
                                      <p:to>
                                        <p:strVal val="visible"/>
                                      </p:to>
                                    </p:set>
                                    <p:animEffect transition="in" filter="fade">
                                      <p:cBhvr>
                                        <p:cTn id="166" dur="500"/>
                                        <p:tgtEl>
                                          <p:spTgt spid="54"/>
                                        </p:tgtEl>
                                      </p:cBhvr>
                                    </p:animEffect>
                                  </p:childTnLst>
                                </p:cTn>
                              </p:par>
                              <p:par>
                                <p:cTn id="170" presetID="10" presetClass="entr" presetSubtype="0" fill="hold" grpId="0" nodeType="withEffect">
                                  <p:stCondLst>
                                    <p:cond delay="2410"/>
                                  </p:stCondLst>
                                  <p:childTnLst>
                                    <p:set>
                                      <p:cBhvr>
                                        <p:cTn id="168" dur="1" fill="hold">
                                          <p:stCondLst>
                                            <p:cond delay="0"/>
                                          </p:stCondLst>
                                        </p:cTn>
                                        <p:tgtEl>
                                          <p:spTgt spid="47"/>
                                        </p:tgtEl>
                                        <p:attrNameLst>
                                          <p:attrName>style.visibility</p:attrName>
                                        </p:attrNameLst>
                                      </p:cBhvr>
                                      <p:to>
                                        <p:strVal val="visible"/>
                                      </p:to>
                                    </p:set>
                                    <p:animEffect transition="in" filter="fade">
                                      <p:cBhvr>
                                        <p:cTn id="16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What This Deck Covers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Sixty years of history, one idea at the end of it: the event log</a:t>
            </a:r>
          </a:p>
        </p:txBody>
      </p:sp>
      <p:sp>
        <p:nvSpPr>
          <p:cNvPr id="11" name="a1u_n10"/>
          <p:cNvSpPr/>
          <p:nvPr/>
        </p:nvSpPr>
        <p:spPr>
          <a:xfrm>
            <a:off x="457200" y="1261872"/>
            <a:ext cx="512064" cy="420624"/>
          </a:xfrm>
          <a:prstGeom prst="roundRect">
            <a:avLst>
              <a:gd name="adj" fmla="val 17391"/>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t11"/>
          <p:cNvSpPr txBox="1"/>
          <p:nvPr/>
        </p:nvSpPr>
        <p:spPr>
          <a:xfrm>
            <a:off x="457200" y="1261872"/>
            <a:ext cx="512064" cy="420624"/>
          </a:xfrm>
          <a:prstGeom prst="rect">
            <a:avLst/>
          </a:prstGeom>
          <a:noFill/>
        </p:spPr>
        <p:txBody>
          <a:bodyPr wrap="square" lIns="0" tIns="0" rIns="0" bIns="0" anchor="ctr">
            <a:spAutoFit/>
          </a:bodyPr>
          <a:lstStyle/>
          <a:p>
            <a:pPr algn="ctr"/>
            <a:r>
              <a:rPr sz="1300" b="1">
                <a:solidFill>
                  <a:srgbClr val="FFFFFF"/>
                </a:solidFill>
                <a:latin typeface="Segoe UI"/>
              </a:rPr>
              <a:t>01</a:t>
            </a:r>
          </a:p>
        </p:txBody>
      </p:sp>
      <p:sp>
        <p:nvSpPr>
          <p:cNvPr id="13" name="a1u_pt12"/>
          <p:cNvSpPr txBox="1"/>
          <p:nvPr/>
        </p:nvSpPr>
        <p:spPr>
          <a:xfrm>
            <a:off x="1115568" y="1234439"/>
            <a:ext cx="4114800" cy="256032"/>
          </a:xfrm>
          <a:prstGeom prst="rect">
            <a:avLst/>
          </a:prstGeom>
          <a:noFill/>
        </p:spPr>
        <p:txBody>
          <a:bodyPr wrap="square" lIns="0" tIns="0" rIns="0" bIns="0" anchor="ctr">
            <a:spAutoFit/>
          </a:bodyPr>
          <a:lstStyle/>
          <a:p>
            <a:pPr algn="l"/>
            <a:r>
              <a:rPr sz="1200" b="1">
                <a:solidFill>
                  <a:srgbClr val="1C1917"/>
                </a:solidFill>
                <a:latin typeface="Segoe UI"/>
              </a:rPr>
              <a:t>A short history of distributed systems</a:t>
            </a:r>
          </a:p>
        </p:txBody>
      </p:sp>
      <p:sp>
        <p:nvSpPr>
          <p:cNvPr id="14" name="a1u_pd13"/>
          <p:cNvSpPr txBox="1"/>
          <p:nvPr/>
        </p:nvSpPr>
        <p:spPr>
          <a:xfrm>
            <a:off x="1115568" y="1472184"/>
            <a:ext cx="4114800" cy="219456"/>
          </a:xfrm>
          <a:prstGeom prst="rect">
            <a:avLst/>
          </a:prstGeom>
          <a:noFill/>
        </p:spPr>
        <p:txBody>
          <a:bodyPr wrap="square" lIns="0" tIns="0" rIns="0" bIns="0" anchor="ctr">
            <a:spAutoFit/>
          </a:bodyPr>
          <a:lstStyle/>
          <a:p>
            <a:pPr algn="l"/>
            <a:r>
              <a:rPr sz="850" b="0">
                <a:solidFill>
                  <a:srgbClr val="78716C"/>
                </a:solidFill>
                <a:latin typeface="Segoe UI"/>
              </a:rPr>
              <a:t>Mainframes to microservices - and the fallacies</a:t>
            </a:r>
          </a:p>
        </p:txBody>
      </p:sp>
      <p:sp>
        <p:nvSpPr>
          <p:cNvPr id="15" name="a1ud110_n14"/>
          <p:cNvSpPr/>
          <p:nvPr/>
        </p:nvSpPr>
        <p:spPr>
          <a:xfrm>
            <a:off x="457200" y="1773936"/>
            <a:ext cx="512064" cy="420624"/>
          </a:xfrm>
          <a:prstGeom prst="roundRect">
            <a:avLst>
              <a:gd name="adj" fmla="val 17391"/>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110_nt15"/>
          <p:cNvSpPr txBox="1"/>
          <p:nvPr/>
        </p:nvSpPr>
        <p:spPr>
          <a:xfrm>
            <a:off x="457200" y="1773936"/>
            <a:ext cx="512064" cy="420624"/>
          </a:xfrm>
          <a:prstGeom prst="rect">
            <a:avLst/>
          </a:prstGeom>
          <a:noFill/>
        </p:spPr>
        <p:txBody>
          <a:bodyPr wrap="square" lIns="0" tIns="0" rIns="0" bIns="0" anchor="ctr">
            <a:spAutoFit/>
          </a:bodyPr>
          <a:lstStyle/>
          <a:p>
            <a:pPr algn="ctr"/>
            <a:r>
              <a:rPr sz="1300" b="1">
                <a:solidFill>
                  <a:srgbClr val="FFFFFF"/>
                </a:solidFill>
                <a:latin typeface="Segoe UI"/>
              </a:rPr>
              <a:t>02</a:t>
            </a:r>
          </a:p>
        </p:txBody>
      </p:sp>
      <p:sp>
        <p:nvSpPr>
          <p:cNvPr id="17" name="a1ud110_pt16"/>
          <p:cNvSpPr txBox="1"/>
          <p:nvPr/>
        </p:nvSpPr>
        <p:spPr>
          <a:xfrm>
            <a:off x="1115568" y="1746504"/>
            <a:ext cx="4114800" cy="256032"/>
          </a:xfrm>
          <a:prstGeom prst="rect">
            <a:avLst/>
          </a:prstGeom>
          <a:noFill/>
        </p:spPr>
        <p:txBody>
          <a:bodyPr wrap="square" lIns="0" tIns="0" rIns="0" bIns="0" anchor="ctr">
            <a:spAutoFit/>
          </a:bodyPr>
          <a:lstStyle/>
          <a:p>
            <a:pPr algn="l"/>
            <a:r>
              <a:rPr sz="1200" b="1">
                <a:solidFill>
                  <a:srgbClr val="1C1917"/>
                </a:solidFill>
                <a:latin typeface="Segoe UI"/>
              </a:rPr>
              <a:t>Moving data around</a:t>
            </a:r>
          </a:p>
        </p:txBody>
      </p:sp>
      <p:sp>
        <p:nvSpPr>
          <p:cNvPr id="18" name="a1ud110_pd17"/>
          <p:cNvSpPr txBox="1"/>
          <p:nvPr/>
        </p:nvSpPr>
        <p:spPr>
          <a:xfrm>
            <a:off x="1115568" y="1984248"/>
            <a:ext cx="4114800" cy="219456"/>
          </a:xfrm>
          <a:prstGeom prst="rect">
            <a:avLst/>
          </a:prstGeom>
          <a:noFill/>
        </p:spPr>
        <p:txBody>
          <a:bodyPr wrap="square" lIns="0" tIns="0" rIns="0" bIns="0" anchor="ctr">
            <a:spAutoFit/>
          </a:bodyPr>
          <a:lstStyle/>
          <a:p>
            <a:pPr algn="l"/>
            <a:r>
              <a:rPr sz="850" b="0">
                <a:solidFill>
                  <a:srgbClr val="78716C"/>
                </a:solidFill>
                <a:latin typeface="Segoe UI"/>
              </a:rPr>
              <a:t>Data at rest and in motion; life before Kafka</a:t>
            </a:r>
          </a:p>
        </p:txBody>
      </p:sp>
      <p:sp>
        <p:nvSpPr>
          <p:cNvPr id="19" name="a1ud220_n18"/>
          <p:cNvSpPr/>
          <p:nvPr/>
        </p:nvSpPr>
        <p:spPr>
          <a:xfrm>
            <a:off x="457200" y="2286000"/>
            <a:ext cx="512064" cy="420624"/>
          </a:xfrm>
          <a:prstGeom prst="roundRect">
            <a:avLst>
              <a:gd name="adj" fmla="val 17391"/>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220_nt19"/>
          <p:cNvSpPr txBox="1"/>
          <p:nvPr/>
        </p:nvSpPr>
        <p:spPr>
          <a:xfrm>
            <a:off x="457200" y="2286000"/>
            <a:ext cx="512064" cy="420624"/>
          </a:xfrm>
          <a:prstGeom prst="rect">
            <a:avLst/>
          </a:prstGeom>
          <a:noFill/>
        </p:spPr>
        <p:txBody>
          <a:bodyPr wrap="square" lIns="0" tIns="0" rIns="0" bIns="0" anchor="ctr">
            <a:spAutoFit/>
          </a:bodyPr>
          <a:lstStyle/>
          <a:p>
            <a:pPr algn="ctr"/>
            <a:r>
              <a:rPr sz="1300" b="1">
                <a:solidFill>
                  <a:srgbClr val="FFFFFF"/>
                </a:solidFill>
                <a:latin typeface="Segoe UI"/>
              </a:rPr>
              <a:t>03</a:t>
            </a:r>
          </a:p>
        </p:txBody>
      </p:sp>
      <p:sp>
        <p:nvSpPr>
          <p:cNvPr id="21" name="a1ud220_pt20"/>
          <p:cNvSpPr txBox="1"/>
          <p:nvPr/>
        </p:nvSpPr>
        <p:spPr>
          <a:xfrm>
            <a:off x="1115568" y="2258568"/>
            <a:ext cx="4114800" cy="256032"/>
          </a:xfrm>
          <a:prstGeom prst="rect">
            <a:avLst/>
          </a:prstGeom>
          <a:noFill/>
        </p:spPr>
        <p:txBody>
          <a:bodyPr wrap="square" lIns="0" tIns="0" rIns="0" bIns="0" anchor="ctr">
            <a:spAutoFit/>
          </a:bodyPr>
          <a:lstStyle/>
          <a:p>
            <a:pPr algn="l"/>
            <a:r>
              <a:rPr sz="1200" b="1">
                <a:solidFill>
                  <a:srgbClr val="1C1917"/>
                </a:solidFill>
                <a:latin typeface="Segoe UI"/>
              </a:rPr>
              <a:t>A short history of messaging</a:t>
            </a:r>
          </a:p>
        </p:txBody>
      </p:sp>
      <p:sp>
        <p:nvSpPr>
          <p:cNvPr id="22" name="a1ud220_pd21"/>
          <p:cNvSpPr txBox="1"/>
          <p:nvPr/>
        </p:nvSpPr>
        <p:spPr>
          <a:xfrm>
            <a:off x="1115568" y="2496312"/>
            <a:ext cx="4114800" cy="219456"/>
          </a:xfrm>
          <a:prstGeom prst="rect">
            <a:avLst/>
          </a:prstGeom>
          <a:noFill/>
        </p:spPr>
        <p:txBody>
          <a:bodyPr wrap="square" lIns="0" tIns="0" rIns="0" bIns="0" anchor="ctr">
            <a:spAutoFit/>
          </a:bodyPr>
          <a:lstStyle/>
          <a:p>
            <a:pPr algn="l"/>
            <a:r>
              <a:rPr sz="850" b="0">
                <a:solidFill>
                  <a:srgbClr val="78716C"/>
                </a:solidFill>
                <a:latin typeface="Segoe UI"/>
              </a:rPr>
              <a:t>Queues, pub/sub, JMS, AMQP, log aggregators</a:t>
            </a:r>
          </a:p>
        </p:txBody>
      </p:sp>
      <p:sp>
        <p:nvSpPr>
          <p:cNvPr id="23" name="a1ud330_n22"/>
          <p:cNvSpPr/>
          <p:nvPr/>
        </p:nvSpPr>
        <p:spPr>
          <a:xfrm>
            <a:off x="457200" y="2798064"/>
            <a:ext cx="512064" cy="420624"/>
          </a:xfrm>
          <a:prstGeom prst="roundRect">
            <a:avLst>
              <a:gd name="adj" fmla="val 17391"/>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ud330_nt23"/>
          <p:cNvSpPr txBox="1"/>
          <p:nvPr/>
        </p:nvSpPr>
        <p:spPr>
          <a:xfrm>
            <a:off x="457200" y="2798064"/>
            <a:ext cx="512064" cy="420624"/>
          </a:xfrm>
          <a:prstGeom prst="rect">
            <a:avLst/>
          </a:prstGeom>
          <a:noFill/>
        </p:spPr>
        <p:txBody>
          <a:bodyPr wrap="square" lIns="0" tIns="0" rIns="0" bIns="0" anchor="ctr">
            <a:spAutoFit/>
          </a:bodyPr>
          <a:lstStyle/>
          <a:p>
            <a:pPr algn="ctr"/>
            <a:r>
              <a:rPr sz="1300" b="1">
                <a:solidFill>
                  <a:srgbClr val="FFFFFF"/>
                </a:solidFill>
                <a:latin typeface="Segoe UI"/>
              </a:rPr>
              <a:t>04</a:t>
            </a:r>
          </a:p>
        </p:txBody>
      </p:sp>
      <p:sp>
        <p:nvSpPr>
          <p:cNvPr id="25" name="a1ud330_pt24"/>
          <p:cNvSpPr txBox="1"/>
          <p:nvPr/>
        </p:nvSpPr>
        <p:spPr>
          <a:xfrm>
            <a:off x="1115568" y="2770632"/>
            <a:ext cx="4114800" cy="256032"/>
          </a:xfrm>
          <a:prstGeom prst="rect">
            <a:avLst/>
          </a:prstGeom>
          <a:noFill/>
        </p:spPr>
        <p:txBody>
          <a:bodyPr wrap="square" lIns="0" tIns="0" rIns="0" bIns="0" anchor="ctr">
            <a:spAutoFit/>
          </a:bodyPr>
          <a:lstStyle/>
          <a:p>
            <a:pPr algn="l"/>
            <a:r>
              <a:rPr sz="1200" b="1">
                <a:solidFill>
                  <a:srgbClr val="1C1917"/>
                </a:solidFill>
                <a:latin typeface="Segoe UI"/>
              </a:rPr>
              <a:t>The birth of Kafka</a:t>
            </a:r>
          </a:p>
        </p:txBody>
      </p:sp>
      <p:sp>
        <p:nvSpPr>
          <p:cNvPr id="26" name="a1ud330_pd25"/>
          <p:cNvSpPr txBox="1"/>
          <p:nvPr/>
        </p:nvSpPr>
        <p:spPr>
          <a:xfrm>
            <a:off x="1115568" y="3008376"/>
            <a:ext cx="4114800" cy="219456"/>
          </a:xfrm>
          <a:prstGeom prst="rect">
            <a:avLst/>
          </a:prstGeom>
          <a:noFill/>
        </p:spPr>
        <p:txBody>
          <a:bodyPr wrap="square" lIns="0" tIns="0" rIns="0" bIns="0" anchor="ctr">
            <a:spAutoFit/>
          </a:bodyPr>
          <a:lstStyle/>
          <a:p>
            <a:pPr algn="l"/>
            <a:r>
              <a:rPr sz="850" b="0">
                <a:solidFill>
                  <a:srgbClr val="78716C"/>
                </a:solidFill>
                <a:latin typeface="Segoe UI"/>
              </a:rPr>
              <a:t>LinkedIn, the log, commit logs</a:t>
            </a:r>
          </a:p>
        </p:txBody>
      </p:sp>
      <p:sp>
        <p:nvSpPr>
          <p:cNvPr id="27" name="a1ud440_n26"/>
          <p:cNvSpPr/>
          <p:nvPr/>
        </p:nvSpPr>
        <p:spPr>
          <a:xfrm>
            <a:off x="457200" y="3310128"/>
            <a:ext cx="512064" cy="420624"/>
          </a:xfrm>
          <a:prstGeom prst="roundRect">
            <a:avLst>
              <a:gd name="adj" fmla="val 17391"/>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1ud440_nt27"/>
          <p:cNvSpPr txBox="1"/>
          <p:nvPr/>
        </p:nvSpPr>
        <p:spPr>
          <a:xfrm>
            <a:off x="457200" y="3310128"/>
            <a:ext cx="512064" cy="420624"/>
          </a:xfrm>
          <a:prstGeom prst="rect">
            <a:avLst/>
          </a:prstGeom>
          <a:noFill/>
        </p:spPr>
        <p:txBody>
          <a:bodyPr wrap="square" lIns="0" tIns="0" rIns="0" bIns="0" anchor="ctr">
            <a:spAutoFit/>
          </a:bodyPr>
          <a:lstStyle/>
          <a:p>
            <a:pPr algn="ctr"/>
            <a:r>
              <a:rPr sz="1300" b="1">
                <a:solidFill>
                  <a:srgbClr val="FFFFFF"/>
                </a:solidFill>
                <a:latin typeface="Segoe UI"/>
              </a:rPr>
              <a:t>05</a:t>
            </a:r>
          </a:p>
        </p:txBody>
      </p:sp>
      <p:sp>
        <p:nvSpPr>
          <p:cNvPr id="29" name="a1ud440_pt28"/>
          <p:cNvSpPr txBox="1"/>
          <p:nvPr/>
        </p:nvSpPr>
        <p:spPr>
          <a:xfrm>
            <a:off x="1115568" y="3282696"/>
            <a:ext cx="4114800" cy="256032"/>
          </a:xfrm>
          <a:prstGeom prst="rect">
            <a:avLst/>
          </a:prstGeom>
          <a:noFill/>
        </p:spPr>
        <p:txBody>
          <a:bodyPr wrap="square" lIns="0" tIns="0" rIns="0" bIns="0" anchor="ctr">
            <a:spAutoFit/>
          </a:bodyPr>
          <a:lstStyle/>
          <a:p>
            <a:pPr algn="l"/>
            <a:r>
              <a:rPr sz="1200" b="1">
                <a:solidFill>
                  <a:srgbClr val="1C1917"/>
                </a:solidFill>
                <a:latin typeface="Segoe UI"/>
              </a:rPr>
              <a:t>Events and event streaming</a:t>
            </a:r>
          </a:p>
        </p:txBody>
      </p:sp>
      <p:sp>
        <p:nvSpPr>
          <p:cNvPr id="30" name="a1ud440_pd29"/>
          <p:cNvSpPr txBox="1"/>
          <p:nvPr/>
        </p:nvSpPr>
        <p:spPr>
          <a:xfrm>
            <a:off x="1115568" y="3520440"/>
            <a:ext cx="4114800" cy="219456"/>
          </a:xfrm>
          <a:prstGeom prst="rect">
            <a:avLst/>
          </a:prstGeom>
          <a:noFill/>
        </p:spPr>
        <p:txBody>
          <a:bodyPr wrap="square" lIns="0" tIns="0" rIns="0" bIns="0" anchor="ctr">
            <a:spAutoFit/>
          </a:bodyPr>
          <a:lstStyle/>
          <a:p>
            <a:pPr algn="l"/>
            <a:r>
              <a:rPr sz="850" b="0">
                <a:solidFill>
                  <a:srgbClr val="78716C"/>
                </a:solidFill>
                <a:latin typeface="Segoe UI"/>
              </a:rPr>
              <a:t>Events first, streams and tables, use cases</a:t>
            </a:r>
          </a:p>
        </p:txBody>
      </p:sp>
      <p:sp>
        <p:nvSpPr>
          <p:cNvPr id="31" name="a1ud550_n30"/>
          <p:cNvSpPr/>
          <p:nvPr/>
        </p:nvSpPr>
        <p:spPr>
          <a:xfrm>
            <a:off x="457200" y="3822191"/>
            <a:ext cx="512064" cy="420624"/>
          </a:xfrm>
          <a:prstGeom prst="roundRect">
            <a:avLst>
              <a:gd name="adj" fmla="val 17391"/>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1ud550_nt31"/>
          <p:cNvSpPr txBox="1"/>
          <p:nvPr/>
        </p:nvSpPr>
        <p:spPr>
          <a:xfrm>
            <a:off x="457200" y="3822191"/>
            <a:ext cx="512064" cy="420624"/>
          </a:xfrm>
          <a:prstGeom prst="rect">
            <a:avLst/>
          </a:prstGeom>
          <a:noFill/>
        </p:spPr>
        <p:txBody>
          <a:bodyPr wrap="square" lIns="0" tIns="0" rIns="0" bIns="0" anchor="ctr">
            <a:spAutoFit/>
          </a:bodyPr>
          <a:lstStyle/>
          <a:p>
            <a:pPr algn="ctr"/>
            <a:r>
              <a:rPr sz="1300" b="1">
                <a:solidFill>
                  <a:srgbClr val="FFFFFF"/>
                </a:solidFill>
                <a:latin typeface="Segoe UI"/>
              </a:rPr>
              <a:t>06</a:t>
            </a:r>
          </a:p>
        </p:txBody>
      </p:sp>
      <p:sp>
        <p:nvSpPr>
          <p:cNvPr id="33" name="a1ud550_pt32"/>
          <p:cNvSpPr txBox="1"/>
          <p:nvPr/>
        </p:nvSpPr>
        <p:spPr>
          <a:xfrm>
            <a:off x="1115568" y="3794759"/>
            <a:ext cx="4114800" cy="256032"/>
          </a:xfrm>
          <a:prstGeom prst="rect">
            <a:avLst/>
          </a:prstGeom>
          <a:noFill/>
        </p:spPr>
        <p:txBody>
          <a:bodyPr wrap="square" lIns="0" tIns="0" rIns="0" bIns="0" anchor="ctr">
            <a:spAutoFit/>
          </a:bodyPr>
          <a:lstStyle/>
          <a:p>
            <a:pPr algn="l"/>
            <a:r>
              <a:rPr sz="1200" b="1">
                <a:solidFill>
                  <a:srgbClr val="1C1917"/>
                </a:solidFill>
                <a:latin typeface="Segoe UI"/>
              </a:rPr>
              <a:t>Kafka at a glance</a:t>
            </a:r>
          </a:p>
        </p:txBody>
      </p:sp>
      <p:sp>
        <p:nvSpPr>
          <p:cNvPr id="34" name="a1ud550_pd33"/>
          <p:cNvSpPr txBox="1"/>
          <p:nvPr/>
        </p:nvSpPr>
        <p:spPr>
          <a:xfrm>
            <a:off x="1115568" y="4032504"/>
            <a:ext cx="4114800" cy="219456"/>
          </a:xfrm>
          <a:prstGeom prst="rect">
            <a:avLst/>
          </a:prstGeom>
          <a:noFill/>
        </p:spPr>
        <p:txBody>
          <a:bodyPr wrap="square" lIns="0" tIns="0" rIns="0" bIns="0" anchor="ctr">
            <a:spAutoFit/>
          </a:bodyPr>
          <a:lstStyle/>
          <a:p>
            <a:pPr algn="l"/>
            <a:r>
              <a:rPr sz="850" b="0">
                <a:solidFill>
                  <a:srgbClr val="78716C"/>
                </a:solidFill>
                <a:latin typeface="Segoe UI"/>
              </a:rPr>
              <a:t>Servers, clients, topics, partitions, ecosystem</a:t>
            </a:r>
          </a:p>
        </p:txBody>
      </p:sp>
      <p:sp>
        <p:nvSpPr>
          <p:cNvPr id="35" name="a2u_card34"/>
          <p:cNvSpPr/>
          <p:nvPr/>
        </p:nvSpPr>
        <p:spPr>
          <a:xfrm>
            <a:off x="5486400" y="1261872"/>
            <a:ext cx="3200400" cy="2980944"/>
          </a:xfrm>
          <a:prstGeom prst="roundRect">
            <a:avLst>
              <a:gd name="adj" fmla="val 368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2u_acc35"/>
          <p:cNvSpPr/>
          <p:nvPr/>
        </p:nvSpPr>
        <p:spPr>
          <a:xfrm>
            <a:off x="5486400" y="1261872"/>
            <a:ext cx="50292" cy="298094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2u_hh36"/>
          <p:cNvSpPr txBox="1"/>
          <p:nvPr/>
        </p:nvSpPr>
        <p:spPr>
          <a:xfrm>
            <a:off x="5687568" y="1371600"/>
            <a:ext cx="2834640" cy="237744"/>
          </a:xfrm>
          <a:prstGeom prst="rect">
            <a:avLst/>
          </a:prstGeom>
          <a:noFill/>
        </p:spPr>
        <p:txBody>
          <a:bodyPr wrap="square" lIns="0" tIns="0" rIns="0" bIns="0" anchor="ctr">
            <a:spAutoFit/>
          </a:bodyPr>
          <a:lstStyle/>
          <a:p>
            <a:pPr algn="l"/>
            <a:r>
              <a:rPr sz="900" b="1">
                <a:solidFill>
                  <a:srgbClr val="EA580C"/>
                </a:solidFill>
                <a:latin typeface="Segoe UI"/>
              </a:rPr>
              <a:t>HOW THIS DECK WORKS</a:t>
            </a:r>
          </a:p>
        </p:txBody>
      </p:sp>
      <p:sp>
        <p:nvSpPr>
          <p:cNvPr id="38" name="a2ud80_dot37"/>
          <p:cNvSpPr/>
          <p:nvPr/>
        </p:nvSpPr>
        <p:spPr>
          <a:xfrm>
            <a:off x="5687568" y="1842516"/>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2ud80_b38"/>
          <p:cNvSpPr txBox="1"/>
          <p:nvPr/>
        </p:nvSpPr>
        <p:spPr>
          <a:xfrm>
            <a:off x="5907024" y="1746504"/>
            <a:ext cx="2578608" cy="548640"/>
          </a:xfrm>
          <a:prstGeom prst="rect">
            <a:avLst/>
          </a:prstGeom>
          <a:noFill/>
        </p:spPr>
        <p:txBody>
          <a:bodyPr wrap="square" lIns="0" tIns="0" rIns="0" bIns="0" anchor="t">
            <a:spAutoFit/>
          </a:bodyPr>
          <a:lstStyle/>
          <a:p>
            <a:pPr algn="l"/>
            <a:r>
              <a:rPr sz="900" b="0">
                <a:solidFill>
                  <a:srgbClr val="44403C"/>
                </a:solidFill>
                <a:latin typeface="Segoe UI"/>
              </a:rPr>
              <a:t>Concepts first - no labs in this session</a:t>
            </a:r>
          </a:p>
        </p:txBody>
      </p:sp>
      <p:sp>
        <p:nvSpPr>
          <p:cNvPr id="40" name="a2ud180_dot39"/>
          <p:cNvSpPr/>
          <p:nvPr/>
        </p:nvSpPr>
        <p:spPr>
          <a:xfrm>
            <a:off x="5687568" y="242773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2ud180_b40"/>
          <p:cNvSpPr txBox="1"/>
          <p:nvPr/>
        </p:nvSpPr>
        <p:spPr>
          <a:xfrm>
            <a:off x="5907024" y="2331720"/>
            <a:ext cx="2578608" cy="548640"/>
          </a:xfrm>
          <a:prstGeom prst="rect">
            <a:avLst/>
          </a:prstGeom>
          <a:noFill/>
        </p:spPr>
        <p:txBody>
          <a:bodyPr wrap="square" lIns="0" tIns="0" rIns="0" bIns="0" anchor="t">
            <a:spAutoFit/>
          </a:bodyPr>
          <a:lstStyle/>
          <a:p>
            <a:pPr algn="l"/>
            <a:r>
              <a:rPr sz="900" b="0">
                <a:solidFill>
                  <a:srgbClr val="44403C"/>
                </a:solidFill>
                <a:latin typeface="Segoe UI"/>
              </a:rPr>
              <a:t>History explains WHY Kafka looks the way it does</a:t>
            </a:r>
          </a:p>
        </p:txBody>
      </p:sp>
      <p:sp>
        <p:nvSpPr>
          <p:cNvPr id="42" name="a2ud280_dot41"/>
          <p:cNvSpPr/>
          <p:nvPr/>
        </p:nvSpPr>
        <p:spPr>
          <a:xfrm>
            <a:off x="5687568" y="3012948"/>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2ud280_b42"/>
          <p:cNvSpPr txBox="1"/>
          <p:nvPr/>
        </p:nvSpPr>
        <p:spPr>
          <a:xfrm>
            <a:off x="5907024" y="2916936"/>
            <a:ext cx="2578608" cy="548640"/>
          </a:xfrm>
          <a:prstGeom prst="rect">
            <a:avLst/>
          </a:prstGeom>
          <a:noFill/>
        </p:spPr>
        <p:txBody>
          <a:bodyPr wrap="square" lIns="0" tIns="0" rIns="0" bIns="0" anchor="t">
            <a:spAutoFit/>
          </a:bodyPr>
          <a:lstStyle/>
          <a:p>
            <a:pPr algn="l"/>
            <a:r>
              <a:rPr sz="900" b="0">
                <a:solidFill>
                  <a:srgbClr val="44403C"/>
                </a:solidFill>
                <a:latin typeface="Segoe UI"/>
              </a:rPr>
              <a:t>Each idea solves the problem on the slide before</a:t>
            </a:r>
          </a:p>
        </p:txBody>
      </p:sp>
      <p:sp>
        <p:nvSpPr>
          <p:cNvPr id="44" name="a2ud380_dot43"/>
          <p:cNvSpPr/>
          <p:nvPr/>
        </p:nvSpPr>
        <p:spPr>
          <a:xfrm>
            <a:off x="5687568" y="359816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2ud380_b44"/>
          <p:cNvSpPr txBox="1"/>
          <p:nvPr/>
        </p:nvSpPr>
        <p:spPr>
          <a:xfrm>
            <a:off x="5907024" y="3502152"/>
            <a:ext cx="2578608" cy="548640"/>
          </a:xfrm>
          <a:prstGeom prst="rect">
            <a:avLst/>
          </a:prstGeom>
          <a:noFill/>
        </p:spPr>
        <p:txBody>
          <a:bodyPr wrap="square" lIns="0" tIns="0" rIns="0" bIns="0" anchor="t">
            <a:spAutoFit/>
          </a:bodyPr>
          <a:lstStyle/>
          <a:p>
            <a:pPr algn="l"/>
            <a:r>
              <a:rPr sz="900" b="0">
                <a:solidFill>
                  <a:srgbClr val="44403C"/>
                </a:solidFill>
                <a:latin typeface="Segoe UI"/>
              </a:rPr>
              <a:t>Explained the way Apache and Confluent explain it</a:t>
            </a:r>
          </a:p>
        </p:txBody>
      </p:sp>
      <p:sp>
        <p:nvSpPr>
          <p:cNvPr id="46" name="ft45"/>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02</a:t>
            </a:r>
          </a:p>
        </p:txBody>
      </p:sp>
      <p:sp>
        <p:nvSpPr>
          <p:cNvPr id="47" name="ft46"/>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ft47"/>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9" name="ft48"/>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1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1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1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11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22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22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22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22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33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33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33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33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par>
                                <p:cTn id="89" presetID="2" presetClass="entr" presetSubtype="4" fill="hold" grpId="0" nodeType="withEffect">
                                  <p:stCondLst>
                                    <p:cond delay="44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44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44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1"/>
                                          </p:val>
                                        </p:tav>
                                        <p:tav tm="100000">
                                          <p:val>
                                            <p:strVal val="#ppt_y"/>
                                          </p:val>
                                        </p:tav>
                                      </p:tavLst>
                                    </p:anim>
                                    <p:animEffect transition="in" filter="fade">
                                      <p:cBhvr>
                                        <p:cTn id="98" dur="500"/>
                                        <p:tgtEl>
                                          <p:spTgt spid="29"/>
                                        </p:tgtEl>
                                      </p:cBhvr>
                                    </p:animEffect>
                                  </p:childTnLst>
                                </p:cTn>
                              </p:par>
                              <p:par>
                                <p:cTn id="104" presetID="2" presetClass="entr" presetSubtype="4" fill="hold" grpId="0" nodeType="withEffect">
                                  <p:stCondLst>
                                    <p:cond delay="44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ppt_x</p:attrName>
                                        </p:attrNameLst>
                                      </p:cBhvr>
                                      <p:tavLst>
                                        <p:tav tm="0">
                                          <p:val>
                                            <p:strVal val="#ppt_x"/>
                                          </p:val>
                                        </p:tav>
                                        <p:tav tm="100000">
                                          <p:val>
                                            <p:strVal val="#ppt_x"/>
                                          </p:val>
                                        </p:tav>
                                      </p:tavLst>
                                    </p:anim>
                                    <p:anim calcmode="lin" valueType="num">
                                      <p:cBhvr additive="base">
                                        <p:cTn id="102" dur="500" fill="hold"/>
                                        <p:tgtEl>
                                          <p:spTgt spid="30"/>
                                        </p:tgtEl>
                                        <p:attrNameLst>
                                          <p:attrName>ppt_y</p:attrName>
                                        </p:attrNameLst>
                                      </p:cBhvr>
                                      <p:tavLst>
                                        <p:tav tm="0">
                                          <p:val>
                                            <p:strVal val="#ppt_y+0.1"/>
                                          </p:val>
                                        </p:tav>
                                        <p:tav tm="100000">
                                          <p:val>
                                            <p:strVal val="#ppt_y"/>
                                          </p:val>
                                        </p:tav>
                                      </p:tavLst>
                                    </p:anim>
                                    <p:animEffect transition="in" filter="fade">
                                      <p:cBhvr>
                                        <p:cTn id="103" dur="500"/>
                                        <p:tgtEl>
                                          <p:spTgt spid="30"/>
                                        </p:tgtEl>
                                      </p:cBhvr>
                                    </p:animEffect>
                                  </p:childTnLst>
                                </p:cTn>
                              </p:par>
                              <p:par>
                                <p:cTn id="109" presetID="2" presetClass="entr" presetSubtype="4" fill="hold" grpId="0" nodeType="withEffect">
                                  <p:stCondLst>
                                    <p:cond delay="550"/>
                                  </p:stCondLst>
                                  <p:childTnLst>
                                    <p:set>
                                      <p:cBhvr>
                                        <p:cTn id="105" dur="1" fill="hold">
                                          <p:stCondLst>
                                            <p:cond delay="0"/>
                                          </p:stCondLst>
                                        </p:cTn>
                                        <p:tgtEl>
                                          <p:spTgt spid="31"/>
                                        </p:tgtEl>
                                        <p:attrNameLst>
                                          <p:attrName>style.visibility</p:attrName>
                                        </p:attrNameLst>
                                      </p:cBhvr>
                                      <p:to>
                                        <p:strVal val="visible"/>
                                      </p:to>
                                    </p:set>
                                    <p:anim calcmode="lin" valueType="num">
                                      <p:cBhvr additive="base">
                                        <p:cTn id="106" dur="500" fill="hold"/>
                                        <p:tgtEl>
                                          <p:spTgt spid="31"/>
                                        </p:tgtEl>
                                        <p:attrNameLst>
                                          <p:attrName>ppt_x</p:attrName>
                                        </p:attrNameLst>
                                      </p:cBhvr>
                                      <p:tavLst>
                                        <p:tav tm="0">
                                          <p:val>
                                            <p:strVal val="#ppt_x"/>
                                          </p:val>
                                        </p:tav>
                                        <p:tav tm="100000">
                                          <p:val>
                                            <p:strVal val="#ppt_x"/>
                                          </p:val>
                                        </p:tav>
                                      </p:tavLst>
                                    </p:anim>
                                    <p:anim calcmode="lin" valueType="num">
                                      <p:cBhvr additive="base">
                                        <p:cTn id="107" dur="500" fill="hold"/>
                                        <p:tgtEl>
                                          <p:spTgt spid="31"/>
                                        </p:tgtEl>
                                        <p:attrNameLst>
                                          <p:attrName>ppt_y</p:attrName>
                                        </p:attrNameLst>
                                      </p:cBhvr>
                                      <p:tavLst>
                                        <p:tav tm="0">
                                          <p:val>
                                            <p:strVal val="#ppt_y+0.1"/>
                                          </p:val>
                                        </p:tav>
                                        <p:tav tm="100000">
                                          <p:val>
                                            <p:strVal val="#ppt_y"/>
                                          </p:val>
                                        </p:tav>
                                      </p:tavLst>
                                    </p:anim>
                                    <p:animEffect transition="in" filter="fade">
                                      <p:cBhvr>
                                        <p:cTn id="108" dur="500"/>
                                        <p:tgtEl>
                                          <p:spTgt spid="31"/>
                                        </p:tgtEl>
                                      </p:cBhvr>
                                    </p:animEffect>
                                  </p:childTnLst>
                                </p:cTn>
                              </p:par>
                              <p:par>
                                <p:cTn id="114" presetID="2" presetClass="entr" presetSubtype="4" fill="hold" grpId="0" nodeType="withEffect">
                                  <p:stCondLst>
                                    <p:cond delay="550"/>
                                  </p:stCondLst>
                                  <p:childTnLst>
                                    <p:set>
                                      <p:cBhvr>
                                        <p:cTn id="110" dur="1" fill="hold">
                                          <p:stCondLst>
                                            <p:cond delay="0"/>
                                          </p:stCondLst>
                                        </p:cTn>
                                        <p:tgtEl>
                                          <p:spTgt spid="32"/>
                                        </p:tgtEl>
                                        <p:attrNameLst>
                                          <p:attrName>style.visibility</p:attrName>
                                        </p:attrNameLst>
                                      </p:cBhvr>
                                      <p:to>
                                        <p:strVal val="visible"/>
                                      </p:to>
                                    </p:set>
                                    <p:anim calcmode="lin" valueType="num">
                                      <p:cBhvr additive="base">
                                        <p:cTn id="111" dur="500" fill="hold"/>
                                        <p:tgtEl>
                                          <p:spTgt spid="32"/>
                                        </p:tgtEl>
                                        <p:attrNameLst>
                                          <p:attrName>ppt_x</p:attrName>
                                        </p:attrNameLst>
                                      </p:cBhvr>
                                      <p:tavLst>
                                        <p:tav tm="0">
                                          <p:val>
                                            <p:strVal val="#ppt_x"/>
                                          </p:val>
                                        </p:tav>
                                        <p:tav tm="100000">
                                          <p:val>
                                            <p:strVal val="#ppt_x"/>
                                          </p:val>
                                        </p:tav>
                                      </p:tavLst>
                                    </p:anim>
                                    <p:anim calcmode="lin" valueType="num">
                                      <p:cBhvr additive="base">
                                        <p:cTn id="112" dur="500" fill="hold"/>
                                        <p:tgtEl>
                                          <p:spTgt spid="32"/>
                                        </p:tgtEl>
                                        <p:attrNameLst>
                                          <p:attrName>ppt_y</p:attrName>
                                        </p:attrNameLst>
                                      </p:cBhvr>
                                      <p:tavLst>
                                        <p:tav tm="0">
                                          <p:val>
                                            <p:strVal val="#ppt_y+0.1"/>
                                          </p:val>
                                        </p:tav>
                                        <p:tav tm="100000">
                                          <p:val>
                                            <p:strVal val="#ppt_y"/>
                                          </p:val>
                                        </p:tav>
                                      </p:tavLst>
                                    </p:anim>
                                    <p:animEffect transition="in" filter="fade">
                                      <p:cBhvr>
                                        <p:cTn id="113" dur="500"/>
                                        <p:tgtEl>
                                          <p:spTgt spid="32"/>
                                        </p:tgtEl>
                                      </p:cBhvr>
                                    </p:animEffect>
                                  </p:childTnLst>
                                </p:cTn>
                              </p:par>
                              <p:par>
                                <p:cTn id="119" presetID="2" presetClass="entr" presetSubtype="4" fill="hold" grpId="0" nodeType="withEffect">
                                  <p:stCondLst>
                                    <p:cond delay="550"/>
                                  </p:stCondLst>
                                  <p:childTnLst>
                                    <p:set>
                                      <p:cBhvr>
                                        <p:cTn id="115" dur="1" fill="hold">
                                          <p:stCondLst>
                                            <p:cond delay="0"/>
                                          </p:stCondLst>
                                        </p:cTn>
                                        <p:tgtEl>
                                          <p:spTgt spid="33"/>
                                        </p:tgtEl>
                                        <p:attrNameLst>
                                          <p:attrName>style.visibility</p:attrName>
                                        </p:attrNameLst>
                                      </p:cBhvr>
                                      <p:to>
                                        <p:strVal val="visible"/>
                                      </p:to>
                                    </p:set>
                                    <p:anim calcmode="lin" valueType="num">
                                      <p:cBhvr additive="base">
                                        <p:cTn id="116" dur="500" fill="hold"/>
                                        <p:tgtEl>
                                          <p:spTgt spid="33"/>
                                        </p:tgtEl>
                                        <p:attrNameLst>
                                          <p:attrName>ppt_x</p:attrName>
                                        </p:attrNameLst>
                                      </p:cBhvr>
                                      <p:tavLst>
                                        <p:tav tm="0">
                                          <p:val>
                                            <p:strVal val="#ppt_x"/>
                                          </p:val>
                                        </p:tav>
                                        <p:tav tm="100000">
                                          <p:val>
                                            <p:strVal val="#ppt_x"/>
                                          </p:val>
                                        </p:tav>
                                      </p:tavLst>
                                    </p:anim>
                                    <p:anim calcmode="lin" valueType="num">
                                      <p:cBhvr additive="base">
                                        <p:cTn id="117" dur="500" fill="hold"/>
                                        <p:tgtEl>
                                          <p:spTgt spid="33"/>
                                        </p:tgtEl>
                                        <p:attrNameLst>
                                          <p:attrName>ppt_y</p:attrName>
                                        </p:attrNameLst>
                                      </p:cBhvr>
                                      <p:tavLst>
                                        <p:tav tm="0">
                                          <p:val>
                                            <p:strVal val="#ppt_y+0.1"/>
                                          </p:val>
                                        </p:tav>
                                        <p:tav tm="100000">
                                          <p:val>
                                            <p:strVal val="#ppt_y"/>
                                          </p:val>
                                        </p:tav>
                                      </p:tavLst>
                                    </p:anim>
                                    <p:animEffect transition="in" filter="fade">
                                      <p:cBhvr>
                                        <p:cTn id="118" dur="500"/>
                                        <p:tgtEl>
                                          <p:spTgt spid="33"/>
                                        </p:tgtEl>
                                      </p:cBhvr>
                                    </p:animEffect>
                                  </p:childTnLst>
                                </p:cTn>
                              </p:par>
                              <p:par>
                                <p:cTn id="124" presetID="2" presetClass="entr" presetSubtype="4" fill="hold" grpId="0" nodeType="withEffect">
                                  <p:stCondLst>
                                    <p:cond delay="55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ppt_x</p:attrName>
                                        </p:attrNameLst>
                                      </p:cBhvr>
                                      <p:tavLst>
                                        <p:tav tm="0">
                                          <p:val>
                                            <p:strVal val="#ppt_x"/>
                                          </p:val>
                                        </p:tav>
                                        <p:tav tm="100000">
                                          <p:val>
                                            <p:strVal val="#ppt_x"/>
                                          </p:val>
                                        </p:tav>
                                      </p:tavLst>
                                    </p:anim>
                                    <p:anim calcmode="lin" valueType="num">
                                      <p:cBhvr additive="base">
                                        <p:cTn id="122" dur="500" fill="hold"/>
                                        <p:tgtEl>
                                          <p:spTgt spid="34"/>
                                        </p:tgtEl>
                                        <p:attrNameLst>
                                          <p:attrName>ppt_y</p:attrName>
                                        </p:attrNameLst>
                                      </p:cBhvr>
                                      <p:tavLst>
                                        <p:tav tm="0">
                                          <p:val>
                                            <p:strVal val="#ppt_y+0.1"/>
                                          </p:val>
                                        </p:tav>
                                        <p:tav tm="100000">
                                          <p:val>
                                            <p:strVal val="#ppt_y"/>
                                          </p:val>
                                        </p:tav>
                                      </p:tavLst>
                                    </p:anim>
                                    <p:animEffect transition="in" filter="fade">
                                      <p:cBhvr>
                                        <p:cTn id="123" dur="500"/>
                                        <p:tgtEl>
                                          <p:spTgt spid="34"/>
                                        </p:tgtEl>
                                      </p:cBhvr>
                                    </p:animEffect>
                                  </p:childTnLst>
                                </p:cTn>
                              </p:par>
                            </p:childTnLst>
                          </p:cTn>
                        </p:par>
                      </p:childTnLst>
                    </p:cTn>
                  </p:par>
                  <p:par>
                    <p:cTn id="125" fill="hold">
                      <p:stCondLst>
                        <p:cond delay="indefinite"/>
                      </p:stCondLst>
                      <p:childTnLst>
                        <p:par>
                          <p:cTn id="126" fill="hold">
                            <p:stCondLst>
                              <p:cond delay="0"/>
                            </p:stCondLst>
                            <p:childTnLst>
                              <p:par>
                                <p:cTn id="131" presetID="2" presetClass="entr" presetSubtype="4" fill="hold" grpId="0" nodeType="clickEffect">
                                  <p:stCondLst>
                                    <p:cond delay="0"/>
                                  </p:stCondLst>
                                  <p:childTnLst>
                                    <p:set>
                                      <p:cBhvr>
                                        <p:cTn id="127" dur="1" fill="hold">
                                          <p:stCondLst>
                                            <p:cond delay="0"/>
                                          </p:stCondLst>
                                        </p:cTn>
                                        <p:tgtEl>
                                          <p:spTgt spid="35"/>
                                        </p:tgtEl>
                                        <p:attrNameLst>
                                          <p:attrName>style.visibility</p:attrName>
                                        </p:attrNameLst>
                                      </p:cBhvr>
                                      <p:to>
                                        <p:strVal val="visible"/>
                                      </p:to>
                                    </p:set>
                                    <p:anim calcmode="lin" valueType="num">
                                      <p:cBhvr additive="base">
                                        <p:cTn id="128" dur="500" fill="hold"/>
                                        <p:tgtEl>
                                          <p:spTgt spid="35"/>
                                        </p:tgtEl>
                                        <p:attrNameLst>
                                          <p:attrName>ppt_x</p:attrName>
                                        </p:attrNameLst>
                                      </p:cBhvr>
                                      <p:tavLst>
                                        <p:tav tm="0">
                                          <p:val>
                                            <p:strVal val="#ppt_x"/>
                                          </p:val>
                                        </p:tav>
                                        <p:tav tm="100000">
                                          <p:val>
                                            <p:strVal val="#ppt_x"/>
                                          </p:val>
                                        </p:tav>
                                      </p:tavLst>
                                    </p:anim>
                                    <p:anim calcmode="lin" valueType="num">
                                      <p:cBhvr additive="base">
                                        <p:cTn id="129" dur="500" fill="hold"/>
                                        <p:tgtEl>
                                          <p:spTgt spid="35"/>
                                        </p:tgtEl>
                                        <p:attrNameLst>
                                          <p:attrName>ppt_y</p:attrName>
                                        </p:attrNameLst>
                                      </p:cBhvr>
                                      <p:tavLst>
                                        <p:tav tm="0">
                                          <p:val>
                                            <p:strVal val="#ppt_y+0.1"/>
                                          </p:val>
                                        </p:tav>
                                        <p:tav tm="100000">
                                          <p:val>
                                            <p:strVal val="#ppt_y"/>
                                          </p:val>
                                        </p:tav>
                                      </p:tavLst>
                                    </p:anim>
                                    <p:animEffect transition="in" filter="fade">
                                      <p:cBhvr>
                                        <p:cTn id="130" dur="500"/>
                                        <p:tgtEl>
                                          <p:spTgt spid="35"/>
                                        </p:tgtEl>
                                      </p:cBhvr>
                                    </p:animEffect>
                                  </p:childTnLst>
                                </p:cTn>
                              </p:par>
                              <p:par>
                                <p:cTn id="136" presetID="2" presetClass="entr" presetSubtype="4" fill="hold" grpId="0" nodeType="withEffect">
                                  <p:stCondLst>
                                    <p:cond delay="0"/>
                                  </p:stCondLst>
                                  <p:childTnLst>
                                    <p:set>
                                      <p:cBhvr>
                                        <p:cTn id="132" dur="1" fill="hold">
                                          <p:stCondLst>
                                            <p:cond delay="0"/>
                                          </p:stCondLst>
                                        </p:cTn>
                                        <p:tgtEl>
                                          <p:spTgt spid="36"/>
                                        </p:tgtEl>
                                        <p:attrNameLst>
                                          <p:attrName>style.visibility</p:attrName>
                                        </p:attrNameLst>
                                      </p:cBhvr>
                                      <p:to>
                                        <p:strVal val="visible"/>
                                      </p:to>
                                    </p:set>
                                    <p:anim calcmode="lin" valueType="num">
                                      <p:cBhvr additive="base">
                                        <p:cTn id="133" dur="500" fill="hold"/>
                                        <p:tgtEl>
                                          <p:spTgt spid="36"/>
                                        </p:tgtEl>
                                        <p:attrNameLst>
                                          <p:attrName>ppt_x</p:attrName>
                                        </p:attrNameLst>
                                      </p:cBhvr>
                                      <p:tavLst>
                                        <p:tav tm="0">
                                          <p:val>
                                            <p:strVal val="#ppt_x"/>
                                          </p:val>
                                        </p:tav>
                                        <p:tav tm="100000">
                                          <p:val>
                                            <p:strVal val="#ppt_x"/>
                                          </p:val>
                                        </p:tav>
                                      </p:tavLst>
                                    </p:anim>
                                    <p:anim calcmode="lin" valueType="num">
                                      <p:cBhvr additive="base">
                                        <p:cTn id="134" dur="500" fill="hold"/>
                                        <p:tgtEl>
                                          <p:spTgt spid="36"/>
                                        </p:tgtEl>
                                        <p:attrNameLst>
                                          <p:attrName>ppt_y</p:attrName>
                                        </p:attrNameLst>
                                      </p:cBhvr>
                                      <p:tavLst>
                                        <p:tav tm="0">
                                          <p:val>
                                            <p:strVal val="#ppt_y+0.1"/>
                                          </p:val>
                                        </p:tav>
                                        <p:tav tm="100000">
                                          <p:val>
                                            <p:strVal val="#ppt_y"/>
                                          </p:val>
                                        </p:tav>
                                      </p:tavLst>
                                    </p:anim>
                                    <p:animEffect transition="in" filter="fade">
                                      <p:cBhvr>
                                        <p:cTn id="135" dur="500"/>
                                        <p:tgtEl>
                                          <p:spTgt spid="36"/>
                                        </p:tgtEl>
                                      </p:cBhvr>
                                    </p:animEffect>
                                  </p:childTnLst>
                                </p:cTn>
                              </p:par>
                              <p:par>
                                <p:cTn id="141" presetID="2" presetClass="entr" presetSubtype="4" fill="hold" grpId="0" nodeType="withEffect">
                                  <p:stCondLst>
                                    <p:cond delay="0"/>
                                  </p:stCondLst>
                                  <p:childTnLst>
                                    <p:set>
                                      <p:cBhvr>
                                        <p:cTn id="137" dur="1" fill="hold">
                                          <p:stCondLst>
                                            <p:cond delay="0"/>
                                          </p:stCondLst>
                                        </p:cTn>
                                        <p:tgtEl>
                                          <p:spTgt spid="37"/>
                                        </p:tgtEl>
                                        <p:attrNameLst>
                                          <p:attrName>style.visibility</p:attrName>
                                        </p:attrNameLst>
                                      </p:cBhvr>
                                      <p:to>
                                        <p:strVal val="visible"/>
                                      </p:to>
                                    </p:set>
                                    <p:anim calcmode="lin" valueType="num">
                                      <p:cBhvr additive="base">
                                        <p:cTn id="138" dur="500" fill="hold"/>
                                        <p:tgtEl>
                                          <p:spTgt spid="37"/>
                                        </p:tgtEl>
                                        <p:attrNameLst>
                                          <p:attrName>ppt_x</p:attrName>
                                        </p:attrNameLst>
                                      </p:cBhvr>
                                      <p:tavLst>
                                        <p:tav tm="0">
                                          <p:val>
                                            <p:strVal val="#ppt_x"/>
                                          </p:val>
                                        </p:tav>
                                        <p:tav tm="100000">
                                          <p:val>
                                            <p:strVal val="#ppt_x"/>
                                          </p:val>
                                        </p:tav>
                                      </p:tavLst>
                                    </p:anim>
                                    <p:anim calcmode="lin" valueType="num">
                                      <p:cBhvr additive="base">
                                        <p:cTn id="139" dur="500" fill="hold"/>
                                        <p:tgtEl>
                                          <p:spTgt spid="37"/>
                                        </p:tgtEl>
                                        <p:attrNameLst>
                                          <p:attrName>ppt_y</p:attrName>
                                        </p:attrNameLst>
                                      </p:cBhvr>
                                      <p:tavLst>
                                        <p:tav tm="0">
                                          <p:val>
                                            <p:strVal val="#ppt_y+0.1"/>
                                          </p:val>
                                        </p:tav>
                                        <p:tav tm="100000">
                                          <p:val>
                                            <p:strVal val="#ppt_y"/>
                                          </p:val>
                                        </p:tav>
                                      </p:tavLst>
                                    </p:anim>
                                    <p:animEffect transition="in" filter="fade">
                                      <p:cBhvr>
                                        <p:cTn id="140" dur="500"/>
                                        <p:tgtEl>
                                          <p:spTgt spid="37"/>
                                        </p:tgtEl>
                                      </p:cBhvr>
                                    </p:animEffect>
                                  </p:childTnLst>
                                </p:cTn>
                              </p:par>
                              <p:par>
                                <p:cTn id="146" presetID="2" presetClass="entr" presetSubtype="4" fill="hold" grpId="0" nodeType="withEffect">
                                  <p:stCondLst>
                                    <p:cond delay="80"/>
                                  </p:stCondLst>
                                  <p:childTnLst>
                                    <p:set>
                                      <p:cBhvr>
                                        <p:cTn id="142" dur="1" fill="hold">
                                          <p:stCondLst>
                                            <p:cond delay="0"/>
                                          </p:stCondLst>
                                        </p:cTn>
                                        <p:tgtEl>
                                          <p:spTgt spid="38"/>
                                        </p:tgtEl>
                                        <p:attrNameLst>
                                          <p:attrName>style.visibility</p:attrName>
                                        </p:attrNameLst>
                                      </p:cBhvr>
                                      <p:to>
                                        <p:strVal val="visible"/>
                                      </p:to>
                                    </p:set>
                                    <p:anim calcmode="lin" valueType="num">
                                      <p:cBhvr additive="base">
                                        <p:cTn id="143" dur="500" fill="hold"/>
                                        <p:tgtEl>
                                          <p:spTgt spid="38"/>
                                        </p:tgtEl>
                                        <p:attrNameLst>
                                          <p:attrName>ppt_x</p:attrName>
                                        </p:attrNameLst>
                                      </p:cBhvr>
                                      <p:tavLst>
                                        <p:tav tm="0">
                                          <p:val>
                                            <p:strVal val="#ppt_x"/>
                                          </p:val>
                                        </p:tav>
                                        <p:tav tm="100000">
                                          <p:val>
                                            <p:strVal val="#ppt_x"/>
                                          </p:val>
                                        </p:tav>
                                      </p:tavLst>
                                    </p:anim>
                                    <p:anim calcmode="lin" valueType="num">
                                      <p:cBhvr additive="base">
                                        <p:cTn id="144" dur="500" fill="hold"/>
                                        <p:tgtEl>
                                          <p:spTgt spid="38"/>
                                        </p:tgtEl>
                                        <p:attrNameLst>
                                          <p:attrName>ppt_y</p:attrName>
                                        </p:attrNameLst>
                                      </p:cBhvr>
                                      <p:tavLst>
                                        <p:tav tm="0">
                                          <p:val>
                                            <p:strVal val="#ppt_y+0.1"/>
                                          </p:val>
                                        </p:tav>
                                        <p:tav tm="100000">
                                          <p:val>
                                            <p:strVal val="#ppt_y"/>
                                          </p:val>
                                        </p:tav>
                                      </p:tavLst>
                                    </p:anim>
                                    <p:animEffect transition="in" filter="fade">
                                      <p:cBhvr>
                                        <p:cTn id="145" dur="500"/>
                                        <p:tgtEl>
                                          <p:spTgt spid="38"/>
                                        </p:tgtEl>
                                      </p:cBhvr>
                                    </p:animEffect>
                                  </p:childTnLst>
                                </p:cTn>
                              </p:par>
                              <p:par>
                                <p:cTn id="151" presetID="2" presetClass="entr" presetSubtype="4" fill="hold" grpId="0" nodeType="withEffect">
                                  <p:stCondLst>
                                    <p:cond delay="80"/>
                                  </p:stCondLst>
                                  <p:childTnLst>
                                    <p:set>
                                      <p:cBhvr>
                                        <p:cTn id="147" dur="1" fill="hold">
                                          <p:stCondLst>
                                            <p:cond delay="0"/>
                                          </p:stCondLst>
                                        </p:cTn>
                                        <p:tgtEl>
                                          <p:spTgt spid="39"/>
                                        </p:tgtEl>
                                        <p:attrNameLst>
                                          <p:attrName>style.visibility</p:attrName>
                                        </p:attrNameLst>
                                      </p:cBhvr>
                                      <p:to>
                                        <p:strVal val="visible"/>
                                      </p:to>
                                    </p:set>
                                    <p:anim calcmode="lin" valueType="num">
                                      <p:cBhvr additive="base">
                                        <p:cTn id="148" dur="500" fill="hold"/>
                                        <p:tgtEl>
                                          <p:spTgt spid="39"/>
                                        </p:tgtEl>
                                        <p:attrNameLst>
                                          <p:attrName>ppt_x</p:attrName>
                                        </p:attrNameLst>
                                      </p:cBhvr>
                                      <p:tavLst>
                                        <p:tav tm="0">
                                          <p:val>
                                            <p:strVal val="#ppt_x"/>
                                          </p:val>
                                        </p:tav>
                                        <p:tav tm="100000">
                                          <p:val>
                                            <p:strVal val="#ppt_x"/>
                                          </p:val>
                                        </p:tav>
                                      </p:tavLst>
                                    </p:anim>
                                    <p:anim calcmode="lin" valueType="num">
                                      <p:cBhvr additive="base">
                                        <p:cTn id="149" dur="500" fill="hold"/>
                                        <p:tgtEl>
                                          <p:spTgt spid="39"/>
                                        </p:tgtEl>
                                        <p:attrNameLst>
                                          <p:attrName>ppt_y</p:attrName>
                                        </p:attrNameLst>
                                      </p:cBhvr>
                                      <p:tavLst>
                                        <p:tav tm="0">
                                          <p:val>
                                            <p:strVal val="#ppt_y+0.1"/>
                                          </p:val>
                                        </p:tav>
                                        <p:tav tm="100000">
                                          <p:val>
                                            <p:strVal val="#ppt_y"/>
                                          </p:val>
                                        </p:tav>
                                      </p:tavLst>
                                    </p:anim>
                                    <p:animEffect transition="in" filter="fade">
                                      <p:cBhvr>
                                        <p:cTn id="150" dur="500"/>
                                        <p:tgtEl>
                                          <p:spTgt spid="39"/>
                                        </p:tgtEl>
                                      </p:cBhvr>
                                    </p:animEffect>
                                  </p:childTnLst>
                                </p:cTn>
                              </p:par>
                              <p:par>
                                <p:cTn id="156" presetID="2" presetClass="entr" presetSubtype="4" fill="hold" grpId="0" nodeType="withEffect">
                                  <p:stCondLst>
                                    <p:cond delay="180"/>
                                  </p:stCondLst>
                                  <p:childTnLst>
                                    <p:set>
                                      <p:cBhvr>
                                        <p:cTn id="152" dur="1" fill="hold">
                                          <p:stCondLst>
                                            <p:cond delay="0"/>
                                          </p:stCondLst>
                                        </p:cTn>
                                        <p:tgtEl>
                                          <p:spTgt spid="40"/>
                                        </p:tgtEl>
                                        <p:attrNameLst>
                                          <p:attrName>style.visibility</p:attrName>
                                        </p:attrNameLst>
                                      </p:cBhvr>
                                      <p:to>
                                        <p:strVal val="visible"/>
                                      </p:to>
                                    </p:set>
                                    <p:anim calcmode="lin" valueType="num">
                                      <p:cBhvr additive="base">
                                        <p:cTn id="153" dur="500" fill="hold"/>
                                        <p:tgtEl>
                                          <p:spTgt spid="40"/>
                                        </p:tgtEl>
                                        <p:attrNameLst>
                                          <p:attrName>ppt_x</p:attrName>
                                        </p:attrNameLst>
                                      </p:cBhvr>
                                      <p:tavLst>
                                        <p:tav tm="0">
                                          <p:val>
                                            <p:strVal val="#ppt_x"/>
                                          </p:val>
                                        </p:tav>
                                        <p:tav tm="100000">
                                          <p:val>
                                            <p:strVal val="#ppt_x"/>
                                          </p:val>
                                        </p:tav>
                                      </p:tavLst>
                                    </p:anim>
                                    <p:anim calcmode="lin" valueType="num">
                                      <p:cBhvr additive="base">
                                        <p:cTn id="154" dur="500" fill="hold"/>
                                        <p:tgtEl>
                                          <p:spTgt spid="40"/>
                                        </p:tgtEl>
                                        <p:attrNameLst>
                                          <p:attrName>ppt_y</p:attrName>
                                        </p:attrNameLst>
                                      </p:cBhvr>
                                      <p:tavLst>
                                        <p:tav tm="0">
                                          <p:val>
                                            <p:strVal val="#ppt_y+0.1"/>
                                          </p:val>
                                        </p:tav>
                                        <p:tav tm="100000">
                                          <p:val>
                                            <p:strVal val="#ppt_y"/>
                                          </p:val>
                                        </p:tav>
                                      </p:tavLst>
                                    </p:anim>
                                    <p:animEffect transition="in" filter="fade">
                                      <p:cBhvr>
                                        <p:cTn id="155" dur="500"/>
                                        <p:tgtEl>
                                          <p:spTgt spid="40"/>
                                        </p:tgtEl>
                                      </p:cBhvr>
                                    </p:animEffect>
                                  </p:childTnLst>
                                </p:cTn>
                              </p:par>
                              <p:par>
                                <p:cTn id="161" presetID="2" presetClass="entr" presetSubtype="4" fill="hold" grpId="0" nodeType="withEffect">
                                  <p:stCondLst>
                                    <p:cond delay="180"/>
                                  </p:stCondLst>
                                  <p:childTnLst>
                                    <p:set>
                                      <p:cBhvr>
                                        <p:cTn id="157" dur="1" fill="hold">
                                          <p:stCondLst>
                                            <p:cond delay="0"/>
                                          </p:stCondLst>
                                        </p:cTn>
                                        <p:tgtEl>
                                          <p:spTgt spid="41"/>
                                        </p:tgtEl>
                                        <p:attrNameLst>
                                          <p:attrName>style.visibility</p:attrName>
                                        </p:attrNameLst>
                                      </p:cBhvr>
                                      <p:to>
                                        <p:strVal val="visible"/>
                                      </p:to>
                                    </p:set>
                                    <p:anim calcmode="lin" valueType="num">
                                      <p:cBhvr additive="base">
                                        <p:cTn id="158" dur="500" fill="hold"/>
                                        <p:tgtEl>
                                          <p:spTgt spid="41"/>
                                        </p:tgtEl>
                                        <p:attrNameLst>
                                          <p:attrName>ppt_x</p:attrName>
                                        </p:attrNameLst>
                                      </p:cBhvr>
                                      <p:tavLst>
                                        <p:tav tm="0">
                                          <p:val>
                                            <p:strVal val="#ppt_x"/>
                                          </p:val>
                                        </p:tav>
                                        <p:tav tm="100000">
                                          <p:val>
                                            <p:strVal val="#ppt_x"/>
                                          </p:val>
                                        </p:tav>
                                      </p:tavLst>
                                    </p:anim>
                                    <p:anim calcmode="lin" valueType="num">
                                      <p:cBhvr additive="base">
                                        <p:cTn id="159" dur="500" fill="hold"/>
                                        <p:tgtEl>
                                          <p:spTgt spid="41"/>
                                        </p:tgtEl>
                                        <p:attrNameLst>
                                          <p:attrName>ppt_y</p:attrName>
                                        </p:attrNameLst>
                                      </p:cBhvr>
                                      <p:tavLst>
                                        <p:tav tm="0">
                                          <p:val>
                                            <p:strVal val="#ppt_y+0.1"/>
                                          </p:val>
                                        </p:tav>
                                        <p:tav tm="100000">
                                          <p:val>
                                            <p:strVal val="#ppt_y"/>
                                          </p:val>
                                        </p:tav>
                                      </p:tavLst>
                                    </p:anim>
                                    <p:animEffect transition="in" filter="fade">
                                      <p:cBhvr>
                                        <p:cTn id="160" dur="500"/>
                                        <p:tgtEl>
                                          <p:spTgt spid="41"/>
                                        </p:tgtEl>
                                      </p:cBhvr>
                                    </p:animEffect>
                                  </p:childTnLst>
                                </p:cTn>
                              </p:par>
                              <p:par>
                                <p:cTn id="166" presetID="2" presetClass="entr" presetSubtype="4" fill="hold" grpId="0" nodeType="withEffect">
                                  <p:stCondLst>
                                    <p:cond delay="280"/>
                                  </p:stCondLst>
                                  <p:childTnLst>
                                    <p:set>
                                      <p:cBhvr>
                                        <p:cTn id="162" dur="1" fill="hold">
                                          <p:stCondLst>
                                            <p:cond delay="0"/>
                                          </p:stCondLst>
                                        </p:cTn>
                                        <p:tgtEl>
                                          <p:spTgt spid="42"/>
                                        </p:tgtEl>
                                        <p:attrNameLst>
                                          <p:attrName>style.visibility</p:attrName>
                                        </p:attrNameLst>
                                      </p:cBhvr>
                                      <p:to>
                                        <p:strVal val="visible"/>
                                      </p:to>
                                    </p:set>
                                    <p:anim calcmode="lin" valueType="num">
                                      <p:cBhvr additive="base">
                                        <p:cTn id="163" dur="500" fill="hold"/>
                                        <p:tgtEl>
                                          <p:spTgt spid="42"/>
                                        </p:tgtEl>
                                        <p:attrNameLst>
                                          <p:attrName>ppt_x</p:attrName>
                                        </p:attrNameLst>
                                      </p:cBhvr>
                                      <p:tavLst>
                                        <p:tav tm="0">
                                          <p:val>
                                            <p:strVal val="#ppt_x"/>
                                          </p:val>
                                        </p:tav>
                                        <p:tav tm="100000">
                                          <p:val>
                                            <p:strVal val="#ppt_x"/>
                                          </p:val>
                                        </p:tav>
                                      </p:tavLst>
                                    </p:anim>
                                    <p:anim calcmode="lin" valueType="num">
                                      <p:cBhvr additive="base">
                                        <p:cTn id="164" dur="500" fill="hold"/>
                                        <p:tgtEl>
                                          <p:spTgt spid="42"/>
                                        </p:tgtEl>
                                        <p:attrNameLst>
                                          <p:attrName>ppt_y</p:attrName>
                                        </p:attrNameLst>
                                      </p:cBhvr>
                                      <p:tavLst>
                                        <p:tav tm="0">
                                          <p:val>
                                            <p:strVal val="#ppt_y+0.1"/>
                                          </p:val>
                                        </p:tav>
                                        <p:tav tm="100000">
                                          <p:val>
                                            <p:strVal val="#ppt_y"/>
                                          </p:val>
                                        </p:tav>
                                      </p:tavLst>
                                    </p:anim>
                                    <p:animEffect transition="in" filter="fade">
                                      <p:cBhvr>
                                        <p:cTn id="165" dur="500"/>
                                        <p:tgtEl>
                                          <p:spTgt spid="42"/>
                                        </p:tgtEl>
                                      </p:cBhvr>
                                    </p:animEffect>
                                  </p:childTnLst>
                                </p:cTn>
                              </p:par>
                              <p:par>
                                <p:cTn id="171" presetID="2" presetClass="entr" presetSubtype="4" fill="hold" grpId="0" nodeType="withEffect">
                                  <p:stCondLst>
                                    <p:cond delay="280"/>
                                  </p:stCondLst>
                                  <p:childTnLst>
                                    <p:set>
                                      <p:cBhvr>
                                        <p:cTn id="167" dur="1" fill="hold">
                                          <p:stCondLst>
                                            <p:cond delay="0"/>
                                          </p:stCondLst>
                                        </p:cTn>
                                        <p:tgtEl>
                                          <p:spTgt spid="43"/>
                                        </p:tgtEl>
                                        <p:attrNameLst>
                                          <p:attrName>style.visibility</p:attrName>
                                        </p:attrNameLst>
                                      </p:cBhvr>
                                      <p:to>
                                        <p:strVal val="visible"/>
                                      </p:to>
                                    </p:set>
                                    <p:anim calcmode="lin" valueType="num">
                                      <p:cBhvr additive="base">
                                        <p:cTn id="168" dur="500" fill="hold"/>
                                        <p:tgtEl>
                                          <p:spTgt spid="43"/>
                                        </p:tgtEl>
                                        <p:attrNameLst>
                                          <p:attrName>ppt_x</p:attrName>
                                        </p:attrNameLst>
                                      </p:cBhvr>
                                      <p:tavLst>
                                        <p:tav tm="0">
                                          <p:val>
                                            <p:strVal val="#ppt_x"/>
                                          </p:val>
                                        </p:tav>
                                        <p:tav tm="100000">
                                          <p:val>
                                            <p:strVal val="#ppt_x"/>
                                          </p:val>
                                        </p:tav>
                                      </p:tavLst>
                                    </p:anim>
                                    <p:anim calcmode="lin" valueType="num">
                                      <p:cBhvr additive="base">
                                        <p:cTn id="169" dur="500" fill="hold"/>
                                        <p:tgtEl>
                                          <p:spTgt spid="43"/>
                                        </p:tgtEl>
                                        <p:attrNameLst>
                                          <p:attrName>ppt_y</p:attrName>
                                        </p:attrNameLst>
                                      </p:cBhvr>
                                      <p:tavLst>
                                        <p:tav tm="0">
                                          <p:val>
                                            <p:strVal val="#ppt_y+0.1"/>
                                          </p:val>
                                        </p:tav>
                                        <p:tav tm="100000">
                                          <p:val>
                                            <p:strVal val="#ppt_y"/>
                                          </p:val>
                                        </p:tav>
                                      </p:tavLst>
                                    </p:anim>
                                    <p:animEffect transition="in" filter="fade">
                                      <p:cBhvr>
                                        <p:cTn id="170" dur="500"/>
                                        <p:tgtEl>
                                          <p:spTgt spid="43"/>
                                        </p:tgtEl>
                                      </p:cBhvr>
                                    </p:animEffect>
                                  </p:childTnLst>
                                </p:cTn>
                              </p:par>
                              <p:par>
                                <p:cTn id="176" presetID="2" presetClass="entr" presetSubtype="4" fill="hold" grpId="0" nodeType="withEffect">
                                  <p:stCondLst>
                                    <p:cond delay="380"/>
                                  </p:stCondLst>
                                  <p:childTnLst>
                                    <p:set>
                                      <p:cBhvr>
                                        <p:cTn id="172" dur="1" fill="hold">
                                          <p:stCondLst>
                                            <p:cond delay="0"/>
                                          </p:stCondLst>
                                        </p:cTn>
                                        <p:tgtEl>
                                          <p:spTgt spid="44"/>
                                        </p:tgtEl>
                                        <p:attrNameLst>
                                          <p:attrName>style.visibility</p:attrName>
                                        </p:attrNameLst>
                                      </p:cBhvr>
                                      <p:to>
                                        <p:strVal val="visible"/>
                                      </p:to>
                                    </p:set>
                                    <p:anim calcmode="lin" valueType="num">
                                      <p:cBhvr additive="base">
                                        <p:cTn id="173" dur="500" fill="hold"/>
                                        <p:tgtEl>
                                          <p:spTgt spid="44"/>
                                        </p:tgtEl>
                                        <p:attrNameLst>
                                          <p:attrName>ppt_x</p:attrName>
                                        </p:attrNameLst>
                                      </p:cBhvr>
                                      <p:tavLst>
                                        <p:tav tm="0">
                                          <p:val>
                                            <p:strVal val="#ppt_x"/>
                                          </p:val>
                                        </p:tav>
                                        <p:tav tm="100000">
                                          <p:val>
                                            <p:strVal val="#ppt_x"/>
                                          </p:val>
                                        </p:tav>
                                      </p:tavLst>
                                    </p:anim>
                                    <p:anim calcmode="lin" valueType="num">
                                      <p:cBhvr additive="base">
                                        <p:cTn id="174" dur="500" fill="hold"/>
                                        <p:tgtEl>
                                          <p:spTgt spid="44"/>
                                        </p:tgtEl>
                                        <p:attrNameLst>
                                          <p:attrName>ppt_y</p:attrName>
                                        </p:attrNameLst>
                                      </p:cBhvr>
                                      <p:tavLst>
                                        <p:tav tm="0">
                                          <p:val>
                                            <p:strVal val="#ppt_y+0.1"/>
                                          </p:val>
                                        </p:tav>
                                        <p:tav tm="100000">
                                          <p:val>
                                            <p:strVal val="#ppt_y"/>
                                          </p:val>
                                        </p:tav>
                                      </p:tavLst>
                                    </p:anim>
                                    <p:animEffect transition="in" filter="fade">
                                      <p:cBhvr>
                                        <p:cTn id="175" dur="500"/>
                                        <p:tgtEl>
                                          <p:spTgt spid="44"/>
                                        </p:tgtEl>
                                      </p:cBhvr>
                                    </p:animEffect>
                                  </p:childTnLst>
                                </p:cTn>
                              </p:par>
                              <p:par>
                                <p:cTn id="181" presetID="2" presetClass="entr" presetSubtype="4" fill="hold" grpId="0" nodeType="withEffect">
                                  <p:stCondLst>
                                    <p:cond delay="380"/>
                                  </p:stCondLst>
                                  <p:childTnLst>
                                    <p:set>
                                      <p:cBhvr>
                                        <p:cTn id="177" dur="1" fill="hold">
                                          <p:stCondLst>
                                            <p:cond delay="0"/>
                                          </p:stCondLst>
                                        </p:cTn>
                                        <p:tgtEl>
                                          <p:spTgt spid="45"/>
                                        </p:tgtEl>
                                        <p:attrNameLst>
                                          <p:attrName>style.visibility</p:attrName>
                                        </p:attrNameLst>
                                      </p:cBhvr>
                                      <p:to>
                                        <p:strVal val="visible"/>
                                      </p:to>
                                    </p:set>
                                    <p:anim calcmode="lin" valueType="num">
                                      <p:cBhvr additive="base">
                                        <p:cTn id="178" dur="500" fill="hold"/>
                                        <p:tgtEl>
                                          <p:spTgt spid="45"/>
                                        </p:tgtEl>
                                        <p:attrNameLst>
                                          <p:attrName>ppt_x</p:attrName>
                                        </p:attrNameLst>
                                      </p:cBhvr>
                                      <p:tavLst>
                                        <p:tav tm="0">
                                          <p:val>
                                            <p:strVal val="#ppt_x"/>
                                          </p:val>
                                        </p:tav>
                                        <p:tav tm="100000">
                                          <p:val>
                                            <p:strVal val="#ppt_x"/>
                                          </p:val>
                                        </p:tav>
                                      </p:tavLst>
                                    </p:anim>
                                    <p:anim calcmode="lin" valueType="num">
                                      <p:cBhvr additive="base">
                                        <p:cTn id="179" dur="500" fill="hold"/>
                                        <p:tgtEl>
                                          <p:spTgt spid="45"/>
                                        </p:tgtEl>
                                        <p:attrNameLst>
                                          <p:attrName>ppt_y</p:attrName>
                                        </p:attrNameLst>
                                      </p:cBhvr>
                                      <p:tavLst>
                                        <p:tav tm="0">
                                          <p:val>
                                            <p:strVal val="#ppt_y+0.1"/>
                                          </p:val>
                                        </p:tav>
                                        <p:tav tm="100000">
                                          <p:val>
                                            <p:strVal val="#ppt_y"/>
                                          </p:val>
                                        </p:tav>
                                      </p:tavLst>
                                    </p:anim>
                                    <p:animEffect transition="in" filter="fade">
                                      <p:cBhvr>
                                        <p:cTn id="180"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panel1"/>
          <p:cNvSpPr/>
          <p:nvPr/>
        </p:nvSpPr>
        <p:spPr>
          <a:xfrm>
            <a:off x="0" y="0"/>
            <a:ext cx="2926080" cy="51435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a0f_pl2"/>
          <p:cNvSpPr txBox="1"/>
          <p:nvPr/>
        </p:nvSpPr>
        <p:spPr>
          <a:xfrm>
            <a:off x="502920" y="1005840"/>
            <a:ext cx="2194560" cy="274320"/>
          </a:xfrm>
          <a:prstGeom prst="rect">
            <a:avLst/>
          </a:prstGeom>
          <a:noFill/>
        </p:spPr>
        <p:txBody>
          <a:bodyPr wrap="square" lIns="0" tIns="0" rIns="0" bIns="0" anchor="ctr">
            <a:spAutoFit/>
          </a:bodyPr>
          <a:lstStyle/>
          <a:p>
            <a:pPr algn="l"/>
            <a:r>
              <a:rPr sz="1100" b="1" spc="500">
                <a:solidFill>
                  <a:srgbClr val="18181B"/>
                </a:solidFill>
                <a:latin typeface="Segoe UI"/>
              </a:rPr>
              <a:t>PART</a:t>
            </a:r>
          </a:p>
        </p:txBody>
      </p:sp>
      <p:sp>
        <p:nvSpPr>
          <p:cNvPr id="4" name="a0ud100_n3"/>
          <p:cNvSpPr txBox="1"/>
          <p:nvPr/>
        </p:nvSpPr>
        <p:spPr>
          <a:xfrm>
            <a:off x="411480" y="1280160"/>
            <a:ext cx="2377440" cy="1691640"/>
          </a:xfrm>
          <a:prstGeom prst="rect">
            <a:avLst/>
          </a:prstGeom>
          <a:noFill/>
        </p:spPr>
        <p:txBody>
          <a:bodyPr wrap="square" lIns="0" tIns="0" rIns="0" bIns="0" anchor="ctr">
            <a:spAutoFit/>
          </a:bodyPr>
          <a:lstStyle/>
          <a:p>
            <a:pPr algn="l"/>
            <a:r>
              <a:rPr sz="10450" b="0">
                <a:solidFill>
                  <a:srgbClr val="FFFFFF"/>
                </a:solidFill>
                <a:latin typeface="Bahnschrift SemiBold"/>
              </a:rPr>
              <a:t>01</a:t>
            </a:r>
          </a:p>
        </p:txBody>
      </p:sp>
      <p:sp>
        <p:nvSpPr>
          <p:cNvPr id="5" name="a0wd300_pb4"/>
          <p:cNvSpPr/>
          <p:nvPr/>
        </p:nvSpPr>
        <p:spPr>
          <a:xfrm>
            <a:off x="502920" y="3090672"/>
            <a:ext cx="640080" cy="45720"/>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0fd400_pc5"/>
          <p:cNvSpPr/>
          <p:nvPr/>
        </p:nvSpPr>
        <p:spPr>
          <a:xfrm>
            <a:off x="502920" y="4160520"/>
            <a:ext cx="329184" cy="274320"/>
          </a:xfrm>
          <a:prstGeom prst="roundRect">
            <a:avLst>
              <a:gd name="adj" fmla="val 133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0fd400_pct6"/>
          <p:cNvSpPr txBox="1"/>
          <p:nvPr/>
        </p:nvSpPr>
        <p:spPr>
          <a:xfrm>
            <a:off x="502920" y="4160520"/>
            <a:ext cx="329184" cy="274320"/>
          </a:xfrm>
          <a:prstGeom prst="rect">
            <a:avLst/>
          </a:prstGeom>
          <a:noFill/>
        </p:spPr>
        <p:txBody>
          <a:bodyPr wrap="square" lIns="0" tIns="0" rIns="0" bIns="0" anchor="ctr">
            <a:spAutoFit/>
          </a:bodyPr>
          <a:lstStyle/>
          <a:p>
            <a:pPr algn="ctr"/>
            <a:r>
              <a:rPr sz="850" b="1">
                <a:solidFill>
                  <a:srgbClr val="C2410C"/>
                </a:solidFill>
                <a:latin typeface="Consolas"/>
              </a:rPr>
              <a:t>01</a:t>
            </a:r>
          </a:p>
        </p:txBody>
      </p:sp>
      <p:sp>
        <p:nvSpPr>
          <p:cNvPr id="8" name="a0ud250_h7"/>
          <p:cNvSpPr txBox="1"/>
          <p:nvPr/>
        </p:nvSpPr>
        <p:spPr>
          <a:xfrm>
            <a:off x="3429000" y="868680"/>
            <a:ext cx="5257800" cy="1188720"/>
          </a:xfrm>
          <a:prstGeom prst="rect">
            <a:avLst/>
          </a:prstGeom>
          <a:noFill/>
        </p:spPr>
        <p:txBody>
          <a:bodyPr wrap="square" lIns="0" tIns="0" rIns="0" bIns="0" anchor="b">
            <a:spAutoFit/>
          </a:bodyPr>
          <a:lstStyle/>
          <a:p>
            <a:pPr algn="l"/>
            <a:r>
              <a:rPr sz="3250" b="0">
                <a:solidFill>
                  <a:srgbClr val="FFFFFF"/>
                </a:solidFill>
                <a:latin typeface="Bahnschrift SemiBold"/>
              </a:rPr>
              <a:t>Distributed Systems</a:t>
            </a:r>
          </a:p>
        </p:txBody>
      </p:sp>
      <p:sp>
        <p:nvSpPr>
          <p:cNvPr id="9" name="a0wd450_hb8"/>
          <p:cNvSpPr/>
          <p:nvPr/>
        </p:nvSpPr>
        <p:spPr>
          <a:xfrm>
            <a:off x="3429000" y="2212848"/>
            <a:ext cx="548640"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a0fd500_t9"/>
          <p:cNvSpPr txBox="1"/>
          <p:nvPr/>
        </p:nvSpPr>
        <p:spPr>
          <a:xfrm>
            <a:off x="3429000" y="2395728"/>
            <a:ext cx="5257800" cy="603504"/>
          </a:xfrm>
          <a:prstGeom prst="rect">
            <a:avLst/>
          </a:prstGeom>
          <a:noFill/>
        </p:spPr>
        <p:txBody>
          <a:bodyPr wrap="square" lIns="0" tIns="0" rIns="0" bIns="0" anchor="t">
            <a:spAutoFit/>
          </a:bodyPr>
          <a:lstStyle/>
          <a:p>
            <a:pPr algn="l"/>
            <a:r>
              <a:rPr sz="1400" b="0">
                <a:solidFill>
                  <a:srgbClr val="D6D3D1"/>
                </a:solidFill>
                <a:latin typeface="Segoe UI"/>
              </a:rPr>
              <a:t>A short history - from one big computer to thousands of small services</a:t>
            </a:r>
          </a:p>
        </p:txBody>
      </p:sp>
      <p:sp>
        <p:nvSpPr>
          <p:cNvPr id="11" name="a0ud700_dd10"/>
          <p:cNvSpPr/>
          <p:nvPr/>
        </p:nvSpPr>
        <p:spPr>
          <a:xfrm>
            <a:off x="3429000" y="323697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ud700_di11"/>
          <p:cNvSpPr txBox="1"/>
          <p:nvPr/>
        </p:nvSpPr>
        <p:spPr>
          <a:xfrm>
            <a:off x="3666744" y="3154680"/>
            <a:ext cx="5020056" cy="274320"/>
          </a:xfrm>
          <a:prstGeom prst="rect">
            <a:avLst/>
          </a:prstGeom>
          <a:noFill/>
        </p:spPr>
        <p:txBody>
          <a:bodyPr wrap="square" lIns="0" tIns="0" rIns="0" bIns="0" anchor="ctr">
            <a:spAutoFit/>
          </a:bodyPr>
          <a:lstStyle/>
          <a:p>
            <a:pPr algn="l"/>
            <a:r>
              <a:rPr sz="1200" b="0">
                <a:solidFill>
                  <a:srgbClr val="E7E5E4"/>
                </a:solidFill>
                <a:latin typeface="Segoe UI"/>
              </a:rPr>
              <a:t>Mainframes</a:t>
            </a:r>
          </a:p>
        </p:txBody>
      </p:sp>
      <p:sp>
        <p:nvSpPr>
          <p:cNvPr id="13" name="a0ud820_dd12"/>
          <p:cNvSpPr/>
          <p:nvPr/>
        </p:nvSpPr>
        <p:spPr>
          <a:xfrm>
            <a:off x="3429000" y="360273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ud820_di13"/>
          <p:cNvSpPr txBox="1"/>
          <p:nvPr/>
        </p:nvSpPr>
        <p:spPr>
          <a:xfrm>
            <a:off x="3666744" y="3520440"/>
            <a:ext cx="5020056" cy="274320"/>
          </a:xfrm>
          <a:prstGeom prst="rect">
            <a:avLst/>
          </a:prstGeom>
          <a:noFill/>
        </p:spPr>
        <p:txBody>
          <a:bodyPr wrap="square" lIns="0" tIns="0" rIns="0" bIns="0" anchor="ctr">
            <a:spAutoFit/>
          </a:bodyPr>
          <a:lstStyle/>
          <a:p>
            <a:pPr algn="l"/>
            <a:r>
              <a:rPr sz="1200" b="0">
                <a:solidFill>
                  <a:srgbClr val="E7E5E4"/>
                </a:solidFill>
                <a:latin typeface="Segoe UI"/>
              </a:rPr>
              <a:t>Client-server</a:t>
            </a:r>
          </a:p>
        </p:txBody>
      </p:sp>
      <p:sp>
        <p:nvSpPr>
          <p:cNvPr id="15" name="a0ud940_dd14"/>
          <p:cNvSpPr/>
          <p:nvPr/>
        </p:nvSpPr>
        <p:spPr>
          <a:xfrm>
            <a:off x="3429000" y="396849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ud940_di15"/>
          <p:cNvSpPr txBox="1"/>
          <p:nvPr/>
        </p:nvSpPr>
        <p:spPr>
          <a:xfrm>
            <a:off x="3666744" y="3886200"/>
            <a:ext cx="5020056" cy="274320"/>
          </a:xfrm>
          <a:prstGeom prst="rect">
            <a:avLst/>
          </a:prstGeom>
          <a:noFill/>
        </p:spPr>
        <p:txBody>
          <a:bodyPr wrap="square" lIns="0" tIns="0" rIns="0" bIns="0" anchor="ctr">
            <a:spAutoFit/>
          </a:bodyPr>
          <a:lstStyle/>
          <a:p>
            <a:pPr algn="l"/>
            <a:r>
              <a:rPr sz="1200" b="0">
                <a:solidFill>
                  <a:srgbClr val="E7E5E4"/>
                </a:solidFill>
                <a:latin typeface="Segoe UI"/>
              </a:rPr>
              <a:t>Web and SOA</a:t>
            </a:r>
          </a:p>
        </p:txBody>
      </p:sp>
      <p:sp>
        <p:nvSpPr>
          <p:cNvPr id="17" name="a0ud1060_dd16"/>
          <p:cNvSpPr/>
          <p:nvPr/>
        </p:nvSpPr>
        <p:spPr>
          <a:xfrm>
            <a:off x="3429000" y="433425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0ud1060_di17"/>
          <p:cNvSpPr txBox="1"/>
          <p:nvPr/>
        </p:nvSpPr>
        <p:spPr>
          <a:xfrm>
            <a:off x="3666744" y="4251960"/>
            <a:ext cx="5020056" cy="274320"/>
          </a:xfrm>
          <a:prstGeom prst="rect">
            <a:avLst/>
          </a:prstGeom>
          <a:noFill/>
        </p:spPr>
        <p:txBody>
          <a:bodyPr wrap="square" lIns="0" tIns="0" rIns="0" bIns="0" anchor="ctr">
            <a:spAutoFit/>
          </a:bodyPr>
          <a:lstStyle/>
          <a:p>
            <a:pPr algn="l"/>
            <a:r>
              <a:rPr sz="1200" b="0">
                <a:solidFill>
                  <a:srgbClr val="E7E5E4"/>
                </a:solidFill>
                <a:latin typeface="Segoe UI"/>
              </a:rPr>
              <a:t>Microservices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12" presetID="2" presetClass="entr" presetSubtype="4" fill="hold" grpId="0" nodeType="withEffect">
                                  <p:stCondLst>
                                    <p:cond delay="10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ppt_x</p:attrName>
                                        </p:attrNameLst>
                                      </p:cBhvr>
                                      <p:tavLst>
                                        <p:tav tm="0">
                                          <p:val>
                                            <p:strVal val="#ppt_x"/>
                                          </p:val>
                                        </p:tav>
                                        <p:tav tm="100000">
                                          <p:val>
                                            <p:strVal val="#ppt_x"/>
                                          </p:val>
                                        </p:tav>
                                      </p:tavLst>
                                    </p:anim>
                                    <p:anim calcmode="lin" valueType="num">
                                      <p:cBhvr additive="base">
                                        <p:cTn id="10" dur="500" fill="hold"/>
                                        <p:tgtEl>
                                          <p:spTgt spid="4"/>
                                        </p:tgtEl>
                                        <p:attrNameLst>
                                          <p:attrName>ppt_y</p:attrName>
                                        </p:attrNameLst>
                                      </p:cBhvr>
                                      <p:tavLst>
                                        <p:tav tm="0">
                                          <p:val>
                                            <p:strVal val="#ppt_y+0.1"/>
                                          </p:val>
                                        </p:tav>
                                        <p:tav tm="100000">
                                          <p:val>
                                            <p:strVal val="#ppt_y"/>
                                          </p:val>
                                        </p:tav>
                                      </p:tavLst>
                                    </p:anim>
                                    <p:animEffect transition="in" filter="fade">
                                      <p:cBhvr>
                                        <p:cTn id="11" dur="500"/>
                                        <p:tgtEl>
                                          <p:spTgt spid="4"/>
                                        </p:tgtEl>
                                      </p:cBhvr>
                                    </p:animEffect>
                                  </p:childTnLst>
                                </p:cTn>
                              </p:par>
                              <p:par>
                                <p:cTn id="17" presetID="2" presetClass="entr" presetSubtype="4" fill="hold" grpId="0" nodeType="withEffect">
                                  <p:stCondLst>
                                    <p:cond delay="25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
                                          </p:val>
                                        </p:tav>
                                        <p:tav tm="100000">
                                          <p:val>
                                            <p:strVal val="#ppt_x"/>
                                          </p:val>
                                        </p:tav>
                                      </p:tavLst>
                                    </p:anim>
                                    <p:anim calcmode="lin" valueType="num">
                                      <p:cBhvr additive="base">
                                        <p:cTn id="15" dur="500" fill="hold"/>
                                        <p:tgtEl>
                                          <p:spTgt spid="8"/>
                                        </p:tgtEl>
                                        <p:attrNameLst>
                                          <p:attrName>ppt_y</p:attrName>
                                        </p:attrNameLst>
                                      </p:cBhvr>
                                      <p:tavLst>
                                        <p:tav tm="0">
                                          <p:val>
                                            <p:strVal val="#ppt_y+0.1"/>
                                          </p:val>
                                        </p:tav>
                                        <p:tav tm="100000">
                                          <p:val>
                                            <p:strVal val="#ppt_y"/>
                                          </p:val>
                                        </p:tav>
                                      </p:tavLst>
                                    </p:anim>
                                    <p:animEffect transition="in" filter="fade">
                                      <p:cBhvr>
                                        <p:cTn id="16" dur="500"/>
                                        <p:tgtEl>
                                          <p:spTgt spid="8"/>
                                        </p:tgtEl>
                                      </p:cBhvr>
                                    </p:animEffect>
                                  </p:childTnLst>
                                </p:cTn>
                              </p:par>
                              <p:par>
                                <p:cTn id="20" presetID="22" presetClass="entr" presetSubtype="8" fill="hold" grpId="0" nodeType="withEffect">
                                  <p:stCondLst>
                                    <p:cond delay="30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par>
                                <p:cTn id="23" presetID="10" presetClass="entr" presetSubtype="0" fill="hold" grpId="0" nodeType="withEffect">
                                  <p:stCondLst>
                                    <p:cond delay="4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6" presetID="10" presetClass="entr" presetSubtype="0" fill="hold" grpId="0" nodeType="withEffect">
                                  <p:stCondLst>
                                    <p:cond delay="4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9" presetID="22" presetClass="entr" presetSubtype="8" fill="hold" grpId="0" nodeType="withEffect">
                                  <p:stCondLst>
                                    <p:cond delay="45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par>
                                <p:cTn id="32" presetID="10" presetClass="entr" presetSubtype="0" fill="hold" grpId="0" nodeType="withEffect">
                                  <p:stCondLst>
                                    <p:cond delay="5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7" presetID="2" presetClass="entr" presetSubtype="4" fill="hold" grpId="0" nodeType="withEffect">
                                  <p:stCondLst>
                                    <p:cond delay="70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500" fill="hold"/>
                                        <p:tgtEl>
                                          <p:spTgt spid="11"/>
                                        </p:tgtEl>
                                        <p:attrNameLst>
                                          <p:attrName>ppt_x</p:attrName>
                                        </p:attrNameLst>
                                      </p:cBhvr>
                                      <p:tavLst>
                                        <p:tav tm="0">
                                          <p:val>
                                            <p:strVal val="#ppt_x"/>
                                          </p:val>
                                        </p:tav>
                                        <p:tav tm="100000">
                                          <p:val>
                                            <p:strVal val="#ppt_x"/>
                                          </p:val>
                                        </p:tav>
                                      </p:tavLst>
                                    </p:anim>
                                    <p:anim calcmode="lin" valueType="num">
                                      <p:cBhvr additive="base">
                                        <p:cTn id="35" dur="500" fill="hold"/>
                                        <p:tgtEl>
                                          <p:spTgt spid="11"/>
                                        </p:tgtEl>
                                        <p:attrNameLst>
                                          <p:attrName>ppt_y</p:attrName>
                                        </p:attrNameLst>
                                      </p:cBhvr>
                                      <p:tavLst>
                                        <p:tav tm="0">
                                          <p:val>
                                            <p:strVal val="#ppt_y+0.1"/>
                                          </p:val>
                                        </p:tav>
                                        <p:tav tm="100000">
                                          <p:val>
                                            <p:strVal val="#ppt_y"/>
                                          </p:val>
                                        </p:tav>
                                      </p:tavLst>
                                    </p:anim>
                                    <p:animEffect transition="in" filter="fade">
                                      <p:cBhvr>
                                        <p:cTn id="36" dur="500"/>
                                        <p:tgtEl>
                                          <p:spTgt spid="11"/>
                                        </p:tgtEl>
                                      </p:cBhvr>
                                    </p:animEffect>
                                  </p:childTnLst>
                                </p:cTn>
                              </p:par>
                              <p:par>
                                <p:cTn id="42" presetID="2" presetClass="entr" presetSubtype="4" fill="hold" grpId="0" nodeType="withEffect">
                                  <p:stCondLst>
                                    <p:cond delay="70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ppt_y+0.1"/>
                                          </p:val>
                                        </p:tav>
                                        <p:tav tm="100000">
                                          <p:val>
                                            <p:strVal val="#ppt_y"/>
                                          </p:val>
                                        </p:tav>
                                      </p:tavLst>
                                    </p:anim>
                                    <p:animEffect transition="in" filter="fade">
                                      <p:cBhvr>
                                        <p:cTn id="41" dur="500"/>
                                        <p:tgtEl>
                                          <p:spTgt spid="12"/>
                                        </p:tgtEl>
                                      </p:cBhvr>
                                    </p:animEffect>
                                  </p:childTnLst>
                                </p:cTn>
                              </p:par>
                              <p:par>
                                <p:cTn id="47" presetID="2" presetClass="entr" presetSubtype="4" fill="hold" grpId="0" nodeType="withEffect">
                                  <p:stCondLst>
                                    <p:cond delay="820"/>
                                  </p:stCondLst>
                                  <p:childTnLst>
                                    <p:set>
                                      <p:cBhvr>
                                        <p:cTn id="43" dur="1" fill="hold">
                                          <p:stCondLst>
                                            <p:cond delay="0"/>
                                          </p:stCondLst>
                                        </p:cTn>
                                        <p:tgtEl>
                                          <p:spTgt spid="13"/>
                                        </p:tgtEl>
                                        <p:attrNameLst>
                                          <p:attrName>style.visibility</p:attrName>
                                        </p:attrNameLst>
                                      </p:cBhvr>
                                      <p:to>
                                        <p:strVal val="visible"/>
                                      </p:to>
                                    </p:set>
                                    <p:anim calcmode="lin" valueType="num">
                                      <p:cBhvr additive="base">
                                        <p:cTn id="44" dur="500" fill="hold"/>
                                        <p:tgtEl>
                                          <p:spTgt spid="13"/>
                                        </p:tgtEl>
                                        <p:attrNameLst>
                                          <p:attrName>ppt_x</p:attrName>
                                        </p:attrNameLst>
                                      </p:cBhvr>
                                      <p:tavLst>
                                        <p:tav tm="0">
                                          <p:val>
                                            <p:strVal val="#ppt_x"/>
                                          </p:val>
                                        </p:tav>
                                        <p:tav tm="100000">
                                          <p:val>
                                            <p:strVal val="#ppt_x"/>
                                          </p:val>
                                        </p:tav>
                                      </p:tavLst>
                                    </p:anim>
                                    <p:anim calcmode="lin" valueType="num">
                                      <p:cBhvr additive="base">
                                        <p:cTn id="45" dur="500" fill="hold"/>
                                        <p:tgtEl>
                                          <p:spTgt spid="13"/>
                                        </p:tgtEl>
                                        <p:attrNameLst>
                                          <p:attrName>ppt_y</p:attrName>
                                        </p:attrNameLst>
                                      </p:cBhvr>
                                      <p:tavLst>
                                        <p:tav tm="0">
                                          <p:val>
                                            <p:strVal val="#ppt_y+0.1"/>
                                          </p:val>
                                        </p:tav>
                                        <p:tav tm="100000">
                                          <p:val>
                                            <p:strVal val="#ppt_y"/>
                                          </p:val>
                                        </p:tav>
                                      </p:tavLst>
                                    </p:anim>
                                    <p:animEffect transition="in" filter="fade">
                                      <p:cBhvr>
                                        <p:cTn id="46" dur="500"/>
                                        <p:tgtEl>
                                          <p:spTgt spid="13"/>
                                        </p:tgtEl>
                                      </p:cBhvr>
                                    </p:animEffect>
                                  </p:childTnLst>
                                </p:cTn>
                              </p:par>
                              <p:par>
                                <p:cTn id="52" presetID="2" presetClass="entr" presetSubtype="4" fill="hold" grpId="0" nodeType="withEffect">
                                  <p:stCondLst>
                                    <p:cond delay="82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ppt_y+0.1"/>
                                          </p:val>
                                        </p:tav>
                                        <p:tav tm="100000">
                                          <p:val>
                                            <p:strVal val="#ppt_y"/>
                                          </p:val>
                                        </p:tav>
                                      </p:tavLst>
                                    </p:anim>
                                    <p:animEffect transition="in" filter="fade">
                                      <p:cBhvr>
                                        <p:cTn id="51" dur="500"/>
                                        <p:tgtEl>
                                          <p:spTgt spid="14"/>
                                        </p:tgtEl>
                                      </p:cBhvr>
                                    </p:animEffect>
                                  </p:childTnLst>
                                </p:cTn>
                              </p:par>
                              <p:par>
                                <p:cTn id="57" presetID="2" presetClass="entr" presetSubtype="4" fill="hold" grpId="0" nodeType="withEffect">
                                  <p:stCondLst>
                                    <p:cond delay="94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00" fill="hold"/>
                                        <p:tgtEl>
                                          <p:spTgt spid="15"/>
                                        </p:tgtEl>
                                        <p:attrNameLst>
                                          <p:attrName>ppt_x</p:attrName>
                                        </p:attrNameLst>
                                      </p:cBhvr>
                                      <p:tavLst>
                                        <p:tav tm="0">
                                          <p:val>
                                            <p:strVal val="#ppt_x"/>
                                          </p:val>
                                        </p:tav>
                                        <p:tav tm="100000">
                                          <p:val>
                                            <p:strVal val="#ppt_x"/>
                                          </p:val>
                                        </p:tav>
                                      </p:tavLst>
                                    </p:anim>
                                    <p:anim calcmode="lin" valueType="num">
                                      <p:cBhvr additive="base">
                                        <p:cTn id="55" dur="500" fill="hold"/>
                                        <p:tgtEl>
                                          <p:spTgt spid="15"/>
                                        </p:tgtEl>
                                        <p:attrNameLst>
                                          <p:attrName>ppt_y</p:attrName>
                                        </p:attrNameLst>
                                      </p:cBhvr>
                                      <p:tavLst>
                                        <p:tav tm="0">
                                          <p:val>
                                            <p:strVal val="#ppt_y+0.1"/>
                                          </p:val>
                                        </p:tav>
                                        <p:tav tm="100000">
                                          <p:val>
                                            <p:strVal val="#ppt_y"/>
                                          </p:val>
                                        </p:tav>
                                      </p:tavLst>
                                    </p:anim>
                                    <p:animEffect transition="in" filter="fade">
                                      <p:cBhvr>
                                        <p:cTn id="56" dur="500"/>
                                        <p:tgtEl>
                                          <p:spTgt spid="15"/>
                                        </p:tgtEl>
                                      </p:cBhvr>
                                    </p:animEffect>
                                  </p:childTnLst>
                                </p:cTn>
                              </p:par>
                              <p:par>
                                <p:cTn id="62" presetID="2" presetClass="entr" presetSubtype="4" fill="hold" grpId="0" nodeType="withEffect">
                                  <p:stCondLst>
                                    <p:cond delay="94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ppt_y+0.1"/>
                                          </p:val>
                                        </p:tav>
                                        <p:tav tm="100000">
                                          <p:val>
                                            <p:strVal val="#ppt_y"/>
                                          </p:val>
                                        </p:tav>
                                      </p:tavLst>
                                    </p:anim>
                                    <p:animEffect transition="in" filter="fade">
                                      <p:cBhvr>
                                        <p:cTn id="61" dur="500"/>
                                        <p:tgtEl>
                                          <p:spTgt spid="16"/>
                                        </p:tgtEl>
                                      </p:cBhvr>
                                    </p:animEffect>
                                  </p:childTnLst>
                                </p:cTn>
                              </p:par>
                              <p:par>
                                <p:cTn id="67" presetID="2" presetClass="entr" presetSubtype="4" fill="hold" grpId="0" nodeType="withEffect">
                                  <p:stCondLst>
                                    <p:cond delay="1060"/>
                                  </p:stCondLst>
                                  <p:childTnLst>
                                    <p:set>
                                      <p:cBhvr>
                                        <p:cTn id="63" dur="1" fill="hold">
                                          <p:stCondLst>
                                            <p:cond delay="0"/>
                                          </p:stCondLst>
                                        </p:cTn>
                                        <p:tgtEl>
                                          <p:spTgt spid="17"/>
                                        </p:tgtEl>
                                        <p:attrNameLst>
                                          <p:attrName>style.visibility</p:attrName>
                                        </p:attrNameLst>
                                      </p:cBhvr>
                                      <p:to>
                                        <p:strVal val="visible"/>
                                      </p:to>
                                    </p:set>
                                    <p:anim calcmode="lin" valueType="num">
                                      <p:cBhvr additive="base">
                                        <p:cTn id="64" dur="500" fill="hold"/>
                                        <p:tgtEl>
                                          <p:spTgt spid="17"/>
                                        </p:tgtEl>
                                        <p:attrNameLst>
                                          <p:attrName>ppt_x</p:attrName>
                                        </p:attrNameLst>
                                      </p:cBhvr>
                                      <p:tavLst>
                                        <p:tav tm="0">
                                          <p:val>
                                            <p:strVal val="#ppt_x"/>
                                          </p:val>
                                        </p:tav>
                                        <p:tav tm="100000">
                                          <p:val>
                                            <p:strVal val="#ppt_x"/>
                                          </p:val>
                                        </p:tav>
                                      </p:tavLst>
                                    </p:anim>
                                    <p:anim calcmode="lin" valueType="num">
                                      <p:cBhvr additive="base">
                                        <p:cTn id="65" dur="500" fill="hold"/>
                                        <p:tgtEl>
                                          <p:spTgt spid="17"/>
                                        </p:tgtEl>
                                        <p:attrNameLst>
                                          <p:attrName>ppt_y</p:attrName>
                                        </p:attrNameLst>
                                      </p:cBhvr>
                                      <p:tavLst>
                                        <p:tav tm="0">
                                          <p:val>
                                            <p:strVal val="#ppt_y+0.1"/>
                                          </p:val>
                                        </p:tav>
                                        <p:tav tm="100000">
                                          <p:val>
                                            <p:strVal val="#ppt_y"/>
                                          </p:val>
                                        </p:tav>
                                      </p:tavLst>
                                    </p:anim>
                                    <p:animEffect transition="in" filter="fade">
                                      <p:cBhvr>
                                        <p:cTn id="66" dur="500"/>
                                        <p:tgtEl>
                                          <p:spTgt spid="17"/>
                                        </p:tgtEl>
                                      </p:cBhvr>
                                    </p:animEffect>
                                  </p:childTnLst>
                                </p:cTn>
                              </p:par>
                              <p:par>
                                <p:cTn id="72" presetID="2" presetClass="entr" presetSubtype="4" fill="hold" grpId="0" nodeType="withEffect">
                                  <p:stCondLst>
                                    <p:cond delay="106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500" fill="hold"/>
                                        <p:tgtEl>
                                          <p:spTgt spid="18"/>
                                        </p:tgtEl>
                                        <p:attrNameLst>
                                          <p:attrName>ppt_x</p:attrName>
                                        </p:attrNameLst>
                                      </p:cBhvr>
                                      <p:tavLst>
                                        <p:tav tm="0">
                                          <p:val>
                                            <p:strVal val="#ppt_x"/>
                                          </p:val>
                                        </p:tav>
                                        <p:tav tm="100000">
                                          <p:val>
                                            <p:strVal val="#ppt_x"/>
                                          </p:val>
                                        </p:tav>
                                      </p:tavLst>
                                    </p:anim>
                                    <p:anim calcmode="lin" valueType="num">
                                      <p:cBhvr additive="base">
                                        <p:cTn id="70" dur="500" fill="hold"/>
                                        <p:tgtEl>
                                          <p:spTgt spid="18"/>
                                        </p:tgtEl>
                                        <p:attrNameLst>
                                          <p:attrName>ppt_y</p:attrName>
                                        </p:attrNameLst>
                                      </p:cBhvr>
                                      <p:tavLst>
                                        <p:tav tm="0">
                                          <p:val>
                                            <p:strVal val="#ppt_y+0.1"/>
                                          </p:val>
                                        </p:tav>
                                        <p:tav tm="100000">
                                          <p:val>
                                            <p:strVal val="#ppt_y"/>
                                          </p:val>
                                        </p:tav>
                                      </p:tavLst>
                                    </p:anim>
                                    <p:animEffect transition="in" filter="fade">
                                      <p:cBhvr>
                                        <p:cTn id="7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What Is a Distributed System?</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network-based application: its parts run on different machines and talk over a network</a:t>
            </a:r>
          </a:p>
        </p:txBody>
      </p:sp>
      <p:sp>
        <p:nvSpPr>
          <p:cNvPr id="11" name="a1u_card10"/>
          <p:cNvSpPr/>
          <p:nvPr/>
        </p:nvSpPr>
        <p:spPr>
          <a:xfrm>
            <a:off x="457200" y="1234440"/>
            <a:ext cx="3931920" cy="1261872"/>
          </a:xfrm>
          <a:prstGeom prst="roundRect">
            <a:avLst>
              <a:gd name="adj" fmla="val 869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50292" cy="1261872"/>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q12"/>
          <p:cNvSpPr txBox="1"/>
          <p:nvPr/>
        </p:nvSpPr>
        <p:spPr>
          <a:xfrm>
            <a:off x="658368" y="1325880"/>
            <a:ext cx="3611880" cy="777240"/>
          </a:xfrm>
          <a:prstGeom prst="rect">
            <a:avLst/>
          </a:prstGeom>
          <a:noFill/>
        </p:spPr>
        <p:txBody>
          <a:bodyPr wrap="square" lIns="0" tIns="0" rIns="0" bIns="0" anchor="t">
            <a:spAutoFit/>
          </a:bodyPr>
          <a:lstStyle/>
          <a:p>
            <a:pPr algn="l"/>
            <a:r>
              <a:rPr sz="1150" b="1" i="1">
                <a:solidFill>
                  <a:srgbClr val="C2410C"/>
                </a:solidFill>
                <a:latin typeface="Segoe UI"/>
              </a:rPr>
              <a:t>"A collection of independent computers that appears to its users as a single coherent system."</a:t>
            </a:r>
          </a:p>
        </p:txBody>
      </p:sp>
      <p:sp>
        <p:nvSpPr>
          <p:cNvPr id="14" name="a1u_src13"/>
          <p:cNvSpPr txBox="1"/>
          <p:nvPr/>
        </p:nvSpPr>
        <p:spPr>
          <a:xfrm>
            <a:off x="658368" y="2148840"/>
            <a:ext cx="3611880" cy="256032"/>
          </a:xfrm>
          <a:prstGeom prst="rect">
            <a:avLst/>
          </a:prstGeom>
          <a:noFill/>
        </p:spPr>
        <p:txBody>
          <a:bodyPr wrap="square" lIns="0" tIns="0" rIns="0" bIns="0" anchor="ctr">
            <a:spAutoFit/>
          </a:bodyPr>
          <a:lstStyle/>
          <a:p>
            <a:pPr algn="l"/>
            <a:r>
              <a:rPr sz="800" b="0">
                <a:solidFill>
                  <a:srgbClr val="78716C"/>
                </a:solidFill>
                <a:latin typeface="Segoe UI"/>
              </a:rPr>
              <a:t>Andrew Tanenbaum and Maarten van Steen, Distributed Systems</a:t>
            </a:r>
          </a:p>
        </p:txBody>
      </p:sp>
      <p:sp>
        <p:nvSpPr>
          <p:cNvPr id="15" name="a2u_card14"/>
          <p:cNvSpPr/>
          <p:nvPr/>
        </p:nvSpPr>
        <p:spPr>
          <a:xfrm>
            <a:off x="457200" y="2651760"/>
            <a:ext cx="3931920" cy="1691640"/>
          </a:xfrm>
          <a:prstGeom prst="roundRect">
            <a:avLst>
              <a:gd name="adj" fmla="val 648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_acc15"/>
          <p:cNvSpPr/>
          <p:nvPr/>
        </p:nvSpPr>
        <p:spPr>
          <a:xfrm>
            <a:off x="457200" y="2651760"/>
            <a:ext cx="50292" cy="169164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_hh16"/>
          <p:cNvSpPr txBox="1"/>
          <p:nvPr/>
        </p:nvSpPr>
        <p:spPr>
          <a:xfrm>
            <a:off x="658368" y="2761488"/>
            <a:ext cx="3566160" cy="237744"/>
          </a:xfrm>
          <a:prstGeom prst="rect">
            <a:avLst/>
          </a:prstGeom>
          <a:noFill/>
        </p:spPr>
        <p:txBody>
          <a:bodyPr wrap="square" lIns="0" tIns="0" rIns="0" bIns="0" anchor="ctr">
            <a:spAutoFit/>
          </a:bodyPr>
          <a:lstStyle/>
          <a:p>
            <a:pPr algn="l"/>
            <a:r>
              <a:rPr sz="900" b="1">
                <a:solidFill>
                  <a:srgbClr val="0E7490"/>
                </a:solidFill>
                <a:latin typeface="Segoe UI"/>
              </a:rPr>
              <a:t>WHY DISTRIBUTE?</a:t>
            </a:r>
          </a:p>
        </p:txBody>
      </p:sp>
      <p:sp>
        <p:nvSpPr>
          <p:cNvPr id="18" name="a2ud80_dot17"/>
          <p:cNvSpPr/>
          <p:nvPr/>
        </p:nvSpPr>
        <p:spPr>
          <a:xfrm>
            <a:off x="658368" y="318668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2ud80_b18"/>
          <p:cNvSpPr txBox="1"/>
          <p:nvPr/>
        </p:nvSpPr>
        <p:spPr>
          <a:xfrm>
            <a:off x="877824" y="3090672"/>
            <a:ext cx="3310128" cy="347472"/>
          </a:xfrm>
          <a:prstGeom prst="rect">
            <a:avLst/>
          </a:prstGeom>
          <a:noFill/>
        </p:spPr>
        <p:txBody>
          <a:bodyPr wrap="square" lIns="0" tIns="0" rIns="0" bIns="0" anchor="t">
            <a:spAutoFit/>
          </a:bodyPr>
          <a:lstStyle/>
          <a:p>
            <a:pPr algn="l"/>
            <a:r>
              <a:rPr sz="900" b="1">
                <a:solidFill>
                  <a:srgbClr val="1C1917"/>
                </a:solidFill>
                <a:latin typeface="Segoe UI"/>
              </a:rPr>
              <a:t>Scale  </a:t>
            </a:r>
            <a:r>
              <a:rPr sz="900" b="0">
                <a:solidFill>
                  <a:srgbClr val="44403C"/>
                </a:solidFill>
                <a:latin typeface="Segoe UI"/>
              </a:rPr>
              <a:t>more users and data than one machine can hold</a:t>
            </a:r>
          </a:p>
        </p:txBody>
      </p:sp>
      <p:sp>
        <p:nvSpPr>
          <p:cNvPr id="20" name="a2ud180_dot19"/>
          <p:cNvSpPr/>
          <p:nvPr/>
        </p:nvSpPr>
        <p:spPr>
          <a:xfrm>
            <a:off x="658368" y="3570732"/>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d180_b20"/>
          <p:cNvSpPr txBox="1"/>
          <p:nvPr/>
        </p:nvSpPr>
        <p:spPr>
          <a:xfrm>
            <a:off x="877824" y="3474720"/>
            <a:ext cx="3310128" cy="347472"/>
          </a:xfrm>
          <a:prstGeom prst="rect">
            <a:avLst/>
          </a:prstGeom>
          <a:noFill/>
        </p:spPr>
        <p:txBody>
          <a:bodyPr wrap="square" lIns="0" tIns="0" rIns="0" bIns="0" anchor="t">
            <a:spAutoFit/>
          </a:bodyPr>
          <a:lstStyle/>
          <a:p>
            <a:pPr algn="l"/>
            <a:r>
              <a:rPr sz="900" b="1">
                <a:solidFill>
                  <a:srgbClr val="1C1917"/>
                </a:solidFill>
                <a:latin typeface="Segoe UI"/>
              </a:rPr>
              <a:t>Reliability  </a:t>
            </a:r>
            <a:r>
              <a:rPr sz="900" b="0">
                <a:solidFill>
                  <a:srgbClr val="44403C"/>
                </a:solidFill>
                <a:latin typeface="Segoe UI"/>
              </a:rPr>
              <a:t>one machine fails, the service stays up</a:t>
            </a:r>
          </a:p>
        </p:txBody>
      </p:sp>
      <p:sp>
        <p:nvSpPr>
          <p:cNvPr id="22" name="a2ud280_dot21"/>
          <p:cNvSpPr/>
          <p:nvPr/>
        </p:nvSpPr>
        <p:spPr>
          <a:xfrm>
            <a:off x="658368" y="3954780"/>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d280_b22"/>
          <p:cNvSpPr txBox="1"/>
          <p:nvPr/>
        </p:nvSpPr>
        <p:spPr>
          <a:xfrm>
            <a:off x="877824" y="3858768"/>
            <a:ext cx="3310128" cy="347472"/>
          </a:xfrm>
          <a:prstGeom prst="rect">
            <a:avLst/>
          </a:prstGeom>
          <a:noFill/>
        </p:spPr>
        <p:txBody>
          <a:bodyPr wrap="square" lIns="0" tIns="0" rIns="0" bIns="0" anchor="t">
            <a:spAutoFit/>
          </a:bodyPr>
          <a:lstStyle/>
          <a:p>
            <a:pPr algn="l"/>
            <a:r>
              <a:rPr sz="900" b="1">
                <a:solidFill>
                  <a:srgbClr val="1C1917"/>
                </a:solidFill>
                <a:latin typeface="Segoe UI"/>
              </a:rPr>
              <a:t>Reach  </a:t>
            </a:r>
            <a:r>
              <a:rPr sz="900" b="0">
                <a:solidFill>
                  <a:srgbClr val="44403C"/>
                </a:solidFill>
                <a:latin typeface="Segoe UI"/>
              </a:rPr>
              <a:t>computing close to users, everywhere</a:t>
            </a:r>
          </a:p>
        </p:txBody>
      </p:sp>
      <p:sp>
        <p:nvSpPr>
          <p:cNvPr id="24" name="a3u_nd23"/>
          <p:cNvSpPr/>
          <p:nvPr/>
        </p:nvSpPr>
        <p:spPr>
          <a:xfrm>
            <a:off x="4663440" y="1371600"/>
            <a:ext cx="1783080" cy="731520"/>
          </a:xfrm>
          <a:prstGeom prst="roundRect">
            <a:avLst>
              <a:gd name="adj" fmla="val 10000"/>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3u_ndt24"/>
          <p:cNvSpPr txBox="1"/>
          <p:nvPr/>
        </p:nvSpPr>
        <p:spPr>
          <a:xfrm>
            <a:off x="4709159" y="1408176"/>
            <a:ext cx="1691639" cy="347472"/>
          </a:xfrm>
          <a:prstGeom prst="rect">
            <a:avLst/>
          </a:prstGeom>
          <a:noFill/>
        </p:spPr>
        <p:txBody>
          <a:bodyPr wrap="square" lIns="0" tIns="0" rIns="0" bIns="0" anchor="b">
            <a:spAutoFit/>
          </a:bodyPr>
          <a:lstStyle/>
          <a:p>
            <a:pPr algn="ctr"/>
            <a:r>
              <a:rPr sz="1000" b="1">
                <a:solidFill>
                  <a:srgbClr val="1C1917"/>
                </a:solidFill>
                <a:latin typeface="Segoe UI"/>
              </a:rPr>
              <a:t>User's device</a:t>
            </a:r>
          </a:p>
        </p:txBody>
      </p:sp>
      <p:sp>
        <p:nvSpPr>
          <p:cNvPr id="26" name="a3u_nds25"/>
          <p:cNvSpPr txBox="1"/>
          <p:nvPr/>
        </p:nvSpPr>
        <p:spPr>
          <a:xfrm>
            <a:off x="4709159" y="1764792"/>
            <a:ext cx="1691639" cy="301752"/>
          </a:xfrm>
          <a:prstGeom prst="rect">
            <a:avLst/>
          </a:prstGeom>
          <a:noFill/>
        </p:spPr>
        <p:txBody>
          <a:bodyPr wrap="square" lIns="0" tIns="0" rIns="0" bIns="0" anchor="t">
            <a:spAutoFit/>
          </a:bodyPr>
          <a:lstStyle/>
          <a:p>
            <a:pPr algn="ctr"/>
            <a:r>
              <a:rPr sz="800" b="0">
                <a:solidFill>
                  <a:srgbClr val="EA580C"/>
                </a:solidFill>
                <a:latin typeface="Segoe UI"/>
              </a:rPr>
              <a:t>browser / mobile app</a:t>
            </a:r>
          </a:p>
        </p:txBody>
      </p:sp>
      <p:sp>
        <p:nvSpPr>
          <p:cNvPr id="27" name="a3ud150_nd26"/>
          <p:cNvSpPr/>
          <p:nvPr/>
        </p:nvSpPr>
        <p:spPr>
          <a:xfrm>
            <a:off x="6903720" y="1371600"/>
            <a:ext cx="1783080" cy="731520"/>
          </a:xfrm>
          <a:prstGeom prst="roundRect">
            <a:avLst>
              <a:gd name="adj" fmla="val 10000"/>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ud150_ndt27"/>
          <p:cNvSpPr txBox="1"/>
          <p:nvPr/>
        </p:nvSpPr>
        <p:spPr>
          <a:xfrm>
            <a:off x="6949440" y="1408176"/>
            <a:ext cx="1691639" cy="347472"/>
          </a:xfrm>
          <a:prstGeom prst="rect">
            <a:avLst/>
          </a:prstGeom>
          <a:noFill/>
        </p:spPr>
        <p:txBody>
          <a:bodyPr wrap="square" lIns="0" tIns="0" rIns="0" bIns="0" anchor="b">
            <a:spAutoFit/>
          </a:bodyPr>
          <a:lstStyle/>
          <a:p>
            <a:pPr algn="ctr"/>
            <a:r>
              <a:rPr sz="1000" b="1">
                <a:solidFill>
                  <a:srgbClr val="1C1917"/>
                </a:solidFill>
                <a:latin typeface="Segoe UI"/>
              </a:rPr>
              <a:t>Application server</a:t>
            </a:r>
          </a:p>
        </p:txBody>
      </p:sp>
      <p:sp>
        <p:nvSpPr>
          <p:cNvPr id="29" name="a3ud150_nds28"/>
          <p:cNvSpPr txBox="1"/>
          <p:nvPr/>
        </p:nvSpPr>
        <p:spPr>
          <a:xfrm>
            <a:off x="6949440" y="1764792"/>
            <a:ext cx="1691639" cy="301752"/>
          </a:xfrm>
          <a:prstGeom prst="rect">
            <a:avLst/>
          </a:prstGeom>
          <a:noFill/>
        </p:spPr>
        <p:txBody>
          <a:bodyPr wrap="square" lIns="0" tIns="0" rIns="0" bIns="0" anchor="t">
            <a:spAutoFit/>
          </a:bodyPr>
          <a:lstStyle/>
          <a:p>
            <a:pPr algn="ctr"/>
            <a:r>
              <a:rPr sz="800" b="0">
                <a:solidFill>
                  <a:srgbClr val="0E7490"/>
                </a:solidFill>
                <a:latin typeface="Segoe UI"/>
              </a:rPr>
              <a:t>business logic</a:t>
            </a:r>
          </a:p>
        </p:txBody>
      </p:sp>
      <p:sp>
        <p:nvSpPr>
          <p:cNvPr id="30" name="a3ud300_nd29"/>
          <p:cNvSpPr/>
          <p:nvPr/>
        </p:nvSpPr>
        <p:spPr>
          <a:xfrm>
            <a:off x="6903720" y="2743200"/>
            <a:ext cx="1783080" cy="731520"/>
          </a:xfrm>
          <a:prstGeom prst="roundRect">
            <a:avLst>
              <a:gd name="adj" fmla="val 10000"/>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ud300_ndt30"/>
          <p:cNvSpPr txBox="1"/>
          <p:nvPr/>
        </p:nvSpPr>
        <p:spPr>
          <a:xfrm>
            <a:off x="6949440" y="2779776"/>
            <a:ext cx="1691639" cy="347472"/>
          </a:xfrm>
          <a:prstGeom prst="rect">
            <a:avLst/>
          </a:prstGeom>
          <a:noFill/>
        </p:spPr>
        <p:txBody>
          <a:bodyPr wrap="square" lIns="0" tIns="0" rIns="0" bIns="0" anchor="b">
            <a:spAutoFit/>
          </a:bodyPr>
          <a:lstStyle/>
          <a:p>
            <a:pPr algn="ctr"/>
            <a:r>
              <a:rPr sz="1000" b="1">
                <a:solidFill>
                  <a:srgbClr val="1C1917"/>
                </a:solidFill>
                <a:latin typeface="Segoe UI"/>
              </a:rPr>
              <a:t>Database server</a:t>
            </a:r>
          </a:p>
        </p:txBody>
      </p:sp>
      <p:sp>
        <p:nvSpPr>
          <p:cNvPr id="32" name="a3ud300_nds31"/>
          <p:cNvSpPr txBox="1"/>
          <p:nvPr/>
        </p:nvSpPr>
        <p:spPr>
          <a:xfrm>
            <a:off x="6949440" y="3136391"/>
            <a:ext cx="1691639" cy="301752"/>
          </a:xfrm>
          <a:prstGeom prst="rect">
            <a:avLst/>
          </a:prstGeom>
          <a:noFill/>
        </p:spPr>
        <p:txBody>
          <a:bodyPr wrap="square" lIns="0" tIns="0" rIns="0" bIns="0" anchor="t">
            <a:spAutoFit/>
          </a:bodyPr>
          <a:lstStyle/>
          <a:p>
            <a:pPr algn="ctr"/>
            <a:r>
              <a:rPr sz="800" b="0">
                <a:solidFill>
                  <a:srgbClr val="A16207"/>
                </a:solidFill>
                <a:latin typeface="Segoe UI"/>
              </a:rPr>
              <a:t>stores the data</a:t>
            </a:r>
          </a:p>
        </p:txBody>
      </p:sp>
      <p:cxnSp>
        <p:nvCxnSpPr>
          <p:cNvPr id="33" name="a3fd400_ar32"/>
          <p:cNvCxnSpPr/>
          <p:nvPr/>
        </p:nvCxnSpPr>
        <p:spPr>
          <a:xfrm>
            <a:off x="6473952" y="1627632"/>
            <a:ext cx="402336"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a3fd500_ar33"/>
          <p:cNvCxnSpPr/>
          <p:nvPr/>
        </p:nvCxnSpPr>
        <p:spPr>
          <a:xfrm flipH="1">
            <a:off x="6473952" y="1865376"/>
            <a:ext cx="402336" cy="0"/>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a3fd400_lb34"/>
          <p:cNvSpPr txBox="1"/>
          <p:nvPr/>
        </p:nvSpPr>
        <p:spPr>
          <a:xfrm>
            <a:off x="6355080" y="1920240"/>
            <a:ext cx="640080" cy="201168"/>
          </a:xfrm>
          <a:prstGeom prst="rect">
            <a:avLst/>
          </a:prstGeom>
          <a:noFill/>
        </p:spPr>
        <p:txBody>
          <a:bodyPr wrap="square" lIns="0" tIns="0" rIns="0" bIns="0" anchor="ctr">
            <a:spAutoFit/>
          </a:bodyPr>
          <a:lstStyle/>
          <a:p>
            <a:pPr algn="ctr"/>
            <a:r>
              <a:rPr sz="750" b="0">
                <a:solidFill>
                  <a:srgbClr val="78716C"/>
                </a:solidFill>
                <a:latin typeface="Segoe UI"/>
              </a:rPr>
              <a:t>network</a:t>
            </a:r>
          </a:p>
        </p:txBody>
      </p:sp>
      <p:cxnSp>
        <p:nvCxnSpPr>
          <p:cNvPr id="36" name="a3fd600_ar35"/>
          <p:cNvCxnSpPr/>
          <p:nvPr/>
        </p:nvCxnSpPr>
        <p:spPr>
          <a:xfrm>
            <a:off x="7680960" y="2130552"/>
            <a:ext cx="0" cy="585216"/>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a3fd700_ar36"/>
          <p:cNvCxnSpPr/>
          <p:nvPr/>
        </p:nvCxnSpPr>
        <p:spPr>
          <a:xfrm flipV="1">
            <a:off x="7909560" y="2130552"/>
            <a:ext cx="0" cy="585216"/>
          </a:xfrm>
          <a:prstGeom prst="line">
            <a:avLst/>
          </a:prstGeom>
          <a:ln w="1905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a3fd800_lb37"/>
          <p:cNvSpPr txBox="1"/>
          <p:nvPr/>
        </p:nvSpPr>
        <p:spPr>
          <a:xfrm>
            <a:off x="4663440" y="2240280"/>
            <a:ext cx="2103120" cy="411480"/>
          </a:xfrm>
          <a:prstGeom prst="rect">
            <a:avLst/>
          </a:prstGeom>
          <a:noFill/>
        </p:spPr>
        <p:txBody>
          <a:bodyPr wrap="square" lIns="0" tIns="0" rIns="0" bIns="0" anchor="ctr">
            <a:spAutoFit/>
          </a:bodyPr>
          <a:lstStyle/>
          <a:p>
            <a:pPr algn="l"/>
            <a:r>
              <a:rPr sz="850" b="0">
                <a:solidFill>
                  <a:srgbClr val="44403C"/>
                </a:solidFill>
                <a:latin typeface="Segoe UI"/>
              </a:rPr>
              <a:t>data is always on the move between machines</a:t>
            </a:r>
          </a:p>
        </p:txBody>
      </p:sp>
      <p:sp>
        <p:nvSpPr>
          <p:cNvPr id="39" name="a4u_nb38"/>
          <p:cNvSpPr/>
          <p:nvPr/>
        </p:nvSpPr>
        <p:spPr>
          <a:xfrm>
            <a:off x="4663440" y="3703320"/>
            <a:ext cx="4023360" cy="640080"/>
          </a:xfrm>
          <a:prstGeom prst="roundRect">
            <a:avLst>
              <a:gd name="adj" fmla="val 11428"/>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4u_nacc39"/>
          <p:cNvSpPr/>
          <p:nvPr/>
        </p:nvSpPr>
        <p:spPr>
          <a:xfrm>
            <a:off x="4663440" y="3703320"/>
            <a:ext cx="54864" cy="64008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4u_nt40"/>
          <p:cNvSpPr txBox="1"/>
          <p:nvPr/>
        </p:nvSpPr>
        <p:spPr>
          <a:xfrm>
            <a:off x="4864607" y="3703320"/>
            <a:ext cx="3621024" cy="640080"/>
          </a:xfrm>
          <a:prstGeom prst="rect">
            <a:avLst/>
          </a:prstGeom>
          <a:noFill/>
        </p:spPr>
        <p:txBody>
          <a:bodyPr wrap="square" lIns="0" tIns="0" rIns="0" bIns="0" anchor="ctr">
            <a:spAutoFit/>
          </a:bodyPr>
          <a:lstStyle/>
          <a:p>
            <a:pPr algn="l"/>
            <a:r>
              <a:rPr sz="900" b="1">
                <a:solidFill>
                  <a:srgbClr val="C2410C"/>
                </a:solidFill>
                <a:latin typeface="Segoe UI"/>
              </a:rPr>
              <a:t>i  </a:t>
            </a:r>
            <a:r>
              <a:rPr sz="900" b="0">
                <a:solidFill>
                  <a:srgbClr val="44403C"/>
                </a:solidFill>
                <a:latin typeface="Segoe UI"/>
              </a:rPr>
              <a:t>Almost every application you use - web, mobile, banking - is a distributed system.</a:t>
            </a:r>
          </a:p>
        </p:txBody>
      </p:sp>
      <p:sp>
        <p:nvSpPr>
          <p:cNvPr id="42" name="ft4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04</a:t>
            </a:r>
          </a:p>
        </p:txBody>
      </p:sp>
      <p:sp>
        <p:nvSpPr>
          <p:cNvPr id="43" name="ft4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ft4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5" name="ft4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31" presetID="2" presetClass="entr" presetSubtype="4"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ppt_y+0.1"/>
                                          </p:val>
                                        </p:tav>
                                        <p:tav tm="100000">
                                          <p:val>
                                            <p:strVal val="#ppt_y"/>
                                          </p:val>
                                        </p:tav>
                                      </p:tavLst>
                                    </p:anim>
                                    <p:animEffect transition="in" filter="fade">
                                      <p:cBhvr>
                                        <p:cTn id="30" dur="500"/>
                                        <p:tgtEl>
                                          <p:spTgt spid="15"/>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ppt_y+0.1"/>
                                          </p:val>
                                        </p:tav>
                                        <p:tav tm="100000">
                                          <p:val>
                                            <p:strVal val="#ppt_y"/>
                                          </p:val>
                                        </p:tav>
                                      </p:tavLst>
                                    </p:anim>
                                    <p:animEffect transition="in" filter="fade">
                                      <p:cBhvr>
                                        <p:cTn id="40" dur="500"/>
                                        <p:tgtEl>
                                          <p:spTgt spid="17"/>
                                        </p:tgtEl>
                                      </p:cBhvr>
                                    </p:animEffect>
                                  </p:childTnLst>
                                </p:cTn>
                              </p:par>
                              <p:par>
                                <p:cTn id="46" presetID="2" presetClass="entr" presetSubtype="4" fill="hold" grpId="0" nodeType="withEffect">
                                  <p:stCondLst>
                                    <p:cond delay="8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ppt_y+0.1"/>
                                          </p:val>
                                        </p:tav>
                                        <p:tav tm="100000">
                                          <p:val>
                                            <p:strVal val="#ppt_y"/>
                                          </p:val>
                                        </p:tav>
                                      </p:tavLst>
                                    </p:anim>
                                    <p:animEffect transition="in" filter="fade">
                                      <p:cBhvr>
                                        <p:cTn id="45" dur="500"/>
                                        <p:tgtEl>
                                          <p:spTgt spid="18"/>
                                        </p:tgtEl>
                                      </p:cBhvr>
                                    </p:animEffect>
                                  </p:childTnLst>
                                </p:cTn>
                              </p:par>
                              <p:par>
                                <p:cTn id="51" presetID="2" presetClass="entr" presetSubtype="4" fill="hold" grpId="0" nodeType="withEffect">
                                  <p:stCondLst>
                                    <p:cond delay="8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ppt_x</p:attrName>
                                        </p:attrNameLst>
                                      </p:cBhvr>
                                      <p:tavLst>
                                        <p:tav tm="0">
                                          <p:val>
                                            <p:strVal val="#ppt_x"/>
                                          </p:val>
                                        </p:tav>
                                        <p:tav tm="100000">
                                          <p:val>
                                            <p:strVal val="#ppt_x"/>
                                          </p:val>
                                        </p:tav>
                                      </p:tavLst>
                                    </p:anim>
                                    <p:anim calcmode="lin" valueType="num">
                                      <p:cBhvr additive="base">
                                        <p:cTn id="49" dur="500" fill="hold"/>
                                        <p:tgtEl>
                                          <p:spTgt spid="19"/>
                                        </p:tgtEl>
                                        <p:attrNameLst>
                                          <p:attrName>ppt_y</p:attrName>
                                        </p:attrNameLst>
                                      </p:cBhvr>
                                      <p:tavLst>
                                        <p:tav tm="0">
                                          <p:val>
                                            <p:strVal val="#ppt_y+0.1"/>
                                          </p:val>
                                        </p:tav>
                                        <p:tav tm="100000">
                                          <p:val>
                                            <p:strVal val="#ppt_y"/>
                                          </p:val>
                                        </p:tav>
                                      </p:tavLst>
                                    </p:anim>
                                    <p:animEffect transition="in" filter="fade">
                                      <p:cBhvr>
                                        <p:cTn id="50" dur="500"/>
                                        <p:tgtEl>
                                          <p:spTgt spid="19"/>
                                        </p:tgtEl>
                                      </p:cBhvr>
                                    </p:animEffect>
                                  </p:childTnLst>
                                </p:cTn>
                              </p:par>
                              <p:par>
                                <p:cTn id="56" presetID="2" presetClass="entr" presetSubtype="4" fill="hold" grpId="0" nodeType="withEffect">
                                  <p:stCondLst>
                                    <p:cond delay="18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par>
                                <p:cTn id="61" presetID="2" presetClass="entr" presetSubtype="4" fill="hold" grpId="0" nodeType="withEffect">
                                  <p:stCondLst>
                                    <p:cond delay="18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28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28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childTnLst>
                          </p:cTn>
                        </p:par>
                      </p:childTnLst>
                    </p:cTn>
                  </p:par>
                  <p:par>
                    <p:cTn id="72" fill="hold">
                      <p:stCondLst>
                        <p:cond delay="indefinite"/>
                      </p:stCondLst>
                      <p:childTnLst>
                        <p:par>
                          <p:cTn id="73" fill="hold">
                            <p:stCondLst>
                              <p:cond delay="0"/>
                            </p:stCondLst>
                            <p:childTnLst>
                              <p:par>
                                <p:cTn id="78" presetID="2" presetClass="entr" presetSubtype="4"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ppt_x"/>
                                          </p:val>
                                        </p:tav>
                                        <p:tav tm="100000">
                                          <p:val>
                                            <p:strVal val="#ppt_x"/>
                                          </p:val>
                                        </p:tav>
                                      </p:tavLst>
                                    </p:anim>
                                    <p:anim calcmode="lin" valueType="num">
                                      <p:cBhvr additive="base">
                                        <p:cTn id="76" dur="500" fill="hold"/>
                                        <p:tgtEl>
                                          <p:spTgt spid="24"/>
                                        </p:tgtEl>
                                        <p:attrNameLst>
                                          <p:attrName>ppt_y</p:attrName>
                                        </p:attrNameLst>
                                      </p:cBhvr>
                                      <p:tavLst>
                                        <p:tav tm="0">
                                          <p:val>
                                            <p:strVal val="#ppt_y+0.1"/>
                                          </p:val>
                                        </p:tav>
                                        <p:tav tm="100000">
                                          <p:val>
                                            <p:strVal val="#ppt_y"/>
                                          </p:val>
                                        </p:tav>
                                      </p:tavLst>
                                    </p:anim>
                                    <p:animEffect transition="in" filter="fade">
                                      <p:cBhvr>
                                        <p:cTn id="77" dur="500"/>
                                        <p:tgtEl>
                                          <p:spTgt spid="24"/>
                                        </p:tgtEl>
                                      </p:cBhvr>
                                    </p:animEffect>
                                  </p:childTnLst>
                                </p:cTn>
                              </p:par>
                              <p:par>
                                <p:cTn id="83" presetID="2" presetClass="entr" presetSubtype="4"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anim calcmode="lin" valueType="num">
                                      <p:cBhvr additive="base">
                                        <p:cTn id="80" dur="500" fill="hold"/>
                                        <p:tgtEl>
                                          <p:spTgt spid="25"/>
                                        </p:tgtEl>
                                        <p:attrNameLst>
                                          <p:attrName>ppt_x</p:attrName>
                                        </p:attrNameLst>
                                      </p:cBhvr>
                                      <p:tavLst>
                                        <p:tav tm="0">
                                          <p:val>
                                            <p:strVal val="#ppt_x"/>
                                          </p:val>
                                        </p:tav>
                                        <p:tav tm="100000">
                                          <p:val>
                                            <p:strVal val="#ppt_x"/>
                                          </p:val>
                                        </p:tav>
                                      </p:tavLst>
                                    </p:anim>
                                    <p:anim calcmode="lin" valueType="num">
                                      <p:cBhvr additive="base">
                                        <p:cTn id="81" dur="500" fill="hold"/>
                                        <p:tgtEl>
                                          <p:spTgt spid="25"/>
                                        </p:tgtEl>
                                        <p:attrNameLst>
                                          <p:attrName>ppt_y</p:attrName>
                                        </p:attrNameLst>
                                      </p:cBhvr>
                                      <p:tavLst>
                                        <p:tav tm="0">
                                          <p:val>
                                            <p:strVal val="#ppt_y+0.1"/>
                                          </p:val>
                                        </p:tav>
                                        <p:tav tm="100000">
                                          <p:val>
                                            <p:strVal val="#ppt_y"/>
                                          </p:val>
                                        </p:tav>
                                      </p:tavLst>
                                    </p:anim>
                                    <p:animEffect transition="in" filter="fade">
                                      <p:cBhvr>
                                        <p:cTn id="82" dur="500"/>
                                        <p:tgtEl>
                                          <p:spTgt spid="25"/>
                                        </p:tgtEl>
                                      </p:cBhvr>
                                    </p:animEffect>
                                  </p:childTnLst>
                                </p:cTn>
                              </p:par>
                              <p:par>
                                <p:cTn id="88" presetID="2" presetClass="entr" presetSubtype="4" fill="hold" grpId="0" nodeType="withEffect">
                                  <p:stCondLst>
                                    <p:cond delay="0"/>
                                  </p:stCondLst>
                                  <p:childTnLst>
                                    <p:set>
                                      <p:cBhvr>
                                        <p:cTn id="84" dur="1" fill="hold">
                                          <p:stCondLst>
                                            <p:cond delay="0"/>
                                          </p:stCondLst>
                                        </p:cTn>
                                        <p:tgtEl>
                                          <p:spTgt spid="26"/>
                                        </p:tgtEl>
                                        <p:attrNameLst>
                                          <p:attrName>style.visibility</p:attrName>
                                        </p:attrNameLst>
                                      </p:cBhvr>
                                      <p:to>
                                        <p:strVal val="visible"/>
                                      </p:to>
                                    </p:set>
                                    <p:anim calcmode="lin" valueType="num">
                                      <p:cBhvr additive="base">
                                        <p:cTn id="85" dur="500" fill="hold"/>
                                        <p:tgtEl>
                                          <p:spTgt spid="26"/>
                                        </p:tgtEl>
                                        <p:attrNameLst>
                                          <p:attrName>ppt_x</p:attrName>
                                        </p:attrNameLst>
                                      </p:cBhvr>
                                      <p:tavLst>
                                        <p:tav tm="0">
                                          <p:val>
                                            <p:strVal val="#ppt_x"/>
                                          </p:val>
                                        </p:tav>
                                        <p:tav tm="100000">
                                          <p:val>
                                            <p:strVal val="#ppt_x"/>
                                          </p:val>
                                        </p:tav>
                                      </p:tavLst>
                                    </p:anim>
                                    <p:anim calcmode="lin" valueType="num">
                                      <p:cBhvr additive="base">
                                        <p:cTn id="86" dur="500" fill="hold"/>
                                        <p:tgtEl>
                                          <p:spTgt spid="26"/>
                                        </p:tgtEl>
                                        <p:attrNameLst>
                                          <p:attrName>ppt_y</p:attrName>
                                        </p:attrNameLst>
                                      </p:cBhvr>
                                      <p:tavLst>
                                        <p:tav tm="0">
                                          <p:val>
                                            <p:strVal val="#ppt_y+0.1"/>
                                          </p:val>
                                        </p:tav>
                                        <p:tav tm="100000">
                                          <p:val>
                                            <p:strVal val="#ppt_y"/>
                                          </p:val>
                                        </p:tav>
                                      </p:tavLst>
                                    </p:anim>
                                    <p:animEffect transition="in" filter="fade">
                                      <p:cBhvr>
                                        <p:cTn id="87" dur="500"/>
                                        <p:tgtEl>
                                          <p:spTgt spid="26"/>
                                        </p:tgtEl>
                                      </p:cBhvr>
                                    </p:animEffect>
                                  </p:childTnLst>
                                </p:cTn>
                              </p:par>
                              <p:par>
                                <p:cTn id="93" presetID="2" presetClass="entr" presetSubtype="4" fill="hold" grpId="0" nodeType="withEffect">
                                  <p:stCondLst>
                                    <p:cond delay="150"/>
                                  </p:stCondLst>
                                  <p:childTnLst>
                                    <p:set>
                                      <p:cBhvr>
                                        <p:cTn id="89" dur="1" fill="hold">
                                          <p:stCondLst>
                                            <p:cond delay="0"/>
                                          </p:stCondLst>
                                        </p:cTn>
                                        <p:tgtEl>
                                          <p:spTgt spid="27"/>
                                        </p:tgtEl>
                                        <p:attrNameLst>
                                          <p:attrName>style.visibility</p:attrName>
                                        </p:attrNameLst>
                                      </p:cBhvr>
                                      <p:to>
                                        <p:strVal val="visible"/>
                                      </p:to>
                                    </p:set>
                                    <p:anim calcmode="lin" valueType="num">
                                      <p:cBhvr additive="base">
                                        <p:cTn id="90" dur="500" fill="hold"/>
                                        <p:tgtEl>
                                          <p:spTgt spid="27"/>
                                        </p:tgtEl>
                                        <p:attrNameLst>
                                          <p:attrName>ppt_x</p:attrName>
                                        </p:attrNameLst>
                                      </p:cBhvr>
                                      <p:tavLst>
                                        <p:tav tm="0">
                                          <p:val>
                                            <p:strVal val="#ppt_x"/>
                                          </p:val>
                                        </p:tav>
                                        <p:tav tm="100000">
                                          <p:val>
                                            <p:strVal val="#ppt_x"/>
                                          </p:val>
                                        </p:tav>
                                      </p:tavLst>
                                    </p:anim>
                                    <p:anim calcmode="lin" valueType="num">
                                      <p:cBhvr additive="base">
                                        <p:cTn id="91" dur="500" fill="hold"/>
                                        <p:tgtEl>
                                          <p:spTgt spid="27"/>
                                        </p:tgtEl>
                                        <p:attrNameLst>
                                          <p:attrName>ppt_y</p:attrName>
                                        </p:attrNameLst>
                                      </p:cBhvr>
                                      <p:tavLst>
                                        <p:tav tm="0">
                                          <p:val>
                                            <p:strVal val="#ppt_y+0.1"/>
                                          </p:val>
                                        </p:tav>
                                        <p:tav tm="100000">
                                          <p:val>
                                            <p:strVal val="#ppt_y"/>
                                          </p:val>
                                        </p:tav>
                                      </p:tavLst>
                                    </p:anim>
                                    <p:animEffect transition="in" filter="fade">
                                      <p:cBhvr>
                                        <p:cTn id="92" dur="500"/>
                                        <p:tgtEl>
                                          <p:spTgt spid="27"/>
                                        </p:tgtEl>
                                      </p:cBhvr>
                                    </p:animEffect>
                                  </p:childTnLst>
                                </p:cTn>
                              </p:par>
                              <p:par>
                                <p:cTn id="98" presetID="2" presetClass="entr" presetSubtype="4" fill="hold" grpId="0" nodeType="withEffect">
                                  <p:stCondLst>
                                    <p:cond delay="15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ppt_x"/>
                                          </p:val>
                                        </p:tav>
                                        <p:tav tm="100000">
                                          <p:val>
                                            <p:strVal val="#ppt_x"/>
                                          </p:val>
                                        </p:tav>
                                      </p:tavLst>
                                    </p:anim>
                                    <p:anim calcmode="lin" valueType="num">
                                      <p:cBhvr additive="base">
                                        <p:cTn id="96" dur="500" fill="hold"/>
                                        <p:tgtEl>
                                          <p:spTgt spid="28"/>
                                        </p:tgtEl>
                                        <p:attrNameLst>
                                          <p:attrName>ppt_y</p:attrName>
                                        </p:attrNameLst>
                                      </p:cBhvr>
                                      <p:tavLst>
                                        <p:tav tm="0">
                                          <p:val>
                                            <p:strVal val="#ppt_y+0.1"/>
                                          </p:val>
                                        </p:tav>
                                        <p:tav tm="100000">
                                          <p:val>
                                            <p:strVal val="#ppt_y"/>
                                          </p:val>
                                        </p:tav>
                                      </p:tavLst>
                                    </p:anim>
                                    <p:animEffect transition="in" filter="fade">
                                      <p:cBhvr>
                                        <p:cTn id="97" dur="500"/>
                                        <p:tgtEl>
                                          <p:spTgt spid="28"/>
                                        </p:tgtEl>
                                      </p:cBhvr>
                                    </p:animEffect>
                                  </p:childTnLst>
                                </p:cTn>
                              </p:par>
                              <p:par>
                                <p:cTn id="103" presetID="2" presetClass="entr" presetSubtype="4" fill="hold" grpId="0" nodeType="withEffect">
                                  <p:stCondLst>
                                    <p:cond delay="150"/>
                                  </p:stCondLst>
                                  <p:childTnLst>
                                    <p:set>
                                      <p:cBhvr>
                                        <p:cTn id="99" dur="1" fill="hold">
                                          <p:stCondLst>
                                            <p:cond delay="0"/>
                                          </p:stCondLst>
                                        </p:cTn>
                                        <p:tgtEl>
                                          <p:spTgt spid="29"/>
                                        </p:tgtEl>
                                        <p:attrNameLst>
                                          <p:attrName>style.visibility</p:attrName>
                                        </p:attrNameLst>
                                      </p:cBhvr>
                                      <p:to>
                                        <p:strVal val="visible"/>
                                      </p:to>
                                    </p:set>
                                    <p:anim calcmode="lin" valueType="num">
                                      <p:cBhvr additive="base">
                                        <p:cTn id="100" dur="500" fill="hold"/>
                                        <p:tgtEl>
                                          <p:spTgt spid="29"/>
                                        </p:tgtEl>
                                        <p:attrNameLst>
                                          <p:attrName>ppt_x</p:attrName>
                                        </p:attrNameLst>
                                      </p:cBhvr>
                                      <p:tavLst>
                                        <p:tav tm="0">
                                          <p:val>
                                            <p:strVal val="#ppt_x"/>
                                          </p:val>
                                        </p:tav>
                                        <p:tav tm="100000">
                                          <p:val>
                                            <p:strVal val="#ppt_x"/>
                                          </p:val>
                                        </p:tav>
                                      </p:tavLst>
                                    </p:anim>
                                    <p:anim calcmode="lin" valueType="num">
                                      <p:cBhvr additive="base">
                                        <p:cTn id="101" dur="500" fill="hold"/>
                                        <p:tgtEl>
                                          <p:spTgt spid="29"/>
                                        </p:tgtEl>
                                        <p:attrNameLst>
                                          <p:attrName>ppt_y</p:attrName>
                                        </p:attrNameLst>
                                      </p:cBhvr>
                                      <p:tavLst>
                                        <p:tav tm="0">
                                          <p:val>
                                            <p:strVal val="#ppt_y+0.1"/>
                                          </p:val>
                                        </p:tav>
                                        <p:tav tm="100000">
                                          <p:val>
                                            <p:strVal val="#ppt_y"/>
                                          </p:val>
                                        </p:tav>
                                      </p:tavLst>
                                    </p:anim>
                                    <p:animEffect transition="in" filter="fade">
                                      <p:cBhvr>
                                        <p:cTn id="102" dur="500"/>
                                        <p:tgtEl>
                                          <p:spTgt spid="29"/>
                                        </p:tgtEl>
                                      </p:cBhvr>
                                    </p:animEffect>
                                  </p:childTnLst>
                                </p:cTn>
                              </p:par>
                              <p:par>
                                <p:cTn id="108" presetID="2" presetClass="entr" presetSubtype="4" fill="hold" grpId="0" nodeType="withEffect">
                                  <p:stCondLst>
                                    <p:cond delay="30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ppt_x"/>
                                          </p:val>
                                        </p:tav>
                                        <p:tav tm="100000">
                                          <p:val>
                                            <p:strVal val="#ppt_x"/>
                                          </p:val>
                                        </p:tav>
                                      </p:tavLst>
                                    </p:anim>
                                    <p:anim calcmode="lin" valueType="num">
                                      <p:cBhvr additive="base">
                                        <p:cTn id="106" dur="500" fill="hold"/>
                                        <p:tgtEl>
                                          <p:spTgt spid="30"/>
                                        </p:tgtEl>
                                        <p:attrNameLst>
                                          <p:attrName>ppt_y</p:attrName>
                                        </p:attrNameLst>
                                      </p:cBhvr>
                                      <p:tavLst>
                                        <p:tav tm="0">
                                          <p:val>
                                            <p:strVal val="#ppt_y+0.1"/>
                                          </p:val>
                                        </p:tav>
                                        <p:tav tm="100000">
                                          <p:val>
                                            <p:strVal val="#ppt_y"/>
                                          </p:val>
                                        </p:tav>
                                      </p:tavLst>
                                    </p:anim>
                                    <p:animEffect transition="in" filter="fade">
                                      <p:cBhvr>
                                        <p:cTn id="107" dur="500"/>
                                        <p:tgtEl>
                                          <p:spTgt spid="30"/>
                                        </p:tgtEl>
                                      </p:cBhvr>
                                    </p:animEffect>
                                  </p:childTnLst>
                                </p:cTn>
                              </p:par>
                              <p:par>
                                <p:cTn id="113" presetID="2" presetClass="entr" presetSubtype="4" fill="hold" grpId="0" nodeType="withEffect">
                                  <p:stCondLst>
                                    <p:cond delay="30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8" presetID="2" presetClass="entr" presetSubtype="4" fill="hold" grpId="0" nodeType="withEffect">
                                  <p:stCondLst>
                                    <p:cond delay="30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par>
                                <p:cTn id="121" presetID="10" presetClass="entr" presetSubtype="0" fill="hold" grpId="0" nodeType="withEffect">
                                  <p:stCondLst>
                                    <p:cond delay="400"/>
                                  </p:stCondLst>
                                  <p:childTnLst>
                                    <p:set>
                                      <p:cBhvr>
                                        <p:cTn id="119" dur="1" fill="hold">
                                          <p:stCondLst>
                                            <p:cond delay="0"/>
                                          </p:stCondLst>
                                        </p:cTn>
                                        <p:tgtEl>
                                          <p:spTgt spid="33"/>
                                        </p:tgtEl>
                                        <p:attrNameLst>
                                          <p:attrName>style.visibility</p:attrName>
                                        </p:attrNameLst>
                                      </p:cBhvr>
                                      <p:to>
                                        <p:strVal val="visible"/>
                                      </p:to>
                                    </p:set>
                                    <p:animEffect transition="in" filter="fade">
                                      <p:cBhvr>
                                        <p:cTn id="120" dur="500"/>
                                        <p:tgtEl>
                                          <p:spTgt spid="33"/>
                                        </p:tgtEl>
                                      </p:cBhvr>
                                    </p:animEffect>
                                  </p:childTnLst>
                                </p:cTn>
                              </p:par>
                              <p:par>
                                <p:cTn id="124" presetID="10" presetClass="entr" presetSubtype="0" fill="hold" grpId="0" nodeType="withEffect">
                                  <p:stCondLst>
                                    <p:cond delay="400"/>
                                  </p:stCondLst>
                                  <p:childTnLst>
                                    <p:set>
                                      <p:cBhvr>
                                        <p:cTn id="122" dur="1" fill="hold">
                                          <p:stCondLst>
                                            <p:cond delay="0"/>
                                          </p:stCondLst>
                                        </p:cTn>
                                        <p:tgtEl>
                                          <p:spTgt spid="35"/>
                                        </p:tgtEl>
                                        <p:attrNameLst>
                                          <p:attrName>style.visibility</p:attrName>
                                        </p:attrNameLst>
                                      </p:cBhvr>
                                      <p:to>
                                        <p:strVal val="visible"/>
                                      </p:to>
                                    </p:set>
                                    <p:animEffect transition="in" filter="fade">
                                      <p:cBhvr>
                                        <p:cTn id="123" dur="500"/>
                                        <p:tgtEl>
                                          <p:spTgt spid="35"/>
                                        </p:tgtEl>
                                      </p:cBhvr>
                                    </p:animEffect>
                                  </p:childTnLst>
                                </p:cTn>
                              </p:par>
                              <p:par>
                                <p:cTn id="127" presetID="10" presetClass="entr" presetSubtype="0" fill="hold" grpId="0" nodeType="withEffect">
                                  <p:stCondLst>
                                    <p:cond delay="500"/>
                                  </p:stCondLst>
                                  <p:childTnLst>
                                    <p:set>
                                      <p:cBhvr>
                                        <p:cTn id="125" dur="1" fill="hold">
                                          <p:stCondLst>
                                            <p:cond delay="0"/>
                                          </p:stCondLst>
                                        </p:cTn>
                                        <p:tgtEl>
                                          <p:spTgt spid="34"/>
                                        </p:tgtEl>
                                        <p:attrNameLst>
                                          <p:attrName>style.visibility</p:attrName>
                                        </p:attrNameLst>
                                      </p:cBhvr>
                                      <p:to>
                                        <p:strVal val="visible"/>
                                      </p:to>
                                    </p:set>
                                    <p:animEffect transition="in" filter="fade">
                                      <p:cBhvr>
                                        <p:cTn id="126" dur="500"/>
                                        <p:tgtEl>
                                          <p:spTgt spid="34"/>
                                        </p:tgtEl>
                                      </p:cBhvr>
                                    </p:animEffect>
                                  </p:childTnLst>
                                </p:cTn>
                              </p:par>
                              <p:par>
                                <p:cTn id="130" presetID="10" presetClass="entr" presetSubtype="0" fill="hold" grpId="0" nodeType="withEffect">
                                  <p:stCondLst>
                                    <p:cond delay="600"/>
                                  </p:stCondLst>
                                  <p:childTnLst>
                                    <p:set>
                                      <p:cBhvr>
                                        <p:cTn id="128" dur="1" fill="hold">
                                          <p:stCondLst>
                                            <p:cond delay="0"/>
                                          </p:stCondLst>
                                        </p:cTn>
                                        <p:tgtEl>
                                          <p:spTgt spid="36"/>
                                        </p:tgtEl>
                                        <p:attrNameLst>
                                          <p:attrName>style.visibility</p:attrName>
                                        </p:attrNameLst>
                                      </p:cBhvr>
                                      <p:to>
                                        <p:strVal val="visible"/>
                                      </p:to>
                                    </p:set>
                                    <p:animEffect transition="in" filter="fade">
                                      <p:cBhvr>
                                        <p:cTn id="129" dur="500"/>
                                        <p:tgtEl>
                                          <p:spTgt spid="36"/>
                                        </p:tgtEl>
                                      </p:cBhvr>
                                    </p:animEffect>
                                  </p:childTnLst>
                                </p:cTn>
                              </p:par>
                              <p:par>
                                <p:cTn id="133" presetID="10" presetClass="entr" presetSubtype="0" fill="hold" grpId="0" nodeType="withEffect">
                                  <p:stCondLst>
                                    <p:cond delay="700"/>
                                  </p:stCondLst>
                                  <p:childTnLst>
                                    <p:set>
                                      <p:cBhvr>
                                        <p:cTn id="131" dur="1" fill="hold">
                                          <p:stCondLst>
                                            <p:cond delay="0"/>
                                          </p:stCondLst>
                                        </p:cTn>
                                        <p:tgtEl>
                                          <p:spTgt spid="37"/>
                                        </p:tgtEl>
                                        <p:attrNameLst>
                                          <p:attrName>style.visibility</p:attrName>
                                        </p:attrNameLst>
                                      </p:cBhvr>
                                      <p:to>
                                        <p:strVal val="visible"/>
                                      </p:to>
                                    </p:set>
                                    <p:animEffect transition="in" filter="fade">
                                      <p:cBhvr>
                                        <p:cTn id="132" dur="500"/>
                                        <p:tgtEl>
                                          <p:spTgt spid="37"/>
                                        </p:tgtEl>
                                      </p:cBhvr>
                                    </p:animEffect>
                                  </p:childTnLst>
                                </p:cTn>
                              </p:par>
                              <p:par>
                                <p:cTn id="136" presetID="10" presetClass="entr" presetSubtype="0" fill="hold" grpId="0" nodeType="withEffect">
                                  <p:stCondLst>
                                    <p:cond delay="800"/>
                                  </p:stCondLst>
                                  <p:childTnLst>
                                    <p:set>
                                      <p:cBhvr>
                                        <p:cTn id="134" dur="1" fill="hold">
                                          <p:stCondLst>
                                            <p:cond delay="0"/>
                                          </p:stCondLst>
                                        </p:cTn>
                                        <p:tgtEl>
                                          <p:spTgt spid="38"/>
                                        </p:tgtEl>
                                        <p:attrNameLst>
                                          <p:attrName>style.visibility</p:attrName>
                                        </p:attrNameLst>
                                      </p:cBhvr>
                                      <p:to>
                                        <p:strVal val="visible"/>
                                      </p:to>
                                    </p:set>
                                    <p:animEffect transition="in" filter="fade">
                                      <p:cBhvr>
                                        <p:cTn id="135" dur="500"/>
                                        <p:tgtEl>
                                          <p:spTgt spid="38"/>
                                        </p:tgtEl>
                                      </p:cBhvr>
                                    </p:animEffect>
                                  </p:childTnLst>
                                </p:cTn>
                              </p:par>
                            </p:childTnLst>
                          </p:cTn>
                        </p:par>
                      </p:childTnLst>
                    </p:cTn>
                  </p:par>
                  <p:par>
                    <p:cTn id="137" fill="hold">
                      <p:stCondLst>
                        <p:cond delay="indefinite"/>
                      </p:stCondLst>
                      <p:childTnLst>
                        <p:par>
                          <p:cTn id="138" fill="hold">
                            <p:stCondLst>
                              <p:cond delay="0"/>
                            </p:stCondLst>
                            <p:childTnLst>
                              <p:par>
                                <p:cTn id="143" presetID="2" presetClass="entr" presetSubtype="4" fill="hold" grpId="0" nodeType="clickEffect">
                                  <p:stCondLst>
                                    <p:cond delay="0"/>
                                  </p:stCondLst>
                                  <p:childTnLst>
                                    <p:set>
                                      <p:cBhvr>
                                        <p:cTn id="139" dur="1" fill="hold">
                                          <p:stCondLst>
                                            <p:cond delay="0"/>
                                          </p:stCondLst>
                                        </p:cTn>
                                        <p:tgtEl>
                                          <p:spTgt spid="39"/>
                                        </p:tgtEl>
                                        <p:attrNameLst>
                                          <p:attrName>style.visibility</p:attrName>
                                        </p:attrNameLst>
                                      </p:cBhvr>
                                      <p:to>
                                        <p:strVal val="visible"/>
                                      </p:to>
                                    </p:set>
                                    <p:anim calcmode="lin" valueType="num">
                                      <p:cBhvr additive="base">
                                        <p:cTn id="140" dur="500" fill="hold"/>
                                        <p:tgtEl>
                                          <p:spTgt spid="39"/>
                                        </p:tgtEl>
                                        <p:attrNameLst>
                                          <p:attrName>ppt_x</p:attrName>
                                        </p:attrNameLst>
                                      </p:cBhvr>
                                      <p:tavLst>
                                        <p:tav tm="0">
                                          <p:val>
                                            <p:strVal val="#ppt_x"/>
                                          </p:val>
                                        </p:tav>
                                        <p:tav tm="100000">
                                          <p:val>
                                            <p:strVal val="#ppt_x"/>
                                          </p:val>
                                        </p:tav>
                                      </p:tavLst>
                                    </p:anim>
                                    <p:anim calcmode="lin" valueType="num">
                                      <p:cBhvr additive="base">
                                        <p:cTn id="141" dur="500" fill="hold"/>
                                        <p:tgtEl>
                                          <p:spTgt spid="39"/>
                                        </p:tgtEl>
                                        <p:attrNameLst>
                                          <p:attrName>ppt_y</p:attrName>
                                        </p:attrNameLst>
                                      </p:cBhvr>
                                      <p:tavLst>
                                        <p:tav tm="0">
                                          <p:val>
                                            <p:strVal val="#ppt_y+0.1"/>
                                          </p:val>
                                        </p:tav>
                                        <p:tav tm="100000">
                                          <p:val>
                                            <p:strVal val="#ppt_y"/>
                                          </p:val>
                                        </p:tav>
                                      </p:tavLst>
                                    </p:anim>
                                    <p:animEffect transition="in" filter="fade">
                                      <p:cBhvr>
                                        <p:cTn id="142" dur="500"/>
                                        <p:tgtEl>
                                          <p:spTgt spid="39"/>
                                        </p:tgtEl>
                                      </p:cBhvr>
                                    </p:animEffect>
                                  </p:childTnLst>
                                </p:cTn>
                              </p:par>
                              <p:par>
                                <p:cTn id="148" presetID="2" presetClass="entr" presetSubtype="4" fill="hold" grpId="0" nodeType="withEffect">
                                  <p:stCondLst>
                                    <p:cond delay="0"/>
                                  </p:stCondLst>
                                  <p:childTnLst>
                                    <p:set>
                                      <p:cBhvr>
                                        <p:cTn id="144" dur="1" fill="hold">
                                          <p:stCondLst>
                                            <p:cond delay="0"/>
                                          </p:stCondLst>
                                        </p:cTn>
                                        <p:tgtEl>
                                          <p:spTgt spid="40"/>
                                        </p:tgtEl>
                                        <p:attrNameLst>
                                          <p:attrName>style.visibility</p:attrName>
                                        </p:attrNameLst>
                                      </p:cBhvr>
                                      <p:to>
                                        <p:strVal val="visible"/>
                                      </p:to>
                                    </p:set>
                                    <p:anim calcmode="lin" valueType="num">
                                      <p:cBhvr additive="base">
                                        <p:cTn id="145" dur="500" fill="hold"/>
                                        <p:tgtEl>
                                          <p:spTgt spid="40"/>
                                        </p:tgtEl>
                                        <p:attrNameLst>
                                          <p:attrName>ppt_x</p:attrName>
                                        </p:attrNameLst>
                                      </p:cBhvr>
                                      <p:tavLst>
                                        <p:tav tm="0">
                                          <p:val>
                                            <p:strVal val="#ppt_x"/>
                                          </p:val>
                                        </p:tav>
                                        <p:tav tm="100000">
                                          <p:val>
                                            <p:strVal val="#ppt_x"/>
                                          </p:val>
                                        </p:tav>
                                      </p:tavLst>
                                    </p:anim>
                                    <p:anim calcmode="lin" valueType="num">
                                      <p:cBhvr additive="base">
                                        <p:cTn id="146" dur="500" fill="hold"/>
                                        <p:tgtEl>
                                          <p:spTgt spid="40"/>
                                        </p:tgtEl>
                                        <p:attrNameLst>
                                          <p:attrName>ppt_y</p:attrName>
                                        </p:attrNameLst>
                                      </p:cBhvr>
                                      <p:tavLst>
                                        <p:tav tm="0">
                                          <p:val>
                                            <p:strVal val="#ppt_y+0.1"/>
                                          </p:val>
                                        </p:tav>
                                        <p:tav tm="100000">
                                          <p:val>
                                            <p:strVal val="#ppt_y"/>
                                          </p:val>
                                        </p:tav>
                                      </p:tavLst>
                                    </p:anim>
                                    <p:animEffect transition="in" filter="fade">
                                      <p:cBhvr>
                                        <p:cTn id="147" dur="500"/>
                                        <p:tgtEl>
                                          <p:spTgt spid="40"/>
                                        </p:tgtEl>
                                      </p:cBhvr>
                                    </p:animEffect>
                                  </p:childTnLst>
                                </p:cTn>
                              </p:par>
                              <p:par>
                                <p:cTn id="153" presetID="2" presetClass="entr" presetSubtype="4" fill="hold" grpId="0" nodeType="withEffect">
                                  <p:stCondLst>
                                    <p:cond delay="0"/>
                                  </p:stCondLst>
                                  <p:childTnLst>
                                    <p:set>
                                      <p:cBhvr>
                                        <p:cTn id="149" dur="1" fill="hold">
                                          <p:stCondLst>
                                            <p:cond delay="0"/>
                                          </p:stCondLst>
                                        </p:cTn>
                                        <p:tgtEl>
                                          <p:spTgt spid="41"/>
                                        </p:tgtEl>
                                        <p:attrNameLst>
                                          <p:attrName>style.visibility</p:attrName>
                                        </p:attrNameLst>
                                      </p:cBhvr>
                                      <p:to>
                                        <p:strVal val="visible"/>
                                      </p:to>
                                    </p:set>
                                    <p:anim calcmode="lin" valueType="num">
                                      <p:cBhvr additive="base">
                                        <p:cTn id="150" dur="500" fill="hold"/>
                                        <p:tgtEl>
                                          <p:spTgt spid="41"/>
                                        </p:tgtEl>
                                        <p:attrNameLst>
                                          <p:attrName>ppt_x</p:attrName>
                                        </p:attrNameLst>
                                      </p:cBhvr>
                                      <p:tavLst>
                                        <p:tav tm="0">
                                          <p:val>
                                            <p:strVal val="#ppt_x"/>
                                          </p:val>
                                        </p:tav>
                                        <p:tav tm="100000">
                                          <p:val>
                                            <p:strVal val="#ppt_x"/>
                                          </p:val>
                                        </p:tav>
                                      </p:tavLst>
                                    </p:anim>
                                    <p:anim calcmode="lin" valueType="num">
                                      <p:cBhvr additive="base">
                                        <p:cTn id="151" dur="500" fill="hold"/>
                                        <p:tgtEl>
                                          <p:spTgt spid="41"/>
                                        </p:tgtEl>
                                        <p:attrNameLst>
                                          <p:attrName>ppt_y</p:attrName>
                                        </p:attrNameLst>
                                      </p:cBhvr>
                                      <p:tavLst>
                                        <p:tav tm="0">
                                          <p:val>
                                            <p:strVal val="#ppt_y+0.1"/>
                                          </p:val>
                                        </p:tav>
                                        <p:tav tm="100000">
                                          <p:val>
                                            <p:strVal val="#ppt_y"/>
                                          </p:val>
                                        </p:tav>
                                      </p:tavLst>
                                    </p:anim>
                                    <p:animEffect transition="in" filter="fade">
                                      <p:cBhvr>
                                        <p:cTn id="15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Layers of an Application</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However it is deployed, every application has the same layers</a:t>
            </a:r>
          </a:p>
        </p:txBody>
      </p:sp>
      <p:sp>
        <p:nvSpPr>
          <p:cNvPr id="11" name="a1u_ly10"/>
          <p:cNvSpPr/>
          <p:nvPr/>
        </p:nvSpPr>
        <p:spPr>
          <a:xfrm>
            <a:off x="457200" y="1280160"/>
            <a:ext cx="3017520" cy="658368"/>
          </a:xfrm>
          <a:prstGeom prst="roundRect">
            <a:avLst>
              <a:gd name="adj" fmla="val 11111"/>
            </a:avLst>
          </a:prstGeom>
          <a:solidFill>
            <a:srgbClr val="FFEDD5"/>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lyt11"/>
          <p:cNvSpPr txBox="1"/>
          <p:nvPr/>
        </p:nvSpPr>
        <p:spPr>
          <a:xfrm>
            <a:off x="530352" y="1280160"/>
            <a:ext cx="2871215" cy="658368"/>
          </a:xfrm>
          <a:prstGeom prst="rect">
            <a:avLst/>
          </a:prstGeom>
          <a:noFill/>
        </p:spPr>
        <p:txBody>
          <a:bodyPr wrap="square" lIns="0" tIns="0" rIns="0" bIns="0" anchor="ctr">
            <a:spAutoFit/>
          </a:bodyPr>
          <a:lstStyle/>
          <a:p>
            <a:pPr algn="ctr"/>
            <a:r>
              <a:rPr sz="950" b="1">
                <a:solidFill>
                  <a:srgbClr val="EA580C"/>
                </a:solidFill>
                <a:latin typeface="Segoe UI"/>
              </a:rPr>
              <a:t>1  User interface layer</a:t>
            </a:r>
          </a:p>
        </p:txBody>
      </p:sp>
      <p:sp>
        <p:nvSpPr>
          <p:cNvPr id="13" name="a1ud150_ly12"/>
          <p:cNvSpPr/>
          <p:nvPr/>
        </p:nvSpPr>
        <p:spPr>
          <a:xfrm>
            <a:off x="457200" y="2029968"/>
            <a:ext cx="3017520" cy="658368"/>
          </a:xfrm>
          <a:prstGeom prst="roundRect">
            <a:avLst>
              <a:gd name="adj" fmla="val 11111"/>
            </a:avLst>
          </a:prstGeom>
          <a:solidFill>
            <a:srgbClr val="D9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150_lyt13"/>
          <p:cNvSpPr txBox="1"/>
          <p:nvPr/>
        </p:nvSpPr>
        <p:spPr>
          <a:xfrm>
            <a:off x="530352" y="2029968"/>
            <a:ext cx="2871215" cy="658368"/>
          </a:xfrm>
          <a:prstGeom prst="rect">
            <a:avLst/>
          </a:prstGeom>
          <a:noFill/>
        </p:spPr>
        <p:txBody>
          <a:bodyPr wrap="square" lIns="0" tIns="0" rIns="0" bIns="0" anchor="ctr">
            <a:spAutoFit/>
          </a:bodyPr>
          <a:lstStyle/>
          <a:p>
            <a:pPr algn="ctr"/>
            <a:r>
              <a:rPr sz="950" b="1">
                <a:solidFill>
                  <a:srgbClr val="0E7490"/>
                </a:solidFill>
                <a:latin typeface="Segoe UI"/>
              </a:rPr>
              <a:t>2  Application business layer</a:t>
            </a:r>
          </a:p>
        </p:txBody>
      </p:sp>
      <p:sp>
        <p:nvSpPr>
          <p:cNvPr id="15" name="a1ud300_ly14"/>
          <p:cNvSpPr/>
          <p:nvPr/>
        </p:nvSpPr>
        <p:spPr>
          <a:xfrm>
            <a:off x="457200" y="2779776"/>
            <a:ext cx="1920240" cy="658368"/>
          </a:xfrm>
          <a:prstGeom prst="roundRect">
            <a:avLst>
              <a:gd name="adj" fmla="val 11111"/>
            </a:avLst>
          </a:prstGeom>
          <a:solidFill>
            <a:srgbClr val="FEF9C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300_lyt15"/>
          <p:cNvSpPr txBox="1"/>
          <p:nvPr/>
        </p:nvSpPr>
        <p:spPr>
          <a:xfrm>
            <a:off x="530352" y="2779776"/>
            <a:ext cx="1773936" cy="658368"/>
          </a:xfrm>
          <a:prstGeom prst="rect">
            <a:avLst/>
          </a:prstGeom>
          <a:noFill/>
        </p:spPr>
        <p:txBody>
          <a:bodyPr wrap="square" lIns="0" tIns="0" rIns="0" bIns="0" anchor="ctr">
            <a:spAutoFit/>
          </a:bodyPr>
          <a:lstStyle/>
          <a:p>
            <a:pPr algn="ctr"/>
            <a:r>
              <a:rPr sz="950" b="1">
                <a:solidFill>
                  <a:srgbClr val="A16207"/>
                </a:solidFill>
                <a:latin typeface="Segoe UI"/>
              </a:rPr>
              <a:t>3  Data / repository layer</a:t>
            </a:r>
          </a:p>
        </p:txBody>
      </p:sp>
      <p:sp>
        <p:nvSpPr>
          <p:cNvPr id="17" name="a1ud450_ly16"/>
          <p:cNvSpPr/>
          <p:nvPr/>
        </p:nvSpPr>
        <p:spPr>
          <a:xfrm>
            <a:off x="2468880" y="2779776"/>
            <a:ext cx="1005840" cy="658368"/>
          </a:xfrm>
          <a:prstGeom prst="roundRect">
            <a:avLst>
              <a:gd name="adj" fmla="val 11111"/>
            </a:avLst>
          </a:prstGeom>
          <a:solidFill>
            <a:srgbClr val="E0E7FF"/>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d450_lyt17"/>
          <p:cNvSpPr txBox="1"/>
          <p:nvPr/>
        </p:nvSpPr>
        <p:spPr>
          <a:xfrm>
            <a:off x="2542032" y="2779776"/>
            <a:ext cx="859536" cy="658368"/>
          </a:xfrm>
          <a:prstGeom prst="rect">
            <a:avLst/>
          </a:prstGeom>
          <a:noFill/>
        </p:spPr>
        <p:txBody>
          <a:bodyPr wrap="square" lIns="0" tIns="0" rIns="0" bIns="0" anchor="ctr">
            <a:spAutoFit/>
          </a:bodyPr>
          <a:lstStyle/>
          <a:p>
            <a:pPr algn="ctr"/>
            <a:r>
              <a:rPr sz="950" b="1">
                <a:solidFill>
                  <a:srgbClr val="4F46E5"/>
                </a:solidFill>
                <a:latin typeface="Segoe UI"/>
              </a:rPr>
              <a:t>3.1  Integration</a:t>
            </a:r>
          </a:p>
        </p:txBody>
      </p:sp>
      <p:sp>
        <p:nvSpPr>
          <p:cNvPr id="19" name="a2f_th18"/>
          <p:cNvSpPr/>
          <p:nvPr/>
        </p:nvSpPr>
        <p:spPr>
          <a:xfrm>
            <a:off x="3749039" y="1280160"/>
            <a:ext cx="1417320" cy="457200"/>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f_tht19"/>
          <p:cNvSpPr txBox="1"/>
          <p:nvPr/>
        </p:nvSpPr>
        <p:spPr>
          <a:xfrm>
            <a:off x="3822191" y="1280160"/>
            <a:ext cx="1307592" cy="457200"/>
          </a:xfrm>
          <a:prstGeom prst="rect">
            <a:avLst/>
          </a:prstGeom>
          <a:noFill/>
        </p:spPr>
        <p:txBody>
          <a:bodyPr wrap="square" lIns="0" tIns="0" rIns="0" bIns="0" anchor="ctr">
            <a:spAutoFit/>
          </a:bodyPr>
          <a:lstStyle/>
          <a:p>
            <a:pPr algn="l"/>
            <a:r>
              <a:rPr sz="850" b="1">
                <a:solidFill>
                  <a:srgbClr val="FFFFFF"/>
                </a:solidFill>
                <a:latin typeface="Segoe UI"/>
              </a:rPr>
              <a:t>Layer</a:t>
            </a:r>
          </a:p>
        </p:txBody>
      </p:sp>
      <p:sp>
        <p:nvSpPr>
          <p:cNvPr id="21" name="a2wd120_td20"/>
          <p:cNvSpPr/>
          <p:nvPr/>
        </p:nvSpPr>
        <p:spPr>
          <a:xfrm>
            <a:off x="3749039" y="1737360"/>
            <a:ext cx="1417320" cy="457200"/>
          </a:xfrm>
          <a:prstGeom prst="rect">
            <a:avLst/>
          </a:prstGeom>
          <a:solidFill>
            <a:srgbClr val="FFEDD5"/>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wd120_tdt21"/>
          <p:cNvSpPr txBox="1"/>
          <p:nvPr/>
        </p:nvSpPr>
        <p:spPr>
          <a:xfrm>
            <a:off x="3822191" y="1737360"/>
            <a:ext cx="1307592" cy="457200"/>
          </a:xfrm>
          <a:prstGeom prst="rect">
            <a:avLst/>
          </a:prstGeom>
          <a:noFill/>
        </p:spPr>
        <p:txBody>
          <a:bodyPr wrap="square" lIns="0" tIns="0" rIns="0" bIns="0" anchor="ctr">
            <a:spAutoFit/>
          </a:bodyPr>
          <a:lstStyle/>
          <a:p>
            <a:pPr algn="l"/>
            <a:r>
              <a:rPr sz="850" b="0">
                <a:solidFill>
                  <a:srgbClr val="44403C"/>
                </a:solidFill>
                <a:latin typeface="Segoe UI"/>
              </a:rPr>
              <a:t>User interface</a:t>
            </a:r>
          </a:p>
        </p:txBody>
      </p:sp>
      <p:sp>
        <p:nvSpPr>
          <p:cNvPr id="23" name="a2wd240_td22"/>
          <p:cNvSpPr/>
          <p:nvPr/>
        </p:nvSpPr>
        <p:spPr>
          <a:xfrm>
            <a:off x="3749039" y="2194560"/>
            <a:ext cx="1417320" cy="457200"/>
          </a:xfrm>
          <a:prstGeom prst="rect">
            <a:avLst/>
          </a:prstGeom>
          <a:solidFill>
            <a:srgbClr val="D9F2F7"/>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wd240_tdt23"/>
          <p:cNvSpPr txBox="1"/>
          <p:nvPr/>
        </p:nvSpPr>
        <p:spPr>
          <a:xfrm>
            <a:off x="3822191" y="2194560"/>
            <a:ext cx="1307592" cy="457200"/>
          </a:xfrm>
          <a:prstGeom prst="rect">
            <a:avLst/>
          </a:prstGeom>
          <a:noFill/>
        </p:spPr>
        <p:txBody>
          <a:bodyPr wrap="square" lIns="0" tIns="0" rIns="0" bIns="0" anchor="ctr">
            <a:spAutoFit/>
          </a:bodyPr>
          <a:lstStyle/>
          <a:p>
            <a:pPr algn="l"/>
            <a:r>
              <a:rPr sz="850" b="0">
                <a:solidFill>
                  <a:srgbClr val="44403C"/>
                </a:solidFill>
                <a:latin typeface="Segoe UI"/>
              </a:rPr>
              <a:t>Business</a:t>
            </a:r>
          </a:p>
        </p:txBody>
      </p:sp>
      <p:sp>
        <p:nvSpPr>
          <p:cNvPr id="25" name="a2wd360_td24"/>
          <p:cNvSpPr/>
          <p:nvPr/>
        </p:nvSpPr>
        <p:spPr>
          <a:xfrm>
            <a:off x="3749039" y="2651760"/>
            <a:ext cx="1417320" cy="457200"/>
          </a:xfrm>
          <a:prstGeom prst="rect">
            <a:avLst/>
          </a:prstGeom>
          <a:solidFill>
            <a:srgbClr val="FEF9C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wd360_tdt25"/>
          <p:cNvSpPr txBox="1"/>
          <p:nvPr/>
        </p:nvSpPr>
        <p:spPr>
          <a:xfrm>
            <a:off x="3822191" y="2651760"/>
            <a:ext cx="1307592" cy="457200"/>
          </a:xfrm>
          <a:prstGeom prst="rect">
            <a:avLst/>
          </a:prstGeom>
          <a:noFill/>
        </p:spPr>
        <p:txBody>
          <a:bodyPr wrap="square" lIns="0" tIns="0" rIns="0" bIns="0" anchor="ctr">
            <a:spAutoFit/>
          </a:bodyPr>
          <a:lstStyle/>
          <a:p>
            <a:pPr algn="l"/>
            <a:r>
              <a:rPr sz="850" b="0">
                <a:solidFill>
                  <a:srgbClr val="44403C"/>
                </a:solidFill>
                <a:latin typeface="Segoe UI"/>
              </a:rPr>
              <a:t>Data / repository</a:t>
            </a:r>
          </a:p>
        </p:txBody>
      </p:sp>
      <p:sp>
        <p:nvSpPr>
          <p:cNvPr id="27" name="a2wd480_td26"/>
          <p:cNvSpPr/>
          <p:nvPr/>
        </p:nvSpPr>
        <p:spPr>
          <a:xfrm>
            <a:off x="3749039" y="3108960"/>
            <a:ext cx="1417320" cy="457200"/>
          </a:xfrm>
          <a:prstGeom prst="rect">
            <a:avLst/>
          </a:prstGeom>
          <a:solidFill>
            <a:srgbClr val="E0E7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wd480_tdt27"/>
          <p:cNvSpPr txBox="1"/>
          <p:nvPr/>
        </p:nvSpPr>
        <p:spPr>
          <a:xfrm>
            <a:off x="3822191" y="3108960"/>
            <a:ext cx="1307592" cy="457200"/>
          </a:xfrm>
          <a:prstGeom prst="rect">
            <a:avLst/>
          </a:prstGeom>
          <a:noFill/>
        </p:spPr>
        <p:txBody>
          <a:bodyPr wrap="square" lIns="0" tIns="0" rIns="0" bIns="0" anchor="ctr">
            <a:spAutoFit/>
          </a:bodyPr>
          <a:lstStyle/>
          <a:p>
            <a:pPr algn="l"/>
            <a:r>
              <a:rPr sz="850" b="0">
                <a:solidFill>
                  <a:srgbClr val="44403C"/>
                </a:solidFill>
                <a:latin typeface="Segoe UI"/>
              </a:rPr>
              <a:t>Integration</a:t>
            </a:r>
          </a:p>
        </p:txBody>
      </p:sp>
      <p:sp>
        <p:nvSpPr>
          <p:cNvPr id="29" name="a2f_th28"/>
          <p:cNvSpPr/>
          <p:nvPr/>
        </p:nvSpPr>
        <p:spPr>
          <a:xfrm>
            <a:off x="5166359" y="1280160"/>
            <a:ext cx="1828800" cy="457200"/>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f_tht29"/>
          <p:cNvSpPr txBox="1"/>
          <p:nvPr/>
        </p:nvSpPr>
        <p:spPr>
          <a:xfrm>
            <a:off x="5239512" y="1280160"/>
            <a:ext cx="1719072" cy="457200"/>
          </a:xfrm>
          <a:prstGeom prst="rect">
            <a:avLst/>
          </a:prstGeom>
          <a:noFill/>
        </p:spPr>
        <p:txBody>
          <a:bodyPr wrap="square" lIns="0" tIns="0" rIns="0" bIns="0" anchor="ctr">
            <a:spAutoFit/>
          </a:bodyPr>
          <a:lstStyle/>
          <a:p>
            <a:pPr algn="l"/>
            <a:r>
              <a:rPr sz="850" b="1">
                <a:solidFill>
                  <a:srgbClr val="FFFFFF"/>
                </a:solidFill>
                <a:latin typeface="Segoe UI"/>
              </a:rPr>
              <a:t>Its job</a:t>
            </a:r>
          </a:p>
        </p:txBody>
      </p:sp>
      <p:sp>
        <p:nvSpPr>
          <p:cNvPr id="31" name="a2wd120_td30"/>
          <p:cNvSpPr/>
          <p:nvPr/>
        </p:nvSpPr>
        <p:spPr>
          <a:xfrm>
            <a:off x="5166359" y="1737360"/>
            <a:ext cx="1828800" cy="457200"/>
          </a:xfrm>
          <a:prstGeom prst="rect">
            <a:avLst/>
          </a:prstGeom>
          <a:solidFill>
            <a:srgbClr val="FFEDD5"/>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wd120_tdt31"/>
          <p:cNvSpPr txBox="1"/>
          <p:nvPr/>
        </p:nvSpPr>
        <p:spPr>
          <a:xfrm>
            <a:off x="5239512" y="1737360"/>
            <a:ext cx="1719072" cy="457200"/>
          </a:xfrm>
          <a:prstGeom prst="rect">
            <a:avLst/>
          </a:prstGeom>
          <a:noFill/>
        </p:spPr>
        <p:txBody>
          <a:bodyPr wrap="square" lIns="0" tIns="0" rIns="0" bIns="0" anchor="ctr">
            <a:spAutoFit/>
          </a:bodyPr>
          <a:lstStyle/>
          <a:p>
            <a:pPr algn="l"/>
            <a:r>
              <a:rPr sz="850" b="0">
                <a:solidFill>
                  <a:srgbClr val="44403C"/>
                </a:solidFill>
                <a:latin typeface="Segoe UI"/>
              </a:rPr>
              <a:t>What the user sees and touches</a:t>
            </a:r>
          </a:p>
        </p:txBody>
      </p:sp>
      <p:sp>
        <p:nvSpPr>
          <p:cNvPr id="33" name="a2wd240_td32"/>
          <p:cNvSpPr/>
          <p:nvPr/>
        </p:nvSpPr>
        <p:spPr>
          <a:xfrm>
            <a:off x="5166359" y="2194560"/>
            <a:ext cx="1828800" cy="457200"/>
          </a:xfrm>
          <a:prstGeom prst="rect">
            <a:avLst/>
          </a:prstGeom>
          <a:solidFill>
            <a:srgbClr val="D9F2F7"/>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2wd240_tdt33"/>
          <p:cNvSpPr txBox="1"/>
          <p:nvPr/>
        </p:nvSpPr>
        <p:spPr>
          <a:xfrm>
            <a:off x="5239512" y="2194560"/>
            <a:ext cx="1719072" cy="457200"/>
          </a:xfrm>
          <a:prstGeom prst="rect">
            <a:avLst/>
          </a:prstGeom>
          <a:noFill/>
        </p:spPr>
        <p:txBody>
          <a:bodyPr wrap="square" lIns="0" tIns="0" rIns="0" bIns="0" anchor="ctr">
            <a:spAutoFit/>
          </a:bodyPr>
          <a:lstStyle/>
          <a:p>
            <a:pPr algn="l"/>
            <a:r>
              <a:rPr sz="850" b="0">
                <a:solidFill>
                  <a:srgbClr val="44403C"/>
                </a:solidFill>
                <a:latin typeface="Segoe UI"/>
              </a:rPr>
              <a:t>The rules of the business</a:t>
            </a:r>
          </a:p>
        </p:txBody>
      </p:sp>
      <p:sp>
        <p:nvSpPr>
          <p:cNvPr id="35" name="a2wd360_td34"/>
          <p:cNvSpPr/>
          <p:nvPr/>
        </p:nvSpPr>
        <p:spPr>
          <a:xfrm>
            <a:off x="5166359" y="2651760"/>
            <a:ext cx="1828800" cy="457200"/>
          </a:xfrm>
          <a:prstGeom prst="rect">
            <a:avLst/>
          </a:prstGeom>
          <a:solidFill>
            <a:srgbClr val="FEF9C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2wd360_tdt35"/>
          <p:cNvSpPr txBox="1"/>
          <p:nvPr/>
        </p:nvSpPr>
        <p:spPr>
          <a:xfrm>
            <a:off x="5239512" y="2651760"/>
            <a:ext cx="1719072" cy="457200"/>
          </a:xfrm>
          <a:prstGeom prst="rect">
            <a:avLst/>
          </a:prstGeom>
          <a:noFill/>
        </p:spPr>
        <p:txBody>
          <a:bodyPr wrap="square" lIns="0" tIns="0" rIns="0" bIns="0" anchor="ctr">
            <a:spAutoFit/>
          </a:bodyPr>
          <a:lstStyle/>
          <a:p>
            <a:pPr algn="l"/>
            <a:r>
              <a:rPr sz="850" b="0">
                <a:solidFill>
                  <a:srgbClr val="44403C"/>
                </a:solidFill>
                <a:latin typeface="Segoe UI"/>
              </a:rPr>
              <a:t>Reads and writes stored data</a:t>
            </a:r>
          </a:p>
        </p:txBody>
      </p:sp>
      <p:sp>
        <p:nvSpPr>
          <p:cNvPr id="37" name="a2wd480_td36"/>
          <p:cNvSpPr/>
          <p:nvPr/>
        </p:nvSpPr>
        <p:spPr>
          <a:xfrm>
            <a:off x="5166359" y="3108960"/>
            <a:ext cx="1828800" cy="457200"/>
          </a:xfrm>
          <a:prstGeom prst="rect">
            <a:avLst/>
          </a:prstGeom>
          <a:solidFill>
            <a:srgbClr val="E0E7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2wd480_tdt37"/>
          <p:cNvSpPr txBox="1"/>
          <p:nvPr/>
        </p:nvSpPr>
        <p:spPr>
          <a:xfrm>
            <a:off x="5239512" y="3108960"/>
            <a:ext cx="1719072" cy="457200"/>
          </a:xfrm>
          <a:prstGeom prst="rect">
            <a:avLst/>
          </a:prstGeom>
          <a:noFill/>
        </p:spPr>
        <p:txBody>
          <a:bodyPr wrap="square" lIns="0" tIns="0" rIns="0" bIns="0" anchor="ctr">
            <a:spAutoFit/>
          </a:bodyPr>
          <a:lstStyle/>
          <a:p>
            <a:pPr algn="l"/>
            <a:r>
              <a:rPr sz="850" b="0">
                <a:solidFill>
                  <a:srgbClr val="44403C"/>
                </a:solidFill>
                <a:latin typeface="Segoe UI"/>
              </a:rPr>
              <a:t>Talks to OTHER systems</a:t>
            </a:r>
          </a:p>
        </p:txBody>
      </p:sp>
      <p:sp>
        <p:nvSpPr>
          <p:cNvPr id="39" name="a2f_th38"/>
          <p:cNvSpPr/>
          <p:nvPr/>
        </p:nvSpPr>
        <p:spPr>
          <a:xfrm>
            <a:off x="6995159" y="1280160"/>
            <a:ext cx="1691640" cy="457200"/>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2f_tht39"/>
          <p:cNvSpPr txBox="1"/>
          <p:nvPr/>
        </p:nvSpPr>
        <p:spPr>
          <a:xfrm>
            <a:off x="7068312" y="1280160"/>
            <a:ext cx="1581912" cy="457200"/>
          </a:xfrm>
          <a:prstGeom prst="rect">
            <a:avLst/>
          </a:prstGeom>
          <a:noFill/>
        </p:spPr>
        <p:txBody>
          <a:bodyPr wrap="square" lIns="0" tIns="0" rIns="0" bIns="0" anchor="ctr">
            <a:spAutoFit/>
          </a:bodyPr>
          <a:lstStyle/>
          <a:p>
            <a:pPr algn="l"/>
            <a:r>
              <a:rPr sz="850" b="1">
                <a:solidFill>
                  <a:srgbClr val="FFFFFF"/>
                </a:solidFill>
                <a:latin typeface="Segoe UI"/>
              </a:rPr>
              <a:t>Online-shop example</a:t>
            </a:r>
          </a:p>
        </p:txBody>
      </p:sp>
      <p:sp>
        <p:nvSpPr>
          <p:cNvPr id="41" name="a2wd120_td40"/>
          <p:cNvSpPr/>
          <p:nvPr/>
        </p:nvSpPr>
        <p:spPr>
          <a:xfrm>
            <a:off x="6995159" y="1737360"/>
            <a:ext cx="1691640" cy="457200"/>
          </a:xfrm>
          <a:prstGeom prst="rect">
            <a:avLst/>
          </a:prstGeom>
          <a:solidFill>
            <a:srgbClr val="FFEDD5"/>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2wd120_tdt41"/>
          <p:cNvSpPr txBox="1"/>
          <p:nvPr/>
        </p:nvSpPr>
        <p:spPr>
          <a:xfrm>
            <a:off x="7068312" y="1737360"/>
            <a:ext cx="1581912" cy="457200"/>
          </a:xfrm>
          <a:prstGeom prst="rect">
            <a:avLst/>
          </a:prstGeom>
          <a:noFill/>
        </p:spPr>
        <p:txBody>
          <a:bodyPr wrap="square" lIns="0" tIns="0" rIns="0" bIns="0" anchor="ctr">
            <a:spAutoFit/>
          </a:bodyPr>
          <a:lstStyle/>
          <a:p>
            <a:pPr algn="l"/>
            <a:r>
              <a:rPr sz="850" b="0">
                <a:solidFill>
                  <a:srgbClr val="44403C"/>
                </a:solidFill>
                <a:latin typeface="Segoe UI"/>
              </a:rPr>
              <a:t>Product page, Buy button</a:t>
            </a:r>
          </a:p>
        </p:txBody>
      </p:sp>
      <p:sp>
        <p:nvSpPr>
          <p:cNvPr id="43" name="a2wd240_td42"/>
          <p:cNvSpPr/>
          <p:nvPr/>
        </p:nvSpPr>
        <p:spPr>
          <a:xfrm>
            <a:off x="6995159" y="2194560"/>
            <a:ext cx="1691640" cy="457200"/>
          </a:xfrm>
          <a:prstGeom prst="rect">
            <a:avLst/>
          </a:prstGeom>
          <a:solidFill>
            <a:srgbClr val="D9F2F7"/>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2wd240_tdt43"/>
          <p:cNvSpPr txBox="1"/>
          <p:nvPr/>
        </p:nvSpPr>
        <p:spPr>
          <a:xfrm>
            <a:off x="7068312" y="2194560"/>
            <a:ext cx="1581912" cy="457200"/>
          </a:xfrm>
          <a:prstGeom prst="rect">
            <a:avLst/>
          </a:prstGeom>
          <a:noFill/>
        </p:spPr>
        <p:txBody>
          <a:bodyPr wrap="square" lIns="0" tIns="0" rIns="0" bIns="0" anchor="ctr">
            <a:spAutoFit/>
          </a:bodyPr>
          <a:lstStyle/>
          <a:p>
            <a:pPr algn="l"/>
            <a:r>
              <a:rPr sz="850" b="0">
                <a:solidFill>
                  <a:srgbClr val="44403C"/>
                </a:solidFill>
                <a:latin typeface="Segoe UI"/>
              </a:rPr>
              <a:t>Apply discount, check stock</a:t>
            </a:r>
          </a:p>
        </p:txBody>
      </p:sp>
      <p:sp>
        <p:nvSpPr>
          <p:cNvPr id="45" name="a2wd360_td44"/>
          <p:cNvSpPr/>
          <p:nvPr/>
        </p:nvSpPr>
        <p:spPr>
          <a:xfrm>
            <a:off x="6995159" y="2651760"/>
            <a:ext cx="1691640" cy="457200"/>
          </a:xfrm>
          <a:prstGeom prst="rect">
            <a:avLst/>
          </a:prstGeom>
          <a:solidFill>
            <a:srgbClr val="FEF9C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2wd360_tdt45"/>
          <p:cNvSpPr txBox="1"/>
          <p:nvPr/>
        </p:nvSpPr>
        <p:spPr>
          <a:xfrm>
            <a:off x="7068312" y="2651760"/>
            <a:ext cx="1581912" cy="457200"/>
          </a:xfrm>
          <a:prstGeom prst="rect">
            <a:avLst/>
          </a:prstGeom>
          <a:noFill/>
        </p:spPr>
        <p:txBody>
          <a:bodyPr wrap="square" lIns="0" tIns="0" rIns="0" bIns="0" anchor="ctr">
            <a:spAutoFit/>
          </a:bodyPr>
          <a:lstStyle/>
          <a:p>
            <a:pPr algn="l"/>
            <a:r>
              <a:rPr sz="850" b="0">
                <a:solidFill>
                  <a:srgbClr val="44403C"/>
                </a:solidFill>
                <a:latin typeface="Segoe UI"/>
              </a:rPr>
              <a:t>SQL queries, repositories</a:t>
            </a:r>
          </a:p>
        </p:txBody>
      </p:sp>
      <p:sp>
        <p:nvSpPr>
          <p:cNvPr id="47" name="a2wd480_td46"/>
          <p:cNvSpPr/>
          <p:nvPr/>
        </p:nvSpPr>
        <p:spPr>
          <a:xfrm>
            <a:off x="6995159" y="3108960"/>
            <a:ext cx="1691640" cy="457200"/>
          </a:xfrm>
          <a:prstGeom prst="rect">
            <a:avLst/>
          </a:prstGeom>
          <a:solidFill>
            <a:srgbClr val="E0E7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2wd480_tdt47"/>
          <p:cNvSpPr txBox="1"/>
          <p:nvPr/>
        </p:nvSpPr>
        <p:spPr>
          <a:xfrm>
            <a:off x="7068312" y="3108960"/>
            <a:ext cx="1581912" cy="457200"/>
          </a:xfrm>
          <a:prstGeom prst="rect">
            <a:avLst/>
          </a:prstGeom>
          <a:noFill/>
        </p:spPr>
        <p:txBody>
          <a:bodyPr wrap="square" lIns="0" tIns="0" rIns="0" bIns="0" anchor="ctr">
            <a:spAutoFit/>
          </a:bodyPr>
          <a:lstStyle/>
          <a:p>
            <a:pPr algn="l"/>
            <a:r>
              <a:rPr sz="850" b="0">
                <a:solidFill>
                  <a:srgbClr val="44403C"/>
                </a:solidFill>
                <a:latin typeface="Segoe UI"/>
              </a:rPr>
              <a:t>REST calls, queues, files</a:t>
            </a:r>
          </a:p>
        </p:txBody>
      </p:sp>
      <p:sp>
        <p:nvSpPr>
          <p:cNvPr id="49" name="a3u_nb48"/>
          <p:cNvSpPr/>
          <p:nvPr/>
        </p:nvSpPr>
        <p:spPr>
          <a:xfrm>
            <a:off x="457200" y="3794760"/>
            <a:ext cx="8229600" cy="548640"/>
          </a:xfrm>
          <a:prstGeom prst="roundRect">
            <a:avLst>
              <a:gd name="adj" fmla="val 13333"/>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3u_nacc49"/>
          <p:cNvSpPr/>
          <p:nvPr/>
        </p:nvSpPr>
        <p:spPr>
          <a:xfrm>
            <a:off x="457200" y="3794760"/>
            <a:ext cx="54864" cy="5486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3u_nt50"/>
          <p:cNvSpPr txBox="1"/>
          <p:nvPr/>
        </p:nvSpPr>
        <p:spPr>
          <a:xfrm>
            <a:off x="658368" y="3794760"/>
            <a:ext cx="7827264" cy="548640"/>
          </a:xfrm>
          <a:prstGeom prst="rect">
            <a:avLst/>
          </a:prstGeom>
          <a:noFill/>
        </p:spPr>
        <p:txBody>
          <a:bodyPr wrap="square" lIns="0" tIns="0" rIns="0" bIns="0" anchor="ctr">
            <a:spAutoFit/>
          </a:bodyPr>
          <a:lstStyle/>
          <a:p>
            <a:pPr algn="l"/>
            <a:r>
              <a:rPr sz="950" b="1">
                <a:solidFill>
                  <a:srgbClr val="4F46E5"/>
                </a:solidFill>
                <a:latin typeface="Segoe UI"/>
              </a:rPr>
              <a:t>3.1  </a:t>
            </a:r>
            <a:r>
              <a:rPr sz="950" b="0">
                <a:solidFill>
                  <a:srgbClr val="44403C"/>
                </a:solidFill>
                <a:latin typeface="Segoe UI"/>
              </a:rPr>
              <a:t>Remember 3.1: the integration layer - moving data to and from other systems - is exactly where Kafka will fit.</a:t>
            </a:r>
          </a:p>
        </p:txBody>
      </p:sp>
      <p:sp>
        <p:nvSpPr>
          <p:cNvPr id="52" name="ft5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05</a:t>
            </a:r>
          </a:p>
        </p:txBody>
      </p:sp>
      <p:sp>
        <p:nvSpPr>
          <p:cNvPr id="53" name="ft5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ft5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55" name="ft5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15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5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3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3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45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45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9" presetID="10"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par>
                                <p:cTn id="55" presetID="10" presetClass="entr" presetSubtype="0" fill="hold" grpId="0"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500"/>
                                        <p:tgtEl>
                                          <p:spTgt spid="29"/>
                                        </p:tgtEl>
                                      </p:cBhvr>
                                    </p:animEffect>
                                  </p:childTnLst>
                                </p:cTn>
                              </p:par>
                              <p:par>
                                <p:cTn id="58" presetID="10" presetClass="entr" presetSubtype="0"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00"/>
                                        <p:tgtEl>
                                          <p:spTgt spid="30"/>
                                        </p:tgtEl>
                                      </p:cBhvr>
                                    </p:animEffect>
                                  </p:childTnLst>
                                </p:cTn>
                              </p:par>
                              <p:par>
                                <p:cTn id="61"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500"/>
                                        <p:tgtEl>
                                          <p:spTgt spid="39"/>
                                        </p:tgtEl>
                                      </p:cBhvr>
                                    </p:animEffect>
                                  </p:childTnLst>
                                </p:cTn>
                              </p:par>
                              <p:par>
                                <p:cTn id="64" presetID="10" presetClass="entr" presetSubtype="0" fill="hold" grpId="0" nodeType="with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500"/>
                                        <p:tgtEl>
                                          <p:spTgt spid="40"/>
                                        </p:tgtEl>
                                      </p:cBhvr>
                                    </p:animEffect>
                                  </p:childTnLst>
                                </p:cTn>
                              </p:par>
                              <p:par>
                                <p:cTn id="67" presetID="22" presetClass="entr" presetSubtype="8" fill="hold" grpId="0" nodeType="withEffect">
                                  <p:stCondLst>
                                    <p:cond delay="120"/>
                                  </p:stCondLst>
                                  <p:childTnLst>
                                    <p:set>
                                      <p:cBhvr>
                                        <p:cTn id="65" dur="1" fill="hold">
                                          <p:stCondLst>
                                            <p:cond delay="0"/>
                                          </p:stCondLst>
                                        </p:cTn>
                                        <p:tgtEl>
                                          <p:spTgt spid="21"/>
                                        </p:tgtEl>
                                        <p:attrNameLst>
                                          <p:attrName>style.visibility</p:attrName>
                                        </p:attrNameLst>
                                      </p:cBhvr>
                                      <p:to>
                                        <p:strVal val="visible"/>
                                      </p:to>
                                    </p:set>
                                    <p:animEffect transition="in" filter="wipe(left)">
                                      <p:cBhvr>
                                        <p:cTn id="66" dur="500"/>
                                        <p:tgtEl>
                                          <p:spTgt spid="21"/>
                                        </p:tgtEl>
                                      </p:cBhvr>
                                    </p:animEffect>
                                  </p:childTnLst>
                                </p:cTn>
                              </p:par>
                              <p:par>
                                <p:cTn id="70" presetID="22" presetClass="entr" presetSubtype="8" fill="hold" grpId="0" nodeType="withEffect">
                                  <p:stCondLst>
                                    <p:cond delay="120"/>
                                  </p:stCondLst>
                                  <p:childTnLst>
                                    <p:set>
                                      <p:cBhvr>
                                        <p:cTn id="68" dur="1" fill="hold">
                                          <p:stCondLst>
                                            <p:cond delay="0"/>
                                          </p:stCondLst>
                                        </p:cTn>
                                        <p:tgtEl>
                                          <p:spTgt spid="22"/>
                                        </p:tgtEl>
                                        <p:attrNameLst>
                                          <p:attrName>style.visibility</p:attrName>
                                        </p:attrNameLst>
                                      </p:cBhvr>
                                      <p:to>
                                        <p:strVal val="visible"/>
                                      </p:to>
                                    </p:set>
                                    <p:animEffect transition="in" filter="wipe(left)">
                                      <p:cBhvr>
                                        <p:cTn id="69" dur="500"/>
                                        <p:tgtEl>
                                          <p:spTgt spid="22"/>
                                        </p:tgtEl>
                                      </p:cBhvr>
                                    </p:animEffect>
                                  </p:childTnLst>
                                </p:cTn>
                              </p:par>
                              <p:par>
                                <p:cTn id="73" presetID="22" presetClass="entr" presetSubtype="8" fill="hold" grpId="0" nodeType="withEffect">
                                  <p:stCondLst>
                                    <p:cond delay="120"/>
                                  </p:stCondLst>
                                  <p:childTnLst>
                                    <p:set>
                                      <p:cBhvr>
                                        <p:cTn id="71" dur="1" fill="hold">
                                          <p:stCondLst>
                                            <p:cond delay="0"/>
                                          </p:stCondLst>
                                        </p:cTn>
                                        <p:tgtEl>
                                          <p:spTgt spid="31"/>
                                        </p:tgtEl>
                                        <p:attrNameLst>
                                          <p:attrName>style.visibility</p:attrName>
                                        </p:attrNameLst>
                                      </p:cBhvr>
                                      <p:to>
                                        <p:strVal val="visible"/>
                                      </p:to>
                                    </p:set>
                                    <p:animEffect transition="in" filter="wipe(left)">
                                      <p:cBhvr>
                                        <p:cTn id="72" dur="500"/>
                                        <p:tgtEl>
                                          <p:spTgt spid="31"/>
                                        </p:tgtEl>
                                      </p:cBhvr>
                                    </p:animEffect>
                                  </p:childTnLst>
                                </p:cTn>
                              </p:par>
                              <p:par>
                                <p:cTn id="76" presetID="22" presetClass="entr" presetSubtype="8" fill="hold" grpId="0" nodeType="withEffect">
                                  <p:stCondLst>
                                    <p:cond delay="120"/>
                                  </p:stCondLst>
                                  <p:childTnLst>
                                    <p:set>
                                      <p:cBhvr>
                                        <p:cTn id="74" dur="1" fill="hold">
                                          <p:stCondLst>
                                            <p:cond delay="0"/>
                                          </p:stCondLst>
                                        </p:cTn>
                                        <p:tgtEl>
                                          <p:spTgt spid="32"/>
                                        </p:tgtEl>
                                        <p:attrNameLst>
                                          <p:attrName>style.visibility</p:attrName>
                                        </p:attrNameLst>
                                      </p:cBhvr>
                                      <p:to>
                                        <p:strVal val="visible"/>
                                      </p:to>
                                    </p:set>
                                    <p:animEffect transition="in" filter="wipe(left)">
                                      <p:cBhvr>
                                        <p:cTn id="75" dur="500"/>
                                        <p:tgtEl>
                                          <p:spTgt spid="32"/>
                                        </p:tgtEl>
                                      </p:cBhvr>
                                    </p:animEffect>
                                  </p:childTnLst>
                                </p:cTn>
                              </p:par>
                              <p:par>
                                <p:cTn id="79" presetID="22" presetClass="entr" presetSubtype="8" fill="hold" grpId="0" nodeType="withEffect">
                                  <p:stCondLst>
                                    <p:cond delay="120"/>
                                  </p:stCondLst>
                                  <p:childTnLst>
                                    <p:set>
                                      <p:cBhvr>
                                        <p:cTn id="77" dur="1" fill="hold">
                                          <p:stCondLst>
                                            <p:cond delay="0"/>
                                          </p:stCondLst>
                                        </p:cTn>
                                        <p:tgtEl>
                                          <p:spTgt spid="41"/>
                                        </p:tgtEl>
                                        <p:attrNameLst>
                                          <p:attrName>style.visibility</p:attrName>
                                        </p:attrNameLst>
                                      </p:cBhvr>
                                      <p:to>
                                        <p:strVal val="visible"/>
                                      </p:to>
                                    </p:set>
                                    <p:animEffect transition="in" filter="wipe(left)">
                                      <p:cBhvr>
                                        <p:cTn id="78" dur="500"/>
                                        <p:tgtEl>
                                          <p:spTgt spid="41"/>
                                        </p:tgtEl>
                                      </p:cBhvr>
                                    </p:animEffect>
                                  </p:childTnLst>
                                </p:cTn>
                              </p:par>
                              <p:par>
                                <p:cTn id="82" presetID="22" presetClass="entr" presetSubtype="8" fill="hold" grpId="0" nodeType="withEffect">
                                  <p:stCondLst>
                                    <p:cond delay="120"/>
                                  </p:stCondLst>
                                  <p:childTnLst>
                                    <p:set>
                                      <p:cBhvr>
                                        <p:cTn id="80" dur="1" fill="hold">
                                          <p:stCondLst>
                                            <p:cond delay="0"/>
                                          </p:stCondLst>
                                        </p:cTn>
                                        <p:tgtEl>
                                          <p:spTgt spid="42"/>
                                        </p:tgtEl>
                                        <p:attrNameLst>
                                          <p:attrName>style.visibility</p:attrName>
                                        </p:attrNameLst>
                                      </p:cBhvr>
                                      <p:to>
                                        <p:strVal val="visible"/>
                                      </p:to>
                                    </p:set>
                                    <p:animEffect transition="in" filter="wipe(left)">
                                      <p:cBhvr>
                                        <p:cTn id="81" dur="500"/>
                                        <p:tgtEl>
                                          <p:spTgt spid="42"/>
                                        </p:tgtEl>
                                      </p:cBhvr>
                                    </p:animEffect>
                                  </p:childTnLst>
                                </p:cTn>
                              </p:par>
                              <p:par>
                                <p:cTn id="85" presetID="22" presetClass="entr" presetSubtype="8" fill="hold" grpId="0" nodeType="withEffect">
                                  <p:stCondLst>
                                    <p:cond delay="240"/>
                                  </p:stCondLst>
                                  <p:childTnLst>
                                    <p:set>
                                      <p:cBhvr>
                                        <p:cTn id="83" dur="1" fill="hold">
                                          <p:stCondLst>
                                            <p:cond delay="0"/>
                                          </p:stCondLst>
                                        </p:cTn>
                                        <p:tgtEl>
                                          <p:spTgt spid="23"/>
                                        </p:tgtEl>
                                        <p:attrNameLst>
                                          <p:attrName>style.visibility</p:attrName>
                                        </p:attrNameLst>
                                      </p:cBhvr>
                                      <p:to>
                                        <p:strVal val="visible"/>
                                      </p:to>
                                    </p:set>
                                    <p:animEffect transition="in" filter="wipe(left)">
                                      <p:cBhvr>
                                        <p:cTn id="84" dur="500"/>
                                        <p:tgtEl>
                                          <p:spTgt spid="23"/>
                                        </p:tgtEl>
                                      </p:cBhvr>
                                    </p:animEffect>
                                  </p:childTnLst>
                                </p:cTn>
                              </p:par>
                              <p:par>
                                <p:cTn id="88" presetID="22" presetClass="entr" presetSubtype="8" fill="hold" grpId="0" nodeType="withEffect">
                                  <p:stCondLst>
                                    <p:cond delay="240"/>
                                  </p:stCondLst>
                                  <p:childTnLst>
                                    <p:set>
                                      <p:cBhvr>
                                        <p:cTn id="86" dur="1" fill="hold">
                                          <p:stCondLst>
                                            <p:cond delay="0"/>
                                          </p:stCondLst>
                                        </p:cTn>
                                        <p:tgtEl>
                                          <p:spTgt spid="24"/>
                                        </p:tgtEl>
                                        <p:attrNameLst>
                                          <p:attrName>style.visibility</p:attrName>
                                        </p:attrNameLst>
                                      </p:cBhvr>
                                      <p:to>
                                        <p:strVal val="visible"/>
                                      </p:to>
                                    </p:set>
                                    <p:animEffect transition="in" filter="wipe(left)">
                                      <p:cBhvr>
                                        <p:cTn id="87" dur="500"/>
                                        <p:tgtEl>
                                          <p:spTgt spid="24"/>
                                        </p:tgtEl>
                                      </p:cBhvr>
                                    </p:animEffect>
                                  </p:childTnLst>
                                </p:cTn>
                              </p:par>
                              <p:par>
                                <p:cTn id="91" presetID="22" presetClass="entr" presetSubtype="8" fill="hold" grpId="0" nodeType="withEffect">
                                  <p:stCondLst>
                                    <p:cond delay="240"/>
                                  </p:stCondLst>
                                  <p:childTnLst>
                                    <p:set>
                                      <p:cBhvr>
                                        <p:cTn id="89" dur="1" fill="hold">
                                          <p:stCondLst>
                                            <p:cond delay="0"/>
                                          </p:stCondLst>
                                        </p:cTn>
                                        <p:tgtEl>
                                          <p:spTgt spid="33"/>
                                        </p:tgtEl>
                                        <p:attrNameLst>
                                          <p:attrName>style.visibility</p:attrName>
                                        </p:attrNameLst>
                                      </p:cBhvr>
                                      <p:to>
                                        <p:strVal val="visible"/>
                                      </p:to>
                                    </p:set>
                                    <p:animEffect transition="in" filter="wipe(left)">
                                      <p:cBhvr>
                                        <p:cTn id="90" dur="500"/>
                                        <p:tgtEl>
                                          <p:spTgt spid="33"/>
                                        </p:tgtEl>
                                      </p:cBhvr>
                                    </p:animEffect>
                                  </p:childTnLst>
                                </p:cTn>
                              </p:par>
                              <p:par>
                                <p:cTn id="94" presetID="22" presetClass="entr" presetSubtype="8" fill="hold" grpId="0" nodeType="withEffect">
                                  <p:stCondLst>
                                    <p:cond delay="240"/>
                                  </p:stCondLst>
                                  <p:childTnLst>
                                    <p:set>
                                      <p:cBhvr>
                                        <p:cTn id="92" dur="1" fill="hold">
                                          <p:stCondLst>
                                            <p:cond delay="0"/>
                                          </p:stCondLst>
                                        </p:cTn>
                                        <p:tgtEl>
                                          <p:spTgt spid="34"/>
                                        </p:tgtEl>
                                        <p:attrNameLst>
                                          <p:attrName>style.visibility</p:attrName>
                                        </p:attrNameLst>
                                      </p:cBhvr>
                                      <p:to>
                                        <p:strVal val="visible"/>
                                      </p:to>
                                    </p:set>
                                    <p:animEffect transition="in" filter="wipe(left)">
                                      <p:cBhvr>
                                        <p:cTn id="93" dur="500"/>
                                        <p:tgtEl>
                                          <p:spTgt spid="34"/>
                                        </p:tgtEl>
                                      </p:cBhvr>
                                    </p:animEffect>
                                  </p:childTnLst>
                                </p:cTn>
                              </p:par>
                              <p:par>
                                <p:cTn id="97" presetID="22" presetClass="entr" presetSubtype="8" fill="hold" grpId="0" nodeType="withEffect">
                                  <p:stCondLst>
                                    <p:cond delay="240"/>
                                  </p:stCondLst>
                                  <p:childTnLst>
                                    <p:set>
                                      <p:cBhvr>
                                        <p:cTn id="95" dur="1" fill="hold">
                                          <p:stCondLst>
                                            <p:cond delay="0"/>
                                          </p:stCondLst>
                                        </p:cTn>
                                        <p:tgtEl>
                                          <p:spTgt spid="43"/>
                                        </p:tgtEl>
                                        <p:attrNameLst>
                                          <p:attrName>style.visibility</p:attrName>
                                        </p:attrNameLst>
                                      </p:cBhvr>
                                      <p:to>
                                        <p:strVal val="visible"/>
                                      </p:to>
                                    </p:set>
                                    <p:animEffect transition="in" filter="wipe(left)">
                                      <p:cBhvr>
                                        <p:cTn id="96" dur="500"/>
                                        <p:tgtEl>
                                          <p:spTgt spid="43"/>
                                        </p:tgtEl>
                                      </p:cBhvr>
                                    </p:animEffect>
                                  </p:childTnLst>
                                </p:cTn>
                              </p:par>
                              <p:par>
                                <p:cTn id="100" presetID="22" presetClass="entr" presetSubtype="8" fill="hold" grpId="0" nodeType="withEffect">
                                  <p:stCondLst>
                                    <p:cond delay="240"/>
                                  </p:stCondLst>
                                  <p:childTnLst>
                                    <p:set>
                                      <p:cBhvr>
                                        <p:cTn id="98" dur="1" fill="hold">
                                          <p:stCondLst>
                                            <p:cond delay="0"/>
                                          </p:stCondLst>
                                        </p:cTn>
                                        <p:tgtEl>
                                          <p:spTgt spid="44"/>
                                        </p:tgtEl>
                                        <p:attrNameLst>
                                          <p:attrName>style.visibility</p:attrName>
                                        </p:attrNameLst>
                                      </p:cBhvr>
                                      <p:to>
                                        <p:strVal val="visible"/>
                                      </p:to>
                                    </p:set>
                                    <p:animEffect transition="in" filter="wipe(left)">
                                      <p:cBhvr>
                                        <p:cTn id="99" dur="500"/>
                                        <p:tgtEl>
                                          <p:spTgt spid="44"/>
                                        </p:tgtEl>
                                      </p:cBhvr>
                                    </p:animEffect>
                                  </p:childTnLst>
                                </p:cTn>
                              </p:par>
                              <p:par>
                                <p:cTn id="103" presetID="22" presetClass="entr" presetSubtype="8" fill="hold" grpId="0" nodeType="withEffect">
                                  <p:stCondLst>
                                    <p:cond delay="360"/>
                                  </p:stCondLst>
                                  <p:childTnLst>
                                    <p:set>
                                      <p:cBhvr>
                                        <p:cTn id="101" dur="1" fill="hold">
                                          <p:stCondLst>
                                            <p:cond delay="0"/>
                                          </p:stCondLst>
                                        </p:cTn>
                                        <p:tgtEl>
                                          <p:spTgt spid="25"/>
                                        </p:tgtEl>
                                        <p:attrNameLst>
                                          <p:attrName>style.visibility</p:attrName>
                                        </p:attrNameLst>
                                      </p:cBhvr>
                                      <p:to>
                                        <p:strVal val="visible"/>
                                      </p:to>
                                    </p:set>
                                    <p:animEffect transition="in" filter="wipe(left)">
                                      <p:cBhvr>
                                        <p:cTn id="102" dur="500"/>
                                        <p:tgtEl>
                                          <p:spTgt spid="25"/>
                                        </p:tgtEl>
                                      </p:cBhvr>
                                    </p:animEffect>
                                  </p:childTnLst>
                                </p:cTn>
                              </p:par>
                              <p:par>
                                <p:cTn id="106" presetID="22" presetClass="entr" presetSubtype="8" fill="hold" grpId="0" nodeType="withEffect">
                                  <p:stCondLst>
                                    <p:cond delay="360"/>
                                  </p:stCondLst>
                                  <p:childTnLst>
                                    <p:set>
                                      <p:cBhvr>
                                        <p:cTn id="104" dur="1" fill="hold">
                                          <p:stCondLst>
                                            <p:cond delay="0"/>
                                          </p:stCondLst>
                                        </p:cTn>
                                        <p:tgtEl>
                                          <p:spTgt spid="26"/>
                                        </p:tgtEl>
                                        <p:attrNameLst>
                                          <p:attrName>style.visibility</p:attrName>
                                        </p:attrNameLst>
                                      </p:cBhvr>
                                      <p:to>
                                        <p:strVal val="visible"/>
                                      </p:to>
                                    </p:set>
                                    <p:animEffect transition="in" filter="wipe(left)">
                                      <p:cBhvr>
                                        <p:cTn id="105" dur="500"/>
                                        <p:tgtEl>
                                          <p:spTgt spid="26"/>
                                        </p:tgtEl>
                                      </p:cBhvr>
                                    </p:animEffect>
                                  </p:childTnLst>
                                </p:cTn>
                              </p:par>
                              <p:par>
                                <p:cTn id="109" presetID="22" presetClass="entr" presetSubtype="8" fill="hold" grpId="0" nodeType="withEffect">
                                  <p:stCondLst>
                                    <p:cond delay="360"/>
                                  </p:stCondLst>
                                  <p:childTnLst>
                                    <p:set>
                                      <p:cBhvr>
                                        <p:cTn id="107" dur="1" fill="hold">
                                          <p:stCondLst>
                                            <p:cond delay="0"/>
                                          </p:stCondLst>
                                        </p:cTn>
                                        <p:tgtEl>
                                          <p:spTgt spid="35"/>
                                        </p:tgtEl>
                                        <p:attrNameLst>
                                          <p:attrName>style.visibility</p:attrName>
                                        </p:attrNameLst>
                                      </p:cBhvr>
                                      <p:to>
                                        <p:strVal val="visible"/>
                                      </p:to>
                                    </p:set>
                                    <p:animEffect transition="in" filter="wipe(left)">
                                      <p:cBhvr>
                                        <p:cTn id="108" dur="500"/>
                                        <p:tgtEl>
                                          <p:spTgt spid="35"/>
                                        </p:tgtEl>
                                      </p:cBhvr>
                                    </p:animEffect>
                                  </p:childTnLst>
                                </p:cTn>
                              </p:par>
                              <p:par>
                                <p:cTn id="112" presetID="22" presetClass="entr" presetSubtype="8" fill="hold" grpId="0" nodeType="withEffect">
                                  <p:stCondLst>
                                    <p:cond delay="360"/>
                                  </p:stCondLst>
                                  <p:childTnLst>
                                    <p:set>
                                      <p:cBhvr>
                                        <p:cTn id="110" dur="1" fill="hold">
                                          <p:stCondLst>
                                            <p:cond delay="0"/>
                                          </p:stCondLst>
                                        </p:cTn>
                                        <p:tgtEl>
                                          <p:spTgt spid="36"/>
                                        </p:tgtEl>
                                        <p:attrNameLst>
                                          <p:attrName>style.visibility</p:attrName>
                                        </p:attrNameLst>
                                      </p:cBhvr>
                                      <p:to>
                                        <p:strVal val="visible"/>
                                      </p:to>
                                    </p:set>
                                    <p:animEffect transition="in" filter="wipe(left)">
                                      <p:cBhvr>
                                        <p:cTn id="111" dur="500"/>
                                        <p:tgtEl>
                                          <p:spTgt spid="36"/>
                                        </p:tgtEl>
                                      </p:cBhvr>
                                    </p:animEffect>
                                  </p:childTnLst>
                                </p:cTn>
                              </p:par>
                              <p:par>
                                <p:cTn id="115" presetID="22" presetClass="entr" presetSubtype="8" fill="hold" grpId="0" nodeType="withEffect">
                                  <p:stCondLst>
                                    <p:cond delay="360"/>
                                  </p:stCondLst>
                                  <p:childTnLst>
                                    <p:set>
                                      <p:cBhvr>
                                        <p:cTn id="113" dur="1" fill="hold">
                                          <p:stCondLst>
                                            <p:cond delay="0"/>
                                          </p:stCondLst>
                                        </p:cTn>
                                        <p:tgtEl>
                                          <p:spTgt spid="45"/>
                                        </p:tgtEl>
                                        <p:attrNameLst>
                                          <p:attrName>style.visibility</p:attrName>
                                        </p:attrNameLst>
                                      </p:cBhvr>
                                      <p:to>
                                        <p:strVal val="visible"/>
                                      </p:to>
                                    </p:set>
                                    <p:animEffect transition="in" filter="wipe(left)">
                                      <p:cBhvr>
                                        <p:cTn id="114" dur="500"/>
                                        <p:tgtEl>
                                          <p:spTgt spid="45"/>
                                        </p:tgtEl>
                                      </p:cBhvr>
                                    </p:animEffect>
                                  </p:childTnLst>
                                </p:cTn>
                              </p:par>
                              <p:par>
                                <p:cTn id="118" presetID="22" presetClass="entr" presetSubtype="8" fill="hold" grpId="0" nodeType="withEffect">
                                  <p:stCondLst>
                                    <p:cond delay="360"/>
                                  </p:stCondLst>
                                  <p:childTnLst>
                                    <p:set>
                                      <p:cBhvr>
                                        <p:cTn id="116" dur="1" fill="hold">
                                          <p:stCondLst>
                                            <p:cond delay="0"/>
                                          </p:stCondLst>
                                        </p:cTn>
                                        <p:tgtEl>
                                          <p:spTgt spid="46"/>
                                        </p:tgtEl>
                                        <p:attrNameLst>
                                          <p:attrName>style.visibility</p:attrName>
                                        </p:attrNameLst>
                                      </p:cBhvr>
                                      <p:to>
                                        <p:strVal val="visible"/>
                                      </p:to>
                                    </p:set>
                                    <p:animEffect transition="in" filter="wipe(left)">
                                      <p:cBhvr>
                                        <p:cTn id="117" dur="500"/>
                                        <p:tgtEl>
                                          <p:spTgt spid="46"/>
                                        </p:tgtEl>
                                      </p:cBhvr>
                                    </p:animEffect>
                                  </p:childTnLst>
                                </p:cTn>
                              </p:par>
                              <p:par>
                                <p:cTn id="121" presetID="22" presetClass="entr" presetSubtype="8" fill="hold" grpId="0" nodeType="withEffect">
                                  <p:stCondLst>
                                    <p:cond delay="480"/>
                                  </p:stCondLst>
                                  <p:childTnLst>
                                    <p:set>
                                      <p:cBhvr>
                                        <p:cTn id="119" dur="1" fill="hold">
                                          <p:stCondLst>
                                            <p:cond delay="0"/>
                                          </p:stCondLst>
                                        </p:cTn>
                                        <p:tgtEl>
                                          <p:spTgt spid="27"/>
                                        </p:tgtEl>
                                        <p:attrNameLst>
                                          <p:attrName>style.visibility</p:attrName>
                                        </p:attrNameLst>
                                      </p:cBhvr>
                                      <p:to>
                                        <p:strVal val="visible"/>
                                      </p:to>
                                    </p:set>
                                    <p:animEffect transition="in" filter="wipe(left)">
                                      <p:cBhvr>
                                        <p:cTn id="120" dur="500"/>
                                        <p:tgtEl>
                                          <p:spTgt spid="27"/>
                                        </p:tgtEl>
                                      </p:cBhvr>
                                    </p:animEffect>
                                  </p:childTnLst>
                                </p:cTn>
                              </p:par>
                              <p:par>
                                <p:cTn id="124" presetID="22" presetClass="entr" presetSubtype="8" fill="hold" grpId="0" nodeType="withEffect">
                                  <p:stCondLst>
                                    <p:cond delay="480"/>
                                  </p:stCondLst>
                                  <p:childTnLst>
                                    <p:set>
                                      <p:cBhvr>
                                        <p:cTn id="122" dur="1" fill="hold">
                                          <p:stCondLst>
                                            <p:cond delay="0"/>
                                          </p:stCondLst>
                                        </p:cTn>
                                        <p:tgtEl>
                                          <p:spTgt spid="28"/>
                                        </p:tgtEl>
                                        <p:attrNameLst>
                                          <p:attrName>style.visibility</p:attrName>
                                        </p:attrNameLst>
                                      </p:cBhvr>
                                      <p:to>
                                        <p:strVal val="visible"/>
                                      </p:to>
                                    </p:set>
                                    <p:animEffect transition="in" filter="wipe(left)">
                                      <p:cBhvr>
                                        <p:cTn id="123" dur="500"/>
                                        <p:tgtEl>
                                          <p:spTgt spid="28"/>
                                        </p:tgtEl>
                                      </p:cBhvr>
                                    </p:animEffect>
                                  </p:childTnLst>
                                </p:cTn>
                              </p:par>
                              <p:par>
                                <p:cTn id="127" presetID="22" presetClass="entr" presetSubtype="8" fill="hold" grpId="0" nodeType="withEffect">
                                  <p:stCondLst>
                                    <p:cond delay="480"/>
                                  </p:stCondLst>
                                  <p:childTnLst>
                                    <p:set>
                                      <p:cBhvr>
                                        <p:cTn id="125" dur="1" fill="hold">
                                          <p:stCondLst>
                                            <p:cond delay="0"/>
                                          </p:stCondLst>
                                        </p:cTn>
                                        <p:tgtEl>
                                          <p:spTgt spid="37"/>
                                        </p:tgtEl>
                                        <p:attrNameLst>
                                          <p:attrName>style.visibility</p:attrName>
                                        </p:attrNameLst>
                                      </p:cBhvr>
                                      <p:to>
                                        <p:strVal val="visible"/>
                                      </p:to>
                                    </p:set>
                                    <p:animEffect transition="in" filter="wipe(left)">
                                      <p:cBhvr>
                                        <p:cTn id="126" dur="500"/>
                                        <p:tgtEl>
                                          <p:spTgt spid="37"/>
                                        </p:tgtEl>
                                      </p:cBhvr>
                                    </p:animEffect>
                                  </p:childTnLst>
                                </p:cTn>
                              </p:par>
                              <p:par>
                                <p:cTn id="130" presetID="22" presetClass="entr" presetSubtype="8" fill="hold" grpId="0" nodeType="withEffect">
                                  <p:stCondLst>
                                    <p:cond delay="480"/>
                                  </p:stCondLst>
                                  <p:childTnLst>
                                    <p:set>
                                      <p:cBhvr>
                                        <p:cTn id="128" dur="1" fill="hold">
                                          <p:stCondLst>
                                            <p:cond delay="0"/>
                                          </p:stCondLst>
                                        </p:cTn>
                                        <p:tgtEl>
                                          <p:spTgt spid="38"/>
                                        </p:tgtEl>
                                        <p:attrNameLst>
                                          <p:attrName>style.visibility</p:attrName>
                                        </p:attrNameLst>
                                      </p:cBhvr>
                                      <p:to>
                                        <p:strVal val="visible"/>
                                      </p:to>
                                    </p:set>
                                    <p:animEffect transition="in" filter="wipe(left)">
                                      <p:cBhvr>
                                        <p:cTn id="129" dur="500"/>
                                        <p:tgtEl>
                                          <p:spTgt spid="38"/>
                                        </p:tgtEl>
                                      </p:cBhvr>
                                    </p:animEffect>
                                  </p:childTnLst>
                                </p:cTn>
                              </p:par>
                              <p:par>
                                <p:cTn id="133" presetID="22" presetClass="entr" presetSubtype="8" fill="hold" grpId="0" nodeType="withEffect">
                                  <p:stCondLst>
                                    <p:cond delay="480"/>
                                  </p:stCondLst>
                                  <p:childTnLst>
                                    <p:set>
                                      <p:cBhvr>
                                        <p:cTn id="131" dur="1" fill="hold">
                                          <p:stCondLst>
                                            <p:cond delay="0"/>
                                          </p:stCondLst>
                                        </p:cTn>
                                        <p:tgtEl>
                                          <p:spTgt spid="47"/>
                                        </p:tgtEl>
                                        <p:attrNameLst>
                                          <p:attrName>style.visibility</p:attrName>
                                        </p:attrNameLst>
                                      </p:cBhvr>
                                      <p:to>
                                        <p:strVal val="visible"/>
                                      </p:to>
                                    </p:set>
                                    <p:animEffect transition="in" filter="wipe(left)">
                                      <p:cBhvr>
                                        <p:cTn id="132" dur="500"/>
                                        <p:tgtEl>
                                          <p:spTgt spid="47"/>
                                        </p:tgtEl>
                                      </p:cBhvr>
                                    </p:animEffect>
                                  </p:childTnLst>
                                </p:cTn>
                              </p:par>
                              <p:par>
                                <p:cTn id="136" presetID="22" presetClass="entr" presetSubtype="8" fill="hold" grpId="0" nodeType="withEffect">
                                  <p:stCondLst>
                                    <p:cond delay="480"/>
                                  </p:stCondLst>
                                  <p:childTnLst>
                                    <p:set>
                                      <p:cBhvr>
                                        <p:cTn id="134" dur="1" fill="hold">
                                          <p:stCondLst>
                                            <p:cond delay="0"/>
                                          </p:stCondLst>
                                        </p:cTn>
                                        <p:tgtEl>
                                          <p:spTgt spid="48"/>
                                        </p:tgtEl>
                                        <p:attrNameLst>
                                          <p:attrName>style.visibility</p:attrName>
                                        </p:attrNameLst>
                                      </p:cBhvr>
                                      <p:to>
                                        <p:strVal val="visible"/>
                                      </p:to>
                                    </p:set>
                                    <p:animEffect transition="in" filter="wipe(left)">
                                      <p:cBhvr>
                                        <p:cTn id="135" dur="500"/>
                                        <p:tgtEl>
                                          <p:spTgt spid="48"/>
                                        </p:tgtEl>
                                      </p:cBhvr>
                                    </p:animEffect>
                                  </p:childTnLst>
                                </p:cTn>
                              </p:par>
                            </p:childTnLst>
                          </p:cTn>
                        </p:par>
                      </p:childTnLst>
                    </p:cTn>
                  </p:par>
                  <p:par>
                    <p:cTn id="137" fill="hold">
                      <p:stCondLst>
                        <p:cond delay="indefinite"/>
                      </p:stCondLst>
                      <p:childTnLst>
                        <p:par>
                          <p:cTn id="138" fill="hold">
                            <p:stCondLst>
                              <p:cond delay="0"/>
                            </p:stCondLst>
                            <p:childTnLst>
                              <p:par>
                                <p:cTn id="143" presetID="2" presetClass="entr" presetSubtype="4" fill="hold" grpId="0" nodeType="clickEffect">
                                  <p:stCondLst>
                                    <p:cond delay="0"/>
                                  </p:stCondLst>
                                  <p:childTnLst>
                                    <p:set>
                                      <p:cBhvr>
                                        <p:cTn id="139" dur="1" fill="hold">
                                          <p:stCondLst>
                                            <p:cond delay="0"/>
                                          </p:stCondLst>
                                        </p:cTn>
                                        <p:tgtEl>
                                          <p:spTgt spid="49"/>
                                        </p:tgtEl>
                                        <p:attrNameLst>
                                          <p:attrName>style.visibility</p:attrName>
                                        </p:attrNameLst>
                                      </p:cBhvr>
                                      <p:to>
                                        <p:strVal val="visible"/>
                                      </p:to>
                                    </p:set>
                                    <p:anim calcmode="lin" valueType="num">
                                      <p:cBhvr additive="base">
                                        <p:cTn id="140" dur="500" fill="hold"/>
                                        <p:tgtEl>
                                          <p:spTgt spid="49"/>
                                        </p:tgtEl>
                                        <p:attrNameLst>
                                          <p:attrName>ppt_x</p:attrName>
                                        </p:attrNameLst>
                                      </p:cBhvr>
                                      <p:tavLst>
                                        <p:tav tm="0">
                                          <p:val>
                                            <p:strVal val="#ppt_x"/>
                                          </p:val>
                                        </p:tav>
                                        <p:tav tm="100000">
                                          <p:val>
                                            <p:strVal val="#ppt_x"/>
                                          </p:val>
                                        </p:tav>
                                      </p:tavLst>
                                    </p:anim>
                                    <p:anim calcmode="lin" valueType="num">
                                      <p:cBhvr additive="base">
                                        <p:cTn id="141" dur="500" fill="hold"/>
                                        <p:tgtEl>
                                          <p:spTgt spid="49"/>
                                        </p:tgtEl>
                                        <p:attrNameLst>
                                          <p:attrName>ppt_y</p:attrName>
                                        </p:attrNameLst>
                                      </p:cBhvr>
                                      <p:tavLst>
                                        <p:tav tm="0">
                                          <p:val>
                                            <p:strVal val="#ppt_y+0.1"/>
                                          </p:val>
                                        </p:tav>
                                        <p:tav tm="100000">
                                          <p:val>
                                            <p:strVal val="#ppt_y"/>
                                          </p:val>
                                        </p:tav>
                                      </p:tavLst>
                                    </p:anim>
                                    <p:animEffect transition="in" filter="fade">
                                      <p:cBhvr>
                                        <p:cTn id="142" dur="500"/>
                                        <p:tgtEl>
                                          <p:spTgt spid="49"/>
                                        </p:tgtEl>
                                      </p:cBhvr>
                                    </p:animEffect>
                                  </p:childTnLst>
                                </p:cTn>
                              </p:par>
                              <p:par>
                                <p:cTn id="148" presetID="2" presetClass="entr" presetSubtype="4" fill="hold" grpId="0" nodeType="withEffect">
                                  <p:stCondLst>
                                    <p:cond delay="0"/>
                                  </p:stCondLst>
                                  <p:childTnLst>
                                    <p:set>
                                      <p:cBhvr>
                                        <p:cTn id="144" dur="1" fill="hold">
                                          <p:stCondLst>
                                            <p:cond delay="0"/>
                                          </p:stCondLst>
                                        </p:cTn>
                                        <p:tgtEl>
                                          <p:spTgt spid="50"/>
                                        </p:tgtEl>
                                        <p:attrNameLst>
                                          <p:attrName>style.visibility</p:attrName>
                                        </p:attrNameLst>
                                      </p:cBhvr>
                                      <p:to>
                                        <p:strVal val="visible"/>
                                      </p:to>
                                    </p:set>
                                    <p:anim calcmode="lin" valueType="num">
                                      <p:cBhvr additive="base">
                                        <p:cTn id="145" dur="500" fill="hold"/>
                                        <p:tgtEl>
                                          <p:spTgt spid="50"/>
                                        </p:tgtEl>
                                        <p:attrNameLst>
                                          <p:attrName>ppt_x</p:attrName>
                                        </p:attrNameLst>
                                      </p:cBhvr>
                                      <p:tavLst>
                                        <p:tav tm="0">
                                          <p:val>
                                            <p:strVal val="#ppt_x"/>
                                          </p:val>
                                        </p:tav>
                                        <p:tav tm="100000">
                                          <p:val>
                                            <p:strVal val="#ppt_x"/>
                                          </p:val>
                                        </p:tav>
                                      </p:tavLst>
                                    </p:anim>
                                    <p:anim calcmode="lin" valueType="num">
                                      <p:cBhvr additive="base">
                                        <p:cTn id="146" dur="500" fill="hold"/>
                                        <p:tgtEl>
                                          <p:spTgt spid="50"/>
                                        </p:tgtEl>
                                        <p:attrNameLst>
                                          <p:attrName>ppt_y</p:attrName>
                                        </p:attrNameLst>
                                      </p:cBhvr>
                                      <p:tavLst>
                                        <p:tav tm="0">
                                          <p:val>
                                            <p:strVal val="#ppt_y+0.1"/>
                                          </p:val>
                                        </p:tav>
                                        <p:tav tm="100000">
                                          <p:val>
                                            <p:strVal val="#ppt_y"/>
                                          </p:val>
                                        </p:tav>
                                      </p:tavLst>
                                    </p:anim>
                                    <p:animEffect transition="in" filter="fade">
                                      <p:cBhvr>
                                        <p:cTn id="147" dur="500"/>
                                        <p:tgtEl>
                                          <p:spTgt spid="50"/>
                                        </p:tgtEl>
                                      </p:cBhvr>
                                    </p:animEffect>
                                  </p:childTnLst>
                                </p:cTn>
                              </p:par>
                              <p:par>
                                <p:cTn id="153" presetID="2" presetClass="entr" presetSubtype="4" fill="hold" grpId="0" nodeType="withEffect">
                                  <p:stCondLst>
                                    <p:cond delay="0"/>
                                  </p:stCondLst>
                                  <p:childTnLst>
                                    <p:set>
                                      <p:cBhvr>
                                        <p:cTn id="149" dur="1" fill="hold">
                                          <p:stCondLst>
                                            <p:cond delay="0"/>
                                          </p:stCondLst>
                                        </p:cTn>
                                        <p:tgtEl>
                                          <p:spTgt spid="51"/>
                                        </p:tgtEl>
                                        <p:attrNameLst>
                                          <p:attrName>style.visibility</p:attrName>
                                        </p:attrNameLst>
                                      </p:cBhvr>
                                      <p:to>
                                        <p:strVal val="visible"/>
                                      </p:to>
                                    </p:set>
                                    <p:anim calcmode="lin" valueType="num">
                                      <p:cBhvr additive="base">
                                        <p:cTn id="150" dur="500" fill="hold"/>
                                        <p:tgtEl>
                                          <p:spTgt spid="51"/>
                                        </p:tgtEl>
                                        <p:attrNameLst>
                                          <p:attrName>ppt_x</p:attrName>
                                        </p:attrNameLst>
                                      </p:cBhvr>
                                      <p:tavLst>
                                        <p:tav tm="0">
                                          <p:val>
                                            <p:strVal val="#ppt_x"/>
                                          </p:val>
                                        </p:tav>
                                        <p:tav tm="100000">
                                          <p:val>
                                            <p:strVal val="#ppt_x"/>
                                          </p:val>
                                        </p:tav>
                                      </p:tavLst>
                                    </p:anim>
                                    <p:anim calcmode="lin" valueType="num">
                                      <p:cBhvr additive="base">
                                        <p:cTn id="151" dur="500" fill="hold"/>
                                        <p:tgtEl>
                                          <p:spTgt spid="51"/>
                                        </p:tgtEl>
                                        <p:attrNameLst>
                                          <p:attrName>ppt_y</p:attrName>
                                        </p:attrNameLst>
                                      </p:cBhvr>
                                      <p:tavLst>
                                        <p:tav tm="0">
                                          <p:val>
                                            <p:strVal val="#ppt_y+0.1"/>
                                          </p:val>
                                        </p:tav>
                                        <p:tav tm="100000">
                                          <p:val>
                                            <p:strVal val="#ppt_y"/>
                                          </p:val>
                                        </p:tav>
                                      </p:tavLst>
                                    </p:anim>
                                    <p:animEffect transition="in" filter="fade">
                                      <p:cBhvr>
                                        <p:cTn id="15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Sixty Years in One Slide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Each era spread the work over more machines - and made moving data between them harder</a:t>
            </a:r>
          </a:p>
        </p:txBody>
      </p:sp>
      <p:sp>
        <p:nvSpPr>
          <p:cNvPr id="11" name="a1u_card10"/>
          <p:cNvSpPr/>
          <p:nvPr/>
        </p:nvSpPr>
        <p:spPr>
          <a:xfrm>
            <a:off x="457200" y="1325880"/>
            <a:ext cx="964692" cy="1645920"/>
          </a:xfrm>
          <a:prstGeom prst="roundRect">
            <a:avLst>
              <a:gd name="adj" fmla="val 1137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325880"/>
            <a:ext cx="964692"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yr12"/>
          <p:cNvSpPr txBox="1"/>
          <p:nvPr/>
        </p:nvSpPr>
        <p:spPr>
          <a:xfrm>
            <a:off x="512064" y="1444752"/>
            <a:ext cx="854964" cy="274320"/>
          </a:xfrm>
          <a:prstGeom prst="rect">
            <a:avLst/>
          </a:prstGeom>
          <a:noFill/>
        </p:spPr>
        <p:txBody>
          <a:bodyPr wrap="square" lIns="0" tIns="0" rIns="0" bIns="0" anchor="ctr">
            <a:spAutoFit/>
          </a:bodyPr>
          <a:lstStyle/>
          <a:p>
            <a:pPr algn="ctr"/>
            <a:r>
              <a:rPr sz="900" b="1">
                <a:solidFill>
                  <a:srgbClr val="EA580C"/>
                </a:solidFill>
                <a:latin typeface="Segoe UI"/>
              </a:rPr>
              <a:t>1960s</a:t>
            </a:r>
          </a:p>
        </p:txBody>
      </p:sp>
      <p:sp>
        <p:nvSpPr>
          <p:cNvPr id="14" name="a1u_nm13"/>
          <p:cNvSpPr txBox="1"/>
          <p:nvPr/>
        </p:nvSpPr>
        <p:spPr>
          <a:xfrm>
            <a:off x="512064" y="1783080"/>
            <a:ext cx="854964" cy="566928"/>
          </a:xfrm>
          <a:prstGeom prst="rect">
            <a:avLst/>
          </a:prstGeom>
          <a:noFill/>
        </p:spPr>
        <p:txBody>
          <a:bodyPr wrap="square" lIns="0" tIns="0" rIns="0" bIns="0" anchor="t">
            <a:spAutoFit/>
          </a:bodyPr>
          <a:lstStyle/>
          <a:p>
            <a:pPr algn="ctr"/>
            <a:r>
              <a:rPr sz="950" b="1">
                <a:solidFill>
                  <a:srgbClr val="1C1917"/>
                </a:solidFill>
                <a:latin typeface="Segoe UI"/>
              </a:rPr>
              <a:t>Mainframes</a:t>
            </a:r>
          </a:p>
        </p:txBody>
      </p:sp>
      <p:sp>
        <p:nvSpPr>
          <p:cNvPr id="15" name="a1u_ds14"/>
          <p:cNvSpPr txBox="1"/>
          <p:nvPr/>
        </p:nvSpPr>
        <p:spPr>
          <a:xfrm>
            <a:off x="512064" y="2395728"/>
            <a:ext cx="854964" cy="512064"/>
          </a:xfrm>
          <a:prstGeom prst="rect">
            <a:avLst/>
          </a:prstGeom>
          <a:noFill/>
        </p:spPr>
        <p:txBody>
          <a:bodyPr wrap="square" lIns="0" tIns="0" rIns="0" bIns="0" anchor="t">
            <a:spAutoFit/>
          </a:bodyPr>
          <a:lstStyle/>
          <a:p>
            <a:pPr algn="ctr"/>
            <a:r>
              <a:rPr sz="800" b="0">
                <a:solidFill>
                  <a:srgbClr val="78716C"/>
                </a:solidFill>
                <a:latin typeface="Segoe UI"/>
              </a:rPr>
              <a:t>One big computer, dumb terminals</a:t>
            </a:r>
          </a:p>
        </p:txBody>
      </p:sp>
      <p:sp>
        <p:nvSpPr>
          <p:cNvPr id="16" name="a1ud120_card15"/>
          <p:cNvSpPr/>
          <p:nvPr/>
        </p:nvSpPr>
        <p:spPr>
          <a:xfrm>
            <a:off x="1495044" y="1325880"/>
            <a:ext cx="964692" cy="1645920"/>
          </a:xfrm>
          <a:prstGeom prst="roundRect">
            <a:avLst>
              <a:gd name="adj" fmla="val 1137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120_acc16"/>
          <p:cNvSpPr/>
          <p:nvPr/>
        </p:nvSpPr>
        <p:spPr>
          <a:xfrm>
            <a:off x="1495044" y="1325880"/>
            <a:ext cx="964692"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d120_yr17"/>
          <p:cNvSpPr txBox="1"/>
          <p:nvPr/>
        </p:nvSpPr>
        <p:spPr>
          <a:xfrm>
            <a:off x="1549908" y="1444752"/>
            <a:ext cx="854964" cy="274320"/>
          </a:xfrm>
          <a:prstGeom prst="rect">
            <a:avLst/>
          </a:prstGeom>
          <a:noFill/>
        </p:spPr>
        <p:txBody>
          <a:bodyPr wrap="square" lIns="0" tIns="0" rIns="0" bIns="0" anchor="ctr">
            <a:spAutoFit/>
          </a:bodyPr>
          <a:lstStyle/>
          <a:p>
            <a:pPr algn="ctr"/>
            <a:r>
              <a:rPr sz="900" b="1">
                <a:solidFill>
                  <a:srgbClr val="EA580C"/>
                </a:solidFill>
                <a:latin typeface="Segoe UI"/>
              </a:rPr>
              <a:t>1970s</a:t>
            </a:r>
          </a:p>
        </p:txBody>
      </p:sp>
      <p:sp>
        <p:nvSpPr>
          <p:cNvPr id="19" name="a1ud120_nm18"/>
          <p:cNvSpPr txBox="1"/>
          <p:nvPr/>
        </p:nvSpPr>
        <p:spPr>
          <a:xfrm>
            <a:off x="1549908" y="1783080"/>
            <a:ext cx="854964" cy="566928"/>
          </a:xfrm>
          <a:prstGeom prst="rect">
            <a:avLst/>
          </a:prstGeom>
          <a:noFill/>
        </p:spPr>
        <p:txBody>
          <a:bodyPr wrap="square" lIns="0" tIns="0" rIns="0" bIns="0" anchor="t">
            <a:spAutoFit/>
          </a:bodyPr>
          <a:lstStyle/>
          <a:p>
            <a:pPr algn="ctr"/>
            <a:r>
              <a:rPr sz="950" b="1">
                <a:solidFill>
                  <a:srgbClr val="1C1917"/>
                </a:solidFill>
                <a:latin typeface="Segoe UI"/>
              </a:rPr>
              <a:t>Networks</a:t>
            </a:r>
          </a:p>
        </p:txBody>
      </p:sp>
      <p:sp>
        <p:nvSpPr>
          <p:cNvPr id="20" name="a1ud120_ds19"/>
          <p:cNvSpPr txBox="1"/>
          <p:nvPr/>
        </p:nvSpPr>
        <p:spPr>
          <a:xfrm>
            <a:off x="1549908" y="2395728"/>
            <a:ext cx="854964" cy="512064"/>
          </a:xfrm>
          <a:prstGeom prst="rect">
            <a:avLst/>
          </a:prstGeom>
          <a:noFill/>
        </p:spPr>
        <p:txBody>
          <a:bodyPr wrap="square" lIns="0" tIns="0" rIns="0" bIns="0" anchor="t">
            <a:spAutoFit/>
          </a:bodyPr>
          <a:lstStyle/>
          <a:p>
            <a:pPr algn="ctr"/>
            <a:r>
              <a:rPr sz="800" b="0">
                <a:solidFill>
                  <a:srgbClr val="78716C"/>
                </a:solidFill>
                <a:latin typeface="Segoe UI"/>
              </a:rPr>
              <a:t>ARPANET, Ethernet, TCP/IP</a:t>
            </a:r>
          </a:p>
        </p:txBody>
      </p:sp>
      <p:sp>
        <p:nvSpPr>
          <p:cNvPr id="21" name="a2u_card20"/>
          <p:cNvSpPr/>
          <p:nvPr/>
        </p:nvSpPr>
        <p:spPr>
          <a:xfrm>
            <a:off x="2532888" y="1325880"/>
            <a:ext cx="964692" cy="1645920"/>
          </a:xfrm>
          <a:prstGeom prst="roundRect">
            <a:avLst>
              <a:gd name="adj" fmla="val 1137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_acc21"/>
          <p:cNvSpPr/>
          <p:nvPr/>
        </p:nvSpPr>
        <p:spPr>
          <a:xfrm>
            <a:off x="2532888" y="1325880"/>
            <a:ext cx="964692"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_yr22"/>
          <p:cNvSpPr txBox="1"/>
          <p:nvPr/>
        </p:nvSpPr>
        <p:spPr>
          <a:xfrm>
            <a:off x="2587752" y="1444752"/>
            <a:ext cx="854964" cy="274320"/>
          </a:xfrm>
          <a:prstGeom prst="rect">
            <a:avLst/>
          </a:prstGeom>
          <a:noFill/>
        </p:spPr>
        <p:txBody>
          <a:bodyPr wrap="square" lIns="0" tIns="0" rIns="0" bIns="0" anchor="ctr">
            <a:spAutoFit/>
          </a:bodyPr>
          <a:lstStyle/>
          <a:p>
            <a:pPr algn="ctr"/>
            <a:r>
              <a:rPr sz="900" b="1">
                <a:solidFill>
                  <a:srgbClr val="0E7490"/>
                </a:solidFill>
                <a:latin typeface="Segoe UI"/>
              </a:rPr>
              <a:t>1980s</a:t>
            </a:r>
          </a:p>
        </p:txBody>
      </p:sp>
      <p:sp>
        <p:nvSpPr>
          <p:cNvPr id="24" name="a2u_nm23"/>
          <p:cNvSpPr txBox="1"/>
          <p:nvPr/>
        </p:nvSpPr>
        <p:spPr>
          <a:xfrm>
            <a:off x="2587752" y="1783080"/>
            <a:ext cx="854964" cy="566928"/>
          </a:xfrm>
          <a:prstGeom prst="rect">
            <a:avLst/>
          </a:prstGeom>
          <a:noFill/>
        </p:spPr>
        <p:txBody>
          <a:bodyPr wrap="square" lIns="0" tIns="0" rIns="0" bIns="0" anchor="t">
            <a:spAutoFit/>
          </a:bodyPr>
          <a:lstStyle/>
          <a:p>
            <a:pPr algn="ctr"/>
            <a:r>
              <a:rPr sz="950" b="1">
                <a:solidFill>
                  <a:srgbClr val="1C1917"/>
                </a:solidFill>
                <a:latin typeface="Segoe UI"/>
              </a:rPr>
              <a:t>Client-server</a:t>
            </a:r>
          </a:p>
        </p:txBody>
      </p:sp>
      <p:sp>
        <p:nvSpPr>
          <p:cNvPr id="25" name="a2u_ds24"/>
          <p:cNvSpPr txBox="1"/>
          <p:nvPr/>
        </p:nvSpPr>
        <p:spPr>
          <a:xfrm>
            <a:off x="2587752" y="2395728"/>
            <a:ext cx="854964" cy="512064"/>
          </a:xfrm>
          <a:prstGeom prst="rect">
            <a:avLst/>
          </a:prstGeom>
          <a:noFill/>
        </p:spPr>
        <p:txBody>
          <a:bodyPr wrap="square" lIns="0" tIns="0" rIns="0" bIns="0" anchor="t">
            <a:spAutoFit/>
          </a:bodyPr>
          <a:lstStyle/>
          <a:p>
            <a:pPr algn="ctr"/>
            <a:r>
              <a:rPr sz="800" b="0">
                <a:solidFill>
                  <a:srgbClr val="78716C"/>
                </a:solidFill>
                <a:latin typeface="Segoe UI"/>
              </a:rPr>
              <a:t>PCs and a shared database server</a:t>
            </a:r>
          </a:p>
        </p:txBody>
      </p:sp>
      <p:sp>
        <p:nvSpPr>
          <p:cNvPr id="26" name="a2ud120_card25"/>
          <p:cNvSpPr/>
          <p:nvPr/>
        </p:nvSpPr>
        <p:spPr>
          <a:xfrm>
            <a:off x="3570732" y="1325880"/>
            <a:ext cx="964692" cy="1645920"/>
          </a:xfrm>
          <a:prstGeom prst="roundRect">
            <a:avLst>
              <a:gd name="adj" fmla="val 1137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ud120_acc26"/>
          <p:cNvSpPr/>
          <p:nvPr/>
        </p:nvSpPr>
        <p:spPr>
          <a:xfrm>
            <a:off x="3570732" y="1325880"/>
            <a:ext cx="964692"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d120_yr27"/>
          <p:cNvSpPr txBox="1"/>
          <p:nvPr/>
        </p:nvSpPr>
        <p:spPr>
          <a:xfrm>
            <a:off x="3625596" y="1444752"/>
            <a:ext cx="854964" cy="274320"/>
          </a:xfrm>
          <a:prstGeom prst="rect">
            <a:avLst/>
          </a:prstGeom>
          <a:noFill/>
        </p:spPr>
        <p:txBody>
          <a:bodyPr wrap="square" lIns="0" tIns="0" rIns="0" bIns="0" anchor="ctr">
            <a:spAutoFit/>
          </a:bodyPr>
          <a:lstStyle/>
          <a:p>
            <a:pPr algn="ctr"/>
            <a:r>
              <a:rPr sz="900" b="1">
                <a:solidFill>
                  <a:srgbClr val="0E7490"/>
                </a:solidFill>
                <a:latin typeface="Segoe UI"/>
              </a:rPr>
              <a:t>1990s</a:t>
            </a:r>
          </a:p>
        </p:txBody>
      </p:sp>
      <p:sp>
        <p:nvSpPr>
          <p:cNvPr id="29" name="a2ud120_nm28"/>
          <p:cNvSpPr txBox="1"/>
          <p:nvPr/>
        </p:nvSpPr>
        <p:spPr>
          <a:xfrm>
            <a:off x="3625596" y="1783080"/>
            <a:ext cx="854964" cy="566928"/>
          </a:xfrm>
          <a:prstGeom prst="rect">
            <a:avLst/>
          </a:prstGeom>
          <a:noFill/>
        </p:spPr>
        <p:txBody>
          <a:bodyPr wrap="square" lIns="0" tIns="0" rIns="0" bIns="0" anchor="t">
            <a:spAutoFit/>
          </a:bodyPr>
          <a:lstStyle/>
          <a:p>
            <a:pPr algn="ctr"/>
            <a:r>
              <a:rPr sz="950" b="1">
                <a:solidFill>
                  <a:srgbClr val="1C1917"/>
                </a:solidFill>
                <a:latin typeface="Segoe UI"/>
              </a:rPr>
              <a:t>Remote calls</a:t>
            </a:r>
          </a:p>
        </p:txBody>
      </p:sp>
      <p:sp>
        <p:nvSpPr>
          <p:cNvPr id="30" name="a2ud120_ds29"/>
          <p:cNvSpPr txBox="1"/>
          <p:nvPr/>
        </p:nvSpPr>
        <p:spPr>
          <a:xfrm>
            <a:off x="3625596" y="2395728"/>
            <a:ext cx="854964" cy="512064"/>
          </a:xfrm>
          <a:prstGeom prst="rect">
            <a:avLst/>
          </a:prstGeom>
          <a:noFill/>
        </p:spPr>
        <p:txBody>
          <a:bodyPr wrap="square" lIns="0" tIns="0" rIns="0" bIns="0" anchor="t">
            <a:spAutoFit/>
          </a:bodyPr>
          <a:lstStyle/>
          <a:p>
            <a:pPr algn="ctr"/>
            <a:r>
              <a:rPr sz="800" b="0">
                <a:solidFill>
                  <a:srgbClr val="78716C"/>
                </a:solidFill>
                <a:latin typeface="Segoe UI"/>
              </a:rPr>
              <a:t>RPC, CORBA, DCOM, Java RMI</a:t>
            </a:r>
          </a:p>
        </p:txBody>
      </p:sp>
      <p:sp>
        <p:nvSpPr>
          <p:cNvPr id="31" name="a3u_card30"/>
          <p:cNvSpPr/>
          <p:nvPr/>
        </p:nvSpPr>
        <p:spPr>
          <a:xfrm>
            <a:off x="4608576" y="1325880"/>
            <a:ext cx="964692" cy="1645920"/>
          </a:xfrm>
          <a:prstGeom prst="roundRect">
            <a:avLst>
              <a:gd name="adj" fmla="val 1137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3u_acc31"/>
          <p:cNvSpPr/>
          <p:nvPr/>
        </p:nvSpPr>
        <p:spPr>
          <a:xfrm>
            <a:off x="4608576" y="1325880"/>
            <a:ext cx="964692" cy="54864"/>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3u_yr32"/>
          <p:cNvSpPr txBox="1"/>
          <p:nvPr/>
        </p:nvSpPr>
        <p:spPr>
          <a:xfrm>
            <a:off x="4663440" y="1444752"/>
            <a:ext cx="854964" cy="274320"/>
          </a:xfrm>
          <a:prstGeom prst="rect">
            <a:avLst/>
          </a:prstGeom>
          <a:noFill/>
        </p:spPr>
        <p:txBody>
          <a:bodyPr wrap="square" lIns="0" tIns="0" rIns="0" bIns="0" anchor="ctr">
            <a:spAutoFit/>
          </a:bodyPr>
          <a:lstStyle/>
          <a:p>
            <a:pPr algn="ctr"/>
            <a:r>
              <a:rPr sz="900" b="1">
                <a:solidFill>
                  <a:srgbClr val="A16207"/>
                </a:solidFill>
                <a:latin typeface="Segoe UI"/>
              </a:rPr>
              <a:t>1990s-2000s</a:t>
            </a:r>
          </a:p>
        </p:txBody>
      </p:sp>
      <p:sp>
        <p:nvSpPr>
          <p:cNvPr id="34" name="a3u_nm33"/>
          <p:cNvSpPr txBox="1"/>
          <p:nvPr/>
        </p:nvSpPr>
        <p:spPr>
          <a:xfrm>
            <a:off x="4663440" y="1783080"/>
            <a:ext cx="854964" cy="566928"/>
          </a:xfrm>
          <a:prstGeom prst="rect">
            <a:avLst/>
          </a:prstGeom>
          <a:noFill/>
        </p:spPr>
        <p:txBody>
          <a:bodyPr wrap="square" lIns="0" tIns="0" rIns="0" bIns="0" anchor="t">
            <a:spAutoFit/>
          </a:bodyPr>
          <a:lstStyle/>
          <a:p>
            <a:pPr algn="ctr"/>
            <a:r>
              <a:rPr sz="950" b="1">
                <a:solidFill>
                  <a:srgbClr val="1C1917"/>
                </a:solidFill>
                <a:latin typeface="Segoe UI"/>
              </a:rPr>
              <a:t>The web</a:t>
            </a:r>
          </a:p>
        </p:txBody>
      </p:sp>
      <p:sp>
        <p:nvSpPr>
          <p:cNvPr id="35" name="a3u_ds34"/>
          <p:cNvSpPr txBox="1"/>
          <p:nvPr/>
        </p:nvSpPr>
        <p:spPr>
          <a:xfrm>
            <a:off x="4663440" y="2395728"/>
            <a:ext cx="854964" cy="512064"/>
          </a:xfrm>
          <a:prstGeom prst="rect">
            <a:avLst/>
          </a:prstGeom>
          <a:noFill/>
        </p:spPr>
        <p:txBody>
          <a:bodyPr wrap="square" lIns="0" tIns="0" rIns="0" bIns="0" anchor="t">
            <a:spAutoFit/>
          </a:bodyPr>
          <a:lstStyle/>
          <a:p>
            <a:pPr algn="ctr"/>
            <a:r>
              <a:rPr sz="800" b="0">
                <a:solidFill>
                  <a:srgbClr val="78716C"/>
                </a:solidFill>
                <a:latin typeface="Segoe UI"/>
              </a:rPr>
              <a:t>Browser, app server, database</a:t>
            </a:r>
          </a:p>
        </p:txBody>
      </p:sp>
      <p:sp>
        <p:nvSpPr>
          <p:cNvPr id="36" name="a3ud120_card35"/>
          <p:cNvSpPr/>
          <p:nvPr/>
        </p:nvSpPr>
        <p:spPr>
          <a:xfrm>
            <a:off x="5646420" y="1325880"/>
            <a:ext cx="964692" cy="1645920"/>
          </a:xfrm>
          <a:prstGeom prst="roundRect">
            <a:avLst>
              <a:gd name="adj" fmla="val 1137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3ud120_acc36"/>
          <p:cNvSpPr/>
          <p:nvPr/>
        </p:nvSpPr>
        <p:spPr>
          <a:xfrm>
            <a:off x="5646420" y="1325880"/>
            <a:ext cx="964692" cy="54864"/>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3ud120_yr37"/>
          <p:cNvSpPr txBox="1"/>
          <p:nvPr/>
        </p:nvSpPr>
        <p:spPr>
          <a:xfrm>
            <a:off x="5701283" y="1444752"/>
            <a:ext cx="854964" cy="274320"/>
          </a:xfrm>
          <a:prstGeom prst="rect">
            <a:avLst/>
          </a:prstGeom>
          <a:noFill/>
        </p:spPr>
        <p:txBody>
          <a:bodyPr wrap="square" lIns="0" tIns="0" rIns="0" bIns="0" anchor="ctr">
            <a:spAutoFit/>
          </a:bodyPr>
          <a:lstStyle/>
          <a:p>
            <a:pPr algn="ctr"/>
            <a:r>
              <a:rPr sz="900" b="1">
                <a:solidFill>
                  <a:srgbClr val="A16207"/>
                </a:solidFill>
                <a:latin typeface="Segoe UI"/>
              </a:rPr>
              <a:t>2000s</a:t>
            </a:r>
          </a:p>
        </p:txBody>
      </p:sp>
      <p:sp>
        <p:nvSpPr>
          <p:cNvPr id="39" name="a3ud120_nm38"/>
          <p:cNvSpPr txBox="1"/>
          <p:nvPr/>
        </p:nvSpPr>
        <p:spPr>
          <a:xfrm>
            <a:off x="5701283" y="1783080"/>
            <a:ext cx="854964" cy="566928"/>
          </a:xfrm>
          <a:prstGeom prst="rect">
            <a:avLst/>
          </a:prstGeom>
          <a:noFill/>
        </p:spPr>
        <p:txBody>
          <a:bodyPr wrap="square" lIns="0" tIns="0" rIns="0" bIns="0" anchor="t">
            <a:spAutoFit/>
          </a:bodyPr>
          <a:lstStyle/>
          <a:p>
            <a:pPr algn="ctr"/>
            <a:r>
              <a:rPr sz="950" b="1">
                <a:solidFill>
                  <a:srgbClr val="1C1917"/>
                </a:solidFill>
                <a:latin typeface="Segoe UI"/>
              </a:rPr>
              <a:t>SOA and ESB</a:t>
            </a:r>
          </a:p>
        </p:txBody>
      </p:sp>
      <p:sp>
        <p:nvSpPr>
          <p:cNvPr id="40" name="a3ud120_ds39"/>
          <p:cNvSpPr txBox="1"/>
          <p:nvPr/>
        </p:nvSpPr>
        <p:spPr>
          <a:xfrm>
            <a:off x="5701283" y="2395728"/>
            <a:ext cx="854964" cy="512064"/>
          </a:xfrm>
          <a:prstGeom prst="rect">
            <a:avLst/>
          </a:prstGeom>
          <a:noFill/>
        </p:spPr>
        <p:txBody>
          <a:bodyPr wrap="square" lIns="0" tIns="0" rIns="0" bIns="0" anchor="t">
            <a:spAutoFit/>
          </a:bodyPr>
          <a:lstStyle/>
          <a:p>
            <a:pPr algn="ctr"/>
            <a:r>
              <a:rPr sz="800" b="0">
                <a:solidFill>
                  <a:srgbClr val="78716C"/>
                </a:solidFill>
                <a:latin typeface="Segoe UI"/>
              </a:rPr>
              <a:t>Web services on a central bus</a:t>
            </a:r>
          </a:p>
        </p:txBody>
      </p:sp>
      <p:sp>
        <p:nvSpPr>
          <p:cNvPr id="41" name="a4u_card40"/>
          <p:cNvSpPr/>
          <p:nvPr/>
        </p:nvSpPr>
        <p:spPr>
          <a:xfrm>
            <a:off x="6684264" y="1325880"/>
            <a:ext cx="964692" cy="1645920"/>
          </a:xfrm>
          <a:prstGeom prst="roundRect">
            <a:avLst>
              <a:gd name="adj" fmla="val 1137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4u_acc41"/>
          <p:cNvSpPr/>
          <p:nvPr/>
        </p:nvSpPr>
        <p:spPr>
          <a:xfrm>
            <a:off x="6684264" y="1325880"/>
            <a:ext cx="964692" cy="54864"/>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4u_yr42"/>
          <p:cNvSpPr txBox="1"/>
          <p:nvPr/>
        </p:nvSpPr>
        <p:spPr>
          <a:xfrm>
            <a:off x="6739128" y="1444752"/>
            <a:ext cx="854964" cy="274320"/>
          </a:xfrm>
          <a:prstGeom prst="rect">
            <a:avLst/>
          </a:prstGeom>
          <a:noFill/>
        </p:spPr>
        <p:txBody>
          <a:bodyPr wrap="square" lIns="0" tIns="0" rIns="0" bIns="0" anchor="ctr">
            <a:spAutoFit/>
          </a:bodyPr>
          <a:lstStyle/>
          <a:p>
            <a:pPr algn="ctr"/>
            <a:r>
              <a:rPr sz="900" b="1">
                <a:solidFill>
                  <a:srgbClr val="4F46E5"/>
                </a:solidFill>
                <a:latin typeface="Segoe UI"/>
              </a:rPr>
              <a:t>2010s</a:t>
            </a:r>
          </a:p>
        </p:txBody>
      </p:sp>
      <p:sp>
        <p:nvSpPr>
          <p:cNvPr id="44" name="a4u_nm43"/>
          <p:cNvSpPr txBox="1"/>
          <p:nvPr/>
        </p:nvSpPr>
        <p:spPr>
          <a:xfrm>
            <a:off x="6739128" y="1783080"/>
            <a:ext cx="854964" cy="566928"/>
          </a:xfrm>
          <a:prstGeom prst="rect">
            <a:avLst/>
          </a:prstGeom>
          <a:noFill/>
        </p:spPr>
        <p:txBody>
          <a:bodyPr wrap="square" lIns="0" tIns="0" rIns="0" bIns="0" anchor="t">
            <a:spAutoFit/>
          </a:bodyPr>
          <a:lstStyle/>
          <a:p>
            <a:pPr algn="ctr"/>
            <a:r>
              <a:rPr sz="950" b="1">
                <a:solidFill>
                  <a:srgbClr val="1C1917"/>
                </a:solidFill>
                <a:latin typeface="Segoe UI"/>
              </a:rPr>
              <a:t>Cloud and microservices</a:t>
            </a:r>
          </a:p>
        </p:txBody>
      </p:sp>
      <p:sp>
        <p:nvSpPr>
          <p:cNvPr id="45" name="a4u_ds44"/>
          <p:cNvSpPr txBox="1"/>
          <p:nvPr/>
        </p:nvSpPr>
        <p:spPr>
          <a:xfrm>
            <a:off x="6739128" y="2395728"/>
            <a:ext cx="854964" cy="512064"/>
          </a:xfrm>
          <a:prstGeom prst="rect">
            <a:avLst/>
          </a:prstGeom>
          <a:noFill/>
        </p:spPr>
        <p:txBody>
          <a:bodyPr wrap="square" lIns="0" tIns="0" rIns="0" bIns="0" anchor="t">
            <a:spAutoFit/>
          </a:bodyPr>
          <a:lstStyle/>
          <a:p>
            <a:pPr algn="ctr"/>
            <a:r>
              <a:rPr sz="800" b="0">
                <a:solidFill>
                  <a:srgbClr val="78716C"/>
                </a:solidFill>
                <a:latin typeface="Segoe UI"/>
              </a:rPr>
              <a:t>Many small services, many databases</a:t>
            </a:r>
          </a:p>
        </p:txBody>
      </p:sp>
      <p:sp>
        <p:nvSpPr>
          <p:cNvPr id="46" name="a4ud120_card45"/>
          <p:cNvSpPr/>
          <p:nvPr/>
        </p:nvSpPr>
        <p:spPr>
          <a:xfrm>
            <a:off x="7722108" y="1325880"/>
            <a:ext cx="964692" cy="1645920"/>
          </a:xfrm>
          <a:prstGeom prst="roundRect">
            <a:avLst>
              <a:gd name="adj" fmla="val 11374"/>
            </a:avLst>
          </a:prstGeom>
          <a:solidFill>
            <a:srgbClr val="DCFCE7"/>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4ud120_acc46"/>
          <p:cNvSpPr/>
          <p:nvPr/>
        </p:nvSpPr>
        <p:spPr>
          <a:xfrm>
            <a:off x="7722108" y="1325880"/>
            <a:ext cx="964692" cy="54864"/>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4ud120_yr47"/>
          <p:cNvSpPr txBox="1"/>
          <p:nvPr/>
        </p:nvSpPr>
        <p:spPr>
          <a:xfrm>
            <a:off x="7776972" y="1444752"/>
            <a:ext cx="854964" cy="274320"/>
          </a:xfrm>
          <a:prstGeom prst="rect">
            <a:avLst/>
          </a:prstGeom>
          <a:noFill/>
        </p:spPr>
        <p:txBody>
          <a:bodyPr wrap="square" lIns="0" tIns="0" rIns="0" bIns="0" anchor="ctr">
            <a:spAutoFit/>
          </a:bodyPr>
          <a:lstStyle/>
          <a:p>
            <a:pPr algn="ctr"/>
            <a:r>
              <a:rPr sz="900" b="1">
                <a:solidFill>
                  <a:srgbClr val="15803D"/>
                </a:solidFill>
                <a:latin typeface="Segoe UI"/>
              </a:rPr>
              <a:t>Today</a:t>
            </a:r>
          </a:p>
        </p:txBody>
      </p:sp>
      <p:sp>
        <p:nvSpPr>
          <p:cNvPr id="49" name="a4ud120_nm48"/>
          <p:cNvSpPr txBox="1"/>
          <p:nvPr/>
        </p:nvSpPr>
        <p:spPr>
          <a:xfrm>
            <a:off x="7776972" y="1783080"/>
            <a:ext cx="854964" cy="566928"/>
          </a:xfrm>
          <a:prstGeom prst="rect">
            <a:avLst/>
          </a:prstGeom>
          <a:noFill/>
        </p:spPr>
        <p:txBody>
          <a:bodyPr wrap="square" lIns="0" tIns="0" rIns="0" bIns="0" anchor="t">
            <a:spAutoFit/>
          </a:bodyPr>
          <a:lstStyle/>
          <a:p>
            <a:pPr algn="ctr"/>
            <a:r>
              <a:rPr sz="950" b="1">
                <a:solidFill>
                  <a:srgbClr val="1C1917"/>
                </a:solidFill>
                <a:latin typeface="Segoe UI"/>
              </a:rPr>
              <a:t>Event streaming</a:t>
            </a:r>
          </a:p>
        </p:txBody>
      </p:sp>
      <p:sp>
        <p:nvSpPr>
          <p:cNvPr id="50" name="a4ud120_ds49"/>
          <p:cNvSpPr txBox="1"/>
          <p:nvPr/>
        </p:nvSpPr>
        <p:spPr>
          <a:xfrm>
            <a:off x="7776972" y="2395728"/>
            <a:ext cx="854964" cy="512064"/>
          </a:xfrm>
          <a:prstGeom prst="rect">
            <a:avLst/>
          </a:prstGeom>
          <a:noFill/>
        </p:spPr>
        <p:txBody>
          <a:bodyPr wrap="square" lIns="0" tIns="0" rIns="0" bIns="0" anchor="t">
            <a:spAutoFit/>
          </a:bodyPr>
          <a:lstStyle/>
          <a:p>
            <a:pPr algn="ctr"/>
            <a:r>
              <a:rPr sz="800" b="0">
                <a:solidFill>
                  <a:srgbClr val="78716C"/>
                </a:solidFill>
                <a:latin typeface="Segoe UI"/>
              </a:rPr>
              <a:t>Data shared as streams of events</a:t>
            </a:r>
          </a:p>
        </p:txBody>
      </p:sp>
      <p:cxnSp>
        <p:nvCxnSpPr>
          <p:cNvPr id="51" name="a5w_ar50"/>
          <p:cNvCxnSpPr/>
          <p:nvPr/>
        </p:nvCxnSpPr>
        <p:spPr>
          <a:xfrm>
            <a:off x="548640" y="3154680"/>
            <a:ext cx="8046720"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a5fd200_lb51"/>
          <p:cNvSpPr txBox="1"/>
          <p:nvPr/>
        </p:nvSpPr>
        <p:spPr>
          <a:xfrm>
            <a:off x="457200" y="3227832"/>
            <a:ext cx="8229600" cy="274320"/>
          </a:xfrm>
          <a:prstGeom prst="rect">
            <a:avLst/>
          </a:prstGeom>
          <a:noFill/>
        </p:spPr>
        <p:txBody>
          <a:bodyPr wrap="square" lIns="0" tIns="0" rIns="0" bIns="0" anchor="ctr">
            <a:spAutoFit/>
          </a:bodyPr>
          <a:lstStyle/>
          <a:p>
            <a:pPr algn="ctr"/>
            <a:r>
              <a:rPr sz="900" b="1">
                <a:solidFill>
                  <a:srgbClr val="44403C"/>
                </a:solidFill>
                <a:latin typeface="Segoe UI"/>
              </a:rPr>
              <a:t>more machines  ·  more data moving  ·  more ways to fail</a:t>
            </a:r>
          </a:p>
        </p:txBody>
      </p:sp>
      <p:sp>
        <p:nvSpPr>
          <p:cNvPr id="53" name="a6u_nb52"/>
          <p:cNvSpPr/>
          <p:nvPr/>
        </p:nvSpPr>
        <p:spPr>
          <a:xfrm>
            <a:off x="457200" y="3703320"/>
            <a:ext cx="8229600" cy="603504"/>
          </a:xfrm>
          <a:prstGeom prst="roundRect">
            <a:avLst>
              <a:gd name="adj" fmla="val 12121"/>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6u_nacc53"/>
          <p:cNvSpPr/>
          <p:nvPr/>
        </p:nvSpPr>
        <p:spPr>
          <a:xfrm>
            <a:off x="457200" y="3703320"/>
            <a:ext cx="54864" cy="603504"/>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6u_nt54"/>
          <p:cNvSpPr txBox="1"/>
          <p:nvPr/>
        </p:nvSpPr>
        <p:spPr>
          <a:xfrm>
            <a:off x="658368" y="3703320"/>
            <a:ext cx="7827264" cy="603504"/>
          </a:xfrm>
          <a:prstGeom prst="rect">
            <a:avLst/>
          </a:prstGeom>
          <a:noFill/>
        </p:spPr>
        <p:txBody>
          <a:bodyPr wrap="square" lIns="0" tIns="0" rIns="0" bIns="0" anchor="ctr">
            <a:spAutoFit/>
          </a:bodyPr>
          <a:lstStyle/>
          <a:p>
            <a:pPr algn="l"/>
            <a:r>
              <a:rPr sz="950" b="1">
                <a:solidFill>
                  <a:srgbClr val="15803D"/>
                </a:solidFill>
                <a:latin typeface="Segoe UI"/>
              </a:rPr>
              <a:t>KEY  </a:t>
            </a:r>
            <a:r>
              <a:rPr sz="950" b="0">
                <a:solidFill>
                  <a:srgbClr val="44403C"/>
                </a:solidFill>
                <a:latin typeface="Segoe UI"/>
              </a:rPr>
              <a:t>The last box is this course: publish data once, as events - and let every system that needs it read it.</a:t>
            </a:r>
          </a:p>
        </p:txBody>
      </p:sp>
      <p:sp>
        <p:nvSpPr>
          <p:cNvPr id="56" name="ft55"/>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06</a:t>
            </a:r>
          </a:p>
        </p:txBody>
      </p:sp>
      <p:sp>
        <p:nvSpPr>
          <p:cNvPr id="57" name="ft56"/>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ft57"/>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59" name="ft58"/>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2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2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12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12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12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childTnLst>
                          </p:cTn>
                        </p:par>
                      </p:childTnLst>
                    </p:cTn>
                  </p:par>
                  <p:par>
                    <p:cTn id="55" fill="hold">
                      <p:stCondLst>
                        <p:cond delay="indefinite"/>
                      </p:stCondLst>
                      <p:childTnLst>
                        <p:par>
                          <p:cTn id="56" fill="hold">
                            <p:stCondLst>
                              <p:cond delay="0"/>
                            </p:stCondLst>
                            <p:childTnLst>
                              <p:par>
                                <p:cTn id="61" presetID="2" presetClass="entr" presetSubtype="4"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12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12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12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12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12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childTnLst>
                          </p:cTn>
                        </p:par>
                      </p:childTnLst>
                    </p:cTn>
                  </p:par>
                  <p:par>
                    <p:cTn id="107" fill="hold">
                      <p:stCondLst>
                        <p:cond delay="indefinite"/>
                      </p:stCondLst>
                      <p:childTnLst>
                        <p:par>
                          <p:cTn id="108" fill="hold">
                            <p:stCondLst>
                              <p:cond delay="0"/>
                            </p:stCondLst>
                            <p:childTnLst>
                              <p:par>
                                <p:cTn id="113" presetID="2" presetClass="entr" presetSubtype="4" fill="hold" grpId="0" nodeType="clickEffect">
                                  <p:stCondLst>
                                    <p:cond delay="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8" presetID="2" presetClass="entr" presetSubtype="4" fill="hold" grpId="0" nodeType="withEffect">
                                  <p:stCondLst>
                                    <p:cond delay="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par>
                                <p:cTn id="123" presetID="2" presetClass="entr" presetSubtype="4" fill="hold" grpId="0" nodeType="withEffect">
                                  <p:stCondLst>
                                    <p:cond delay="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par>
                                <p:cTn id="128" presetID="2" presetClass="entr" presetSubtype="4" fill="hold" grpId="0" nodeType="withEffect">
                                  <p:stCondLst>
                                    <p:cond delay="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par>
                                <p:cTn id="133" presetID="2" presetClass="entr" presetSubtype="4" fill="hold" grpId="0" nodeType="withEffect">
                                  <p:stCondLst>
                                    <p:cond delay="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par>
                                <p:cTn id="138" presetID="2" presetClass="entr" presetSubtype="4" fill="hold" grpId="0" nodeType="withEffect">
                                  <p:stCondLst>
                                    <p:cond delay="120"/>
                                  </p:stCondLst>
                                  <p:childTnLst>
                                    <p:set>
                                      <p:cBhvr>
                                        <p:cTn id="134" dur="1" fill="hold">
                                          <p:stCondLst>
                                            <p:cond delay="0"/>
                                          </p:stCondLst>
                                        </p:cTn>
                                        <p:tgtEl>
                                          <p:spTgt spid="36"/>
                                        </p:tgtEl>
                                        <p:attrNameLst>
                                          <p:attrName>style.visibility</p:attrName>
                                        </p:attrNameLst>
                                      </p:cBhvr>
                                      <p:to>
                                        <p:strVal val="visible"/>
                                      </p:to>
                                    </p:set>
                                    <p:anim calcmode="lin" valueType="num">
                                      <p:cBhvr additive="base">
                                        <p:cTn id="135" dur="500" fill="hold"/>
                                        <p:tgtEl>
                                          <p:spTgt spid="36"/>
                                        </p:tgtEl>
                                        <p:attrNameLst>
                                          <p:attrName>ppt_x</p:attrName>
                                        </p:attrNameLst>
                                      </p:cBhvr>
                                      <p:tavLst>
                                        <p:tav tm="0">
                                          <p:val>
                                            <p:strVal val="#ppt_x"/>
                                          </p:val>
                                        </p:tav>
                                        <p:tav tm="100000">
                                          <p:val>
                                            <p:strVal val="#ppt_x"/>
                                          </p:val>
                                        </p:tav>
                                      </p:tavLst>
                                    </p:anim>
                                    <p:anim calcmode="lin" valueType="num">
                                      <p:cBhvr additive="base">
                                        <p:cTn id="136" dur="500" fill="hold"/>
                                        <p:tgtEl>
                                          <p:spTgt spid="36"/>
                                        </p:tgtEl>
                                        <p:attrNameLst>
                                          <p:attrName>ppt_y</p:attrName>
                                        </p:attrNameLst>
                                      </p:cBhvr>
                                      <p:tavLst>
                                        <p:tav tm="0">
                                          <p:val>
                                            <p:strVal val="#ppt_y+0.1"/>
                                          </p:val>
                                        </p:tav>
                                        <p:tav tm="100000">
                                          <p:val>
                                            <p:strVal val="#ppt_y"/>
                                          </p:val>
                                        </p:tav>
                                      </p:tavLst>
                                    </p:anim>
                                    <p:animEffect transition="in" filter="fade">
                                      <p:cBhvr>
                                        <p:cTn id="137" dur="500"/>
                                        <p:tgtEl>
                                          <p:spTgt spid="36"/>
                                        </p:tgtEl>
                                      </p:cBhvr>
                                    </p:animEffect>
                                  </p:childTnLst>
                                </p:cTn>
                              </p:par>
                              <p:par>
                                <p:cTn id="143" presetID="2" presetClass="entr" presetSubtype="4" fill="hold" grpId="0" nodeType="withEffect">
                                  <p:stCondLst>
                                    <p:cond delay="120"/>
                                  </p:stCondLst>
                                  <p:childTnLst>
                                    <p:set>
                                      <p:cBhvr>
                                        <p:cTn id="139" dur="1" fill="hold">
                                          <p:stCondLst>
                                            <p:cond delay="0"/>
                                          </p:stCondLst>
                                        </p:cTn>
                                        <p:tgtEl>
                                          <p:spTgt spid="37"/>
                                        </p:tgtEl>
                                        <p:attrNameLst>
                                          <p:attrName>style.visibility</p:attrName>
                                        </p:attrNameLst>
                                      </p:cBhvr>
                                      <p:to>
                                        <p:strVal val="visible"/>
                                      </p:to>
                                    </p:set>
                                    <p:anim calcmode="lin" valueType="num">
                                      <p:cBhvr additive="base">
                                        <p:cTn id="140" dur="500" fill="hold"/>
                                        <p:tgtEl>
                                          <p:spTgt spid="37"/>
                                        </p:tgtEl>
                                        <p:attrNameLst>
                                          <p:attrName>ppt_x</p:attrName>
                                        </p:attrNameLst>
                                      </p:cBhvr>
                                      <p:tavLst>
                                        <p:tav tm="0">
                                          <p:val>
                                            <p:strVal val="#ppt_x"/>
                                          </p:val>
                                        </p:tav>
                                        <p:tav tm="100000">
                                          <p:val>
                                            <p:strVal val="#ppt_x"/>
                                          </p:val>
                                        </p:tav>
                                      </p:tavLst>
                                    </p:anim>
                                    <p:anim calcmode="lin" valueType="num">
                                      <p:cBhvr additive="base">
                                        <p:cTn id="141" dur="500" fill="hold"/>
                                        <p:tgtEl>
                                          <p:spTgt spid="37"/>
                                        </p:tgtEl>
                                        <p:attrNameLst>
                                          <p:attrName>ppt_y</p:attrName>
                                        </p:attrNameLst>
                                      </p:cBhvr>
                                      <p:tavLst>
                                        <p:tav tm="0">
                                          <p:val>
                                            <p:strVal val="#ppt_y+0.1"/>
                                          </p:val>
                                        </p:tav>
                                        <p:tav tm="100000">
                                          <p:val>
                                            <p:strVal val="#ppt_y"/>
                                          </p:val>
                                        </p:tav>
                                      </p:tavLst>
                                    </p:anim>
                                    <p:animEffect transition="in" filter="fade">
                                      <p:cBhvr>
                                        <p:cTn id="142" dur="500"/>
                                        <p:tgtEl>
                                          <p:spTgt spid="37"/>
                                        </p:tgtEl>
                                      </p:cBhvr>
                                    </p:animEffect>
                                  </p:childTnLst>
                                </p:cTn>
                              </p:par>
                              <p:par>
                                <p:cTn id="148" presetID="2" presetClass="entr" presetSubtype="4" fill="hold" grpId="0" nodeType="withEffect">
                                  <p:stCondLst>
                                    <p:cond delay="120"/>
                                  </p:stCondLst>
                                  <p:childTnLst>
                                    <p:set>
                                      <p:cBhvr>
                                        <p:cTn id="144" dur="1" fill="hold">
                                          <p:stCondLst>
                                            <p:cond delay="0"/>
                                          </p:stCondLst>
                                        </p:cTn>
                                        <p:tgtEl>
                                          <p:spTgt spid="38"/>
                                        </p:tgtEl>
                                        <p:attrNameLst>
                                          <p:attrName>style.visibility</p:attrName>
                                        </p:attrNameLst>
                                      </p:cBhvr>
                                      <p:to>
                                        <p:strVal val="visible"/>
                                      </p:to>
                                    </p:set>
                                    <p:anim calcmode="lin" valueType="num">
                                      <p:cBhvr additive="base">
                                        <p:cTn id="145" dur="500" fill="hold"/>
                                        <p:tgtEl>
                                          <p:spTgt spid="38"/>
                                        </p:tgtEl>
                                        <p:attrNameLst>
                                          <p:attrName>ppt_x</p:attrName>
                                        </p:attrNameLst>
                                      </p:cBhvr>
                                      <p:tavLst>
                                        <p:tav tm="0">
                                          <p:val>
                                            <p:strVal val="#ppt_x"/>
                                          </p:val>
                                        </p:tav>
                                        <p:tav tm="100000">
                                          <p:val>
                                            <p:strVal val="#ppt_x"/>
                                          </p:val>
                                        </p:tav>
                                      </p:tavLst>
                                    </p:anim>
                                    <p:anim calcmode="lin" valueType="num">
                                      <p:cBhvr additive="base">
                                        <p:cTn id="146" dur="500" fill="hold"/>
                                        <p:tgtEl>
                                          <p:spTgt spid="38"/>
                                        </p:tgtEl>
                                        <p:attrNameLst>
                                          <p:attrName>ppt_y</p:attrName>
                                        </p:attrNameLst>
                                      </p:cBhvr>
                                      <p:tavLst>
                                        <p:tav tm="0">
                                          <p:val>
                                            <p:strVal val="#ppt_y+0.1"/>
                                          </p:val>
                                        </p:tav>
                                        <p:tav tm="100000">
                                          <p:val>
                                            <p:strVal val="#ppt_y"/>
                                          </p:val>
                                        </p:tav>
                                      </p:tavLst>
                                    </p:anim>
                                    <p:animEffect transition="in" filter="fade">
                                      <p:cBhvr>
                                        <p:cTn id="147" dur="500"/>
                                        <p:tgtEl>
                                          <p:spTgt spid="38"/>
                                        </p:tgtEl>
                                      </p:cBhvr>
                                    </p:animEffect>
                                  </p:childTnLst>
                                </p:cTn>
                              </p:par>
                              <p:par>
                                <p:cTn id="153" presetID="2" presetClass="entr" presetSubtype="4" fill="hold" grpId="0" nodeType="withEffect">
                                  <p:stCondLst>
                                    <p:cond delay="120"/>
                                  </p:stCondLst>
                                  <p:childTnLst>
                                    <p:set>
                                      <p:cBhvr>
                                        <p:cTn id="149" dur="1" fill="hold">
                                          <p:stCondLst>
                                            <p:cond delay="0"/>
                                          </p:stCondLst>
                                        </p:cTn>
                                        <p:tgtEl>
                                          <p:spTgt spid="39"/>
                                        </p:tgtEl>
                                        <p:attrNameLst>
                                          <p:attrName>style.visibility</p:attrName>
                                        </p:attrNameLst>
                                      </p:cBhvr>
                                      <p:to>
                                        <p:strVal val="visible"/>
                                      </p:to>
                                    </p:set>
                                    <p:anim calcmode="lin" valueType="num">
                                      <p:cBhvr additive="base">
                                        <p:cTn id="150" dur="500" fill="hold"/>
                                        <p:tgtEl>
                                          <p:spTgt spid="39"/>
                                        </p:tgtEl>
                                        <p:attrNameLst>
                                          <p:attrName>ppt_x</p:attrName>
                                        </p:attrNameLst>
                                      </p:cBhvr>
                                      <p:tavLst>
                                        <p:tav tm="0">
                                          <p:val>
                                            <p:strVal val="#ppt_x"/>
                                          </p:val>
                                        </p:tav>
                                        <p:tav tm="100000">
                                          <p:val>
                                            <p:strVal val="#ppt_x"/>
                                          </p:val>
                                        </p:tav>
                                      </p:tavLst>
                                    </p:anim>
                                    <p:anim calcmode="lin" valueType="num">
                                      <p:cBhvr additive="base">
                                        <p:cTn id="151" dur="500" fill="hold"/>
                                        <p:tgtEl>
                                          <p:spTgt spid="39"/>
                                        </p:tgtEl>
                                        <p:attrNameLst>
                                          <p:attrName>ppt_y</p:attrName>
                                        </p:attrNameLst>
                                      </p:cBhvr>
                                      <p:tavLst>
                                        <p:tav tm="0">
                                          <p:val>
                                            <p:strVal val="#ppt_y+0.1"/>
                                          </p:val>
                                        </p:tav>
                                        <p:tav tm="100000">
                                          <p:val>
                                            <p:strVal val="#ppt_y"/>
                                          </p:val>
                                        </p:tav>
                                      </p:tavLst>
                                    </p:anim>
                                    <p:animEffect transition="in" filter="fade">
                                      <p:cBhvr>
                                        <p:cTn id="152" dur="500"/>
                                        <p:tgtEl>
                                          <p:spTgt spid="39"/>
                                        </p:tgtEl>
                                      </p:cBhvr>
                                    </p:animEffect>
                                  </p:childTnLst>
                                </p:cTn>
                              </p:par>
                              <p:par>
                                <p:cTn id="158" presetID="2" presetClass="entr" presetSubtype="4" fill="hold" grpId="0" nodeType="withEffect">
                                  <p:stCondLst>
                                    <p:cond delay="12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500" fill="hold"/>
                                        <p:tgtEl>
                                          <p:spTgt spid="40"/>
                                        </p:tgtEl>
                                        <p:attrNameLst>
                                          <p:attrName>ppt_x</p:attrName>
                                        </p:attrNameLst>
                                      </p:cBhvr>
                                      <p:tavLst>
                                        <p:tav tm="0">
                                          <p:val>
                                            <p:strVal val="#ppt_x"/>
                                          </p:val>
                                        </p:tav>
                                        <p:tav tm="100000">
                                          <p:val>
                                            <p:strVal val="#ppt_x"/>
                                          </p:val>
                                        </p:tav>
                                      </p:tavLst>
                                    </p:anim>
                                    <p:anim calcmode="lin" valueType="num">
                                      <p:cBhvr additive="base">
                                        <p:cTn id="156" dur="500" fill="hold"/>
                                        <p:tgtEl>
                                          <p:spTgt spid="40"/>
                                        </p:tgtEl>
                                        <p:attrNameLst>
                                          <p:attrName>ppt_y</p:attrName>
                                        </p:attrNameLst>
                                      </p:cBhvr>
                                      <p:tavLst>
                                        <p:tav tm="0">
                                          <p:val>
                                            <p:strVal val="#ppt_y+0.1"/>
                                          </p:val>
                                        </p:tav>
                                        <p:tav tm="100000">
                                          <p:val>
                                            <p:strVal val="#ppt_y"/>
                                          </p:val>
                                        </p:tav>
                                      </p:tavLst>
                                    </p:anim>
                                    <p:animEffect transition="in" filter="fade">
                                      <p:cBhvr>
                                        <p:cTn id="157" dur="500"/>
                                        <p:tgtEl>
                                          <p:spTgt spid="40"/>
                                        </p:tgtEl>
                                      </p:cBhvr>
                                    </p:animEffect>
                                  </p:childTnLst>
                                </p:cTn>
                              </p:par>
                            </p:childTnLst>
                          </p:cTn>
                        </p:par>
                      </p:childTnLst>
                    </p:cTn>
                  </p:par>
                  <p:par>
                    <p:cTn id="159" fill="hold">
                      <p:stCondLst>
                        <p:cond delay="indefinite"/>
                      </p:stCondLst>
                      <p:childTnLst>
                        <p:par>
                          <p:cTn id="160" fill="hold">
                            <p:stCondLst>
                              <p:cond delay="0"/>
                            </p:stCondLst>
                            <p:childTnLst>
                              <p:par>
                                <p:cTn id="165" presetID="2" presetClass="entr" presetSubtype="4" fill="hold" grpId="0" nodeType="clickEffect">
                                  <p:stCondLst>
                                    <p:cond delay="0"/>
                                  </p:stCondLst>
                                  <p:childTnLst>
                                    <p:set>
                                      <p:cBhvr>
                                        <p:cTn id="161" dur="1" fill="hold">
                                          <p:stCondLst>
                                            <p:cond delay="0"/>
                                          </p:stCondLst>
                                        </p:cTn>
                                        <p:tgtEl>
                                          <p:spTgt spid="41"/>
                                        </p:tgtEl>
                                        <p:attrNameLst>
                                          <p:attrName>style.visibility</p:attrName>
                                        </p:attrNameLst>
                                      </p:cBhvr>
                                      <p:to>
                                        <p:strVal val="visible"/>
                                      </p:to>
                                    </p:set>
                                    <p:anim calcmode="lin" valueType="num">
                                      <p:cBhvr additive="base">
                                        <p:cTn id="162" dur="500" fill="hold"/>
                                        <p:tgtEl>
                                          <p:spTgt spid="41"/>
                                        </p:tgtEl>
                                        <p:attrNameLst>
                                          <p:attrName>ppt_x</p:attrName>
                                        </p:attrNameLst>
                                      </p:cBhvr>
                                      <p:tavLst>
                                        <p:tav tm="0">
                                          <p:val>
                                            <p:strVal val="#ppt_x"/>
                                          </p:val>
                                        </p:tav>
                                        <p:tav tm="100000">
                                          <p:val>
                                            <p:strVal val="#ppt_x"/>
                                          </p:val>
                                        </p:tav>
                                      </p:tavLst>
                                    </p:anim>
                                    <p:anim calcmode="lin" valueType="num">
                                      <p:cBhvr additive="base">
                                        <p:cTn id="163" dur="500" fill="hold"/>
                                        <p:tgtEl>
                                          <p:spTgt spid="41"/>
                                        </p:tgtEl>
                                        <p:attrNameLst>
                                          <p:attrName>ppt_y</p:attrName>
                                        </p:attrNameLst>
                                      </p:cBhvr>
                                      <p:tavLst>
                                        <p:tav tm="0">
                                          <p:val>
                                            <p:strVal val="#ppt_y+0.1"/>
                                          </p:val>
                                        </p:tav>
                                        <p:tav tm="100000">
                                          <p:val>
                                            <p:strVal val="#ppt_y"/>
                                          </p:val>
                                        </p:tav>
                                      </p:tavLst>
                                    </p:anim>
                                    <p:animEffect transition="in" filter="fade">
                                      <p:cBhvr>
                                        <p:cTn id="164" dur="500"/>
                                        <p:tgtEl>
                                          <p:spTgt spid="41"/>
                                        </p:tgtEl>
                                      </p:cBhvr>
                                    </p:animEffect>
                                  </p:childTnLst>
                                </p:cTn>
                              </p:par>
                              <p:par>
                                <p:cTn id="170" presetID="2" presetClass="entr" presetSubtype="4" fill="hold" grpId="0" nodeType="withEffect">
                                  <p:stCondLst>
                                    <p:cond delay="0"/>
                                  </p:stCondLst>
                                  <p:childTnLst>
                                    <p:set>
                                      <p:cBhvr>
                                        <p:cTn id="166" dur="1" fill="hold">
                                          <p:stCondLst>
                                            <p:cond delay="0"/>
                                          </p:stCondLst>
                                        </p:cTn>
                                        <p:tgtEl>
                                          <p:spTgt spid="42"/>
                                        </p:tgtEl>
                                        <p:attrNameLst>
                                          <p:attrName>style.visibility</p:attrName>
                                        </p:attrNameLst>
                                      </p:cBhvr>
                                      <p:to>
                                        <p:strVal val="visible"/>
                                      </p:to>
                                    </p:set>
                                    <p:anim calcmode="lin" valueType="num">
                                      <p:cBhvr additive="base">
                                        <p:cTn id="167" dur="500" fill="hold"/>
                                        <p:tgtEl>
                                          <p:spTgt spid="42"/>
                                        </p:tgtEl>
                                        <p:attrNameLst>
                                          <p:attrName>ppt_x</p:attrName>
                                        </p:attrNameLst>
                                      </p:cBhvr>
                                      <p:tavLst>
                                        <p:tav tm="0">
                                          <p:val>
                                            <p:strVal val="#ppt_x"/>
                                          </p:val>
                                        </p:tav>
                                        <p:tav tm="100000">
                                          <p:val>
                                            <p:strVal val="#ppt_x"/>
                                          </p:val>
                                        </p:tav>
                                      </p:tavLst>
                                    </p:anim>
                                    <p:anim calcmode="lin" valueType="num">
                                      <p:cBhvr additive="base">
                                        <p:cTn id="168" dur="500" fill="hold"/>
                                        <p:tgtEl>
                                          <p:spTgt spid="42"/>
                                        </p:tgtEl>
                                        <p:attrNameLst>
                                          <p:attrName>ppt_y</p:attrName>
                                        </p:attrNameLst>
                                      </p:cBhvr>
                                      <p:tavLst>
                                        <p:tav tm="0">
                                          <p:val>
                                            <p:strVal val="#ppt_y+0.1"/>
                                          </p:val>
                                        </p:tav>
                                        <p:tav tm="100000">
                                          <p:val>
                                            <p:strVal val="#ppt_y"/>
                                          </p:val>
                                        </p:tav>
                                      </p:tavLst>
                                    </p:anim>
                                    <p:animEffect transition="in" filter="fade">
                                      <p:cBhvr>
                                        <p:cTn id="169" dur="500"/>
                                        <p:tgtEl>
                                          <p:spTgt spid="42"/>
                                        </p:tgtEl>
                                      </p:cBhvr>
                                    </p:animEffect>
                                  </p:childTnLst>
                                </p:cTn>
                              </p:par>
                              <p:par>
                                <p:cTn id="175" presetID="2" presetClass="entr" presetSubtype="4" fill="hold" grpId="0" nodeType="withEffect">
                                  <p:stCondLst>
                                    <p:cond delay="0"/>
                                  </p:stCondLst>
                                  <p:childTnLst>
                                    <p:set>
                                      <p:cBhvr>
                                        <p:cTn id="171" dur="1" fill="hold">
                                          <p:stCondLst>
                                            <p:cond delay="0"/>
                                          </p:stCondLst>
                                        </p:cTn>
                                        <p:tgtEl>
                                          <p:spTgt spid="43"/>
                                        </p:tgtEl>
                                        <p:attrNameLst>
                                          <p:attrName>style.visibility</p:attrName>
                                        </p:attrNameLst>
                                      </p:cBhvr>
                                      <p:to>
                                        <p:strVal val="visible"/>
                                      </p:to>
                                    </p:set>
                                    <p:anim calcmode="lin" valueType="num">
                                      <p:cBhvr additive="base">
                                        <p:cTn id="172" dur="500" fill="hold"/>
                                        <p:tgtEl>
                                          <p:spTgt spid="43"/>
                                        </p:tgtEl>
                                        <p:attrNameLst>
                                          <p:attrName>ppt_x</p:attrName>
                                        </p:attrNameLst>
                                      </p:cBhvr>
                                      <p:tavLst>
                                        <p:tav tm="0">
                                          <p:val>
                                            <p:strVal val="#ppt_x"/>
                                          </p:val>
                                        </p:tav>
                                        <p:tav tm="100000">
                                          <p:val>
                                            <p:strVal val="#ppt_x"/>
                                          </p:val>
                                        </p:tav>
                                      </p:tavLst>
                                    </p:anim>
                                    <p:anim calcmode="lin" valueType="num">
                                      <p:cBhvr additive="base">
                                        <p:cTn id="173" dur="500" fill="hold"/>
                                        <p:tgtEl>
                                          <p:spTgt spid="43"/>
                                        </p:tgtEl>
                                        <p:attrNameLst>
                                          <p:attrName>ppt_y</p:attrName>
                                        </p:attrNameLst>
                                      </p:cBhvr>
                                      <p:tavLst>
                                        <p:tav tm="0">
                                          <p:val>
                                            <p:strVal val="#ppt_y+0.1"/>
                                          </p:val>
                                        </p:tav>
                                        <p:tav tm="100000">
                                          <p:val>
                                            <p:strVal val="#ppt_y"/>
                                          </p:val>
                                        </p:tav>
                                      </p:tavLst>
                                    </p:anim>
                                    <p:animEffect transition="in" filter="fade">
                                      <p:cBhvr>
                                        <p:cTn id="174" dur="500"/>
                                        <p:tgtEl>
                                          <p:spTgt spid="43"/>
                                        </p:tgtEl>
                                      </p:cBhvr>
                                    </p:animEffect>
                                  </p:childTnLst>
                                </p:cTn>
                              </p:par>
                              <p:par>
                                <p:cTn id="180" presetID="2" presetClass="entr" presetSubtype="4" fill="hold" grpId="0" nodeType="withEffect">
                                  <p:stCondLst>
                                    <p:cond delay="0"/>
                                  </p:stCondLst>
                                  <p:childTnLst>
                                    <p:set>
                                      <p:cBhvr>
                                        <p:cTn id="176" dur="1" fill="hold">
                                          <p:stCondLst>
                                            <p:cond delay="0"/>
                                          </p:stCondLst>
                                        </p:cTn>
                                        <p:tgtEl>
                                          <p:spTgt spid="44"/>
                                        </p:tgtEl>
                                        <p:attrNameLst>
                                          <p:attrName>style.visibility</p:attrName>
                                        </p:attrNameLst>
                                      </p:cBhvr>
                                      <p:to>
                                        <p:strVal val="visible"/>
                                      </p:to>
                                    </p:set>
                                    <p:anim calcmode="lin" valueType="num">
                                      <p:cBhvr additive="base">
                                        <p:cTn id="177" dur="500" fill="hold"/>
                                        <p:tgtEl>
                                          <p:spTgt spid="44"/>
                                        </p:tgtEl>
                                        <p:attrNameLst>
                                          <p:attrName>ppt_x</p:attrName>
                                        </p:attrNameLst>
                                      </p:cBhvr>
                                      <p:tavLst>
                                        <p:tav tm="0">
                                          <p:val>
                                            <p:strVal val="#ppt_x"/>
                                          </p:val>
                                        </p:tav>
                                        <p:tav tm="100000">
                                          <p:val>
                                            <p:strVal val="#ppt_x"/>
                                          </p:val>
                                        </p:tav>
                                      </p:tavLst>
                                    </p:anim>
                                    <p:anim calcmode="lin" valueType="num">
                                      <p:cBhvr additive="base">
                                        <p:cTn id="178" dur="500" fill="hold"/>
                                        <p:tgtEl>
                                          <p:spTgt spid="44"/>
                                        </p:tgtEl>
                                        <p:attrNameLst>
                                          <p:attrName>ppt_y</p:attrName>
                                        </p:attrNameLst>
                                      </p:cBhvr>
                                      <p:tavLst>
                                        <p:tav tm="0">
                                          <p:val>
                                            <p:strVal val="#ppt_y+0.1"/>
                                          </p:val>
                                        </p:tav>
                                        <p:tav tm="100000">
                                          <p:val>
                                            <p:strVal val="#ppt_y"/>
                                          </p:val>
                                        </p:tav>
                                      </p:tavLst>
                                    </p:anim>
                                    <p:animEffect transition="in" filter="fade">
                                      <p:cBhvr>
                                        <p:cTn id="179" dur="500"/>
                                        <p:tgtEl>
                                          <p:spTgt spid="44"/>
                                        </p:tgtEl>
                                      </p:cBhvr>
                                    </p:animEffect>
                                  </p:childTnLst>
                                </p:cTn>
                              </p:par>
                              <p:par>
                                <p:cTn id="185" presetID="2" presetClass="entr" presetSubtype="4" fill="hold" grpId="0" nodeType="withEffect">
                                  <p:stCondLst>
                                    <p:cond delay="0"/>
                                  </p:stCondLst>
                                  <p:childTnLst>
                                    <p:set>
                                      <p:cBhvr>
                                        <p:cTn id="181" dur="1" fill="hold">
                                          <p:stCondLst>
                                            <p:cond delay="0"/>
                                          </p:stCondLst>
                                        </p:cTn>
                                        <p:tgtEl>
                                          <p:spTgt spid="45"/>
                                        </p:tgtEl>
                                        <p:attrNameLst>
                                          <p:attrName>style.visibility</p:attrName>
                                        </p:attrNameLst>
                                      </p:cBhvr>
                                      <p:to>
                                        <p:strVal val="visible"/>
                                      </p:to>
                                    </p:set>
                                    <p:anim calcmode="lin" valueType="num">
                                      <p:cBhvr additive="base">
                                        <p:cTn id="182" dur="500" fill="hold"/>
                                        <p:tgtEl>
                                          <p:spTgt spid="45"/>
                                        </p:tgtEl>
                                        <p:attrNameLst>
                                          <p:attrName>ppt_x</p:attrName>
                                        </p:attrNameLst>
                                      </p:cBhvr>
                                      <p:tavLst>
                                        <p:tav tm="0">
                                          <p:val>
                                            <p:strVal val="#ppt_x"/>
                                          </p:val>
                                        </p:tav>
                                        <p:tav tm="100000">
                                          <p:val>
                                            <p:strVal val="#ppt_x"/>
                                          </p:val>
                                        </p:tav>
                                      </p:tavLst>
                                    </p:anim>
                                    <p:anim calcmode="lin" valueType="num">
                                      <p:cBhvr additive="base">
                                        <p:cTn id="183" dur="500" fill="hold"/>
                                        <p:tgtEl>
                                          <p:spTgt spid="45"/>
                                        </p:tgtEl>
                                        <p:attrNameLst>
                                          <p:attrName>ppt_y</p:attrName>
                                        </p:attrNameLst>
                                      </p:cBhvr>
                                      <p:tavLst>
                                        <p:tav tm="0">
                                          <p:val>
                                            <p:strVal val="#ppt_y+0.1"/>
                                          </p:val>
                                        </p:tav>
                                        <p:tav tm="100000">
                                          <p:val>
                                            <p:strVal val="#ppt_y"/>
                                          </p:val>
                                        </p:tav>
                                      </p:tavLst>
                                    </p:anim>
                                    <p:animEffect transition="in" filter="fade">
                                      <p:cBhvr>
                                        <p:cTn id="184" dur="500"/>
                                        <p:tgtEl>
                                          <p:spTgt spid="45"/>
                                        </p:tgtEl>
                                      </p:cBhvr>
                                    </p:animEffect>
                                  </p:childTnLst>
                                </p:cTn>
                              </p:par>
                              <p:par>
                                <p:cTn id="190" presetID="2" presetClass="entr" presetSubtype="4" fill="hold" grpId="0" nodeType="withEffect">
                                  <p:stCondLst>
                                    <p:cond delay="120"/>
                                  </p:stCondLst>
                                  <p:childTnLst>
                                    <p:set>
                                      <p:cBhvr>
                                        <p:cTn id="186" dur="1" fill="hold">
                                          <p:stCondLst>
                                            <p:cond delay="0"/>
                                          </p:stCondLst>
                                        </p:cTn>
                                        <p:tgtEl>
                                          <p:spTgt spid="46"/>
                                        </p:tgtEl>
                                        <p:attrNameLst>
                                          <p:attrName>style.visibility</p:attrName>
                                        </p:attrNameLst>
                                      </p:cBhvr>
                                      <p:to>
                                        <p:strVal val="visible"/>
                                      </p:to>
                                    </p:set>
                                    <p:anim calcmode="lin" valueType="num">
                                      <p:cBhvr additive="base">
                                        <p:cTn id="187" dur="500" fill="hold"/>
                                        <p:tgtEl>
                                          <p:spTgt spid="46"/>
                                        </p:tgtEl>
                                        <p:attrNameLst>
                                          <p:attrName>ppt_x</p:attrName>
                                        </p:attrNameLst>
                                      </p:cBhvr>
                                      <p:tavLst>
                                        <p:tav tm="0">
                                          <p:val>
                                            <p:strVal val="#ppt_x"/>
                                          </p:val>
                                        </p:tav>
                                        <p:tav tm="100000">
                                          <p:val>
                                            <p:strVal val="#ppt_x"/>
                                          </p:val>
                                        </p:tav>
                                      </p:tavLst>
                                    </p:anim>
                                    <p:anim calcmode="lin" valueType="num">
                                      <p:cBhvr additive="base">
                                        <p:cTn id="188" dur="500" fill="hold"/>
                                        <p:tgtEl>
                                          <p:spTgt spid="46"/>
                                        </p:tgtEl>
                                        <p:attrNameLst>
                                          <p:attrName>ppt_y</p:attrName>
                                        </p:attrNameLst>
                                      </p:cBhvr>
                                      <p:tavLst>
                                        <p:tav tm="0">
                                          <p:val>
                                            <p:strVal val="#ppt_y+0.1"/>
                                          </p:val>
                                        </p:tav>
                                        <p:tav tm="100000">
                                          <p:val>
                                            <p:strVal val="#ppt_y"/>
                                          </p:val>
                                        </p:tav>
                                      </p:tavLst>
                                    </p:anim>
                                    <p:animEffect transition="in" filter="fade">
                                      <p:cBhvr>
                                        <p:cTn id="189" dur="500"/>
                                        <p:tgtEl>
                                          <p:spTgt spid="46"/>
                                        </p:tgtEl>
                                      </p:cBhvr>
                                    </p:animEffect>
                                  </p:childTnLst>
                                </p:cTn>
                              </p:par>
                              <p:par>
                                <p:cTn id="195" presetID="2" presetClass="entr" presetSubtype="4" fill="hold" grpId="0" nodeType="withEffect">
                                  <p:stCondLst>
                                    <p:cond delay="120"/>
                                  </p:stCondLst>
                                  <p:childTnLst>
                                    <p:set>
                                      <p:cBhvr>
                                        <p:cTn id="191" dur="1" fill="hold">
                                          <p:stCondLst>
                                            <p:cond delay="0"/>
                                          </p:stCondLst>
                                        </p:cTn>
                                        <p:tgtEl>
                                          <p:spTgt spid="47"/>
                                        </p:tgtEl>
                                        <p:attrNameLst>
                                          <p:attrName>style.visibility</p:attrName>
                                        </p:attrNameLst>
                                      </p:cBhvr>
                                      <p:to>
                                        <p:strVal val="visible"/>
                                      </p:to>
                                    </p:set>
                                    <p:anim calcmode="lin" valueType="num">
                                      <p:cBhvr additive="base">
                                        <p:cTn id="192" dur="500" fill="hold"/>
                                        <p:tgtEl>
                                          <p:spTgt spid="47"/>
                                        </p:tgtEl>
                                        <p:attrNameLst>
                                          <p:attrName>ppt_x</p:attrName>
                                        </p:attrNameLst>
                                      </p:cBhvr>
                                      <p:tavLst>
                                        <p:tav tm="0">
                                          <p:val>
                                            <p:strVal val="#ppt_x"/>
                                          </p:val>
                                        </p:tav>
                                        <p:tav tm="100000">
                                          <p:val>
                                            <p:strVal val="#ppt_x"/>
                                          </p:val>
                                        </p:tav>
                                      </p:tavLst>
                                    </p:anim>
                                    <p:anim calcmode="lin" valueType="num">
                                      <p:cBhvr additive="base">
                                        <p:cTn id="193" dur="500" fill="hold"/>
                                        <p:tgtEl>
                                          <p:spTgt spid="47"/>
                                        </p:tgtEl>
                                        <p:attrNameLst>
                                          <p:attrName>ppt_y</p:attrName>
                                        </p:attrNameLst>
                                      </p:cBhvr>
                                      <p:tavLst>
                                        <p:tav tm="0">
                                          <p:val>
                                            <p:strVal val="#ppt_y+0.1"/>
                                          </p:val>
                                        </p:tav>
                                        <p:tav tm="100000">
                                          <p:val>
                                            <p:strVal val="#ppt_y"/>
                                          </p:val>
                                        </p:tav>
                                      </p:tavLst>
                                    </p:anim>
                                    <p:animEffect transition="in" filter="fade">
                                      <p:cBhvr>
                                        <p:cTn id="194" dur="500"/>
                                        <p:tgtEl>
                                          <p:spTgt spid="47"/>
                                        </p:tgtEl>
                                      </p:cBhvr>
                                    </p:animEffect>
                                  </p:childTnLst>
                                </p:cTn>
                              </p:par>
                              <p:par>
                                <p:cTn id="200" presetID="2" presetClass="entr" presetSubtype="4" fill="hold" grpId="0" nodeType="withEffect">
                                  <p:stCondLst>
                                    <p:cond delay="120"/>
                                  </p:stCondLst>
                                  <p:childTnLst>
                                    <p:set>
                                      <p:cBhvr>
                                        <p:cTn id="196" dur="1" fill="hold">
                                          <p:stCondLst>
                                            <p:cond delay="0"/>
                                          </p:stCondLst>
                                        </p:cTn>
                                        <p:tgtEl>
                                          <p:spTgt spid="48"/>
                                        </p:tgtEl>
                                        <p:attrNameLst>
                                          <p:attrName>style.visibility</p:attrName>
                                        </p:attrNameLst>
                                      </p:cBhvr>
                                      <p:to>
                                        <p:strVal val="visible"/>
                                      </p:to>
                                    </p:set>
                                    <p:anim calcmode="lin" valueType="num">
                                      <p:cBhvr additive="base">
                                        <p:cTn id="197" dur="500" fill="hold"/>
                                        <p:tgtEl>
                                          <p:spTgt spid="48"/>
                                        </p:tgtEl>
                                        <p:attrNameLst>
                                          <p:attrName>ppt_x</p:attrName>
                                        </p:attrNameLst>
                                      </p:cBhvr>
                                      <p:tavLst>
                                        <p:tav tm="0">
                                          <p:val>
                                            <p:strVal val="#ppt_x"/>
                                          </p:val>
                                        </p:tav>
                                        <p:tav tm="100000">
                                          <p:val>
                                            <p:strVal val="#ppt_x"/>
                                          </p:val>
                                        </p:tav>
                                      </p:tavLst>
                                    </p:anim>
                                    <p:anim calcmode="lin" valueType="num">
                                      <p:cBhvr additive="base">
                                        <p:cTn id="198" dur="500" fill="hold"/>
                                        <p:tgtEl>
                                          <p:spTgt spid="48"/>
                                        </p:tgtEl>
                                        <p:attrNameLst>
                                          <p:attrName>ppt_y</p:attrName>
                                        </p:attrNameLst>
                                      </p:cBhvr>
                                      <p:tavLst>
                                        <p:tav tm="0">
                                          <p:val>
                                            <p:strVal val="#ppt_y+0.1"/>
                                          </p:val>
                                        </p:tav>
                                        <p:tav tm="100000">
                                          <p:val>
                                            <p:strVal val="#ppt_y"/>
                                          </p:val>
                                        </p:tav>
                                      </p:tavLst>
                                    </p:anim>
                                    <p:animEffect transition="in" filter="fade">
                                      <p:cBhvr>
                                        <p:cTn id="199" dur="500"/>
                                        <p:tgtEl>
                                          <p:spTgt spid="48"/>
                                        </p:tgtEl>
                                      </p:cBhvr>
                                    </p:animEffect>
                                  </p:childTnLst>
                                </p:cTn>
                              </p:par>
                              <p:par>
                                <p:cTn id="205" presetID="2" presetClass="entr" presetSubtype="4" fill="hold" grpId="0" nodeType="withEffect">
                                  <p:stCondLst>
                                    <p:cond delay="120"/>
                                  </p:stCondLst>
                                  <p:childTnLst>
                                    <p:set>
                                      <p:cBhvr>
                                        <p:cTn id="201" dur="1" fill="hold">
                                          <p:stCondLst>
                                            <p:cond delay="0"/>
                                          </p:stCondLst>
                                        </p:cTn>
                                        <p:tgtEl>
                                          <p:spTgt spid="49"/>
                                        </p:tgtEl>
                                        <p:attrNameLst>
                                          <p:attrName>style.visibility</p:attrName>
                                        </p:attrNameLst>
                                      </p:cBhvr>
                                      <p:to>
                                        <p:strVal val="visible"/>
                                      </p:to>
                                    </p:set>
                                    <p:anim calcmode="lin" valueType="num">
                                      <p:cBhvr additive="base">
                                        <p:cTn id="202" dur="500" fill="hold"/>
                                        <p:tgtEl>
                                          <p:spTgt spid="49"/>
                                        </p:tgtEl>
                                        <p:attrNameLst>
                                          <p:attrName>ppt_x</p:attrName>
                                        </p:attrNameLst>
                                      </p:cBhvr>
                                      <p:tavLst>
                                        <p:tav tm="0">
                                          <p:val>
                                            <p:strVal val="#ppt_x"/>
                                          </p:val>
                                        </p:tav>
                                        <p:tav tm="100000">
                                          <p:val>
                                            <p:strVal val="#ppt_x"/>
                                          </p:val>
                                        </p:tav>
                                      </p:tavLst>
                                    </p:anim>
                                    <p:anim calcmode="lin" valueType="num">
                                      <p:cBhvr additive="base">
                                        <p:cTn id="203" dur="500" fill="hold"/>
                                        <p:tgtEl>
                                          <p:spTgt spid="49"/>
                                        </p:tgtEl>
                                        <p:attrNameLst>
                                          <p:attrName>ppt_y</p:attrName>
                                        </p:attrNameLst>
                                      </p:cBhvr>
                                      <p:tavLst>
                                        <p:tav tm="0">
                                          <p:val>
                                            <p:strVal val="#ppt_y+0.1"/>
                                          </p:val>
                                        </p:tav>
                                        <p:tav tm="100000">
                                          <p:val>
                                            <p:strVal val="#ppt_y"/>
                                          </p:val>
                                        </p:tav>
                                      </p:tavLst>
                                    </p:anim>
                                    <p:animEffect transition="in" filter="fade">
                                      <p:cBhvr>
                                        <p:cTn id="204" dur="500"/>
                                        <p:tgtEl>
                                          <p:spTgt spid="49"/>
                                        </p:tgtEl>
                                      </p:cBhvr>
                                    </p:animEffect>
                                  </p:childTnLst>
                                </p:cTn>
                              </p:par>
                              <p:par>
                                <p:cTn id="210" presetID="2" presetClass="entr" presetSubtype="4" fill="hold" grpId="0" nodeType="withEffect">
                                  <p:stCondLst>
                                    <p:cond delay="120"/>
                                  </p:stCondLst>
                                  <p:childTnLst>
                                    <p:set>
                                      <p:cBhvr>
                                        <p:cTn id="206" dur="1" fill="hold">
                                          <p:stCondLst>
                                            <p:cond delay="0"/>
                                          </p:stCondLst>
                                        </p:cTn>
                                        <p:tgtEl>
                                          <p:spTgt spid="50"/>
                                        </p:tgtEl>
                                        <p:attrNameLst>
                                          <p:attrName>style.visibility</p:attrName>
                                        </p:attrNameLst>
                                      </p:cBhvr>
                                      <p:to>
                                        <p:strVal val="visible"/>
                                      </p:to>
                                    </p:set>
                                    <p:anim calcmode="lin" valueType="num">
                                      <p:cBhvr additive="base">
                                        <p:cTn id="207" dur="500" fill="hold"/>
                                        <p:tgtEl>
                                          <p:spTgt spid="50"/>
                                        </p:tgtEl>
                                        <p:attrNameLst>
                                          <p:attrName>ppt_x</p:attrName>
                                        </p:attrNameLst>
                                      </p:cBhvr>
                                      <p:tavLst>
                                        <p:tav tm="0">
                                          <p:val>
                                            <p:strVal val="#ppt_x"/>
                                          </p:val>
                                        </p:tav>
                                        <p:tav tm="100000">
                                          <p:val>
                                            <p:strVal val="#ppt_x"/>
                                          </p:val>
                                        </p:tav>
                                      </p:tavLst>
                                    </p:anim>
                                    <p:anim calcmode="lin" valueType="num">
                                      <p:cBhvr additive="base">
                                        <p:cTn id="208" dur="500" fill="hold"/>
                                        <p:tgtEl>
                                          <p:spTgt spid="50"/>
                                        </p:tgtEl>
                                        <p:attrNameLst>
                                          <p:attrName>ppt_y</p:attrName>
                                        </p:attrNameLst>
                                      </p:cBhvr>
                                      <p:tavLst>
                                        <p:tav tm="0">
                                          <p:val>
                                            <p:strVal val="#ppt_y+0.1"/>
                                          </p:val>
                                        </p:tav>
                                        <p:tav tm="100000">
                                          <p:val>
                                            <p:strVal val="#ppt_y"/>
                                          </p:val>
                                        </p:tav>
                                      </p:tavLst>
                                    </p:anim>
                                    <p:animEffect transition="in" filter="fade">
                                      <p:cBhvr>
                                        <p:cTn id="209" dur="500"/>
                                        <p:tgtEl>
                                          <p:spTgt spid="50"/>
                                        </p:tgtEl>
                                      </p:cBhvr>
                                    </p:animEffect>
                                  </p:childTnLst>
                                </p:cTn>
                              </p:par>
                            </p:childTnLst>
                          </p:cTn>
                        </p:par>
                      </p:childTnLst>
                    </p:cTn>
                  </p:par>
                  <p:par>
                    <p:cTn id="211" fill="hold">
                      <p:stCondLst>
                        <p:cond delay="indefinite"/>
                      </p:stCondLst>
                      <p:childTnLst>
                        <p:par>
                          <p:cTn id="212" fill="hold">
                            <p:stCondLst>
                              <p:cond delay="0"/>
                            </p:stCondLst>
                            <p:childTnLst>
                              <p:par>
                                <p:cTn id="215" presetID="22" presetClass="entr" presetSubtype="8" fill="hold" grpId="0" nodeType="clickEffect">
                                  <p:stCondLst>
                                    <p:cond delay="0"/>
                                  </p:stCondLst>
                                  <p:childTnLst>
                                    <p:set>
                                      <p:cBhvr>
                                        <p:cTn id="213" dur="1" fill="hold">
                                          <p:stCondLst>
                                            <p:cond delay="0"/>
                                          </p:stCondLst>
                                        </p:cTn>
                                        <p:tgtEl>
                                          <p:spTgt spid="51"/>
                                        </p:tgtEl>
                                        <p:attrNameLst>
                                          <p:attrName>style.visibility</p:attrName>
                                        </p:attrNameLst>
                                      </p:cBhvr>
                                      <p:to>
                                        <p:strVal val="visible"/>
                                      </p:to>
                                    </p:set>
                                    <p:animEffect transition="in" filter="wipe(left)">
                                      <p:cBhvr>
                                        <p:cTn id="214" dur="500"/>
                                        <p:tgtEl>
                                          <p:spTgt spid="51"/>
                                        </p:tgtEl>
                                      </p:cBhvr>
                                    </p:animEffect>
                                  </p:childTnLst>
                                </p:cTn>
                              </p:par>
                              <p:par>
                                <p:cTn id="218" presetID="10" presetClass="entr" presetSubtype="0" fill="hold" grpId="0" nodeType="withEffect">
                                  <p:stCondLst>
                                    <p:cond delay="200"/>
                                  </p:stCondLst>
                                  <p:childTnLst>
                                    <p:set>
                                      <p:cBhvr>
                                        <p:cTn id="216" dur="1" fill="hold">
                                          <p:stCondLst>
                                            <p:cond delay="0"/>
                                          </p:stCondLst>
                                        </p:cTn>
                                        <p:tgtEl>
                                          <p:spTgt spid="52"/>
                                        </p:tgtEl>
                                        <p:attrNameLst>
                                          <p:attrName>style.visibility</p:attrName>
                                        </p:attrNameLst>
                                      </p:cBhvr>
                                      <p:to>
                                        <p:strVal val="visible"/>
                                      </p:to>
                                    </p:set>
                                    <p:animEffect transition="in" filter="fade">
                                      <p:cBhvr>
                                        <p:cTn id="217" dur="500"/>
                                        <p:tgtEl>
                                          <p:spTgt spid="52"/>
                                        </p:tgtEl>
                                      </p:cBhvr>
                                    </p:animEffect>
                                  </p:childTnLst>
                                </p:cTn>
                              </p:par>
                            </p:childTnLst>
                          </p:cTn>
                        </p:par>
                      </p:childTnLst>
                    </p:cTn>
                  </p:par>
                  <p:par>
                    <p:cTn id="219" fill="hold">
                      <p:stCondLst>
                        <p:cond delay="indefinite"/>
                      </p:stCondLst>
                      <p:childTnLst>
                        <p:par>
                          <p:cTn id="220" fill="hold">
                            <p:stCondLst>
                              <p:cond delay="0"/>
                            </p:stCondLst>
                            <p:childTnLst>
                              <p:par>
                                <p:cTn id="225" presetID="2" presetClass="entr" presetSubtype="4" fill="hold" grpId="0" nodeType="clickEffect">
                                  <p:stCondLst>
                                    <p:cond delay="0"/>
                                  </p:stCondLst>
                                  <p:childTnLst>
                                    <p:set>
                                      <p:cBhvr>
                                        <p:cTn id="221" dur="1" fill="hold">
                                          <p:stCondLst>
                                            <p:cond delay="0"/>
                                          </p:stCondLst>
                                        </p:cTn>
                                        <p:tgtEl>
                                          <p:spTgt spid="53"/>
                                        </p:tgtEl>
                                        <p:attrNameLst>
                                          <p:attrName>style.visibility</p:attrName>
                                        </p:attrNameLst>
                                      </p:cBhvr>
                                      <p:to>
                                        <p:strVal val="visible"/>
                                      </p:to>
                                    </p:set>
                                    <p:anim calcmode="lin" valueType="num">
                                      <p:cBhvr additive="base">
                                        <p:cTn id="222" dur="500" fill="hold"/>
                                        <p:tgtEl>
                                          <p:spTgt spid="53"/>
                                        </p:tgtEl>
                                        <p:attrNameLst>
                                          <p:attrName>ppt_x</p:attrName>
                                        </p:attrNameLst>
                                      </p:cBhvr>
                                      <p:tavLst>
                                        <p:tav tm="0">
                                          <p:val>
                                            <p:strVal val="#ppt_x"/>
                                          </p:val>
                                        </p:tav>
                                        <p:tav tm="100000">
                                          <p:val>
                                            <p:strVal val="#ppt_x"/>
                                          </p:val>
                                        </p:tav>
                                      </p:tavLst>
                                    </p:anim>
                                    <p:anim calcmode="lin" valueType="num">
                                      <p:cBhvr additive="base">
                                        <p:cTn id="223" dur="500" fill="hold"/>
                                        <p:tgtEl>
                                          <p:spTgt spid="53"/>
                                        </p:tgtEl>
                                        <p:attrNameLst>
                                          <p:attrName>ppt_y</p:attrName>
                                        </p:attrNameLst>
                                      </p:cBhvr>
                                      <p:tavLst>
                                        <p:tav tm="0">
                                          <p:val>
                                            <p:strVal val="#ppt_y+0.1"/>
                                          </p:val>
                                        </p:tav>
                                        <p:tav tm="100000">
                                          <p:val>
                                            <p:strVal val="#ppt_y"/>
                                          </p:val>
                                        </p:tav>
                                      </p:tavLst>
                                    </p:anim>
                                    <p:animEffect transition="in" filter="fade">
                                      <p:cBhvr>
                                        <p:cTn id="224" dur="500"/>
                                        <p:tgtEl>
                                          <p:spTgt spid="53"/>
                                        </p:tgtEl>
                                      </p:cBhvr>
                                    </p:animEffect>
                                  </p:childTnLst>
                                </p:cTn>
                              </p:par>
                              <p:par>
                                <p:cTn id="230" presetID="2" presetClass="entr" presetSubtype="4" fill="hold" grpId="0" nodeType="withEffect">
                                  <p:stCondLst>
                                    <p:cond delay="0"/>
                                  </p:stCondLst>
                                  <p:childTnLst>
                                    <p:set>
                                      <p:cBhvr>
                                        <p:cTn id="226" dur="1" fill="hold">
                                          <p:stCondLst>
                                            <p:cond delay="0"/>
                                          </p:stCondLst>
                                        </p:cTn>
                                        <p:tgtEl>
                                          <p:spTgt spid="54"/>
                                        </p:tgtEl>
                                        <p:attrNameLst>
                                          <p:attrName>style.visibility</p:attrName>
                                        </p:attrNameLst>
                                      </p:cBhvr>
                                      <p:to>
                                        <p:strVal val="visible"/>
                                      </p:to>
                                    </p:set>
                                    <p:anim calcmode="lin" valueType="num">
                                      <p:cBhvr additive="base">
                                        <p:cTn id="227" dur="500" fill="hold"/>
                                        <p:tgtEl>
                                          <p:spTgt spid="54"/>
                                        </p:tgtEl>
                                        <p:attrNameLst>
                                          <p:attrName>ppt_x</p:attrName>
                                        </p:attrNameLst>
                                      </p:cBhvr>
                                      <p:tavLst>
                                        <p:tav tm="0">
                                          <p:val>
                                            <p:strVal val="#ppt_x"/>
                                          </p:val>
                                        </p:tav>
                                        <p:tav tm="100000">
                                          <p:val>
                                            <p:strVal val="#ppt_x"/>
                                          </p:val>
                                        </p:tav>
                                      </p:tavLst>
                                    </p:anim>
                                    <p:anim calcmode="lin" valueType="num">
                                      <p:cBhvr additive="base">
                                        <p:cTn id="228" dur="500" fill="hold"/>
                                        <p:tgtEl>
                                          <p:spTgt spid="54"/>
                                        </p:tgtEl>
                                        <p:attrNameLst>
                                          <p:attrName>ppt_y</p:attrName>
                                        </p:attrNameLst>
                                      </p:cBhvr>
                                      <p:tavLst>
                                        <p:tav tm="0">
                                          <p:val>
                                            <p:strVal val="#ppt_y+0.1"/>
                                          </p:val>
                                        </p:tav>
                                        <p:tav tm="100000">
                                          <p:val>
                                            <p:strVal val="#ppt_y"/>
                                          </p:val>
                                        </p:tav>
                                      </p:tavLst>
                                    </p:anim>
                                    <p:animEffect transition="in" filter="fade">
                                      <p:cBhvr>
                                        <p:cTn id="229" dur="500"/>
                                        <p:tgtEl>
                                          <p:spTgt spid="54"/>
                                        </p:tgtEl>
                                      </p:cBhvr>
                                    </p:animEffect>
                                  </p:childTnLst>
                                </p:cTn>
                              </p:par>
                              <p:par>
                                <p:cTn id="235" presetID="2" presetClass="entr" presetSubtype="4" fill="hold" grpId="0" nodeType="withEffect">
                                  <p:stCondLst>
                                    <p:cond delay="0"/>
                                  </p:stCondLst>
                                  <p:childTnLst>
                                    <p:set>
                                      <p:cBhvr>
                                        <p:cTn id="231" dur="1" fill="hold">
                                          <p:stCondLst>
                                            <p:cond delay="0"/>
                                          </p:stCondLst>
                                        </p:cTn>
                                        <p:tgtEl>
                                          <p:spTgt spid="55"/>
                                        </p:tgtEl>
                                        <p:attrNameLst>
                                          <p:attrName>style.visibility</p:attrName>
                                        </p:attrNameLst>
                                      </p:cBhvr>
                                      <p:to>
                                        <p:strVal val="visible"/>
                                      </p:to>
                                    </p:set>
                                    <p:anim calcmode="lin" valueType="num">
                                      <p:cBhvr additive="base">
                                        <p:cTn id="232" dur="500" fill="hold"/>
                                        <p:tgtEl>
                                          <p:spTgt spid="55"/>
                                        </p:tgtEl>
                                        <p:attrNameLst>
                                          <p:attrName>ppt_x</p:attrName>
                                        </p:attrNameLst>
                                      </p:cBhvr>
                                      <p:tavLst>
                                        <p:tav tm="0">
                                          <p:val>
                                            <p:strVal val="#ppt_x"/>
                                          </p:val>
                                        </p:tav>
                                        <p:tav tm="100000">
                                          <p:val>
                                            <p:strVal val="#ppt_x"/>
                                          </p:val>
                                        </p:tav>
                                      </p:tavLst>
                                    </p:anim>
                                    <p:anim calcmode="lin" valueType="num">
                                      <p:cBhvr additive="base">
                                        <p:cTn id="233" dur="500" fill="hold"/>
                                        <p:tgtEl>
                                          <p:spTgt spid="55"/>
                                        </p:tgtEl>
                                        <p:attrNameLst>
                                          <p:attrName>ppt_y</p:attrName>
                                        </p:attrNameLst>
                                      </p:cBhvr>
                                      <p:tavLst>
                                        <p:tav tm="0">
                                          <p:val>
                                            <p:strVal val="#ppt_y+0.1"/>
                                          </p:val>
                                        </p:tav>
                                        <p:tav tm="100000">
                                          <p:val>
                                            <p:strVal val="#ppt_y"/>
                                          </p:val>
                                        </p:tav>
                                      </p:tavLst>
                                    </p:anim>
                                    <p:animEffect transition="in" filter="fade">
                                      <p:cBhvr>
                                        <p:cTn id="234"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k8"/>
          <p:cNvSpPr/>
          <p:nvPr/>
        </p:nvSpPr>
        <p:spPr>
          <a:xfrm>
            <a:off x="457200" y="155448"/>
            <a:ext cx="1354455" cy="22860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spc="60">
                <a:solidFill>
                  <a:srgbClr val="C2410C"/>
                </a:solidFill>
                <a:latin typeface="Segoe UI"/>
              </a:rPr>
              <a:t>1960s - 1970s</a:t>
            </a:r>
          </a:p>
        </p:txBody>
      </p:sp>
      <p:sp>
        <p:nvSpPr>
          <p:cNvPr id="10" name="h9"/>
          <p:cNvSpPr txBox="1"/>
          <p:nvPr/>
        </p:nvSpPr>
        <p:spPr>
          <a:xfrm>
            <a:off x="457200" y="420624"/>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Mainframes and Dumb Terminals</a:t>
            </a:r>
          </a:p>
        </p:txBody>
      </p:sp>
      <p:sp>
        <p:nvSpPr>
          <p:cNvPr id="11" name="sub10"/>
          <p:cNvSpPr txBox="1"/>
          <p:nvPr/>
        </p:nvSpPr>
        <p:spPr>
          <a:xfrm>
            <a:off x="457200" y="932688"/>
            <a:ext cx="8229600" cy="292608"/>
          </a:xfrm>
          <a:prstGeom prst="rect">
            <a:avLst/>
          </a:prstGeom>
          <a:noFill/>
        </p:spPr>
        <p:txBody>
          <a:bodyPr wrap="square" lIns="0" tIns="0" rIns="0" bIns="0" anchor="ctr">
            <a:spAutoFit/>
          </a:bodyPr>
          <a:lstStyle/>
          <a:p>
            <a:pPr algn="l"/>
            <a:r>
              <a:rPr sz="1150" b="0">
                <a:solidFill>
                  <a:srgbClr val="78716C"/>
                </a:solidFill>
                <a:latin typeface="Segoe UI"/>
              </a:rPr>
              <a:t>The first distributed systems: one central computer, many 'dumb' terminals</a:t>
            </a:r>
          </a:p>
        </p:txBody>
      </p:sp>
      <p:sp>
        <p:nvSpPr>
          <p:cNvPr id="12" name="a1u_nd11"/>
          <p:cNvSpPr/>
          <p:nvPr/>
        </p:nvSpPr>
        <p:spPr>
          <a:xfrm>
            <a:off x="457200" y="1481328"/>
            <a:ext cx="1371600" cy="566928"/>
          </a:xfrm>
          <a:prstGeom prst="roundRect">
            <a:avLst>
              <a:gd name="adj" fmla="val 1290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ndt12"/>
          <p:cNvSpPr txBox="1"/>
          <p:nvPr/>
        </p:nvSpPr>
        <p:spPr>
          <a:xfrm>
            <a:off x="502920" y="1517904"/>
            <a:ext cx="1280160" cy="265176"/>
          </a:xfrm>
          <a:prstGeom prst="rect">
            <a:avLst/>
          </a:prstGeom>
          <a:noFill/>
        </p:spPr>
        <p:txBody>
          <a:bodyPr wrap="square" lIns="0" tIns="0" rIns="0" bIns="0" anchor="b">
            <a:spAutoFit/>
          </a:bodyPr>
          <a:lstStyle/>
          <a:p>
            <a:pPr algn="ctr"/>
            <a:r>
              <a:rPr sz="900" b="1">
                <a:solidFill>
                  <a:srgbClr val="1C1917"/>
                </a:solidFill>
                <a:latin typeface="Segoe UI"/>
              </a:rPr>
              <a:t>Terminal</a:t>
            </a:r>
          </a:p>
        </p:txBody>
      </p:sp>
      <p:sp>
        <p:nvSpPr>
          <p:cNvPr id="14" name="a1u_nds13"/>
          <p:cNvSpPr txBox="1"/>
          <p:nvPr/>
        </p:nvSpPr>
        <p:spPr>
          <a:xfrm>
            <a:off x="502920" y="1792224"/>
            <a:ext cx="1280160" cy="219456"/>
          </a:xfrm>
          <a:prstGeom prst="rect">
            <a:avLst/>
          </a:prstGeom>
          <a:noFill/>
        </p:spPr>
        <p:txBody>
          <a:bodyPr wrap="square" lIns="0" tIns="0" rIns="0" bIns="0" anchor="t">
            <a:spAutoFit/>
          </a:bodyPr>
          <a:lstStyle/>
          <a:p>
            <a:pPr algn="ctr"/>
            <a:r>
              <a:rPr sz="800" b="0">
                <a:solidFill>
                  <a:srgbClr val="EA580C"/>
                </a:solidFill>
                <a:latin typeface="Segoe UI"/>
              </a:rPr>
              <a:t>screen + keyboard</a:t>
            </a:r>
          </a:p>
        </p:txBody>
      </p:sp>
      <p:cxnSp>
        <p:nvCxnSpPr>
          <p:cNvPr id="15" name="a1u_ar14"/>
          <p:cNvCxnSpPr/>
          <p:nvPr/>
        </p:nvCxnSpPr>
        <p:spPr>
          <a:xfrm>
            <a:off x="1856231" y="1764792"/>
            <a:ext cx="676657" cy="74980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a1ud100_nd15"/>
          <p:cNvSpPr/>
          <p:nvPr/>
        </p:nvSpPr>
        <p:spPr>
          <a:xfrm>
            <a:off x="457200" y="2212848"/>
            <a:ext cx="1371600" cy="566928"/>
          </a:xfrm>
          <a:prstGeom prst="roundRect">
            <a:avLst>
              <a:gd name="adj" fmla="val 1290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100_ndt16"/>
          <p:cNvSpPr txBox="1"/>
          <p:nvPr/>
        </p:nvSpPr>
        <p:spPr>
          <a:xfrm>
            <a:off x="502920" y="2249424"/>
            <a:ext cx="1280160" cy="265176"/>
          </a:xfrm>
          <a:prstGeom prst="rect">
            <a:avLst/>
          </a:prstGeom>
          <a:noFill/>
        </p:spPr>
        <p:txBody>
          <a:bodyPr wrap="square" lIns="0" tIns="0" rIns="0" bIns="0" anchor="b">
            <a:spAutoFit/>
          </a:bodyPr>
          <a:lstStyle/>
          <a:p>
            <a:pPr algn="ctr"/>
            <a:r>
              <a:rPr sz="900" b="1">
                <a:solidFill>
                  <a:srgbClr val="1C1917"/>
                </a:solidFill>
                <a:latin typeface="Segoe UI"/>
              </a:rPr>
              <a:t>Terminal</a:t>
            </a:r>
          </a:p>
        </p:txBody>
      </p:sp>
      <p:sp>
        <p:nvSpPr>
          <p:cNvPr id="18" name="a1ud100_nds17"/>
          <p:cNvSpPr txBox="1"/>
          <p:nvPr/>
        </p:nvSpPr>
        <p:spPr>
          <a:xfrm>
            <a:off x="502920" y="2523744"/>
            <a:ext cx="1280160" cy="219456"/>
          </a:xfrm>
          <a:prstGeom prst="rect">
            <a:avLst/>
          </a:prstGeom>
          <a:noFill/>
        </p:spPr>
        <p:txBody>
          <a:bodyPr wrap="square" lIns="0" tIns="0" rIns="0" bIns="0" anchor="t">
            <a:spAutoFit/>
          </a:bodyPr>
          <a:lstStyle/>
          <a:p>
            <a:pPr algn="ctr"/>
            <a:r>
              <a:rPr sz="800" b="0">
                <a:solidFill>
                  <a:srgbClr val="EA580C"/>
                </a:solidFill>
                <a:latin typeface="Segoe UI"/>
              </a:rPr>
              <a:t>screen + keyboard</a:t>
            </a:r>
          </a:p>
        </p:txBody>
      </p:sp>
      <p:cxnSp>
        <p:nvCxnSpPr>
          <p:cNvPr id="19" name="a1ud100_ar18"/>
          <p:cNvCxnSpPr/>
          <p:nvPr/>
        </p:nvCxnSpPr>
        <p:spPr>
          <a:xfrm>
            <a:off x="1856231" y="2496312"/>
            <a:ext cx="676657" cy="1828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a1ud200_nd19"/>
          <p:cNvSpPr/>
          <p:nvPr/>
        </p:nvSpPr>
        <p:spPr>
          <a:xfrm>
            <a:off x="457200" y="2944368"/>
            <a:ext cx="1371600" cy="566928"/>
          </a:xfrm>
          <a:prstGeom prst="roundRect">
            <a:avLst>
              <a:gd name="adj" fmla="val 1290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200_ndt20"/>
          <p:cNvSpPr txBox="1"/>
          <p:nvPr/>
        </p:nvSpPr>
        <p:spPr>
          <a:xfrm>
            <a:off x="502920" y="2980944"/>
            <a:ext cx="1280160" cy="265176"/>
          </a:xfrm>
          <a:prstGeom prst="rect">
            <a:avLst/>
          </a:prstGeom>
          <a:noFill/>
        </p:spPr>
        <p:txBody>
          <a:bodyPr wrap="square" lIns="0" tIns="0" rIns="0" bIns="0" anchor="b">
            <a:spAutoFit/>
          </a:bodyPr>
          <a:lstStyle/>
          <a:p>
            <a:pPr algn="ctr"/>
            <a:r>
              <a:rPr sz="900" b="1">
                <a:solidFill>
                  <a:srgbClr val="1C1917"/>
                </a:solidFill>
                <a:latin typeface="Segoe UI"/>
              </a:rPr>
              <a:t>Terminal</a:t>
            </a:r>
          </a:p>
        </p:txBody>
      </p:sp>
      <p:sp>
        <p:nvSpPr>
          <p:cNvPr id="22" name="a1ud200_nds21"/>
          <p:cNvSpPr txBox="1"/>
          <p:nvPr/>
        </p:nvSpPr>
        <p:spPr>
          <a:xfrm>
            <a:off x="502920" y="3255264"/>
            <a:ext cx="1280160" cy="219456"/>
          </a:xfrm>
          <a:prstGeom prst="rect">
            <a:avLst/>
          </a:prstGeom>
          <a:noFill/>
        </p:spPr>
        <p:txBody>
          <a:bodyPr wrap="square" lIns="0" tIns="0" rIns="0" bIns="0" anchor="t">
            <a:spAutoFit/>
          </a:bodyPr>
          <a:lstStyle/>
          <a:p>
            <a:pPr algn="ctr"/>
            <a:r>
              <a:rPr sz="800" b="0">
                <a:solidFill>
                  <a:srgbClr val="EA580C"/>
                </a:solidFill>
                <a:latin typeface="Segoe UI"/>
              </a:rPr>
              <a:t>screen + keyboard</a:t>
            </a:r>
          </a:p>
        </p:txBody>
      </p:sp>
      <p:cxnSp>
        <p:nvCxnSpPr>
          <p:cNvPr id="23" name="a1ud200_ar22"/>
          <p:cNvCxnSpPr/>
          <p:nvPr/>
        </p:nvCxnSpPr>
        <p:spPr>
          <a:xfrm flipV="1">
            <a:off x="1856231" y="2514600"/>
            <a:ext cx="676657" cy="713232"/>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a2u_card23"/>
          <p:cNvSpPr/>
          <p:nvPr/>
        </p:nvSpPr>
        <p:spPr>
          <a:xfrm>
            <a:off x="2560320" y="1435608"/>
            <a:ext cx="2423160" cy="2157984"/>
          </a:xfrm>
          <a:prstGeom prst="roundRect">
            <a:avLst>
              <a:gd name="adj" fmla="val 5084"/>
            </a:avLst>
          </a:prstGeom>
          <a:solidFill>
            <a:srgbClr val="F7F6F3"/>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u_mf24"/>
          <p:cNvSpPr txBox="1"/>
          <p:nvPr/>
        </p:nvSpPr>
        <p:spPr>
          <a:xfrm>
            <a:off x="2560320" y="1508760"/>
            <a:ext cx="2423160" cy="274320"/>
          </a:xfrm>
          <a:prstGeom prst="rect">
            <a:avLst/>
          </a:prstGeom>
          <a:noFill/>
        </p:spPr>
        <p:txBody>
          <a:bodyPr wrap="square" lIns="0" tIns="0" rIns="0" bIns="0" anchor="ctr">
            <a:spAutoFit/>
          </a:bodyPr>
          <a:lstStyle/>
          <a:p>
            <a:pPr algn="ctr"/>
            <a:r>
              <a:rPr sz="1200" b="1">
                <a:solidFill>
                  <a:srgbClr val="1C1917"/>
                </a:solidFill>
                <a:latin typeface="Segoe UI"/>
              </a:rPr>
              <a:t>Mainframe</a:t>
            </a:r>
          </a:p>
        </p:txBody>
      </p:sp>
      <p:sp>
        <p:nvSpPr>
          <p:cNvPr id="26" name="a2ud150_mb25"/>
          <p:cNvSpPr/>
          <p:nvPr/>
        </p:nvSpPr>
        <p:spPr>
          <a:xfrm>
            <a:off x="2697480" y="1911095"/>
            <a:ext cx="2148840" cy="658368"/>
          </a:xfrm>
          <a:prstGeom prst="roundRect">
            <a:avLst>
              <a:gd name="adj" fmla="val 11111"/>
            </a:avLst>
          </a:prstGeom>
          <a:solidFill>
            <a:srgbClr val="D9F2F7"/>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ud150_mbt26"/>
          <p:cNvSpPr txBox="1"/>
          <p:nvPr/>
        </p:nvSpPr>
        <p:spPr>
          <a:xfrm>
            <a:off x="2743200" y="1911095"/>
            <a:ext cx="2057400" cy="658368"/>
          </a:xfrm>
          <a:prstGeom prst="rect">
            <a:avLst/>
          </a:prstGeom>
          <a:noFill/>
        </p:spPr>
        <p:txBody>
          <a:bodyPr wrap="square" lIns="0" tIns="0" rIns="0" bIns="0" anchor="ctr">
            <a:spAutoFit/>
          </a:bodyPr>
          <a:lstStyle/>
          <a:p>
            <a:pPr algn="ctr"/>
            <a:r>
              <a:rPr sz="900" b="1">
                <a:solidFill>
                  <a:srgbClr val="0E7490"/>
                </a:solidFill>
                <a:latin typeface="Segoe UI"/>
              </a:rPr>
              <a:t>Application business layer</a:t>
            </a:r>
          </a:p>
        </p:txBody>
      </p:sp>
      <p:sp>
        <p:nvSpPr>
          <p:cNvPr id="28" name="a2ud300_mb27"/>
          <p:cNvSpPr/>
          <p:nvPr/>
        </p:nvSpPr>
        <p:spPr>
          <a:xfrm>
            <a:off x="2697480" y="2697479"/>
            <a:ext cx="2148840" cy="658368"/>
          </a:xfrm>
          <a:prstGeom prst="roundRect">
            <a:avLst>
              <a:gd name="adj" fmla="val 11111"/>
            </a:avLst>
          </a:prstGeom>
          <a:solidFill>
            <a:srgbClr val="FEF9C3"/>
          </a:solidFill>
          <a:ln w="12700">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d300_mbt28"/>
          <p:cNvSpPr txBox="1"/>
          <p:nvPr/>
        </p:nvSpPr>
        <p:spPr>
          <a:xfrm>
            <a:off x="2743200" y="2697479"/>
            <a:ext cx="2057400" cy="658368"/>
          </a:xfrm>
          <a:prstGeom prst="rect">
            <a:avLst/>
          </a:prstGeom>
          <a:noFill/>
        </p:spPr>
        <p:txBody>
          <a:bodyPr wrap="square" lIns="0" tIns="0" rIns="0" bIns="0" anchor="ctr">
            <a:spAutoFit/>
          </a:bodyPr>
          <a:lstStyle/>
          <a:p>
            <a:pPr algn="ctr"/>
            <a:r>
              <a:rPr sz="900" b="1">
                <a:solidFill>
                  <a:srgbClr val="A16207"/>
                </a:solidFill>
                <a:latin typeface="Segoe UI"/>
              </a:rPr>
              <a:t>Data / repository layer</a:t>
            </a:r>
          </a:p>
        </p:txBody>
      </p:sp>
      <p:sp>
        <p:nvSpPr>
          <p:cNvPr id="30" name="a3u_card29"/>
          <p:cNvSpPr/>
          <p:nvPr/>
        </p:nvSpPr>
        <p:spPr>
          <a:xfrm>
            <a:off x="5303520" y="1435608"/>
            <a:ext cx="3383280" cy="1024128"/>
          </a:xfrm>
          <a:prstGeom prst="roundRect">
            <a:avLst>
              <a:gd name="adj" fmla="val 1071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u_acc30"/>
          <p:cNvSpPr/>
          <p:nvPr/>
        </p:nvSpPr>
        <p:spPr>
          <a:xfrm>
            <a:off x="5303520" y="1435608"/>
            <a:ext cx="50292" cy="1024128"/>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3u_hh31"/>
          <p:cNvSpPr txBox="1"/>
          <p:nvPr/>
        </p:nvSpPr>
        <p:spPr>
          <a:xfrm>
            <a:off x="5504688" y="1545336"/>
            <a:ext cx="3017520" cy="237744"/>
          </a:xfrm>
          <a:prstGeom prst="rect">
            <a:avLst/>
          </a:prstGeom>
          <a:noFill/>
        </p:spPr>
        <p:txBody>
          <a:bodyPr wrap="square" lIns="0" tIns="0" rIns="0" bIns="0" anchor="ctr">
            <a:spAutoFit/>
          </a:bodyPr>
          <a:lstStyle/>
          <a:p>
            <a:pPr algn="l"/>
            <a:r>
              <a:rPr sz="900" b="1">
                <a:solidFill>
                  <a:srgbClr val="15803D"/>
                </a:solidFill>
                <a:latin typeface="Segoe UI"/>
              </a:rPr>
              <a:t>ADVANTAGES</a:t>
            </a:r>
          </a:p>
        </p:txBody>
      </p:sp>
      <p:sp>
        <p:nvSpPr>
          <p:cNvPr id="33" name="a3ud80_dot32"/>
          <p:cNvSpPr/>
          <p:nvPr/>
        </p:nvSpPr>
        <p:spPr>
          <a:xfrm>
            <a:off x="5504688" y="1924812"/>
            <a:ext cx="91440" cy="91440"/>
          </a:xfrm>
          <a:prstGeom prst="roundRect">
            <a:avLst>
              <a:gd name="adj" fmla="val 25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3ud80_b33"/>
          <p:cNvSpPr txBox="1"/>
          <p:nvPr/>
        </p:nvSpPr>
        <p:spPr>
          <a:xfrm>
            <a:off x="5724144" y="1828800"/>
            <a:ext cx="2761488" cy="237744"/>
          </a:xfrm>
          <a:prstGeom prst="rect">
            <a:avLst/>
          </a:prstGeom>
          <a:noFill/>
        </p:spPr>
        <p:txBody>
          <a:bodyPr wrap="square" lIns="0" tIns="0" rIns="0" bIns="0" anchor="t">
            <a:spAutoFit/>
          </a:bodyPr>
          <a:lstStyle/>
          <a:p>
            <a:pPr algn="l"/>
            <a:r>
              <a:rPr sz="950" b="0">
                <a:solidFill>
                  <a:srgbClr val="44403C"/>
                </a:solidFill>
                <a:latin typeface="Segoe UI"/>
              </a:rPr>
              <a:t>High security</a:t>
            </a:r>
          </a:p>
        </p:txBody>
      </p:sp>
      <p:sp>
        <p:nvSpPr>
          <p:cNvPr id="35" name="a3ud180_dot34"/>
          <p:cNvSpPr/>
          <p:nvPr/>
        </p:nvSpPr>
        <p:spPr>
          <a:xfrm>
            <a:off x="5504688" y="2199132"/>
            <a:ext cx="91440" cy="91440"/>
          </a:xfrm>
          <a:prstGeom prst="roundRect">
            <a:avLst>
              <a:gd name="adj" fmla="val 25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3ud180_b35"/>
          <p:cNvSpPr txBox="1"/>
          <p:nvPr/>
        </p:nvSpPr>
        <p:spPr>
          <a:xfrm>
            <a:off x="5724144" y="2103120"/>
            <a:ext cx="2761488" cy="237744"/>
          </a:xfrm>
          <a:prstGeom prst="rect">
            <a:avLst/>
          </a:prstGeom>
          <a:noFill/>
        </p:spPr>
        <p:txBody>
          <a:bodyPr wrap="square" lIns="0" tIns="0" rIns="0" bIns="0" anchor="t">
            <a:spAutoFit/>
          </a:bodyPr>
          <a:lstStyle/>
          <a:p>
            <a:pPr algn="l"/>
            <a:r>
              <a:rPr sz="950" b="0">
                <a:solidFill>
                  <a:srgbClr val="44403C"/>
                </a:solidFill>
                <a:latin typeface="Segoe UI"/>
              </a:rPr>
              <a:t>Centralized management</a:t>
            </a:r>
          </a:p>
        </p:txBody>
      </p:sp>
      <p:sp>
        <p:nvSpPr>
          <p:cNvPr id="37" name="a4u_card36"/>
          <p:cNvSpPr/>
          <p:nvPr/>
        </p:nvSpPr>
        <p:spPr>
          <a:xfrm>
            <a:off x="5303520" y="2569464"/>
            <a:ext cx="3383280" cy="1024128"/>
          </a:xfrm>
          <a:prstGeom prst="roundRect">
            <a:avLst>
              <a:gd name="adj" fmla="val 1071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4u_acc37"/>
          <p:cNvSpPr/>
          <p:nvPr/>
        </p:nvSpPr>
        <p:spPr>
          <a:xfrm>
            <a:off x="5303520" y="2569464"/>
            <a:ext cx="50292" cy="10241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4u_hh38"/>
          <p:cNvSpPr txBox="1"/>
          <p:nvPr/>
        </p:nvSpPr>
        <p:spPr>
          <a:xfrm>
            <a:off x="5504688" y="2679192"/>
            <a:ext cx="3017520" cy="237744"/>
          </a:xfrm>
          <a:prstGeom prst="rect">
            <a:avLst/>
          </a:prstGeom>
          <a:noFill/>
        </p:spPr>
        <p:txBody>
          <a:bodyPr wrap="square" lIns="0" tIns="0" rIns="0" bIns="0" anchor="ctr">
            <a:spAutoFit/>
          </a:bodyPr>
          <a:lstStyle/>
          <a:p>
            <a:pPr algn="l"/>
            <a:r>
              <a:rPr sz="900" b="1">
                <a:solidFill>
                  <a:srgbClr val="E11D48"/>
                </a:solidFill>
                <a:latin typeface="Segoe UI"/>
              </a:rPr>
              <a:t>DRAWBACKS</a:t>
            </a:r>
          </a:p>
        </p:txBody>
      </p:sp>
      <p:sp>
        <p:nvSpPr>
          <p:cNvPr id="40" name="a4ud80_dot39"/>
          <p:cNvSpPr/>
          <p:nvPr/>
        </p:nvSpPr>
        <p:spPr>
          <a:xfrm>
            <a:off x="5504688" y="3058668"/>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4ud80_b40"/>
          <p:cNvSpPr txBox="1"/>
          <p:nvPr/>
        </p:nvSpPr>
        <p:spPr>
          <a:xfrm>
            <a:off x="5724144" y="2962656"/>
            <a:ext cx="2761488" cy="237744"/>
          </a:xfrm>
          <a:prstGeom prst="rect">
            <a:avLst/>
          </a:prstGeom>
          <a:noFill/>
        </p:spPr>
        <p:txBody>
          <a:bodyPr wrap="square" lIns="0" tIns="0" rIns="0" bIns="0" anchor="t">
            <a:spAutoFit/>
          </a:bodyPr>
          <a:lstStyle/>
          <a:p>
            <a:pPr algn="l"/>
            <a:r>
              <a:rPr sz="950" b="0">
                <a:solidFill>
                  <a:srgbClr val="44403C"/>
                </a:solidFill>
                <a:latin typeface="Segoe UI"/>
              </a:rPr>
              <a:t>Too costly</a:t>
            </a:r>
          </a:p>
        </p:txBody>
      </p:sp>
      <p:sp>
        <p:nvSpPr>
          <p:cNvPr id="42" name="a4ud180_dot41"/>
          <p:cNvSpPr/>
          <p:nvPr/>
        </p:nvSpPr>
        <p:spPr>
          <a:xfrm>
            <a:off x="5504688" y="3332988"/>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4ud180_b42"/>
          <p:cNvSpPr txBox="1"/>
          <p:nvPr/>
        </p:nvSpPr>
        <p:spPr>
          <a:xfrm>
            <a:off x="5724144" y="3236976"/>
            <a:ext cx="2761488" cy="237744"/>
          </a:xfrm>
          <a:prstGeom prst="rect">
            <a:avLst/>
          </a:prstGeom>
          <a:noFill/>
        </p:spPr>
        <p:txBody>
          <a:bodyPr wrap="square" lIns="0" tIns="0" rIns="0" bIns="0" anchor="t">
            <a:spAutoFit/>
          </a:bodyPr>
          <a:lstStyle/>
          <a:p>
            <a:pPr algn="l"/>
            <a:r>
              <a:rPr sz="950" b="0">
                <a:solidFill>
                  <a:srgbClr val="44403C"/>
                </a:solidFill>
                <a:latin typeface="Segoe UI"/>
              </a:rPr>
              <a:t>Scaling is too difficult</a:t>
            </a:r>
          </a:p>
        </p:txBody>
      </p:sp>
      <p:sp>
        <p:nvSpPr>
          <p:cNvPr id="44" name="a5u_nb43"/>
          <p:cNvSpPr/>
          <p:nvPr/>
        </p:nvSpPr>
        <p:spPr>
          <a:xfrm>
            <a:off x="457200" y="3794760"/>
            <a:ext cx="8229600" cy="640080"/>
          </a:xfrm>
          <a:prstGeom prst="roundRect">
            <a:avLst>
              <a:gd name="adj" fmla="val 11428"/>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5u_nacc44"/>
          <p:cNvSpPr/>
          <p:nvPr/>
        </p:nvSpPr>
        <p:spPr>
          <a:xfrm>
            <a:off x="457200" y="3794760"/>
            <a:ext cx="54864" cy="64008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5u_nt45"/>
          <p:cNvSpPr txBox="1"/>
          <p:nvPr/>
        </p:nvSpPr>
        <p:spPr>
          <a:xfrm>
            <a:off x="658368" y="3794760"/>
            <a:ext cx="7827264" cy="640080"/>
          </a:xfrm>
          <a:prstGeom prst="rect">
            <a:avLst/>
          </a:prstGeom>
          <a:noFill/>
        </p:spPr>
        <p:txBody>
          <a:bodyPr wrap="square" lIns="0" tIns="0" rIns="0" bIns="0" anchor="ctr">
            <a:spAutoFit/>
          </a:bodyPr>
          <a:lstStyle/>
          <a:p>
            <a:pPr algn="l"/>
            <a:r>
              <a:rPr sz="850" b="1">
                <a:solidFill>
                  <a:srgbClr val="C2410C"/>
                </a:solidFill>
                <a:latin typeface="Segoe UI"/>
              </a:rPr>
              <a:t>i  </a:t>
            </a:r>
            <a:r>
              <a:rPr sz="850" b="0">
                <a:solidFill>
                  <a:srgbClr val="44403C"/>
                </a:solidFill>
                <a:latin typeface="Segoe UI"/>
              </a:rPr>
              <a:t>IBM's System/360 (1964) defined the era. A dumb terminal has no processing of its own - the user interface lives on it, everything else on the mainframe. Many banks still run core systems on mainframes today.</a:t>
            </a:r>
          </a:p>
        </p:txBody>
      </p:sp>
      <p:sp>
        <p:nvSpPr>
          <p:cNvPr id="47" name="ft46"/>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07</a:t>
            </a:r>
          </a:p>
        </p:txBody>
      </p:sp>
      <p:sp>
        <p:nvSpPr>
          <p:cNvPr id="48" name="ft47"/>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ft48"/>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50" name="ft49"/>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 calcmode="lin" valueType="num">
                                      <p:cBhvr additive="base">
                                        <p:cTn id="6" dur="500" fill="hold"/>
                                        <p:tgtEl>
                                          <p:spTgt spid="12"/>
                                        </p:tgtEl>
                                        <p:attrNameLst>
                                          <p:attrName>ppt_x</p:attrName>
                                        </p:attrNameLst>
                                      </p:cBhvr>
                                      <p:tavLst>
                                        <p:tav tm="0">
                                          <p:val>
                                            <p:strVal val="#ppt_x"/>
                                          </p:val>
                                        </p:tav>
                                        <p:tav tm="100000">
                                          <p:val>
                                            <p:strVal val="#ppt_x"/>
                                          </p:val>
                                        </p:tav>
                                      </p:tavLst>
                                    </p:anim>
                                    <p:anim calcmode="lin" valueType="num">
                                      <p:cBhvr additive="base">
                                        <p:cTn id="7" dur="500" fill="hold"/>
                                        <p:tgtEl>
                                          <p:spTgt spid="12"/>
                                        </p:tgtEl>
                                        <p:attrNameLst>
                                          <p:attrName>ppt_y</p:attrName>
                                        </p:attrNameLst>
                                      </p:cBhvr>
                                      <p:tavLst>
                                        <p:tav tm="0">
                                          <p:val>
                                            <p:strVal val="#ppt_y+0.1"/>
                                          </p:val>
                                        </p:tav>
                                        <p:tav tm="100000">
                                          <p:val>
                                            <p:strVal val="#ppt_y"/>
                                          </p:val>
                                        </p:tav>
                                      </p:tavLst>
                                    </p:anim>
                                    <p:animEffect transition="in" filter="fade">
                                      <p:cBhvr>
                                        <p:cTn id="8" dur="500"/>
                                        <p:tgtEl>
                                          <p:spTgt spid="12"/>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ppt_y+0.1"/>
                                          </p:val>
                                        </p:tav>
                                        <p:tav tm="100000">
                                          <p:val>
                                            <p:strVal val="#ppt_y"/>
                                          </p:val>
                                        </p:tav>
                                      </p:tavLst>
                                    </p:anim>
                                    <p:animEffect transition="in" filter="fade">
                                      <p:cBhvr>
                                        <p:cTn id="13" dur="500"/>
                                        <p:tgtEl>
                                          <p:spTgt spid="13"/>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ppt_y+0.1"/>
                                          </p:val>
                                        </p:tav>
                                        <p:tav tm="100000">
                                          <p:val>
                                            <p:strVal val="#ppt_y"/>
                                          </p:val>
                                        </p:tav>
                                      </p:tavLst>
                                    </p:anim>
                                    <p:animEffect transition="in" filter="fade">
                                      <p:cBhvr>
                                        <p:cTn id="18" dur="500"/>
                                        <p:tgtEl>
                                          <p:spTgt spid="14"/>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ppt_y+0.1"/>
                                          </p:val>
                                        </p:tav>
                                        <p:tav tm="100000">
                                          <p:val>
                                            <p:strVal val="#ppt_y"/>
                                          </p:val>
                                        </p:tav>
                                      </p:tavLst>
                                    </p:anim>
                                    <p:animEffect transition="in" filter="fade">
                                      <p:cBhvr>
                                        <p:cTn id="28" dur="500"/>
                                        <p:tgtEl>
                                          <p:spTgt spid="16"/>
                                        </p:tgtEl>
                                      </p:cBhvr>
                                    </p:animEffect>
                                  </p:childTnLst>
                                </p:cTn>
                              </p:par>
                              <p:par>
                                <p:cTn id="34" presetID="2" presetClass="entr" presetSubtype="4" fill="hold" grpId="0" nodeType="withEffect">
                                  <p:stCondLst>
                                    <p:cond delay="10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10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ppt_y+0.1"/>
                                          </p:val>
                                        </p:tav>
                                        <p:tav tm="100000">
                                          <p:val>
                                            <p:strVal val="#ppt_y"/>
                                          </p:val>
                                        </p:tav>
                                      </p:tavLst>
                                    </p:anim>
                                    <p:animEffect transition="in" filter="fade">
                                      <p:cBhvr>
                                        <p:cTn id="38" dur="500"/>
                                        <p:tgtEl>
                                          <p:spTgt spid="18"/>
                                        </p:tgtEl>
                                      </p:cBhvr>
                                    </p:animEffect>
                                  </p:childTnLst>
                                </p:cTn>
                              </p:par>
                              <p:par>
                                <p:cTn id="44" presetID="2" presetClass="entr" presetSubtype="4" fill="hold" grpId="0" nodeType="withEffect">
                                  <p:stCondLst>
                                    <p:cond delay="100"/>
                                  </p:stCondLst>
                                  <p:childTnLst>
                                    <p:set>
                                      <p:cBhvr>
                                        <p:cTn id="40" dur="1" fill="hold">
                                          <p:stCondLst>
                                            <p:cond delay="0"/>
                                          </p:stCondLst>
                                        </p:cTn>
                                        <p:tgtEl>
                                          <p:spTgt spid="19"/>
                                        </p:tgtEl>
                                        <p:attrNameLst>
                                          <p:attrName>style.visibility</p:attrName>
                                        </p:attrNameLst>
                                      </p:cBhvr>
                                      <p:to>
                                        <p:strVal val="visible"/>
                                      </p:to>
                                    </p:set>
                                    <p:anim calcmode="lin" valueType="num">
                                      <p:cBhvr additive="base">
                                        <p:cTn id="41" dur="500" fill="hold"/>
                                        <p:tgtEl>
                                          <p:spTgt spid="19"/>
                                        </p:tgtEl>
                                        <p:attrNameLst>
                                          <p:attrName>ppt_x</p:attrName>
                                        </p:attrNameLst>
                                      </p:cBhvr>
                                      <p:tavLst>
                                        <p:tav tm="0">
                                          <p:val>
                                            <p:strVal val="#ppt_x"/>
                                          </p:val>
                                        </p:tav>
                                        <p:tav tm="100000">
                                          <p:val>
                                            <p:strVal val="#ppt_x"/>
                                          </p:val>
                                        </p:tav>
                                      </p:tavLst>
                                    </p:anim>
                                    <p:anim calcmode="lin" valueType="num">
                                      <p:cBhvr additive="base">
                                        <p:cTn id="42" dur="500" fill="hold"/>
                                        <p:tgtEl>
                                          <p:spTgt spid="19"/>
                                        </p:tgtEl>
                                        <p:attrNameLst>
                                          <p:attrName>ppt_y</p:attrName>
                                        </p:attrNameLst>
                                      </p:cBhvr>
                                      <p:tavLst>
                                        <p:tav tm="0">
                                          <p:val>
                                            <p:strVal val="#ppt_y+0.1"/>
                                          </p:val>
                                        </p:tav>
                                        <p:tav tm="100000">
                                          <p:val>
                                            <p:strVal val="#ppt_y"/>
                                          </p:val>
                                        </p:tav>
                                      </p:tavLst>
                                    </p:anim>
                                    <p:animEffect transition="in" filter="fade">
                                      <p:cBhvr>
                                        <p:cTn id="43" dur="500"/>
                                        <p:tgtEl>
                                          <p:spTgt spid="19"/>
                                        </p:tgtEl>
                                      </p:cBhvr>
                                    </p:animEffect>
                                  </p:childTnLst>
                                </p:cTn>
                              </p:par>
                              <p:par>
                                <p:cTn id="49" presetID="2" presetClass="entr" presetSubtype="4" fill="hold" grpId="0" nodeType="withEffect">
                                  <p:stCondLst>
                                    <p:cond delay="200"/>
                                  </p:stCondLst>
                                  <p:childTnLst>
                                    <p:set>
                                      <p:cBhvr>
                                        <p:cTn id="45" dur="1" fill="hold">
                                          <p:stCondLst>
                                            <p:cond delay="0"/>
                                          </p:stCondLst>
                                        </p:cTn>
                                        <p:tgtEl>
                                          <p:spTgt spid="20"/>
                                        </p:tgtEl>
                                        <p:attrNameLst>
                                          <p:attrName>style.visibility</p:attrName>
                                        </p:attrNameLst>
                                      </p:cBhvr>
                                      <p:to>
                                        <p:strVal val="visible"/>
                                      </p:to>
                                    </p:set>
                                    <p:anim calcmode="lin" valueType="num">
                                      <p:cBhvr additive="base">
                                        <p:cTn id="46" dur="500" fill="hold"/>
                                        <p:tgtEl>
                                          <p:spTgt spid="20"/>
                                        </p:tgtEl>
                                        <p:attrNameLst>
                                          <p:attrName>ppt_x</p:attrName>
                                        </p:attrNameLst>
                                      </p:cBhvr>
                                      <p:tavLst>
                                        <p:tav tm="0">
                                          <p:val>
                                            <p:strVal val="#ppt_x"/>
                                          </p:val>
                                        </p:tav>
                                        <p:tav tm="100000">
                                          <p:val>
                                            <p:strVal val="#ppt_x"/>
                                          </p:val>
                                        </p:tav>
                                      </p:tavLst>
                                    </p:anim>
                                    <p:anim calcmode="lin" valueType="num">
                                      <p:cBhvr additive="base">
                                        <p:cTn id="47" dur="500" fill="hold"/>
                                        <p:tgtEl>
                                          <p:spTgt spid="20"/>
                                        </p:tgtEl>
                                        <p:attrNameLst>
                                          <p:attrName>ppt_y</p:attrName>
                                        </p:attrNameLst>
                                      </p:cBhvr>
                                      <p:tavLst>
                                        <p:tav tm="0">
                                          <p:val>
                                            <p:strVal val="#ppt_y+0.1"/>
                                          </p:val>
                                        </p:tav>
                                        <p:tav tm="100000">
                                          <p:val>
                                            <p:strVal val="#ppt_y"/>
                                          </p:val>
                                        </p:tav>
                                      </p:tavLst>
                                    </p:anim>
                                    <p:animEffect transition="in" filter="fade">
                                      <p:cBhvr>
                                        <p:cTn id="48" dur="500"/>
                                        <p:tgtEl>
                                          <p:spTgt spid="20"/>
                                        </p:tgtEl>
                                      </p:cBhvr>
                                    </p:animEffect>
                                  </p:childTnLst>
                                </p:cTn>
                              </p:par>
                              <p:par>
                                <p:cTn id="54" presetID="2" presetClass="entr" presetSubtype="4" fill="hold" grpId="0" nodeType="withEffect">
                                  <p:stCondLst>
                                    <p:cond delay="200"/>
                                  </p:stCondLst>
                                  <p:childTnLst>
                                    <p:set>
                                      <p:cBhvr>
                                        <p:cTn id="50" dur="1" fill="hold">
                                          <p:stCondLst>
                                            <p:cond delay="0"/>
                                          </p:stCondLst>
                                        </p:cTn>
                                        <p:tgtEl>
                                          <p:spTgt spid="21"/>
                                        </p:tgtEl>
                                        <p:attrNameLst>
                                          <p:attrName>style.visibility</p:attrName>
                                        </p:attrNameLst>
                                      </p:cBhvr>
                                      <p:to>
                                        <p:strVal val="visible"/>
                                      </p:to>
                                    </p:set>
                                    <p:anim calcmode="lin" valueType="num">
                                      <p:cBhvr additive="base">
                                        <p:cTn id="51" dur="500" fill="hold"/>
                                        <p:tgtEl>
                                          <p:spTgt spid="21"/>
                                        </p:tgtEl>
                                        <p:attrNameLst>
                                          <p:attrName>ppt_x</p:attrName>
                                        </p:attrNameLst>
                                      </p:cBhvr>
                                      <p:tavLst>
                                        <p:tav tm="0">
                                          <p:val>
                                            <p:strVal val="#ppt_x"/>
                                          </p:val>
                                        </p:tav>
                                        <p:tav tm="100000">
                                          <p:val>
                                            <p:strVal val="#ppt_x"/>
                                          </p:val>
                                        </p:tav>
                                      </p:tavLst>
                                    </p:anim>
                                    <p:anim calcmode="lin" valueType="num">
                                      <p:cBhvr additive="base">
                                        <p:cTn id="52" dur="500" fill="hold"/>
                                        <p:tgtEl>
                                          <p:spTgt spid="21"/>
                                        </p:tgtEl>
                                        <p:attrNameLst>
                                          <p:attrName>ppt_y</p:attrName>
                                        </p:attrNameLst>
                                      </p:cBhvr>
                                      <p:tavLst>
                                        <p:tav tm="0">
                                          <p:val>
                                            <p:strVal val="#ppt_y+0.1"/>
                                          </p:val>
                                        </p:tav>
                                        <p:tav tm="100000">
                                          <p:val>
                                            <p:strVal val="#ppt_y"/>
                                          </p:val>
                                        </p:tav>
                                      </p:tavLst>
                                    </p:anim>
                                    <p:animEffect transition="in" filter="fade">
                                      <p:cBhvr>
                                        <p:cTn id="53" dur="500"/>
                                        <p:tgtEl>
                                          <p:spTgt spid="21"/>
                                        </p:tgtEl>
                                      </p:cBhvr>
                                    </p:animEffect>
                                  </p:childTnLst>
                                </p:cTn>
                              </p:par>
                              <p:par>
                                <p:cTn id="59" presetID="2" presetClass="entr" presetSubtype="4" fill="hold" grpId="0" nodeType="withEffect">
                                  <p:stCondLst>
                                    <p:cond delay="200"/>
                                  </p:stCondLst>
                                  <p:childTnLst>
                                    <p:set>
                                      <p:cBhvr>
                                        <p:cTn id="55" dur="1" fill="hold">
                                          <p:stCondLst>
                                            <p:cond delay="0"/>
                                          </p:stCondLst>
                                        </p:cTn>
                                        <p:tgtEl>
                                          <p:spTgt spid="22"/>
                                        </p:tgtEl>
                                        <p:attrNameLst>
                                          <p:attrName>style.visibility</p:attrName>
                                        </p:attrNameLst>
                                      </p:cBhvr>
                                      <p:to>
                                        <p:strVal val="visible"/>
                                      </p:to>
                                    </p:set>
                                    <p:anim calcmode="lin" valueType="num">
                                      <p:cBhvr additive="base">
                                        <p:cTn id="56" dur="500" fill="hold"/>
                                        <p:tgtEl>
                                          <p:spTgt spid="22"/>
                                        </p:tgtEl>
                                        <p:attrNameLst>
                                          <p:attrName>ppt_x</p:attrName>
                                        </p:attrNameLst>
                                      </p:cBhvr>
                                      <p:tavLst>
                                        <p:tav tm="0">
                                          <p:val>
                                            <p:strVal val="#ppt_x"/>
                                          </p:val>
                                        </p:tav>
                                        <p:tav tm="100000">
                                          <p:val>
                                            <p:strVal val="#ppt_x"/>
                                          </p:val>
                                        </p:tav>
                                      </p:tavLst>
                                    </p:anim>
                                    <p:anim calcmode="lin" valueType="num">
                                      <p:cBhvr additive="base">
                                        <p:cTn id="57" dur="500" fill="hold"/>
                                        <p:tgtEl>
                                          <p:spTgt spid="22"/>
                                        </p:tgtEl>
                                        <p:attrNameLst>
                                          <p:attrName>ppt_y</p:attrName>
                                        </p:attrNameLst>
                                      </p:cBhvr>
                                      <p:tavLst>
                                        <p:tav tm="0">
                                          <p:val>
                                            <p:strVal val="#ppt_y+0.1"/>
                                          </p:val>
                                        </p:tav>
                                        <p:tav tm="100000">
                                          <p:val>
                                            <p:strVal val="#ppt_y"/>
                                          </p:val>
                                        </p:tav>
                                      </p:tavLst>
                                    </p:anim>
                                    <p:animEffect transition="in" filter="fade">
                                      <p:cBhvr>
                                        <p:cTn id="58" dur="500"/>
                                        <p:tgtEl>
                                          <p:spTgt spid="22"/>
                                        </p:tgtEl>
                                      </p:cBhvr>
                                    </p:animEffect>
                                  </p:childTnLst>
                                </p:cTn>
                              </p:par>
                              <p:par>
                                <p:cTn id="64" presetID="2" presetClass="entr" presetSubtype="4" fill="hold" grpId="0" nodeType="withEffect">
                                  <p:stCondLst>
                                    <p:cond delay="200"/>
                                  </p:stCondLst>
                                  <p:childTnLst>
                                    <p:set>
                                      <p:cBhvr>
                                        <p:cTn id="60" dur="1" fill="hold">
                                          <p:stCondLst>
                                            <p:cond delay="0"/>
                                          </p:stCondLst>
                                        </p:cTn>
                                        <p:tgtEl>
                                          <p:spTgt spid="23"/>
                                        </p:tgtEl>
                                        <p:attrNameLst>
                                          <p:attrName>style.visibility</p:attrName>
                                        </p:attrNameLst>
                                      </p:cBhvr>
                                      <p:to>
                                        <p:strVal val="visible"/>
                                      </p:to>
                                    </p:set>
                                    <p:anim calcmode="lin" valueType="num">
                                      <p:cBhvr additive="base">
                                        <p:cTn id="61" dur="500" fill="hold"/>
                                        <p:tgtEl>
                                          <p:spTgt spid="23"/>
                                        </p:tgtEl>
                                        <p:attrNameLst>
                                          <p:attrName>ppt_x</p:attrName>
                                        </p:attrNameLst>
                                      </p:cBhvr>
                                      <p:tavLst>
                                        <p:tav tm="0">
                                          <p:val>
                                            <p:strVal val="#ppt_x"/>
                                          </p:val>
                                        </p:tav>
                                        <p:tav tm="100000">
                                          <p:val>
                                            <p:strVal val="#ppt_x"/>
                                          </p:val>
                                        </p:tav>
                                      </p:tavLst>
                                    </p:anim>
                                    <p:anim calcmode="lin" valueType="num">
                                      <p:cBhvr additive="base">
                                        <p:cTn id="62" dur="500" fill="hold"/>
                                        <p:tgtEl>
                                          <p:spTgt spid="23"/>
                                        </p:tgtEl>
                                        <p:attrNameLst>
                                          <p:attrName>ppt_y</p:attrName>
                                        </p:attrNameLst>
                                      </p:cBhvr>
                                      <p:tavLst>
                                        <p:tav tm="0">
                                          <p:val>
                                            <p:strVal val="#ppt_y+0.1"/>
                                          </p:val>
                                        </p:tav>
                                        <p:tav tm="100000">
                                          <p:val>
                                            <p:strVal val="#ppt_y"/>
                                          </p:val>
                                        </p:tav>
                                      </p:tavLst>
                                    </p:anim>
                                    <p:animEffect transition="in" filter="fade">
                                      <p:cBhvr>
                                        <p:cTn id="63" dur="500"/>
                                        <p:tgtEl>
                                          <p:spTgt spid="23"/>
                                        </p:tgtEl>
                                      </p:cBhvr>
                                    </p:animEffect>
                                  </p:childTnLst>
                                </p:cTn>
                              </p:par>
                            </p:childTnLst>
                          </p:cTn>
                        </p:par>
                      </p:childTnLst>
                    </p:cTn>
                  </p:par>
                  <p:par>
                    <p:cTn id="65" fill="hold">
                      <p:stCondLst>
                        <p:cond delay="indefinite"/>
                      </p:stCondLst>
                      <p:childTnLst>
                        <p:par>
                          <p:cTn id="66" fill="hold">
                            <p:stCondLst>
                              <p:cond delay="0"/>
                            </p:stCondLst>
                            <p:childTnLst>
                              <p:par>
                                <p:cTn id="71" presetID="2" presetClass="entr" presetSubtype="4" fill="hold" grpId="0" nodeType="clickEffect">
                                  <p:stCondLst>
                                    <p:cond delay="0"/>
                                  </p:stCondLst>
                                  <p:childTnLst>
                                    <p:set>
                                      <p:cBhvr>
                                        <p:cTn id="67" dur="1" fill="hold">
                                          <p:stCondLst>
                                            <p:cond delay="0"/>
                                          </p:stCondLst>
                                        </p:cTn>
                                        <p:tgtEl>
                                          <p:spTgt spid="24"/>
                                        </p:tgtEl>
                                        <p:attrNameLst>
                                          <p:attrName>style.visibility</p:attrName>
                                        </p:attrNameLst>
                                      </p:cBhvr>
                                      <p:to>
                                        <p:strVal val="visible"/>
                                      </p:to>
                                    </p:set>
                                    <p:anim calcmode="lin" valueType="num">
                                      <p:cBhvr additive="base">
                                        <p:cTn id="68" dur="500" fill="hold"/>
                                        <p:tgtEl>
                                          <p:spTgt spid="24"/>
                                        </p:tgtEl>
                                        <p:attrNameLst>
                                          <p:attrName>ppt_x</p:attrName>
                                        </p:attrNameLst>
                                      </p:cBhvr>
                                      <p:tavLst>
                                        <p:tav tm="0">
                                          <p:val>
                                            <p:strVal val="#ppt_x"/>
                                          </p:val>
                                        </p:tav>
                                        <p:tav tm="100000">
                                          <p:val>
                                            <p:strVal val="#ppt_x"/>
                                          </p:val>
                                        </p:tav>
                                      </p:tavLst>
                                    </p:anim>
                                    <p:anim calcmode="lin" valueType="num">
                                      <p:cBhvr additive="base">
                                        <p:cTn id="69" dur="500" fill="hold"/>
                                        <p:tgtEl>
                                          <p:spTgt spid="24"/>
                                        </p:tgtEl>
                                        <p:attrNameLst>
                                          <p:attrName>ppt_y</p:attrName>
                                        </p:attrNameLst>
                                      </p:cBhvr>
                                      <p:tavLst>
                                        <p:tav tm="0">
                                          <p:val>
                                            <p:strVal val="#ppt_y+0.1"/>
                                          </p:val>
                                        </p:tav>
                                        <p:tav tm="100000">
                                          <p:val>
                                            <p:strVal val="#ppt_y"/>
                                          </p:val>
                                        </p:tav>
                                      </p:tavLst>
                                    </p:anim>
                                    <p:animEffect transition="in" filter="fade">
                                      <p:cBhvr>
                                        <p:cTn id="70" dur="500"/>
                                        <p:tgtEl>
                                          <p:spTgt spid="24"/>
                                        </p:tgtEl>
                                      </p:cBhvr>
                                    </p:animEffect>
                                  </p:childTnLst>
                                </p:cTn>
                              </p:par>
                              <p:par>
                                <p:cTn id="76" presetID="2" presetClass="entr" presetSubtype="4"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 calcmode="lin" valueType="num">
                                      <p:cBhvr additive="base">
                                        <p:cTn id="73" dur="500" fill="hold"/>
                                        <p:tgtEl>
                                          <p:spTgt spid="25"/>
                                        </p:tgtEl>
                                        <p:attrNameLst>
                                          <p:attrName>ppt_x</p:attrName>
                                        </p:attrNameLst>
                                      </p:cBhvr>
                                      <p:tavLst>
                                        <p:tav tm="0">
                                          <p:val>
                                            <p:strVal val="#ppt_x"/>
                                          </p:val>
                                        </p:tav>
                                        <p:tav tm="100000">
                                          <p:val>
                                            <p:strVal val="#ppt_x"/>
                                          </p:val>
                                        </p:tav>
                                      </p:tavLst>
                                    </p:anim>
                                    <p:anim calcmode="lin" valueType="num">
                                      <p:cBhvr additive="base">
                                        <p:cTn id="74" dur="500" fill="hold"/>
                                        <p:tgtEl>
                                          <p:spTgt spid="25"/>
                                        </p:tgtEl>
                                        <p:attrNameLst>
                                          <p:attrName>ppt_y</p:attrName>
                                        </p:attrNameLst>
                                      </p:cBhvr>
                                      <p:tavLst>
                                        <p:tav tm="0">
                                          <p:val>
                                            <p:strVal val="#ppt_y+0.1"/>
                                          </p:val>
                                        </p:tav>
                                        <p:tav tm="100000">
                                          <p:val>
                                            <p:strVal val="#ppt_y"/>
                                          </p:val>
                                        </p:tav>
                                      </p:tavLst>
                                    </p:anim>
                                    <p:animEffect transition="in" filter="fade">
                                      <p:cBhvr>
                                        <p:cTn id="75" dur="500"/>
                                        <p:tgtEl>
                                          <p:spTgt spid="25"/>
                                        </p:tgtEl>
                                      </p:cBhvr>
                                    </p:animEffect>
                                  </p:childTnLst>
                                </p:cTn>
                              </p:par>
                              <p:par>
                                <p:cTn id="81" presetID="2" presetClass="entr" presetSubtype="4" fill="hold" grpId="0" nodeType="withEffect">
                                  <p:stCondLst>
                                    <p:cond delay="150"/>
                                  </p:stCondLst>
                                  <p:childTnLst>
                                    <p:set>
                                      <p:cBhvr>
                                        <p:cTn id="77" dur="1" fill="hold">
                                          <p:stCondLst>
                                            <p:cond delay="0"/>
                                          </p:stCondLst>
                                        </p:cTn>
                                        <p:tgtEl>
                                          <p:spTgt spid="26"/>
                                        </p:tgtEl>
                                        <p:attrNameLst>
                                          <p:attrName>style.visibility</p:attrName>
                                        </p:attrNameLst>
                                      </p:cBhvr>
                                      <p:to>
                                        <p:strVal val="visible"/>
                                      </p:to>
                                    </p:set>
                                    <p:anim calcmode="lin" valueType="num">
                                      <p:cBhvr additive="base">
                                        <p:cTn id="78" dur="500" fill="hold"/>
                                        <p:tgtEl>
                                          <p:spTgt spid="26"/>
                                        </p:tgtEl>
                                        <p:attrNameLst>
                                          <p:attrName>ppt_x</p:attrName>
                                        </p:attrNameLst>
                                      </p:cBhvr>
                                      <p:tavLst>
                                        <p:tav tm="0">
                                          <p:val>
                                            <p:strVal val="#ppt_x"/>
                                          </p:val>
                                        </p:tav>
                                        <p:tav tm="100000">
                                          <p:val>
                                            <p:strVal val="#ppt_x"/>
                                          </p:val>
                                        </p:tav>
                                      </p:tavLst>
                                    </p:anim>
                                    <p:anim calcmode="lin" valueType="num">
                                      <p:cBhvr additive="base">
                                        <p:cTn id="79" dur="500" fill="hold"/>
                                        <p:tgtEl>
                                          <p:spTgt spid="26"/>
                                        </p:tgtEl>
                                        <p:attrNameLst>
                                          <p:attrName>ppt_y</p:attrName>
                                        </p:attrNameLst>
                                      </p:cBhvr>
                                      <p:tavLst>
                                        <p:tav tm="0">
                                          <p:val>
                                            <p:strVal val="#ppt_y+0.1"/>
                                          </p:val>
                                        </p:tav>
                                        <p:tav tm="100000">
                                          <p:val>
                                            <p:strVal val="#ppt_y"/>
                                          </p:val>
                                        </p:tav>
                                      </p:tavLst>
                                    </p:anim>
                                    <p:animEffect transition="in" filter="fade">
                                      <p:cBhvr>
                                        <p:cTn id="80" dur="500"/>
                                        <p:tgtEl>
                                          <p:spTgt spid="26"/>
                                        </p:tgtEl>
                                      </p:cBhvr>
                                    </p:animEffect>
                                  </p:childTnLst>
                                </p:cTn>
                              </p:par>
                              <p:par>
                                <p:cTn id="86" presetID="2" presetClass="entr" presetSubtype="4" fill="hold" grpId="0" nodeType="withEffect">
                                  <p:stCondLst>
                                    <p:cond delay="150"/>
                                  </p:stCondLst>
                                  <p:childTnLst>
                                    <p:set>
                                      <p:cBhvr>
                                        <p:cTn id="82" dur="1" fill="hold">
                                          <p:stCondLst>
                                            <p:cond delay="0"/>
                                          </p:stCondLst>
                                        </p:cTn>
                                        <p:tgtEl>
                                          <p:spTgt spid="27"/>
                                        </p:tgtEl>
                                        <p:attrNameLst>
                                          <p:attrName>style.visibility</p:attrName>
                                        </p:attrNameLst>
                                      </p:cBhvr>
                                      <p:to>
                                        <p:strVal val="visible"/>
                                      </p:to>
                                    </p:set>
                                    <p:anim calcmode="lin" valueType="num">
                                      <p:cBhvr additive="base">
                                        <p:cTn id="83" dur="500" fill="hold"/>
                                        <p:tgtEl>
                                          <p:spTgt spid="27"/>
                                        </p:tgtEl>
                                        <p:attrNameLst>
                                          <p:attrName>ppt_x</p:attrName>
                                        </p:attrNameLst>
                                      </p:cBhvr>
                                      <p:tavLst>
                                        <p:tav tm="0">
                                          <p:val>
                                            <p:strVal val="#ppt_x"/>
                                          </p:val>
                                        </p:tav>
                                        <p:tav tm="100000">
                                          <p:val>
                                            <p:strVal val="#ppt_x"/>
                                          </p:val>
                                        </p:tav>
                                      </p:tavLst>
                                    </p:anim>
                                    <p:anim calcmode="lin" valueType="num">
                                      <p:cBhvr additive="base">
                                        <p:cTn id="84" dur="500" fill="hold"/>
                                        <p:tgtEl>
                                          <p:spTgt spid="27"/>
                                        </p:tgtEl>
                                        <p:attrNameLst>
                                          <p:attrName>ppt_y</p:attrName>
                                        </p:attrNameLst>
                                      </p:cBhvr>
                                      <p:tavLst>
                                        <p:tav tm="0">
                                          <p:val>
                                            <p:strVal val="#ppt_y+0.1"/>
                                          </p:val>
                                        </p:tav>
                                        <p:tav tm="100000">
                                          <p:val>
                                            <p:strVal val="#ppt_y"/>
                                          </p:val>
                                        </p:tav>
                                      </p:tavLst>
                                    </p:anim>
                                    <p:animEffect transition="in" filter="fade">
                                      <p:cBhvr>
                                        <p:cTn id="85" dur="500"/>
                                        <p:tgtEl>
                                          <p:spTgt spid="27"/>
                                        </p:tgtEl>
                                      </p:cBhvr>
                                    </p:animEffect>
                                  </p:childTnLst>
                                </p:cTn>
                              </p:par>
                              <p:par>
                                <p:cTn id="91" presetID="2" presetClass="entr" presetSubtype="4" fill="hold" grpId="0" nodeType="withEffect">
                                  <p:stCondLst>
                                    <p:cond delay="300"/>
                                  </p:stCondLst>
                                  <p:childTnLst>
                                    <p:set>
                                      <p:cBhvr>
                                        <p:cTn id="87" dur="1" fill="hold">
                                          <p:stCondLst>
                                            <p:cond delay="0"/>
                                          </p:stCondLst>
                                        </p:cTn>
                                        <p:tgtEl>
                                          <p:spTgt spid="28"/>
                                        </p:tgtEl>
                                        <p:attrNameLst>
                                          <p:attrName>style.visibility</p:attrName>
                                        </p:attrNameLst>
                                      </p:cBhvr>
                                      <p:to>
                                        <p:strVal val="visible"/>
                                      </p:to>
                                    </p:set>
                                    <p:anim calcmode="lin" valueType="num">
                                      <p:cBhvr additive="base">
                                        <p:cTn id="88" dur="500" fill="hold"/>
                                        <p:tgtEl>
                                          <p:spTgt spid="28"/>
                                        </p:tgtEl>
                                        <p:attrNameLst>
                                          <p:attrName>ppt_x</p:attrName>
                                        </p:attrNameLst>
                                      </p:cBhvr>
                                      <p:tavLst>
                                        <p:tav tm="0">
                                          <p:val>
                                            <p:strVal val="#ppt_x"/>
                                          </p:val>
                                        </p:tav>
                                        <p:tav tm="100000">
                                          <p:val>
                                            <p:strVal val="#ppt_x"/>
                                          </p:val>
                                        </p:tav>
                                      </p:tavLst>
                                    </p:anim>
                                    <p:anim calcmode="lin" valueType="num">
                                      <p:cBhvr additive="base">
                                        <p:cTn id="89" dur="500" fill="hold"/>
                                        <p:tgtEl>
                                          <p:spTgt spid="28"/>
                                        </p:tgtEl>
                                        <p:attrNameLst>
                                          <p:attrName>ppt_y</p:attrName>
                                        </p:attrNameLst>
                                      </p:cBhvr>
                                      <p:tavLst>
                                        <p:tav tm="0">
                                          <p:val>
                                            <p:strVal val="#ppt_y+0.1"/>
                                          </p:val>
                                        </p:tav>
                                        <p:tav tm="100000">
                                          <p:val>
                                            <p:strVal val="#ppt_y"/>
                                          </p:val>
                                        </p:tav>
                                      </p:tavLst>
                                    </p:anim>
                                    <p:animEffect transition="in" filter="fade">
                                      <p:cBhvr>
                                        <p:cTn id="90" dur="500"/>
                                        <p:tgtEl>
                                          <p:spTgt spid="28"/>
                                        </p:tgtEl>
                                      </p:cBhvr>
                                    </p:animEffect>
                                  </p:childTnLst>
                                </p:cTn>
                              </p:par>
                              <p:par>
                                <p:cTn id="96" presetID="2" presetClass="entr" presetSubtype="4" fill="hold" grpId="0" nodeType="withEffect">
                                  <p:stCondLst>
                                    <p:cond delay="300"/>
                                  </p:stCondLst>
                                  <p:childTnLst>
                                    <p:set>
                                      <p:cBhvr>
                                        <p:cTn id="92" dur="1" fill="hold">
                                          <p:stCondLst>
                                            <p:cond delay="0"/>
                                          </p:stCondLst>
                                        </p:cTn>
                                        <p:tgtEl>
                                          <p:spTgt spid="29"/>
                                        </p:tgtEl>
                                        <p:attrNameLst>
                                          <p:attrName>style.visibility</p:attrName>
                                        </p:attrNameLst>
                                      </p:cBhvr>
                                      <p:to>
                                        <p:strVal val="visible"/>
                                      </p:to>
                                    </p:set>
                                    <p:anim calcmode="lin" valueType="num">
                                      <p:cBhvr additive="base">
                                        <p:cTn id="93" dur="500" fill="hold"/>
                                        <p:tgtEl>
                                          <p:spTgt spid="29"/>
                                        </p:tgtEl>
                                        <p:attrNameLst>
                                          <p:attrName>ppt_x</p:attrName>
                                        </p:attrNameLst>
                                      </p:cBhvr>
                                      <p:tavLst>
                                        <p:tav tm="0">
                                          <p:val>
                                            <p:strVal val="#ppt_x"/>
                                          </p:val>
                                        </p:tav>
                                        <p:tav tm="100000">
                                          <p:val>
                                            <p:strVal val="#ppt_x"/>
                                          </p:val>
                                        </p:tav>
                                      </p:tavLst>
                                    </p:anim>
                                    <p:anim calcmode="lin" valueType="num">
                                      <p:cBhvr additive="base">
                                        <p:cTn id="94" dur="500" fill="hold"/>
                                        <p:tgtEl>
                                          <p:spTgt spid="29"/>
                                        </p:tgtEl>
                                        <p:attrNameLst>
                                          <p:attrName>ppt_y</p:attrName>
                                        </p:attrNameLst>
                                      </p:cBhvr>
                                      <p:tavLst>
                                        <p:tav tm="0">
                                          <p:val>
                                            <p:strVal val="#ppt_y+0.1"/>
                                          </p:val>
                                        </p:tav>
                                        <p:tav tm="100000">
                                          <p:val>
                                            <p:strVal val="#ppt_y"/>
                                          </p:val>
                                        </p:tav>
                                      </p:tavLst>
                                    </p:anim>
                                    <p:animEffect transition="in" filter="fade">
                                      <p:cBhvr>
                                        <p:cTn id="95" dur="500"/>
                                        <p:tgtEl>
                                          <p:spTgt spid="29"/>
                                        </p:tgtEl>
                                      </p:cBhvr>
                                    </p:animEffect>
                                  </p:childTnLst>
                                </p:cTn>
                              </p:par>
                            </p:childTnLst>
                          </p:cTn>
                        </p:par>
                      </p:childTnLst>
                    </p:cTn>
                  </p:par>
                  <p:par>
                    <p:cTn id="97" fill="hold">
                      <p:stCondLst>
                        <p:cond delay="indefinite"/>
                      </p:stCondLst>
                      <p:childTnLst>
                        <p:par>
                          <p:cTn id="98" fill="hold">
                            <p:stCondLst>
                              <p:cond delay="0"/>
                            </p:stCondLst>
                            <p:childTnLst>
                              <p:par>
                                <p:cTn id="103" presetID="2" presetClass="entr" presetSubtype="4" fill="hold" grpId="0" nodeType="clickEffect">
                                  <p:stCondLst>
                                    <p:cond delay="0"/>
                                  </p:stCondLst>
                                  <p:childTnLst>
                                    <p:set>
                                      <p:cBhvr>
                                        <p:cTn id="99" dur="1" fill="hold">
                                          <p:stCondLst>
                                            <p:cond delay="0"/>
                                          </p:stCondLst>
                                        </p:cTn>
                                        <p:tgtEl>
                                          <p:spTgt spid="30"/>
                                        </p:tgtEl>
                                        <p:attrNameLst>
                                          <p:attrName>style.visibility</p:attrName>
                                        </p:attrNameLst>
                                      </p:cBhvr>
                                      <p:to>
                                        <p:strVal val="visible"/>
                                      </p:to>
                                    </p:set>
                                    <p:anim calcmode="lin" valueType="num">
                                      <p:cBhvr additive="base">
                                        <p:cTn id="100" dur="500" fill="hold"/>
                                        <p:tgtEl>
                                          <p:spTgt spid="30"/>
                                        </p:tgtEl>
                                        <p:attrNameLst>
                                          <p:attrName>ppt_x</p:attrName>
                                        </p:attrNameLst>
                                      </p:cBhvr>
                                      <p:tavLst>
                                        <p:tav tm="0">
                                          <p:val>
                                            <p:strVal val="#ppt_x"/>
                                          </p:val>
                                        </p:tav>
                                        <p:tav tm="100000">
                                          <p:val>
                                            <p:strVal val="#ppt_x"/>
                                          </p:val>
                                        </p:tav>
                                      </p:tavLst>
                                    </p:anim>
                                    <p:anim calcmode="lin" valueType="num">
                                      <p:cBhvr additive="base">
                                        <p:cTn id="101" dur="500" fill="hold"/>
                                        <p:tgtEl>
                                          <p:spTgt spid="30"/>
                                        </p:tgtEl>
                                        <p:attrNameLst>
                                          <p:attrName>ppt_y</p:attrName>
                                        </p:attrNameLst>
                                      </p:cBhvr>
                                      <p:tavLst>
                                        <p:tav tm="0">
                                          <p:val>
                                            <p:strVal val="#ppt_y+0.1"/>
                                          </p:val>
                                        </p:tav>
                                        <p:tav tm="100000">
                                          <p:val>
                                            <p:strVal val="#ppt_y"/>
                                          </p:val>
                                        </p:tav>
                                      </p:tavLst>
                                    </p:anim>
                                    <p:animEffect transition="in" filter="fade">
                                      <p:cBhvr>
                                        <p:cTn id="102" dur="500"/>
                                        <p:tgtEl>
                                          <p:spTgt spid="30"/>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31"/>
                                        </p:tgtEl>
                                        <p:attrNameLst>
                                          <p:attrName>style.visibility</p:attrName>
                                        </p:attrNameLst>
                                      </p:cBhvr>
                                      <p:to>
                                        <p:strVal val="visible"/>
                                      </p:to>
                                    </p:set>
                                    <p:anim calcmode="lin" valueType="num">
                                      <p:cBhvr additive="base">
                                        <p:cTn id="105" dur="500" fill="hold"/>
                                        <p:tgtEl>
                                          <p:spTgt spid="31"/>
                                        </p:tgtEl>
                                        <p:attrNameLst>
                                          <p:attrName>ppt_x</p:attrName>
                                        </p:attrNameLst>
                                      </p:cBhvr>
                                      <p:tavLst>
                                        <p:tav tm="0">
                                          <p:val>
                                            <p:strVal val="#ppt_x"/>
                                          </p:val>
                                        </p:tav>
                                        <p:tav tm="100000">
                                          <p:val>
                                            <p:strVal val="#ppt_x"/>
                                          </p:val>
                                        </p:tav>
                                      </p:tavLst>
                                    </p:anim>
                                    <p:anim calcmode="lin" valueType="num">
                                      <p:cBhvr additive="base">
                                        <p:cTn id="106" dur="500" fill="hold"/>
                                        <p:tgtEl>
                                          <p:spTgt spid="31"/>
                                        </p:tgtEl>
                                        <p:attrNameLst>
                                          <p:attrName>ppt_y</p:attrName>
                                        </p:attrNameLst>
                                      </p:cBhvr>
                                      <p:tavLst>
                                        <p:tav tm="0">
                                          <p:val>
                                            <p:strVal val="#ppt_y+0.1"/>
                                          </p:val>
                                        </p:tav>
                                        <p:tav tm="100000">
                                          <p:val>
                                            <p:strVal val="#ppt_y"/>
                                          </p:val>
                                        </p:tav>
                                      </p:tavLst>
                                    </p:anim>
                                    <p:animEffect transition="in" filter="fade">
                                      <p:cBhvr>
                                        <p:cTn id="107" dur="500"/>
                                        <p:tgtEl>
                                          <p:spTgt spid="31"/>
                                        </p:tgtEl>
                                      </p:cBhvr>
                                    </p:animEffect>
                                  </p:childTnLst>
                                </p:cTn>
                              </p:par>
                              <p:par>
                                <p:cTn id="113" presetID="2" presetClass="entr" presetSubtype="4" fill="hold" grpId="0" nodeType="withEffect">
                                  <p:stCondLst>
                                    <p:cond delay="0"/>
                                  </p:stCondLst>
                                  <p:childTnLst>
                                    <p:set>
                                      <p:cBhvr>
                                        <p:cTn id="109" dur="1" fill="hold">
                                          <p:stCondLst>
                                            <p:cond delay="0"/>
                                          </p:stCondLst>
                                        </p:cTn>
                                        <p:tgtEl>
                                          <p:spTgt spid="32"/>
                                        </p:tgtEl>
                                        <p:attrNameLst>
                                          <p:attrName>style.visibility</p:attrName>
                                        </p:attrNameLst>
                                      </p:cBhvr>
                                      <p:to>
                                        <p:strVal val="visible"/>
                                      </p:to>
                                    </p:set>
                                    <p:anim calcmode="lin" valueType="num">
                                      <p:cBhvr additive="base">
                                        <p:cTn id="110" dur="500" fill="hold"/>
                                        <p:tgtEl>
                                          <p:spTgt spid="32"/>
                                        </p:tgtEl>
                                        <p:attrNameLst>
                                          <p:attrName>ppt_x</p:attrName>
                                        </p:attrNameLst>
                                      </p:cBhvr>
                                      <p:tavLst>
                                        <p:tav tm="0">
                                          <p:val>
                                            <p:strVal val="#ppt_x"/>
                                          </p:val>
                                        </p:tav>
                                        <p:tav tm="100000">
                                          <p:val>
                                            <p:strVal val="#ppt_x"/>
                                          </p:val>
                                        </p:tav>
                                      </p:tavLst>
                                    </p:anim>
                                    <p:anim calcmode="lin" valueType="num">
                                      <p:cBhvr additive="base">
                                        <p:cTn id="111" dur="500" fill="hold"/>
                                        <p:tgtEl>
                                          <p:spTgt spid="32"/>
                                        </p:tgtEl>
                                        <p:attrNameLst>
                                          <p:attrName>ppt_y</p:attrName>
                                        </p:attrNameLst>
                                      </p:cBhvr>
                                      <p:tavLst>
                                        <p:tav tm="0">
                                          <p:val>
                                            <p:strVal val="#ppt_y+0.1"/>
                                          </p:val>
                                        </p:tav>
                                        <p:tav tm="100000">
                                          <p:val>
                                            <p:strVal val="#ppt_y"/>
                                          </p:val>
                                        </p:tav>
                                      </p:tavLst>
                                    </p:anim>
                                    <p:animEffect transition="in" filter="fade">
                                      <p:cBhvr>
                                        <p:cTn id="112" dur="500"/>
                                        <p:tgtEl>
                                          <p:spTgt spid="32"/>
                                        </p:tgtEl>
                                      </p:cBhvr>
                                    </p:animEffect>
                                  </p:childTnLst>
                                </p:cTn>
                              </p:par>
                              <p:par>
                                <p:cTn id="118" presetID="2" presetClass="entr" presetSubtype="4" fill="hold" grpId="0" nodeType="withEffect">
                                  <p:stCondLst>
                                    <p:cond delay="80"/>
                                  </p:stCondLst>
                                  <p:childTnLst>
                                    <p:set>
                                      <p:cBhvr>
                                        <p:cTn id="114" dur="1" fill="hold">
                                          <p:stCondLst>
                                            <p:cond delay="0"/>
                                          </p:stCondLst>
                                        </p:cTn>
                                        <p:tgtEl>
                                          <p:spTgt spid="33"/>
                                        </p:tgtEl>
                                        <p:attrNameLst>
                                          <p:attrName>style.visibility</p:attrName>
                                        </p:attrNameLst>
                                      </p:cBhvr>
                                      <p:to>
                                        <p:strVal val="visible"/>
                                      </p:to>
                                    </p:set>
                                    <p:anim calcmode="lin" valueType="num">
                                      <p:cBhvr additive="base">
                                        <p:cTn id="115" dur="500" fill="hold"/>
                                        <p:tgtEl>
                                          <p:spTgt spid="33"/>
                                        </p:tgtEl>
                                        <p:attrNameLst>
                                          <p:attrName>ppt_x</p:attrName>
                                        </p:attrNameLst>
                                      </p:cBhvr>
                                      <p:tavLst>
                                        <p:tav tm="0">
                                          <p:val>
                                            <p:strVal val="#ppt_x"/>
                                          </p:val>
                                        </p:tav>
                                        <p:tav tm="100000">
                                          <p:val>
                                            <p:strVal val="#ppt_x"/>
                                          </p:val>
                                        </p:tav>
                                      </p:tavLst>
                                    </p:anim>
                                    <p:anim calcmode="lin" valueType="num">
                                      <p:cBhvr additive="base">
                                        <p:cTn id="116" dur="500" fill="hold"/>
                                        <p:tgtEl>
                                          <p:spTgt spid="33"/>
                                        </p:tgtEl>
                                        <p:attrNameLst>
                                          <p:attrName>ppt_y</p:attrName>
                                        </p:attrNameLst>
                                      </p:cBhvr>
                                      <p:tavLst>
                                        <p:tav tm="0">
                                          <p:val>
                                            <p:strVal val="#ppt_y+0.1"/>
                                          </p:val>
                                        </p:tav>
                                        <p:tav tm="100000">
                                          <p:val>
                                            <p:strVal val="#ppt_y"/>
                                          </p:val>
                                        </p:tav>
                                      </p:tavLst>
                                    </p:anim>
                                    <p:animEffect transition="in" filter="fade">
                                      <p:cBhvr>
                                        <p:cTn id="117" dur="500"/>
                                        <p:tgtEl>
                                          <p:spTgt spid="33"/>
                                        </p:tgtEl>
                                      </p:cBhvr>
                                    </p:animEffect>
                                  </p:childTnLst>
                                </p:cTn>
                              </p:par>
                              <p:par>
                                <p:cTn id="123" presetID="2" presetClass="entr" presetSubtype="4" fill="hold" grpId="0" nodeType="withEffect">
                                  <p:stCondLst>
                                    <p:cond delay="80"/>
                                  </p:stCondLst>
                                  <p:childTnLst>
                                    <p:set>
                                      <p:cBhvr>
                                        <p:cTn id="119" dur="1" fill="hold">
                                          <p:stCondLst>
                                            <p:cond delay="0"/>
                                          </p:stCondLst>
                                        </p:cTn>
                                        <p:tgtEl>
                                          <p:spTgt spid="34"/>
                                        </p:tgtEl>
                                        <p:attrNameLst>
                                          <p:attrName>style.visibility</p:attrName>
                                        </p:attrNameLst>
                                      </p:cBhvr>
                                      <p:to>
                                        <p:strVal val="visible"/>
                                      </p:to>
                                    </p:set>
                                    <p:anim calcmode="lin" valueType="num">
                                      <p:cBhvr additive="base">
                                        <p:cTn id="120" dur="500" fill="hold"/>
                                        <p:tgtEl>
                                          <p:spTgt spid="34"/>
                                        </p:tgtEl>
                                        <p:attrNameLst>
                                          <p:attrName>ppt_x</p:attrName>
                                        </p:attrNameLst>
                                      </p:cBhvr>
                                      <p:tavLst>
                                        <p:tav tm="0">
                                          <p:val>
                                            <p:strVal val="#ppt_x"/>
                                          </p:val>
                                        </p:tav>
                                        <p:tav tm="100000">
                                          <p:val>
                                            <p:strVal val="#ppt_x"/>
                                          </p:val>
                                        </p:tav>
                                      </p:tavLst>
                                    </p:anim>
                                    <p:anim calcmode="lin" valueType="num">
                                      <p:cBhvr additive="base">
                                        <p:cTn id="121" dur="500" fill="hold"/>
                                        <p:tgtEl>
                                          <p:spTgt spid="34"/>
                                        </p:tgtEl>
                                        <p:attrNameLst>
                                          <p:attrName>ppt_y</p:attrName>
                                        </p:attrNameLst>
                                      </p:cBhvr>
                                      <p:tavLst>
                                        <p:tav tm="0">
                                          <p:val>
                                            <p:strVal val="#ppt_y+0.1"/>
                                          </p:val>
                                        </p:tav>
                                        <p:tav tm="100000">
                                          <p:val>
                                            <p:strVal val="#ppt_y"/>
                                          </p:val>
                                        </p:tav>
                                      </p:tavLst>
                                    </p:anim>
                                    <p:animEffect transition="in" filter="fade">
                                      <p:cBhvr>
                                        <p:cTn id="122" dur="500"/>
                                        <p:tgtEl>
                                          <p:spTgt spid="34"/>
                                        </p:tgtEl>
                                      </p:cBhvr>
                                    </p:animEffect>
                                  </p:childTnLst>
                                </p:cTn>
                              </p:par>
                              <p:par>
                                <p:cTn id="128" presetID="2" presetClass="entr" presetSubtype="4" fill="hold" grpId="0" nodeType="withEffect">
                                  <p:stCondLst>
                                    <p:cond delay="180"/>
                                  </p:stCondLst>
                                  <p:childTnLst>
                                    <p:set>
                                      <p:cBhvr>
                                        <p:cTn id="124" dur="1" fill="hold">
                                          <p:stCondLst>
                                            <p:cond delay="0"/>
                                          </p:stCondLst>
                                        </p:cTn>
                                        <p:tgtEl>
                                          <p:spTgt spid="35"/>
                                        </p:tgtEl>
                                        <p:attrNameLst>
                                          <p:attrName>style.visibility</p:attrName>
                                        </p:attrNameLst>
                                      </p:cBhvr>
                                      <p:to>
                                        <p:strVal val="visible"/>
                                      </p:to>
                                    </p:set>
                                    <p:anim calcmode="lin" valueType="num">
                                      <p:cBhvr additive="base">
                                        <p:cTn id="125" dur="500" fill="hold"/>
                                        <p:tgtEl>
                                          <p:spTgt spid="35"/>
                                        </p:tgtEl>
                                        <p:attrNameLst>
                                          <p:attrName>ppt_x</p:attrName>
                                        </p:attrNameLst>
                                      </p:cBhvr>
                                      <p:tavLst>
                                        <p:tav tm="0">
                                          <p:val>
                                            <p:strVal val="#ppt_x"/>
                                          </p:val>
                                        </p:tav>
                                        <p:tav tm="100000">
                                          <p:val>
                                            <p:strVal val="#ppt_x"/>
                                          </p:val>
                                        </p:tav>
                                      </p:tavLst>
                                    </p:anim>
                                    <p:anim calcmode="lin" valueType="num">
                                      <p:cBhvr additive="base">
                                        <p:cTn id="126" dur="500" fill="hold"/>
                                        <p:tgtEl>
                                          <p:spTgt spid="35"/>
                                        </p:tgtEl>
                                        <p:attrNameLst>
                                          <p:attrName>ppt_y</p:attrName>
                                        </p:attrNameLst>
                                      </p:cBhvr>
                                      <p:tavLst>
                                        <p:tav tm="0">
                                          <p:val>
                                            <p:strVal val="#ppt_y+0.1"/>
                                          </p:val>
                                        </p:tav>
                                        <p:tav tm="100000">
                                          <p:val>
                                            <p:strVal val="#ppt_y"/>
                                          </p:val>
                                        </p:tav>
                                      </p:tavLst>
                                    </p:anim>
                                    <p:animEffect transition="in" filter="fade">
                                      <p:cBhvr>
                                        <p:cTn id="127" dur="500"/>
                                        <p:tgtEl>
                                          <p:spTgt spid="35"/>
                                        </p:tgtEl>
                                      </p:cBhvr>
                                    </p:animEffect>
                                  </p:childTnLst>
                                </p:cTn>
                              </p:par>
                              <p:par>
                                <p:cTn id="133" presetID="2" presetClass="entr" presetSubtype="4" fill="hold" grpId="0" nodeType="withEffect">
                                  <p:stCondLst>
                                    <p:cond delay="180"/>
                                  </p:stCondLst>
                                  <p:childTnLst>
                                    <p:set>
                                      <p:cBhvr>
                                        <p:cTn id="129" dur="1" fill="hold">
                                          <p:stCondLst>
                                            <p:cond delay="0"/>
                                          </p:stCondLst>
                                        </p:cTn>
                                        <p:tgtEl>
                                          <p:spTgt spid="36"/>
                                        </p:tgtEl>
                                        <p:attrNameLst>
                                          <p:attrName>style.visibility</p:attrName>
                                        </p:attrNameLst>
                                      </p:cBhvr>
                                      <p:to>
                                        <p:strVal val="visible"/>
                                      </p:to>
                                    </p:set>
                                    <p:anim calcmode="lin" valueType="num">
                                      <p:cBhvr additive="base">
                                        <p:cTn id="130" dur="500" fill="hold"/>
                                        <p:tgtEl>
                                          <p:spTgt spid="36"/>
                                        </p:tgtEl>
                                        <p:attrNameLst>
                                          <p:attrName>ppt_x</p:attrName>
                                        </p:attrNameLst>
                                      </p:cBhvr>
                                      <p:tavLst>
                                        <p:tav tm="0">
                                          <p:val>
                                            <p:strVal val="#ppt_x"/>
                                          </p:val>
                                        </p:tav>
                                        <p:tav tm="100000">
                                          <p:val>
                                            <p:strVal val="#ppt_x"/>
                                          </p:val>
                                        </p:tav>
                                      </p:tavLst>
                                    </p:anim>
                                    <p:anim calcmode="lin" valueType="num">
                                      <p:cBhvr additive="base">
                                        <p:cTn id="131" dur="500" fill="hold"/>
                                        <p:tgtEl>
                                          <p:spTgt spid="36"/>
                                        </p:tgtEl>
                                        <p:attrNameLst>
                                          <p:attrName>ppt_y</p:attrName>
                                        </p:attrNameLst>
                                      </p:cBhvr>
                                      <p:tavLst>
                                        <p:tav tm="0">
                                          <p:val>
                                            <p:strVal val="#ppt_y+0.1"/>
                                          </p:val>
                                        </p:tav>
                                        <p:tav tm="100000">
                                          <p:val>
                                            <p:strVal val="#ppt_y"/>
                                          </p:val>
                                        </p:tav>
                                      </p:tavLst>
                                    </p:anim>
                                    <p:animEffect transition="in" filter="fade">
                                      <p:cBhvr>
                                        <p:cTn id="132" dur="500"/>
                                        <p:tgtEl>
                                          <p:spTgt spid="36"/>
                                        </p:tgtEl>
                                      </p:cBhvr>
                                    </p:animEffect>
                                  </p:childTnLst>
                                </p:cTn>
                              </p:par>
                            </p:childTnLst>
                          </p:cTn>
                        </p:par>
                      </p:childTnLst>
                    </p:cTn>
                  </p:par>
                  <p:par>
                    <p:cTn id="134" fill="hold">
                      <p:stCondLst>
                        <p:cond delay="indefinite"/>
                      </p:stCondLst>
                      <p:childTnLst>
                        <p:par>
                          <p:cTn id="135" fill="hold">
                            <p:stCondLst>
                              <p:cond delay="0"/>
                            </p:stCondLst>
                            <p:childTnLst>
                              <p:par>
                                <p:cTn id="140" presetID="2" presetClass="entr" presetSubtype="4" fill="hold" grpId="0" nodeType="clickEffect">
                                  <p:stCondLst>
                                    <p:cond delay="0"/>
                                  </p:stCondLst>
                                  <p:childTnLst>
                                    <p:set>
                                      <p:cBhvr>
                                        <p:cTn id="136" dur="1" fill="hold">
                                          <p:stCondLst>
                                            <p:cond delay="0"/>
                                          </p:stCondLst>
                                        </p:cTn>
                                        <p:tgtEl>
                                          <p:spTgt spid="37"/>
                                        </p:tgtEl>
                                        <p:attrNameLst>
                                          <p:attrName>style.visibility</p:attrName>
                                        </p:attrNameLst>
                                      </p:cBhvr>
                                      <p:to>
                                        <p:strVal val="visible"/>
                                      </p:to>
                                    </p:set>
                                    <p:anim calcmode="lin" valueType="num">
                                      <p:cBhvr additive="base">
                                        <p:cTn id="137" dur="500" fill="hold"/>
                                        <p:tgtEl>
                                          <p:spTgt spid="37"/>
                                        </p:tgtEl>
                                        <p:attrNameLst>
                                          <p:attrName>ppt_x</p:attrName>
                                        </p:attrNameLst>
                                      </p:cBhvr>
                                      <p:tavLst>
                                        <p:tav tm="0">
                                          <p:val>
                                            <p:strVal val="#ppt_x"/>
                                          </p:val>
                                        </p:tav>
                                        <p:tav tm="100000">
                                          <p:val>
                                            <p:strVal val="#ppt_x"/>
                                          </p:val>
                                        </p:tav>
                                      </p:tavLst>
                                    </p:anim>
                                    <p:anim calcmode="lin" valueType="num">
                                      <p:cBhvr additive="base">
                                        <p:cTn id="138" dur="500" fill="hold"/>
                                        <p:tgtEl>
                                          <p:spTgt spid="37"/>
                                        </p:tgtEl>
                                        <p:attrNameLst>
                                          <p:attrName>ppt_y</p:attrName>
                                        </p:attrNameLst>
                                      </p:cBhvr>
                                      <p:tavLst>
                                        <p:tav tm="0">
                                          <p:val>
                                            <p:strVal val="#ppt_y+0.1"/>
                                          </p:val>
                                        </p:tav>
                                        <p:tav tm="100000">
                                          <p:val>
                                            <p:strVal val="#ppt_y"/>
                                          </p:val>
                                        </p:tav>
                                      </p:tavLst>
                                    </p:anim>
                                    <p:animEffect transition="in" filter="fade">
                                      <p:cBhvr>
                                        <p:cTn id="139" dur="500"/>
                                        <p:tgtEl>
                                          <p:spTgt spid="37"/>
                                        </p:tgtEl>
                                      </p:cBhvr>
                                    </p:animEffect>
                                  </p:childTnLst>
                                </p:cTn>
                              </p:par>
                              <p:par>
                                <p:cTn id="145" presetID="2" presetClass="entr" presetSubtype="4" fill="hold" grpId="0" nodeType="withEffect">
                                  <p:stCondLst>
                                    <p:cond delay="0"/>
                                  </p:stCondLst>
                                  <p:childTnLst>
                                    <p:set>
                                      <p:cBhvr>
                                        <p:cTn id="141" dur="1" fill="hold">
                                          <p:stCondLst>
                                            <p:cond delay="0"/>
                                          </p:stCondLst>
                                        </p:cTn>
                                        <p:tgtEl>
                                          <p:spTgt spid="38"/>
                                        </p:tgtEl>
                                        <p:attrNameLst>
                                          <p:attrName>style.visibility</p:attrName>
                                        </p:attrNameLst>
                                      </p:cBhvr>
                                      <p:to>
                                        <p:strVal val="visible"/>
                                      </p:to>
                                    </p:set>
                                    <p:anim calcmode="lin" valueType="num">
                                      <p:cBhvr additive="base">
                                        <p:cTn id="142" dur="500" fill="hold"/>
                                        <p:tgtEl>
                                          <p:spTgt spid="38"/>
                                        </p:tgtEl>
                                        <p:attrNameLst>
                                          <p:attrName>ppt_x</p:attrName>
                                        </p:attrNameLst>
                                      </p:cBhvr>
                                      <p:tavLst>
                                        <p:tav tm="0">
                                          <p:val>
                                            <p:strVal val="#ppt_x"/>
                                          </p:val>
                                        </p:tav>
                                        <p:tav tm="100000">
                                          <p:val>
                                            <p:strVal val="#ppt_x"/>
                                          </p:val>
                                        </p:tav>
                                      </p:tavLst>
                                    </p:anim>
                                    <p:anim calcmode="lin" valueType="num">
                                      <p:cBhvr additive="base">
                                        <p:cTn id="143" dur="500" fill="hold"/>
                                        <p:tgtEl>
                                          <p:spTgt spid="38"/>
                                        </p:tgtEl>
                                        <p:attrNameLst>
                                          <p:attrName>ppt_y</p:attrName>
                                        </p:attrNameLst>
                                      </p:cBhvr>
                                      <p:tavLst>
                                        <p:tav tm="0">
                                          <p:val>
                                            <p:strVal val="#ppt_y+0.1"/>
                                          </p:val>
                                        </p:tav>
                                        <p:tav tm="100000">
                                          <p:val>
                                            <p:strVal val="#ppt_y"/>
                                          </p:val>
                                        </p:tav>
                                      </p:tavLst>
                                    </p:anim>
                                    <p:animEffect transition="in" filter="fade">
                                      <p:cBhvr>
                                        <p:cTn id="144" dur="500"/>
                                        <p:tgtEl>
                                          <p:spTgt spid="38"/>
                                        </p:tgtEl>
                                      </p:cBhvr>
                                    </p:animEffect>
                                  </p:childTnLst>
                                </p:cTn>
                              </p:par>
                              <p:par>
                                <p:cTn id="150" presetID="2" presetClass="entr" presetSubtype="4" fill="hold" grpId="0" nodeType="withEffect">
                                  <p:stCondLst>
                                    <p:cond delay="0"/>
                                  </p:stCondLst>
                                  <p:childTnLst>
                                    <p:set>
                                      <p:cBhvr>
                                        <p:cTn id="146" dur="1" fill="hold">
                                          <p:stCondLst>
                                            <p:cond delay="0"/>
                                          </p:stCondLst>
                                        </p:cTn>
                                        <p:tgtEl>
                                          <p:spTgt spid="39"/>
                                        </p:tgtEl>
                                        <p:attrNameLst>
                                          <p:attrName>style.visibility</p:attrName>
                                        </p:attrNameLst>
                                      </p:cBhvr>
                                      <p:to>
                                        <p:strVal val="visible"/>
                                      </p:to>
                                    </p:set>
                                    <p:anim calcmode="lin" valueType="num">
                                      <p:cBhvr additive="base">
                                        <p:cTn id="147" dur="500" fill="hold"/>
                                        <p:tgtEl>
                                          <p:spTgt spid="39"/>
                                        </p:tgtEl>
                                        <p:attrNameLst>
                                          <p:attrName>ppt_x</p:attrName>
                                        </p:attrNameLst>
                                      </p:cBhvr>
                                      <p:tavLst>
                                        <p:tav tm="0">
                                          <p:val>
                                            <p:strVal val="#ppt_x"/>
                                          </p:val>
                                        </p:tav>
                                        <p:tav tm="100000">
                                          <p:val>
                                            <p:strVal val="#ppt_x"/>
                                          </p:val>
                                        </p:tav>
                                      </p:tavLst>
                                    </p:anim>
                                    <p:anim calcmode="lin" valueType="num">
                                      <p:cBhvr additive="base">
                                        <p:cTn id="148" dur="500" fill="hold"/>
                                        <p:tgtEl>
                                          <p:spTgt spid="39"/>
                                        </p:tgtEl>
                                        <p:attrNameLst>
                                          <p:attrName>ppt_y</p:attrName>
                                        </p:attrNameLst>
                                      </p:cBhvr>
                                      <p:tavLst>
                                        <p:tav tm="0">
                                          <p:val>
                                            <p:strVal val="#ppt_y+0.1"/>
                                          </p:val>
                                        </p:tav>
                                        <p:tav tm="100000">
                                          <p:val>
                                            <p:strVal val="#ppt_y"/>
                                          </p:val>
                                        </p:tav>
                                      </p:tavLst>
                                    </p:anim>
                                    <p:animEffect transition="in" filter="fade">
                                      <p:cBhvr>
                                        <p:cTn id="149" dur="500"/>
                                        <p:tgtEl>
                                          <p:spTgt spid="39"/>
                                        </p:tgtEl>
                                      </p:cBhvr>
                                    </p:animEffect>
                                  </p:childTnLst>
                                </p:cTn>
                              </p:par>
                              <p:par>
                                <p:cTn id="155" presetID="2" presetClass="entr" presetSubtype="4" fill="hold" grpId="0" nodeType="withEffect">
                                  <p:stCondLst>
                                    <p:cond delay="80"/>
                                  </p:stCondLst>
                                  <p:childTnLst>
                                    <p:set>
                                      <p:cBhvr>
                                        <p:cTn id="151" dur="1" fill="hold">
                                          <p:stCondLst>
                                            <p:cond delay="0"/>
                                          </p:stCondLst>
                                        </p:cTn>
                                        <p:tgtEl>
                                          <p:spTgt spid="40"/>
                                        </p:tgtEl>
                                        <p:attrNameLst>
                                          <p:attrName>style.visibility</p:attrName>
                                        </p:attrNameLst>
                                      </p:cBhvr>
                                      <p:to>
                                        <p:strVal val="visible"/>
                                      </p:to>
                                    </p:set>
                                    <p:anim calcmode="lin" valueType="num">
                                      <p:cBhvr additive="base">
                                        <p:cTn id="152" dur="500" fill="hold"/>
                                        <p:tgtEl>
                                          <p:spTgt spid="40"/>
                                        </p:tgtEl>
                                        <p:attrNameLst>
                                          <p:attrName>ppt_x</p:attrName>
                                        </p:attrNameLst>
                                      </p:cBhvr>
                                      <p:tavLst>
                                        <p:tav tm="0">
                                          <p:val>
                                            <p:strVal val="#ppt_x"/>
                                          </p:val>
                                        </p:tav>
                                        <p:tav tm="100000">
                                          <p:val>
                                            <p:strVal val="#ppt_x"/>
                                          </p:val>
                                        </p:tav>
                                      </p:tavLst>
                                    </p:anim>
                                    <p:anim calcmode="lin" valueType="num">
                                      <p:cBhvr additive="base">
                                        <p:cTn id="153" dur="500" fill="hold"/>
                                        <p:tgtEl>
                                          <p:spTgt spid="40"/>
                                        </p:tgtEl>
                                        <p:attrNameLst>
                                          <p:attrName>ppt_y</p:attrName>
                                        </p:attrNameLst>
                                      </p:cBhvr>
                                      <p:tavLst>
                                        <p:tav tm="0">
                                          <p:val>
                                            <p:strVal val="#ppt_y+0.1"/>
                                          </p:val>
                                        </p:tav>
                                        <p:tav tm="100000">
                                          <p:val>
                                            <p:strVal val="#ppt_y"/>
                                          </p:val>
                                        </p:tav>
                                      </p:tavLst>
                                    </p:anim>
                                    <p:animEffect transition="in" filter="fade">
                                      <p:cBhvr>
                                        <p:cTn id="154" dur="500"/>
                                        <p:tgtEl>
                                          <p:spTgt spid="40"/>
                                        </p:tgtEl>
                                      </p:cBhvr>
                                    </p:animEffect>
                                  </p:childTnLst>
                                </p:cTn>
                              </p:par>
                              <p:par>
                                <p:cTn id="160" presetID="2" presetClass="entr" presetSubtype="4" fill="hold" grpId="0" nodeType="withEffect">
                                  <p:stCondLst>
                                    <p:cond delay="80"/>
                                  </p:stCondLst>
                                  <p:childTnLst>
                                    <p:set>
                                      <p:cBhvr>
                                        <p:cTn id="156" dur="1" fill="hold">
                                          <p:stCondLst>
                                            <p:cond delay="0"/>
                                          </p:stCondLst>
                                        </p:cTn>
                                        <p:tgtEl>
                                          <p:spTgt spid="41"/>
                                        </p:tgtEl>
                                        <p:attrNameLst>
                                          <p:attrName>style.visibility</p:attrName>
                                        </p:attrNameLst>
                                      </p:cBhvr>
                                      <p:to>
                                        <p:strVal val="visible"/>
                                      </p:to>
                                    </p:set>
                                    <p:anim calcmode="lin" valueType="num">
                                      <p:cBhvr additive="base">
                                        <p:cTn id="157" dur="500" fill="hold"/>
                                        <p:tgtEl>
                                          <p:spTgt spid="41"/>
                                        </p:tgtEl>
                                        <p:attrNameLst>
                                          <p:attrName>ppt_x</p:attrName>
                                        </p:attrNameLst>
                                      </p:cBhvr>
                                      <p:tavLst>
                                        <p:tav tm="0">
                                          <p:val>
                                            <p:strVal val="#ppt_x"/>
                                          </p:val>
                                        </p:tav>
                                        <p:tav tm="100000">
                                          <p:val>
                                            <p:strVal val="#ppt_x"/>
                                          </p:val>
                                        </p:tav>
                                      </p:tavLst>
                                    </p:anim>
                                    <p:anim calcmode="lin" valueType="num">
                                      <p:cBhvr additive="base">
                                        <p:cTn id="158" dur="500" fill="hold"/>
                                        <p:tgtEl>
                                          <p:spTgt spid="41"/>
                                        </p:tgtEl>
                                        <p:attrNameLst>
                                          <p:attrName>ppt_y</p:attrName>
                                        </p:attrNameLst>
                                      </p:cBhvr>
                                      <p:tavLst>
                                        <p:tav tm="0">
                                          <p:val>
                                            <p:strVal val="#ppt_y+0.1"/>
                                          </p:val>
                                        </p:tav>
                                        <p:tav tm="100000">
                                          <p:val>
                                            <p:strVal val="#ppt_y"/>
                                          </p:val>
                                        </p:tav>
                                      </p:tavLst>
                                    </p:anim>
                                    <p:animEffect transition="in" filter="fade">
                                      <p:cBhvr>
                                        <p:cTn id="159" dur="500"/>
                                        <p:tgtEl>
                                          <p:spTgt spid="41"/>
                                        </p:tgtEl>
                                      </p:cBhvr>
                                    </p:animEffect>
                                  </p:childTnLst>
                                </p:cTn>
                              </p:par>
                              <p:par>
                                <p:cTn id="165" presetID="2" presetClass="entr" presetSubtype="4" fill="hold" grpId="0" nodeType="withEffect">
                                  <p:stCondLst>
                                    <p:cond delay="180"/>
                                  </p:stCondLst>
                                  <p:childTnLst>
                                    <p:set>
                                      <p:cBhvr>
                                        <p:cTn id="161" dur="1" fill="hold">
                                          <p:stCondLst>
                                            <p:cond delay="0"/>
                                          </p:stCondLst>
                                        </p:cTn>
                                        <p:tgtEl>
                                          <p:spTgt spid="42"/>
                                        </p:tgtEl>
                                        <p:attrNameLst>
                                          <p:attrName>style.visibility</p:attrName>
                                        </p:attrNameLst>
                                      </p:cBhvr>
                                      <p:to>
                                        <p:strVal val="visible"/>
                                      </p:to>
                                    </p:set>
                                    <p:anim calcmode="lin" valueType="num">
                                      <p:cBhvr additive="base">
                                        <p:cTn id="162" dur="500" fill="hold"/>
                                        <p:tgtEl>
                                          <p:spTgt spid="42"/>
                                        </p:tgtEl>
                                        <p:attrNameLst>
                                          <p:attrName>ppt_x</p:attrName>
                                        </p:attrNameLst>
                                      </p:cBhvr>
                                      <p:tavLst>
                                        <p:tav tm="0">
                                          <p:val>
                                            <p:strVal val="#ppt_x"/>
                                          </p:val>
                                        </p:tav>
                                        <p:tav tm="100000">
                                          <p:val>
                                            <p:strVal val="#ppt_x"/>
                                          </p:val>
                                        </p:tav>
                                      </p:tavLst>
                                    </p:anim>
                                    <p:anim calcmode="lin" valueType="num">
                                      <p:cBhvr additive="base">
                                        <p:cTn id="163" dur="500" fill="hold"/>
                                        <p:tgtEl>
                                          <p:spTgt spid="42"/>
                                        </p:tgtEl>
                                        <p:attrNameLst>
                                          <p:attrName>ppt_y</p:attrName>
                                        </p:attrNameLst>
                                      </p:cBhvr>
                                      <p:tavLst>
                                        <p:tav tm="0">
                                          <p:val>
                                            <p:strVal val="#ppt_y+0.1"/>
                                          </p:val>
                                        </p:tav>
                                        <p:tav tm="100000">
                                          <p:val>
                                            <p:strVal val="#ppt_y"/>
                                          </p:val>
                                        </p:tav>
                                      </p:tavLst>
                                    </p:anim>
                                    <p:animEffect transition="in" filter="fade">
                                      <p:cBhvr>
                                        <p:cTn id="164" dur="500"/>
                                        <p:tgtEl>
                                          <p:spTgt spid="42"/>
                                        </p:tgtEl>
                                      </p:cBhvr>
                                    </p:animEffect>
                                  </p:childTnLst>
                                </p:cTn>
                              </p:par>
                              <p:par>
                                <p:cTn id="170" presetID="2" presetClass="entr" presetSubtype="4" fill="hold" grpId="0" nodeType="withEffect">
                                  <p:stCondLst>
                                    <p:cond delay="180"/>
                                  </p:stCondLst>
                                  <p:childTnLst>
                                    <p:set>
                                      <p:cBhvr>
                                        <p:cTn id="166" dur="1" fill="hold">
                                          <p:stCondLst>
                                            <p:cond delay="0"/>
                                          </p:stCondLst>
                                        </p:cTn>
                                        <p:tgtEl>
                                          <p:spTgt spid="43"/>
                                        </p:tgtEl>
                                        <p:attrNameLst>
                                          <p:attrName>style.visibility</p:attrName>
                                        </p:attrNameLst>
                                      </p:cBhvr>
                                      <p:to>
                                        <p:strVal val="visible"/>
                                      </p:to>
                                    </p:set>
                                    <p:anim calcmode="lin" valueType="num">
                                      <p:cBhvr additive="base">
                                        <p:cTn id="167" dur="500" fill="hold"/>
                                        <p:tgtEl>
                                          <p:spTgt spid="43"/>
                                        </p:tgtEl>
                                        <p:attrNameLst>
                                          <p:attrName>ppt_x</p:attrName>
                                        </p:attrNameLst>
                                      </p:cBhvr>
                                      <p:tavLst>
                                        <p:tav tm="0">
                                          <p:val>
                                            <p:strVal val="#ppt_x"/>
                                          </p:val>
                                        </p:tav>
                                        <p:tav tm="100000">
                                          <p:val>
                                            <p:strVal val="#ppt_x"/>
                                          </p:val>
                                        </p:tav>
                                      </p:tavLst>
                                    </p:anim>
                                    <p:anim calcmode="lin" valueType="num">
                                      <p:cBhvr additive="base">
                                        <p:cTn id="168" dur="500" fill="hold"/>
                                        <p:tgtEl>
                                          <p:spTgt spid="43"/>
                                        </p:tgtEl>
                                        <p:attrNameLst>
                                          <p:attrName>ppt_y</p:attrName>
                                        </p:attrNameLst>
                                      </p:cBhvr>
                                      <p:tavLst>
                                        <p:tav tm="0">
                                          <p:val>
                                            <p:strVal val="#ppt_y+0.1"/>
                                          </p:val>
                                        </p:tav>
                                        <p:tav tm="100000">
                                          <p:val>
                                            <p:strVal val="#ppt_y"/>
                                          </p:val>
                                        </p:tav>
                                      </p:tavLst>
                                    </p:anim>
                                    <p:animEffect transition="in" filter="fade">
                                      <p:cBhvr>
                                        <p:cTn id="169" dur="500"/>
                                        <p:tgtEl>
                                          <p:spTgt spid="43"/>
                                        </p:tgtEl>
                                      </p:cBhvr>
                                    </p:animEffect>
                                  </p:childTnLst>
                                </p:cTn>
                              </p:par>
                            </p:childTnLst>
                          </p:cTn>
                        </p:par>
                      </p:childTnLst>
                    </p:cTn>
                  </p:par>
                  <p:par>
                    <p:cTn id="171" fill="hold">
                      <p:stCondLst>
                        <p:cond delay="indefinite"/>
                      </p:stCondLst>
                      <p:childTnLst>
                        <p:par>
                          <p:cTn id="172" fill="hold">
                            <p:stCondLst>
                              <p:cond delay="0"/>
                            </p:stCondLst>
                            <p:childTnLst>
                              <p:par>
                                <p:cTn id="177" presetID="2" presetClass="entr" presetSubtype="4" fill="hold" grpId="0" nodeType="clickEffect">
                                  <p:stCondLst>
                                    <p:cond delay="0"/>
                                  </p:stCondLst>
                                  <p:childTnLst>
                                    <p:set>
                                      <p:cBhvr>
                                        <p:cTn id="173" dur="1" fill="hold">
                                          <p:stCondLst>
                                            <p:cond delay="0"/>
                                          </p:stCondLst>
                                        </p:cTn>
                                        <p:tgtEl>
                                          <p:spTgt spid="44"/>
                                        </p:tgtEl>
                                        <p:attrNameLst>
                                          <p:attrName>style.visibility</p:attrName>
                                        </p:attrNameLst>
                                      </p:cBhvr>
                                      <p:to>
                                        <p:strVal val="visible"/>
                                      </p:to>
                                    </p:set>
                                    <p:anim calcmode="lin" valueType="num">
                                      <p:cBhvr additive="base">
                                        <p:cTn id="174" dur="500" fill="hold"/>
                                        <p:tgtEl>
                                          <p:spTgt spid="44"/>
                                        </p:tgtEl>
                                        <p:attrNameLst>
                                          <p:attrName>ppt_x</p:attrName>
                                        </p:attrNameLst>
                                      </p:cBhvr>
                                      <p:tavLst>
                                        <p:tav tm="0">
                                          <p:val>
                                            <p:strVal val="#ppt_x"/>
                                          </p:val>
                                        </p:tav>
                                        <p:tav tm="100000">
                                          <p:val>
                                            <p:strVal val="#ppt_x"/>
                                          </p:val>
                                        </p:tav>
                                      </p:tavLst>
                                    </p:anim>
                                    <p:anim calcmode="lin" valueType="num">
                                      <p:cBhvr additive="base">
                                        <p:cTn id="175" dur="500" fill="hold"/>
                                        <p:tgtEl>
                                          <p:spTgt spid="44"/>
                                        </p:tgtEl>
                                        <p:attrNameLst>
                                          <p:attrName>ppt_y</p:attrName>
                                        </p:attrNameLst>
                                      </p:cBhvr>
                                      <p:tavLst>
                                        <p:tav tm="0">
                                          <p:val>
                                            <p:strVal val="#ppt_y+0.1"/>
                                          </p:val>
                                        </p:tav>
                                        <p:tav tm="100000">
                                          <p:val>
                                            <p:strVal val="#ppt_y"/>
                                          </p:val>
                                        </p:tav>
                                      </p:tavLst>
                                    </p:anim>
                                    <p:animEffect transition="in" filter="fade">
                                      <p:cBhvr>
                                        <p:cTn id="176" dur="500"/>
                                        <p:tgtEl>
                                          <p:spTgt spid="44"/>
                                        </p:tgtEl>
                                      </p:cBhvr>
                                    </p:animEffect>
                                  </p:childTnLst>
                                </p:cTn>
                              </p:par>
                              <p:par>
                                <p:cTn id="182" presetID="2" presetClass="entr" presetSubtype="4" fill="hold" grpId="0" nodeType="withEffect">
                                  <p:stCondLst>
                                    <p:cond delay="0"/>
                                  </p:stCondLst>
                                  <p:childTnLst>
                                    <p:set>
                                      <p:cBhvr>
                                        <p:cTn id="178" dur="1" fill="hold">
                                          <p:stCondLst>
                                            <p:cond delay="0"/>
                                          </p:stCondLst>
                                        </p:cTn>
                                        <p:tgtEl>
                                          <p:spTgt spid="45"/>
                                        </p:tgtEl>
                                        <p:attrNameLst>
                                          <p:attrName>style.visibility</p:attrName>
                                        </p:attrNameLst>
                                      </p:cBhvr>
                                      <p:to>
                                        <p:strVal val="visible"/>
                                      </p:to>
                                    </p:set>
                                    <p:anim calcmode="lin" valueType="num">
                                      <p:cBhvr additive="base">
                                        <p:cTn id="179" dur="500" fill="hold"/>
                                        <p:tgtEl>
                                          <p:spTgt spid="45"/>
                                        </p:tgtEl>
                                        <p:attrNameLst>
                                          <p:attrName>ppt_x</p:attrName>
                                        </p:attrNameLst>
                                      </p:cBhvr>
                                      <p:tavLst>
                                        <p:tav tm="0">
                                          <p:val>
                                            <p:strVal val="#ppt_x"/>
                                          </p:val>
                                        </p:tav>
                                        <p:tav tm="100000">
                                          <p:val>
                                            <p:strVal val="#ppt_x"/>
                                          </p:val>
                                        </p:tav>
                                      </p:tavLst>
                                    </p:anim>
                                    <p:anim calcmode="lin" valueType="num">
                                      <p:cBhvr additive="base">
                                        <p:cTn id="180" dur="500" fill="hold"/>
                                        <p:tgtEl>
                                          <p:spTgt spid="45"/>
                                        </p:tgtEl>
                                        <p:attrNameLst>
                                          <p:attrName>ppt_y</p:attrName>
                                        </p:attrNameLst>
                                      </p:cBhvr>
                                      <p:tavLst>
                                        <p:tav tm="0">
                                          <p:val>
                                            <p:strVal val="#ppt_y+0.1"/>
                                          </p:val>
                                        </p:tav>
                                        <p:tav tm="100000">
                                          <p:val>
                                            <p:strVal val="#ppt_y"/>
                                          </p:val>
                                        </p:tav>
                                      </p:tavLst>
                                    </p:anim>
                                    <p:animEffect transition="in" filter="fade">
                                      <p:cBhvr>
                                        <p:cTn id="181" dur="500"/>
                                        <p:tgtEl>
                                          <p:spTgt spid="45"/>
                                        </p:tgtEl>
                                      </p:cBhvr>
                                    </p:animEffect>
                                  </p:childTnLst>
                                </p:cTn>
                              </p:par>
                              <p:par>
                                <p:cTn id="187" presetID="2" presetClass="entr" presetSubtype="4" fill="hold" grpId="0" nodeType="withEffect">
                                  <p:stCondLst>
                                    <p:cond delay="0"/>
                                  </p:stCondLst>
                                  <p:childTnLst>
                                    <p:set>
                                      <p:cBhvr>
                                        <p:cTn id="183" dur="1" fill="hold">
                                          <p:stCondLst>
                                            <p:cond delay="0"/>
                                          </p:stCondLst>
                                        </p:cTn>
                                        <p:tgtEl>
                                          <p:spTgt spid="46"/>
                                        </p:tgtEl>
                                        <p:attrNameLst>
                                          <p:attrName>style.visibility</p:attrName>
                                        </p:attrNameLst>
                                      </p:cBhvr>
                                      <p:to>
                                        <p:strVal val="visible"/>
                                      </p:to>
                                    </p:set>
                                    <p:anim calcmode="lin" valueType="num">
                                      <p:cBhvr additive="base">
                                        <p:cTn id="184" dur="500" fill="hold"/>
                                        <p:tgtEl>
                                          <p:spTgt spid="46"/>
                                        </p:tgtEl>
                                        <p:attrNameLst>
                                          <p:attrName>ppt_x</p:attrName>
                                        </p:attrNameLst>
                                      </p:cBhvr>
                                      <p:tavLst>
                                        <p:tav tm="0">
                                          <p:val>
                                            <p:strVal val="#ppt_x"/>
                                          </p:val>
                                        </p:tav>
                                        <p:tav tm="100000">
                                          <p:val>
                                            <p:strVal val="#ppt_x"/>
                                          </p:val>
                                        </p:tav>
                                      </p:tavLst>
                                    </p:anim>
                                    <p:anim calcmode="lin" valueType="num">
                                      <p:cBhvr additive="base">
                                        <p:cTn id="185" dur="500" fill="hold"/>
                                        <p:tgtEl>
                                          <p:spTgt spid="46"/>
                                        </p:tgtEl>
                                        <p:attrNameLst>
                                          <p:attrName>ppt_y</p:attrName>
                                        </p:attrNameLst>
                                      </p:cBhvr>
                                      <p:tavLst>
                                        <p:tav tm="0">
                                          <p:val>
                                            <p:strVal val="#ppt_y+0.1"/>
                                          </p:val>
                                        </p:tav>
                                        <p:tav tm="100000">
                                          <p:val>
                                            <p:strVal val="#ppt_y"/>
                                          </p:val>
                                        </p:tav>
                                      </p:tavLst>
                                    </p:anim>
                                    <p:animEffect transition="in" filter="fade">
                                      <p:cBhvr>
                                        <p:cTn id="186"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k8"/>
          <p:cNvSpPr/>
          <p:nvPr/>
        </p:nvSpPr>
        <p:spPr>
          <a:xfrm>
            <a:off x="457200" y="155448"/>
            <a:ext cx="723519" cy="22860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spc="60">
                <a:solidFill>
                  <a:srgbClr val="C2410C"/>
                </a:solidFill>
                <a:latin typeface="Segoe UI"/>
              </a:rPr>
              <a:t>1970s</a:t>
            </a:r>
          </a:p>
        </p:txBody>
      </p:sp>
      <p:sp>
        <p:nvSpPr>
          <p:cNvPr id="10" name="h9"/>
          <p:cNvSpPr txBox="1"/>
          <p:nvPr/>
        </p:nvSpPr>
        <p:spPr>
          <a:xfrm>
            <a:off x="457200" y="420624"/>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Computers Learn to Talk</a:t>
            </a:r>
          </a:p>
        </p:txBody>
      </p:sp>
      <p:sp>
        <p:nvSpPr>
          <p:cNvPr id="11" name="sub10"/>
          <p:cNvSpPr txBox="1"/>
          <p:nvPr/>
        </p:nvSpPr>
        <p:spPr>
          <a:xfrm>
            <a:off x="457200" y="932688"/>
            <a:ext cx="8229600" cy="292608"/>
          </a:xfrm>
          <a:prstGeom prst="rect">
            <a:avLst/>
          </a:prstGeom>
          <a:noFill/>
        </p:spPr>
        <p:txBody>
          <a:bodyPr wrap="square" lIns="0" tIns="0" rIns="0" bIns="0" anchor="ctr">
            <a:spAutoFit/>
          </a:bodyPr>
          <a:lstStyle/>
          <a:p>
            <a:pPr algn="l"/>
            <a:r>
              <a:rPr sz="1150" b="0">
                <a:solidFill>
                  <a:srgbClr val="78716C"/>
                </a:solidFill>
                <a:latin typeface="Segoe UI"/>
              </a:rPr>
              <a:t>Networks made it possible to split an application across machines</a:t>
            </a:r>
          </a:p>
        </p:txBody>
      </p:sp>
      <p:sp>
        <p:nvSpPr>
          <p:cNvPr id="12" name="a1u_card11"/>
          <p:cNvSpPr/>
          <p:nvPr/>
        </p:nvSpPr>
        <p:spPr>
          <a:xfrm>
            <a:off x="457200" y="1399031"/>
            <a:ext cx="2609088" cy="2103120"/>
          </a:xfrm>
          <a:prstGeom prst="roundRect">
            <a:avLst>
              <a:gd name="adj" fmla="val 521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acc12"/>
          <p:cNvSpPr/>
          <p:nvPr/>
        </p:nvSpPr>
        <p:spPr>
          <a:xfrm>
            <a:off x="457200" y="1399031"/>
            <a:ext cx="2609088" cy="6400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60_ic13"/>
          <p:cNvSpPr/>
          <p:nvPr/>
        </p:nvSpPr>
        <p:spPr>
          <a:xfrm>
            <a:off x="621792" y="1600199"/>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60_ict14"/>
          <p:cNvSpPr txBox="1"/>
          <p:nvPr/>
        </p:nvSpPr>
        <p:spPr>
          <a:xfrm>
            <a:off x="621792" y="1600199"/>
            <a:ext cx="384048" cy="384048"/>
          </a:xfrm>
          <a:prstGeom prst="rect">
            <a:avLst/>
          </a:prstGeom>
          <a:noFill/>
        </p:spPr>
        <p:txBody>
          <a:bodyPr wrap="square" lIns="0" tIns="0" rIns="0" bIns="0" anchor="ctr">
            <a:spAutoFit/>
          </a:bodyPr>
          <a:lstStyle/>
          <a:p>
            <a:pPr algn="ctr"/>
            <a:r>
              <a:rPr sz="1200" b="1">
                <a:solidFill>
                  <a:srgbClr val="FFFFFF"/>
                </a:solidFill>
                <a:latin typeface="Segoe UI"/>
              </a:rPr>
              <a:t>1</a:t>
            </a:r>
          </a:p>
        </p:txBody>
      </p:sp>
      <p:sp>
        <p:nvSpPr>
          <p:cNvPr id="16" name="a1ud90_ct15"/>
          <p:cNvSpPr txBox="1"/>
          <p:nvPr/>
        </p:nvSpPr>
        <p:spPr>
          <a:xfrm>
            <a:off x="621792" y="2075687"/>
            <a:ext cx="2279904" cy="274320"/>
          </a:xfrm>
          <a:prstGeom prst="rect">
            <a:avLst/>
          </a:prstGeom>
          <a:noFill/>
        </p:spPr>
        <p:txBody>
          <a:bodyPr wrap="square" lIns="0" tIns="0" rIns="0" bIns="0" anchor="ctr">
            <a:spAutoFit/>
          </a:bodyPr>
          <a:lstStyle/>
          <a:p>
            <a:pPr algn="l"/>
            <a:r>
              <a:rPr sz="1300" b="1">
                <a:solidFill>
                  <a:srgbClr val="1C1917"/>
                </a:solidFill>
                <a:latin typeface="Segoe UI"/>
              </a:rPr>
              <a:t>ARPANET</a:t>
            </a:r>
          </a:p>
        </p:txBody>
      </p:sp>
      <p:sp>
        <p:nvSpPr>
          <p:cNvPr id="17" name="a1ud120_cs16"/>
          <p:cNvSpPr txBox="1"/>
          <p:nvPr/>
        </p:nvSpPr>
        <p:spPr>
          <a:xfrm>
            <a:off x="621792" y="2350007"/>
            <a:ext cx="2279904" cy="237744"/>
          </a:xfrm>
          <a:prstGeom prst="rect">
            <a:avLst/>
          </a:prstGeom>
          <a:noFill/>
        </p:spPr>
        <p:txBody>
          <a:bodyPr wrap="square" lIns="0" tIns="0" rIns="0" bIns="0" anchor="ctr">
            <a:spAutoFit/>
          </a:bodyPr>
          <a:lstStyle/>
          <a:p>
            <a:pPr algn="l"/>
            <a:r>
              <a:rPr sz="1000" b="1">
                <a:solidFill>
                  <a:srgbClr val="EA580C"/>
                </a:solidFill>
                <a:latin typeface="Consolas"/>
              </a:rPr>
              <a:t>1969</a:t>
            </a:r>
          </a:p>
        </p:txBody>
      </p:sp>
      <p:sp>
        <p:nvSpPr>
          <p:cNvPr id="18" name="a1ud150_cb17"/>
          <p:cNvSpPr txBox="1"/>
          <p:nvPr/>
        </p:nvSpPr>
        <p:spPr>
          <a:xfrm>
            <a:off x="621792" y="2606039"/>
            <a:ext cx="2279904" cy="475488"/>
          </a:xfrm>
          <a:prstGeom prst="rect">
            <a:avLst/>
          </a:prstGeom>
          <a:noFill/>
        </p:spPr>
        <p:txBody>
          <a:bodyPr wrap="square" lIns="0" tIns="0" rIns="0" bIns="0" anchor="t">
            <a:spAutoFit/>
          </a:bodyPr>
          <a:lstStyle/>
          <a:p>
            <a:pPr algn="l"/>
            <a:r>
              <a:rPr sz="950" b="1">
                <a:solidFill>
                  <a:srgbClr val="EA580C"/>
                </a:solidFill>
                <a:latin typeface="Segoe UI"/>
              </a:rPr>
              <a:t>· </a:t>
            </a:r>
            <a:r>
              <a:rPr sz="950" b="0">
                <a:solidFill>
                  <a:srgbClr val="44403C"/>
                </a:solidFill>
                <a:latin typeface="Segoe UI"/>
              </a:rPr>
              <a:t>The first message between two distant computers</a:t>
            </a:r>
          </a:p>
        </p:txBody>
      </p:sp>
      <p:sp>
        <p:nvSpPr>
          <p:cNvPr id="19" name="a1ud220_cb18"/>
          <p:cNvSpPr txBox="1"/>
          <p:nvPr/>
        </p:nvSpPr>
        <p:spPr>
          <a:xfrm>
            <a:off x="621792" y="2990087"/>
            <a:ext cx="2279904" cy="475488"/>
          </a:xfrm>
          <a:prstGeom prst="rect">
            <a:avLst/>
          </a:prstGeom>
          <a:noFill/>
        </p:spPr>
        <p:txBody>
          <a:bodyPr wrap="square" lIns="0" tIns="0" rIns="0" bIns="0" anchor="t">
            <a:spAutoFit/>
          </a:bodyPr>
          <a:lstStyle/>
          <a:p>
            <a:pPr algn="l"/>
            <a:r>
              <a:rPr sz="950" b="1">
                <a:solidFill>
                  <a:srgbClr val="EA580C"/>
                </a:solidFill>
                <a:latin typeface="Segoe UI"/>
              </a:rPr>
              <a:t>· </a:t>
            </a:r>
            <a:r>
              <a:rPr sz="950" b="0">
                <a:solidFill>
                  <a:srgbClr val="44403C"/>
                </a:solidFill>
                <a:latin typeface="Segoe UI"/>
              </a:rPr>
              <a:t>The ancestor of the internet</a:t>
            </a:r>
          </a:p>
        </p:txBody>
      </p:sp>
      <p:sp>
        <p:nvSpPr>
          <p:cNvPr id="20" name="a2u_card19"/>
          <p:cNvSpPr/>
          <p:nvPr/>
        </p:nvSpPr>
        <p:spPr>
          <a:xfrm>
            <a:off x="3267456" y="1399031"/>
            <a:ext cx="2609088" cy="2103120"/>
          </a:xfrm>
          <a:prstGeom prst="roundRect">
            <a:avLst>
              <a:gd name="adj" fmla="val 521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_acc20"/>
          <p:cNvSpPr/>
          <p:nvPr/>
        </p:nvSpPr>
        <p:spPr>
          <a:xfrm>
            <a:off x="3267456" y="1399031"/>
            <a:ext cx="2609088" cy="6400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d60_ic21"/>
          <p:cNvSpPr/>
          <p:nvPr/>
        </p:nvSpPr>
        <p:spPr>
          <a:xfrm>
            <a:off x="3432048" y="1600199"/>
            <a:ext cx="384048" cy="384048"/>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d60_ict22"/>
          <p:cNvSpPr txBox="1"/>
          <p:nvPr/>
        </p:nvSpPr>
        <p:spPr>
          <a:xfrm>
            <a:off x="3432048" y="1600199"/>
            <a:ext cx="384048" cy="384048"/>
          </a:xfrm>
          <a:prstGeom prst="rect">
            <a:avLst/>
          </a:prstGeom>
          <a:noFill/>
        </p:spPr>
        <p:txBody>
          <a:bodyPr wrap="square" lIns="0" tIns="0" rIns="0" bIns="0" anchor="ctr">
            <a:spAutoFit/>
          </a:bodyPr>
          <a:lstStyle/>
          <a:p>
            <a:pPr algn="ctr"/>
            <a:r>
              <a:rPr sz="1200" b="1">
                <a:solidFill>
                  <a:srgbClr val="FFFFFF"/>
                </a:solidFill>
                <a:latin typeface="Segoe UI"/>
              </a:rPr>
              <a:t>2</a:t>
            </a:r>
          </a:p>
        </p:txBody>
      </p:sp>
      <p:sp>
        <p:nvSpPr>
          <p:cNvPr id="24" name="a2ud90_ct23"/>
          <p:cNvSpPr txBox="1"/>
          <p:nvPr/>
        </p:nvSpPr>
        <p:spPr>
          <a:xfrm>
            <a:off x="3432048" y="2075687"/>
            <a:ext cx="2279904" cy="274320"/>
          </a:xfrm>
          <a:prstGeom prst="rect">
            <a:avLst/>
          </a:prstGeom>
          <a:noFill/>
        </p:spPr>
        <p:txBody>
          <a:bodyPr wrap="square" lIns="0" tIns="0" rIns="0" bIns="0" anchor="ctr">
            <a:spAutoFit/>
          </a:bodyPr>
          <a:lstStyle/>
          <a:p>
            <a:pPr algn="l"/>
            <a:r>
              <a:rPr sz="1300" b="1">
                <a:solidFill>
                  <a:srgbClr val="1C1917"/>
                </a:solidFill>
                <a:latin typeface="Segoe UI"/>
              </a:rPr>
              <a:t>Ethernet</a:t>
            </a:r>
          </a:p>
        </p:txBody>
      </p:sp>
      <p:sp>
        <p:nvSpPr>
          <p:cNvPr id="25" name="a2ud120_cs24"/>
          <p:cNvSpPr txBox="1"/>
          <p:nvPr/>
        </p:nvSpPr>
        <p:spPr>
          <a:xfrm>
            <a:off x="3432048" y="2350007"/>
            <a:ext cx="2279904" cy="237744"/>
          </a:xfrm>
          <a:prstGeom prst="rect">
            <a:avLst/>
          </a:prstGeom>
          <a:noFill/>
        </p:spPr>
        <p:txBody>
          <a:bodyPr wrap="square" lIns="0" tIns="0" rIns="0" bIns="0" anchor="ctr">
            <a:spAutoFit/>
          </a:bodyPr>
          <a:lstStyle/>
          <a:p>
            <a:pPr algn="l"/>
            <a:r>
              <a:rPr sz="1000" b="1">
                <a:solidFill>
                  <a:srgbClr val="0E7490"/>
                </a:solidFill>
                <a:latin typeface="Consolas"/>
              </a:rPr>
              <a:t>1973</a:t>
            </a:r>
          </a:p>
        </p:txBody>
      </p:sp>
      <p:sp>
        <p:nvSpPr>
          <p:cNvPr id="26" name="a2ud150_cb25"/>
          <p:cNvSpPr txBox="1"/>
          <p:nvPr/>
        </p:nvSpPr>
        <p:spPr>
          <a:xfrm>
            <a:off x="3432048" y="2606039"/>
            <a:ext cx="2279904" cy="475488"/>
          </a:xfrm>
          <a:prstGeom prst="rect">
            <a:avLst/>
          </a:prstGeom>
          <a:noFill/>
        </p:spPr>
        <p:txBody>
          <a:bodyPr wrap="square" lIns="0" tIns="0" rIns="0" bIns="0" anchor="t">
            <a:spAutoFit/>
          </a:bodyPr>
          <a:lstStyle/>
          <a:p>
            <a:pPr algn="l"/>
            <a:r>
              <a:rPr sz="950" b="1">
                <a:solidFill>
                  <a:srgbClr val="0E7490"/>
                </a:solidFill>
                <a:latin typeface="Segoe UI"/>
              </a:rPr>
              <a:t>· </a:t>
            </a:r>
            <a:r>
              <a:rPr sz="950" b="0">
                <a:solidFill>
                  <a:srgbClr val="44403C"/>
                </a:solidFill>
                <a:latin typeface="Segoe UI"/>
              </a:rPr>
              <a:t>Invented at Xerox PARC</a:t>
            </a:r>
          </a:p>
        </p:txBody>
      </p:sp>
      <p:sp>
        <p:nvSpPr>
          <p:cNvPr id="27" name="a2ud220_cb26"/>
          <p:cNvSpPr txBox="1"/>
          <p:nvPr/>
        </p:nvSpPr>
        <p:spPr>
          <a:xfrm>
            <a:off x="3432048" y="2990087"/>
            <a:ext cx="2279904" cy="475488"/>
          </a:xfrm>
          <a:prstGeom prst="rect">
            <a:avLst/>
          </a:prstGeom>
          <a:noFill/>
        </p:spPr>
        <p:txBody>
          <a:bodyPr wrap="square" lIns="0" tIns="0" rIns="0" bIns="0" anchor="t">
            <a:spAutoFit/>
          </a:bodyPr>
          <a:lstStyle/>
          <a:p>
            <a:pPr algn="l"/>
            <a:r>
              <a:rPr sz="950" b="1">
                <a:solidFill>
                  <a:srgbClr val="0E7490"/>
                </a:solidFill>
                <a:latin typeface="Segoe UI"/>
              </a:rPr>
              <a:t>· </a:t>
            </a:r>
            <a:r>
              <a:rPr sz="950" b="0">
                <a:solidFill>
                  <a:srgbClr val="44403C"/>
                </a:solidFill>
                <a:latin typeface="Segoe UI"/>
              </a:rPr>
              <a:t>Computers in one building share a network</a:t>
            </a:r>
          </a:p>
        </p:txBody>
      </p:sp>
      <p:sp>
        <p:nvSpPr>
          <p:cNvPr id="28" name="a3u_card27"/>
          <p:cNvSpPr/>
          <p:nvPr/>
        </p:nvSpPr>
        <p:spPr>
          <a:xfrm>
            <a:off x="6077712" y="1399031"/>
            <a:ext cx="2609088" cy="2103120"/>
          </a:xfrm>
          <a:prstGeom prst="roundRect">
            <a:avLst>
              <a:gd name="adj" fmla="val 521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3u_acc28"/>
          <p:cNvSpPr/>
          <p:nvPr/>
        </p:nvSpPr>
        <p:spPr>
          <a:xfrm>
            <a:off x="6077712" y="1399031"/>
            <a:ext cx="2609088" cy="64008"/>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d60_ic29"/>
          <p:cNvSpPr/>
          <p:nvPr/>
        </p:nvSpPr>
        <p:spPr>
          <a:xfrm>
            <a:off x="6242304" y="1600199"/>
            <a:ext cx="384048" cy="384048"/>
          </a:xfrm>
          <a:prstGeom prst="ellipse">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ud60_ict30"/>
          <p:cNvSpPr txBox="1"/>
          <p:nvPr/>
        </p:nvSpPr>
        <p:spPr>
          <a:xfrm>
            <a:off x="6242304" y="1600199"/>
            <a:ext cx="384048" cy="384048"/>
          </a:xfrm>
          <a:prstGeom prst="rect">
            <a:avLst/>
          </a:prstGeom>
          <a:noFill/>
        </p:spPr>
        <p:txBody>
          <a:bodyPr wrap="square" lIns="0" tIns="0" rIns="0" bIns="0" anchor="ctr">
            <a:spAutoFit/>
          </a:bodyPr>
          <a:lstStyle/>
          <a:p>
            <a:pPr algn="ctr"/>
            <a:r>
              <a:rPr sz="1200" b="1">
                <a:solidFill>
                  <a:srgbClr val="FFFFFF"/>
                </a:solidFill>
                <a:latin typeface="Segoe UI"/>
              </a:rPr>
              <a:t>3</a:t>
            </a:r>
          </a:p>
        </p:txBody>
      </p:sp>
      <p:sp>
        <p:nvSpPr>
          <p:cNvPr id="32" name="a3ud90_ct31"/>
          <p:cNvSpPr txBox="1"/>
          <p:nvPr/>
        </p:nvSpPr>
        <p:spPr>
          <a:xfrm>
            <a:off x="6242304" y="2075687"/>
            <a:ext cx="2279904" cy="274320"/>
          </a:xfrm>
          <a:prstGeom prst="rect">
            <a:avLst/>
          </a:prstGeom>
          <a:noFill/>
        </p:spPr>
        <p:txBody>
          <a:bodyPr wrap="square" lIns="0" tIns="0" rIns="0" bIns="0" anchor="ctr">
            <a:spAutoFit/>
          </a:bodyPr>
          <a:lstStyle/>
          <a:p>
            <a:pPr algn="l"/>
            <a:r>
              <a:rPr sz="1300" b="1">
                <a:solidFill>
                  <a:srgbClr val="1C1917"/>
                </a:solidFill>
                <a:latin typeface="Segoe UI"/>
              </a:rPr>
              <a:t>TCP/IP</a:t>
            </a:r>
          </a:p>
        </p:txBody>
      </p:sp>
      <p:sp>
        <p:nvSpPr>
          <p:cNvPr id="33" name="a3ud120_cs32"/>
          <p:cNvSpPr txBox="1"/>
          <p:nvPr/>
        </p:nvSpPr>
        <p:spPr>
          <a:xfrm>
            <a:off x="6242304" y="2350007"/>
            <a:ext cx="2279904" cy="237744"/>
          </a:xfrm>
          <a:prstGeom prst="rect">
            <a:avLst/>
          </a:prstGeom>
          <a:noFill/>
        </p:spPr>
        <p:txBody>
          <a:bodyPr wrap="square" lIns="0" tIns="0" rIns="0" bIns="0" anchor="ctr">
            <a:spAutoFit/>
          </a:bodyPr>
          <a:lstStyle/>
          <a:p>
            <a:pPr algn="l"/>
            <a:r>
              <a:rPr sz="1000" b="1">
                <a:solidFill>
                  <a:srgbClr val="A16207"/>
                </a:solidFill>
                <a:latin typeface="Consolas"/>
              </a:rPr>
              <a:t>1974  -&gt;  1983</a:t>
            </a:r>
          </a:p>
        </p:txBody>
      </p:sp>
      <p:sp>
        <p:nvSpPr>
          <p:cNvPr id="34" name="a3ud150_cb33"/>
          <p:cNvSpPr txBox="1"/>
          <p:nvPr/>
        </p:nvSpPr>
        <p:spPr>
          <a:xfrm>
            <a:off x="6242304" y="2606039"/>
            <a:ext cx="2279904" cy="475488"/>
          </a:xfrm>
          <a:prstGeom prst="rect">
            <a:avLst/>
          </a:prstGeom>
          <a:noFill/>
        </p:spPr>
        <p:txBody>
          <a:bodyPr wrap="square" lIns="0" tIns="0" rIns="0" bIns="0" anchor="t">
            <a:spAutoFit/>
          </a:bodyPr>
          <a:lstStyle/>
          <a:p>
            <a:pPr algn="l"/>
            <a:r>
              <a:rPr sz="950" b="1">
                <a:solidFill>
                  <a:srgbClr val="A16207"/>
                </a:solidFill>
                <a:latin typeface="Segoe UI"/>
              </a:rPr>
              <a:t>· </a:t>
            </a:r>
            <a:r>
              <a:rPr sz="950" b="0">
                <a:solidFill>
                  <a:srgbClr val="44403C"/>
                </a:solidFill>
                <a:latin typeface="Segoe UI"/>
              </a:rPr>
              <a:t>Designed by Vint Cerf and Bob Kahn</a:t>
            </a:r>
          </a:p>
        </p:txBody>
      </p:sp>
      <p:sp>
        <p:nvSpPr>
          <p:cNvPr id="35" name="a3ud220_cb34"/>
          <p:cNvSpPr txBox="1"/>
          <p:nvPr/>
        </p:nvSpPr>
        <p:spPr>
          <a:xfrm>
            <a:off x="6242304" y="2990087"/>
            <a:ext cx="2279904" cy="475488"/>
          </a:xfrm>
          <a:prstGeom prst="rect">
            <a:avLst/>
          </a:prstGeom>
          <a:noFill/>
        </p:spPr>
        <p:txBody>
          <a:bodyPr wrap="square" lIns="0" tIns="0" rIns="0" bIns="0" anchor="t">
            <a:spAutoFit/>
          </a:bodyPr>
          <a:lstStyle/>
          <a:p>
            <a:pPr algn="l"/>
            <a:r>
              <a:rPr sz="950" b="1">
                <a:solidFill>
                  <a:srgbClr val="A16207"/>
                </a:solidFill>
                <a:latin typeface="Segoe UI"/>
              </a:rPr>
              <a:t>· </a:t>
            </a:r>
            <a:r>
              <a:rPr sz="950" b="0">
                <a:solidFill>
                  <a:srgbClr val="44403C"/>
                </a:solidFill>
                <a:latin typeface="Segoe UI"/>
              </a:rPr>
              <a:t>Switched on across ARPANET in 1983</a:t>
            </a:r>
          </a:p>
        </p:txBody>
      </p:sp>
      <p:sp>
        <p:nvSpPr>
          <p:cNvPr id="36" name="a4u_nb35"/>
          <p:cNvSpPr/>
          <p:nvPr/>
        </p:nvSpPr>
        <p:spPr>
          <a:xfrm>
            <a:off x="457200" y="3666744"/>
            <a:ext cx="8229600" cy="658368"/>
          </a:xfrm>
          <a:prstGeom prst="roundRect">
            <a:avLst>
              <a:gd name="adj" fmla="val 11111"/>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4u_nacc36"/>
          <p:cNvSpPr/>
          <p:nvPr/>
        </p:nvSpPr>
        <p:spPr>
          <a:xfrm>
            <a:off x="457200" y="3666744"/>
            <a:ext cx="54864" cy="65836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4u_nt37"/>
          <p:cNvSpPr txBox="1"/>
          <p:nvPr/>
        </p:nvSpPr>
        <p:spPr>
          <a:xfrm>
            <a:off x="658368" y="3666744"/>
            <a:ext cx="7827264" cy="658368"/>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Networks made distributed applications possible - and introduced a brand-new kind of failure: the network itself. Kafka still speaks TCP today.</a:t>
            </a:r>
          </a:p>
        </p:txBody>
      </p:sp>
      <p:sp>
        <p:nvSpPr>
          <p:cNvPr id="39" name="ft3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08</a:t>
            </a:r>
          </a:p>
        </p:txBody>
      </p:sp>
      <p:sp>
        <p:nvSpPr>
          <p:cNvPr id="40" name="ft3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ft4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2" name="ft4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 calcmode="lin" valueType="num">
                                      <p:cBhvr additive="base">
                                        <p:cTn id="6" dur="500" fill="hold"/>
                                        <p:tgtEl>
                                          <p:spTgt spid="12"/>
                                        </p:tgtEl>
                                        <p:attrNameLst>
                                          <p:attrName>ppt_x</p:attrName>
                                        </p:attrNameLst>
                                      </p:cBhvr>
                                      <p:tavLst>
                                        <p:tav tm="0">
                                          <p:val>
                                            <p:strVal val="#ppt_x"/>
                                          </p:val>
                                        </p:tav>
                                        <p:tav tm="100000">
                                          <p:val>
                                            <p:strVal val="#ppt_x"/>
                                          </p:val>
                                        </p:tav>
                                      </p:tavLst>
                                    </p:anim>
                                    <p:anim calcmode="lin" valueType="num">
                                      <p:cBhvr additive="base">
                                        <p:cTn id="7" dur="500" fill="hold"/>
                                        <p:tgtEl>
                                          <p:spTgt spid="12"/>
                                        </p:tgtEl>
                                        <p:attrNameLst>
                                          <p:attrName>ppt_y</p:attrName>
                                        </p:attrNameLst>
                                      </p:cBhvr>
                                      <p:tavLst>
                                        <p:tav tm="0">
                                          <p:val>
                                            <p:strVal val="#ppt_y+0.1"/>
                                          </p:val>
                                        </p:tav>
                                        <p:tav tm="100000">
                                          <p:val>
                                            <p:strVal val="#ppt_y"/>
                                          </p:val>
                                        </p:tav>
                                      </p:tavLst>
                                    </p:anim>
                                    <p:animEffect transition="in" filter="fade">
                                      <p:cBhvr>
                                        <p:cTn id="8" dur="500"/>
                                        <p:tgtEl>
                                          <p:spTgt spid="12"/>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ppt_y+0.1"/>
                                          </p:val>
                                        </p:tav>
                                        <p:tav tm="100000">
                                          <p:val>
                                            <p:strVal val="#ppt_y"/>
                                          </p:val>
                                        </p:tav>
                                      </p:tavLst>
                                    </p:anim>
                                    <p:animEffect transition="in" filter="fade">
                                      <p:cBhvr>
                                        <p:cTn id="13" dur="500"/>
                                        <p:tgtEl>
                                          <p:spTgt spid="13"/>
                                        </p:tgtEl>
                                      </p:cBhvr>
                                    </p:animEffect>
                                  </p:childTnLst>
                                </p:cTn>
                              </p:par>
                              <p:par>
                                <p:cTn id="19" presetID="2" presetClass="entr" presetSubtype="4" fill="hold" grpId="0" nodeType="withEffect">
                                  <p:stCondLst>
                                    <p:cond delay="6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ppt_y+0.1"/>
                                          </p:val>
                                        </p:tav>
                                        <p:tav tm="100000">
                                          <p:val>
                                            <p:strVal val="#ppt_y"/>
                                          </p:val>
                                        </p:tav>
                                      </p:tavLst>
                                    </p:anim>
                                    <p:animEffect transition="in" filter="fade">
                                      <p:cBhvr>
                                        <p:cTn id="18" dur="500"/>
                                        <p:tgtEl>
                                          <p:spTgt spid="14"/>
                                        </p:tgtEl>
                                      </p:cBhvr>
                                    </p:animEffect>
                                  </p:childTnLst>
                                </p:cTn>
                              </p:par>
                              <p:par>
                                <p:cTn id="24" presetID="2" presetClass="entr" presetSubtype="4" fill="hold" grpId="0" nodeType="withEffect">
                                  <p:stCondLst>
                                    <p:cond delay="6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9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ppt_y+0.1"/>
                                          </p:val>
                                        </p:tav>
                                        <p:tav tm="100000">
                                          <p:val>
                                            <p:strVal val="#ppt_y"/>
                                          </p:val>
                                        </p:tav>
                                      </p:tavLst>
                                    </p:anim>
                                    <p:animEffect transition="in" filter="fade">
                                      <p:cBhvr>
                                        <p:cTn id="28" dur="500"/>
                                        <p:tgtEl>
                                          <p:spTgt spid="16"/>
                                        </p:tgtEl>
                                      </p:cBhvr>
                                    </p:animEffect>
                                  </p:childTnLst>
                                </p:cTn>
                              </p:par>
                              <p:par>
                                <p:cTn id="34" presetID="2" presetClass="entr" presetSubtype="4" fill="hold" grpId="0" nodeType="withEffect">
                                  <p:stCondLst>
                                    <p:cond delay="12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15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ppt_y+0.1"/>
                                          </p:val>
                                        </p:tav>
                                        <p:tav tm="100000">
                                          <p:val>
                                            <p:strVal val="#ppt_y"/>
                                          </p:val>
                                        </p:tav>
                                      </p:tavLst>
                                    </p:anim>
                                    <p:animEffect transition="in" filter="fade">
                                      <p:cBhvr>
                                        <p:cTn id="38" dur="500"/>
                                        <p:tgtEl>
                                          <p:spTgt spid="18"/>
                                        </p:tgtEl>
                                      </p:cBhvr>
                                    </p:animEffect>
                                  </p:childTnLst>
                                </p:cTn>
                              </p:par>
                              <p:par>
                                <p:cTn id="44" presetID="2" presetClass="entr" presetSubtype="4" fill="hold" grpId="0" nodeType="withEffect">
                                  <p:stCondLst>
                                    <p:cond delay="220"/>
                                  </p:stCondLst>
                                  <p:childTnLst>
                                    <p:set>
                                      <p:cBhvr>
                                        <p:cTn id="40" dur="1" fill="hold">
                                          <p:stCondLst>
                                            <p:cond delay="0"/>
                                          </p:stCondLst>
                                        </p:cTn>
                                        <p:tgtEl>
                                          <p:spTgt spid="19"/>
                                        </p:tgtEl>
                                        <p:attrNameLst>
                                          <p:attrName>style.visibility</p:attrName>
                                        </p:attrNameLst>
                                      </p:cBhvr>
                                      <p:to>
                                        <p:strVal val="visible"/>
                                      </p:to>
                                    </p:set>
                                    <p:anim calcmode="lin" valueType="num">
                                      <p:cBhvr additive="base">
                                        <p:cTn id="41" dur="500" fill="hold"/>
                                        <p:tgtEl>
                                          <p:spTgt spid="19"/>
                                        </p:tgtEl>
                                        <p:attrNameLst>
                                          <p:attrName>ppt_x</p:attrName>
                                        </p:attrNameLst>
                                      </p:cBhvr>
                                      <p:tavLst>
                                        <p:tav tm="0">
                                          <p:val>
                                            <p:strVal val="#ppt_x"/>
                                          </p:val>
                                        </p:tav>
                                        <p:tav tm="100000">
                                          <p:val>
                                            <p:strVal val="#ppt_x"/>
                                          </p:val>
                                        </p:tav>
                                      </p:tavLst>
                                    </p:anim>
                                    <p:anim calcmode="lin" valueType="num">
                                      <p:cBhvr additive="base">
                                        <p:cTn id="42" dur="500" fill="hold"/>
                                        <p:tgtEl>
                                          <p:spTgt spid="19"/>
                                        </p:tgtEl>
                                        <p:attrNameLst>
                                          <p:attrName>ppt_y</p:attrName>
                                        </p:attrNameLst>
                                      </p:cBhvr>
                                      <p:tavLst>
                                        <p:tav tm="0">
                                          <p:val>
                                            <p:strVal val="#ppt_y+0.1"/>
                                          </p:val>
                                        </p:tav>
                                        <p:tav tm="100000">
                                          <p:val>
                                            <p:strVal val="#ppt_y"/>
                                          </p:val>
                                        </p:tav>
                                      </p:tavLst>
                                    </p:anim>
                                    <p:animEffect transition="in" filter="fade">
                                      <p:cBhvr>
                                        <p:cTn id="43"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51" presetID="2" presetClass="entr" presetSubtype="4" fill="hold" grpId="0" nodeType="clickEffect">
                                  <p:stCondLst>
                                    <p:cond delay="0"/>
                                  </p:stCondLst>
                                  <p:childTnLst>
                                    <p:set>
                                      <p:cBhvr>
                                        <p:cTn id="47" dur="1" fill="hold">
                                          <p:stCondLst>
                                            <p:cond delay="0"/>
                                          </p:stCondLst>
                                        </p:cTn>
                                        <p:tgtEl>
                                          <p:spTgt spid="20"/>
                                        </p:tgtEl>
                                        <p:attrNameLst>
                                          <p:attrName>style.visibility</p:attrName>
                                        </p:attrNameLst>
                                      </p:cBhvr>
                                      <p:to>
                                        <p:strVal val="visible"/>
                                      </p:to>
                                    </p:set>
                                    <p:anim calcmode="lin" valueType="num">
                                      <p:cBhvr additive="base">
                                        <p:cTn id="48" dur="500" fill="hold"/>
                                        <p:tgtEl>
                                          <p:spTgt spid="20"/>
                                        </p:tgtEl>
                                        <p:attrNameLst>
                                          <p:attrName>ppt_x</p:attrName>
                                        </p:attrNameLst>
                                      </p:cBhvr>
                                      <p:tavLst>
                                        <p:tav tm="0">
                                          <p:val>
                                            <p:strVal val="#ppt_x"/>
                                          </p:val>
                                        </p:tav>
                                        <p:tav tm="100000">
                                          <p:val>
                                            <p:strVal val="#ppt_x"/>
                                          </p:val>
                                        </p:tav>
                                      </p:tavLst>
                                    </p:anim>
                                    <p:anim calcmode="lin" valueType="num">
                                      <p:cBhvr additive="base">
                                        <p:cTn id="49" dur="500" fill="hold"/>
                                        <p:tgtEl>
                                          <p:spTgt spid="20"/>
                                        </p:tgtEl>
                                        <p:attrNameLst>
                                          <p:attrName>ppt_y</p:attrName>
                                        </p:attrNameLst>
                                      </p:cBhvr>
                                      <p:tavLst>
                                        <p:tav tm="0">
                                          <p:val>
                                            <p:strVal val="#ppt_y+0.1"/>
                                          </p:val>
                                        </p:tav>
                                        <p:tav tm="100000">
                                          <p:val>
                                            <p:strVal val="#ppt_y"/>
                                          </p:val>
                                        </p:tav>
                                      </p:tavLst>
                                    </p:anim>
                                    <p:animEffect transition="in" filter="fade">
                                      <p:cBhvr>
                                        <p:cTn id="50" dur="500"/>
                                        <p:tgtEl>
                                          <p:spTgt spid="20"/>
                                        </p:tgtEl>
                                      </p:cBhvr>
                                    </p:animEffect>
                                  </p:childTnLst>
                                </p:cTn>
                              </p:par>
                              <p:par>
                                <p:cTn id="56" presetID="2" presetClass="entr" presetSubtype="4"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additive="base">
                                        <p:cTn id="53" dur="500" fill="hold"/>
                                        <p:tgtEl>
                                          <p:spTgt spid="21"/>
                                        </p:tgtEl>
                                        <p:attrNameLst>
                                          <p:attrName>ppt_x</p:attrName>
                                        </p:attrNameLst>
                                      </p:cBhvr>
                                      <p:tavLst>
                                        <p:tav tm="0">
                                          <p:val>
                                            <p:strVal val="#ppt_x"/>
                                          </p:val>
                                        </p:tav>
                                        <p:tav tm="100000">
                                          <p:val>
                                            <p:strVal val="#ppt_x"/>
                                          </p:val>
                                        </p:tav>
                                      </p:tavLst>
                                    </p:anim>
                                    <p:anim calcmode="lin" valueType="num">
                                      <p:cBhvr additive="base">
                                        <p:cTn id="54" dur="500" fill="hold"/>
                                        <p:tgtEl>
                                          <p:spTgt spid="21"/>
                                        </p:tgtEl>
                                        <p:attrNameLst>
                                          <p:attrName>ppt_y</p:attrName>
                                        </p:attrNameLst>
                                      </p:cBhvr>
                                      <p:tavLst>
                                        <p:tav tm="0">
                                          <p:val>
                                            <p:strVal val="#ppt_y+0.1"/>
                                          </p:val>
                                        </p:tav>
                                        <p:tav tm="100000">
                                          <p:val>
                                            <p:strVal val="#ppt_y"/>
                                          </p:val>
                                        </p:tav>
                                      </p:tavLst>
                                    </p:anim>
                                    <p:animEffect transition="in" filter="fade">
                                      <p:cBhvr>
                                        <p:cTn id="55" dur="500"/>
                                        <p:tgtEl>
                                          <p:spTgt spid="21"/>
                                        </p:tgtEl>
                                      </p:cBhvr>
                                    </p:animEffect>
                                  </p:childTnLst>
                                </p:cTn>
                              </p:par>
                              <p:par>
                                <p:cTn id="61" presetID="2" presetClass="entr" presetSubtype="4" fill="hold" grpId="0" nodeType="withEffect">
                                  <p:stCondLst>
                                    <p:cond delay="60"/>
                                  </p:stCondLst>
                                  <p:childTnLst>
                                    <p:set>
                                      <p:cBhvr>
                                        <p:cTn id="57" dur="1" fill="hold">
                                          <p:stCondLst>
                                            <p:cond delay="0"/>
                                          </p:stCondLst>
                                        </p:cTn>
                                        <p:tgtEl>
                                          <p:spTgt spid="22"/>
                                        </p:tgtEl>
                                        <p:attrNameLst>
                                          <p:attrName>style.visibility</p:attrName>
                                        </p:attrNameLst>
                                      </p:cBhvr>
                                      <p:to>
                                        <p:strVal val="visible"/>
                                      </p:to>
                                    </p:set>
                                    <p:anim calcmode="lin" valueType="num">
                                      <p:cBhvr additive="base">
                                        <p:cTn id="58" dur="500" fill="hold"/>
                                        <p:tgtEl>
                                          <p:spTgt spid="22"/>
                                        </p:tgtEl>
                                        <p:attrNameLst>
                                          <p:attrName>ppt_x</p:attrName>
                                        </p:attrNameLst>
                                      </p:cBhvr>
                                      <p:tavLst>
                                        <p:tav tm="0">
                                          <p:val>
                                            <p:strVal val="#ppt_x"/>
                                          </p:val>
                                        </p:tav>
                                        <p:tav tm="100000">
                                          <p:val>
                                            <p:strVal val="#ppt_x"/>
                                          </p:val>
                                        </p:tav>
                                      </p:tavLst>
                                    </p:anim>
                                    <p:anim calcmode="lin" valueType="num">
                                      <p:cBhvr additive="base">
                                        <p:cTn id="59" dur="500" fill="hold"/>
                                        <p:tgtEl>
                                          <p:spTgt spid="22"/>
                                        </p:tgtEl>
                                        <p:attrNameLst>
                                          <p:attrName>ppt_y</p:attrName>
                                        </p:attrNameLst>
                                      </p:cBhvr>
                                      <p:tavLst>
                                        <p:tav tm="0">
                                          <p:val>
                                            <p:strVal val="#ppt_y+0.1"/>
                                          </p:val>
                                        </p:tav>
                                        <p:tav tm="100000">
                                          <p:val>
                                            <p:strVal val="#ppt_y"/>
                                          </p:val>
                                        </p:tav>
                                      </p:tavLst>
                                    </p:anim>
                                    <p:animEffect transition="in" filter="fade">
                                      <p:cBhvr>
                                        <p:cTn id="60" dur="500"/>
                                        <p:tgtEl>
                                          <p:spTgt spid="22"/>
                                        </p:tgtEl>
                                      </p:cBhvr>
                                    </p:animEffect>
                                  </p:childTnLst>
                                </p:cTn>
                              </p:par>
                              <p:par>
                                <p:cTn id="66" presetID="2" presetClass="entr" presetSubtype="4" fill="hold" grpId="0" nodeType="withEffect">
                                  <p:stCondLst>
                                    <p:cond delay="60"/>
                                  </p:stCondLst>
                                  <p:childTnLst>
                                    <p:set>
                                      <p:cBhvr>
                                        <p:cTn id="62" dur="1" fill="hold">
                                          <p:stCondLst>
                                            <p:cond delay="0"/>
                                          </p:stCondLst>
                                        </p:cTn>
                                        <p:tgtEl>
                                          <p:spTgt spid="23"/>
                                        </p:tgtEl>
                                        <p:attrNameLst>
                                          <p:attrName>style.visibility</p:attrName>
                                        </p:attrNameLst>
                                      </p:cBhvr>
                                      <p:to>
                                        <p:strVal val="visible"/>
                                      </p:to>
                                    </p:set>
                                    <p:anim calcmode="lin" valueType="num">
                                      <p:cBhvr additive="base">
                                        <p:cTn id="63" dur="500" fill="hold"/>
                                        <p:tgtEl>
                                          <p:spTgt spid="23"/>
                                        </p:tgtEl>
                                        <p:attrNameLst>
                                          <p:attrName>ppt_x</p:attrName>
                                        </p:attrNameLst>
                                      </p:cBhvr>
                                      <p:tavLst>
                                        <p:tav tm="0">
                                          <p:val>
                                            <p:strVal val="#ppt_x"/>
                                          </p:val>
                                        </p:tav>
                                        <p:tav tm="100000">
                                          <p:val>
                                            <p:strVal val="#ppt_x"/>
                                          </p:val>
                                        </p:tav>
                                      </p:tavLst>
                                    </p:anim>
                                    <p:anim calcmode="lin" valueType="num">
                                      <p:cBhvr additive="base">
                                        <p:cTn id="64" dur="500" fill="hold"/>
                                        <p:tgtEl>
                                          <p:spTgt spid="23"/>
                                        </p:tgtEl>
                                        <p:attrNameLst>
                                          <p:attrName>ppt_y</p:attrName>
                                        </p:attrNameLst>
                                      </p:cBhvr>
                                      <p:tavLst>
                                        <p:tav tm="0">
                                          <p:val>
                                            <p:strVal val="#ppt_y+0.1"/>
                                          </p:val>
                                        </p:tav>
                                        <p:tav tm="100000">
                                          <p:val>
                                            <p:strVal val="#ppt_y"/>
                                          </p:val>
                                        </p:tav>
                                      </p:tavLst>
                                    </p:anim>
                                    <p:animEffect transition="in" filter="fade">
                                      <p:cBhvr>
                                        <p:cTn id="65" dur="500"/>
                                        <p:tgtEl>
                                          <p:spTgt spid="23"/>
                                        </p:tgtEl>
                                      </p:cBhvr>
                                    </p:animEffect>
                                  </p:childTnLst>
                                </p:cTn>
                              </p:par>
                              <p:par>
                                <p:cTn id="71" presetID="2" presetClass="entr" presetSubtype="4" fill="hold" grpId="0" nodeType="withEffect">
                                  <p:stCondLst>
                                    <p:cond delay="90"/>
                                  </p:stCondLst>
                                  <p:childTnLst>
                                    <p:set>
                                      <p:cBhvr>
                                        <p:cTn id="67" dur="1" fill="hold">
                                          <p:stCondLst>
                                            <p:cond delay="0"/>
                                          </p:stCondLst>
                                        </p:cTn>
                                        <p:tgtEl>
                                          <p:spTgt spid="24"/>
                                        </p:tgtEl>
                                        <p:attrNameLst>
                                          <p:attrName>style.visibility</p:attrName>
                                        </p:attrNameLst>
                                      </p:cBhvr>
                                      <p:to>
                                        <p:strVal val="visible"/>
                                      </p:to>
                                    </p:set>
                                    <p:anim calcmode="lin" valueType="num">
                                      <p:cBhvr additive="base">
                                        <p:cTn id="68" dur="500" fill="hold"/>
                                        <p:tgtEl>
                                          <p:spTgt spid="24"/>
                                        </p:tgtEl>
                                        <p:attrNameLst>
                                          <p:attrName>ppt_x</p:attrName>
                                        </p:attrNameLst>
                                      </p:cBhvr>
                                      <p:tavLst>
                                        <p:tav tm="0">
                                          <p:val>
                                            <p:strVal val="#ppt_x"/>
                                          </p:val>
                                        </p:tav>
                                        <p:tav tm="100000">
                                          <p:val>
                                            <p:strVal val="#ppt_x"/>
                                          </p:val>
                                        </p:tav>
                                      </p:tavLst>
                                    </p:anim>
                                    <p:anim calcmode="lin" valueType="num">
                                      <p:cBhvr additive="base">
                                        <p:cTn id="69" dur="500" fill="hold"/>
                                        <p:tgtEl>
                                          <p:spTgt spid="24"/>
                                        </p:tgtEl>
                                        <p:attrNameLst>
                                          <p:attrName>ppt_y</p:attrName>
                                        </p:attrNameLst>
                                      </p:cBhvr>
                                      <p:tavLst>
                                        <p:tav tm="0">
                                          <p:val>
                                            <p:strVal val="#ppt_y+0.1"/>
                                          </p:val>
                                        </p:tav>
                                        <p:tav tm="100000">
                                          <p:val>
                                            <p:strVal val="#ppt_y"/>
                                          </p:val>
                                        </p:tav>
                                      </p:tavLst>
                                    </p:anim>
                                    <p:animEffect transition="in" filter="fade">
                                      <p:cBhvr>
                                        <p:cTn id="70" dur="500"/>
                                        <p:tgtEl>
                                          <p:spTgt spid="24"/>
                                        </p:tgtEl>
                                      </p:cBhvr>
                                    </p:animEffect>
                                  </p:childTnLst>
                                </p:cTn>
                              </p:par>
                              <p:par>
                                <p:cTn id="76" presetID="2" presetClass="entr" presetSubtype="4" fill="hold" grpId="0" nodeType="withEffect">
                                  <p:stCondLst>
                                    <p:cond delay="120"/>
                                  </p:stCondLst>
                                  <p:childTnLst>
                                    <p:set>
                                      <p:cBhvr>
                                        <p:cTn id="72" dur="1" fill="hold">
                                          <p:stCondLst>
                                            <p:cond delay="0"/>
                                          </p:stCondLst>
                                        </p:cTn>
                                        <p:tgtEl>
                                          <p:spTgt spid="25"/>
                                        </p:tgtEl>
                                        <p:attrNameLst>
                                          <p:attrName>style.visibility</p:attrName>
                                        </p:attrNameLst>
                                      </p:cBhvr>
                                      <p:to>
                                        <p:strVal val="visible"/>
                                      </p:to>
                                    </p:set>
                                    <p:anim calcmode="lin" valueType="num">
                                      <p:cBhvr additive="base">
                                        <p:cTn id="73" dur="500" fill="hold"/>
                                        <p:tgtEl>
                                          <p:spTgt spid="25"/>
                                        </p:tgtEl>
                                        <p:attrNameLst>
                                          <p:attrName>ppt_x</p:attrName>
                                        </p:attrNameLst>
                                      </p:cBhvr>
                                      <p:tavLst>
                                        <p:tav tm="0">
                                          <p:val>
                                            <p:strVal val="#ppt_x"/>
                                          </p:val>
                                        </p:tav>
                                        <p:tav tm="100000">
                                          <p:val>
                                            <p:strVal val="#ppt_x"/>
                                          </p:val>
                                        </p:tav>
                                      </p:tavLst>
                                    </p:anim>
                                    <p:anim calcmode="lin" valueType="num">
                                      <p:cBhvr additive="base">
                                        <p:cTn id="74" dur="500" fill="hold"/>
                                        <p:tgtEl>
                                          <p:spTgt spid="25"/>
                                        </p:tgtEl>
                                        <p:attrNameLst>
                                          <p:attrName>ppt_y</p:attrName>
                                        </p:attrNameLst>
                                      </p:cBhvr>
                                      <p:tavLst>
                                        <p:tav tm="0">
                                          <p:val>
                                            <p:strVal val="#ppt_y+0.1"/>
                                          </p:val>
                                        </p:tav>
                                        <p:tav tm="100000">
                                          <p:val>
                                            <p:strVal val="#ppt_y"/>
                                          </p:val>
                                        </p:tav>
                                      </p:tavLst>
                                    </p:anim>
                                    <p:animEffect transition="in" filter="fade">
                                      <p:cBhvr>
                                        <p:cTn id="75" dur="500"/>
                                        <p:tgtEl>
                                          <p:spTgt spid="25"/>
                                        </p:tgtEl>
                                      </p:cBhvr>
                                    </p:animEffect>
                                  </p:childTnLst>
                                </p:cTn>
                              </p:par>
                              <p:par>
                                <p:cTn id="81" presetID="2" presetClass="entr" presetSubtype="4" fill="hold" grpId="0" nodeType="withEffect">
                                  <p:stCondLst>
                                    <p:cond delay="150"/>
                                  </p:stCondLst>
                                  <p:childTnLst>
                                    <p:set>
                                      <p:cBhvr>
                                        <p:cTn id="77" dur="1" fill="hold">
                                          <p:stCondLst>
                                            <p:cond delay="0"/>
                                          </p:stCondLst>
                                        </p:cTn>
                                        <p:tgtEl>
                                          <p:spTgt spid="26"/>
                                        </p:tgtEl>
                                        <p:attrNameLst>
                                          <p:attrName>style.visibility</p:attrName>
                                        </p:attrNameLst>
                                      </p:cBhvr>
                                      <p:to>
                                        <p:strVal val="visible"/>
                                      </p:to>
                                    </p:set>
                                    <p:anim calcmode="lin" valueType="num">
                                      <p:cBhvr additive="base">
                                        <p:cTn id="78" dur="500" fill="hold"/>
                                        <p:tgtEl>
                                          <p:spTgt spid="26"/>
                                        </p:tgtEl>
                                        <p:attrNameLst>
                                          <p:attrName>ppt_x</p:attrName>
                                        </p:attrNameLst>
                                      </p:cBhvr>
                                      <p:tavLst>
                                        <p:tav tm="0">
                                          <p:val>
                                            <p:strVal val="#ppt_x"/>
                                          </p:val>
                                        </p:tav>
                                        <p:tav tm="100000">
                                          <p:val>
                                            <p:strVal val="#ppt_x"/>
                                          </p:val>
                                        </p:tav>
                                      </p:tavLst>
                                    </p:anim>
                                    <p:anim calcmode="lin" valueType="num">
                                      <p:cBhvr additive="base">
                                        <p:cTn id="79" dur="500" fill="hold"/>
                                        <p:tgtEl>
                                          <p:spTgt spid="26"/>
                                        </p:tgtEl>
                                        <p:attrNameLst>
                                          <p:attrName>ppt_y</p:attrName>
                                        </p:attrNameLst>
                                      </p:cBhvr>
                                      <p:tavLst>
                                        <p:tav tm="0">
                                          <p:val>
                                            <p:strVal val="#ppt_y+0.1"/>
                                          </p:val>
                                        </p:tav>
                                        <p:tav tm="100000">
                                          <p:val>
                                            <p:strVal val="#ppt_y"/>
                                          </p:val>
                                        </p:tav>
                                      </p:tavLst>
                                    </p:anim>
                                    <p:animEffect transition="in" filter="fade">
                                      <p:cBhvr>
                                        <p:cTn id="80" dur="500"/>
                                        <p:tgtEl>
                                          <p:spTgt spid="26"/>
                                        </p:tgtEl>
                                      </p:cBhvr>
                                    </p:animEffect>
                                  </p:childTnLst>
                                </p:cTn>
                              </p:par>
                              <p:par>
                                <p:cTn id="86" presetID="2" presetClass="entr" presetSubtype="4" fill="hold" grpId="0" nodeType="withEffect">
                                  <p:stCondLst>
                                    <p:cond delay="220"/>
                                  </p:stCondLst>
                                  <p:childTnLst>
                                    <p:set>
                                      <p:cBhvr>
                                        <p:cTn id="82" dur="1" fill="hold">
                                          <p:stCondLst>
                                            <p:cond delay="0"/>
                                          </p:stCondLst>
                                        </p:cTn>
                                        <p:tgtEl>
                                          <p:spTgt spid="27"/>
                                        </p:tgtEl>
                                        <p:attrNameLst>
                                          <p:attrName>style.visibility</p:attrName>
                                        </p:attrNameLst>
                                      </p:cBhvr>
                                      <p:to>
                                        <p:strVal val="visible"/>
                                      </p:to>
                                    </p:set>
                                    <p:anim calcmode="lin" valueType="num">
                                      <p:cBhvr additive="base">
                                        <p:cTn id="83" dur="500" fill="hold"/>
                                        <p:tgtEl>
                                          <p:spTgt spid="27"/>
                                        </p:tgtEl>
                                        <p:attrNameLst>
                                          <p:attrName>ppt_x</p:attrName>
                                        </p:attrNameLst>
                                      </p:cBhvr>
                                      <p:tavLst>
                                        <p:tav tm="0">
                                          <p:val>
                                            <p:strVal val="#ppt_x"/>
                                          </p:val>
                                        </p:tav>
                                        <p:tav tm="100000">
                                          <p:val>
                                            <p:strVal val="#ppt_x"/>
                                          </p:val>
                                        </p:tav>
                                      </p:tavLst>
                                    </p:anim>
                                    <p:anim calcmode="lin" valueType="num">
                                      <p:cBhvr additive="base">
                                        <p:cTn id="84" dur="500" fill="hold"/>
                                        <p:tgtEl>
                                          <p:spTgt spid="27"/>
                                        </p:tgtEl>
                                        <p:attrNameLst>
                                          <p:attrName>ppt_y</p:attrName>
                                        </p:attrNameLst>
                                      </p:cBhvr>
                                      <p:tavLst>
                                        <p:tav tm="0">
                                          <p:val>
                                            <p:strVal val="#ppt_y+0.1"/>
                                          </p:val>
                                        </p:tav>
                                        <p:tav tm="100000">
                                          <p:val>
                                            <p:strVal val="#ppt_y"/>
                                          </p:val>
                                        </p:tav>
                                      </p:tavLst>
                                    </p:anim>
                                    <p:animEffect transition="in" filter="fade">
                                      <p:cBhvr>
                                        <p:cTn id="85" dur="500"/>
                                        <p:tgtEl>
                                          <p:spTgt spid="27"/>
                                        </p:tgtEl>
                                      </p:cBhvr>
                                    </p:animEffect>
                                  </p:childTnLst>
                                </p:cTn>
                              </p:par>
                            </p:childTnLst>
                          </p:cTn>
                        </p:par>
                      </p:childTnLst>
                    </p:cTn>
                  </p:par>
                  <p:par>
                    <p:cTn id="87" fill="hold">
                      <p:stCondLst>
                        <p:cond delay="indefinite"/>
                      </p:stCondLst>
                      <p:childTnLst>
                        <p:par>
                          <p:cTn id="88" fill="hold">
                            <p:stCondLst>
                              <p:cond delay="0"/>
                            </p:stCondLst>
                            <p:childTnLst>
                              <p:par>
                                <p:cTn id="93" presetID="2" presetClass="entr" presetSubtype="4" fill="hold" grpId="0" nodeType="clickEffect">
                                  <p:stCondLst>
                                    <p:cond delay="0"/>
                                  </p:stCondLst>
                                  <p:childTnLst>
                                    <p:set>
                                      <p:cBhvr>
                                        <p:cTn id="89" dur="1" fill="hold">
                                          <p:stCondLst>
                                            <p:cond delay="0"/>
                                          </p:stCondLst>
                                        </p:cTn>
                                        <p:tgtEl>
                                          <p:spTgt spid="28"/>
                                        </p:tgtEl>
                                        <p:attrNameLst>
                                          <p:attrName>style.visibility</p:attrName>
                                        </p:attrNameLst>
                                      </p:cBhvr>
                                      <p:to>
                                        <p:strVal val="visible"/>
                                      </p:to>
                                    </p:set>
                                    <p:anim calcmode="lin" valueType="num">
                                      <p:cBhvr additive="base">
                                        <p:cTn id="90" dur="500" fill="hold"/>
                                        <p:tgtEl>
                                          <p:spTgt spid="28"/>
                                        </p:tgtEl>
                                        <p:attrNameLst>
                                          <p:attrName>ppt_x</p:attrName>
                                        </p:attrNameLst>
                                      </p:cBhvr>
                                      <p:tavLst>
                                        <p:tav tm="0">
                                          <p:val>
                                            <p:strVal val="#ppt_x"/>
                                          </p:val>
                                        </p:tav>
                                        <p:tav tm="100000">
                                          <p:val>
                                            <p:strVal val="#ppt_x"/>
                                          </p:val>
                                        </p:tav>
                                      </p:tavLst>
                                    </p:anim>
                                    <p:anim calcmode="lin" valueType="num">
                                      <p:cBhvr additive="base">
                                        <p:cTn id="91" dur="500" fill="hold"/>
                                        <p:tgtEl>
                                          <p:spTgt spid="28"/>
                                        </p:tgtEl>
                                        <p:attrNameLst>
                                          <p:attrName>ppt_y</p:attrName>
                                        </p:attrNameLst>
                                      </p:cBhvr>
                                      <p:tavLst>
                                        <p:tav tm="0">
                                          <p:val>
                                            <p:strVal val="#ppt_y+0.1"/>
                                          </p:val>
                                        </p:tav>
                                        <p:tav tm="100000">
                                          <p:val>
                                            <p:strVal val="#ppt_y"/>
                                          </p:val>
                                        </p:tav>
                                      </p:tavLst>
                                    </p:anim>
                                    <p:animEffect transition="in" filter="fade">
                                      <p:cBhvr>
                                        <p:cTn id="92" dur="500"/>
                                        <p:tgtEl>
                                          <p:spTgt spid="28"/>
                                        </p:tgtEl>
                                      </p:cBhvr>
                                    </p:animEffect>
                                  </p:childTnLst>
                                </p:cTn>
                              </p:par>
                              <p:par>
                                <p:cTn id="98" presetID="2" presetClass="entr" presetSubtype="4"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 calcmode="lin" valueType="num">
                                      <p:cBhvr additive="base">
                                        <p:cTn id="95" dur="500" fill="hold"/>
                                        <p:tgtEl>
                                          <p:spTgt spid="29"/>
                                        </p:tgtEl>
                                        <p:attrNameLst>
                                          <p:attrName>ppt_x</p:attrName>
                                        </p:attrNameLst>
                                      </p:cBhvr>
                                      <p:tavLst>
                                        <p:tav tm="0">
                                          <p:val>
                                            <p:strVal val="#ppt_x"/>
                                          </p:val>
                                        </p:tav>
                                        <p:tav tm="100000">
                                          <p:val>
                                            <p:strVal val="#ppt_x"/>
                                          </p:val>
                                        </p:tav>
                                      </p:tavLst>
                                    </p:anim>
                                    <p:anim calcmode="lin" valueType="num">
                                      <p:cBhvr additive="base">
                                        <p:cTn id="96" dur="500" fill="hold"/>
                                        <p:tgtEl>
                                          <p:spTgt spid="29"/>
                                        </p:tgtEl>
                                        <p:attrNameLst>
                                          <p:attrName>ppt_y</p:attrName>
                                        </p:attrNameLst>
                                      </p:cBhvr>
                                      <p:tavLst>
                                        <p:tav tm="0">
                                          <p:val>
                                            <p:strVal val="#ppt_y+0.1"/>
                                          </p:val>
                                        </p:tav>
                                        <p:tav tm="100000">
                                          <p:val>
                                            <p:strVal val="#ppt_y"/>
                                          </p:val>
                                        </p:tav>
                                      </p:tavLst>
                                    </p:anim>
                                    <p:animEffect transition="in" filter="fade">
                                      <p:cBhvr>
                                        <p:cTn id="97" dur="500"/>
                                        <p:tgtEl>
                                          <p:spTgt spid="29"/>
                                        </p:tgtEl>
                                      </p:cBhvr>
                                    </p:animEffect>
                                  </p:childTnLst>
                                </p:cTn>
                              </p:par>
                              <p:par>
                                <p:cTn id="103" presetID="2" presetClass="entr" presetSubtype="4" fill="hold" grpId="0" nodeType="withEffect">
                                  <p:stCondLst>
                                    <p:cond delay="60"/>
                                  </p:stCondLst>
                                  <p:childTnLst>
                                    <p:set>
                                      <p:cBhvr>
                                        <p:cTn id="99" dur="1" fill="hold">
                                          <p:stCondLst>
                                            <p:cond delay="0"/>
                                          </p:stCondLst>
                                        </p:cTn>
                                        <p:tgtEl>
                                          <p:spTgt spid="30"/>
                                        </p:tgtEl>
                                        <p:attrNameLst>
                                          <p:attrName>style.visibility</p:attrName>
                                        </p:attrNameLst>
                                      </p:cBhvr>
                                      <p:to>
                                        <p:strVal val="visible"/>
                                      </p:to>
                                    </p:set>
                                    <p:anim calcmode="lin" valueType="num">
                                      <p:cBhvr additive="base">
                                        <p:cTn id="100" dur="500" fill="hold"/>
                                        <p:tgtEl>
                                          <p:spTgt spid="30"/>
                                        </p:tgtEl>
                                        <p:attrNameLst>
                                          <p:attrName>ppt_x</p:attrName>
                                        </p:attrNameLst>
                                      </p:cBhvr>
                                      <p:tavLst>
                                        <p:tav tm="0">
                                          <p:val>
                                            <p:strVal val="#ppt_x"/>
                                          </p:val>
                                        </p:tav>
                                        <p:tav tm="100000">
                                          <p:val>
                                            <p:strVal val="#ppt_x"/>
                                          </p:val>
                                        </p:tav>
                                      </p:tavLst>
                                    </p:anim>
                                    <p:anim calcmode="lin" valueType="num">
                                      <p:cBhvr additive="base">
                                        <p:cTn id="101" dur="500" fill="hold"/>
                                        <p:tgtEl>
                                          <p:spTgt spid="30"/>
                                        </p:tgtEl>
                                        <p:attrNameLst>
                                          <p:attrName>ppt_y</p:attrName>
                                        </p:attrNameLst>
                                      </p:cBhvr>
                                      <p:tavLst>
                                        <p:tav tm="0">
                                          <p:val>
                                            <p:strVal val="#ppt_y+0.1"/>
                                          </p:val>
                                        </p:tav>
                                        <p:tav tm="100000">
                                          <p:val>
                                            <p:strVal val="#ppt_y"/>
                                          </p:val>
                                        </p:tav>
                                      </p:tavLst>
                                    </p:anim>
                                    <p:animEffect transition="in" filter="fade">
                                      <p:cBhvr>
                                        <p:cTn id="102" dur="500"/>
                                        <p:tgtEl>
                                          <p:spTgt spid="30"/>
                                        </p:tgtEl>
                                      </p:cBhvr>
                                    </p:animEffect>
                                  </p:childTnLst>
                                </p:cTn>
                              </p:par>
                              <p:par>
                                <p:cTn id="108" presetID="2" presetClass="entr" presetSubtype="4" fill="hold" grpId="0" nodeType="withEffect">
                                  <p:stCondLst>
                                    <p:cond delay="60"/>
                                  </p:stCondLst>
                                  <p:childTnLst>
                                    <p:set>
                                      <p:cBhvr>
                                        <p:cTn id="104" dur="1" fill="hold">
                                          <p:stCondLst>
                                            <p:cond delay="0"/>
                                          </p:stCondLst>
                                        </p:cTn>
                                        <p:tgtEl>
                                          <p:spTgt spid="31"/>
                                        </p:tgtEl>
                                        <p:attrNameLst>
                                          <p:attrName>style.visibility</p:attrName>
                                        </p:attrNameLst>
                                      </p:cBhvr>
                                      <p:to>
                                        <p:strVal val="visible"/>
                                      </p:to>
                                    </p:set>
                                    <p:anim calcmode="lin" valueType="num">
                                      <p:cBhvr additive="base">
                                        <p:cTn id="105" dur="500" fill="hold"/>
                                        <p:tgtEl>
                                          <p:spTgt spid="31"/>
                                        </p:tgtEl>
                                        <p:attrNameLst>
                                          <p:attrName>ppt_x</p:attrName>
                                        </p:attrNameLst>
                                      </p:cBhvr>
                                      <p:tavLst>
                                        <p:tav tm="0">
                                          <p:val>
                                            <p:strVal val="#ppt_x"/>
                                          </p:val>
                                        </p:tav>
                                        <p:tav tm="100000">
                                          <p:val>
                                            <p:strVal val="#ppt_x"/>
                                          </p:val>
                                        </p:tav>
                                      </p:tavLst>
                                    </p:anim>
                                    <p:anim calcmode="lin" valueType="num">
                                      <p:cBhvr additive="base">
                                        <p:cTn id="106" dur="500" fill="hold"/>
                                        <p:tgtEl>
                                          <p:spTgt spid="31"/>
                                        </p:tgtEl>
                                        <p:attrNameLst>
                                          <p:attrName>ppt_y</p:attrName>
                                        </p:attrNameLst>
                                      </p:cBhvr>
                                      <p:tavLst>
                                        <p:tav tm="0">
                                          <p:val>
                                            <p:strVal val="#ppt_y+0.1"/>
                                          </p:val>
                                        </p:tav>
                                        <p:tav tm="100000">
                                          <p:val>
                                            <p:strVal val="#ppt_y"/>
                                          </p:val>
                                        </p:tav>
                                      </p:tavLst>
                                    </p:anim>
                                    <p:animEffect transition="in" filter="fade">
                                      <p:cBhvr>
                                        <p:cTn id="107" dur="500"/>
                                        <p:tgtEl>
                                          <p:spTgt spid="31"/>
                                        </p:tgtEl>
                                      </p:cBhvr>
                                    </p:animEffect>
                                  </p:childTnLst>
                                </p:cTn>
                              </p:par>
                              <p:par>
                                <p:cTn id="113" presetID="2" presetClass="entr" presetSubtype="4" fill="hold" grpId="0" nodeType="withEffect">
                                  <p:stCondLst>
                                    <p:cond delay="90"/>
                                  </p:stCondLst>
                                  <p:childTnLst>
                                    <p:set>
                                      <p:cBhvr>
                                        <p:cTn id="109" dur="1" fill="hold">
                                          <p:stCondLst>
                                            <p:cond delay="0"/>
                                          </p:stCondLst>
                                        </p:cTn>
                                        <p:tgtEl>
                                          <p:spTgt spid="32"/>
                                        </p:tgtEl>
                                        <p:attrNameLst>
                                          <p:attrName>style.visibility</p:attrName>
                                        </p:attrNameLst>
                                      </p:cBhvr>
                                      <p:to>
                                        <p:strVal val="visible"/>
                                      </p:to>
                                    </p:set>
                                    <p:anim calcmode="lin" valueType="num">
                                      <p:cBhvr additive="base">
                                        <p:cTn id="110" dur="500" fill="hold"/>
                                        <p:tgtEl>
                                          <p:spTgt spid="32"/>
                                        </p:tgtEl>
                                        <p:attrNameLst>
                                          <p:attrName>ppt_x</p:attrName>
                                        </p:attrNameLst>
                                      </p:cBhvr>
                                      <p:tavLst>
                                        <p:tav tm="0">
                                          <p:val>
                                            <p:strVal val="#ppt_x"/>
                                          </p:val>
                                        </p:tav>
                                        <p:tav tm="100000">
                                          <p:val>
                                            <p:strVal val="#ppt_x"/>
                                          </p:val>
                                        </p:tav>
                                      </p:tavLst>
                                    </p:anim>
                                    <p:anim calcmode="lin" valueType="num">
                                      <p:cBhvr additive="base">
                                        <p:cTn id="111" dur="500" fill="hold"/>
                                        <p:tgtEl>
                                          <p:spTgt spid="32"/>
                                        </p:tgtEl>
                                        <p:attrNameLst>
                                          <p:attrName>ppt_y</p:attrName>
                                        </p:attrNameLst>
                                      </p:cBhvr>
                                      <p:tavLst>
                                        <p:tav tm="0">
                                          <p:val>
                                            <p:strVal val="#ppt_y+0.1"/>
                                          </p:val>
                                        </p:tav>
                                        <p:tav tm="100000">
                                          <p:val>
                                            <p:strVal val="#ppt_y"/>
                                          </p:val>
                                        </p:tav>
                                      </p:tavLst>
                                    </p:anim>
                                    <p:animEffect transition="in" filter="fade">
                                      <p:cBhvr>
                                        <p:cTn id="112" dur="500"/>
                                        <p:tgtEl>
                                          <p:spTgt spid="32"/>
                                        </p:tgtEl>
                                      </p:cBhvr>
                                    </p:animEffect>
                                  </p:childTnLst>
                                </p:cTn>
                              </p:par>
                              <p:par>
                                <p:cTn id="118" presetID="2" presetClass="entr" presetSubtype="4" fill="hold" grpId="0" nodeType="withEffect">
                                  <p:stCondLst>
                                    <p:cond delay="120"/>
                                  </p:stCondLst>
                                  <p:childTnLst>
                                    <p:set>
                                      <p:cBhvr>
                                        <p:cTn id="114" dur="1" fill="hold">
                                          <p:stCondLst>
                                            <p:cond delay="0"/>
                                          </p:stCondLst>
                                        </p:cTn>
                                        <p:tgtEl>
                                          <p:spTgt spid="33"/>
                                        </p:tgtEl>
                                        <p:attrNameLst>
                                          <p:attrName>style.visibility</p:attrName>
                                        </p:attrNameLst>
                                      </p:cBhvr>
                                      <p:to>
                                        <p:strVal val="visible"/>
                                      </p:to>
                                    </p:set>
                                    <p:anim calcmode="lin" valueType="num">
                                      <p:cBhvr additive="base">
                                        <p:cTn id="115" dur="500" fill="hold"/>
                                        <p:tgtEl>
                                          <p:spTgt spid="33"/>
                                        </p:tgtEl>
                                        <p:attrNameLst>
                                          <p:attrName>ppt_x</p:attrName>
                                        </p:attrNameLst>
                                      </p:cBhvr>
                                      <p:tavLst>
                                        <p:tav tm="0">
                                          <p:val>
                                            <p:strVal val="#ppt_x"/>
                                          </p:val>
                                        </p:tav>
                                        <p:tav tm="100000">
                                          <p:val>
                                            <p:strVal val="#ppt_x"/>
                                          </p:val>
                                        </p:tav>
                                      </p:tavLst>
                                    </p:anim>
                                    <p:anim calcmode="lin" valueType="num">
                                      <p:cBhvr additive="base">
                                        <p:cTn id="116" dur="500" fill="hold"/>
                                        <p:tgtEl>
                                          <p:spTgt spid="33"/>
                                        </p:tgtEl>
                                        <p:attrNameLst>
                                          <p:attrName>ppt_y</p:attrName>
                                        </p:attrNameLst>
                                      </p:cBhvr>
                                      <p:tavLst>
                                        <p:tav tm="0">
                                          <p:val>
                                            <p:strVal val="#ppt_y+0.1"/>
                                          </p:val>
                                        </p:tav>
                                        <p:tav tm="100000">
                                          <p:val>
                                            <p:strVal val="#ppt_y"/>
                                          </p:val>
                                        </p:tav>
                                      </p:tavLst>
                                    </p:anim>
                                    <p:animEffect transition="in" filter="fade">
                                      <p:cBhvr>
                                        <p:cTn id="117" dur="500"/>
                                        <p:tgtEl>
                                          <p:spTgt spid="33"/>
                                        </p:tgtEl>
                                      </p:cBhvr>
                                    </p:animEffect>
                                  </p:childTnLst>
                                </p:cTn>
                              </p:par>
                              <p:par>
                                <p:cTn id="123" presetID="2" presetClass="entr" presetSubtype="4" fill="hold" grpId="0" nodeType="withEffect">
                                  <p:stCondLst>
                                    <p:cond delay="150"/>
                                  </p:stCondLst>
                                  <p:childTnLst>
                                    <p:set>
                                      <p:cBhvr>
                                        <p:cTn id="119" dur="1" fill="hold">
                                          <p:stCondLst>
                                            <p:cond delay="0"/>
                                          </p:stCondLst>
                                        </p:cTn>
                                        <p:tgtEl>
                                          <p:spTgt spid="34"/>
                                        </p:tgtEl>
                                        <p:attrNameLst>
                                          <p:attrName>style.visibility</p:attrName>
                                        </p:attrNameLst>
                                      </p:cBhvr>
                                      <p:to>
                                        <p:strVal val="visible"/>
                                      </p:to>
                                    </p:set>
                                    <p:anim calcmode="lin" valueType="num">
                                      <p:cBhvr additive="base">
                                        <p:cTn id="120" dur="500" fill="hold"/>
                                        <p:tgtEl>
                                          <p:spTgt spid="34"/>
                                        </p:tgtEl>
                                        <p:attrNameLst>
                                          <p:attrName>ppt_x</p:attrName>
                                        </p:attrNameLst>
                                      </p:cBhvr>
                                      <p:tavLst>
                                        <p:tav tm="0">
                                          <p:val>
                                            <p:strVal val="#ppt_x"/>
                                          </p:val>
                                        </p:tav>
                                        <p:tav tm="100000">
                                          <p:val>
                                            <p:strVal val="#ppt_x"/>
                                          </p:val>
                                        </p:tav>
                                      </p:tavLst>
                                    </p:anim>
                                    <p:anim calcmode="lin" valueType="num">
                                      <p:cBhvr additive="base">
                                        <p:cTn id="121" dur="500" fill="hold"/>
                                        <p:tgtEl>
                                          <p:spTgt spid="34"/>
                                        </p:tgtEl>
                                        <p:attrNameLst>
                                          <p:attrName>ppt_y</p:attrName>
                                        </p:attrNameLst>
                                      </p:cBhvr>
                                      <p:tavLst>
                                        <p:tav tm="0">
                                          <p:val>
                                            <p:strVal val="#ppt_y+0.1"/>
                                          </p:val>
                                        </p:tav>
                                        <p:tav tm="100000">
                                          <p:val>
                                            <p:strVal val="#ppt_y"/>
                                          </p:val>
                                        </p:tav>
                                      </p:tavLst>
                                    </p:anim>
                                    <p:animEffect transition="in" filter="fade">
                                      <p:cBhvr>
                                        <p:cTn id="122" dur="500"/>
                                        <p:tgtEl>
                                          <p:spTgt spid="34"/>
                                        </p:tgtEl>
                                      </p:cBhvr>
                                    </p:animEffect>
                                  </p:childTnLst>
                                </p:cTn>
                              </p:par>
                              <p:par>
                                <p:cTn id="128" presetID="2" presetClass="entr" presetSubtype="4" fill="hold" grpId="0" nodeType="withEffect">
                                  <p:stCondLst>
                                    <p:cond delay="220"/>
                                  </p:stCondLst>
                                  <p:childTnLst>
                                    <p:set>
                                      <p:cBhvr>
                                        <p:cTn id="124" dur="1" fill="hold">
                                          <p:stCondLst>
                                            <p:cond delay="0"/>
                                          </p:stCondLst>
                                        </p:cTn>
                                        <p:tgtEl>
                                          <p:spTgt spid="35"/>
                                        </p:tgtEl>
                                        <p:attrNameLst>
                                          <p:attrName>style.visibility</p:attrName>
                                        </p:attrNameLst>
                                      </p:cBhvr>
                                      <p:to>
                                        <p:strVal val="visible"/>
                                      </p:to>
                                    </p:set>
                                    <p:anim calcmode="lin" valueType="num">
                                      <p:cBhvr additive="base">
                                        <p:cTn id="125" dur="500" fill="hold"/>
                                        <p:tgtEl>
                                          <p:spTgt spid="35"/>
                                        </p:tgtEl>
                                        <p:attrNameLst>
                                          <p:attrName>ppt_x</p:attrName>
                                        </p:attrNameLst>
                                      </p:cBhvr>
                                      <p:tavLst>
                                        <p:tav tm="0">
                                          <p:val>
                                            <p:strVal val="#ppt_x"/>
                                          </p:val>
                                        </p:tav>
                                        <p:tav tm="100000">
                                          <p:val>
                                            <p:strVal val="#ppt_x"/>
                                          </p:val>
                                        </p:tav>
                                      </p:tavLst>
                                    </p:anim>
                                    <p:anim calcmode="lin" valueType="num">
                                      <p:cBhvr additive="base">
                                        <p:cTn id="126" dur="500" fill="hold"/>
                                        <p:tgtEl>
                                          <p:spTgt spid="35"/>
                                        </p:tgtEl>
                                        <p:attrNameLst>
                                          <p:attrName>ppt_y</p:attrName>
                                        </p:attrNameLst>
                                      </p:cBhvr>
                                      <p:tavLst>
                                        <p:tav tm="0">
                                          <p:val>
                                            <p:strVal val="#ppt_y+0.1"/>
                                          </p:val>
                                        </p:tav>
                                        <p:tav tm="100000">
                                          <p:val>
                                            <p:strVal val="#ppt_y"/>
                                          </p:val>
                                        </p:tav>
                                      </p:tavLst>
                                    </p:anim>
                                    <p:animEffect transition="in" filter="fade">
                                      <p:cBhvr>
                                        <p:cTn id="127" dur="500"/>
                                        <p:tgtEl>
                                          <p:spTgt spid="35"/>
                                        </p:tgtEl>
                                      </p:cBhvr>
                                    </p:animEffect>
                                  </p:childTnLst>
                                </p:cTn>
                              </p:par>
                            </p:childTnLst>
                          </p:cTn>
                        </p:par>
                      </p:childTnLst>
                    </p:cTn>
                  </p:par>
                  <p:par>
                    <p:cTn id="129" fill="hold">
                      <p:stCondLst>
                        <p:cond delay="indefinite"/>
                      </p:stCondLst>
                      <p:childTnLst>
                        <p:par>
                          <p:cTn id="130" fill="hold">
                            <p:stCondLst>
                              <p:cond delay="0"/>
                            </p:stCondLst>
                            <p:childTnLst>
                              <p:par>
                                <p:cTn id="135" presetID="2" presetClass="entr" presetSubtype="4" fill="hold" grpId="0" nodeType="clickEffect">
                                  <p:stCondLst>
                                    <p:cond delay="0"/>
                                  </p:stCondLst>
                                  <p:childTnLst>
                                    <p:set>
                                      <p:cBhvr>
                                        <p:cTn id="131" dur="1" fill="hold">
                                          <p:stCondLst>
                                            <p:cond delay="0"/>
                                          </p:stCondLst>
                                        </p:cTn>
                                        <p:tgtEl>
                                          <p:spTgt spid="36"/>
                                        </p:tgtEl>
                                        <p:attrNameLst>
                                          <p:attrName>style.visibility</p:attrName>
                                        </p:attrNameLst>
                                      </p:cBhvr>
                                      <p:to>
                                        <p:strVal val="visible"/>
                                      </p:to>
                                    </p:set>
                                    <p:anim calcmode="lin" valueType="num">
                                      <p:cBhvr additive="base">
                                        <p:cTn id="132" dur="500" fill="hold"/>
                                        <p:tgtEl>
                                          <p:spTgt spid="36"/>
                                        </p:tgtEl>
                                        <p:attrNameLst>
                                          <p:attrName>ppt_x</p:attrName>
                                        </p:attrNameLst>
                                      </p:cBhvr>
                                      <p:tavLst>
                                        <p:tav tm="0">
                                          <p:val>
                                            <p:strVal val="#ppt_x"/>
                                          </p:val>
                                        </p:tav>
                                        <p:tav tm="100000">
                                          <p:val>
                                            <p:strVal val="#ppt_x"/>
                                          </p:val>
                                        </p:tav>
                                      </p:tavLst>
                                    </p:anim>
                                    <p:anim calcmode="lin" valueType="num">
                                      <p:cBhvr additive="base">
                                        <p:cTn id="133" dur="500" fill="hold"/>
                                        <p:tgtEl>
                                          <p:spTgt spid="36"/>
                                        </p:tgtEl>
                                        <p:attrNameLst>
                                          <p:attrName>ppt_y</p:attrName>
                                        </p:attrNameLst>
                                      </p:cBhvr>
                                      <p:tavLst>
                                        <p:tav tm="0">
                                          <p:val>
                                            <p:strVal val="#ppt_y+0.1"/>
                                          </p:val>
                                        </p:tav>
                                        <p:tav tm="100000">
                                          <p:val>
                                            <p:strVal val="#ppt_y"/>
                                          </p:val>
                                        </p:tav>
                                      </p:tavLst>
                                    </p:anim>
                                    <p:animEffect transition="in" filter="fade">
                                      <p:cBhvr>
                                        <p:cTn id="134" dur="500"/>
                                        <p:tgtEl>
                                          <p:spTgt spid="36"/>
                                        </p:tgtEl>
                                      </p:cBhvr>
                                    </p:animEffect>
                                  </p:childTnLst>
                                </p:cTn>
                              </p:par>
                              <p:par>
                                <p:cTn id="140" presetID="2" presetClass="entr" presetSubtype="4" fill="hold" grpId="0" nodeType="withEffect">
                                  <p:stCondLst>
                                    <p:cond delay="0"/>
                                  </p:stCondLst>
                                  <p:childTnLst>
                                    <p:set>
                                      <p:cBhvr>
                                        <p:cTn id="136" dur="1" fill="hold">
                                          <p:stCondLst>
                                            <p:cond delay="0"/>
                                          </p:stCondLst>
                                        </p:cTn>
                                        <p:tgtEl>
                                          <p:spTgt spid="37"/>
                                        </p:tgtEl>
                                        <p:attrNameLst>
                                          <p:attrName>style.visibility</p:attrName>
                                        </p:attrNameLst>
                                      </p:cBhvr>
                                      <p:to>
                                        <p:strVal val="visible"/>
                                      </p:to>
                                    </p:set>
                                    <p:anim calcmode="lin" valueType="num">
                                      <p:cBhvr additive="base">
                                        <p:cTn id="137" dur="500" fill="hold"/>
                                        <p:tgtEl>
                                          <p:spTgt spid="37"/>
                                        </p:tgtEl>
                                        <p:attrNameLst>
                                          <p:attrName>ppt_x</p:attrName>
                                        </p:attrNameLst>
                                      </p:cBhvr>
                                      <p:tavLst>
                                        <p:tav tm="0">
                                          <p:val>
                                            <p:strVal val="#ppt_x"/>
                                          </p:val>
                                        </p:tav>
                                        <p:tav tm="100000">
                                          <p:val>
                                            <p:strVal val="#ppt_x"/>
                                          </p:val>
                                        </p:tav>
                                      </p:tavLst>
                                    </p:anim>
                                    <p:anim calcmode="lin" valueType="num">
                                      <p:cBhvr additive="base">
                                        <p:cTn id="138" dur="500" fill="hold"/>
                                        <p:tgtEl>
                                          <p:spTgt spid="37"/>
                                        </p:tgtEl>
                                        <p:attrNameLst>
                                          <p:attrName>ppt_y</p:attrName>
                                        </p:attrNameLst>
                                      </p:cBhvr>
                                      <p:tavLst>
                                        <p:tav tm="0">
                                          <p:val>
                                            <p:strVal val="#ppt_y+0.1"/>
                                          </p:val>
                                        </p:tav>
                                        <p:tav tm="100000">
                                          <p:val>
                                            <p:strVal val="#ppt_y"/>
                                          </p:val>
                                        </p:tav>
                                      </p:tavLst>
                                    </p:anim>
                                    <p:animEffect transition="in" filter="fade">
                                      <p:cBhvr>
                                        <p:cTn id="139" dur="500"/>
                                        <p:tgtEl>
                                          <p:spTgt spid="37"/>
                                        </p:tgtEl>
                                      </p:cBhvr>
                                    </p:animEffect>
                                  </p:childTnLst>
                                </p:cTn>
                              </p:par>
                              <p:par>
                                <p:cTn id="145" presetID="2" presetClass="entr" presetSubtype="4" fill="hold" grpId="0" nodeType="withEffect">
                                  <p:stCondLst>
                                    <p:cond delay="0"/>
                                  </p:stCondLst>
                                  <p:childTnLst>
                                    <p:set>
                                      <p:cBhvr>
                                        <p:cTn id="141" dur="1" fill="hold">
                                          <p:stCondLst>
                                            <p:cond delay="0"/>
                                          </p:stCondLst>
                                        </p:cTn>
                                        <p:tgtEl>
                                          <p:spTgt spid="38"/>
                                        </p:tgtEl>
                                        <p:attrNameLst>
                                          <p:attrName>style.visibility</p:attrName>
                                        </p:attrNameLst>
                                      </p:cBhvr>
                                      <p:to>
                                        <p:strVal val="visible"/>
                                      </p:to>
                                    </p:set>
                                    <p:anim calcmode="lin" valueType="num">
                                      <p:cBhvr additive="base">
                                        <p:cTn id="142" dur="500" fill="hold"/>
                                        <p:tgtEl>
                                          <p:spTgt spid="38"/>
                                        </p:tgtEl>
                                        <p:attrNameLst>
                                          <p:attrName>ppt_x</p:attrName>
                                        </p:attrNameLst>
                                      </p:cBhvr>
                                      <p:tavLst>
                                        <p:tav tm="0">
                                          <p:val>
                                            <p:strVal val="#ppt_x"/>
                                          </p:val>
                                        </p:tav>
                                        <p:tav tm="100000">
                                          <p:val>
                                            <p:strVal val="#ppt_x"/>
                                          </p:val>
                                        </p:tav>
                                      </p:tavLst>
                                    </p:anim>
                                    <p:anim calcmode="lin" valueType="num">
                                      <p:cBhvr additive="base">
                                        <p:cTn id="143" dur="500" fill="hold"/>
                                        <p:tgtEl>
                                          <p:spTgt spid="38"/>
                                        </p:tgtEl>
                                        <p:attrNameLst>
                                          <p:attrName>ppt_y</p:attrName>
                                        </p:attrNameLst>
                                      </p:cBhvr>
                                      <p:tavLst>
                                        <p:tav tm="0">
                                          <p:val>
                                            <p:strVal val="#ppt_y+0.1"/>
                                          </p:val>
                                        </p:tav>
                                        <p:tav tm="100000">
                                          <p:val>
                                            <p:strVal val="#ppt_y"/>
                                          </p:val>
                                        </p:tav>
                                      </p:tavLst>
                                    </p:anim>
                                    <p:animEffect transition="in" filter="fade">
                                      <p:cBhvr>
                                        <p:cTn id="14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k8"/>
          <p:cNvSpPr/>
          <p:nvPr/>
        </p:nvSpPr>
        <p:spPr>
          <a:xfrm>
            <a:off x="457200" y="155448"/>
            <a:ext cx="723519" cy="22860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spc="60">
                <a:solidFill>
                  <a:srgbClr val="C2410C"/>
                </a:solidFill>
                <a:latin typeface="Segoe UI"/>
              </a:rPr>
              <a:t>1980s</a:t>
            </a:r>
          </a:p>
        </p:txBody>
      </p:sp>
      <p:sp>
        <p:nvSpPr>
          <p:cNvPr id="10" name="h9"/>
          <p:cNvSpPr txBox="1"/>
          <p:nvPr/>
        </p:nvSpPr>
        <p:spPr>
          <a:xfrm>
            <a:off x="457200" y="420624"/>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Client-Server Architecture</a:t>
            </a:r>
          </a:p>
        </p:txBody>
      </p:sp>
      <p:sp>
        <p:nvSpPr>
          <p:cNvPr id="11" name="sub10"/>
          <p:cNvSpPr txBox="1"/>
          <p:nvPr/>
        </p:nvSpPr>
        <p:spPr>
          <a:xfrm>
            <a:off x="457200" y="932688"/>
            <a:ext cx="8229600" cy="292608"/>
          </a:xfrm>
          <a:prstGeom prst="rect">
            <a:avLst/>
          </a:prstGeom>
          <a:noFill/>
        </p:spPr>
        <p:txBody>
          <a:bodyPr wrap="square" lIns="0" tIns="0" rIns="0" bIns="0" anchor="ctr">
            <a:spAutoFit/>
          </a:bodyPr>
          <a:lstStyle/>
          <a:p>
            <a:pPr algn="l"/>
            <a:r>
              <a:rPr sz="1150" b="0">
                <a:solidFill>
                  <a:srgbClr val="78716C"/>
                </a:solidFill>
                <a:latin typeface="Segoe UI"/>
              </a:rPr>
              <a:t>Personal computers take over the user interface; a server does the shared work</a:t>
            </a:r>
          </a:p>
        </p:txBody>
      </p:sp>
      <p:sp>
        <p:nvSpPr>
          <p:cNvPr id="12" name="a1u_card11"/>
          <p:cNvSpPr/>
          <p:nvPr/>
        </p:nvSpPr>
        <p:spPr>
          <a:xfrm>
            <a:off x="457200" y="1389888"/>
            <a:ext cx="4023360" cy="2697480"/>
          </a:xfrm>
          <a:prstGeom prst="roundRect">
            <a:avLst>
              <a:gd name="adj" fmla="val 406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acc12"/>
          <p:cNvSpPr/>
          <p:nvPr/>
        </p:nvSpPr>
        <p:spPr>
          <a:xfrm>
            <a:off x="457200" y="1389888"/>
            <a:ext cx="50292" cy="26974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_hh13"/>
          <p:cNvSpPr txBox="1"/>
          <p:nvPr/>
        </p:nvSpPr>
        <p:spPr>
          <a:xfrm>
            <a:off x="658368" y="1499616"/>
            <a:ext cx="3657600" cy="237744"/>
          </a:xfrm>
          <a:prstGeom prst="rect">
            <a:avLst/>
          </a:prstGeom>
          <a:noFill/>
        </p:spPr>
        <p:txBody>
          <a:bodyPr wrap="square" lIns="0" tIns="0" rIns="0" bIns="0" anchor="ctr">
            <a:spAutoFit/>
          </a:bodyPr>
          <a:lstStyle/>
          <a:p>
            <a:pPr algn="l"/>
            <a:r>
              <a:rPr sz="900" b="1">
                <a:solidFill>
                  <a:srgbClr val="0E7490"/>
                </a:solidFill>
                <a:latin typeface="Segoe UI"/>
              </a:rPr>
              <a:t>2.1  MAINFRAME AS THE SERVER</a:t>
            </a:r>
          </a:p>
        </p:txBody>
      </p:sp>
      <p:sp>
        <p:nvSpPr>
          <p:cNvPr id="15" name="a1ud100_nd14"/>
          <p:cNvSpPr/>
          <p:nvPr/>
        </p:nvSpPr>
        <p:spPr>
          <a:xfrm>
            <a:off x="1691640" y="1783080"/>
            <a:ext cx="1600200" cy="530352"/>
          </a:xfrm>
          <a:prstGeom prst="roundRect">
            <a:avLst>
              <a:gd name="adj" fmla="val 13793"/>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100_ndt15"/>
          <p:cNvSpPr txBox="1"/>
          <p:nvPr/>
        </p:nvSpPr>
        <p:spPr>
          <a:xfrm>
            <a:off x="1737360" y="1819656"/>
            <a:ext cx="1508760" cy="246887"/>
          </a:xfrm>
          <a:prstGeom prst="rect">
            <a:avLst/>
          </a:prstGeom>
          <a:noFill/>
        </p:spPr>
        <p:txBody>
          <a:bodyPr wrap="square" lIns="0" tIns="0" rIns="0" bIns="0" anchor="b">
            <a:spAutoFit/>
          </a:bodyPr>
          <a:lstStyle/>
          <a:p>
            <a:pPr algn="ctr"/>
            <a:r>
              <a:rPr sz="950" b="1">
                <a:solidFill>
                  <a:srgbClr val="1C1917"/>
                </a:solidFill>
                <a:latin typeface="Segoe UI"/>
              </a:rPr>
              <a:t>Mainframe</a:t>
            </a:r>
          </a:p>
        </p:txBody>
      </p:sp>
      <p:sp>
        <p:nvSpPr>
          <p:cNvPr id="17" name="a1ud100_nds16"/>
          <p:cNvSpPr txBox="1"/>
          <p:nvPr/>
        </p:nvSpPr>
        <p:spPr>
          <a:xfrm>
            <a:off x="1737360" y="2075687"/>
            <a:ext cx="1508760" cy="201167"/>
          </a:xfrm>
          <a:prstGeom prst="rect">
            <a:avLst/>
          </a:prstGeom>
          <a:noFill/>
        </p:spPr>
        <p:txBody>
          <a:bodyPr wrap="square" lIns="0" tIns="0" rIns="0" bIns="0" anchor="t">
            <a:spAutoFit/>
          </a:bodyPr>
          <a:lstStyle/>
          <a:p>
            <a:pPr algn="ctr"/>
            <a:r>
              <a:rPr sz="800" b="0">
                <a:solidFill>
                  <a:srgbClr val="0E7490"/>
                </a:solidFill>
                <a:latin typeface="Segoe UI"/>
              </a:rPr>
              <a:t>server</a:t>
            </a:r>
          </a:p>
        </p:txBody>
      </p:sp>
      <p:sp>
        <p:nvSpPr>
          <p:cNvPr id="18" name="a1ud200_nd17"/>
          <p:cNvSpPr/>
          <p:nvPr/>
        </p:nvSpPr>
        <p:spPr>
          <a:xfrm>
            <a:off x="731520" y="2670048"/>
            <a:ext cx="1005840" cy="420624"/>
          </a:xfrm>
          <a:prstGeom prst="roundRect">
            <a:avLst>
              <a:gd name="adj" fmla="val 1739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200_ndt18"/>
          <p:cNvSpPr txBox="1"/>
          <p:nvPr/>
        </p:nvSpPr>
        <p:spPr>
          <a:xfrm>
            <a:off x="777240" y="2670048"/>
            <a:ext cx="914400" cy="420624"/>
          </a:xfrm>
          <a:prstGeom prst="rect">
            <a:avLst/>
          </a:prstGeom>
          <a:noFill/>
        </p:spPr>
        <p:txBody>
          <a:bodyPr wrap="square" lIns="0" tIns="0" rIns="0" bIns="0" anchor="ctr">
            <a:spAutoFit/>
          </a:bodyPr>
          <a:lstStyle/>
          <a:p>
            <a:pPr algn="ctr"/>
            <a:r>
              <a:rPr sz="850" b="1">
                <a:solidFill>
                  <a:srgbClr val="1C1917"/>
                </a:solidFill>
                <a:latin typeface="Segoe UI"/>
              </a:rPr>
              <a:t>Client PC</a:t>
            </a:r>
          </a:p>
        </p:txBody>
      </p:sp>
      <p:cxnSp>
        <p:nvCxnSpPr>
          <p:cNvPr id="20" name="a1ud200_ar19"/>
          <p:cNvCxnSpPr/>
          <p:nvPr/>
        </p:nvCxnSpPr>
        <p:spPr>
          <a:xfrm flipV="1">
            <a:off x="1234440" y="2340864"/>
            <a:ext cx="1252728" cy="310896"/>
          </a:xfrm>
          <a:prstGeom prst="line">
            <a:avLst/>
          </a:prstGeom>
          <a:ln w="1270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a1ud300_nd20"/>
          <p:cNvSpPr/>
          <p:nvPr/>
        </p:nvSpPr>
        <p:spPr>
          <a:xfrm>
            <a:off x="1920240" y="2670048"/>
            <a:ext cx="1005840" cy="420624"/>
          </a:xfrm>
          <a:prstGeom prst="roundRect">
            <a:avLst>
              <a:gd name="adj" fmla="val 1739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ud300_ndt21"/>
          <p:cNvSpPr txBox="1"/>
          <p:nvPr/>
        </p:nvSpPr>
        <p:spPr>
          <a:xfrm>
            <a:off x="1965960" y="2670048"/>
            <a:ext cx="914400" cy="420624"/>
          </a:xfrm>
          <a:prstGeom prst="rect">
            <a:avLst/>
          </a:prstGeom>
          <a:noFill/>
        </p:spPr>
        <p:txBody>
          <a:bodyPr wrap="square" lIns="0" tIns="0" rIns="0" bIns="0" anchor="ctr">
            <a:spAutoFit/>
          </a:bodyPr>
          <a:lstStyle/>
          <a:p>
            <a:pPr algn="ctr"/>
            <a:r>
              <a:rPr sz="850" b="1">
                <a:solidFill>
                  <a:srgbClr val="1C1917"/>
                </a:solidFill>
                <a:latin typeface="Segoe UI"/>
              </a:rPr>
              <a:t>Client PC</a:t>
            </a:r>
          </a:p>
        </p:txBody>
      </p:sp>
      <p:cxnSp>
        <p:nvCxnSpPr>
          <p:cNvPr id="23" name="a1ud300_ar22"/>
          <p:cNvCxnSpPr/>
          <p:nvPr/>
        </p:nvCxnSpPr>
        <p:spPr>
          <a:xfrm flipV="1">
            <a:off x="2423160" y="2340864"/>
            <a:ext cx="64008" cy="310896"/>
          </a:xfrm>
          <a:prstGeom prst="line">
            <a:avLst/>
          </a:prstGeom>
          <a:ln w="1270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a1ud400_nd23"/>
          <p:cNvSpPr/>
          <p:nvPr/>
        </p:nvSpPr>
        <p:spPr>
          <a:xfrm>
            <a:off x="3108960" y="2670048"/>
            <a:ext cx="1005840" cy="420624"/>
          </a:xfrm>
          <a:prstGeom prst="roundRect">
            <a:avLst>
              <a:gd name="adj" fmla="val 1739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ud400_ndt24"/>
          <p:cNvSpPr txBox="1"/>
          <p:nvPr/>
        </p:nvSpPr>
        <p:spPr>
          <a:xfrm>
            <a:off x="3154680" y="2670048"/>
            <a:ext cx="914400" cy="420624"/>
          </a:xfrm>
          <a:prstGeom prst="rect">
            <a:avLst/>
          </a:prstGeom>
          <a:noFill/>
        </p:spPr>
        <p:txBody>
          <a:bodyPr wrap="square" lIns="0" tIns="0" rIns="0" bIns="0" anchor="ctr">
            <a:spAutoFit/>
          </a:bodyPr>
          <a:lstStyle/>
          <a:p>
            <a:pPr algn="ctr"/>
            <a:r>
              <a:rPr sz="850" b="1">
                <a:solidFill>
                  <a:srgbClr val="1C1917"/>
                </a:solidFill>
                <a:latin typeface="Segoe UI"/>
              </a:rPr>
              <a:t>Client PC</a:t>
            </a:r>
          </a:p>
        </p:txBody>
      </p:sp>
      <p:cxnSp>
        <p:nvCxnSpPr>
          <p:cNvPr id="26" name="a1ud400_ar25"/>
          <p:cNvCxnSpPr/>
          <p:nvPr/>
        </p:nvCxnSpPr>
        <p:spPr>
          <a:xfrm flipH="1" flipV="1">
            <a:off x="2487168" y="2340864"/>
            <a:ext cx="1124712" cy="310896"/>
          </a:xfrm>
          <a:prstGeom prst="line">
            <a:avLst/>
          </a:prstGeom>
          <a:ln w="1270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a1ud500_dot26"/>
          <p:cNvSpPr/>
          <p:nvPr/>
        </p:nvSpPr>
        <p:spPr>
          <a:xfrm>
            <a:off x="658368" y="3387852"/>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1ud500_b27"/>
          <p:cNvSpPr txBox="1"/>
          <p:nvPr/>
        </p:nvSpPr>
        <p:spPr>
          <a:xfrm>
            <a:off x="877824" y="3291840"/>
            <a:ext cx="3401568" cy="292608"/>
          </a:xfrm>
          <a:prstGeom prst="rect">
            <a:avLst/>
          </a:prstGeom>
          <a:noFill/>
        </p:spPr>
        <p:txBody>
          <a:bodyPr wrap="square" lIns="0" tIns="0" rIns="0" bIns="0" anchor="t">
            <a:spAutoFit/>
          </a:bodyPr>
          <a:lstStyle/>
          <a:p>
            <a:pPr algn="l"/>
            <a:r>
              <a:rPr sz="900" b="0">
                <a:solidFill>
                  <a:srgbClr val="44403C"/>
                </a:solidFill>
                <a:latin typeface="Segoe UI"/>
              </a:rPr>
              <a:t>The mainframe keeps business logic and data</a:t>
            </a:r>
          </a:p>
        </p:txBody>
      </p:sp>
      <p:sp>
        <p:nvSpPr>
          <p:cNvPr id="29" name="a1ud600_dot28"/>
          <p:cNvSpPr/>
          <p:nvPr/>
        </p:nvSpPr>
        <p:spPr>
          <a:xfrm>
            <a:off x="658368" y="3717036"/>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1ud600_b29"/>
          <p:cNvSpPr txBox="1"/>
          <p:nvPr/>
        </p:nvSpPr>
        <p:spPr>
          <a:xfrm>
            <a:off x="877824" y="3621024"/>
            <a:ext cx="3401568" cy="292608"/>
          </a:xfrm>
          <a:prstGeom prst="rect">
            <a:avLst/>
          </a:prstGeom>
          <a:noFill/>
        </p:spPr>
        <p:txBody>
          <a:bodyPr wrap="square" lIns="0" tIns="0" rIns="0" bIns="0" anchor="t">
            <a:spAutoFit/>
          </a:bodyPr>
          <a:lstStyle/>
          <a:p>
            <a:pPr algn="l"/>
            <a:r>
              <a:rPr sz="900" b="0">
                <a:solidFill>
                  <a:srgbClr val="44403C"/>
                </a:solidFill>
                <a:latin typeface="Segoe UI"/>
              </a:rPr>
              <a:t>Desktop computers act as the clients</a:t>
            </a:r>
          </a:p>
        </p:txBody>
      </p:sp>
      <p:sp>
        <p:nvSpPr>
          <p:cNvPr id="31" name="a2u_card30"/>
          <p:cNvSpPr/>
          <p:nvPr/>
        </p:nvSpPr>
        <p:spPr>
          <a:xfrm>
            <a:off x="4663440" y="1389888"/>
            <a:ext cx="4023360" cy="2697480"/>
          </a:xfrm>
          <a:prstGeom prst="roundRect">
            <a:avLst>
              <a:gd name="adj" fmla="val 406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u_acc31"/>
          <p:cNvSpPr/>
          <p:nvPr/>
        </p:nvSpPr>
        <p:spPr>
          <a:xfrm>
            <a:off x="4663440" y="1389888"/>
            <a:ext cx="50292" cy="269748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u_hh32"/>
          <p:cNvSpPr txBox="1"/>
          <p:nvPr/>
        </p:nvSpPr>
        <p:spPr>
          <a:xfrm>
            <a:off x="4864607" y="1499616"/>
            <a:ext cx="3657600" cy="237744"/>
          </a:xfrm>
          <a:prstGeom prst="rect">
            <a:avLst/>
          </a:prstGeom>
          <a:noFill/>
        </p:spPr>
        <p:txBody>
          <a:bodyPr wrap="square" lIns="0" tIns="0" rIns="0" bIns="0" anchor="ctr">
            <a:spAutoFit/>
          </a:bodyPr>
          <a:lstStyle/>
          <a:p>
            <a:pPr algn="l"/>
            <a:r>
              <a:rPr sz="900" b="1">
                <a:solidFill>
                  <a:srgbClr val="EA580C"/>
                </a:solidFill>
                <a:latin typeface="Segoe UI"/>
              </a:rPr>
              <a:t>2.2  COMPUTERS ON BOTH SIDES</a:t>
            </a:r>
          </a:p>
        </p:txBody>
      </p:sp>
      <p:sp>
        <p:nvSpPr>
          <p:cNvPr id="34" name="a2ud100_nd33"/>
          <p:cNvSpPr/>
          <p:nvPr/>
        </p:nvSpPr>
        <p:spPr>
          <a:xfrm>
            <a:off x="5897879" y="1783080"/>
            <a:ext cx="1600200" cy="530352"/>
          </a:xfrm>
          <a:prstGeom prst="roundRect">
            <a:avLst>
              <a:gd name="adj" fmla="val 1379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2ud100_ndt34"/>
          <p:cNvSpPr txBox="1"/>
          <p:nvPr/>
        </p:nvSpPr>
        <p:spPr>
          <a:xfrm>
            <a:off x="5943599" y="1819656"/>
            <a:ext cx="1508760" cy="246887"/>
          </a:xfrm>
          <a:prstGeom prst="rect">
            <a:avLst/>
          </a:prstGeom>
          <a:noFill/>
        </p:spPr>
        <p:txBody>
          <a:bodyPr wrap="square" lIns="0" tIns="0" rIns="0" bIns="0" anchor="b">
            <a:spAutoFit/>
          </a:bodyPr>
          <a:lstStyle/>
          <a:p>
            <a:pPr algn="ctr"/>
            <a:r>
              <a:rPr sz="950" b="1">
                <a:solidFill>
                  <a:srgbClr val="1C1917"/>
                </a:solidFill>
                <a:latin typeface="Segoe UI"/>
              </a:rPr>
              <a:t>Server computer</a:t>
            </a:r>
          </a:p>
        </p:txBody>
      </p:sp>
      <p:sp>
        <p:nvSpPr>
          <p:cNvPr id="36" name="a2ud100_nds35"/>
          <p:cNvSpPr txBox="1"/>
          <p:nvPr/>
        </p:nvSpPr>
        <p:spPr>
          <a:xfrm>
            <a:off x="5943599" y="2075687"/>
            <a:ext cx="1508760" cy="201167"/>
          </a:xfrm>
          <a:prstGeom prst="rect">
            <a:avLst/>
          </a:prstGeom>
          <a:noFill/>
        </p:spPr>
        <p:txBody>
          <a:bodyPr wrap="square" lIns="0" tIns="0" rIns="0" bIns="0" anchor="t">
            <a:spAutoFit/>
          </a:bodyPr>
          <a:lstStyle/>
          <a:p>
            <a:pPr algn="ctr"/>
            <a:r>
              <a:rPr sz="800" b="0">
                <a:solidFill>
                  <a:srgbClr val="EA580C"/>
                </a:solidFill>
                <a:latin typeface="Segoe UI"/>
              </a:rPr>
              <a:t>server</a:t>
            </a:r>
          </a:p>
        </p:txBody>
      </p:sp>
      <p:sp>
        <p:nvSpPr>
          <p:cNvPr id="37" name="a2ud200_nd36"/>
          <p:cNvSpPr/>
          <p:nvPr/>
        </p:nvSpPr>
        <p:spPr>
          <a:xfrm>
            <a:off x="4937759" y="2670048"/>
            <a:ext cx="1005840" cy="420624"/>
          </a:xfrm>
          <a:prstGeom prst="roundRect">
            <a:avLst>
              <a:gd name="adj" fmla="val 17391"/>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2ud200_ndt37"/>
          <p:cNvSpPr txBox="1"/>
          <p:nvPr/>
        </p:nvSpPr>
        <p:spPr>
          <a:xfrm>
            <a:off x="4983479" y="2670048"/>
            <a:ext cx="914400" cy="420624"/>
          </a:xfrm>
          <a:prstGeom prst="rect">
            <a:avLst/>
          </a:prstGeom>
          <a:noFill/>
        </p:spPr>
        <p:txBody>
          <a:bodyPr wrap="square" lIns="0" tIns="0" rIns="0" bIns="0" anchor="ctr">
            <a:spAutoFit/>
          </a:bodyPr>
          <a:lstStyle/>
          <a:p>
            <a:pPr algn="ctr"/>
            <a:r>
              <a:rPr sz="850" b="1">
                <a:solidFill>
                  <a:srgbClr val="1C1917"/>
                </a:solidFill>
                <a:latin typeface="Segoe UI"/>
              </a:rPr>
              <a:t>Client PC</a:t>
            </a:r>
          </a:p>
        </p:txBody>
      </p:sp>
      <p:cxnSp>
        <p:nvCxnSpPr>
          <p:cNvPr id="39" name="a2ud200_ar38"/>
          <p:cNvCxnSpPr/>
          <p:nvPr/>
        </p:nvCxnSpPr>
        <p:spPr>
          <a:xfrm flipV="1">
            <a:off x="5440679" y="2340864"/>
            <a:ext cx="1252729" cy="310896"/>
          </a:xfrm>
          <a:prstGeom prst="line">
            <a:avLst/>
          </a:prstGeom>
          <a:ln w="1270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a2ud300_nd39"/>
          <p:cNvSpPr/>
          <p:nvPr/>
        </p:nvSpPr>
        <p:spPr>
          <a:xfrm>
            <a:off x="6126479" y="2670048"/>
            <a:ext cx="1005840" cy="420624"/>
          </a:xfrm>
          <a:prstGeom prst="roundRect">
            <a:avLst>
              <a:gd name="adj" fmla="val 17391"/>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2ud300_ndt40"/>
          <p:cNvSpPr txBox="1"/>
          <p:nvPr/>
        </p:nvSpPr>
        <p:spPr>
          <a:xfrm>
            <a:off x="6172199" y="2670048"/>
            <a:ext cx="914400" cy="420624"/>
          </a:xfrm>
          <a:prstGeom prst="rect">
            <a:avLst/>
          </a:prstGeom>
          <a:noFill/>
        </p:spPr>
        <p:txBody>
          <a:bodyPr wrap="square" lIns="0" tIns="0" rIns="0" bIns="0" anchor="ctr">
            <a:spAutoFit/>
          </a:bodyPr>
          <a:lstStyle/>
          <a:p>
            <a:pPr algn="ctr"/>
            <a:r>
              <a:rPr sz="850" b="1">
                <a:solidFill>
                  <a:srgbClr val="1C1917"/>
                </a:solidFill>
                <a:latin typeface="Segoe UI"/>
              </a:rPr>
              <a:t>Client PC</a:t>
            </a:r>
          </a:p>
        </p:txBody>
      </p:sp>
      <p:cxnSp>
        <p:nvCxnSpPr>
          <p:cNvPr id="42" name="a2ud300_ar41"/>
          <p:cNvCxnSpPr/>
          <p:nvPr/>
        </p:nvCxnSpPr>
        <p:spPr>
          <a:xfrm flipV="1">
            <a:off x="6629399" y="2340864"/>
            <a:ext cx="64009" cy="310896"/>
          </a:xfrm>
          <a:prstGeom prst="line">
            <a:avLst/>
          </a:prstGeom>
          <a:ln w="1270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a2ud400_nd42"/>
          <p:cNvSpPr/>
          <p:nvPr/>
        </p:nvSpPr>
        <p:spPr>
          <a:xfrm>
            <a:off x="7315200" y="2670048"/>
            <a:ext cx="1005840" cy="420624"/>
          </a:xfrm>
          <a:prstGeom prst="roundRect">
            <a:avLst>
              <a:gd name="adj" fmla="val 17391"/>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2ud400_ndt43"/>
          <p:cNvSpPr txBox="1"/>
          <p:nvPr/>
        </p:nvSpPr>
        <p:spPr>
          <a:xfrm>
            <a:off x="7360920" y="2670048"/>
            <a:ext cx="914400" cy="420624"/>
          </a:xfrm>
          <a:prstGeom prst="rect">
            <a:avLst/>
          </a:prstGeom>
          <a:noFill/>
        </p:spPr>
        <p:txBody>
          <a:bodyPr wrap="square" lIns="0" tIns="0" rIns="0" bIns="0" anchor="ctr">
            <a:spAutoFit/>
          </a:bodyPr>
          <a:lstStyle/>
          <a:p>
            <a:pPr algn="ctr"/>
            <a:r>
              <a:rPr sz="850" b="1">
                <a:solidFill>
                  <a:srgbClr val="1C1917"/>
                </a:solidFill>
                <a:latin typeface="Segoe UI"/>
              </a:rPr>
              <a:t>Client PC</a:t>
            </a:r>
          </a:p>
        </p:txBody>
      </p:sp>
      <p:cxnSp>
        <p:nvCxnSpPr>
          <p:cNvPr id="45" name="a2ud400_ar44"/>
          <p:cNvCxnSpPr/>
          <p:nvPr/>
        </p:nvCxnSpPr>
        <p:spPr>
          <a:xfrm flipH="1" flipV="1">
            <a:off x="6693408" y="2340864"/>
            <a:ext cx="1124712" cy="310896"/>
          </a:xfrm>
          <a:prstGeom prst="line">
            <a:avLst/>
          </a:prstGeom>
          <a:ln w="1270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a2ud500_dot45"/>
          <p:cNvSpPr/>
          <p:nvPr/>
        </p:nvSpPr>
        <p:spPr>
          <a:xfrm>
            <a:off x="4864607" y="338785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2ud500_b46"/>
          <p:cNvSpPr txBox="1"/>
          <p:nvPr/>
        </p:nvSpPr>
        <p:spPr>
          <a:xfrm>
            <a:off x="5084064" y="3291840"/>
            <a:ext cx="3401568" cy="292608"/>
          </a:xfrm>
          <a:prstGeom prst="rect">
            <a:avLst/>
          </a:prstGeom>
          <a:noFill/>
        </p:spPr>
        <p:txBody>
          <a:bodyPr wrap="square" lIns="0" tIns="0" rIns="0" bIns="0" anchor="t">
            <a:spAutoFit/>
          </a:bodyPr>
          <a:lstStyle/>
          <a:p>
            <a:pPr algn="l"/>
            <a:r>
              <a:rPr sz="900" b="0">
                <a:solidFill>
                  <a:srgbClr val="44403C"/>
                </a:solidFill>
                <a:latin typeface="Segoe UI"/>
              </a:rPr>
              <a:t>Servers are ordinary, more powerful computers</a:t>
            </a:r>
          </a:p>
        </p:txBody>
      </p:sp>
      <p:sp>
        <p:nvSpPr>
          <p:cNvPr id="48" name="a2ud600_dot47"/>
          <p:cNvSpPr/>
          <p:nvPr/>
        </p:nvSpPr>
        <p:spPr>
          <a:xfrm>
            <a:off x="4864607" y="3717036"/>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2ud600_b48"/>
          <p:cNvSpPr txBox="1"/>
          <p:nvPr/>
        </p:nvSpPr>
        <p:spPr>
          <a:xfrm>
            <a:off x="5084064" y="3621024"/>
            <a:ext cx="3401568" cy="292608"/>
          </a:xfrm>
          <a:prstGeom prst="rect">
            <a:avLst/>
          </a:prstGeom>
          <a:noFill/>
        </p:spPr>
        <p:txBody>
          <a:bodyPr wrap="square" lIns="0" tIns="0" rIns="0" bIns="0" anchor="t">
            <a:spAutoFit/>
          </a:bodyPr>
          <a:lstStyle/>
          <a:p>
            <a:pPr algn="l"/>
            <a:r>
              <a:rPr sz="900" b="0">
                <a:solidFill>
                  <a:srgbClr val="44403C"/>
                </a:solidFill>
                <a:latin typeface="Segoe UI"/>
              </a:rPr>
              <a:t>Cheaper - and easy to add another server</a:t>
            </a:r>
          </a:p>
        </p:txBody>
      </p:sp>
      <p:sp>
        <p:nvSpPr>
          <p:cNvPr id="50" name="a3u_nb49"/>
          <p:cNvSpPr/>
          <p:nvPr/>
        </p:nvSpPr>
        <p:spPr>
          <a:xfrm>
            <a:off x="457200" y="4187952"/>
            <a:ext cx="8229600" cy="438912"/>
          </a:xfrm>
          <a:prstGeom prst="roundRect">
            <a:avLst>
              <a:gd name="adj" fmla="val 16666"/>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3u_nacc50"/>
          <p:cNvSpPr/>
          <p:nvPr/>
        </p:nvSpPr>
        <p:spPr>
          <a:xfrm>
            <a:off x="457200" y="4187952"/>
            <a:ext cx="54864" cy="43891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3u_nt51"/>
          <p:cNvSpPr txBox="1"/>
          <p:nvPr/>
        </p:nvSpPr>
        <p:spPr>
          <a:xfrm>
            <a:off x="658368" y="4187952"/>
            <a:ext cx="7827264" cy="438912"/>
          </a:xfrm>
          <a:prstGeom prst="rect">
            <a:avLst/>
          </a:prstGeom>
          <a:noFill/>
        </p:spPr>
        <p:txBody>
          <a:bodyPr wrap="square" lIns="0" tIns="0" rIns="0" bIns="0" anchor="ctr">
            <a:spAutoFit/>
          </a:bodyPr>
          <a:lstStyle/>
          <a:p>
            <a:pPr algn="l"/>
            <a:r>
              <a:rPr sz="900" b="1">
                <a:solidFill>
                  <a:srgbClr val="0E7490"/>
                </a:solidFill>
                <a:latin typeface="Segoe UI"/>
              </a:rPr>
              <a:t>i  </a:t>
            </a:r>
            <a:r>
              <a:rPr sz="900" b="0">
                <a:solidFill>
                  <a:srgbClr val="44403C"/>
                </a:solidFill>
                <a:latin typeface="Segoe UI"/>
              </a:rPr>
              <a:t>The IBM PC (1981) and SQL database servers such as Oracle and Sybase made this the norm.</a:t>
            </a:r>
          </a:p>
        </p:txBody>
      </p:sp>
      <p:sp>
        <p:nvSpPr>
          <p:cNvPr id="53" name="ft52"/>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09</a:t>
            </a:r>
          </a:p>
        </p:txBody>
      </p:sp>
      <p:sp>
        <p:nvSpPr>
          <p:cNvPr id="54" name="ft53"/>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ft54"/>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56" name="ft55"/>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 calcmode="lin" valueType="num">
                                      <p:cBhvr additive="base">
                                        <p:cTn id="6" dur="500" fill="hold"/>
                                        <p:tgtEl>
                                          <p:spTgt spid="12"/>
                                        </p:tgtEl>
                                        <p:attrNameLst>
                                          <p:attrName>ppt_x</p:attrName>
                                        </p:attrNameLst>
                                      </p:cBhvr>
                                      <p:tavLst>
                                        <p:tav tm="0">
                                          <p:val>
                                            <p:strVal val="#ppt_x"/>
                                          </p:val>
                                        </p:tav>
                                        <p:tav tm="100000">
                                          <p:val>
                                            <p:strVal val="#ppt_x"/>
                                          </p:val>
                                        </p:tav>
                                      </p:tavLst>
                                    </p:anim>
                                    <p:anim calcmode="lin" valueType="num">
                                      <p:cBhvr additive="base">
                                        <p:cTn id="7" dur="500" fill="hold"/>
                                        <p:tgtEl>
                                          <p:spTgt spid="12"/>
                                        </p:tgtEl>
                                        <p:attrNameLst>
                                          <p:attrName>ppt_y</p:attrName>
                                        </p:attrNameLst>
                                      </p:cBhvr>
                                      <p:tavLst>
                                        <p:tav tm="0">
                                          <p:val>
                                            <p:strVal val="#ppt_y+0.1"/>
                                          </p:val>
                                        </p:tav>
                                        <p:tav tm="100000">
                                          <p:val>
                                            <p:strVal val="#ppt_y"/>
                                          </p:val>
                                        </p:tav>
                                      </p:tavLst>
                                    </p:anim>
                                    <p:animEffect transition="in" filter="fade">
                                      <p:cBhvr>
                                        <p:cTn id="8" dur="500"/>
                                        <p:tgtEl>
                                          <p:spTgt spid="12"/>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ppt_y+0.1"/>
                                          </p:val>
                                        </p:tav>
                                        <p:tav tm="100000">
                                          <p:val>
                                            <p:strVal val="#ppt_y"/>
                                          </p:val>
                                        </p:tav>
                                      </p:tavLst>
                                    </p:anim>
                                    <p:animEffect transition="in" filter="fade">
                                      <p:cBhvr>
                                        <p:cTn id="13" dur="500"/>
                                        <p:tgtEl>
                                          <p:spTgt spid="13"/>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ppt_y+0.1"/>
                                          </p:val>
                                        </p:tav>
                                        <p:tav tm="100000">
                                          <p:val>
                                            <p:strVal val="#ppt_y"/>
                                          </p:val>
                                        </p:tav>
                                      </p:tavLst>
                                    </p:anim>
                                    <p:animEffect transition="in" filter="fade">
                                      <p:cBhvr>
                                        <p:cTn id="18" dur="500"/>
                                        <p:tgtEl>
                                          <p:spTgt spid="14"/>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ppt_y+0.1"/>
                                          </p:val>
                                        </p:tav>
                                        <p:tav tm="100000">
                                          <p:val>
                                            <p:strVal val="#ppt_y"/>
                                          </p:val>
                                        </p:tav>
                                      </p:tavLst>
                                    </p:anim>
                                    <p:animEffect transition="in" filter="fade">
                                      <p:cBhvr>
                                        <p:cTn id="28" dur="500"/>
                                        <p:tgtEl>
                                          <p:spTgt spid="16"/>
                                        </p:tgtEl>
                                      </p:cBhvr>
                                    </p:animEffect>
                                  </p:childTnLst>
                                </p:cTn>
                              </p:par>
                              <p:par>
                                <p:cTn id="34" presetID="2" presetClass="entr" presetSubtype="4" fill="hold" grpId="0" nodeType="withEffect">
                                  <p:stCondLst>
                                    <p:cond delay="10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ppt_y+0.1"/>
                                          </p:val>
                                        </p:tav>
                                        <p:tav tm="100000">
                                          <p:val>
                                            <p:strVal val="#ppt_y"/>
                                          </p:val>
                                        </p:tav>
                                      </p:tavLst>
                                    </p:anim>
                                    <p:animEffect transition="in" filter="fade">
                                      <p:cBhvr>
                                        <p:cTn id="38" dur="500"/>
                                        <p:tgtEl>
                                          <p:spTgt spid="18"/>
                                        </p:tgtEl>
                                      </p:cBhvr>
                                    </p:animEffect>
                                  </p:childTnLst>
                                </p:cTn>
                              </p:par>
                              <p:par>
                                <p:cTn id="44" presetID="2" presetClass="entr" presetSubtype="4" fill="hold" grpId="0" nodeType="withEffect">
                                  <p:stCondLst>
                                    <p:cond delay="200"/>
                                  </p:stCondLst>
                                  <p:childTnLst>
                                    <p:set>
                                      <p:cBhvr>
                                        <p:cTn id="40" dur="1" fill="hold">
                                          <p:stCondLst>
                                            <p:cond delay="0"/>
                                          </p:stCondLst>
                                        </p:cTn>
                                        <p:tgtEl>
                                          <p:spTgt spid="19"/>
                                        </p:tgtEl>
                                        <p:attrNameLst>
                                          <p:attrName>style.visibility</p:attrName>
                                        </p:attrNameLst>
                                      </p:cBhvr>
                                      <p:to>
                                        <p:strVal val="visible"/>
                                      </p:to>
                                    </p:set>
                                    <p:anim calcmode="lin" valueType="num">
                                      <p:cBhvr additive="base">
                                        <p:cTn id="41" dur="500" fill="hold"/>
                                        <p:tgtEl>
                                          <p:spTgt spid="19"/>
                                        </p:tgtEl>
                                        <p:attrNameLst>
                                          <p:attrName>ppt_x</p:attrName>
                                        </p:attrNameLst>
                                      </p:cBhvr>
                                      <p:tavLst>
                                        <p:tav tm="0">
                                          <p:val>
                                            <p:strVal val="#ppt_x"/>
                                          </p:val>
                                        </p:tav>
                                        <p:tav tm="100000">
                                          <p:val>
                                            <p:strVal val="#ppt_x"/>
                                          </p:val>
                                        </p:tav>
                                      </p:tavLst>
                                    </p:anim>
                                    <p:anim calcmode="lin" valueType="num">
                                      <p:cBhvr additive="base">
                                        <p:cTn id="42" dur="500" fill="hold"/>
                                        <p:tgtEl>
                                          <p:spTgt spid="19"/>
                                        </p:tgtEl>
                                        <p:attrNameLst>
                                          <p:attrName>ppt_y</p:attrName>
                                        </p:attrNameLst>
                                      </p:cBhvr>
                                      <p:tavLst>
                                        <p:tav tm="0">
                                          <p:val>
                                            <p:strVal val="#ppt_y+0.1"/>
                                          </p:val>
                                        </p:tav>
                                        <p:tav tm="100000">
                                          <p:val>
                                            <p:strVal val="#ppt_y"/>
                                          </p:val>
                                        </p:tav>
                                      </p:tavLst>
                                    </p:anim>
                                    <p:animEffect transition="in" filter="fade">
                                      <p:cBhvr>
                                        <p:cTn id="43" dur="500"/>
                                        <p:tgtEl>
                                          <p:spTgt spid="19"/>
                                        </p:tgtEl>
                                      </p:cBhvr>
                                    </p:animEffect>
                                  </p:childTnLst>
                                </p:cTn>
                              </p:par>
                              <p:par>
                                <p:cTn id="49" presetID="2" presetClass="entr" presetSubtype="4" fill="hold" grpId="0" nodeType="withEffect">
                                  <p:stCondLst>
                                    <p:cond delay="200"/>
                                  </p:stCondLst>
                                  <p:childTnLst>
                                    <p:set>
                                      <p:cBhvr>
                                        <p:cTn id="45" dur="1" fill="hold">
                                          <p:stCondLst>
                                            <p:cond delay="0"/>
                                          </p:stCondLst>
                                        </p:cTn>
                                        <p:tgtEl>
                                          <p:spTgt spid="20"/>
                                        </p:tgtEl>
                                        <p:attrNameLst>
                                          <p:attrName>style.visibility</p:attrName>
                                        </p:attrNameLst>
                                      </p:cBhvr>
                                      <p:to>
                                        <p:strVal val="visible"/>
                                      </p:to>
                                    </p:set>
                                    <p:anim calcmode="lin" valueType="num">
                                      <p:cBhvr additive="base">
                                        <p:cTn id="46" dur="500" fill="hold"/>
                                        <p:tgtEl>
                                          <p:spTgt spid="20"/>
                                        </p:tgtEl>
                                        <p:attrNameLst>
                                          <p:attrName>ppt_x</p:attrName>
                                        </p:attrNameLst>
                                      </p:cBhvr>
                                      <p:tavLst>
                                        <p:tav tm="0">
                                          <p:val>
                                            <p:strVal val="#ppt_x"/>
                                          </p:val>
                                        </p:tav>
                                        <p:tav tm="100000">
                                          <p:val>
                                            <p:strVal val="#ppt_x"/>
                                          </p:val>
                                        </p:tav>
                                      </p:tavLst>
                                    </p:anim>
                                    <p:anim calcmode="lin" valueType="num">
                                      <p:cBhvr additive="base">
                                        <p:cTn id="47" dur="500" fill="hold"/>
                                        <p:tgtEl>
                                          <p:spTgt spid="20"/>
                                        </p:tgtEl>
                                        <p:attrNameLst>
                                          <p:attrName>ppt_y</p:attrName>
                                        </p:attrNameLst>
                                      </p:cBhvr>
                                      <p:tavLst>
                                        <p:tav tm="0">
                                          <p:val>
                                            <p:strVal val="#ppt_y+0.1"/>
                                          </p:val>
                                        </p:tav>
                                        <p:tav tm="100000">
                                          <p:val>
                                            <p:strVal val="#ppt_y"/>
                                          </p:val>
                                        </p:tav>
                                      </p:tavLst>
                                    </p:anim>
                                    <p:animEffect transition="in" filter="fade">
                                      <p:cBhvr>
                                        <p:cTn id="48" dur="500"/>
                                        <p:tgtEl>
                                          <p:spTgt spid="20"/>
                                        </p:tgtEl>
                                      </p:cBhvr>
                                    </p:animEffect>
                                  </p:childTnLst>
                                </p:cTn>
                              </p:par>
                              <p:par>
                                <p:cTn id="54" presetID="2" presetClass="entr" presetSubtype="4" fill="hold" grpId="0" nodeType="withEffect">
                                  <p:stCondLst>
                                    <p:cond delay="300"/>
                                  </p:stCondLst>
                                  <p:childTnLst>
                                    <p:set>
                                      <p:cBhvr>
                                        <p:cTn id="50" dur="1" fill="hold">
                                          <p:stCondLst>
                                            <p:cond delay="0"/>
                                          </p:stCondLst>
                                        </p:cTn>
                                        <p:tgtEl>
                                          <p:spTgt spid="21"/>
                                        </p:tgtEl>
                                        <p:attrNameLst>
                                          <p:attrName>style.visibility</p:attrName>
                                        </p:attrNameLst>
                                      </p:cBhvr>
                                      <p:to>
                                        <p:strVal val="visible"/>
                                      </p:to>
                                    </p:set>
                                    <p:anim calcmode="lin" valueType="num">
                                      <p:cBhvr additive="base">
                                        <p:cTn id="51" dur="500" fill="hold"/>
                                        <p:tgtEl>
                                          <p:spTgt spid="21"/>
                                        </p:tgtEl>
                                        <p:attrNameLst>
                                          <p:attrName>ppt_x</p:attrName>
                                        </p:attrNameLst>
                                      </p:cBhvr>
                                      <p:tavLst>
                                        <p:tav tm="0">
                                          <p:val>
                                            <p:strVal val="#ppt_x"/>
                                          </p:val>
                                        </p:tav>
                                        <p:tav tm="100000">
                                          <p:val>
                                            <p:strVal val="#ppt_x"/>
                                          </p:val>
                                        </p:tav>
                                      </p:tavLst>
                                    </p:anim>
                                    <p:anim calcmode="lin" valueType="num">
                                      <p:cBhvr additive="base">
                                        <p:cTn id="52" dur="500" fill="hold"/>
                                        <p:tgtEl>
                                          <p:spTgt spid="21"/>
                                        </p:tgtEl>
                                        <p:attrNameLst>
                                          <p:attrName>ppt_y</p:attrName>
                                        </p:attrNameLst>
                                      </p:cBhvr>
                                      <p:tavLst>
                                        <p:tav tm="0">
                                          <p:val>
                                            <p:strVal val="#ppt_y+0.1"/>
                                          </p:val>
                                        </p:tav>
                                        <p:tav tm="100000">
                                          <p:val>
                                            <p:strVal val="#ppt_y"/>
                                          </p:val>
                                        </p:tav>
                                      </p:tavLst>
                                    </p:anim>
                                    <p:animEffect transition="in" filter="fade">
                                      <p:cBhvr>
                                        <p:cTn id="53" dur="500"/>
                                        <p:tgtEl>
                                          <p:spTgt spid="21"/>
                                        </p:tgtEl>
                                      </p:cBhvr>
                                    </p:animEffect>
                                  </p:childTnLst>
                                </p:cTn>
                              </p:par>
                              <p:par>
                                <p:cTn id="59" presetID="2" presetClass="entr" presetSubtype="4" fill="hold" grpId="0" nodeType="withEffect">
                                  <p:stCondLst>
                                    <p:cond delay="300"/>
                                  </p:stCondLst>
                                  <p:childTnLst>
                                    <p:set>
                                      <p:cBhvr>
                                        <p:cTn id="55" dur="1" fill="hold">
                                          <p:stCondLst>
                                            <p:cond delay="0"/>
                                          </p:stCondLst>
                                        </p:cTn>
                                        <p:tgtEl>
                                          <p:spTgt spid="22"/>
                                        </p:tgtEl>
                                        <p:attrNameLst>
                                          <p:attrName>style.visibility</p:attrName>
                                        </p:attrNameLst>
                                      </p:cBhvr>
                                      <p:to>
                                        <p:strVal val="visible"/>
                                      </p:to>
                                    </p:set>
                                    <p:anim calcmode="lin" valueType="num">
                                      <p:cBhvr additive="base">
                                        <p:cTn id="56" dur="500" fill="hold"/>
                                        <p:tgtEl>
                                          <p:spTgt spid="22"/>
                                        </p:tgtEl>
                                        <p:attrNameLst>
                                          <p:attrName>ppt_x</p:attrName>
                                        </p:attrNameLst>
                                      </p:cBhvr>
                                      <p:tavLst>
                                        <p:tav tm="0">
                                          <p:val>
                                            <p:strVal val="#ppt_x"/>
                                          </p:val>
                                        </p:tav>
                                        <p:tav tm="100000">
                                          <p:val>
                                            <p:strVal val="#ppt_x"/>
                                          </p:val>
                                        </p:tav>
                                      </p:tavLst>
                                    </p:anim>
                                    <p:anim calcmode="lin" valueType="num">
                                      <p:cBhvr additive="base">
                                        <p:cTn id="57" dur="500" fill="hold"/>
                                        <p:tgtEl>
                                          <p:spTgt spid="22"/>
                                        </p:tgtEl>
                                        <p:attrNameLst>
                                          <p:attrName>ppt_y</p:attrName>
                                        </p:attrNameLst>
                                      </p:cBhvr>
                                      <p:tavLst>
                                        <p:tav tm="0">
                                          <p:val>
                                            <p:strVal val="#ppt_y+0.1"/>
                                          </p:val>
                                        </p:tav>
                                        <p:tav tm="100000">
                                          <p:val>
                                            <p:strVal val="#ppt_y"/>
                                          </p:val>
                                        </p:tav>
                                      </p:tavLst>
                                    </p:anim>
                                    <p:animEffect transition="in" filter="fade">
                                      <p:cBhvr>
                                        <p:cTn id="58" dur="500"/>
                                        <p:tgtEl>
                                          <p:spTgt spid="22"/>
                                        </p:tgtEl>
                                      </p:cBhvr>
                                    </p:animEffect>
                                  </p:childTnLst>
                                </p:cTn>
                              </p:par>
                              <p:par>
                                <p:cTn id="64" presetID="2" presetClass="entr" presetSubtype="4" fill="hold" grpId="0" nodeType="withEffect">
                                  <p:stCondLst>
                                    <p:cond delay="300"/>
                                  </p:stCondLst>
                                  <p:childTnLst>
                                    <p:set>
                                      <p:cBhvr>
                                        <p:cTn id="60" dur="1" fill="hold">
                                          <p:stCondLst>
                                            <p:cond delay="0"/>
                                          </p:stCondLst>
                                        </p:cTn>
                                        <p:tgtEl>
                                          <p:spTgt spid="23"/>
                                        </p:tgtEl>
                                        <p:attrNameLst>
                                          <p:attrName>style.visibility</p:attrName>
                                        </p:attrNameLst>
                                      </p:cBhvr>
                                      <p:to>
                                        <p:strVal val="visible"/>
                                      </p:to>
                                    </p:set>
                                    <p:anim calcmode="lin" valueType="num">
                                      <p:cBhvr additive="base">
                                        <p:cTn id="61" dur="500" fill="hold"/>
                                        <p:tgtEl>
                                          <p:spTgt spid="23"/>
                                        </p:tgtEl>
                                        <p:attrNameLst>
                                          <p:attrName>ppt_x</p:attrName>
                                        </p:attrNameLst>
                                      </p:cBhvr>
                                      <p:tavLst>
                                        <p:tav tm="0">
                                          <p:val>
                                            <p:strVal val="#ppt_x"/>
                                          </p:val>
                                        </p:tav>
                                        <p:tav tm="100000">
                                          <p:val>
                                            <p:strVal val="#ppt_x"/>
                                          </p:val>
                                        </p:tav>
                                      </p:tavLst>
                                    </p:anim>
                                    <p:anim calcmode="lin" valueType="num">
                                      <p:cBhvr additive="base">
                                        <p:cTn id="62" dur="500" fill="hold"/>
                                        <p:tgtEl>
                                          <p:spTgt spid="23"/>
                                        </p:tgtEl>
                                        <p:attrNameLst>
                                          <p:attrName>ppt_y</p:attrName>
                                        </p:attrNameLst>
                                      </p:cBhvr>
                                      <p:tavLst>
                                        <p:tav tm="0">
                                          <p:val>
                                            <p:strVal val="#ppt_y+0.1"/>
                                          </p:val>
                                        </p:tav>
                                        <p:tav tm="100000">
                                          <p:val>
                                            <p:strVal val="#ppt_y"/>
                                          </p:val>
                                        </p:tav>
                                      </p:tavLst>
                                    </p:anim>
                                    <p:animEffect transition="in" filter="fade">
                                      <p:cBhvr>
                                        <p:cTn id="63" dur="500"/>
                                        <p:tgtEl>
                                          <p:spTgt spid="23"/>
                                        </p:tgtEl>
                                      </p:cBhvr>
                                    </p:animEffect>
                                  </p:childTnLst>
                                </p:cTn>
                              </p:par>
                              <p:par>
                                <p:cTn id="69" presetID="2" presetClass="entr" presetSubtype="4" fill="hold" grpId="0" nodeType="withEffect">
                                  <p:stCondLst>
                                    <p:cond delay="400"/>
                                  </p:stCondLst>
                                  <p:childTnLst>
                                    <p:set>
                                      <p:cBhvr>
                                        <p:cTn id="65" dur="1" fill="hold">
                                          <p:stCondLst>
                                            <p:cond delay="0"/>
                                          </p:stCondLst>
                                        </p:cTn>
                                        <p:tgtEl>
                                          <p:spTgt spid="24"/>
                                        </p:tgtEl>
                                        <p:attrNameLst>
                                          <p:attrName>style.visibility</p:attrName>
                                        </p:attrNameLst>
                                      </p:cBhvr>
                                      <p:to>
                                        <p:strVal val="visible"/>
                                      </p:to>
                                    </p:set>
                                    <p:anim calcmode="lin" valueType="num">
                                      <p:cBhvr additive="base">
                                        <p:cTn id="66" dur="500" fill="hold"/>
                                        <p:tgtEl>
                                          <p:spTgt spid="24"/>
                                        </p:tgtEl>
                                        <p:attrNameLst>
                                          <p:attrName>ppt_x</p:attrName>
                                        </p:attrNameLst>
                                      </p:cBhvr>
                                      <p:tavLst>
                                        <p:tav tm="0">
                                          <p:val>
                                            <p:strVal val="#ppt_x"/>
                                          </p:val>
                                        </p:tav>
                                        <p:tav tm="100000">
                                          <p:val>
                                            <p:strVal val="#ppt_x"/>
                                          </p:val>
                                        </p:tav>
                                      </p:tavLst>
                                    </p:anim>
                                    <p:anim calcmode="lin" valueType="num">
                                      <p:cBhvr additive="base">
                                        <p:cTn id="67" dur="500" fill="hold"/>
                                        <p:tgtEl>
                                          <p:spTgt spid="24"/>
                                        </p:tgtEl>
                                        <p:attrNameLst>
                                          <p:attrName>ppt_y</p:attrName>
                                        </p:attrNameLst>
                                      </p:cBhvr>
                                      <p:tavLst>
                                        <p:tav tm="0">
                                          <p:val>
                                            <p:strVal val="#ppt_y+0.1"/>
                                          </p:val>
                                        </p:tav>
                                        <p:tav tm="100000">
                                          <p:val>
                                            <p:strVal val="#ppt_y"/>
                                          </p:val>
                                        </p:tav>
                                      </p:tavLst>
                                    </p:anim>
                                    <p:animEffect transition="in" filter="fade">
                                      <p:cBhvr>
                                        <p:cTn id="68" dur="500"/>
                                        <p:tgtEl>
                                          <p:spTgt spid="24"/>
                                        </p:tgtEl>
                                      </p:cBhvr>
                                    </p:animEffect>
                                  </p:childTnLst>
                                </p:cTn>
                              </p:par>
                              <p:par>
                                <p:cTn id="74" presetID="2" presetClass="entr" presetSubtype="4" fill="hold" grpId="0" nodeType="withEffect">
                                  <p:stCondLst>
                                    <p:cond delay="400"/>
                                  </p:stCondLst>
                                  <p:childTnLst>
                                    <p:set>
                                      <p:cBhvr>
                                        <p:cTn id="70" dur="1" fill="hold">
                                          <p:stCondLst>
                                            <p:cond delay="0"/>
                                          </p:stCondLst>
                                        </p:cTn>
                                        <p:tgtEl>
                                          <p:spTgt spid="25"/>
                                        </p:tgtEl>
                                        <p:attrNameLst>
                                          <p:attrName>style.visibility</p:attrName>
                                        </p:attrNameLst>
                                      </p:cBhvr>
                                      <p:to>
                                        <p:strVal val="visible"/>
                                      </p:to>
                                    </p:set>
                                    <p:anim calcmode="lin" valueType="num">
                                      <p:cBhvr additive="base">
                                        <p:cTn id="71" dur="500" fill="hold"/>
                                        <p:tgtEl>
                                          <p:spTgt spid="25"/>
                                        </p:tgtEl>
                                        <p:attrNameLst>
                                          <p:attrName>ppt_x</p:attrName>
                                        </p:attrNameLst>
                                      </p:cBhvr>
                                      <p:tavLst>
                                        <p:tav tm="0">
                                          <p:val>
                                            <p:strVal val="#ppt_x"/>
                                          </p:val>
                                        </p:tav>
                                        <p:tav tm="100000">
                                          <p:val>
                                            <p:strVal val="#ppt_x"/>
                                          </p:val>
                                        </p:tav>
                                      </p:tavLst>
                                    </p:anim>
                                    <p:anim calcmode="lin" valueType="num">
                                      <p:cBhvr additive="base">
                                        <p:cTn id="72" dur="500" fill="hold"/>
                                        <p:tgtEl>
                                          <p:spTgt spid="25"/>
                                        </p:tgtEl>
                                        <p:attrNameLst>
                                          <p:attrName>ppt_y</p:attrName>
                                        </p:attrNameLst>
                                      </p:cBhvr>
                                      <p:tavLst>
                                        <p:tav tm="0">
                                          <p:val>
                                            <p:strVal val="#ppt_y+0.1"/>
                                          </p:val>
                                        </p:tav>
                                        <p:tav tm="100000">
                                          <p:val>
                                            <p:strVal val="#ppt_y"/>
                                          </p:val>
                                        </p:tav>
                                      </p:tavLst>
                                    </p:anim>
                                    <p:animEffect transition="in" filter="fade">
                                      <p:cBhvr>
                                        <p:cTn id="73" dur="500"/>
                                        <p:tgtEl>
                                          <p:spTgt spid="25"/>
                                        </p:tgtEl>
                                      </p:cBhvr>
                                    </p:animEffect>
                                  </p:childTnLst>
                                </p:cTn>
                              </p:par>
                              <p:par>
                                <p:cTn id="79" presetID="2" presetClass="entr" presetSubtype="4" fill="hold" grpId="0" nodeType="withEffect">
                                  <p:stCondLst>
                                    <p:cond delay="400"/>
                                  </p:stCondLst>
                                  <p:childTnLst>
                                    <p:set>
                                      <p:cBhvr>
                                        <p:cTn id="75" dur="1" fill="hold">
                                          <p:stCondLst>
                                            <p:cond delay="0"/>
                                          </p:stCondLst>
                                        </p:cTn>
                                        <p:tgtEl>
                                          <p:spTgt spid="26"/>
                                        </p:tgtEl>
                                        <p:attrNameLst>
                                          <p:attrName>style.visibility</p:attrName>
                                        </p:attrNameLst>
                                      </p:cBhvr>
                                      <p:to>
                                        <p:strVal val="visible"/>
                                      </p:to>
                                    </p:set>
                                    <p:anim calcmode="lin" valueType="num">
                                      <p:cBhvr additive="base">
                                        <p:cTn id="76" dur="500" fill="hold"/>
                                        <p:tgtEl>
                                          <p:spTgt spid="26"/>
                                        </p:tgtEl>
                                        <p:attrNameLst>
                                          <p:attrName>ppt_x</p:attrName>
                                        </p:attrNameLst>
                                      </p:cBhvr>
                                      <p:tavLst>
                                        <p:tav tm="0">
                                          <p:val>
                                            <p:strVal val="#ppt_x"/>
                                          </p:val>
                                        </p:tav>
                                        <p:tav tm="100000">
                                          <p:val>
                                            <p:strVal val="#ppt_x"/>
                                          </p:val>
                                        </p:tav>
                                      </p:tavLst>
                                    </p:anim>
                                    <p:anim calcmode="lin" valueType="num">
                                      <p:cBhvr additive="base">
                                        <p:cTn id="77" dur="500" fill="hold"/>
                                        <p:tgtEl>
                                          <p:spTgt spid="26"/>
                                        </p:tgtEl>
                                        <p:attrNameLst>
                                          <p:attrName>ppt_y</p:attrName>
                                        </p:attrNameLst>
                                      </p:cBhvr>
                                      <p:tavLst>
                                        <p:tav tm="0">
                                          <p:val>
                                            <p:strVal val="#ppt_y+0.1"/>
                                          </p:val>
                                        </p:tav>
                                        <p:tav tm="100000">
                                          <p:val>
                                            <p:strVal val="#ppt_y"/>
                                          </p:val>
                                        </p:tav>
                                      </p:tavLst>
                                    </p:anim>
                                    <p:animEffect transition="in" filter="fade">
                                      <p:cBhvr>
                                        <p:cTn id="78" dur="500"/>
                                        <p:tgtEl>
                                          <p:spTgt spid="26"/>
                                        </p:tgtEl>
                                      </p:cBhvr>
                                    </p:animEffect>
                                  </p:childTnLst>
                                </p:cTn>
                              </p:par>
                              <p:par>
                                <p:cTn id="84" presetID="2" presetClass="entr" presetSubtype="4" fill="hold" grpId="0" nodeType="withEffect">
                                  <p:stCondLst>
                                    <p:cond delay="500"/>
                                  </p:stCondLst>
                                  <p:childTnLst>
                                    <p:set>
                                      <p:cBhvr>
                                        <p:cTn id="80" dur="1" fill="hold">
                                          <p:stCondLst>
                                            <p:cond delay="0"/>
                                          </p:stCondLst>
                                        </p:cTn>
                                        <p:tgtEl>
                                          <p:spTgt spid="27"/>
                                        </p:tgtEl>
                                        <p:attrNameLst>
                                          <p:attrName>style.visibility</p:attrName>
                                        </p:attrNameLst>
                                      </p:cBhvr>
                                      <p:to>
                                        <p:strVal val="visible"/>
                                      </p:to>
                                    </p:set>
                                    <p:anim calcmode="lin" valueType="num">
                                      <p:cBhvr additive="base">
                                        <p:cTn id="81" dur="500" fill="hold"/>
                                        <p:tgtEl>
                                          <p:spTgt spid="27"/>
                                        </p:tgtEl>
                                        <p:attrNameLst>
                                          <p:attrName>ppt_x</p:attrName>
                                        </p:attrNameLst>
                                      </p:cBhvr>
                                      <p:tavLst>
                                        <p:tav tm="0">
                                          <p:val>
                                            <p:strVal val="#ppt_x"/>
                                          </p:val>
                                        </p:tav>
                                        <p:tav tm="100000">
                                          <p:val>
                                            <p:strVal val="#ppt_x"/>
                                          </p:val>
                                        </p:tav>
                                      </p:tavLst>
                                    </p:anim>
                                    <p:anim calcmode="lin" valueType="num">
                                      <p:cBhvr additive="base">
                                        <p:cTn id="82" dur="500" fill="hold"/>
                                        <p:tgtEl>
                                          <p:spTgt spid="27"/>
                                        </p:tgtEl>
                                        <p:attrNameLst>
                                          <p:attrName>ppt_y</p:attrName>
                                        </p:attrNameLst>
                                      </p:cBhvr>
                                      <p:tavLst>
                                        <p:tav tm="0">
                                          <p:val>
                                            <p:strVal val="#ppt_y+0.1"/>
                                          </p:val>
                                        </p:tav>
                                        <p:tav tm="100000">
                                          <p:val>
                                            <p:strVal val="#ppt_y"/>
                                          </p:val>
                                        </p:tav>
                                      </p:tavLst>
                                    </p:anim>
                                    <p:animEffect transition="in" filter="fade">
                                      <p:cBhvr>
                                        <p:cTn id="83" dur="500"/>
                                        <p:tgtEl>
                                          <p:spTgt spid="27"/>
                                        </p:tgtEl>
                                      </p:cBhvr>
                                    </p:animEffect>
                                  </p:childTnLst>
                                </p:cTn>
                              </p:par>
                              <p:par>
                                <p:cTn id="89" presetID="2" presetClass="entr" presetSubtype="4" fill="hold" grpId="0" nodeType="withEffect">
                                  <p:stCondLst>
                                    <p:cond delay="500"/>
                                  </p:stCondLst>
                                  <p:childTnLst>
                                    <p:set>
                                      <p:cBhvr>
                                        <p:cTn id="85" dur="1" fill="hold">
                                          <p:stCondLst>
                                            <p:cond delay="0"/>
                                          </p:stCondLst>
                                        </p:cTn>
                                        <p:tgtEl>
                                          <p:spTgt spid="28"/>
                                        </p:tgtEl>
                                        <p:attrNameLst>
                                          <p:attrName>style.visibility</p:attrName>
                                        </p:attrNameLst>
                                      </p:cBhvr>
                                      <p:to>
                                        <p:strVal val="visible"/>
                                      </p:to>
                                    </p:set>
                                    <p:anim calcmode="lin" valueType="num">
                                      <p:cBhvr additive="base">
                                        <p:cTn id="86" dur="500" fill="hold"/>
                                        <p:tgtEl>
                                          <p:spTgt spid="28"/>
                                        </p:tgtEl>
                                        <p:attrNameLst>
                                          <p:attrName>ppt_x</p:attrName>
                                        </p:attrNameLst>
                                      </p:cBhvr>
                                      <p:tavLst>
                                        <p:tav tm="0">
                                          <p:val>
                                            <p:strVal val="#ppt_x"/>
                                          </p:val>
                                        </p:tav>
                                        <p:tav tm="100000">
                                          <p:val>
                                            <p:strVal val="#ppt_x"/>
                                          </p:val>
                                        </p:tav>
                                      </p:tavLst>
                                    </p:anim>
                                    <p:anim calcmode="lin" valueType="num">
                                      <p:cBhvr additive="base">
                                        <p:cTn id="87" dur="500" fill="hold"/>
                                        <p:tgtEl>
                                          <p:spTgt spid="28"/>
                                        </p:tgtEl>
                                        <p:attrNameLst>
                                          <p:attrName>ppt_y</p:attrName>
                                        </p:attrNameLst>
                                      </p:cBhvr>
                                      <p:tavLst>
                                        <p:tav tm="0">
                                          <p:val>
                                            <p:strVal val="#ppt_y+0.1"/>
                                          </p:val>
                                        </p:tav>
                                        <p:tav tm="100000">
                                          <p:val>
                                            <p:strVal val="#ppt_y"/>
                                          </p:val>
                                        </p:tav>
                                      </p:tavLst>
                                    </p:anim>
                                    <p:animEffect transition="in" filter="fade">
                                      <p:cBhvr>
                                        <p:cTn id="88" dur="500"/>
                                        <p:tgtEl>
                                          <p:spTgt spid="28"/>
                                        </p:tgtEl>
                                      </p:cBhvr>
                                    </p:animEffect>
                                  </p:childTnLst>
                                </p:cTn>
                              </p:par>
                              <p:par>
                                <p:cTn id="94" presetID="2" presetClass="entr" presetSubtype="4" fill="hold" grpId="0" nodeType="withEffect">
                                  <p:stCondLst>
                                    <p:cond delay="600"/>
                                  </p:stCondLst>
                                  <p:childTnLst>
                                    <p:set>
                                      <p:cBhvr>
                                        <p:cTn id="90" dur="1" fill="hold">
                                          <p:stCondLst>
                                            <p:cond delay="0"/>
                                          </p:stCondLst>
                                        </p:cTn>
                                        <p:tgtEl>
                                          <p:spTgt spid="29"/>
                                        </p:tgtEl>
                                        <p:attrNameLst>
                                          <p:attrName>style.visibility</p:attrName>
                                        </p:attrNameLst>
                                      </p:cBhvr>
                                      <p:to>
                                        <p:strVal val="visible"/>
                                      </p:to>
                                    </p:set>
                                    <p:anim calcmode="lin" valueType="num">
                                      <p:cBhvr additive="base">
                                        <p:cTn id="91" dur="500" fill="hold"/>
                                        <p:tgtEl>
                                          <p:spTgt spid="29"/>
                                        </p:tgtEl>
                                        <p:attrNameLst>
                                          <p:attrName>ppt_x</p:attrName>
                                        </p:attrNameLst>
                                      </p:cBhvr>
                                      <p:tavLst>
                                        <p:tav tm="0">
                                          <p:val>
                                            <p:strVal val="#ppt_x"/>
                                          </p:val>
                                        </p:tav>
                                        <p:tav tm="100000">
                                          <p:val>
                                            <p:strVal val="#ppt_x"/>
                                          </p:val>
                                        </p:tav>
                                      </p:tavLst>
                                    </p:anim>
                                    <p:anim calcmode="lin" valueType="num">
                                      <p:cBhvr additive="base">
                                        <p:cTn id="92" dur="500" fill="hold"/>
                                        <p:tgtEl>
                                          <p:spTgt spid="29"/>
                                        </p:tgtEl>
                                        <p:attrNameLst>
                                          <p:attrName>ppt_y</p:attrName>
                                        </p:attrNameLst>
                                      </p:cBhvr>
                                      <p:tavLst>
                                        <p:tav tm="0">
                                          <p:val>
                                            <p:strVal val="#ppt_y+0.1"/>
                                          </p:val>
                                        </p:tav>
                                        <p:tav tm="100000">
                                          <p:val>
                                            <p:strVal val="#ppt_y"/>
                                          </p:val>
                                        </p:tav>
                                      </p:tavLst>
                                    </p:anim>
                                    <p:animEffect transition="in" filter="fade">
                                      <p:cBhvr>
                                        <p:cTn id="93" dur="500"/>
                                        <p:tgtEl>
                                          <p:spTgt spid="29"/>
                                        </p:tgtEl>
                                      </p:cBhvr>
                                    </p:animEffect>
                                  </p:childTnLst>
                                </p:cTn>
                              </p:par>
                              <p:par>
                                <p:cTn id="99" presetID="2" presetClass="entr" presetSubtype="4" fill="hold" grpId="0" nodeType="withEffect">
                                  <p:stCondLst>
                                    <p:cond delay="600"/>
                                  </p:stCondLst>
                                  <p:childTnLst>
                                    <p:set>
                                      <p:cBhvr>
                                        <p:cTn id="95" dur="1" fill="hold">
                                          <p:stCondLst>
                                            <p:cond delay="0"/>
                                          </p:stCondLst>
                                        </p:cTn>
                                        <p:tgtEl>
                                          <p:spTgt spid="30"/>
                                        </p:tgtEl>
                                        <p:attrNameLst>
                                          <p:attrName>style.visibility</p:attrName>
                                        </p:attrNameLst>
                                      </p:cBhvr>
                                      <p:to>
                                        <p:strVal val="visible"/>
                                      </p:to>
                                    </p:set>
                                    <p:anim calcmode="lin" valueType="num">
                                      <p:cBhvr additive="base">
                                        <p:cTn id="96" dur="500" fill="hold"/>
                                        <p:tgtEl>
                                          <p:spTgt spid="30"/>
                                        </p:tgtEl>
                                        <p:attrNameLst>
                                          <p:attrName>ppt_x</p:attrName>
                                        </p:attrNameLst>
                                      </p:cBhvr>
                                      <p:tavLst>
                                        <p:tav tm="0">
                                          <p:val>
                                            <p:strVal val="#ppt_x"/>
                                          </p:val>
                                        </p:tav>
                                        <p:tav tm="100000">
                                          <p:val>
                                            <p:strVal val="#ppt_x"/>
                                          </p:val>
                                        </p:tav>
                                      </p:tavLst>
                                    </p:anim>
                                    <p:anim calcmode="lin" valueType="num">
                                      <p:cBhvr additive="base">
                                        <p:cTn id="97" dur="500" fill="hold"/>
                                        <p:tgtEl>
                                          <p:spTgt spid="30"/>
                                        </p:tgtEl>
                                        <p:attrNameLst>
                                          <p:attrName>ppt_y</p:attrName>
                                        </p:attrNameLst>
                                      </p:cBhvr>
                                      <p:tavLst>
                                        <p:tav tm="0">
                                          <p:val>
                                            <p:strVal val="#ppt_y+0.1"/>
                                          </p:val>
                                        </p:tav>
                                        <p:tav tm="100000">
                                          <p:val>
                                            <p:strVal val="#ppt_y"/>
                                          </p:val>
                                        </p:tav>
                                      </p:tavLst>
                                    </p:anim>
                                    <p:animEffect transition="in" filter="fade">
                                      <p:cBhvr>
                                        <p:cTn id="98" dur="500"/>
                                        <p:tgtEl>
                                          <p:spTgt spid="30"/>
                                        </p:tgtEl>
                                      </p:cBhvr>
                                    </p:animEffect>
                                  </p:childTnLst>
                                </p:cTn>
                              </p:par>
                            </p:childTnLst>
                          </p:cTn>
                        </p:par>
                      </p:childTnLst>
                    </p:cTn>
                  </p:par>
                  <p:par>
                    <p:cTn id="100" fill="hold">
                      <p:stCondLst>
                        <p:cond delay="indefinite"/>
                      </p:stCondLst>
                      <p:childTnLst>
                        <p:par>
                          <p:cTn id="101" fill="hold">
                            <p:stCondLst>
                              <p:cond delay="0"/>
                            </p:stCondLst>
                            <p:childTnLst>
                              <p:par>
                                <p:cTn id="106" presetID="2" presetClass="entr" presetSubtype="4" fill="hold" grpId="0" nodeType="clickEffect">
                                  <p:stCondLst>
                                    <p:cond delay="0"/>
                                  </p:stCondLst>
                                  <p:childTnLst>
                                    <p:set>
                                      <p:cBhvr>
                                        <p:cTn id="102" dur="1" fill="hold">
                                          <p:stCondLst>
                                            <p:cond delay="0"/>
                                          </p:stCondLst>
                                        </p:cTn>
                                        <p:tgtEl>
                                          <p:spTgt spid="31"/>
                                        </p:tgtEl>
                                        <p:attrNameLst>
                                          <p:attrName>style.visibility</p:attrName>
                                        </p:attrNameLst>
                                      </p:cBhvr>
                                      <p:to>
                                        <p:strVal val="visible"/>
                                      </p:to>
                                    </p:set>
                                    <p:anim calcmode="lin" valueType="num">
                                      <p:cBhvr additive="base">
                                        <p:cTn id="103" dur="500" fill="hold"/>
                                        <p:tgtEl>
                                          <p:spTgt spid="31"/>
                                        </p:tgtEl>
                                        <p:attrNameLst>
                                          <p:attrName>ppt_x</p:attrName>
                                        </p:attrNameLst>
                                      </p:cBhvr>
                                      <p:tavLst>
                                        <p:tav tm="0">
                                          <p:val>
                                            <p:strVal val="#ppt_x"/>
                                          </p:val>
                                        </p:tav>
                                        <p:tav tm="100000">
                                          <p:val>
                                            <p:strVal val="#ppt_x"/>
                                          </p:val>
                                        </p:tav>
                                      </p:tavLst>
                                    </p:anim>
                                    <p:anim calcmode="lin" valueType="num">
                                      <p:cBhvr additive="base">
                                        <p:cTn id="104" dur="500" fill="hold"/>
                                        <p:tgtEl>
                                          <p:spTgt spid="31"/>
                                        </p:tgtEl>
                                        <p:attrNameLst>
                                          <p:attrName>ppt_y</p:attrName>
                                        </p:attrNameLst>
                                      </p:cBhvr>
                                      <p:tavLst>
                                        <p:tav tm="0">
                                          <p:val>
                                            <p:strVal val="#ppt_y+0.1"/>
                                          </p:val>
                                        </p:tav>
                                        <p:tav tm="100000">
                                          <p:val>
                                            <p:strVal val="#ppt_y"/>
                                          </p:val>
                                        </p:tav>
                                      </p:tavLst>
                                    </p:anim>
                                    <p:animEffect transition="in" filter="fade">
                                      <p:cBhvr>
                                        <p:cTn id="105" dur="500"/>
                                        <p:tgtEl>
                                          <p:spTgt spid="31"/>
                                        </p:tgtEl>
                                      </p:cBhvr>
                                    </p:animEffect>
                                  </p:childTnLst>
                                </p:cTn>
                              </p:par>
                              <p:par>
                                <p:cTn id="111" presetID="2" presetClass="entr" presetSubtype="4" fill="hold" grpId="0" nodeType="withEffect">
                                  <p:stCondLst>
                                    <p:cond delay="0"/>
                                  </p:stCondLst>
                                  <p:childTnLst>
                                    <p:set>
                                      <p:cBhvr>
                                        <p:cTn id="107" dur="1" fill="hold">
                                          <p:stCondLst>
                                            <p:cond delay="0"/>
                                          </p:stCondLst>
                                        </p:cTn>
                                        <p:tgtEl>
                                          <p:spTgt spid="32"/>
                                        </p:tgtEl>
                                        <p:attrNameLst>
                                          <p:attrName>style.visibility</p:attrName>
                                        </p:attrNameLst>
                                      </p:cBhvr>
                                      <p:to>
                                        <p:strVal val="visible"/>
                                      </p:to>
                                    </p:set>
                                    <p:anim calcmode="lin" valueType="num">
                                      <p:cBhvr additive="base">
                                        <p:cTn id="108" dur="500" fill="hold"/>
                                        <p:tgtEl>
                                          <p:spTgt spid="32"/>
                                        </p:tgtEl>
                                        <p:attrNameLst>
                                          <p:attrName>ppt_x</p:attrName>
                                        </p:attrNameLst>
                                      </p:cBhvr>
                                      <p:tavLst>
                                        <p:tav tm="0">
                                          <p:val>
                                            <p:strVal val="#ppt_x"/>
                                          </p:val>
                                        </p:tav>
                                        <p:tav tm="100000">
                                          <p:val>
                                            <p:strVal val="#ppt_x"/>
                                          </p:val>
                                        </p:tav>
                                      </p:tavLst>
                                    </p:anim>
                                    <p:anim calcmode="lin" valueType="num">
                                      <p:cBhvr additive="base">
                                        <p:cTn id="109" dur="500" fill="hold"/>
                                        <p:tgtEl>
                                          <p:spTgt spid="32"/>
                                        </p:tgtEl>
                                        <p:attrNameLst>
                                          <p:attrName>ppt_y</p:attrName>
                                        </p:attrNameLst>
                                      </p:cBhvr>
                                      <p:tavLst>
                                        <p:tav tm="0">
                                          <p:val>
                                            <p:strVal val="#ppt_y+0.1"/>
                                          </p:val>
                                        </p:tav>
                                        <p:tav tm="100000">
                                          <p:val>
                                            <p:strVal val="#ppt_y"/>
                                          </p:val>
                                        </p:tav>
                                      </p:tavLst>
                                    </p:anim>
                                    <p:animEffect transition="in" filter="fade">
                                      <p:cBhvr>
                                        <p:cTn id="110" dur="500"/>
                                        <p:tgtEl>
                                          <p:spTgt spid="32"/>
                                        </p:tgtEl>
                                      </p:cBhvr>
                                    </p:animEffect>
                                  </p:childTnLst>
                                </p:cTn>
                              </p:par>
                              <p:par>
                                <p:cTn id="116" presetID="2" presetClass="entr" presetSubtype="4" fill="hold" grpId="0" nodeType="withEffect">
                                  <p:stCondLst>
                                    <p:cond delay="0"/>
                                  </p:stCondLst>
                                  <p:childTnLst>
                                    <p:set>
                                      <p:cBhvr>
                                        <p:cTn id="112" dur="1" fill="hold">
                                          <p:stCondLst>
                                            <p:cond delay="0"/>
                                          </p:stCondLst>
                                        </p:cTn>
                                        <p:tgtEl>
                                          <p:spTgt spid="33"/>
                                        </p:tgtEl>
                                        <p:attrNameLst>
                                          <p:attrName>style.visibility</p:attrName>
                                        </p:attrNameLst>
                                      </p:cBhvr>
                                      <p:to>
                                        <p:strVal val="visible"/>
                                      </p:to>
                                    </p:set>
                                    <p:anim calcmode="lin" valueType="num">
                                      <p:cBhvr additive="base">
                                        <p:cTn id="113" dur="500" fill="hold"/>
                                        <p:tgtEl>
                                          <p:spTgt spid="33"/>
                                        </p:tgtEl>
                                        <p:attrNameLst>
                                          <p:attrName>ppt_x</p:attrName>
                                        </p:attrNameLst>
                                      </p:cBhvr>
                                      <p:tavLst>
                                        <p:tav tm="0">
                                          <p:val>
                                            <p:strVal val="#ppt_x"/>
                                          </p:val>
                                        </p:tav>
                                        <p:tav tm="100000">
                                          <p:val>
                                            <p:strVal val="#ppt_x"/>
                                          </p:val>
                                        </p:tav>
                                      </p:tavLst>
                                    </p:anim>
                                    <p:anim calcmode="lin" valueType="num">
                                      <p:cBhvr additive="base">
                                        <p:cTn id="114" dur="500" fill="hold"/>
                                        <p:tgtEl>
                                          <p:spTgt spid="33"/>
                                        </p:tgtEl>
                                        <p:attrNameLst>
                                          <p:attrName>ppt_y</p:attrName>
                                        </p:attrNameLst>
                                      </p:cBhvr>
                                      <p:tavLst>
                                        <p:tav tm="0">
                                          <p:val>
                                            <p:strVal val="#ppt_y+0.1"/>
                                          </p:val>
                                        </p:tav>
                                        <p:tav tm="100000">
                                          <p:val>
                                            <p:strVal val="#ppt_y"/>
                                          </p:val>
                                        </p:tav>
                                      </p:tavLst>
                                    </p:anim>
                                    <p:animEffect transition="in" filter="fade">
                                      <p:cBhvr>
                                        <p:cTn id="115" dur="500"/>
                                        <p:tgtEl>
                                          <p:spTgt spid="33"/>
                                        </p:tgtEl>
                                      </p:cBhvr>
                                    </p:animEffect>
                                  </p:childTnLst>
                                </p:cTn>
                              </p:par>
                              <p:par>
                                <p:cTn id="121" presetID="2" presetClass="entr" presetSubtype="4" fill="hold" grpId="0" nodeType="withEffect">
                                  <p:stCondLst>
                                    <p:cond delay="100"/>
                                  </p:stCondLst>
                                  <p:childTnLst>
                                    <p:set>
                                      <p:cBhvr>
                                        <p:cTn id="117" dur="1" fill="hold">
                                          <p:stCondLst>
                                            <p:cond delay="0"/>
                                          </p:stCondLst>
                                        </p:cTn>
                                        <p:tgtEl>
                                          <p:spTgt spid="34"/>
                                        </p:tgtEl>
                                        <p:attrNameLst>
                                          <p:attrName>style.visibility</p:attrName>
                                        </p:attrNameLst>
                                      </p:cBhvr>
                                      <p:to>
                                        <p:strVal val="visible"/>
                                      </p:to>
                                    </p:set>
                                    <p:anim calcmode="lin" valueType="num">
                                      <p:cBhvr additive="base">
                                        <p:cTn id="118" dur="500" fill="hold"/>
                                        <p:tgtEl>
                                          <p:spTgt spid="34"/>
                                        </p:tgtEl>
                                        <p:attrNameLst>
                                          <p:attrName>ppt_x</p:attrName>
                                        </p:attrNameLst>
                                      </p:cBhvr>
                                      <p:tavLst>
                                        <p:tav tm="0">
                                          <p:val>
                                            <p:strVal val="#ppt_x"/>
                                          </p:val>
                                        </p:tav>
                                        <p:tav tm="100000">
                                          <p:val>
                                            <p:strVal val="#ppt_x"/>
                                          </p:val>
                                        </p:tav>
                                      </p:tavLst>
                                    </p:anim>
                                    <p:anim calcmode="lin" valueType="num">
                                      <p:cBhvr additive="base">
                                        <p:cTn id="119" dur="500" fill="hold"/>
                                        <p:tgtEl>
                                          <p:spTgt spid="34"/>
                                        </p:tgtEl>
                                        <p:attrNameLst>
                                          <p:attrName>ppt_y</p:attrName>
                                        </p:attrNameLst>
                                      </p:cBhvr>
                                      <p:tavLst>
                                        <p:tav tm="0">
                                          <p:val>
                                            <p:strVal val="#ppt_y+0.1"/>
                                          </p:val>
                                        </p:tav>
                                        <p:tav tm="100000">
                                          <p:val>
                                            <p:strVal val="#ppt_y"/>
                                          </p:val>
                                        </p:tav>
                                      </p:tavLst>
                                    </p:anim>
                                    <p:animEffect transition="in" filter="fade">
                                      <p:cBhvr>
                                        <p:cTn id="120" dur="500"/>
                                        <p:tgtEl>
                                          <p:spTgt spid="34"/>
                                        </p:tgtEl>
                                      </p:cBhvr>
                                    </p:animEffect>
                                  </p:childTnLst>
                                </p:cTn>
                              </p:par>
                              <p:par>
                                <p:cTn id="126" presetID="2" presetClass="entr" presetSubtype="4" fill="hold" grpId="0" nodeType="withEffect">
                                  <p:stCondLst>
                                    <p:cond delay="100"/>
                                  </p:stCondLst>
                                  <p:childTnLst>
                                    <p:set>
                                      <p:cBhvr>
                                        <p:cTn id="122" dur="1" fill="hold">
                                          <p:stCondLst>
                                            <p:cond delay="0"/>
                                          </p:stCondLst>
                                        </p:cTn>
                                        <p:tgtEl>
                                          <p:spTgt spid="35"/>
                                        </p:tgtEl>
                                        <p:attrNameLst>
                                          <p:attrName>style.visibility</p:attrName>
                                        </p:attrNameLst>
                                      </p:cBhvr>
                                      <p:to>
                                        <p:strVal val="visible"/>
                                      </p:to>
                                    </p:set>
                                    <p:anim calcmode="lin" valueType="num">
                                      <p:cBhvr additive="base">
                                        <p:cTn id="123" dur="500" fill="hold"/>
                                        <p:tgtEl>
                                          <p:spTgt spid="35"/>
                                        </p:tgtEl>
                                        <p:attrNameLst>
                                          <p:attrName>ppt_x</p:attrName>
                                        </p:attrNameLst>
                                      </p:cBhvr>
                                      <p:tavLst>
                                        <p:tav tm="0">
                                          <p:val>
                                            <p:strVal val="#ppt_x"/>
                                          </p:val>
                                        </p:tav>
                                        <p:tav tm="100000">
                                          <p:val>
                                            <p:strVal val="#ppt_x"/>
                                          </p:val>
                                        </p:tav>
                                      </p:tavLst>
                                    </p:anim>
                                    <p:anim calcmode="lin" valueType="num">
                                      <p:cBhvr additive="base">
                                        <p:cTn id="124" dur="500" fill="hold"/>
                                        <p:tgtEl>
                                          <p:spTgt spid="35"/>
                                        </p:tgtEl>
                                        <p:attrNameLst>
                                          <p:attrName>ppt_y</p:attrName>
                                        </p:attrNameLst>
                                      </p:cBhvr>
                                      <p:tavLst>
                                        <p:tav tm="0">
                                          <p:val>
                                            <p:strVal val="#ppt_y+0.1"/>
                                          </p:val>
                                        </p:tav>
                                        <p:tav tm="100000">
                                          <p:val>
                                            <p:strVal val="#ppt_y"/>
                                          </p:val>
                                        </p:tav>
                                      </p:tavLst>
                                    </p:anim>
                                    <p:animEffect transition="in" filter="fade">
                                      <p:cBhvr>
                                        <p:cTn id="125" dur="500"/>
                                        <p:tgtEl>
                                          <p:spTgt spid="35"/>
                                        </p:tgtEl>
                                      </p:cBhvr>
                                    </p:animEffect>
                                  </p:childTnLst>
                                </p:cTn>
                              </p:par>
                              <p:par>
                                <p:cTn id="131" presetID="2" presetClass="entr" presetSubtype="4" fill="hold" grpId="0" nodeType="withEffect">
                                  <p:stCondLst>
                                    <p:cond delay="100"/>
                                  </p:stCondLst>
                                  <p:childTnLst>
                                    <p:set>
                                      <p:cBhvr>
                                        <p:cTn id="127" dur="1" fill="hold">
                                          <p:stCondLst>
                                            <p:cond delay="0"/>
                                          </p:stCondLst>
                                        </p:cTn>
                                        <p:tgtEl>
                                          <p:spTgt spid="36"/>
                                        </p:tgtEl>
                                        <p:attrNameLst>
                                          <p:attrName>style.visibility</p:attrName>
                                        </p:attrNameLst>
                                      </p:cBhvr>
                                      <p:to>
                                        <p:strVal val="visible"/>
                                      </p:to>
                                    </p:set>
                                    <p:anim calcmode="lin" valueType="num">
                                      <p:cBhvr additive="base">
                                        <p:cTn id="128" dur="500" fill="hold"/>
                                        <p:tgtEl>
                                          <p:spTgt spid="36"/>
                                        </p:tgtEl>
                                        <p:attrNameLst>
                                          <p:attrName>ppt_x</p:attrName>
                                        </p:attrNameLst>
                                      </p:cBhvr>
                                      <p:tavLst>
                                        <p:tav tm="0">
                                          <p:val>
                                            <p:strVal val="#ppt_x"/>
                                          </p:val>
                                        </p:tav>
                                        <p:tav tm="100000">
                                          <p:val>
                                            <p:strVal val="#ppt_x"/>
                                          </p:val>
                                        </p:tav>
                                      </p:tavLst>
                                    </p:anim>
                                    <p:anim calcmode="lin" valueType="num">
                                      <p:cBhvr additive="base">
                                        <p:cTn id="129" dur="500" fill="hold"/>
                                        <p:tgtEl>
                                          <p:spTgt spid="36"/>
                                        </p:tgtEl>
                                        <p:attrNameLst>
                                          <p:attrName>ppt_y</p:attrName>
                                        </p:attrNameLst>
                                      </p:cBhvr>
                                      <p:tavLst>
                                        <p:tav tm="0">
                                          <p:val>
                                            <p:strVal val="#ppt_y+0.1"/>
                                          </p:val>
                                        </p:tav>
                                        <p:tav tm="100000">
                                          <p:val>
                                            <p:strVal val="#ppt_y"/>
                                          </p:val>
                                        </p:tav>
                                      </p:tavLst>
                                    </p:anim>
                                    <p:animEffect transition="in" filter="fade">
                                      <p:cBhvr>
                                        <p:cTn id="130" dur="500"/>
                                        <p:tgtEl>
                                          <p:spTgt spid="36"/>
                                        </p:tgtEl>
                                      </p:cBhvr>
                                    </p:animEffect>
                                  </p:childTnLst>
                                </p:cTn>
                              </p:par>
                              <p:par>
                                <p:cTn id="136" presetID="2" presetClass="entr" presetSubtype="4" fill="hold" grpId="0" nodeType="withEffect">
                                  <p:stCondLst>
                                    <p:cond delay="200"/>
                                  </p:stCondLst>
                                  <p:childTnLst>
                                    <p:set>
                                      <p:cBhvr>
                                        <p:cTn id="132" dur="1" fill="hold">
                                          <p:stCondLst>
                                            <p:cond delay="0"/>
                                          </p:stCondLst>
                                        </p:cTn>
                                        <p:tgtEl>
                                          <p:spTgt spid="37"/>
                                        </p:tgtEl>
                                        <p:attrNameLst>
                                          <p:attrName>style.visibility</p:attrName>
                                        </p:attrNameLst>
                                      </p:cBhvr>
                                      <p:to>
                                        <p:strVal val="visible"/>
                                      </p:to>
                                    </p:set>
                                    <p:anim calcmode="lin" valueType="num">
                                      <p:cBhvr additive="base">
                                        <p:cTn id="133" dur="500" fill="hold"/>
                                        <p:tgtEl>
                                          <p:spTgt spid="37"/>
                                        </p:tgtEl>
                                        <p:attrNameLst>
                                          <p:attrName>ppt_x</p:attrName>
                                        </p:attrNameLst>
                                      </p:cBhvr>
                                      <p:tavLst>
                                        <p:tav tm="0">
                                          <p:val>
                                            <p:strVal val="#ppt_x"/>
                                          </p:val>
                                        </p:tav>
                                        <p:tav tm="100000">
                                          <p:val>
                                            <p:strVal val="#ppt_x"/>
                                          </p:val>
                                        </p:tav>
                                      </p:tavLst>
                                    </p:anim>
                                    <p:anim calcmode="lin" valueType="num">
                                      <p:cBhvr additive="base">
                                        <p:cTn id="134" dur="500" fill="hold"/>
                                        <p:tgtEl>
                                          <p:spTgt spid="37"/>
                                        </p:tgtEl>
                                        <p:attrNameLst>
                                          <p:attrName>ppt_y</p:attrName>
                                        </p:attrNameLst>
                                      </p:cBhvr>
                                      <p:tavLst>
                                        <p:tav tm="0">
                                          <p:val>
                                            <p:strVal val="#ppt_y+0.1"/>
                                          </p:val>
                                        </p:tav>
                                        <p:tav tm="100000">
                                          <p:val>
                                            <p:strVal val="#ppt_y"/>
                                          </p:val>
                                        </p:tav>
                                      </p:tavLst>
                                    </p:anim>
                                    <p:animEffect transition="in" filter="fade">
                                      <p:cBhvr>
                                        <p:cTn id="135" dur="500"/>
                                        <p:tgtEl>
                                          <p:spTgt spid="37"/>
                                        </p:tgtEl>
                                      </p:cBhvr>
                                    </p:animEffect>
                                  </p:childTnLst>
                                </p:cTn>
                              </p:par>
                              <p:par>
                                <p:cTn id="141" presetID="2" presetClass="entr" presetSubtype="4" fill="hold" grpId="0" nodeType="withEffect">
                                  <p:stCondLst>
                                    <p:cond delay="200"/>
                                  </p:stCondLst>
                                  <p:childTnLst>
                                    <p:set>
                                      <p:cBhvr>
                                        <p:cTn id="137" dur="1" fill="hold">
                                          <p:stCondLst>
                                            <p:cond delay="0"/>
                                          </p:stCondLst>
                                        </p:cTn>
                                        <p:tgtEl>
                                          <p:spTgt spid="38"/>
                                        </p:tgtEl>
                                        <p:attrNameLst>
                                          <p:attrName>style.visibility</p:attrName>
                                        </p:attrNameLst>
                                      </p:cBhvr>
                                      <p:to>
                                        <p:strVal val="visible"/>
                                      </p:to>
                                    </p:set>
                                    <p:anim calcmode="lin" valueType="num">
                                      <p:cBhvr additive="base">
                                        <p:cTn id="138" dur="500" fill="hold"/>
                                        <p:tgtEl>
                                          <p:spTgt spid="38"/>
                                        </p:tgtEl>
                                        <p:attrNameLst>
                                          <p:attrName>ppt_x</p:attrName>
                                        </p:attrNameLst>
                                      </p:cBhvr>
                                      <p:tavLst>
                                        <p:tav tm="0">
                                          <p:val>
                                            <p:strVal val="#ppt_x"/>
                                          </p:val>
                                        </p:tav>
                                        <p:tav tm="100000">
                                          <p:val>
                                            <p:strVal val="#ppt_x"/>
                                          </p:val>
                                        </p:tav>
                                      </p:tavLst>
                                    </p:anim>
                                    <p:anim calcmode="lin" valueType="num">
                                      <p:cBhvr additive="base">
                                        <p:cTn id="139" dur="500" fill="hold"/>
                                        <p:tgtEl>
                                          <p:spTgt spid="38"/>
                                        </p:tgtEl>
                                        <p:attrNameLst>
                                          <p:attrName>ppt_y</p:attrName>
                                        </p:attrNameLst>
                                      </p:cBhvr>
                                      <p:tavLst>
                                        <p:tav tm="0">
                                          <p:val>
                                            <p:strVal val="#ppt_y+0.1"/>
                                          </p:val>
                                        </p:tav>
                                        <p:tav tm="100000">
                                          <p:val>
                                            <p:strVal val="#ppt_y"/>
                                          </p:val>
                                        </p:tav>
                                      </p:tavLst>
                                    </p:anim>
                                    <p:animEffect transition="in" filter="fade">
                                      <p:cBhvr>
                                        <p:cTn id="140" dur="500"/>
                                        <p:tgtEl>
                                          <p:spTgt spid="38"/>
                                        </p:tgtEl>
                                      </p:cBhvr>
                                    </p:animEffect>
                                  </p:childTnLst>
                                </p:cTn>
                              </p:par>
                              <p:par>
                                <p:cTn id="146" presetID="2" presetClass="entr" presetSubtype="4" fill="hold" grpId="0" nodeType="withEffect">
                                  <p:stCondLst>
                                    <p:cond delay="200"/>
                                  </p:stCondLst>
                                  <p:childTnLst>
                                    <p:set>
                                      <p:cBhvr>
                                        <p:cTn id="142" dur="1" fill="hold">
                                          <p:stCondLst>
                                            <p:cond delay="0"/>
                                          </p:stCondLst>
                                        </p:cTn>
                                        <p:tgtEl>
                                          <p:spTgt spid="39"/>
                                        </p:tgtEl>
                                        <p:attrNameLst>
                                          <p:attrName>style.visibility</p:attrName>
                                        </p:attrNameLst>
                                      </p:cBhvr>
                                      <p:to>
                                        <p:strVal val="visible"/>
                                      </p:to>
                                    </p:set>
                                    <p:anim calcmode="lin" valueType="num">
                                      <p:cBhvr additive="base">
                                        <p:cTn id="143" dur="500" fill="hold"/>
                                        <p:tgtEl>
                                          <p:spTgt spid="39"/>
                                        </p:tgtEl>
                                        <p:attrNameLst>
                                          <p:attrName>ppt_x</p:attrName>
                                        </p:attrNameLst>
                                      </p:cBhvr>
                                      <p:tavLst>
                                        <p:tav tm="0">
                                          <p:val>
                                            <p:strVal val="#ppt_x"/>
                                          </p:val>
                                        </p:tav>
                                        <p:tav tm="100000">
                                          <p:val>
                                            <p:strVal val="#ppt_x"/>
                                          </p:val>
                                        </p:tav>
                                      </p:tavLst>
                                    </p:anim>
                                    <p:anim calcmode="lin" valueType="num">
                                      <p:cBhvr additive="base">
                                        <p:cTn id="144" dur="500" fill="hold"/>
                                        <p:tgtEl>
                                          <p:spTgt spid="39"/>
                                        </p:tgtEl>
                                        <p:attrNameLst>
                                          <p:attrName>ppt_y</p:attrName>
                                        </p:attrNameLst>
                                      </p:cBhvr>
                                      <p:tavLst>
                                        <p:tav tm="0">
                                          <p:val>
                                            <p:strVal val="#ppt_y+0.1"/>
                                          </p:val>
                                        </p:tav>
                                        <p:tav tm="100000">
                                          <p:val>
                                            <p:strVal val="#ppt_y"/>
                                          </p:val>
                                        </p:tav>
                                      </p:tavLst>
                                    </p:anim>
                                    <p:animEffect transition="in" filter="fade">
                                      <p:cBhvr>
                                        <p:cTn id="145" dur="500"/>
                                        <p:tgtEl>
                                          <p:spTgt spid="39"/>
                                        </p:tgtEl>
                                      </p:cBhvr>
                                    </p:animEffect>
                                  </p:childTnLst>
                                </p:cTn>
                              </p:par>
                              <p:par>
                                <p:cTn id="151" presetID="2" presetClass="entr" presetSubtype="4" fill="hold" grpId="0" nodeType="withEffect">
                                  <p:stCondLst>
                                    <p:cond delay="300"/>
                                  </p:stCondLst>
                                  <p:childTnLst>
                                    <p:set>
                                      <p:cBhvr>
                                        <p:cTn id="147" dur="1" fill="hold">
                                          <p:stCondLst>
                                            <p:cond delay="0"/>
                                          </p:stCondLst>
                                        </p:cTn>
                                        <p:tgtEl>
                                          <p:spTgt spid="40"/>
                                        </p:tgtEl>
                                        <p:attrNameLst>
                                          <p:attrName>style.visibility</p:attrName>
                                        </p:attrNameLst>
                                      </p:cBhvr>
                                      <p:to>
                                        <p:strVal val="visible"/>
                                      </p:to>
                                    </p:set>
                                    <p:anim calcmode="lin" valueType="num">
                                      <p:cBhvr additive="base">
                                        <p:cTn id="148" dur="500" fill="hold"/>
                                        <p:tgtEl>
                                          <p:spTgt spid="40"/>
                                        </p:tgtEl>
                                        <p:attrNameLst>
                                          <p:attrName>ppt_x</p:attrName>
                                        </p:attrNameLst>
                                      </p:cBhvr>
                                      <p:tavLst>
                                        <p:tav tm="0">
                                          <p:val>
                                            <p:strVal val="#ppt_x"/>
                                          </p:val>
                                        </p:tav>
                                        <p:tav tm="100000">
                                          <p:val>
                                            <p:strVal val="#ppt_x"/>
                                          </p:val>
                                        </p:tav>
                                      </p:tavLst>
                                    </p:anim>
                                    <p:anim calcmode="lin" valueType="num">
                                      <p:cBhvr additive="base">
                                        <p:cTn id="149" dur="500" fill="hold"/>
                                        <p:tgtEl>
                                          <p:spTgt spid="40"/>
                                        </p:tgtEl>
                                        <p:attrNameLst>
                                          <p:attrName>ppt_y</p:attrName>
                                        </p:attrNameLst>
                                      </p:cBhvr>
                                      <p:tavLst>
                                        <p:tav tm="0">
                                          <p:val>
                                            <p:strVal val="#ppt_y+0.1"/>
                                          </p:val>
                                        </p:tav>
                                        <p:tav tm="100000">
                                          <p:val>
                                            <p:strVal val="#ppt_y"/>
                                          </p:val>
                                        </p:tav>
                                      </p:tavLst>
                                    </p:anim>
                                    <p:animEffect transition="in" filter="fade">
                                      <p:cBhvr>
                                        <p:cTn id="150" dur="500"/>
                                        <p:tgtEl>
                                          <p:spTgt spid="40"/>
                                        </p:tgtEl>
                                      </p:cBhvr>
                                    </p:animEffect>
                                  </p:childTnLst>
                                </p:cTn>
                              </p:par>
                              <p:par>
                                <p:cTn id="156" presetID="2" presetClass="entr" presetSubtype="4" fill="hold" grpId="0" nodeType="withEffect">
                                  <p:stCondLst>
                                    <p:cond delay="300"/>
                                  </p:stCondLst>
                                  <p:childTnLst>
                                    <p:set>
                                      <p:cBhvr>
                                        <p:cTn id="152" dur="1" fill="hold">
                                          <p:stCondLst>
                                            <p:cond delay="0"/>
                                          </p:stCondLst>
                                        </p:cTn>
                                        <p:tgtEl>
                                          <p:spTgt spid="41"/>
                                        </p:tgtEl>
                                        <p:attrNameLst>
                                          <p:attrName>style.visibility</p:attrName>
                                        </p:attrNameLst>
                                      </p:cBhvr>
                                      <p:to>
                                        <p:strVal val="visible"/>
                                      </p:to>
                                    </p:set>
                                    <p:anim calcmode="lin" valueType="num">
                                      <p:cBhvr additive="base">
                                        <p:cTn id="153" dur="500" fill="hold"/>
                                        <p:tgtEl>
                                          <p:spTgt spid="41"/>
                                        </p:tgtEl>
                                        <p:attrNameLst>
                                          <p:attrName>ppt_x</p:attrName>
                                        </p:attrNameLst>
                                      </p:cBhvr>
                                      <p:tavLst>
                                        <p:tav tm="0">
                                          <p:val>
                                            <p:strVal val="#ppt_x"/>
                                          </p:val>
                                        </p:tav>
                                        <p:tav tm="100000">
                                          <p:val>
                                            <p:strVal val="#ppt_x"/>
                                          </p:val>
                                        </p:tav>
                                      </p:tavLst>
                                    </p:anim>
                                    <p:anim calcmode="lin" valueType="num">
                                      <p:cBhvr additive="base">
                                        <p:cTn id="154" dur="500" fill="hold"/>
                                        <p:tgtEl>
                                          <p:spTgt spid="41"/>
                                        </p:tgtEl>
                                        <p:attrNameLst>
                                          <p:attrName>ppt_y</p:attrName>
                                        </p:attrNameLst>
                                      </p:cBhvr>
                                      <p:tavLst>
                                        <p:tav tm="0">
                                          <p:val>
                                            <p:strVal val="#ppt_y+0.1"/>
                                          </p:val>
                                        </p:tav>
                                        <p:tav tm="100000">
                                          <p:val>
                                            <p:strVal val="#ppt_y"/>
                                          </p:val>
                                        </p:tav>
                                      </p:tavLst>
                                    </p:anim>
                                    <p:animEffect transition="in" filter="fade">
                                      <p:cBhvr>
                                        <p:cTn id="155" dur="500"/>
                                        <p:tgtEl>
                                          <p:spTgt spid="41"/>
                                        </p:tgtEl>
                                      </p:cBhvr>
                                    </p:animEffect>
                                  </p:childTnLst>
                                </p:cTn>
                              </p:par>
                              <p:par>
                                <p:cTn id="161" presetID="2" presetClass="entr" presetSubtype="4" fill="hold" grpId="0" nodeType="withEffect">
                                  <p:stCondLst>
                                    <p:cond delay="300"/>
                                  </p:stCondLst>
                                  <p:childTnLst>
                                    <p:set>
                                      <p:cBhvr>
                                        <p:cTn id="157" dur="1" fill="hold">
                                          <p:stCondLst>
                                            <p:cond delay="0"/>
                                          </p:stCondLst>
                                        </p:cTn>
                                        <p:tgtEl>
                                          <p:spTgt spid="42"/>
                                        </p:tgtEl>
                                        <p:attrNameLst>
                                          <p:attrName>style.visibility</p:attrName>
                                        </p:attrNameLst>
                                      </p:cBhvr>
                                      <p:to>
                                        <p:strVal val="visible"/>
                                      </p:to>
                                    </p:set>
                                    <p:anim calcmode="lin" valueType="num">
                                      <p:cBhvr additive="base">
                                        <p:cTn id="158" dur="500" fill="hold"/>
                                        <p:tgtEl>
                                          <p:spTgt spid="42"/>
                                        </p:tgtEl>
                                        <p:attrNameLst>
                                          <p:attrName>ppt_x</p:attrName>
                                        </p:attrNameLst>
                                      </p:cBhvr>
                                      <p:tavLst>
                                        <p:tav tm="0">
                                          <p:val>
                                            <p:strVal val="#ppt_x"/>
                                          </p:val>
                                        </p:tav>
                                        <p:tav tm="100000">
                                          <p:val>
                                            <p:strVal val="#ppt_x"/>
                                          </p:val>
                                        </p:tav>
                                      </p:tavLst>
                                    </p:anim>
                                    <p:anim calcmode="lin" valueType="num">
                                      <p:cBhvr additive="base">
                                        <p:cTn id="159" dur="500" fill="hold"/>
                                        <p:tgtEl>
                                          <p:spTgt spid="42"/>
                                        </p:tgtEl>
                                        <p:attrNameLst>
                                          <p:attrName>ppt_y</p:attrName>
                                        </p:attrNameLst>
                                      </p:cBhvr>
                                      <p:tavLst>
                                        <p:tav tm="0">
                                          <p:val>
                                            <p:strVal val="#ppt_y+0.1"/>
                                          </p:val>
                                        </p:tav>
                                        <p:tav tm="100000">
                                          <p:val>
                                            <p:strVal val="#ppt_y"/>
                                          </p:val>
                                        </p:tav>
                                      </p:tavLst>
                                    </p:anim>
                                    <p:animEffect transition="in" filter="fade">
                                      <p:cBhvr>
                                        <p:cTn id="160" dur="500"/>
                                        <p:tgtEl>
                                          <p:spTgt spid="42"/>
                                        </p:tgtEl>
                                      </p:cBhvr>
                                    </p:animEffect>
                                  </p:childTnLst>
                                </p:cTn>
                              </p:par>
                              <p:par>
                                <p:cTn id="166" presetID="2" presetClass="entr" presetSubtype="4" fill="hold" grpId="0" nodeType="withEffect">
                                  <p:stCondLst>
                                    <p:cond delay="400"/>
                                  </p:stCondLst>
                                  <p:childTnLst>
                                    <p:set>
                                      <p:cBhvr>
                                        <p:cTn id="162" dur="1" fill="hold">
                                          <p:stCondLst>
                                            <p:cond delay="0"/>
                                          </p:stCondLst>
                                        </p:cTn>
                                        <p:tgtEl>
                                          <p:spTgt spid="43"/>
                                        </p:tgtEl>
                                        <p:attrNameLst>
                                          <p:attrName>style.visibility</p:attrName>
                                        </p:attrNameLst>
                                      </p:cBhvr>
                                      <p:to>
                                        <p:strVal val="visible"/>
                                      </p:to>
                                    </p:set>
                                    <p:anim calcmode="lin" valueType="num">
                                      <p:cBhvr additive="base">
                                        <p:cTn id="163" dur="500" fill="hold"/>
                                        <p:tgtEl>
                                          <p:spTgt spid="43"/>
                                        </p:tgtEl>
                                        <p:attrNameLst>
                                          <p:attrName>ppt_x</p:attrName>
                                        </p:attrNameLst>
                                      </p:cBhvr>
                                      <p:tavLst>
                                        <p:tav tm="0">
                                          <p:val>
                                            <p:strVal val="#ppt_x"/>
                                          </p:val>
                                        </p:tav>
                                        <p:tav tm="100000">
                                          <p:val>
                                            <p:strVal val="#ppt_x"/>
                                          </p:val>
                                        </p:tav>
                                      </p:tavLst>
                                    </p:anim>
                                    <p:anim calcmode="lin" valueType="num">
                                      <p:cBhvr additive="base">
                                        <p:cTn id="164" dur="500" fill="hold"/>
                                        <p:tgtEl>
                                          <p:spTgt spid="43"/>
                                        </p:tgtEl>
                                        <p:attrNameLst>
                                          <p:attrName>ppt_y</p:attrName>
                                        </p:attrNameLst>
                                      </p:cBhvr>
                                      <p:tavLst>
                                        <p:tav tm="0">
                                          <p:val>
                                            <p:strVal val="#ppt_y+0.1"/>
                                          </p:val>
                                        </p:tav>
                                        <p:tav tm="100000">
                                          <p:val>
                                            <p:strVal val="#ppt_y"/>
                                          </p:val>
                                        </p:tav>
                                      </p:tavLst>
                                    </p:anim>
                                    <p:animEffect transition="in" filter="fade">
                                      <p:cBhvr>
                                        <p:cTn id="165" dur="500"/>
                                        <p:tgtEl>
                                          <p:spTgt spid="43"/>
                                        </p:tgtEl>
                                      </p:cBhvr>
                                    </p:animEffect>
                                  </p:childTnLst>
                                </p:cTn>
                              </p:par>
                              <p:par>
                                <p:cTn id="171" presetID="2" presetClass="entr" presetSubtype="4" fill="hold" grpId="0" nodeType="withEffect">
                                  <p:stCondLst>
                                    <p:cond delay="400"/>
                                  </p:stCondLst>
                                  <p:childTnLst>
                                    <p:set>
                                      <p:cBhvr>
                                        <p:cTn id="167" dur="1" fill="hold">
                                          <p:stCondLst>
                                            <p:cond delay="0"/>
                                          </p:stCondLst>
                                        </p:cTn>
                                        <p:tgtEl>
                                          <p:spTgt spid="44"/>
                                        </p:tgtEl>
                                        <p:attrNameLst>
                                          <p:attrName>style.visibility</p:attrName>
                                        </p:attrNameLst>
                                      </p:cBhvr>
                                      <p:to>
                                        <p:strVal val="visible"/>
                                      </p:to>
                                    </p:set>
                                    <p:anim calcmode="lin" valueType="num">
                                      <p:cBhvr additive="base">
                                        <p:cTn id="168" dur="500" fill="hold"/>
                                        <p:tgtEl>
                                          <p:spTgt spid="44"/>
                                        </p:tgtEl>
                                        <p:attrNameLst>
                                          <p:attrName>ppt_x</p:attrName>
                                        </p:attrNameLst>
                                      </p:cBhvr>
                                      <p:tavLst>
                                        <p:tav tm="0">
                                          <p:val>
                                            <p:strVal val="#ppt_x"/>
                                          </p:val>
                                        </p:tav>
                                        <p:tav tm="100000">
                                          <p:val>
                                            <p:strVal val="#ppt_x"/>
                                          </p:val>
                                        </p:tav>
                                      </p:tavLst>
                                    </p:anim>
                                    <p:anim calcmode="lin" valueType="num">
                                      <p:cBhvr additive="base">
                                        <p:cTn id="169" dur="500" fill="hold"/>
                                        <p:tgtEl>
                                          <p:spTgt spid="44"/>
                                        </p:tgtEl>
                                        <p:attrNameLst>
                                          <p:attrName>ppt_y</p:attrName>
                                        </p:attrNameLst>
                                      </p:cBhvr>
                                      <p:tavLst>
                                        <p:tav tm="0">
                                          <p:val>
                                            <p:strVal val="#ppt_y+0.1"/>
                                          </p:val>
                                        </p:tav>
                                        <p:tav tm="100000">
                                          <p:val>
                                            <p:strVal val="#ppt_y"/>
                                          </p:val>
                                        </p:tav>
                                      </p:tavLst>
                                    </p:anim>
                                    <p:animEffect transition="in" filter="fade">
                                      <p:cBhvr>
                                        <p:cTn id="170" dur="500"/>
                                        <p:tgtEl>
                                          <p:spTgt spid="44"/>
                                        </p:tgtEl>
                                      </p:cBhvr>
                                    </p:animEffect>
                                  </p:childTnLst>
                                </p:cTn>
                              </p:par>
                              <p:par>
                                <p:cTn id="176" presetID="2" presetClass="entr" presetSubtype="4" fill="hold" grpId="0" nodeType="withEffect">
                                  <p:stCondLst>
                                    <p:cond delay="400"/>
                                  </p:stCondLst>
                                  <p:childTnLst>
                                    <p:set>
                                      <p:cBhvr>
                                        <p:cTn id="172" dur="1" fill="hold">
                                          <p:stCondLst>
                                            <p:cond delay="0"/>
                                          </p:stCondLst>
                                        </p:cTn>
                                        <p:tgtEl>
                                          <p:spTgt spid="45"/>
                                        </p:tgtEl>
                                        <p:attrNameLst>
                                          <p:attrName>style.visibility</p:attrName>
                                        </p:attrNameLst>
                                      </p:cBhvr>
                                      <p:to>
                                        <p:strVal val="visible"/>
                                      </p:to>
                                    </p:set>
                                    <p:anim calcmode="lin" valueType="num">
                                      <p:cBhvr additive="base">
                                        <p:cTn id="173" dur="500" fill="hold"/>
                                        <p:tgtEl>
                                          <p:spTgt spid="45"/>
                                        </p:tgtEl>
                                        <p:attrNameLst>
                                          <p:attrName>ppt_x</p:attrName>
                                        </p:attrNameLst>
                                      </p:cBhvr>
                                      <p:tavLst>
                                        <p:tav tm="0">
                                          <p:val>
                                            <p:strVal val="#ppt_x"/>
                                          </p:val>
                                        </p:tav>
                                        <p:tav tm="100000">
                                          <p:val>
                                            <p:strVal val="#ppt_x"/>
                                          </p:val>
                                        </p:tav>
                                      </p:tavLst>
                                    </p:anim>
                                    <p:anim calcmode="lin" valueType="num">
                                      <p:cBhvr additive="base">
                                        <p:cTn id="174" dur="500" fill="hold"/>
                                        <p:tgtEl>
                                          <p:spTgt spid="45"/>
                                        </p:tgtEl>
                                        <p:attrNameLst>
                                          <p:attrName>ppt_y</p:attrName>
                                        </p:attrNameLst>
                                      </p:cBhvr>
                                      <p:tavLst>
                                        <p:tav tm="0">
                                          <p:val>
                                            <p:strVal val="#ppt_y+0.1"/>
                                          </p:val>
                                        </p:tav>
                                        <p:tav tm="100000">
                                          <p:val>
                                            <p:strVal val="#ppt_y"/>
                                          </p:val>
                                        </p:tav>
                                      </p:tavLst>
                                    </p:anim>
                                    <p:animEffect transition="in" filter="fade">
                                      <p:cBhvr>
                                        <p:cTn id="175" dur="500"/>
                                        <p:tgtEl>
                                          <p:spTgt spid="45"/>
                                        </p:tgtEl>
                                      </p:cBhvr>
                                    </p:animEffect>
                                  </p:childTnLst>
                                </p:cTn>
                              </p:par>
                              <p:par>
                                <p:cTn id="181" presetID="2" presetClass="entr" presetSubtype="4" fill="hold" grpId="0" nodeType="withEffect">
                                  <p:stCondLst>
                                    <p:cond delay="500"/>
                                  </p:stCondLst>
                                  <p:childTnLst>
                                    <p:set>
                                      <p:cBhvr>
                                        <p:cTn id="177" dur="1" fill="hold">
                                          <p:stCondLst>
                                            <p:cond delay="0"/>
                                          </p:stCondLst>
                                        </p:cTn>
                                        <p:tgtEl>
                                          <p:spTgt spid="46"/>
                                        </p:tgtEl>
                                        <p:attrNameLst>
                                          <p:attrName>style.visibility</p:attrName>
                                        </p:attrNameLst>
                                      </p:cBhvr>
                                      <p:to>
                                        <p:strVal val="visible"/>
                                      </p:to>
                                    </p:set>
                                    <p:anim calcmode="lin" valueType="num">
                                      <p:cBhvr additive="base">
                                        <p:cTn id="178" dur="500" fill="hold"/>
                                        <p:tgtEl>
                                          <p:spTgt spid="46"/>
                                        </p:tgtEl>
                                        <p:attrNameLst>
                                          <p:attrName>ppt_x</p:attrName>
                                        </p:attrNameLst>
                                      </p:cBhvr>
                                      <p:tavLst>
                                        <p:tav tm="0">
                                          <p:val>
                                            <p:strVal val="#ppt_x"/>
                                          </p:val>
                                        </p:tav>
                                        <p:tav tm="100000">
                                          <p:val>
                                            <p:strVal val="#ppt_x"/>
                                          </p:val>
                                        </p:tav>
                                      </p:tavLst>
                                    </p:anim>
                                    <p:anim calcmode="lin" valueType="num">
                                      <p:cBhvr additive="base">
                                        <p:cTn id="179" dur="500" fill="hold"/>
                                        <p:tgtEl>
                                          <p:spTgt spid="46"/>
                                        </p:tgtEl>
                                        <p:attrNameLst>
                                          <p:attrName>ppt_y</p:attrName>
                                        </p:attrNameLst>
                                      </p:cBhvr>
                                      <p:tavLst>
                                        <p:tav tm="0">
                                          <p:val>
                                            <p:strVal val="#ppt_y+0.1"/>
                                          </p:val>
                                        </p:tav>
                                        <p:tav tm="100000">
                                          <p:val>
                                            <p:strVal val="#ppt_y"/>
                                          </p:val>
                                        </p:tav>
                                      </p:tavLst>
                                    </p:anim>
                                    <p:animEffect transition="in" filter="fade">
                                      <p:cBhvr>
                                        <p:cTn id="180" dur="500"/>
                                        <p:tgtEl>
                                          <p:spTgt spid="46"/>
                                        </p:tgtEl>
                                      </p:cBhvr>
                                    </p:animEffect>
                                  </p:childTnLst>
                                </p:cTn>
                              </p:par>
                              <p:par>
                                <p:cTn id="186" presetID="2" presetClass="entr" presetSubtype="4" fill="hold" grpId="0" nodeType="withEffect">
                                  <p:stCondLst>
                                    <p:cond delay="500"/>
                                  </p:stCondLst>
                                  <p:childTnLst>
                                    <p:set>
                                      <p:cBhvr>
                                        <p:cTn id="182" dur="1" fill="hold">
                                          <p:stCondLst>
                                            <p:cond delay="0"/>
                                          </p:stCondLst>
                                        </p:cTn>
                                        <p:tgtEl>
                                          <p:spTgt spid="47"/>
                                        </p:tgtEl>
                                        <p:attrNameLst>
                                          <p:attrName>style.visibility</p:attrName>
                                        </p:attrNameLst>
                                      </p:cBhvr>
                                      <p:to>
                                        <p:strVal val="visible"/>
                                      </p:to>
                                    </p:set>
                                    <p:anim calcmode="lin" valueType="num">
                                      <p:cBhvr additive="base">
                                        <p:cTn id="183" dur="500" fill="hold"/>
                                        <p:tgtEl>
                                          <p:spTgt spid="47"/>
                                        </p:tgtEl>
                                        <p:attrNameLst>
                                          <p:attrName>ppt_x</p:attrName>
                                        </p:attrNameLst>
                                      </p:cBhvr>
                                      <p:tavLst>
                                        <p:tav tm="0">
                                          <p:val>
                                            <p:strVal val="#ppt_x"/>
                                          </p:val>
                                        </p:tav>
                                        <p:tav tm="100000">
                                          <p:val>
                                            <p:strVal val="#ppt_x"/>
                                          </p:val>
                                        </p:tav>
                                      </p:tavLst>
                                    </p:anim>
                                    <p:anim calcmode="lin" valueType="num">
                                      <p:cBhvr additive="base">
                                        <p:cTn id="184" dur="500" fill="hold"/>
                                        <p:tgtEl>
                                          <p:spTgt spid="47"/>
                                        </p:tgtEl>
                                        <p:attrNameLst>
                                          <p:attrName>ppt_y</p:attrName>
                                        </p:attrNameLst>
                                      </p:cBhvr>
                                      <p:tavLst>
                                        <p:tav tm="0">
                                          <p:val>
                                            <p:strVal val="#ppt_y+0.1"/>
                                          </p:val>
                                        </p:tav>
                                        <p:tav tm="100000">
                                          <p:val>
                                            <p:strVal val="#ppt_y"/>
                                          </p:val>
                                        </p:tav>
                                      </p:tavLst>
                                    </p:anim>
                                    <p:animEffect transition="in" filter="fade">
                                      <p:cBhvr>
                                        <p:cTn id="185" dur="500"/>
                                        <p:tgtEl>
                                          <p:spTgt spid="47"/>
                                        </p:tgtEl>
                                      </p:cBhvr>
                                    </p:animEffect>
                                  </p:childTnLst>
                                </p:cTn>
                              </p:par>
                              <p:par>
                                <p:cTn id="191" presetID="2" presetClass="entr" presetSubtype="4" fill="hold" grpId="0" nodeType="withEffect">
                                  <p:stCondLst>
                                    <p:cond delay="600"/>
                                  </p:stCondLst>
                                  <p:childTnLst>
                                    <p:set>
                                      <p:cBhvr>
                                        <p:cTn id="187" dur="1" fill="hold">
                                          <p:stCondLst>
                                            <p:cond delay="0"/>
                                          </p:stCondLst>
                                        </p:cTn>
                                        <p:tgtEl>
                                          <p:spTgt spid="48"/>
                                        </p:tgtEl>
                                        <p:attrNameLst>
                                          <p:attrName>style.visibility</p:attrName>
                                        </p:attrNameLst>
                                      </p:cBhvr>
                                      <p:to>
                                        <p:strVal val="visible"/>
                                      </p:to>
                                    </p:set>
                                    <p:anim calcmode="lin" valueType="num">
                                      <p:cBhvr additive="base">
                                        <p:cTn id="188" dur="500" fill="hold"/>
                                        <p:tgtEl>
                                          <p:spTgt spid="48"/>
                                        </p:tgtEl>
                                        <p:attrNameLst>
                                          <p:attrName>ppt_x</p:attrName>
                                        </p:attrNameLst>
                                      </p:cBhvr>
                                      <p:tavLst>
                                        <p:tav tm="0">
                                          <p:val>
                                            <p:strVal val="#ppt_x"/>
                                          </p:val>
                                        </p:tav>
                                        <p:tav tm="100000">
                                          <p:val>
                                            <p:strVal val="#ppt_x"/>
                                          </p:val>
                                        </p:tav>
                                      </p:tavLst>
                                    </p:anim>
                                    <p:anim calcmode="lin" valueType="num">
                                      <p:cBhvr additive="base">
                                        <p:cTn id="189" dur="500" fill="hold"/>
                                        <p:tgtEl>
                                          <p:spTgt spid="48"/>
                                        </p:tgtEl>
                                        <p:attrNameLst>
                                          <p:attrName>ppt_y</p:attrName>
                                        </p:attrNameLst>
                                      </p:cBhvr>
                                      <p:tavLst>
                                        <p:tav tm="0">
                                          <p:val>
                                            <p:strVal val="#ppt_y+0.1"/>
                                          </p:val>
                                        </p:tav>
                                        <p:tav tm="100000">
                                          <p:val>
                                            <p:strVal val="#ppt_y"/>
                                          </p:val>
                                        </p:tav>
                                      </p:tavLst>
                                    </p:anim>
                                    <p:animEffect transition="in" filter="fade">
                                      <p:cBhvr>
                                        <p:cTn id="190" dur="500"/>
                                        <p:tgtEl>
                                          <p:spTgt spid="48"/>
                                        </p:tgtEl>
                                      </p:cBhvr>
                                    </p:animEffect>
                                  </p:childTnLst>
                                </p:cTn>
                              </p:par>
                              <p:par>
                                <p:cTn id="196" presetID="2" presetClass="entr" presetSubtype="4" fill="hold" grpId="0" nodeType="withEffect">
                                  <p:stCondLst>
                                    <p:cond delay="600"/>
                                  </p:stCondLst>
                                  <p:childTnLst>
                                    <p:set>
                                      <p:cBhvr>
                                        <p:cTn id="192" dur="1" fill="hold">
                                          <p:stCondLst>
                                            <p:cond delay="0"/>
                                          </p:stCondLst>
                                        </p:cTn>
                                        <p:tgtEl>
                                          <p:spTgt spid="49"/>
                                        </p:tgtEl>
                                        <p:attrNameLst>
                                          <p:attrName>style.visibility</p:attrName>
                                        </p:attrNameLst>
                                      </p:cBhvr>
                                      <p:to>
                                        <p:strVal val="visible"/>
                                      </p:to>
                                    </p:set>
                                    <p:anim calcmode="lin" valueType="num">
                                      <p:cBhvr additive="base">
                                        <p:cTn id="193" dur="500" fill="hold"/>
                                        <p:tgtEl>
                                          <p:spTgt spid="49"/>
                                        </p:tgtEl>
                                        <p:attrNameLst>
                                          <p:attrName>ppt_x</p:attrName>
                                        </p:attrNameLst>
                                      </p:cBhvr>
                                      <p:tavLst>
                                        <p:tav tm="0">
                                          <p:val>
                                            <p:strVal val="#ppt_x"/>
                                          </p:val>
                                        </p:tav>
                                        <p:tav tm="100000">
                                          <p:val>
                                            <p:strVal val="#ppt_x"/>
                                          </p:val>
                                        </p:tav>
                                      </p:tavLst>
                                    </p:anim>
                                    <p:anim calcmode="lin" valueType="num">
                                      <p:cBhvr additive="base">
                                        <p:cTn id="194" dur="500" fill="hold"/>
                                        <p:tgtEl>
                                          <p:spTgt spid="49"/>
                                        </p:tgtEl>
                                        <p:attrNameLst>
                                          <p:attrName>ppt_y</p:attrName>
                                        </p:attrNameLst>
                                      </p:cBhvr>
                                      <p:tavLst>
                                        <p:tav tm="0">
                                          <p:val>
                                            <p:strVal val="#ppt_y+0.1"/>
                                          </p:val>
                                        </p:tav>
                                        <p:tav tm="100000">
                                          <p:val>
                                            <p:strVal val="#ppt_y"/>
                                          </p:val>
                                        </p:tav>
                                      </p:tavLst>
                                    </p:anim>
                                    <p:animEffect transition="in" filter="fade">
                                      <p:cBhvr>
                                        <p:cTn id="195" dur="500"/>
                                        <p:tgtEl>
                                          <p:spTgt spid="49"/>
                                        </p:tgtEl>
                                      </p:cBhvr>
                                    </p:animEffect>
                                  </p:childTnLst>
                                </p:cTn>
                              </p:par>
                            </p:childTnLst>
                          </p:cTn>
                        </p:par>
                      </p:childTnLst>
                    </p:cTn>
                  </p:par>
                  <p:par>
                    <p:cTn id="197" fill="hold">
                      <p:stCondLst>
                        <p:cond delay="indefinite"/>
                      </p:stCondLst>
                      <p:childTnLst>
                        <p:par>
                          <p:cTn id="198" fill="hold">
                            <p:stCondLst>
                              <p:cond delay="0"/>
                            </p:stCondLst>
                            <p:childTnLst>
                              <p:par>
                                <p:cTn id="203" presetID="2" presetClass="entr" presetSubtype="4" fill="hold" grpId="0" nodeType="clickEffect">
                                  <p:stCondLst>
                                    <p:cond delay="0"/>
                                  </p:stCondLst>
                                  <p:childTnLst>
                                    <p:set>
                                      <p:cBhvr>
                                        <p:cTn id="199" dur="1" fill="hold">
                                          <p:stCondLst>
                                            <p:cond delay="0"/>
                                          </p:stCondLst>
                                        </p:cTn>
                                        <p:tgtEl>
                                          <p:spTgt spid="50"/>
                                        </p:tgtEl>
                                        <p:attrNameLst>
                                          <p:attrName>style.visibility</p:attrName>
                                        </p:attrNameLst>
                                      </p:cBhvr>
                                      <p:to>
                                        <p:strVal val="visible"/>
                                      </p:to>
                                    </p:set>
                                    <p:anim calcmode="lin" valueType="num">
                                      <p:cBhvr additive="base">
                                        <p:cTn id="200" dur="500" fill="hold"/>
                                        <p:tgtEl>
                                          <p:spTgt spid="50"/>
                                        </p:tgtEl>
                                        <p:attrNameLst>
                                          <p:attrName>ppt_x</p:attrName>
                                        </p:attrNameLst>
                                      </p:cBhvr>
                                      <p:tavLst>
                                        <p:tav tm="0">
                                          <p:val>
                                            <p:strVal val="#ppt_x"/>
                                          </p:val>
                                        </p:tav>
                                        <p:tav tm="100000">
                                          <p:val>
                                            <p:strVal val="#ppt_x"/>
                                          </p:val>
                                        </p:tav>
                                      </p:tavLst>
                                    </p:anim>
                                    <p:anim calcmode="lin" valueType="num">
                                      <p:cBhvr additive="base">
                                        <p:cTn id="201" dur="500" fill="hold"/>
                                        <p:tgtEl>
                                          <p:spTgt spid="50"/>
                                        </p:tgtEl>
                                        <p:attrNameLst>
                                          <p:attrName>ppt_y</p:attrName>
                                        </p:attrNameLst>
                                      </p:cBhvr>
                                      <p:tavLst>
                                        <p:tav tm="0">
                                          <p:val>
                                            <p:strVal val="#ppt_y+0.1"/>
                                          </p:val>
                                        </p:tav>
                                        <p:tav tm="100000">
                                          <p:val>
                                            <p:strVal val="#ppt_y"/>
                                          </p:val>
                                        </p:tav>
                                      </p:tavLst>
                                    </p:anim>
                                    <p:animEffect transition="in" filter="fade">
                                      <p:cBhvr>
                                        <p:cTn id="202" dur="500"/>
                                        <p:tgtEl>
                                          <p:spTgt spid="50"/>
                                        </p:tgtEl>
                                      </p:cBhvr>
                                    </p:animEffect>
                                  </p:childTnLst>
                                </p:cTn>
                              </p:par>
                              <p:par>
                                <p:cTn id="208" presetID="2" presetClass="entr" presetSubtype="4" fill="hold" grpId="0" nodeType="withEffect">
                                  <p:stCondLst>
                                    <p:cond delay="0"/>
                                  </p:stCondLst>
                                  <p:childTnLst>
                                    <p:set>
                                      <p:cBhvr>
                                        <p:cTn id="204" dur="1" fill="hold">
                                          <p:stCondLst>
                                            <p:cond delay="0"/>
                                          </p:stCondLst>
                                        </p:cTn>
                                        <p:tgtEl>
                                          <p:spTgt spid="51"/>
                                        </p:tgtEl>
                                        <p:attrNameLst>
                                          <p:attrName>style.visibility</p:attrName>
                                        </p:attrNameLst>
                                      </p:cBhvr>
                                      <p:to>
                                        <p:strVal val="visible"/>
                                      </p:to>
                                    </p:set>
                                    <p:anim calcmode="lin" valueType="num">
                                      <p:cBhvr additive="base">
                                        <p:cTn id="205" dur="500" fill="hold"/>
                                        <p:tgtEl>
                                          <p:spTgt spid="51"/>
                                        </p:tgtEl>
                                        <p:attrNameLst>
                                          <p:attrName>ppt_x</p:attrName>
                                        </p:attrNameLst>
                                      </p:cBhvr>
                                      <p:tavLst>
                                        <p:tav tm="0">
                                          <p:val>
                                            <p:strVal val="#ppt_x"/>
                                          </p:val>
                                        </p:tav>
                                        <p:tav tm="100000">
                                          <p:val>
                                            <p:strVal val="#ppt_x"/>
                                          </p:val>
                                        </p:tav>
                                      </p:tavLst>
                                    </p:anim>
                                    <p:anim calcmode="lin" valueType="num">
                                      <p:cBhvr additive="base">
                                        <p:cTn id="206" dur="500" fill="hold"/>
                                        <p:tgtEl>
                                          <p:spTgt spid="51"/>
                                        </p:tgtEl>
                                        <p:attrNameLst>
                                          <p:attrName>ppt_y</p:attrName>
                                        </p:attrNameLst>
                                      </p:cBhvr>
                                      <p:tavLst>
                                        <p:tav tm="0">
                                          <p:val>
                                            <p:strVal val="#ppt_y+0.1"/>
                                          </p:val>
                                        </p:tav>
                                        <p:tav tm="100000">
                                          <p:val>
                                            <p:strVal val="#ppt_y"/>
                                          </p:val>
                                        </p:tav>
                                      </p:tavLst>
                                    </p:anim>
                                    <p:animEffect transition="in" filter="fade">
                                      <p:cBhvr>
                                        <p:cTn id="207" dur="500"/>
                                        <p:tgtEl>
                                          <p:spTgt spid="51"/>
                                        </p:tgtEl>
                                      </p:cBhvr>
                                    </p:animEffect>
                                  </p:childTnLst>
                                </p:cTn>
                              </p:par>
                              <p:par>
                                <p:cTn id="213" presetID="2" presetClass="entr" presetSubtype="4" fill="hold" grpId="0" nodeType="withEffect">
                                  <p:stCondLst>
                                    <p:cond delay="0"/>
                                  </p:stCondLst>
                                  <p:childTnLst>
                                    <p:set>
                                      <p:cBhvr>
                                        <p:cTn id="209" dur="1" fill="hold">
                                          <p:stCondLst>
                                            <p:cond delay="0"/>
                                          </p:stCondLst>
                                        </p:cTn>
                                        <p:tgtEl>
                                          <p:spTgt spid="52"/>
                                        </p:tgtEl>
                                        <p:attrNameLst>
                                          <p:attrName>style.visibility</p:attrName>
                                        </p:attrNameLst>
                                      </p:cBhvr>
                                      <p:to>
                                        <p:strVal val="visible"/>
                                      </p:to>
                                    </p:set>
                                    <p:anim calcmode="lin" valueType="num">
                                      <p:cBhvr additive="base">
                                        <p:cTn id="210" dur="500" fill="hold"/>
                                        <p:tgtEl>
                                          <p:spTgt spid="52"/>
                                        </p:tgtEl>
                                        <p:attrNameLst>
                                          <p:attrName>ppt_x</p:attrName>
                                        </p:attrNameLst>
                                      </p:cBhvr>
                                      <p:tavLst>
                                        <p:tav tm="0">
                                          <p:val>
                                            <p:strVal val="#ppt_x"/>
                                          </p:val>
                                        </p:tav>
                                        <p:tav tm="100000">
                                          <p:val>
                                            <p:strVal val="#ppt_x"/>
                                          </p:val>
                                        </p:tav>
                                      </p:tavLst>
                                    </p:anim>
                                    <p:anim calcmode="lin" valueType="num">
                                      <p:cBhvr additive="base">
                                        <p:cTn id="211" dur="500" fill="hold"/>
                                        <p:tgtEl>
                                          <p:spTgt spid="52"/>
                                        </p:tgtEl>
                                        <p:attrNameLst>
                                          <p:attrName>ppt_y</p:attrName>
                                        </p:attrNameLst>
                                      </p:cBhvr>
                                      <p:tavLst>
                                        <p:tav tm="0">
                                          <p:val>
                                            <p:strVal val="#ppt_y+0.1"/>
                                          </p:val>
                                        </p:tav>
                                        <p:tav tm="100000">
                                          <p:val>
                                            <p:strVal val="#ppt_y"/>
                                          </p:val>
                                        </p:tav>
                                      </p:tavLst>
                                    </p:anim>
                                    <p:animEffect transition="in" filter="fade">
                                      <p:cBhvr>
                                        <p:cTn id="21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Classifying Applications by Tiers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tier is a layer that runs on its own machine</a:t>
            </a:r>
          </a:p>
        </p:txBody>
      </p:sp>
      <p:sp>
        <p:nvSpPr>
          <p:cNvPr id="11" name="a1u_card10"/>
          <p:cNvSpPr/>
          <p:nvPr/>
        </p:nvSpPr>
        <p:spPr>
          <a:xfrm>
            <a:off x="457200" y="1234440"/>
            <a:ext cx="1920240" cy="3154680"/>
          </a:xfrm>
          <a:prstGeom prst="roundRect">
            <a:avLst>
              <a:gd name="adj" fmla="val 571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1920240" cy="50292"/>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ct12"/>
          <p:cNvSpPr txBox="1"/>
          <p:nvPr/>
        </p:nvSpPr>
        <p:spPr>
          <a:xfrm>
            <a:off x="594360" y="1325880"/>
            <a:ext cx="1645920" cy="256032"/>
          </a:xfrm>
          <a:prstGeom prst="rect">
            <a:avLst/>
          </a:prstGeom>
          <a:noFill/>
        </p:spPr>
        <p:txBody>
          <a:bodyPr wrap="square" lIns="0" tIns="0" rIns="0" bIns="0" anchor="ctr">
            <a:spAutoFit/>
          </a:bodyPr>
          <a:lstStyle/>
          <a:p>
            <a:pPr algn="l"/>
            <a:r>
              <a:rPr sz="1100" b="1">
                <a:solidFill>
                  <a:srgbClr val="1C1917"/>
                </a:solidFill>
                <a:latin typeface="Segoe UI"/>
              </a:rPr>
              <a:t>1 · Single tier</a:t>
            </a:r>
          </a:p>
        </p:txBody>
      </p:sp>
      <p:sp>
        <p:nvSpPr>
          <p:cNvPr id="14" name="a1u_cs13"/>
          <p:cNvSpPr txBox="1"/>
          <p:nvPr/>
        </p:nvSpPr>
        <p:spPr>
          <a:xfrm>
            <a:off x="594360" y="1572768"/>
            <a:ext cx="1645920" cy="201168"/>
          </a:xfrm>
          <a:prstGeom prst="rect">
            <a:avLst/>
          </a:prstGeom>
          <a:noFill/>
        </p:spPr>
        <p:txBody>
          <a:bodyPr wrap="square" lIns="0" tIns="0" rIns="0" bIns="0" anchor="ctr">
            <a:spAutoFit/>
          </a:bodyPr>
          <a:lstStyle/>
          <a:p>
            <a:pPr algn="l"/>
            <a:r>
              <a:rPr sz="850" b="1">
                <a:solidFill>
                  <a:srgbClr val="EA580C"/>
                </a:solidFill>
                <a:latin typeface="Consolas"/>
              </a:rPr>
              <a:t>ONE MACHINE</a:t>
            </a:r>
          </a:p>
        </p:txBody>
      </p:sp>
      <p:sp>
        <p:nvSpPr>
          <p:cNvPr id="15" name="a1ud150_box14"/>
          <p:cNvSpPr/>
          <p:nvPr/>
        </p:nvSpPr>
        <p:spPr>
          <a:xfrm>
            <a:off x="640080" y="1874519"/>
            <a:ext cx="1554480" cy="1554480"/>
          </a:xfrm>
          <a:prstGeom prst="roundRect">
            <a:avLst>
              <a:gd name="adj" fmla="val 4705"/>
            </a:avLst>
          </a:prstGeom>
          <a:solidFill>
            <a:srgbClr val="FFEDD5"/>
          </a:solidFill>
          <a:ln w="12700">
            <a:solidFill>
              <a:srgbClr val="FB92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150_lb15"/>
          <p:cNvSpPr txBox="1"/>
          <p:nvPr/>
        </p:nvSpPr>
        <p:spPr>
          <a:xfrm>
            <a:off x="640080" y="1901952"/>
            <a:ext cx="1554480" cy="201168"/>
          </a:xfrm>
          <a:prstGeom prst="rect">
            <a:avLst/>
          </a:prstGeom>
          <a:noFill/>
        </p:spPr>
        <p:txBody>
          <a:bodyPr wrap="square" lIns="0" tIns="0" rIns="0" bIns="0" anchor="ctr">
            <a:spAutoFit/>
          </a:bodyPr>
          <a:lstStyle/>
          <a:p>
            <a:pPr algn="ctr"/>
            <a:r>
              <a:rPr sz="750" b="1">
                <a:solidFill>
                  <a:srgbClr val="C2410C"/>
                </a:solidFill>
                <a:latin typeface="Segoe UI"/>
              </a:rPr>
              <a:t>one machine</a:t>
            </a:r>
          </a:p>
        </p:txBody>
      </p:sp>
      <p:sp>
        <p:nvSpPr>
          <p:cNvPr id="17" name="a1ud150_nd16"/>
          <p:cNvSpPr/>
          <p:nvPr/>
        </p:nvSpPr>
        <p:spPr>
          <a:xfrm>
            <a:off x="749808" y="2157984"/>
            <a:ext cx="1335024" cy="329184"/>
          </a:xfrm>
          <a:prstGeom prst="roundRect">
            <a:avLst>
              <a:gd name="adj" fmla="val 22222"/>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d150_ndt17"/>
          <p:cNvSpPr txBox="1"/>
          <p:nvPr/>
        </p:nvSpPr>
        <p:spPr>
          <a:xfrm>
            <a:off x="795528" y="2157984"/>
            <a:ext cx="1243584" cy="329184"/>
          </a:xfrm>
          <a:prstGeom prst="rect">
            <a:avLst/>
          </a:prstGeom>
          <a:noFill/>
        </p:spPr>
        <p:txBody>
          <a:bodyPr wrap="square" lIns="0" tIns="0" rIns="0" bIns="0" anchor="ctr">
            <a:spAutoFit/>
          </a:bodyPr>
          <a:lstStyle/>
          <a:p>
            <a:pPr algn="ctr"/>
            <a:r>
              <a:rPr sz="800" b="1">
                <a:solidFill>
                  <a:srgbClr val="1C1917"/>
                </a:solidFill>
                <a:latin typeface="Segoe UI"/>
              </a:rPr>
              <a:t>User interface</a:t>
            </a:r>
          </a:p>
        </p:txBody>
      </p:sp>
      <p:sp>
        <p:nvSpPr>
          <p:cNvPr id="19" name="a1ud150_nd18"/>
          <p:cNvSpPr/>
          <p:nvPr/>
        </p:nvSpPr>
        <p:spPr>
          <a:xfrm>
            <a:off x="749808" y="2569464"/>
            <a:ext cx="1335024" cy="329184"/>
          </a:xfrm>
          <a:prstGeom prst="roundRect">
            <a:avLst>
              <a:gd name="adj" fmla="val 22222"/>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150_ndt19"/>
          <p:cNvSpPr txBox="1"/>
          <p:nvPr/>
        </p:nvSpPr>
        <p:spPr>
          <a:xfrm>
            <a:off x="795528" y="2569464"/>
            <a:ext cx="1243584" cy="329184"/>
          </a:xfrm>
          <a:prstGeom prst="rect">
            <a:avLst/>
          </a:prstGeom>
          <a:noFill/>
        </p:spPr>
        <p:txBody>
          <a:bodyPr wrap="square" lIns="0" tIns="0" rIns="0" bIns="0" anchor="ctr">
            <a:spAutoFit/>
          </a:bodyPr>
          <a:lstStyle/>
          <a:p>
            <a:pPr algn="ctr"/>
            <a:r>
              <a:rPr sz="800" b="1">
                <a:solidFill>
                  <a:srgbClr val="1C1917"/>
                </a:solidFill>
                <a:latin typeface="Segoe UI"/>
              </a:rPr>
              <a:t>Business logic</a:t>
            </a:r>
          </a:p>
        </p:txBody>
      </p:sp>
      <p:sp>
        <p:nvSpPr>
          <p:cNvPr id="21" name="a1ud150_nd20"/>
          <p:cNvSpPr/>
          <p:nvPr/>
        </p:nvSpPr>
        <p:spPr>
          <a:xfrm>
            <a:off x="749808" y="2980944"/>
            <a:ext cx="1335024" cy="329184"/>
          </a:xfrm>
          <a:prstGeom prst="roundRect">
            <a:avLst>
              <a:gd name="adj" fmla="val 22222"/>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ud150_ndt21"/>
          <p:cNvSpPr txBox="1"/>
          <p:nvPr/>
        </p:nvSpPr>
        <p:spPr>
          <a:xfrm>
            <a:off x="795528" y="2980944"/>
            <a:ext cx="1243584" cy="329184"/>
          </a:xfrm>
          <a:prstGeom prst="rect">
            <a:avLst/>
          </a:prstGeom>
          <a:noFill/>
        </p:spPr>
        <p:txBody>
          <a:bodyPr wrap="square" lIns="0" tIns="0" rIns="0" bIns="0" anchor="ctr">
            <a:spAutoFit/>
          </a:bodyPr>
          <a:lstStyle/>
          <a:p>
            <a:pPr algn="ctr"/>
            <a:r>
              <a:rPr sz="800" b="1">
                <a:solidFill>
                  <a:srgbClr val="1C1917"/>
                </a:solidFill>
                <a:latin typeface="Segoe UI"/>
              </a:rPr>
              <a:t>Database</a:t>
            </a:r>
          </a:p>
        </p:txBody>
      </p:sp>
      <p:sp>
        <p:nvSpPr>
          <p:cNvPr id="23" name="a1ud250_cap22"/>
          <p:cNvSpPr txBox="1"/>
          <p:nvPr/>
        </p:nvSpPr>
        <p:spPr>
          <a:xfrm>
            <a:off x="594360" y="3675887"/>
            <a:ext cx="1645920" cy="640080"/>
          </a:xfrm>
          <a:prstGeom prst="rect">
            <a:avLst/>
          </a:prstGeom>
          <a:noFill/>
        </p:spPr>
        <p:txBody>
          <a:bodyPr wrap="square" lIns="0" tIns="0" rIns="0" bIns="0" anchor="t">
            <a:spAutoFit/>
          </a:bodyPr>
          <a:lstStyle/>
          <a:p>
            <a:pPr algn="l"/>
            <a:r>
              <a:rPr sz="850" b="0">
                <a:solidFill>
                  <a:srgbClr val="44403C"/>
                </a:solidFill>
                <a:latin typeface="Segoe UI"/>
              </a:rPr>
              <a:t>Client, server and database on one computer</a:t>
            </a:r>
          </a:p>
        </p:txBody>
      </p:sp>
      <p:sp>
        <p:nvSpPr>
          <p:cNvPr id="24" name="a2u_card23"/>
          <p:cNvSpPr/>
          <p:nvPr/>
        </p:nvSpPr>
        <p:spPr>
          <a:xfrm>
            <a:off x="2560320" y="1234440"/>
            <a:ext cx="1920240" cy="3154680"/>
          </a:xfrm>
          <a:prstGeom prst="roundRect">
            <a:avLst>
              <a:gd name="adj" fmla="val 571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u_acc24"/>
          <p:cNvSpPr/>
          <p:nvPr/>
        </p:nvSpPr>
        <p:spPr>
          <a:xfrm>
            <a:off x="2560320" y="1234440"/>
            <a:ext cx="1920240" cy="5029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_ct25"/>
          <p:cNvSpPr txBox="1"/>
          <p:nvPr/>
        </p:nvSpPr>
        <p:spPr>
          <a:xfrm>
            <a:off x="2697480" y="1325880"/>
            <a:ext cx="1645920" cy="256032"/>
          </a:xfrm>
          <a:prstGeom prst="rect">
            <a:avLst/>
          </a:prstGeom>
          <a:noFill/>
        </p:spPr>
        <p:txBody>
          <a:bodyPr wrap="square" lIns="0" tIns="0" rIns="0" bIns="0" anchor="ctr">
            <a:spAutoFit/>
          </a:bodyPr>
          <a:lstStyle/>
          <a:p>
            <a:pPr algn="l"/>
            <a:r>
              <a:rPr sz="1100" b="1">
                <a:solidFill>
                  <a:srgbClr val="1C1917"/>
                </a:solidFill>
                <a:latin typeface="Segoe UI"/>
              </a:rPr>
              <a:t>2 · Two tier</a:t>
            </a:r>
          </a:p>
        </p:txBody>
      </p:sp>
      <p:sp>
        <p:nvSpPr>
          <p:cNvPr id="27" name="a2u_cs26"/>
          <p:cNvSpPr txBox="1"/>
          <p:nvPr/>
        </p:nvSpPr>
        <p:spPr>
          <a:xfrm>
            <a:off x="2697480" y="1572768"/>
            <a:ext cx="1645920" cy="201168"/>
          </a:xfrm>
          <a:prstGeom prst="rect">
            <a:avLst/>
          </a:prstGeom>
          <a:noFill/>
        </p:spPr>
        <p:txBody>
          <a:bodyPr wrap="square" lIns="0" tIns="0" rIns="0" bIns="0" anchor="ctr">
            <a:spAutoFit/>
          </a:bodyPr>
          <a:lstStyle/>
          <a:p>
            <a:pPr algn="l"/>
            <a:r>
              <a:rPr sz="850" b="1">
                <a:solidFill>
                  <a:srgbClr val="0E7490"/>
                </a:solidFill>
                <a:latin typeface="Consolas"/>
              </a:rPr>
              <a:t>LAN / WAN</a:t>
            </a:r>
          </a:p>
        </p:txBody>
      </p:sp>
      <p:sp>
        <p:nvSpPr>
          <p:cNvPr id="28" name="a2ud150_nd27"/>
          <p:cNvSpPr/>
          <p:nvPr/>
        </p:nvSpPr>
        <p:spPr>
          <a:xfrm>
            <a:off x="2743200" y="1874519"/>
            <a:ext cx="1554480" cy="502920"/>
          </a:xfrm>
          <a:prstGeom prst="roundRect">
            <a:avLst>
              <a:gd name="adj" fmla="val 14545"/>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d150_ndt28"/>
          <p:cNvSpPr txBox="1"/>
          <p:nvPr/>
        </p:nvSpPr>
        <p:spPr>
          <a:xfrm>
            <a:off x="2788920" y="1911095"/>
            <a:ext cx="1463040" cy="233172"/>
          </a:xfrm>
          <a:prstGeom prst="rect">
            <a:avLst/>
          </a:prstGeom>
          <a:noFill/>
        </p:spPr>
        <p:txBody>
          <a:bodyPr wrap="square" lIns="0" tIns="0" rIns="0" bIns="0" anchor="b">
            <a:spAutoFit/>
          </a:bodyPr>
          <a:lstStyle/>
          <a:p>
            <a:pPr algn="ctr"/>
            <a:r>
              <a:rPr sz="850" b="1">
                <a:solidFill>
                  <a:srgbClr val="1C1917"/>
                </a:solidFill>
                <a:latin typeface="Segoe UI"/>
              </a:rPr>
              <a:t>Client</a:t>
            </a:r>
          </a:p>
        </p:txBody>
      </p:sp>
      <p:sp>
        <p:nvSpPr>
          <p:cNvPr id="30" name="a2ud150_nds29"/>
          <p:cNvSpPr txBox="1"/>
          <p:nvPr/>
        </p:nvSpPr>
        <p:spPr>
          <a:xfrm>
            <a:off x="2788920" y="2153411"/>
            <a:ext cx="1463040" cy="187452"/>
          </a:xfrm>
          <a:prstGeom prst="rect">
            <a:avLst/>
          </a:prstGeom>
          <a:noFill/>
        </p:spPr>
        <p:txBody>
          <a:bodyPr wrap="square" lIns="0" tIns="0" rIns="0" bIns="0" anchor="t">
            <a:spAutoFit/>
          </a:bodyPr>
          <a:lstStyle/>
          <a:p>
            <a:pPr algn="ctr"/>
            <a:r>
              <a:rPr sz="750" b="0">
                <a:solidFill>
                  <a:srgbClr val="0E7490"/>
                </a:solidFill>
                <a:latin typeface="Segoe UI"/>
              </a:rPr>
              <a:t>user interface</a:t>
            </a:r>
          </a:p>
        </p:txBody>
      </p:sp>
      <p:cxnSp>
        <p:nvCxnSpPr>
          <p:cNvPr id="31" name="a2ud150_ar30"/>
          <p:cNvCxnSpPr/>
          <p:nvPr/>
        </p:nvCxnSpPr>
        <p:spPr>
          <a:xfrm>
            <a:off x="3520440" y="2404872"/>
            <a:ext cx="0" cy="402336"/>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a2ud150_lb31"/>
          <p:cNvSpPr txBox="1"/>
          <p:nvPr/>
        </p:nvSpPr>
        <p:spPr>
          <a:xfrm>
            <a:off x="3566160" y="2505456"/>
            <a:ext cx="731520" cy="201168"/>
          </a:xfrm>
          <a:prstGeom prst="rect">
            <a:avLst/>
          </a:prstGeom>
          <a:noFill/>
        </p:spPr>
        <p:txBody>
          <a:bodyPr wrap="square" lIns="0" tIns="0" rIns="0" bIns="0" anchor="ctr">
            <a:spAutoFit/>
          </a:bodyPr>
          <a:lstStyle/>
          <a:p>
            <a:pPr algn="l"/>
            <a:r>
              <a:rPr sz="700" b="0">
                <a:solidFill>
                  <a:srgbClr val="78716C"/>
                </a:solidFill>
                <a:latin typeface="Segoe UI"/>
              </a:rPr>
              <a:t>LAN / WAN</a:t>
            </a:r>
          </a:p>
        </p:txBody>
      </p:sp>
      <p:sp>
        <p:nvSpPr>
          <p:cNvPr id="33" name="a2ud150_nd32"/>
          <p:cNvSpPr/>
          <p:nvPr/>
        </p:nvSpPr>
        <p:spPr>
          <a:xfrm>
            <a:off x="2743200" y="2834640"/>
            <a:ext cx="1554480" cy="594360"/>
          </a:xfrm>
          <a:prstGeom prst="roundRect">
            <a:avLst>
              <a:gd name="adj" fmla="val 12307"/>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2ud150_ndt33"/>
          <p:cNvSpPr txBox="1"/>
          <p:nvPr/>
        </p:nvSpPr>
        <p:spPr>
          <a:xfrm>
            <a:off x="2788920" y="2871216"/>
            <a:ext cx="1463040" cy="278892"/>
          </a:xfrm>
          <a:prstGeom prst="rect">
            <a:avLst/>
          </a:prstGeom>
          <a:noFill/>
        </p:spPr>
        <p:txBody>
          <a:bodyPr wrap="square" lIns="0" tIns="0" rIns="0" bIns="0" anchor="b">
            <a:spAutoFit/>
          </a:bodyPr>
          <a:lstStyle/>
          <a:p>
            <a:pPr algn="ctr"/>
            <a:r>
              <a:rPr sz="850" b="1">
                <a:solidFill>
                  <a:srgbClr val="1C1917"/>
                </a:solidFill>
                <a:latin typeface="Segoe UI"/>
              </a:rPr>
              <a:t>Server</a:t>
            </a:r>
          </a:p>
        </p:txBody>
      </p:sp>
      <p:sp>
        <p:nvSpPr>
          <p:cNvPr id="35" name="a2ud150_nds34"/>
          <p:cNvSpPr txBox="1"/>
          <p:nvPr/>
        </p:nvSpPr>
        <p:spPr>
          <a:xfrm>
            <a:off x="2788920" y="3159252"/>
            <a:ext cx="1463040" cy="233172"/>
          </a:xfrm>
          <a:prstGeom prst="rect">
            <a:avLst/>
          </a:prstGeom>
          <a:noFill/>
        </p:spPr>
        <p:txBody>
          <a:bodyPr wrap="square" lIns="0" tIns="0" rIns="0" bIns="0" anchor="t">
            <a:spAutoFit/>
          </a:bodyPr>
          <a:lstStyle/>
          <a:p>
            <a:pPr algn="ctr"/>
            <a:r>
              <a:rPr sz="750" b="0">
                <a:solidFill>
                  <a:srgbClr val="0E7490"/>
                </a:solidFill>
                <a:latin typeface="Segoe UI"/>
              </a:rPr>
              <a:t>business logic + data</a:t>
            </a:r>
          </a:p>
        </p:txBody>
      </p:sp>
      <p:sp>
        <p:nvSpPr>
          <p:cNvPr id="36" name="a2ud250_cap35"/>
          <p:cNvSpPr txBox="1"/>
          <p:nvPr/>
        </p:nvSpPr>
        <p:spPr>
          <a:xfrm>
            <a:off x="2697480" y="3675887"/>
            <a:ext cx="1645920" cy="640080"/>
          </a:xfrm>
          <a:prstGeom prst="rect">
            <a:avLst/>
          </a:prstGeom>
          <a:noFill/>
        </p:spPr>
        <p:txBody>
          <a:bodyPr wrap="square" lIns="0" tIns="0" rIns="0" bIns="0" anchor="t">
            <a:spAutoFit/>
          </a:bodyPr>
          <a:lstStyle/>
          <a:p>
            <a:pPr algn="l"/>
            <a:r>
              <a:rPr sz="850" b="0">
                <a:solidFill>
                  <a:srgbClr val="44403C"/>
                </a:solidFill>
                <a:latin typeface="Segoe UI"/>
              </a:rPr>
              <a:t>UI on the client; business logic and data on the server</a:t>
            </a:r>
          </a:p>
        </p:txBody>
      </p:sp>
      <p:sp>
        <p:nvSpPr>
          <p:cNvPr id="37" name="a3u_card36"/>
          <p:cNvSpPr/>
          <p:nvPr/>
        </p:nvSpPr>
        <p:spPr>
          <a:xfrm>
            <a:off x="4663440" y="1234440"/>
            <a:ext cx="1920240" cy="3154680"/>
          </a:xfrm>
          <a:prstGeom prst="roundRect">
            <a:avLst>
              <a:gd name="adj" fmla="val 571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3u_acc37"/>
          <p:cNvSpPr/>
          <p:nvPr/>
        </p:nvSpPr>
        <p:spPr>
          <a:xfrm>
            <a:off x="4663440" y="1234440"/>
            <a:ext cx="1920240" cy="50292"/>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3u_ct38"/>
          <p:cNvSpPr txBox="1"/>
          <p:nvPr/>
        </p:nvSpPr>
        <p:spPr>
          <a:xfrm>
            <a:off x="4800600" y="1325880"/>
            <a:ext cx="1645920" cy="256032"/>
          </a:xfrm>
          <a:prstGeom prst="rect">
            <a:avLst/>
          </a:prstGeom>
          <a:noFill/>
        </p:spPr>
        <p:txBody>
          <a:bodyPr wrap="square" lIns="0" tIns="0" rIns="0" bIns="0" anchor="ctr">
            <a:spAutoFit/>
          </a:bodyPr>
          <a:lstStyle/>
          <a:p>
            <a:pPr algn="l"/>
            <a:r>
              <a:rPr sz="1100" b="1">
                <a:solidFill>
                  <a:srgbClr val="1C1917"/>
                </a:solidFill>
                <a:latin typeface="Segoe UI"/>
              </a:rPr>
              <a:t>3 · Three tier</a:t>
            </a:r>
          </a:p>
        </p:txBody>
      </p:sp>
      <p:sp>
        <p:nvSpPr>
          <p:cNvPr id="40" name="a3u_cs39"/>
          <p:cNvSpPr txBox="1"/>
          <p:nvPr/>
        </p:nvSpPr>
        <p:spPr>
          <a:xfrm>
            <a:off x="4800600" y="1572768"/>
            <a:ext cx="1645920" cy="201168"/>
          </a:xfrm>
          <a:prstGeom prst="rect">
            <a:avLst/>
          </a:prstGeom>
          <a:noFill/>
        </p:spPr>
        <p:txBody>
          <a:bodyPr wrap="square" lIns="0" tIns="0" rIns="0" bIns="0" anchor="ctr">
            <a:spAutoFit/>
          </a:bodyPr>
          <a:lstStyle/>
          <a:p>
            <a:pPr algn="l"/>
            <a:r>
              <a:rPr sz="850" b="1">
                <a:solidFill>
                  <a:srgbClr val="A16207"/>
                </a:solidFill>
                <a:latin typeface="Consolas"/>
              </a:rPr>
              <a:t>INTERNET</a:t>
            </a:r>
          </a:p>
        </p:txBody>
      </p:sp>
      <p:sp>
        <p:nvSpPr>
          <p:cNvPr id="41" name="a3ud150_nd40"/>
          <p:cNvSpPr/>
          <p:nvPr/>
        </p:nvSpPr>
        <p:spPr>
          <a:xfrm>
            <a:off x="4846320" y="1874519"/>
            <a:ext cx="1554480" cy="402336"/>
          </a:xfrm>
          <a:prstGeom prst="roundRect">
            <a:avLst>
              <a:gd name="adj" fmla="val 18181"/>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3ud150_ndt41"/>
          <p:cNvSpPr txBox="1"/>
          <p:nvPr/>
        </p:nvSpPr>
        <p:spPr>
          <a:xfrm>
            <a:off x="4892040" y="1874519"/>
            <a:ext cx="1463040" cy="402336"/>
          </a:xfrm>
          <a:prstGeom prst="rect">
            <a:avLst/>
          </a:prstGeom>
          <a:noFill/>
        </p:spPr>
        <p:txBody>
          <a:bodyPr wrap="square" lIns="0" tIns="0" rIns="0" bIns="0" anchor="ctr">
            <a:spAutoFit/>
          </a:bodyPr>
          <a:lstStyle/>
          <a:p>
            <a:pPr algn="ctr"/>
            <a:r>
              <a:rPr sz="850" b="1">
                <a:solidFill>
                  <a:srgbClr val="1C1917"/>
                </a:solidFill>
                <a:latin typeface="Segoe UI"/>
              </a:rPr>
              <a:t>Browser</a:t>
            </a:r>
          </a:p>
        </p:txBody>
      </p:sp>
      <p:sp>
        <p:nvSpPr>
          <p:cNvPr id="43" name="a3ud150_nd42"/>
          <p:cNvSpPr/>
          <p:nvPr/>
        </p:nvSpPr>
        <p:spPr>
          <a:xfrm>
            <a:off x="4846320" y="2441448"/>
            <a:ext cx="1554480" cy="402336"/>
          </a:xfrm>
          <a:prstGeom prst="roundRect">
            <a:avLst>
              <a:gd name="adj" fmla="val 18181"/>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3ud150_ndt43"/>
          <p:cNvSpPr txBox="1"/>
          <p:nvPr/>
        </p:nvSpPr>
        <p:spPr>
          <a:xfrm>
            <a:off x="4892040" y="2441448"/>
            <a:ext cx="1463040" cy="402336"/>
          </a:xfrm>
          <a:prstGeom prst="rect">
            <a:avLst/>
          </a:prstGeom>
          <a:noFill/>
        </p:spPr>
        <p:txBody>
          <a:bodyPr wrap="square" lIns="0" tIns="0" rIns="0" bIns="0" anchor="ctr">
            <a:spAutoFit/>
          </a:bodyPr>
          <a:lstStyle/>
          <a:p>
            <a:pPr algn="ctr"/>
            <a:r>
              <a:rPr sz="850" b="1">
                <a:solidFill>
                  <a:srgbClr val="1C1917"/>
                </a:solidFill>
                <a:latin typeface="Segoe UI"/>
              </a:rPr>
              <a:t>Web application</a:t>
            </a:r>
          </a:p>
        </p:txBody>
      </p:sp>
      <p:cxnSp>
        <p:nvCxnSpPr>
          <p:cNvPr id="45" name="a3ud150_ar44"/>
          <p:cNvCxnSpPr/>
          <p:nvPr/>
        </p:nvCxnSpPr>
        <p:spPr>
          <a:xfrm>
            <a:off x="5623560" y="2286000"/>
            <a:ext cx="0" cy="137160"/>
          </a:xfrm>
          <a:prstGeom prst="line">
            <a:avLst/>
          </a:prstGeom>
          <a:ln w="1270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a3ud150_nd45"/>
          <p:cNvSpPr/>
          <p:nvPr/>
        </p:nvSpPr>
        <p:spPr>
          <a:xfrm>
            <a:off x="4846320" y="3008376"/>
            <a:ext cx="1554480" cy="402336"/>
          </a:xfrm>
          <a:prstGeom prst="roundRect">
            <a:avLst>
              <a:gd name="adj" fmla="val 18181"/>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3ud150_ndt46"/>
          <p:cNvSpPr txBox="1"/>
          <p:nvPr/>
        </p:nvSpPr>
        <p:spPr>
          <a:xfrm>
            <a:off x="4892040" y="3008376"/>
            <a:ext cx="1463040" cy="402336"/>
          </a:xfrm>
          <a:prstGeom prst="rect">
            <a:avLst/>
          </a:prstGeom>
          <a:noFill/>
        </p:spPr>
        <p:txBody>
          <a:bodyPr wrap="square" lIns="0" tIns="0" rIns="0" bIns="0" anchor="ctr">
            <a:spAutoFit/>
          </a:bodyPr>
          <a:lstStyle/>
          <a:p>
            <a:pPr algn="ctr"/>
            <a:r>
              <a:rPr sz="850" b="1">
                <a:solidFill>
                  <a:srgbClr val="1C1917"/>
                </a:solidFill>
                <a:latin typeface="Segoe UI"/>
              </a:rPr>
              <a:t>Database server</a:t>
            </a:r>
          </a:p>
        </p:txBody>
      </p:sp>
      <p:cxnSp>
        <p:nvCxnSpPr>
          <p:cNvPr id="48" name="a3ud150_ar47"/>
          <p:cNvCxnSpPr/>
          <p:nvPr/>
        </p:nvCxnSpPr>
        <p:spPr>
          <a:xfrm>
            <a:off x="5623560" y="2852928"/>
            <a:ext cx="0" cy="137160"/>
          </a:xfrm>
          <a:prstGeom prst="line">
            <a:avLst/>
          </a:prstGeom>
          <a:ln w="1270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a3ud250_cap48"/>
          <p:cNvSpPr txBox="1"/>
          <p:nvPr/>
        </p:nvSpPr>
        <p:spPr>
          <a:xfrm>
            <a:off x="4800600" y="3675887"/>
            <a:ext cx="1645920" cy="640080"/>
          </a:xfrm>
          <a:prstGeom prst="rect">
            <a:avLst/>
          </a:prstGeom>
          <a:noFill/>
        </p:spPr>
        <p:txBody>
          <a:bodyPr wrap="square" lIns="0" tIns="0" rIns="0" bIns="0" anchor="t">
            <a:spAutoFit/>
          </a:bodyPr>
          <a:lstStyle/>
          <a:p>
            <a:pPr algn="l"/>
            <a:r>
              <a:rPr sz="850" b="0">
                <a:solidFill>
                  <a:srgbClr val="44403C"/>
                </a:solidFill>
                <a:latin typeface="Segoe UI"/>
              </a:rPr>
              <a:t>Browser, web application, database - each separate</a:t>
            </a:r>
          </a:p>
        </p:txBody>
      </p:sp>
      <p:sp>
        <p:nvSpPr>
          <p:cNvPr id="50" name="a4u_card49"/>
          <p:cNvSpPr/>
          <p:nvPr/>
        </p:nvSpPr>
        <p:spPr>
          <a:xfrm>
            <a:off x="6766560" y="1234440"/>
            <a:ext cx="1920240" cy="3154680"/>
          </a:xfrm>
          <a:prstGeom prst="roundRect">
            <a:avLst>
              <a:gd name="adj" fmla="val 571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4u_acc50"/>
          <p:cNvSpPr/>
          <p:nvPr/>
        </p:nvSpPr>
        <p:spPr>
          <a:xfrm>
            <a:off x="6766560" y="1234440"/>
            <a:ext cx="1920240" cy="5029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4u_ct51"/>
          <p:cNvSpPr txBox="1"/>
          <p:nvPr/>
        </p:nvSpPr>
        <p:spPr>
          <a:xfrm>
            <a:off x="6903720" y="1325880"/>
            <a:ext cx="1645920" cy="256032"/>
          </a:xfrm>
          <a:prstGeom prst="rect">
            <a:avLst/>
          </a:prstGeom>
          <a:noFill/>
        </p:spPr>
        <p:txBody>
          <a:bodyPr wrap="square" lIns="0" tIns="0" rIns="0" bIns="0" anchor="ctr">
            <a:spAutoFit/>
          </a:bodyPr>
          <a:lstStyle/>
          <a:p>
            <a:pPr algn="l"/>
            <a:r>
              <a:rPr sz="1100" b="1">
                <a:solidFill>
                  <a:srgbClr val="1C1917"/>
                </a:solidFill>
                <a:latin typeface="Segoe UI"/>
              </a:rPr>
              <a:t>4 · N tier</a:t>
            </a:r>
          </a:p>
        </p:txBody>
      </p:sp>
      <p:sp>
        <p:nvSpPr>
          <p:cNvPr id="53" name="a4u_cs52"/>
          <p:cNvSpPr txBox="1"/>
          <p:nvPr/>
        </p:nvSpPr>
        <p:spPr>
          <a:xfrm>
            <a:off x="6903720" y="1572768"/>
            <a:ext cx="1645920" cy="201168"/>
          </a:xfrm>
          <a:prstGeom prst="rect">
            <a:avLst/>
          </a:prstGeom>
          <a:noFill/>
        </p:spPr>
        <p:txBody>
          <a:bodyPr wrap="square" lIns="0" tIns="0" rIns="0" bIns="0" anchor="ctr">
            <a:spAutoFit/>
          </a:bodyPr>
          <a:lstStyle/>
          <a:p>
            <a:pPr algn="l"/>
            <a:r>
              <a:rPr sz="850" b="1">
                <a:solidFill>
                  <a:srgbClr val="4F46E5"/>
                </a:solidFill>
                <a:latin typeface="Consolas"/>
              </a:rPr>
              <a:t>MANY LAYERS</a:t>
            </a:r>
          </a:p>
        </p:txBody>
      </p:sp>
      <p:sp>
        <p:nvSpPr>
          <p:cNvPr id="54" name="a4ud150_nd53"/>
          <p:cNvSpPr/>
          <p:nvPr/>
        </p:nvSpPr>
        <p:spPr>
          <a:xfrm>
            <a:off x="6949440" y="1874519"/>
            <a:ext cx="1554480" cy="347472"/>
          </a:xfrm>
          <a:prstGeom prst="roundRect">
            <a:avLst>
              <a:gd name="adj" fmla="val 21052"/>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4ud150_ndt54"/>
          <p:cNvSpPr txBox="1"/>
          <p:nvPr/>
        </p:nvSpPr>
        <p:spPr>
          <a:xfrm>
            <a:off x="6995160" y="1874519"/>
            <a:ext cx="1463040" cy="347472"/>
          </a:xfrm>
          <a:prstGeom prst="rect">
            <a:avLst/>
          </a:prstGeom>
          <a:noFill/>
        </p:spPr>
        <p:txBody>
          <a:bodyPr wrap="square" lIns="0" tIns="0" rIns="0" bIns="0" anchor="ctr">
            <a:spAutoFit/>
          </a:bodyPr>
          <a:lstStyle/>
          <a:p>
            <a:pPr algn="ctr"/>
            <a:r>
              <a:rPr sz="850" b="1">
                <a:solidFill>
                  <a:srgbClr val="1C1917"/>
                </a:solidFill>
                <a:latin typeface="Segoe UI"/>
              </a:rPr>
              <a:t>Browser</a:t>
            </a:r>
          </a:p>
        </p:txBody>
      </p:sp>
      <p:sp>
        <p:nvSpPr>
          <p:cNvPr id="56" name="a4ud150_nd55"/>
          <p:cNvSpPr/>
          <p:nvPr/>
        </p:nvSpPr>
        <p:spPr>
          <a:xfrm>
            <a:off x="6949440" y="2331720"/>
            <a:ext cx="1554480" cy="347472"/>
          </a:xfrm>
          <a:prstGeom prst="roundRect">
            <a:avLst>
              <a:gd name="adj" fmla="val 21052"/>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a4ud150_ndt56"/>
          <p:cNvSpPr txBox="1"/>
          <p:nvPr/>
        </p:nvSpPr>
        <p:spPr>
          <a:xfrm>
            <a:off x="6995160" y="2331720"/>
            <a:ext cx="1463040" cy="347472"/>
          </a:xfrm>
          <a:prstGeom prst="rect">
            <a:avLst/>
          </a:prstGeom>
          <a:noFill/>
        </p:spPr>
        <p:txBody>
          <a:bodyPr wrap="square" lIns="0" tIns="0" rIns="0" bIns="0" anchor="ctr">
            <a:spAutoFit/>
          </a:bodyPr>
          <a:lstStyle/>
          <a:p>
            <a:pPr algn="ctr"/>
            <a:r>
              <a:rPr sz="850" b="1">
                <a:solidFill>
                  <a:srgbClr val="1C1917"/>
                </a:solidFill>
                <a:latin typeface="Segoe UI"/>
              </a:rPr>
              <a:t>Web layer</a:t>
            </a:r>
          </a:p>
        </p:txBody>
      </p:sp>
      <p:sp>
        <p:nvSpPr>
          <p:cNvPr id="58" name="a4ud150_nd57"/>
          <p:cNvSpPr/>
          <p:nvPr/>
        </p:nvSpPr>
        <p:spPr>
          <a:xfrm>
            <a:off x="6949440" y="2788920"/>
            <a:ext cx="475488" cy="347472"/>
          </a:xfrm>
          <a:prstGeom prst="roundRect">
            <a:avLst>
              <a:gd name="adj" fmla="val 21052"/>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4ud150_ndt58"/>
          <p:cNvSpPr txBox="1"/>
          <p:nvPr/>
        </p:nvSpPr>
        <p:spPr>
          <a:xfrm>
            <a:off x="6995160" y="2788920"/>
            <a:ext cx="384048" cy="347472"/>
          </a:xfrm>
          <a:prstGeom prst="rect">
            <a:avLst/>
          </a:prstGeom>
          <a:noFill/>
        </p:spPr>
        <p:txBody>
          <a:bodyPr wrap="square" lIns="0" tIns="0" rIns="0" bIns="0" anchor="ctr">
            <a:spAutoFit/>
          </a:bodyPr>
          <a:lstStyle/>
          <a:p>
            <a:pPr algn="ctr"/>
            <a:r>
              <a:rPr sz="700" b="1">
                <a:solidFill>
                  <a:srgbClr val="1C1917"/>
                </a:solidFill>
                <a:latin typeface="Segoe UI"/>
              </a:rPr>
              <a:t>Order</a:t>
            </a:r>
          </a:p>
        </p:txBody>
      </p:sp>
      <p:sp>
        <p:nvSpPr>
          <p:cNvPr id="60" name="a4ud150_nd59"/>
          <p:cNvSpPr/>
          <p:nvPr/>
        </p:nvSpPr>
        <p:spPr>
          <a:xfrm>
            <a:off x="7488936" y="2788920"/>
            <a:ext cx="475488" cy="347472"/>
          </a:xfrm>
          <a:prstGeom prst="roundRect">
            <a:avLst>
              <a:gd name="adj" fmla="val 21052"/>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a4ud150_ndt60"/>
          <p:cNvSpPr txBox="1"/>
          <p:nvPr/>
        </p:nvSpPr>
        <p:spPr>
          <a:xfrm>
            <a:off x="7534656" y="2788920"/>
            <a:ext cx="384048" cy="347472"/>
          </a:xfrm>
          <a:prstGeom prst="rect">
            <a:avLst/>
          </a:prstGeom>
          <a:noFill/>
        </p:spPr>
        <p:txBody>
          <a:bodyPr wrap="square" lIns="0" tIns="0" rIns="0" bIns="0" anchor="ctr">
            <a:spAutoFit/>
          </a:bodyPr>
          <a:lstStyle/>
          <a:p>
            <a:pPr algn="ctr"/>
            <a:r>
              <a:rPr sz="700" b="1">
                <a:solidFill>
                  <a:srgbClr val="1C1917"/>
                </a:solidFill>
                <a:latin typeface="Segoe UI"/>
              </a:rPr>
              <a:t>Pay</a:t>
            </a:r>
          </a:p>
        </p:txBody>
      </p:sp>
      <p:sp>
        <p:nvSpPr>
          <p:cNvPr id="62" name="a4ud150_nd61"/>
          <p:cNvSpPr/>
          <p:nvPr/>
        </p:nvSpPr>
        <p:spPr>
          <a:xfrm>
            <a:off x="8028432" y="2788920"/>
            <a:ext cx="475488" cy="347472"/>
          </a:xfrm>
          <a:prstGeom prst="roundRect">
            <a:avLst>
              <a:gd name="adj" fmla="val 21052"/>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a4ud150_ndt62"/>
          <p:cNvSpPr txBox="1"/>
          <p:nvPr/>
        </p:nvSpPr>
        <p:spPr>
          <a:xfrm>
            <a:off x="8074152" y="2788920"/>
            <a:ext cx="384048" cy="347472"/>
          </a:xfrm>
          <a:prstGeom prst="rect">
            <a:avLst/>
          </a:prstGeom>
          <a:noFill/>
        </p:spPr>
        <p:txBody>
          <a:bodyPr wrap="square" lIns="0" tIns="0" rIns="0" bIns="0" anchor="ctr">
            <a:spAutoFit/>
          </a:bodyPr>
          <a:lstStyle/>
          <a:p>
            <a:pPr algn="ctr"/>
            <a:r>
              <a:rPr sz="700" b="1">
                <a:solidFill>
                  <a:srgbClr val="1C1917"/>
                </a:solidFill>
                <a:latin typeface="Segoe UI"/>
              </a:rPr>
              <a:t>Stock</a:t>
            </a:r>
          </a:p>
        </p:txBody>
      </p:sp>
      <p:sp>
        <p:nvSpPr>
          <p:cNvPr id="64" name="a4ud150_nd63"/>
          <p:cNvSpPr/>
          <p:nvPr/>
        </p:nvSpPr>
        <p:spPr>
          <a:xfrm>
            <a:off x="6949440" y="3246120"/>
            <a:ext cx="1554480" cy="347472"/>
          </a:xfrm>
          <a:prstGeom prst="roundRect">
            <a:avLst>
              <a:gd name="adj" fmla="val 21052"/>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a4ud150_ndt64"/>
          <p:cNvSpPr txBox="1"/>
          <p:nvPr/>
        </p:nvSpPr>
        <p:spPr>
          <a:xfrm>
            <a:off x="6995160" y="3246120"/>
            <a:ext cx="1463040" cy="347472"/>
          </a:xfrm>
          <a:prstGeom prst="rect">
            <a:avLst/>
          </a:prstGeom>
          <a:noFill/>
        </p:spPr>
        <p:txBody>
          <a:bodyPr wrap="square" lIns="0" tIns="0" rIns="0" bIns="0" anchor="ctr">
            <a:spAutoFit/>
          </a:bodyPr>
          <a:lstStyle/>
          <a:p>
            <a:pPr algn="ctr"/>
            <a:r>
              <a:rPr sz="850" b="1">
                <a:solidFill>
                  <a:srgbClr val="1C1917"/>
                </a:solidFill>
                <a:latin typeface="Segoe UI"/>
              </a:rPr>
              <a:t>Databases</a:t>
            </a:r>
          </a:p>
        </p:txBody>
      </p:sp>
      <p:sp>
        <p:nvSpPr>
          <p:cNvPr id="66" name="a4ud250_cap65"/>
          <p:cNvSpPr txBox="1"/>
          <p:nvPr/>
        </p:nvSpPr>
        <p:spPr>
          <a:xfrm>
            <a:off x="6903720" y="3675887"/>
            <a:ext cx="1645920" cy="640080"/>
          </a:xfrm>
          <a:prstGeom prst="rect">
            <a:avLst/>
          </a:prstGeom>
          <a:noFill/>
        </p:spPr>
        <p:txBody>
          <a:bodyPr wrap="square" lIns="0" tIns="0" rIns="0" bIns="0" anchor="t">
            <a:spAutoFit/>
          </a:bodyPr>
          <a:lstStyle/>
          <a:p>
            <a:pPr algn="l"/>
            <a:r>
              <a:rPr sz="850" b="0">
                <a:solidFill>
                  <a:srgbClr val="44403C"/>
                </a:solidFill>
                <a:latin typeface="Segoe UI"/>
              </a:rPr>
              <a:t>The business layer is split into many</a:t>
            </a:r>
          </a:p>
        </p:txBody>
      </p:sp>
      <p:sp>
        <p:nvSpPr>
          <p:cNvPr id="67" name="ft66"/>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10</a:t>
            </a:r>
          </a:p>
        </p:txBody>
      </p:sp>
      <p:sp>
        <p:nvSpPr>
          <p:cNvPr id="68" name="ft67"/>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ft68"/>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70" name="ft69"/>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5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5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5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15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15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15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15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15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25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childTnLst>
                          </p:cTn>
                        </p:par>
                      </p:childTnLst>
                    </p:cTn>
                  </p:par>
                  <p:par>
                    <p:cTn id="70" fill="hold">
                      <p:stCondLst>
                        <p:cond delay="indefinite"/>
                      </p:stCondLst>
                      <p:childTnLst>
                        <p:par>
                          <p:cTn id="71" fill="hold">
                            <p:stCondLst>
                              <p:cond delay="0"/>
                            </p:stCondLst>
                            <p:childTnLst>
                              <p:par>
                                <p:cTn id="76" presetID="2" presetClass="entr" presetSubtype="4"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15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15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15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par>
                                <p:cTn id="111" presetID="2" presetClass="entr" presetSubtype="4" fill="hold" grpId="0" nodeType="withEffect">
                                  <p:stCondLst>
                                    <p:cond delay="15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par>
                                <p:cTn id="116" presetID="2" presetClass="entr" presetSubtype="4" fill="hold" grpId="0" nodeType="withEffect">
                                  <p:stCondLst>
                                    <p:cond delay="15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15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par>
                                <p:cTn id="126" presetID="2" presetClass="entr" presetSubtype="4" fill="hold" grpId="0" nodeType="withEffect">
                                  <p:stCondLst>
                                    <p:cond delay="15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par>
                                <p:cTn id="131" presetID="2" presetClass="entr" presetSubtype="4" fill="hold" grpId="0" nodeType="withEffect">
                                  <p:stCondLst>
                                    <p:cond delay="150"/>
                                  </p:stCondLst>
                                  <p:childTnLst>
                                    <p:set>
                                      <p:cBhvr>
                                        <p:cTn id="127" dur="1" fill="hold">
                                          <p:stCondLst>
                                            <p:cond delay="0"/>
                                          </p:stCondLst>
                                        </p:cTn>
                                        <p:tgtEl>
                                          <p:spTgt spid="35"/>
                                        </p:tgtEl>
                                        <p:attrNameLst>
                                          <p:attrName>style.visibility</p:attrName>
                                        </p:attrNameLst>
                                      </p:cBhvr>
                                      <p:to>
                                        <p:strVal val="visible"/>
                                      </p:to>
                                    </p:set>
                                    <p:anim calcmode="lin" valueType="num">
                                      <p:cBhvr additive="base">
                                        <p:cTn id="128" dur="500" fill="hold"/>
                                        <p:tgtEl>
                                          <p:spTgt spid="35"/>
                                        </p:tgtEl>
                                        <p:attrNameLst>
                                          <p:attrName>ppt_x</p:attrName>
                                        </p:attrNameLst>
                                      </p:cBhvr>
                                      <p:tavLst>
                                        <p:tav tm="0">
                                          <p:val>
                                            <p:strVal val="#ppt_x"/>
                                          </p:val>
                                        </p:tav>
                                        <p:tav tm="100000">
                                          <p:val>
                                            <p:strVal val="#ppt_x"/>
                                          </p:val>
                                        </p:tav>
                                      </p:tavLst>
                                    </p:anim>
                                    <p:anim calcmode="lin" valueType="num">
                                      <p:cBhvr additive="base">
                                        <p:cTn id="129" dur="500" fill="hold"/>
                                        <p:tgtEl>
                                          <p:spTgt spid="35"/>
                                        </p:tgtEl>
                                        <p:attrNameLst>
                                          <p:attrName>ppt_y</p:attrName>
                                        </p:attrNameLst>
                                      </p:cBhvr>
                                      <p:tavLst>
                                        <p:tav tm="0">
                                          <p:val>
                                            <p:strVal val="#ppt_y+0.1"/>
                                          </p:val>
                                        </p:tav>
                                        <p:tav tm="100000">
                                          <p:val>
                                            <p:strVal val="#ppt_y"/>
                                          </p:val>
                                        </p:tav>
                                      </p:tavLst>
                                    </p:anim>
                                    <p:animEffect transition="in" filter="fade">
                                      <p:cBhvr>
                                        <p:cTn id="130" dur="500"/>
                                        <p:tgtEl>
                                          <p:spTgt spid="35"/>
                                        </p:tgtEl>
                                      </p:cBhvr>
                                    </p:animEffect>
                                  </p:childTnLst>
                                </p:cTn>
                              </p:par>
                              <p:par>
                                <p:cTn id="136" presetID="2" presetClass="entr" presetSubtype="4" fill="hold" grpId="0" nodeType="withEffect">
                                  <p:stCondLst>
                                    <p:cond delay="250"/>
                                  </p:stCondLst>
                                  <p:childTnLst>
                                    <p:set>
                                      <p:cBhvr>
                                        <p:cTn id="132" dur="1" fill="hold">
                                          <p:stCondLst>
                                            <p:cond delay="0"/>
                                          </p:stCondLst>
                                        </p:cTn>
                                        <p:tgtEl>
                                          <p:spTgt spid="36"/>
                                        </p:tgtEl>
                                        <p:attrNameLst>
                                          <p:attrName>style.visibility</p:attrName>
                                        </p:attrNameLst>
                                      </p:cBhvr>
                                      <p:to>
                                        <p:strVal val="visible"/>
                                      </p:to>
                                    </p:set>
                                    <p:anim calcmode="lin" valueType="num">
                                      <p:cBhvr additive="base">
                                        <p:cTn id="133" dur="500" fill="hold"/>
                                        <p:tgtEl>
                                          <p:spTgt spid="36"/>
                                        </p:tgtEl>
                                        <p:attrNameLst>
                                          <p:attrName>ppt_x</p:attrName>
                                        </p:attrNameLst>
                                      </p:cBhvr>
                                      <p:tavLst>
                                        <p:tav tm="0">
                                          <p:val>
                                            <p:strVal val="#ppt_x"/>
                                          </p:val>
                                        </p:tav>
                                        <p:tav tm="100000">
                                          <p:val>
                                            <p:strVal val="#ppt_x"/>
                                          </p:val>
                                        </p:tav>
                                      </p:tavLst>
                                    </p:anim>
                                    <p:anim calcmode="lin" valueType="num">
                                      <p:cBhvr additive="base">
                                        <p:cTn id="134" dur="500" fill="hold"/>
                                        <p:tgtEl>
                                          <p:spTgt spid="36"/>
                                        </p:tgtEl>
                                        <p:attrNameLst>
                                          <p:attrName>ppt_y</p:attrName>
                                        </p:attrNameLst>
                                      </p:cBhvr>
                                      <p:tavLst>
                                        <p:tav tm="0">
                                          <p:val>
                                            <p:strVal val="#ppt_y+0.1"/>
                                          </p:val>
                                        </p:tav>
                                        <p:tav tm="100000">
                                          <p:val>
                                            <p:strVal val="#ppt_y"/>
                                          </p:val>
                                        </p:tav>
                                      </p:tavLst>
                                    </p:anim>
                                    <p:animEffect transition="in" filter="fade">
                                      <p:cBhvr>
                                        <p:cTn id="135" dur="500"/>
                                        <p:tgtEl>
                                          <p:spTgt spid="36"/>
                                        </p:tgtEl>
                                      </p:cBhvr>
                                    </p:animEffect>
                                  </p:childTnLst>
                                </p:cTn>
                              </p:par>
                            </p:childTnLst>
                          </p:cTn>
                        </p:par>
                      </p:childTnLst>
                    </p:cTn>
                  </p:par>
                  <p:par>
                    <p:cTn id="137" fill="hold">
                      <p:stCondLst>
                        <p:cond delay="indefinite"/>
                      </p:stCondLst>
                      <p:childTnLst>
                        <p:par>
                          <p:cTn id="138" fill="hold">
                            <p:stCondLst>
                              <p:cond delay="0"/>
                            </p:stCondLst>
                            <p:childTnLst>
                              <p:par>
                                <p:cTn id="143" presetID="2" presetClass="entr" presetSubtype="4" fill="hold" grpId="0" nodeType="clickEffect">
                                  <p:stCondLst>
                                    <p:cond delay="0"/>
                                  </p:stCondLst>
                                  <p:childTnLst>
                                    <p:set>
                                      <p:cBhvr>
                                        <p:cTn id="139" dur="1" fill="hold">
                                          <p:stCondLst>
                                            <p:cond delay="0"/>
                                          </p:stCondLst>
                                        </p:cTn>
                                        <p:tgtEl>
                                          <p:spTgt spid="37"/>
                                        </p:tgtEl>
                                        <p:attrNameLst>
                                          <p:attrName>style.visibility</p:attrName>
                                        </p:attrNameLst>
                                      </p:cBhvr>
                                      <p:to>
                                        <p:strVal val="visible"/>
                                      </p:to>
                                    </p:set>
                                    <p:anim calcmode="lin" valueType="num">
                                      <p:cBhvr additive="base">
                                        <p:cTn id="140" dur="500" fill="hold"/>
                                        <p:tgtEl>
                                          <p:spTgt spid="37"/>
                                        </p:tgtEl>
                                        <p:attrNameLst>
                                          <p:attrName>ppt_x</p:attrName>
                                        </p:attrNameLst>
                                      </p:cBhvr>
                                      <p:tavLst>
                                        <p:tav tm="0">
                                          <p:val>
                                            <p:strVal val="#ppt_x"/>
                                          </p:val>
                                        </p:tav>
                                        <p:tav tm="100000">
                                          <p:val>
                                            <p:strVal val="#ppt_x"/>
                                          </p:val>
                                        </p:tav>
                                      </p:tavLst>
                                    </p:anim>
                                    <p:anim calcmode="lin" valueType="num">
                                      <p:cBhvr additive="base">
                                        <p:cTn id="141" dur="500" fill="hold"/>
                                        <p:tgtEl>
                                          <p:spTgt spid="37"/>
                                        </p:tgtEl>
                                        <p:attrNameLst>
                                          <p:attrName>ppt_y</p:attrName>
                                        </p:attrNameLst>
                                      </p:cBhvr>
                                      <p:tavLst>
                                        <p:tav tm="0">
                                          <p:val>
                                            <p:strVal val="#ppt_y+0.1"/>
                                          </p:val>
                                        </p:tav>
                                        <p:tav tm="100000">
                                          <p:val>
                                            <p:strVal val="#ppt_y"/>
                                          </p:val>
                                        </p:tav>
                                      </p:tavLst>
                                    </p:anim>
                                    <p:animEffect transition="in" filter="fade">
                                      <p:cBhvr>
                                        <p:cTn id="142" dur="500"/>
                                        <p:tgtEl>
                                          <p:spTgt spid="37"/>
                                        </p:tgtEl>
                                      </p:cBhvr>
                                    </p:animEffect>
                                  </p:childTnLst>
                                </p:cTn>
                              </p:par>
                              <p:par>
                                <p:cTn id="148" presetID="2" presetClass="entr" presetSubtype="4" fill="hold" grpId="0" nodeType="withEffect">
                                  <p:stCondLst>
                                    <p:cond delay="0"/>
                                  </p:stCondLst>
                                  <p:childTnLst>
                                    <p:set>
                                      <p:cBhvr>
                                        <p:cTn id="144" dur="1" fill="hold">
                                          <p:stCondLst>
                                            <p:cond delay="0"/>
                                          </p:stCondLst>
                                        </p:cTn>
                                        <p:tgtEl>
                                          <p:spTgt spid="38"/>
                                        </p:tgtEl>
                                        <p:attrNameLst>
                                          <p:attrName>style.visibility</p:attrName>
                                        </p:attrNameLst>
                                      </p:cBhvr>
                                      <p:to>
                                        <p:strVal val="visible"/>
                                      </p:to>
                                    </p:set>
                                    <p:anim calcmode="lin" valueType="num">
                                      <p:cBhvr additive="base">
                                        <p:cTn id="145" dur="500" fill="hold"/>
                                        <p:tgtEl>
                                          <p:spTgt spid="38"/>
                                        </p:tgtEl>
                                        <p:attrNameLst>
                                          <p:attrName>ppt_x</p:attrName>
                                        </p:attrNameLst>
                                      </p:cBhvr>
                                      <p:tavLst>
                                        <p:tav tm="0">
                                          <p:val>
                                            <p:strVal val="#ppt_x"/>
                                          </p:val>
                                        </p:tav>
                                        <p:tav tm="100000">
                                          <p:val>
                                            <p:strVal val="#ppt_x"/>
                                          </p:val>
                                        </p:tav>
                                      </p:tavLst>
                                    </p:anim>
                                    <p:anim calcmode="lin" valueType="num">
                                      <p:cBhvr additive="base">
                                        <p:cTn id="146" dur="500" fill="hold"/>
                                        <p:tgtEl>
                                          <p:spTgt spid="38"/>
                                        </p:tgtEl>
                                        <p:attrNameLst>
                                          <p:attrName>ppt_y</p:attrName>
                                        </p:attrNameLst>
                                      </p:cBhvr>
                                      <p:tavLst>
                                        <p:tav tm="0">
                                          <p:val>
                                            <p:strVal val="#ppt_y+0.1"/>
                                          </p:val>
                                        </p:tav>
                                        <p:tav tm="100000">
                                          <p:val>
                                            <p:strVal val="#ppt_y"/>
                                          </p:val>
                                        </p:tav>
                                      </p:tavLst>
                                    </p:anim>
                                    <p:animEffect transition="in" filter="fade">
                                      <p:cBhvr>
                                        <p:cTn id="147" dur="500"/>
                                        <p:tgtEl>
                                          <p:spTgt spid="38"/>
                                        </p:tgtEl>
                                      </p:cBhvr>
                                    </p:animEffect>
                                  </p:childTnLst>
                                </p:cTn>
                              </p:par>
                              <p:par>
                                <p:cTn id="153" presetID="2" presetClass="entr" presetSubtype="4" fill="hold" grpId="0" nodeType="withEffect">
                                  <p:stCondLst>
                                    <p:cond delay="0"/>
                                  </p:stCondLst>
                                  <p:childTnLst>
                                    <p:set>
                                      <p:cBhvr>
                                        <p:cTn id="149" dur="1" fill="hold">
                                          <p:stCondLst>
                                            <p:cond delay="0"/>
                                          </p:stCondLst>
                                        </p:cTn>
                                        <p:tgtEl>
                                          <p:spTgt spid="39"/>
                                        </p:tgtEl>
                                        <p:attrNameLst>
                                          <p:attrName>style.visibility</p:attrName>
                                        </p:attrNameLst>
                                      </p:cBhvr>
                                      <p:to>
                                        <p:strVal val="visible"/>
                                      </p:to>
                                    </p:set>
                                    <p:anim calcmode="lin" valueType="num">
                                      <p:cBhvr additive="base">
                                        <p:cTn id="150" dur="500" fill="hold"/>
                                        <p:tgtEl>
                                          <p:spTgt spid="39"/>
                                        </p:tgtEl>
                                        <p:attrNameLst>
                                          <p:attrName>ppt_x</p:attrName>
                                        </p:attrNameLst>
                                      </p:cBhvr>
                                      <p:tavLst>
                                        <p:tav tm="0">
                                          <p:val>
                                            <p:strVal val="#ppt_x"/>
                                          </p:val>
                                        </p:tav>
                                        <p:tav tm="100000">
                                          <p:val>
                                            <p:strVal val="#ppt_x"/>
                                          </p:val>
                                        </p:tav>
                                      </p:tavLst>
                                    </p:anim>
                                    <p:anim calcmode="lin" valueType="num">
                                      <p:cBhvr additive="base">
                                        <p:cTn id="151" dur="500" fill="hold"/>
                                        <p:tgtEl>
                                          <p:spTgt spid="39"/>
                                        </p:tgtEl>
                                        <p:attrNameLst>
                                          <p:attrName>ppt_y</p:attrName>
                                        </p:attrNameLst>
                                      </p:cBhvr>
                                      <p:tavLst>
                                        <p:tav tm="0">
                                          <p:val>
                                            <p:strVal val="#ppt_y+0.1"/>
                                          </p:val>
                                        </p:tav>
                                        <p:tav tm="100000">
                                          <p:val>
                                            <p:strVal val="#ppt_y"/>
                                          </p:val>
                                        </p:tav>
                                      </p:tavLst>
                                    </p:anim>
                                    <p:animEffect transition="in" filter="fade">
                                      <p:cBhvr>
                                        <p:cTn id="152" dur="500"/>
                                        <p:tgtEl>
                                          <p:spTgt spid="39"/>
                                        </p:tgtEl>
                                      </p:cBhvr>
                                    </p:animEffect>
                                  </p:childTnLst>
                                </p:cTn>
                              </p:par>
                              <p:par>
                                <p:cTn id="158" presetID="2" presetClass="entr" presetSubtype="4" fill="hold" grpId="0" nodeType="withEffect">
                                  <p:stCondLst>
                                    <p:cond delay="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500" fill="hold"/>
                                        <p:tgtEl>
                                          <p:spTgt spid="40"/>
                                        </p:tgtEl>
                                        <p:attrNameLst>
                                          <p:attrName>ppt_x</p:attrName>
                                        </p:attrNameLst>
                                      </p:cBhvr>
                                      <p:tavLst>
                                        <p:tav tm="0">
                                          <p:val>
                                            <p:strVal val="#ppt_x"/>
                                          </p:val>
                                        </p:tav>
                                        <p:tav tm="100000">
                                          <p:val>
                                            <p:strVal val="#ppt_x"/>
                                          </p:val>
                                        </p:tav>
                                      </p:tavLst>
                                    </p:anim>
                                    <p:anim calcmode="lin" valueType="num">
                                      <p:cBhvr additive="base">
                                        <p:cTn id="156" dur="500" fill="hold"/>
                                        <p:tgtEl>
                                          <p:spTgt spid="40"/>
                                        </p:tgtEl>
                                        <p:attrNameLst>
                                          <p:attrName>ppt_y</p:attrName>
                                        </p:attrNameLst>
                                      </p:cBhvr>
                                      <p:tavLst>
                                        <p:tav tm="0">
                                          <p:val>
                                            <p:strVal val="#ppt_y+0.1"/>
                                          </p:val>
                                        </p:tav>
                                        <p:tav tm="100000">
                                          <p:val>
                                            <p:strVal val="#ppt_y"/>
                                          </p:val>
                                        </p:tav>
                                      </p:tavLst>
                                    </p:anim>
                                    <p:animEffect transition="in" filter="fade">
                                      <p:cBhvr>
                                        <p:cTn id="157" dur="500"/>
                                        <p:tgtEl>
                                          <p:spTgt spid="40"/>
                                        </p:tgtEl>
                                      </p:cBhvr>
                                    </p:animEffect>
                                  </p:childTnLst>
                                </p:cTn>
                              </p:par>
                              <p:par>
                                <p:cTn id="163" presetID="2" presetClass="entr" presetSubtype="4" fill="hold" grpId="0" nodeType="withEffect">
                                  <p:stCondLst>
                                    <p:cond delay="150"/>
                                  </p:stCondLst>
                                  <p:childTnLst>
                                    <p:set>
                                      <p:cBhvr>
                                        <p:cTn id="159" dur="1" fill="hold">
                                          <p:stCondLst>
                                            <p:cond delay="0"/>
                                          </p:stCondLst>
                                        </p:cTn>
                                        <p:tgtEl>
                                          <p:spTgt spid="41"/>
                                        </p:tgtEl>
                                        <p:attrNameLst>
                                          <p:attrName>style.visibility</p:attrName>
                                        </p:attrNameLst>
                                      </p:cBhvr>
                                      <p:to>
                                        <p:strVal val="visible"/>
                                      </p:to>
                                    </p:set>
                                    <p:anim calcmode="lin" valueType="num">
                                      <p:cBhvr additive="base">
                                        <p:cTn id="160" dur="500" fill="hold"/>
                                        <p:tgtEl>
                                          <p:spTgt spid="41"/>
                                        </p:tgtEl>
                                        <p:attrNameLst>
                                          <p:attrName>ppt_x</p:attrName>
                                        </p:attrNameLst>
                                      </p:cBhvr>
                                      <p:tavLst>
                                        <p:tav tm="0">
                                          <p:val>
                                            <p:strVal val="#ppt_x"/>
                                          </p:val>
                                        </p:tav>
                                        <p:tav tm="100000">
                                          <p:val>
                                            <p:strVal val="#ppt_x"/>
                                          </p:val>
                                        </p:tav>
                                      </p:tavLst>
                                    </p:anim>
                                    <p:anim calcmode="lin" valueType="num">
                                      <p:cBhvr additive="base">
                                        <p:cTn id="161" dur="500" fill="hold"/>
                                        <p:tgtEl>
                                          <p:spTgt spid="41"/>
                                        </p:tgtEl>
                                        <p:attrNameLst>
                                          <p:attrName>ppt_y</p:attrName>
                                        </p:attrNameLst>
                                      </p:cBhvr>
                                      <p:tavLst>
                                        <p:tav tm="0">
                                          <p:val>
                                            <p:strVal val="#ppt_y+0.1"/>
                                          </p:val>
                                        </p:tav>
                                        <p:tav tm="100000">
                                          <p:val>
                                            <p:strVal val="#ppt_y"/>
                                          </p:val>
                                        </p:tav>
                                      </p:tavLst>
                                    </p:anim>
                                    <p:animEffect transition="in" filter="fade">
                                      <p:cBhvr>
                                        <p:cTn id="162" dur="500"/>
                                        <p:tgtEl>
                                          <p:spTgt spid="41"/>
                                        </p:tgtEl>
                                      </p:cBhvr>
                                    </p:animEffect>
                                  </p:childTnLst>
                                </p:cTn>
                              </p:par>
                              <p:par>
                                <p:cTn id="168" presetID="2" presetClass="entr" presetSubtype="4" fill="hold" grpId="0" nodeType="withEffect">
                                  <p:stCondLst>
                                    <p:cond delay="150"/>
                                  </p:stCondLst>
                                  <p:childTnLst>
                                    <p:set>
                                      <p:cBhvr>
                                        <p:cTn id="164" dur="1" fill="hold">
                                          <p:stCondLst>
                                            <p:cond delay="0"/>
                                          </p:stCondLst>
                                        </p:cTn>
                                        <p:tgtEl>
                                          <p:spTgt spid="42"/>
                                        </p:tgtEl>
                                        <p:attrNameLst>
                                          <p:attrName>style.visibility</p:attrName>
                                        </p:attrNameLst>
                                      </p:cBhvr>
                                      <p:to>
                                        <p:strVal val="visible"/>
                                      </p:to>
                                    </p:set>
                                    <p:anim calcmode="lin" valueType="num">
                                      <p:cBhvr additive="base">
                                        <p:cTn id="165" dur="500" fill="hold"/>
                                        <p:tgtEl>
                                          <p:spTgt spid="42"/>
                                        </p:tgtEl>
                                        <p:attrNameLst>
                                          <p:attrName>ppt_x</p:attrName>
                                        </p:attrNameLst>
                                      </p:cBhvr>
                                      <p:tavLst>
                                        <p:tav tm="0">
                                          <p:val>
                                            <p:strVal val="#ppt_x"/>
                                          </p:val>
                                        </p:tav>
                                        <p:tav tm="100000">
                                          <p:val>
                                            <p:strVal val="#ppt_x"/>
                                          </p:val>
                                        </p:tav>
                                      </p:tavLst>
                                    </p:anim>
                                    <p:anim calcmode="lin" valueType="num">
                                      <p:cBhvr additive="base">
                                        <p:cTn id="166" dur="500" fill="hold"/>
                                        <p:tgtEl>
                                          <p:spTgt spid="42"/>
                                        </p:tgtEl>
                                        <p:attrNameLst>
                                          <p:attrName>ppt_y</p:attrName>
                                        </p:attrNameLst>
                                      </p:cBhvr>
                                      <p:tavLst>
                                        <p:tav tm="0">
                                          <p:val>
                                            <p:strVal val="#ppt_y+0.1"/>
                                          </p:val>
                                        </p:tav>
                                        <p:tav tm="100000">
                                          <p:val>
                                            <p:strVal val="#ppt_y"/>
                                          </p:val>
                                        </p:tav>
                                      </p:tavLst>
                                    </p:anim>
                                    <p:animEffect transition="in" filter="fade">
                                      <p:cBhvr>
                                        <p:cTn id="167" dur="500"/>
                                        <p:tgtEl>
                                          <p:spTgt spid="42"/>
                                        </p:tgtEl>
                                      </p:cBhvr>
                                    </p:animEffect>
                                  </p:childTnLst>
                                </p:cTn>
                              </p:par>
                              <p:par>
                                <p:cTn id="173" presetID="2" presetClass="entr" presetSubtype="4" fill="hold" grpId="0" nodeType="withEffect">
                                  <p:stCondLst>
                                    <p:cond delay="150"/>
                                  </p:stCondLst>
                                  <p:childTnLst>
                                    <p:set>
                                      <p:cBhvr>
                                        <p:cTn id="169" dur="1" fill="hold">
                                          <p:stCondLst>
                                            <p:cond delay="0"/>
                                          </p:stCondLst>
                                        </p:cTn>
                                        <p:tgtEl>
                                          <p:spTgt spid="43"/>
                                        </p:tgtEl>
                                        <p:attrNameLst>
                                          <p:attrName>style.visibility</p:attrName>
                                        </p:attrNameLst>
                                      </p:cBhvr>
                                      <p:to>
                                        <p:strVal val="visible"/>
                                      </p:to>
                                    </p:set>
                                    <p:anim calcmode="lin" valueType="num">
                                      <p:cBhvr additive="base">
                                        <p:cTn id="170" dur="500" fill="hold"/>
                                        <p:tgtEl>
                                          <p:spTgt spid="43"/>
                                        </p:tgtEl>
                                        <p:attrNameLst>
                                          <p:attrName>ppt_x</p:attrName>
                                        </p:attrNameLst>
                                      </p:cBhvr>
                                      <p:tavLst>
                                        <p:tav tm="0">
                                          <p:val>
                                            <p:strVal val="#ppt_x"/>
                                          </p:val>
                                        </p:tav>
                                        <p:tav tm="100000">
                                          <p:val>
                                            <p:strVal val="#ppt_x"/>
                                          </p:val>
                                        </p:tav>
                                      </p:tavLst>
                                    </p:anim>
                                    <p:anim calcmode="lin" valueType="num">
                                      <p:cBhvr additive="base">
                                        <p:cTn id="171" dur="500" fill="hold"/>
                                        <p:tgtEl>
                                          <p:spTgt spid="43"/>
                                        </p:tgtEl>
                                        <p:attrNameLst>
                                          <p:attrName>ppt_y</p:attrName>
                                        </p:attrNameLst>
                                      </p:cBhvr>
                                      <p:tavLst>
                                        <p:tav tm="0">
                                          <p:val>
                                            <p:strVal val="#ppt_y+0.1"/>
                                          </p:val>
                                        </p:tav>
                                        <p:tav tm="100000">
                                          <p:val>
                                            <p:strVal val="#ppt_y"/>
                                          </p:val>
                                        </p:tav>
                                      </p:tavLst>
                                    </p:anim>
                                    <p:animEffect transition="in" filter="fade">
                                      <p:cBhvr>
                                        <p:cTn id="172" dur="500"/>
                                        <p:tgtEl>
                                          <p:spTgt spid="43"/>
                                        </p:tgtEl>
                                      </p:cBhvr>
                                    </p:animEffect>
                                  </p:childTnLst>
                                </p:cTn>
                              </p:par>
                              <p:par>
                                <p:cTn id="178" presetID="2" presetClass="entr" presetSubtype="4" fill="hold" grpId="0" nodeType="withEffect">
                                  <p:stCondLst>
                                    <p:cond delay="150"/>
                                  </p:stCondLst>
                                  <p:childTnLst>
                                    <p:set>
                                      <p:cBhvr>
                                        <p:cTn id="174" dur="1" fill="hold">
                                          <p:stCondLst>
                                            <p:cond delay="0"/>
                                          </p:stCondLst>
                                        </p:cTn>
                                        <p:tgtEl>
                                          <p:spTgt spid="44"/>
                                        </p:tgtEl>
                                        <p:attrNameLst>
                                          <p:attrName>style.visibility</p:attrName>
                                        </p:attrNameLst>
                                      </p:cBhvr>
                                      <p:to>
                                        <p:strVal val="visible"/>
                                      </p:to>
                                    </p:set>
                                    <p:anim calcmode="lin" valueType="num">
                                      <p:cBhvr additive="base">
                                        <p:cTn id="175" dur="500" fill="hold"/>
                                        <p:tgtEl>
                                          <p:spTgt spid="44"/>
                                        </p:tgtEl>
                                        <p:attrNameLst>
                                          <p:attrName>ppt_x</p:attrName>
                                        </p:attrNameLst>
                                      </p:cBhvr>
                                      <p:tavLst>
                                        <p:tav tm="0">
                                          <p:val>
                                            <p:strVal val="#ppt_x"/>
                                          </p:val>
                                        </p:tav>
                                        <p:tav tm="100000">
                                          <p:val>
                                            <p:strVal val="#ppt_x"/>
                                          </p:val>
                                        </p:tav>
                                      </p:tavLst>
                                    </p:anim>
                                    <p:anim calcmode="lin" valueType="num">
                                      <p:cBhvr additive="base">
                                        <p:cTn id="176" dur="500" fill="hold"/>
                                        <p:tgtEl>
                                          <p:spTgt spid="44"/>
                                        </p:tgtEl>
                                        <p:attrNameLst>
                                          <p:attrName>ppt_y</p:attrName>
                                        </p:attrNameLst>
                                      </p:cBhvr>
                                      <p:tavLst>
                                        <p:tav tm="0">
                                          <p:val>
                                            <p:strVal val="#ppt_y+0.1"/>
                                          </p:val>
                                        </p:tav>
                                        <p:tav tm="100000">
                                          <p:val>
                                            <p:strVal val="#ppt_y"/>
                                          </p:val>
                                        </p:tav>
                                      </p:tavLst>
                                    </p:anim>
                                    <p:animEffect transition="in" filter="fade">
                                      <p:cBhvr>
                                        <p:cTn id="177" dur="500"/>
                                        <p:tgtEl>
                                          <p:spTgt spid="44"/>
                                        </p:tgtEl>
                                      </p:cBhvr>
                                    </p:animEffect>
                                  </p:childTnLst>
                                </p:cTn>
                              </p:par>
                              <p:par>
                                <p:cTn id="183" presetID="2" presetClass="entr" presetSubtype="4" fill="hold" grpId="0" nodeType="withEffect">
                                  <p:stCondLst>
                                    <p:cond delay="150"/>
                                  </p:stCondLst>
                                  <p:childTnLst>
                                    <p:set>
                                      <p:cBhvr>
                                        <p:cTn id="179" dur="1" fill="hold">
                                          <p:stCondLst>
                                            <p:cond delay="0"/>
                                          </p:stCondLst>
                                        </p:cTn>
                                        <p:tgtEl>
                                          <p:spTgt spid="45"/>
                                        </p:tgtEl>
                                        <p:attrNameLst>
                                          <p:attrName>style.visibility</p:attrName>
                                        </p:attrNameLst>
                                      </p:cBhvr>
                                      <p:to>
                                        <p:strVal val="visible"/>
                                      </p:to>
                                    </p:set>
                                    <p:anim calcmode="lin" valueType="num">
                                      <p:cBhvr additive="base">
                                        <p:cTn id="180" dur="500" fill="hold"/>
                                        <p:tgtEl>
                                          <p:spTgt spid="45"/>
                                        </p:tgtEl>
                                        <p:attrNameLst>
                                          <p:attrName>ppt_x</p:attrName>
                                        </p:attrNameLst>
                                      </p:cBhvr>
                                      <p:tavLst>
                                        <p:tav tm="0">
                                          <p:val>
                                            <p:strVal val="#ppt_x"/>
                                          </p:val>
                                        </p:tav>
                                        <p:tav tm="100000">
                                          <p:val>
                                            <p:strVal val="#ppt_x"/>
                                          </p:val>
                                        </p:tav>
                                      </p:tavLst>
                                    </p:anim>
                                    <p:anim calcmode="lin" valueType="num">
                                      <p:cBhvr additive="base">
                                        <p:cTn id="181" dur="500" fill="hold"/>
                                        <p:tgtEl>
                                          <p:spTgt spid="45"/>
                                        </p:tgtEl>
                                        <p:attrNameLst>
                                          <p:attrName>ppt_y</p:attrName>
                                        </p:attrNameLst>
                                      </p:cBhvr>
                                      <p:tavLst>
                                        <p:tav tm="0">
                                          <p:val>
                                            <p:strVal val="#ppt_y+0.1"/>
                                          </p:val>
                                        </p:tav>
                                        <p:tav tm="100000">
                                          <p:val>
                                            <p:strVal val="#ppt_y"/>
                                          </p:val>
                                        </p:tav>
                                      </p:tavLst>
                                    </p:anim>
                                    <p:animEffect transition="in" filter="fade">
                                      <p:cBhvr>
                                        <p:cTn id="182" dur="500"/>
                                        <p:tgtEl>
                                          <p:spTgt spid="45"/>
                                        </p:tgtEl>
                                      </p:cBhvr>
                                    </p:animEffect>
                                  </p:childTnLst>
                                </p:cTn>
                              </p:par>
                              <p:par>
                                <p:cTn id="188" presetID="2" presetClass="entr" presetSubtype="4" fill="hold" grpId="0" nodeType="withEffect">
                                  <p:stCondLst>
                                    <p:cond delay="150"/>
                                  </p:stCondLst>
                                  <p:childTnLst>
                                    <p:set>
                                      <p:cBhvr>
                                        <p:cTn id="184" dur="1" fill="hold">
                                          <p:stCondLst>
                                            <p:cond delay="0"/>
                                          </p:stCondLst>
                                        </p:cTn>
                                        <p:tgtEl>
                                          <p:spTgt spid="46"/>
                                        </p:tgtEl>
                                        <p:attrNameLst>
                                          <p:attrName>style.visibility</p:attrName>
                                        </p:attrNameLst>
                                      </p:cBhvr>
                                      <p:to>
                                        <p:strVal val="visible"/>
                                      </p:to>
                                    </p:set>
                                    <p:anim calcmode="lin" valueType="num">
                                      <p:cBhvr additive="base">
                                        <p:cTn id="185" dur="500" fill="hold"/>
                                        <p:tgtEl>
                                          <p:spTgt spid="46"/>
                                        </p:tgtEl>
                                        <p:attrNameLst>
                                          <p:attrName>ppt_x</p:attrName>
                                        </p:attrNameLst>
                                      </p:cBhvr>
                                      <p:tavLst>
                                        <p:tav tm="0">
                                          <p:val>
                                            <p:strVal val="#ppt_x"/>
                                          </p:val>
                                        </p:tav>
                                        <p:tav tm="100000">
                                          <p:val>
                                            <p:strVal val="#ppt_x"/>
                                          </p:val>
                                        </p:tav>
                                      </p:tavLst>
                                    </p:anim>
                                    <p:anim calcmode="lin" valueType="num">
                                      <p:cBhvr additive="base">
                                        <p:cTn id="186" dur="500" fill="hold"/>
                                        <p:tgtEl>
                                          <p:spTgt spid="46"/>
                                        </p:tgtEl>
                                        <p:attrNameLst>
                                          <p:attrName>ppt_y</p:attrName>
                                        </p:attrNameLst>
                                      </p:cBhvr>
                                      <p:tavLst>
                                        <p:tav tm="0">
                                          <p:val>
                                            <p:strVal val="#ppt_y+0.1"/>
                                          </p:val>
                                        </p:tav>
                                        <p:tav tm="100000">
                                          <p:val>
                                            <p:strVal val="#ppt_y"/>
                                          </p:val>
                                        </p:tav>
                                      </p:tavLst>
                                    </p:anim>
                                    <p:animEffect transition="in" filter="fade">
                                      <p:cBhvr>
                                        <p:cTn id="187" dur="500"/>
                                        <p:tgtEl>
                                          <p:spTgt spid="46"/>
                                        </p:tgtEl>
                                      </p:cBhvr>
                                    </p:animEffect>
                                  </p:childTnLst>
                                </p:cTn>
                              </p:par>
                              <p:par>
                                <p:cTn id="193" presetID="2" presetClass="entr" presetSubtype="4" fill="hold" grpId="0" nodeType="withEffect">
                                  <p:stCondLst>
                                    <p:cond delay="150"/>
                                  </p:stCondLst>
                                  <p:childTnLst>
                                    <p:set>
                                      <p:cBhvr>
                                        <p:cTn id="189" dur="1" fill="hold">
                                          <p:stCondLst>
                                            <p:cond delay="0"/>
                                          </p:stCondLst>
                                        </p:cTn>
                                        <p:tgtEl>
                                          <p:spTgt spid="47"/>
                                        </p:tgtEl>
                                        <p:attrNameLst>
                                          <p:attrName>style.visibility</p:attrName>
                                        </p:attrNameLst>
                                      </p:cBhvr>
                                      <p:to>
                                        <p:strVal val="visible"/>
                                      </p:to>
                                    </p:set>
                                    <p:anim calcmode="lin" valueType="num">
                                      <p:cBhvr additive="base">
                                        <p:cTn id="190" dur="500" fill="hold"/>
                                        <p:tgtEl>
                                          <p:spTgt spid="47"/>
                                        </p:tgtEl>
                                        <p:attrNameLst>
                                          <p:attrName>ppt_x</p:attrName>
                                        </p:attrNameLst>
                                      </p:cBhvr>
                                      <p:tavLst>
                                        <p:tav tm="0">
                                          <p:val>
                                            <p:strVal val="#ppt_x"/>
                                          </p:val>
                                        </p:tav>
                                        <p:tav tm="100000">
                                          <p:val>
                                            <p:strVal val="#ppt_x"/>
                                          </p:val>
                                        </p:tav>
                                      </p:tavLst>
                                    </p:anim>
                                    <p:anim calcmode="lin" valueType="num">
                                      <p:cBhvr additive="base">
                                        <p:cTn id="191" dur="500" fill="hold"/>
                                        <p:tgtEl>
                                          <p:spTgt spid="47"/>
                                        </p:tgtEl>
                                        <p:attrNameLst>
                                          <p:attrName>ppt_y</p:attrName>
                                        </p:attrNameLst>
                                      </p:cBhvr>
                                      <p:tavLst>
                                        <p:tav tm="0">
                                          <p:val>
                                            <p:strVal val="#ppt_y+0.1"/>
                                          </p:val>
                                        </p:tav>
                                        <p:tav tm="100000">
                                          <p:val>
                                            <p:strVal val="#ppt_y"/>
                                          </p:val>
                                        </p:tav>
                                      </p:tavLst>
                                    </p:anim>
                                    <p:animEffect transition="in" filter="fade">
                                      <p:cBhvr>
                                        <p:cTn id="192" dur="500"/>
                                        <p:tgtEl>
                                          <p:spTgt spid="47"/>
                                        </p:tgtEl>
                                      </p:cBhvr>
                                    </p:animEffect>
                                  </p:childTnLst>
                                </p:cTn>
                              </p:par>
                              <p:par>
                                <p:cTn id="198" presetID="2" presetClass="entr" presetSubtype="4" fill="hold" grpId="0" nodeType="withEffect">
                                  <p:stCondLst>
                                    <p:cond delay="150"/>
                                  </p:stCondLst>
                                  <p:childTnLst>
                                    <p:set>
                                      <p:cBhvr>
                                        <p:cTn id="194" dur="1" fill="hold">
                                          <p:stCondLst>
                                            <p:cond delay="0"/>
                                          </p:stCondLst>
                                        </p:cTn>
                                        <p:tgtEl>
                                          <p:spTgt spid="48"/>
                                        </p:tgtEl>
                                        <p:attrNameLst>
                                          <p:attrName>style.visibility</p:attrName>
                                        </p:attrNameLst>
                                      </p:cBhvr>
                                      <p:to>
                                        <p:strVal val="visible"/>
                                      </p:to>
                                    </p:set>
                                    <p:anim calcmode="lin" valueType="num">
                                      <p:cBhvr additive="base">
                                        <p:cTn id="195" dur="500" fill="hold"/>
                                        <p:tgtEl>
                                          <p:spTgt spid="48"/>
                                        </p:tgtEl>
                                        <p:attrNameLst>
                                          <p:attrName>ppt_x</p:attrName>
                                        </p:attrNameLst>
                                      </p:cBhvr>
                                      <p:tavLst>
                                        <p:tav tm="0">
                                          <p:val>
                                            <p:strVal val="#ppt_x"/>
                                          </p:val>
                                        </p:tav>
                                        <p:tav tm="100000">
                                          <p:val>
                                            <p:strVal val="#ppt_x"/>
                                          </p:val>
                                        </p:tav>
                                      </p:tavLst>
                                    </p:anim>
                                    <p:anim calcmode="lin" valueType="num">
                                      <p:cBhvr additive="base">
                                        <p:cTn id="196" dur="500" fill="hold"/>
                                        <p:tgtEl>
                                          <p:spTgt spid="48"/>
                                        </p:tgtEl>
                                        <p:attrNameLst>
                                          <p:attrName>ppt_y</p:attrName>
                                        </p:attrNameLst>
                                      </p:cBhvr>
                                      <p:tavLst>
                                        <p:tav tm="0">
                                          <p:val>
                                            <p:strVal val="#ppt_y+0.1"/>
                                          </p:val>
                                        </p:tav>
                                        <p:tav tm="100000">
                                          <p:val>
                                            <p:strVal val="#ppt_y"/>
                                          </p:val>
                                        </p:tav>
                                      </p:tavLst>
                                    </p:anim>
                                    <p:animEffect transition="in" filter="fade">
                                      <p:cBhvr>
                                        <p:cTn id="197" dur="500"/>
                                        <p:tgtEl>
                                          <p:spTgt spid="48"/>
                                        </p:tgtEl>
                                      </p:cBhvr>
                                    </p:animEffect>
                                  </p:childTnLst>
                                </p:cTn>
                              </p:par>
                              <p:par>
                                <p:cTn id="203" presetID="2" presetClass="entr" presetSubtype="4" fill="hold" grpId="0" nodeType="withEffect">
                                  <p:stCondLst>
                                    <p:cond delay="250"/>
                                  </p:stCondLst>
                                  <p:childTnLst>
                                    <p:set>
                                      <p:cBhvr>
                                        <p:cTn id="199" dur="1" fill="hold">
                                          <p:stCondLst>
                                            <p:cond delay="0"/>
                                          </p:stCondLst>
                                        </p:cTn>
                                        <p:tgtEl>
                                          <p:spTgt spid="49"/>
                                        </p:tgtEl>
                                        <p:attrNameLst>
                                          <p:attrName>style.visibility</p:attrName>
                                        </p:attrNameLst>
                                      </p:cBhvr>
                                      <p:to>
                                        <p:strVal val="visible"/>
                                      </p:to>
                                    </p:set>
                                    <p:anim calcmode="lin" valueType="num">
                                      <p:cBhvr additive="base">
                                        <p:cTn id="200" dur="500" fill="hold"/>
                                        <p:tgtEl>
                                          <p:spTgt spid="49"/>
                                        </p:tgtEl>
                                        <p:attrNameLst>
                                          <p:attrName>ppt_x</p:attrName>
                                        </p:attrNameLst>
                                      </p:cBhvr>
                                      <p:tavLst>
                                        <p:tav tm="0">
                                          <p:val>
                                            <p:strVal val="#ppt_x"/>
                                          </p:val>
                                        </p:tav>
                                        <p:tav tm="100000">
                                          <p:val>
                                            <p:strVal val="#ppt_x"/>
                                          </p:val>
                                        </p:tav>
                                      </p:tavLst>
                                    </p:anim>
                                    <p:anim calcmode="lin" valueType="num">
                                      <p:cBhvr additive="base">
                                        <p:cTn id="201" dur="500" fill="hold"/>
                                        <p:tgtEl>
                                          <p:spTgt spid="49"/>
                                        </p:tgtEl>
                                        <p:attrNameLst>
                                          <p:attrName>ppt_y</p:attrName>
                                        </p:attrNameLst>
                                      </p:cBhvr>
                                      <p:tavLst>
                                        <p:tav tm="0">
                                          <p:val>
                                            <p:strVal val="#ppt_y+0.1"/>
                                          </p:val>
                                        </p:tav>
                                        <p:tav tm="100000">
                                          <p:val>
                                            <p:strVal val="#ppt_y"/>
                                          </p:val>
                                        </p:tav>
                                      </p:tavLst>
                                    </p:anim>
                                    <p:animEffect transition="in" filter="fade">
                                      <p:cBhvr>
                                        <p:cTn id="202" dur="500"/>
                                        <p:tgtEl>
                                          <p:spTgt spid="49"/>
                                        </p:tgtEl>
                                      </p:cBhvr>
                                    </p:animEffect>
                                  </p:childTnLst>
                                </p:cTn>
                              </p:par>
                            </p:childTnLst>
                          </p:cTn>
                        </p:par>
                      </p:childTnLst>
                    </p:cTn>
                  </p:par>
                  <p:par>
                    <p:cTn id="204" fill="hold">
                      <p:stCondLst>
                        <p:cond delay="indefinite"/>
                      </p:stCondLst>
                      <p:childTnLst>
                        <p:par>
                          <p:cTn id="205" fill="hold">
                            <p:stCondLst>
                              <p:cond delay="0"/>
                            </p:stCondLst>
                            <p:childTnLst>
                              <p:par>
                                <p:cTn id="210" presetID="2" presetClass="entr" presetSubtype="4" fill="hold" grpId="0" nodeType="clickEffect">
                                  <p:stCondLst>
                                    <p:cond delay="0"/>
                                  </p:stCondLst>
                                  <p:childTnLst>
                                    <p:set>
                                      <p:cBhvr>
                                        <p:cTn id="206" dur="1" fill="hold">
                                          <p:stCondLst>
                                            <p:cond delay="0"/>
                                          </p:stCondLst>
                                        </p:cTn>
                                        <p:tgtEl>
                                          <p:spTgt spid="50"/>
                                        </p:tgtEl>
                                        <p:attrNameLst>
                                          <p:attrName>style.visibility</p:attrName>
                                        </p:attrNameLst>
                                      </p:cBhvr>
                                      <p:to>
                                        <p:strVal val="visible"/>
                                      </p:to>
                                    </p:set>
                                    <p:anim calcmode="lin" valueType="num">
                                      <p:cBhvr additive="base">
                                        <p:cTn id="207" dur="500" fill="hold"/>
                                        <p:tgtEl>
                                          <p:spTgt spid="50"/>
                                        </p:tgtEl>
                                        <p:attrNameLst>
                                          <p:attrName>ppt_x</p:attrName>
                                        </p:attrNameLst>
                                      </p:cBhvr>
                                      <p:tavLst>
                                        <p:tav tm="0">
                                          <p:val>
                                            <p:strVal val="#ppt_x"/>
                                          </p:val>
                                        </p:tav>
                                        <p:tav tm="100000">
                                          <p:val>
                                            <p:strVal val="#ppt_x"/>
                                          </p:val>
                                        </p:tav>
                                      </p:tavLst>
                                    </p:anim>
                                    <p:anim calcmode="lin" valueType="num">
                                      <p:cBhvr additive="base">
                                        <p:cTn id="208" dur="500" fill="hold"/>
                                        <p:tgtEl>
                                          <p:spTgt spid="50"/>
                                        </p:tgtEl>
                                        <p:attrNameLst>
                                          <p:attrName>ppt_y</p:attrName>
                                        </p:attrNameLst>
                                      </p:cBhvr>
                                      <p:tavLst>
                                        <p:tav tm="0">
                                          <p:val>
                                            <p:strVal val="#ppt_y+0.1"/>
                                          </p:val>
                                        </p:tav>
                                        <p:tav tm="100000">
                                          <p:val>
                                            <p:strVal val="#ppt_y"/>
                                          </p:val>
                                        </p:tav>
                                      </p:tavLst>
                                    </p:anim>
                                    <p:animEffect transition="in" filter="fade">
                                      <p:cBhvr>
                                        <p:cTn id="209" dur="500"/>
                                        <p:tgtEl>
                                          <p:spTgt spid="50"/>
                                        </p:tgtEl>
                                      </p:cBhvr>
                                    </p:animEffect>
                                  </p:childTnLst>
                                </p:cTn>
                              </p:par>
                              <p:par>
                                <p:cTn id="215" presetID="2" presetClass="entr" presetSubtype="4" fill="hold" grpId="0" nodeType="withEffect">
                                  <p:stCondLst>
                                    <p:cond delay="0"/>
                                  </p:stCondLst>
                                  <p:childTnLst>
                                    <p:set>
                                      <p:cBhvr>
                                        <p:cTn id="211" dur="1" fill="hold">
                                          <p:stCondLst>
                                            <p:cond delay="0"/>
                                          </p:stCondLst>
                                        </p:cTn>
                                        <p:tgtEl>
                                          <p:spTgt spid="51"/>
                                        </p:tgtEl>
                                        <p:attrNameLst>
                                          <p:attrName>style.visibility</p:attrName>
                                        </p:attrNameLst>
                                      </p:cBhvr>
                                      <p:to>
                                        <p:strVal val="visible"/>
                                      </p:to>
                                    </p:set>
                                    <p:anim calcmode="lin" valueType="num">
                                      <p:cBhvr additive="base">
                                        <p:cTn id="212" dur="500" fill="hold"/>
                                        <p:tgtEl>
                                          <p:spTgt spid="51"/>
                                        </p:tgtEl>
                                        <p:attrNameLst>
                                          <p:attrName>ppt_x</p:attrName>
                                        </p:attrNameLst>
                                      </p:cBhvr>
                                      <p:tavLst>
                                        <p:tav tm="0">
                                          <p:val>
                                            <p:strVal val="#ppt_x"/>
                                          </p:val>
                                        </p:tav>
                                        <p:tav tm="100000">
                                          <p:val>
                                            <p:strVal val="#ppt_x"/>
                                          </p:val>
                                        </p:tav>
                                      </p:tavLst>
                                    </p:anim>
                                    <p:anim calcmode="lin" valueType="num">
                                      <p:cBhvr additive="base">
                                        <p:cTn id="213" dur="500" fill="hold"/>
                                        <p:tgtEl>
                                          <p:spTgt spid="51"/>
                                        </p:tgtEl>
                                        <p:attrNameLst>
                                          <p:attrName>ppt_y</p:attrName>
                                        </p:attrNameLst>
                                      </p:cBhvr>
                                      <p:tavLst>
                                        <p:tav tm="0">
                                          <p:val>
                                            <p:strVal val="#ppt_y+0.1"/>
                                          </p:val>
                                        </p:tav>
                                        <p:tav tm="100000">
                                          <p:val>
                                            <p:strVal val="#ppt_y"/>
                                          </p:val>
                                        </p:tav>
                                      </p:tavLst>
                                    </p:anim>
                                    <p:animEffect transition="in" filter="fade">
                                      <p:cBhvr>
                                        <p:cTn id="214" dur="500"/>
                                        <p:tgtEl>
                                          <p:spTgt spid="51"/>
                                        </p:tgtEl>
                                      </p:cBhvr>
                                    </p:animEffect>
                                  </p:childTnLst>
                                </p:cTn>
                              </p:par>
                              <p:par>
                                <p:cTn id="220" presetID="2" presetClass="entr" presetSubtype="4" fill="hold" grpId="0" nodeType="withEffect">
                                  <p:stCondLst>
                                    <p:cond delay="0"/>
                                  </p:stCondLst>
                                  <p:childTnLst>
                                    <p:set>
                                      <p:cBhvr>
                                        <p:cTn id="216" dur="1" fill="hold">
                                          <p:stCondLst>
                                            <p:cond delay="0"/>
                                          </p:stCondLst>
                                        </p:cTn>
                                        <p:tgtEl>
                                          <p:spTgt spid="52"/>
                                        </p:tgtEl>
                                        <p:attrNameLst>
                                          <p:attrName>style.visibility</p:attrName>
                                        </p:attrNameLst>
                                      </p:cBhvr>
                                      <p:to>
                                        <p:strVal val="visible"/>
                                      </p:to>
                                    </p:set>
                                    <p:anim calcmode="lin" valueType="num">
                                      <p:cBhvr additive="base">
                                        <p:cTn id="217" dur="500" fill="hold"/>
                                        <p:tgtEl>
                                          <p:spTgt spid="52"/>
                                        </p:tgtEl>
                                        <p:attrNameLst>
                                          <p:attrName>ppt_x</p:attrName>
                                        </p:attrNameLst>
                                      </p:cBhvr>
                                      <p:tavLst>
                                        <p:tav tm="0">
                                          <p:val>
                                            <p:strVal val="#ppt_x"/>
                                          </p:val>
                                        </p:tav>
                                        <p:tav tm="100000">
                                          <p:val>
                                            <p:strVal val="#ppt_x"/>
                                          </p:val>
                                        </p:tav>
                                      </p:tavLst>
                                    </p:anim>
                                    <p:anim calcmode="lin" valueType="num">
                                      <p:cBhvr additive="base">
                                        <p:cTn id="218" dur="500" fill="hold"/>
                                        <p:tgtEl>
                                          <p:spTgt spid="52"/>
                                        </p:tgtEl>
                                        <p:attrNameLst>
                                          <p:attrName>ppt_y</p:attrName>
                                        </p:attrNameLst>
                                      </p:cBhvr>
                                      <p:tavLst>
                                        <p:tav tm="0">
                                          <p:val>
                                            <p:strVal val="#ppt_y+0.1"/>
                                          </p:val>
                                        </p:tav>
                                        <p:tav tm="100000">
                                          <p:val>
                                            <p:strVal val="#ppt_y"/>
                                          </p:val>
                                        </p:tav>
                                      </p:tavLst>
                                    </p:anim>
                                    <p:animEffect transition="in" filter="fade">
                                      <p:cBhvr>
                                        <p:cTn id="219" dur="500"/>
                                        <p:tgtEl>
                                          <p:spTgt spid="52"/>
                                        </p:tgtEl>
                                      </p:cBhvr>
                                    </p:animEffect>
                                  </p:childTnLst>
                                </p:cTn>
                              </p:par>
                              <p:par>
                                <p:cTn id="225" presetID="2" presetClass="entr" presetSubtype="4" fill="hold" grpId="0" nodeType="withEffect">
                                  <p:stCondLst>
                                    <p:cond delay="0"/>
                                  </p:stCondLst>
                                  <p:childTnLst>
                                    <p:set>
                                      <p:cBhvr>
                                        <p:cTn id="221" dur="1" fill="hold">
                                          <p:stCondLst>
                                            <p:cond delay="0"/>
                                          </p:stCondLst>
                                        </p:cTn>
                                        <p:tgtEl>
                                          <p:spTgt spid="53"/>
                                        </p:tgtEl>
                                        <p:attrNameLst>
                                          <p:attrName>style.visibility</p:attrName>
                                        </p:attrNameLst>
                                      </p:cBhvr>
                                      <p:to>
                                        <p:strVal val="visible"/>
                                      </p:to>
                                    </p:set>
                                    <p:anim calcmode="lin" valueType="num">
                                      <p:cBhvr additive="base">
                                        <p:cTn id="222" dur="500" fill="hold"/>
                                        <p:tgtEl>
                                          <p:spTgt spid="53"/>
                                        </p:tgtEl>
                                        <p:attrNameLst>
                                          <p:attrName>ppt_x</p:attrName>
                                        </p:attrNameLst>
                                      </p:cBhvr>
                                      <p:tavLst>
                                        <p:tav tm="0">
                                          <p:val>
                                            <p:strVal val="#ppt_x"/>
                                          </p:val>
                                        </p:tav>
                                        <p:tav tm="100000">
                                          <p:val>
                                            <p:strVal val="#ppt_x"/>
                                          </p:val>
                                        </p:tav>
                                      </p:tavLst>
                                    </p:anim>
                                    <p:anim calcmode="lin" valueType="num">
                                      <p:cBhvr additive="base">
                                        <p:cTn id="223" dur="500" fill="hold"/>
                                        <p:tgtEl>
                                          <p:spTgt spid="53"/>
                                        </p:tgtEl>
                                        <p:attrNameLst>
                                          <p:attrName>ppt_y</p:attrName>
                                        </p:attrNameLst>
                                      </p:cBhvr>
                                      <p:tavLst>
                                        <p:tav tm="0">
                                          <p:val>
                                            <p:strVal val="#ppt_y+0.1"/>
                                          </p:val>
                                        </p:tav>
                                        <p:tav tm="100000">
                                          <p:val>
                                            <p:strVal val="#ppt_y"/>
                                          </p:val>
                                        </p:tav>
                                      </p:tavLst>
                                    </p:anim>
                                    <p:animEffect transition="in" filter="fade">
                                      <p:cBhvr>
                                        <p:cTn id="224" dur="500"/>
                                        <p:tgtEl>
                                          <p:spTgt spid="53"/>
                                        </p:tgtEl>
                                      </p:cBhvr>
                                    </p:animEffect>
                                  </p:childTnLst>
                                </p:cTn>
                              </p:par>
                              <p:par>
                                <p:cTn id="230" presetID="2" presetClass="entr" presetSubtype="4" fill="hold" grpId="0" nodeType="withEffect">
                                  <p:stCondLst>
                                    <p:cond delay="150"/>
                                  </p:stCondLst>
                                  <p:childTnLst>
                                    <p:set>
                                      <p:cBhvr>
                                        <p:cTn id="226" dur="1" fill="hold">
                                          <p:stCondLst>
                                            <p:cond delay="0"/>
                                          </p:stCondLst>
                                        </p:cTn>
                                        <p:tgtEl>
                                          <p:spTgt spid="54"/>
                                        </p:tgtEl>
                                        <p:attrNameLst>
                                          <p:attrName>style.visibility</p:attrName>
                                        </p:attrNameLst>
                                      </p:cBhvr>
                                      <p:to>
                                        <p:strVal val="visible"/>
                                      </p:to>
                                    </p:set>
                                    <p:anim calcmode="lin" valueType="num">
                                      <p:cBhvr additive="base">
                                        <p:cTn id="227" dur="500" fill="hold"/>
                                        <p:tgtEl>
                                          <p:spTgt spid="54"/>
                                        </p:tgtEl>
                                        <p:attrNameLst>
                                          <p:attrName>ppt_x</p:attrName>
                                        </p:attrNameLst>
                                      </p:cBhvr>
                                      <p:tavLst>
                                        <p:tav tm="0">
                                          <p:val>
                                            <p:strVal val="#ppt_x"/>
                                          </p:val>
                                        </p:tav>
                                        <p:tav tm="100000">
                                          <p:val>
                                            <p:strVal val="#ppt_x"/>
                                          </p:val>
                                        </p:tav>
                                      </p:tavLst>
                                    </p:anim>
                                    <p:anim calcmode="lin" valueType="num">
                                      <p:cBhvr additive="base">
                                        <p:cTn id="228" dur="500" fill="hold"/>
                                        <p:tgtEl>
                                          <p:spTgt spid="54"/>
                                        </p:tgtEl>
                                        <p:attrNameLst>
                                          <p:attrName>ppt_y</p:attrName>
                                        </p:attrNameLst>
                                      </p:cBhvr>
                                      <p:tavLst>
                                        <p:tav tm="0">
                                          <p:val>
                                            <p:strVal val="#ppt_y+0.1"/>
                                          </p:val>
                                        </p:tav>
                                        <p:tav tm="100000">
                                          <p:val>
                                            <p:strVal val="#ppt_y"/>
                                          </p:val>
                                        </p:tav>
                                      </p:tavLst>
                                    </p:anim>
                                    <p:animEffect transition="in" filter="fade">
                                      <p:cBhvr>
                                        <p:cTn id="229" dur="500"/>
                                        <p:tgtEl>
                                          <p:spTgt spid="54"/>
                                        </p:tgtEl>
                                      </p:cBhvr>
                                    </p:animEffect>
                                  </p:childTnLst>
                                </p:cTn>
                              </p:par>
                              <p:par>
                                <p:cTn id="235" presetID="2" presetClass="entr" presetSubtype="4" fill="hold" grpId="0" nodeType="withEffect">
                                  <p:stCondLst>
                                    <p:cond delay="150"/>
                                  </p:stCondLst>
                                  <p:childTnLst>
                                    <p:set>
                                      <p:cBhvr>
                                        <p:cTn id="231" dur="1" fill="hold">
                                          <p:stCondLst>
                                            <p:cond delay="0"/>
                                          </p:stCondLst>
                                        </p:cTn>
                                        <p:tgtEl>
                                          <p:spTgt spid="55"/>
                                        </p:tgtEl>
                                        <p:attrNameLst>
                                          <p:attrName>style.visibility</p:attrName>
                                        </p:attrNameLst>
                                      </p:cBhvr>
                                      <p:to>
                                        <p:strVal val="visible"/>
                                      </p:to>
                                    </p:set>
                                    <p:anim calcmode="lin" valueType="num">
                                      <p:cBhvr additive="base">
                                        <p:cTn id="232" dur="500" fill="hold"/>
                                        <p:tgtEl>
                                          <p:spTgt spid="55"/>
                                        </p:tgtEl>
                                        <p:attrNameLst>
                                          <p:attrName>ppt_x</p:attrName>
                                        </p:attrNameLst>
                                      </p:cBhvr>
                                      <p:tavLst>
                                        <p:tav tm="0">
                                          <p:val>
                                            <p:strVal val="#ppt_x"/>
                                          </p:val>
                                        </p:tav>
                                        <p:tav tm="100000">
                                          <p:val>
                                            <p:strVal val="#ppt_x"/>
                                          </p:val>
                                        </p:tav>
                                      </p:tavLst>
                                    </p:anim>
                                    <p:anim calcmode="lin" valueType="num">
                                      <p:cBhvr additive="base">
                                        <p:cTn id="233" dur="500" fill="hold"/>
                                        <p:tgtEl>
                                          <p:spTgt spid="55"/>
                                        </p:tgtEl>
                                        <p:attrNameLst>
                                          <p:attrName>ppt_y</p:attrName>
                                        </p:attrNameLst>
                                      </p:cBhvr>
                                      <p:tavLst>
                                        <p:tav tm="0">
                                          <p:val>
                                            <p:strVal val="#ppt_y+0.1"/>
                                          </p:val>
                                        </p:tav>
                                        <p:tav tm="100000">
                                          <p:val>
                                            <p:strVal val="#ppt_y"/>
                                          </p:val>
                                        </p:tav>
                                      </p:tavLst>
                                    </p:anim>
                                    <p:animEffect transition="in" filter="fade">
                                      <p:cBhvr>
                                        <p:cTn id="234" dur="500"/>
                                        <p:tgtEl>
                                          <p:spTgt spid="55"/>
                                        </p:tgtEl>
                                      </p:cBhvr>
                                    </p:animEffect>
                                  </p:childTnLst>
                                </p:cTn>
                              </p:par>
                              <p:par>
                                <p:cTn id="240" presetID="2" presetClass="entr" presetSubtype="4" fill="hold" grpId="0" nodeType="withEffect">
                                  <p:stCondLst>
                                    <p:cond delay="150"/>
                                  </p:stCondLst>
                                  <p:childTnLst>
                                    <p:set>
                                      <p:cBhvr>
                                        <p:cTn id="236" dur="1" fill="hold">
                                          <p:stCondLst>
                                            <p:cond delay="0"/>
                                          </p:stCondLst>
                                        </p:cTn>
                                        <p:tgtEl>
                                          <p:spTgt spid="56"/>
                                        </p:tgtEl>
                                        <p:attrNameLst>
                                          <p:attrName>style.visibility</p:attrName>
                                        </p:attrNameLst>
                                      </p:cBhvr>
                                      <p:to>
                                        <p:strVal val="visible"/>
                                      </p:to>
                                    </p:set>
                                    <p:anim calcmode="lin" valueType="num">
                                      <p:cBhvr additive="base">
                                        <p:cTn id="237" dur="500" fill="hold"/>
                                        <p:tgtEl>
                                          <p:spTgt spid="56"/>
                                        </p:tgtEl>
                                        <p:attrNameLst>
                                          <p:attrName>ppt_x</p:attrName>
                                        </p:attrNameLst>
                                      </p:cBhvr>
                                      <p:tavLst>
                                        <p:tav tm="0">
                                          <p:val>
                                            <p:strVal val="#ppt_x"/>
                                          </p:val>
                                        </p:tav>
                                        <p:tav tm="100000">
                                          <p:val>
                                            <p:strVal val="#ppt_x"/>
                                          </p:val>
                                        </p:tav>
                                      </p:tavLst>
                                    </p:anim>
                                    <p:anim calcmode="lin" valueType="num">
                                      <p:cBhvr additive="base">
                                        <p:cTn id="238" dur="500" fill="hold"/>
                                        <p:tgtEl>
                                          <p:spTgt spid="56"/>
                                        </p:tgtEl>
                                        <p:attrNameLst>
                                          <p:attrName>ppt_y</p:attrName>
                                        </p:attrNameLst>
                                      </p:cBhvr>
                                      <p:tavLst>
                                        <p:tav tm="0">
                                          <p:val>
                                            <p:strVal val="#ppt_y+0.1"/>
                                          </p:val>
                                        </p:tav>
                                        <p:tav tm="100000">
                                          <p:val>
                                            <p:strVal val="#ppt_y"/>
                                          </p:val>
                                        </p:tav>
                                      </p:tavLst>
                                    </p:anim>
                                    <p:animEffect transition="in" filter="fade">
                                      <p:cBhvr>
                                        <p:cTn id="239" dur="500"/>
                                        <p:tgtEl>
                                          <p:spTgt spid="56"/>
                                        </p:tgtEl>
                                      </p:cBhvr>
                                    </p:animEffect>
                                  </p:childTnLst>
                                </p:cTn>
                              </p:par>
                              <p:par>
                                <p:cTn id="245" presetID="2" presetClass="entr" presetSubtype="4" fill="hold" grpId="0" nodeType="withEffect">
                                  <p:stCondLst>
                                    <p:cond delay="150"/>
                                  </p:stCondLst>
                                  <p:childTnLst>
                                    <p:set>
                                      <p:cBhvr>
                                        <p:cTn id="241" dur="1" fill="hold">
                                          <p:stCondLst>
                                            <p:cond delay="0"/>
                                          </p:stCondLst>
                                        </p:cTn>
                                        <p:tgtEl>
                                          <p:spTgt spid="57"/>
                                        </p:tgtEl>
                                        <p:attrNameLst>
                                          <p:attrName>style.visibility</p:attrName>
                                        </p:attrNameLst>
                                      </p:cBhvr>
                                      <p:to>
                                        <p:strVal val="visible"/>
                                      </p:to>
                                    </p:set>
                                    <p:anim calcmode="lin" valueType="num">
                                      <p:cBhvr additive="base">
                                        <p:cTn id="242" dur="500" fill="hold"/>
                                        <p:tgtEl>
                                          <p:spTgt spid="57"/>
                                        </p:tgtEl>
                                        <p:attrNameLst>
                                          <p:attrName>ppt_x</p:attrName>
                                        </p:attrNameLst>
                                      </p:cBhvr>
                                      <p:tavLst>
                                        <p:tav tm="0">
                                          <p:val>
                                            <p:strVal val="#ppt_x"/>
                                          </p:val>
                                        </p:tav>
                                        <p:tav tm="100000">
                                          <p:val>
                                            <p:strVal val="#ppt_x"/>
                                          </p:val>
                                        </p:tav>
                                      </p:tavLst>
                                    </p:anim>
                                    <p:anim calcmode="lin" valueType="num">
                                      <p:cBhvr additive="base">
                                        <p:cTn id="243" dur="500" fill="hold"/>
                                        <p:tgtEl>
                                          <p:spTgt spid="57"/>
                                        </p:tgtEl>
                                        <p:attrNameLst>
                                          <p:attrName>ppt_y</p:attrName>
                                        </p:attrNameLst>
                                      </p:cBhvr>
                                      <p:tavLst>
                                        <p:tav tm="0">
                                          <p:val>
                                            <p:strVal val="#ppt_y+0.1"/>
                                          </p:val>
                                        </p:tav>
                                        <p:tav tm="100000">
                                          <p:val>
                                            <p:strVal val="#ppt_y"/>
                                          </p:val>
                                        </p:tav>
                                      </p:tavLst>
                                    </p:anim>
                                    <p:animEffect transition="in" filter="fade">
                                      <p:cBhvr>
                                        <p:cTn id="244" dur="500"/>
                                        <p:tgtEl>
                                          <p:spTgt spid="57"/>
                                        </p:tgtEl>
                                      </p:cBhvr>
                                    </p:animEffect>
                                  </p:childTnLst>
                                </p:cTn>
                              </p:par>
                              <p:par>
                                <p:cTn id="250" presetID="2" presetClass="entr" presetSubtype="4" fill="hold" grpId="0" nodeType="withEffect">
                                  <p:stCondLst>
                                    <p:cond delay="150"/>
                                  </p:stCondLst>
                                  <p:childTnLst>
                                    <p:set>
                                      <p:cBhvr>
                                        <p:cTn id="246" dur="1" fill="hold">
                                          <p:stCondLst>
                                            <p:cond delay="0"/>
                                          </p:stCondLst>
                                        </p:cTn>
                                        <p:tgtEl>
                                          <p:spTgt spid="58"/>
                                        </p:tgtEl>
                                        <p:attrNameLst>
                                          <p:attrName>style.visibility</p:attrName>
                                        </p:attrNameLst>
                                      </p:cBhvr>
                                      <p:to>
                                        <p:strVal val="visible"/>
                                      </p:to>
                                    </p:set>
                                    <p:anim calcmode="lin" valueType="num">
                                      <p:cBhvr additive="base">
                                        <p:cTn id="247" dur="500" fill="hold"/>
                                        <p:tgtEl>
                                          <p:spTgt spid="58"/>
                                        </p:tgtEl>
                                        <p:attrNameLst>
                                          <p:attrName>ppt_x</p:attrName>
                                        </p:attrNameLst>
                                      </p:cBhvr>
                                      <p:tavLst>
                                        <p:tav tm="0">
                                          <p:val>
                                            <p:strVal val="#ppt_x"/>
                                          </p:val>
                                        </p:tav>
                                        <p:tav tm="100000">
                                          <p:val>
                                            <p:strVal val="#ppt_x"/>
                                          </p:val>
                                        </p:tav>
                                      </p:tavLst>
                                    </p:anim>
                                    <p:anim calcmode="lin" valueType="num">
                                      <p:cBhvr additive="base">
                                        <p:cTn id="248" dur="500" fill="hold"/>
                                        <p:tgtEl>
                                          <p:spTgt spid="58"/>
                                        </p:tgtEl>
                                        <p:attrNameLst>
                                          <p:attrName>ppt_y</p:attrName>
                                        </p:attrNameLst>
                                      </p:cBhvr>
                                      <p:tavLst>
                                        <p:tav tm="0">
                                          <p:val>
                                            <p:strVal val="#ppt_y+0.1"/>
                                          </p:val>
                                        </p:tav>
                                        <p:tav tm="100000">
                                          <p:val>
                                            <p:strVal val="#ppt_y"/>
                                          </p:val>
                                        </p:tav>
                                      </p:tavLst>
                                    </p:anim>
                                    <p:animEffect transition="in" filter="fade">
                                      <p:cBhvr>
                                        <p:cTn id="249" dur="500"/>
                                        <p:tgtEl>
                                          <p:spTgt spid="58"/>
                                        </p:tgtEl>
                                      </p:cBhvr>
                                    </p:animEffect>
                                  </p:childTnLst>
                                </p:cTn>
                              </p:par>
                              <p:par>
                                <p:cTn id="255" presetID="2" presetClass="entr" presetSubtype="4" fill="hold" grpId="0" nodeType="withEffect">
                                  <p:stCondLst>
                                    <p:cond delay="150"/>
                                  </p:stCondLst>
                                  <p:childTnLst>
                                    <p:set>
                                      <p:cBhvr>
                                        <p:cTn id="251" dur="1" fill="hold">
                                          <p:stCondLst>
                                            <p:cond delay="0"/>
                                          </p:stCondLst>
                                        </p:cTn>
                                        <p:tgtEl>
                                          <p:spTgt spid="59"/>
                                        </p:tgtEl>
                                        <p:attrNameLst>
                                          <p:attrName>style.visibility</p:attrName>
                                        </p:attrNameLst>
                                      </p:cBhvr>
                                      <p:to>
                                        <p:strVal val="visible"/>
                                      </p:to>
                                    </p:set>
                                    <p:anim calcmode="lin" valueType="num">
                                      <p:cBhvr additive="base">
                                        <p:cTn id="252" dur="500" fill="hold"/>
                                        <p:tgtEl>
                                          <p:spTgt spid="59"/>
                                        </p:tgtEl>
                                        <p:attrNameLst>
                                          <p:attrName>ppt_x</p:attrName>
                                        </p:attrNameLst>
                                      </p:cBhvr>
                                      <p:tavLst>
                                        <p:tav tm="0">
                                          <p:val>
                                            <p:strVal val="#ppt_x"/>
                                          </p:val>
                                        </p:tav>
                                        <p:tav tm="100000">
                                          <p:val>
                                            <p:strVal val="#ppt_x"/>
                                          </p:val>
                                        </p:tav>
                                      </p:tavLst>
                                    </p:anim>
                                    <p:anim calcmode="lin" valueType="num">
                                      <p:cBhvr additive="base">
                                        <p:cTn id="253" dur="500" fill="hold"/>
                                        <p:tgtEl>
                                          <p:spTgt spid="59"/>
                                        </p:tgtEl>
                                        <p:attrNameLst>
                                          <p:attrName>ppt_y</p:attrName>
                                        </p:attrNameLst>
                                      </p:cBhvr>
                                      <p:tavLst>
                                        <p:tav tm="0">
                                          <p:val>
                                            <p:strVal val="#ppt_y+0.1"/>
                                          </p:val>
                                        </p:tav>
                                        <p:tav tm="100000">
                                          <p:val>
                                            <p:strVal val="#ppt_y"/>
                                          </p:val>
                                        </p:tav>
                                      </p:tavLst>
                                    </p:anim>
                                    <p:animEffect transition="in" filter="fade">
                                      <p:cBhvr>
                                        <p:cTn id="254" dur="500"/>
                                        <p:tgtEl>
                                          <p:spTgt spid="59"/>
                                        </p:tgtEl>
                                      </p:cBhvr>
                                    </p:animEffect>
                                  </p:childTnLst>
                                </p:cTn>
                              </p:par>
                              <p:par>
                                <p:cTn id="260" presetID="2" presetClass="entr" presetSubtype="4" fill="hold" grpId="0" nodeType="withEffect">
                                  <p:stCondLst>
                                    <p:cond delay="150"/>
                                  </p:stCondLst>
                                  <p:childTnLst>
                                    <p:set>
                                      <p:cBhvr>
                                        <p:cTn id="256" dur="1" fill="hold">
                                          <p:stCondLst>
                                            <p:cond delay="0"/>
                                          </p:stCondLst>
                                        </p:cTn>
                                        <p:tgtEl>
                                          <p:spTgt spid="60"/>
                                        </p:tgtEl>
                                        <p:attrNameLst>
                                          <p:attrName>style.visibility</p:attrName>
                                        </p:attrNameLst>
                                      </p:cBhvr>
                                      <p:to>
                                        <p:strVal val="visible"/>
                                      </p:to>
                                    </p:set>
                                    <p:anim calcmode="lin" valueType="num">
                                      <p:cBhvr additive="base">
                                        <p:cTn id="257" dur="500" fill="hold"/>
                                        <p:tgtEl>
                                          <p:spTgt spid="60"/>
                                        </p:tgtEl>
                                        <p:attrNameLst>
                                          <p:attrName>ppt_x</p:attrName>
                                        </p:attrNameLst>
                                      </p:cBhvr>
                                      <p:tavLst>
                                        <p:tav tm="0">
                                          <p:val>
                                            <p:strVal val="#ppt_x"/>
                                          </p:val>
                                        </p:tav>
                                        <p:tav tm="100000">
                                          <p:val>
                                            <p:strVal val="#ppt_x"/>
                                          </p:val>
                                        </p:tav>
                                      </p:tavLst>
                                    </p:anim>
                                    <p:anim calcmode="lin" valueType="num">
                                      <p:cBhvr additive="base">
                                        <p:cTn id="258" dur="500" fill="hold"/>
                                        <p:tgtEl>
                                          <p:spTgt spid="60"/>
                                        </p:tgtEl>
                                        <p:attrNameLst>
                                          <p:attrName>ppt_y</p:attrName>
                                        </p:attrNameLst>
                                      </p:cBhvr>
                                      <p:tavLst>
                                        <p:tav tm="0">
                                          <p:val>
                                            <p:strVal val="#ppt_y+0.1"/>
                                          </p:val>
                                        </p:tav>
                                        <p:tav tm="100000">
                                          <p:val>
                                            <p:strVal val="#ppt_y"/>
                                          </p:val>
                                        </p:tav>
                                      </p:tavLst>
                                    </p:anim>
                                    <p:animEffect transition="in" filter="fade">
                                      <p:cBhvr>
                                        <p:cTn id="259" dur="500"/>
                                        <p:tgtEl>
                                          <p:spTgt spid="60"/>
                                        </p:tgtEl>
                                      </p:cBhvr>
                                    </p:animEffect>
                                  </p:childTnLst>
                                </p:cTn>
                              </p:par>
                              <p:par>
                                <p:cTn id="265" presetID="2" presetClass="entr" presetSubtype="4" fill="hold" grpId="0" nodeType="withEffect">
                                  <p:stCondLst>
                                    <p:cond delay="150"/>
                                  </p:stCondLst>
                                  <p:childTnLst>
                                    <p:set>
                                      <p:cBhvr>
                                        <p:cTn id="261" dur="1" fill="hold">
                                          <p:stCondLst>
                                            <p:cond delay="0"/>
                                          </p:stCondLst>
                                        </p:cTn>
                                        <p:tgtEl>
                                          <p:spTgt spid="61"/>
                                        </p:tgtEl>
                                        <p:attrNameLst>
                                          <p:attrName>style.visibility</p:attrName>
                                        </p:attrNameLst>
                                      </p:cBhvr>
                                      <p:to>
                                        <p:strVal val="visible"/>
                                      </p:to>
                                    </p:set>
                                    <p:anim calcmode="lin" valueType="num">
                                      <p:cBhvr additive="base">
                                        <p:cTn id="262" dur="500" fill="hold"/>
                                        <p:tgtEl>
                                          <p:spTgt spid="61"/>
                                        </p:tgtEl>
                                        <p:attrNameLst>
                                          <p:attrName>ppt_x</p:attrName>
                                        </p:attrNameLst>
                                      </p:cBhvr>
                                      <p:tavLst>
                                        <p:tav tm="0">
                                          <p:val>
                                            <p:strVal val="#ppt_x"/>
                                          </p:val>
                                        </p:tav>
                                        <p:tav tm="100000">
                                          <p:val>
                                            <p:strVal val="#ppt_x"/>
                                          </p:val>
                                        </p:tav>
                                      </p:tavLst>
                                    </p:anim>
                                    <p:anim calcmode="lin" valueType="num">
                                      <p:cBhvr additive="base">
                                        <p:cTn id="263" dur="500" fill="hold"/>
                                        <p:tgtEl>
                                          <p:spTgt spid="61"/>
                                        </p:tgtEl>
                                        <p:attrNameLst>
                                          <p:attrName>ppt_y</p:attrName>
                                        </p:attrNameLst>
                                      </p:cBhvr>
                                      <p:tavLst>
                                        <p:tav tm="0">
                                          <p:val>
                                            <p:strVal val="#ppt_y+0.1"/>
                                          </p:val>
                                        </p:tav>
                                        <p:tav tm="100000">
                                          <p:val>
                                            <p:strVal val="#ppt_y"/>
                                          </p:val>
                                        </p:tav>
                                      </p:tavLst>
                                    </p:anim>
                                    <p:animEffect transition="in" filter="fade">
                                      <p:cBhvr>
                                        <p:cTn id="264" dur="500"/>
                                        <p:tgtEl>
                                          <p:spTgt spid="61"/>
                                        </p:tgtEl>
                                      </p:cBhvr>
                                    </p:animEffect>
                                  </p:childTnLst>
                                </p:cTn>
                              </p:par>
                              <p:par>
                                <p:cTn id="270" presetID="2" presetClass="entr" presetSubtype="4" fill="hold" grpId="0" nodeType="withEffect">
                                  <p:stCondLst>
                                    <p:cond delay="150"/>
                                  </p:stCondLst>
                                  <p:childTnLst>
                                    <p:set>
                                      <p:cBhvr>
                                        <p:cTn id="266" dur="1" fill="hold">
                                          <p:stCondLst>
                                            <p:cond delay="0"/>
                                          </p:stCondLst>
                                        </p:cTn>
                                        <p:tgtEl>
                                          <p:spTgt spid="62"/>
                                        </p:tgtEl>
                                        <p:attrNameLst>
                                          <p:attrName>style.visibility</p:attrName>
                                        </p:attrNameLst>
                                      </p:cBhvr>
                                      <p:to>
                                        <p:strVal val="visible"/>
                                      </p:to>
                                    </p:set>
                                    <p:anim calcmode="lin" valueType="num">
                                      <p:cBhvr additive="base">
                                        <p:cTn id="267" dur="500" fill="hold"/>
                                        <p:tgtEl>
                                          <p:spTgt spid="62"/>
                                        </p:tgtEl>
                                        <p:attrNameLst>
                                          <p:attrName>ppt_x</p:attrName>
                                        </p:attrNameLst>
                                      </p:cBhvr>
                                      <p:tavLst>
                                        <p:tav tm="0">
                                          <p:val>
                                            <p:strVal val="#ppt_x"/>
                                          </p:val>
                                        </p:tav>
                                        <p:tav tm="100000">
                                          <p:val>
                                            <p:strVal val="#ppt_x"/>
                                          </p:val>
                                        </p:tav>
                                      </p:tavLst>
                                    </p:anim>
                                    <p:anim calcmode="lin" valueType="num">
                                      <p:cBhvr additive="base">
                                        <p:cTn id="268" dur="500" fill="hold"/>
                                        <p:tgtEl>
                                          <p:spTgt spid="62"/>
                                        </p:tgtEl>
                                        <p:attrNameLst>
                                          <p:attrName>ppt_y</p:attrName>
                                        </p:attrNameLst>
                                      </p:cBhvr>
                                      <p:tavLst>
                                        <p:tav tm="0">
                                          <p:val>
                                            <p:strVal val="#ppt_y+0.1"/>
                                          </p:val>
                                        </p:tav>
                                        <p:tav tm="100000">
                                          <p:val>
                                            <p:strVal val="#ppt_y"/>
                                          </p:val>
                                        </p:tav>
                                      </p:tavLst>
                                    </p:anim>
                                    <p:animEffect transition="in" filter="fade">
                                      <p:cBhvr>
                                        <p:cTn id="269" dur="500"/>
                                        <p:tgtEl>
                                          <p:spTgt spid="62"/>
                                        </p:tgtEl>
                                      </p:cBhvr>
                                    </p:animEffect>
                                  </p:childTnLst>
                                </p:cTn>
                              </p:par>
                              <p:par>
                                <p:cTn id="275" presetID="2" presetClass="entr" presetSubtype="4" fill="hold" grpId="0" nodeType="withEffect">
                                  <p:stCondLst>
                                    <p:cond delay="150"/>
                                  </p:stCondLst>
                                  <p:childTnLst>
                                    <p:set>
                                      <p:cBhvr>
                                        <p:cTn id="271" dur="1" fill="hold">
                                          <p:stCondLst>
                                            <p:cond delay="0"/>
                                          </p:stCondLst>
                                        </p:cTn>
                                        <p:tgtEl>
                                          <p:spTgt spid="63"/>
                                        </p:tgtEl>
                                        <p:attrNameLst>
                                          <p:attrName>style.visibility</p:attrName>
                                        </p:attrNameLst>
                                      </p:cBhvr>
                                      <p:to>
                                        <p:strVal val="visible"/>
                                      </p:to>
                                    </p:set>
                                    <p:anim calcmode="lin" valueType="num">
                                      <p:cBhvr additive="base">
                                        <p:cTn id="272" dur="500" fill="hold"/>
                                        <p:tgtEl>
                                          <p:spTgt spid="63"/>
                                        </p:tgtEl>
                                        <p:attrNameLst>
                                          <p:attrName>ppt_x</p:attrName>
                                        </p:attrNameLst>
                                      </p:cBhvr>
                                      <p:tavLst>
                                        <p:tav tm="0">
                                          <p:val>
                                            <p:strVal val="#ppt_x"/>
                                          </p:val>
                                        </p:tav>
                                        <p:tav tm="100000">
                                          <p:val>
                                            <p:strVal val="#ppt_x"/>
                                          </p:val>
                                        </p:tav>
                                      </p:tavLst>
                                    </p:anim>
                                    <p:anim calcmode="lin" valueType="num">
                                      <p:cBhvr additive="base">
                                        <p:cTn id="273" dur="500" fill="hold"/>
                                        <p:tgtEl>
                                          <p:spTgt spid="63"/>
                                        </p:tgtEl>
                                        <p:attrNameLst>
                                          <p:attrName>ppt_y</p:attrName>
                                        </p:attrNameLst>
                                      </p:cBhvr>
                                      <p:tavLst>
                                        <p:tav tm="0">
                                          <p:val>
                                            <p:strVal val="#ppt_y+0.1"/>
                                          </p:val>
                                        </p:tav>
                                        <p:tav tm="100000">
                                          <p:val>
                                            <p:strVal val="#ppt_y"/>
                                          </p:val>
                                        </p:tav>
                                      </p:tavLst>
                                    </p:anim>
                                    <p:animEffect transition="in" filter="fade">
                                      <p:cBhvr>
                                        <p:cTn id="274" dur="500"/>
                                        <p:tgtEl>
                                          <p:spTgt spid="63"/>
                                        </p:tgtEl>
                                      </p:cBhvr>
                                    </p:animEffect>
                                  </p:childTnLst>
                                </p:cTn>
                              </p:par>
                              <p:par>
                                <p:cTn id="280" presetID="2" presetClass="entr" presetSubtype="4" fill="hold" grpId="0" nodeType="withEffect">
                                  <p:stCondLst>
                                    <p:cond delay="150"/>
                                  </p:stCondLst>
                                  <p:childTnLst>
                                    <p:set>
                                      <p:cBhvr>
                                        <p:cTn id="276" dur="1" fill="hold">
                                          <p:stCondLst>
                                            <p:cond delay="0"/>
                                          </p:stCondLst>
                                        </p:cTn>
                                        <p:tgtEl>
                                          <p:spTgt spid="64"/>
                                        </p:tgtEl>
                                        <p:attrNameLst>
                                          <p:attrName>style.visibility</p:attrName>
                                        </p:attrNameLst>
                                      </p:cBhvr>
                                      <p:to>
                                        <p:strVal val="visible"/>
                                      </p:to>
                                    </p:set>
                                    <p:anim calcmode="lin" valueType="num">
                                      <p:cBhvr additive="base">
                                        <p:cTn id="277" dur="500" fill="hold"/>
                                        <p:tgtEl>
                                          <p:spTgt spid="64"/>
                                        </p:tgtEl>
                                        <p:attrNameLst>
                                          <p:attrName>ppt_x</p:attrName>
                                        </p:attrNameLst>
                                      </p:cBhvr>
                                      <p:tavLst>
                                        <p:tav tm="0">
                                          <p:val>
                                            <p:strVal val="#ppt_x"/>
                                          </p:val>
                                        </p:tav>
                                        <p:tav tm="100000">
                                          <p:val>
                                            <p:strVal val="#ppt_x"/>
                                          </p:val>
                                        </p:tav>
                                      </p:tavLst>
                                    </p:anim>
                                    <p:anim calcmode="lin" valueType="num">
                                      <p:cBhvr additive="base">
                                        <p:cTn id="278" dur="500" fill="hold"/>
                                        <p:tgtEl>
                                          <p:spTgt spid="64"/>
                                        </p:tgtEl>
                                        <p:attrNameLst>
                                          <p:attrName>ppt_y</p:attrName>
                                        </p:attrNameLst>
                                      </p:cBhvr>
                                      <p:tavLst>
                                        <p:tav tm="0">
                                          <p:val>
                                            <p:strVal val="#ppt_y+0.1"/>
                                          </p:val>
                                        </p:tav>
                                        <p:tav tm="100000">
                                          <p:val>
                                            <p:strVal val="#ppt_y"/>
                                          </p:val>
                                        </p:tav>
                                      </p:tavLst>
                                    </p:anim>
                                    <p:animEffect transition="in" filter="fade">
                                      <p:cBhvr>
                                        <p:cTn id="279" dur="500"/>
                                        <p:tgtEl>
                                          <p:spTgt spid="64"/>
                                        </p:tgtEl>
                                      </p:cBhvr>
                                    </p:animEffect>
                                  </p:childTnLst>
                                </p:cTn>
                              </p:par>
                              <p:par>
                                <p:cTn id="285" presetID="2" presetClass="entr" presetSubtype="4" fill="hold" grpId="0" nodeType="withEffect">
                                  <p:stCondLst>
                                    <p:cond delay="150"/>
                                  </p:stCondLst>
                                  <p:childTnLst>
                                    <p:set>
                                      <p:cBhvr>
                                        <p:cTn id="281" dur="1" fill="hold">
                                          <p:stCondLst>
                                            <p:cond delay="0"/>
                                          </p:stCondLst>
                                        </p:cTn>
                                        <p:tgtEl>
                                          <p:spTgt spid="65"/>
                                        </p:tgtEl>
                                        <p:attrNameLst>
                                          <p:attrName>style.visibility</p:attrName>
                                        </p:attrNameLst>
                                      </p:cBhvr>
                                      <p:to>
                                        <p:strVal val="visible"/>
                                      </p:to>
                                    </p:set>
                                    <p:anim calcmode="lin" valueType="num">
                                      <p:cBhvr additive="base">
                                        <p:cTn id="282" dur="500" fill="hold"/>
                                        <p:tgtEl>
                                          <p:spTgt spid="65"/>
                                        </p:tgtEl>
                                        <p:attrNameLst>
                                          <p:attrName>ppt_x</p:attrName>
                                        </p:attrNameLst>
                                      </p:cBhvr>
                                      <p:tavLst>
                                        <p:tav tm="0">
                                          <p:val>
                                            <p:strVal val="#ppt_x"/>
                                          </p:val>
                                        </p:tav>
                                        <p:tav tm="100000">
                                          <p:val>
                                            <p:strVal val="#ppt_x"/>
                                          </p:val>
                                        </p:tav>
                                      </p:tavLst>
                                    </p:anim>
                                    <p:anim calcmode="lin" valueType="num">
                                      <p:cBhvr additive="base">
                                        <p:cTn id="283" dur="500" fill="hold"/>
                                        <p:tgtEl>
                                          <p:spTgt spid="65"/>
                                        </p:tgtEl>
                                        <p:attrNameLst>
                                          <p:attrName>ppt_y</p:attrName>
                                        </p:attrNameLst>
                                      </p:cBhvr>
                                      <p:tavLst>
                                        <p:tav tm="0">
                                          <p:val>
                                            <p:strVal val="#ppt_y+0.1"/>
                                          </p:val>
                                        </p:tav>
                                        <p:tav tm="100000">
                                          <p:val>
                                            <p:strVal val="#ppt_y"/>
                                          </p:val>
                                        </p:tav>
                                      </p:tavLst>
                                    </p:anim>
                                    <p:animEffect transition="in" filter="fade">
                                      <p:cBhvr>
                                        <p:cTn id="284" dur="500"/>
                                        <p:tgtEl>
                                          <p:spTgt spid="65"/>
                                        </p:tgtEl>
                                      </p:cBhvr>
                                    </p:animEffect>
                                  </p:childTnLst>
                                </p:cTn>
                              </p:par>
                              <p:par>
                                <p:cTn id="290" presetID="2" presetClass="entr" presetSubtype="4" fill="hold" grpId="0" nodeType="withEffect">
                                  <p:stCondLst>
                                    <p:cond delay="250"/>
                                  </p:stCondLst>
                                  <p:childTnLst>
                                    <p:set>
                                      <p:cBhvr>
                                        <p:cTn id="286" dur="1" fill="hold">
                                          <p:stCondLst>
                                            <p:cond delay="0"/>
                                          </p:stCondLst>
                                        </p:cTn>
                                        <p:tgtEl>
                                          <p:spTgt spid="66"/>
                                        </p:tgtEl>
                                        <p:attrNameLst>
                                          <p:attrName>style.visibility</p:attrName>
                                        </p:attrNameLst>
                                      </p:cBhvr>
                                      <p:to>
                                        <p:strVal val="visible"/>
                                      </p:to>
                                    </p:set>
                                    <p:anim calcmode="lin" valueType="num">
                                      <p:cBhvr additive="base">
                                        <p:cTn id="287" dur="500" fill="hold"/>
                                        <p:tgtEl>
                                          <p:spTgt spid="66"/>
                                        </p:tgtEl>
                                        <p:attrNameLst>
                                          <p:attrName>ppt_x</p:attrName>
                                        </p:attrNameLst>
                                      </p:cBhvr>
                                      <p:tavLst>
                                        <p:tav tm="0">
                                          <p:val>
                                            <p:strVal val="#ppt_x"/>
                                          </p:val>
                                        </p:tav>
                                        <p:tav tm="100000">
                                          <p:val>
                                            <p:strVal val="#ppt_x"/>
                                          </p:val>
                                        </p:tav>
                                      </p:tavLst>
                                    </p:anim>
                                    <p:anim calcmode="lin" valueType="num">
                                      <p:cBhvr additive="base">
                                        <p:cTn id="288" dur="500" fill="hold"/>
                                        <p:tgtEl>
                                          <p:spTgt spid="66"/>
                                        </p:tgtEl>
                                        <p:attrNameLst>
                                          <p:attrName>ppt_y</p:attrName>
                                        </p:attrNameLst>
                                      </p:cBhvr>
                                      <p:tavLst>
                                        <p:tav tm="0">
                                          <p:val>
                                            <p:strVal val="#ppt_y+0.1"/>
                                          </p:val>
                                        </p:tav>
                                        <p:tav tm="100000">
                                          <p:val>
                                            <p:strVal val="#ppt_y"/>
                                          </p:val>
                                        </p:tav>
                                      </p:tavLst>
                                    </p:anim>
                                    <p:animEffect transition="in" filter="fade">
                                      <p:cBhvr>
                                        <p:cTn id="289"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k8"/>
          <p:cNvSpPr/>
          <p:nvPr/>
        </p:nvSpPr>
        <p:spPr>
          <a:xfrm>
            <a:off x="457200" y="155448"/>
            <a:ext cx="3404997" cy="22860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spc="60">
                <a:solidFill>
                  <a:srgbClr val="C2410C"/>
                </a:solidFill>
                <a:latin typeface="Segoe UI"/>
              </a:rPr>
              <a:t>1980s - 1990s  ·  RPC, CORBA, DCOM, RMI</a:t>
            </a:r>
          </a:p>
        </p:txBody>
      </p:sp>
      <p:sp>
        <p:nvSpPr>
          <p:cNvPr id="10" name="h9"/>
          <p:cNvSpPr txBox="1"/>
          <p:nvPr/>
        </p:nvSpPr>
        <p:spPr>
          <a:xfrm>
            <a:off x="457200" y="420624"/>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Calling Code on Another Machine</a:t>
            </a:r>
          </a:p>
        </p:txBody>
      </p:sp>
      <p:sp>
        <p:nvSpPr>
          <p:cNvPr id="11" name="sub10"/>
          <p:cNvSpPr txBox="1"/>
          <p:nvPr/>
        </p:nvSpPr>
        <p:spPr>
          <a:xfrm>
            <a:off x="457200" y="932688"/>
            <a:ext cx="8229600" cy="292608"/>
          </a:xfrm>
          <a:prstGeom prst="rect">
            <a:avLst/>
          </a:prstGeom>
          <a:noFill/>
        </p:spPr>
        <p:txBody>
          <a:bodyPr wrap="square" lIns="0" tIns="0" rIns="0" bIns="0" anchor="ctr">
            <a:spAutoFit/>
          </a:bodyPr>
          <a:lstStyle/>
          <a:p>
            <a:pPr algn="l"/>
            <a:r>
              <a:rPr sz="1150" b="0">
                <a:solidFill>
                  <a:srgbClr val="78716C"/>
                </a:solidFill>
                <a:latin typeface="Segoe UI"/>
              </a:rPr>
              <a:t>The dream: make a call to a remote computer look exactly like a local method call</a:t>
            </a:r>
          </a:p>
        </p:txBody>
      </p:sp>
      <p:sp>
        <p:nvSpPr>
          <p:cNvPr id="12" name="a1u_nd11"/>
          <p:cNvSpPr/>
          <p:nvPr/>
        </p:nvSpPr>
        <p:spPr>
          <a:xfrm>
            <a:off x="457200" y="1463040"/>
            <a:ext cx="1463040" cy="658368"/>
          </a:xfrm>
          <a:prstGeom prst="roundRect">
            <a:avLst>
              <a:gd name="adj" fmla="val 1111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ndt12"/>
          <p:cNvSpPr txBox="1"/>
          <p:nvPr/>
        </p:nvSpPr>
        <p:spPr>
          <a:xfrm>
            <a:off x="502920" y="1499616"/>
            <a:ext cx="1371600" cy="310896"/>
          </a:xfrm>
          <a:prstGeom prst="rect">
            <a:avLst/>
          </a:prstGeom>
          <a:noFill/>
        </p:spPr>
        <p:txBody>
          <a:bodyPr wrap="square" lIns="0" tIns="0" rIns="0" bIns="0" anchor="b">
            <a:spAutoFit/>
          </a:bodyPr>
          <a:lstStyle/>
          <a:p>
            <a:pPr algn="ctr"/>
            <a:r>
              <a:rPr sz="1000" b="1">
                <a:solidFill>
                  <a:srgbClr val="1C1917"/>
                </a:solidFill>
                <a:latin typeface="Segoe UI"/>
              </a:rPr>
              <a:t>Client code</a:t>
            </a:r>
          </a:p>
        </p:txBody>
      </p:sp>
      <p:sp>
        <p:nvSpPr>
          <p:cNvPr id="14" name="a1u_nds13"/>
          <p:cNvSpPr txBox="1"/>
          <p:nvPr/>
        </p:nvSpPr>
        <p:spPr>
          <a:xfrm>
            <a:off x="502920" y="1819656"/>
            <a:ext cx="1371600" cy="265176"/>
          </a:xfrm>
          <a:prstGeom prst="rect">
            <a:avLst/>
          </a:prstGeom>
          <a:noFill/>
        </p:spPr>
        <p:txBody>
          <a:bodyPr wrap="square" lIns="0" tIns="0" rIns="0" bIns="0" anchor="t">
            <a:spAutoFit/>
          </a:bodyPr>
          <a:lstStyle/>
          <a:p>
            <a:pPr algn="ctr"/>
            <a:r>
              <a:rPr sz="800" b="0">
                <a:solidFill>
                  <a:srgbClr val="EA580C"/>
                </a:solidFill>
                <a:latin typeface="Segoe UI"/>
              </a:rPr>
              <a:t>calls a method</a:t>
            </a:r>
          </a:p>
        </p:txBody>
      </p:sp>
      <p:sp>
        <p:nvSpPr>
          <p:cNvPr id="15" name="a1ud100_nd14"/>
          <p:cNvSpPr/>
          <p:nvPr/>
        </p:nvSpPr>
        <p:spPr>
          <a:xfrm>
            <a:off x="2240280" y="1463040"/>
            <a:ext cx="1234440" cy="658368"/>
          </a:xfrm>
          <a:prstGeom prst="roundRect">
            <a:avLst>
              <a:gd name="adj" fmla="val 1111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100_ndt15"/>
          <p:cNvSpPr txBox="1"/>
          <p:nvPr/>
        </p:nvSpPr>
        <p:spPr>
          <a:xfrm>
            <a:off x="2286000" y="1499616"/>
            <a:ext cx="1143000" cy="310896"/>
          </a:xfrm>
          <a:prstGeom prst="rect">
            <a:avLst/>
          </a:prstGeom>
          <a:noFill/>
        </p:spPr>
        <p:txBody>
          <a:bodyPr wrap="square" lIns="0" tIns="0" rIns="0" bIns="0" anchor="b">
            <a:spAutoFit/>
          </a:bodyPr>
          <a:lstStyle/>
          <a:p>
            <a:pPr algn="ctr"/>
            <a:r>
              <a:rPr sz="1000" b="1">
                <a:solidFill>
                  <a:srgbClr val="1C1917"/>
                </a:solidFill>
                <a:latin typeface="Segoe UI"/>
              </a:rPr>
              <a:t>Stub</a:t>
            </a:r>
          </a:p>
        </p:txBody>
      </p:sp>
      <p:sp>
        <p:nvSpPr>
          <p:cNvPr id="17" name="a1ud100_nds16"/>
          <p:cNvSpPr txBox="1"/>
          <p:nvPr/>
        </p:nvSpPr>
        <p:spPr>
          <a:xfrm>
            <a:off x="2286000" y="1819656"/>
            <a:ext cx="1143000" cy="265176"/>
          </a:xfrm>
          <a:prstGeom prst="rect">
            <a:avLst/>
          </a:prstGeom>
          <a:noFill/>
        </p:spPr>
        <p:txBody>
          <a:bodyPr wrap="square" lIns="0" tIns="0" rIns="0" bIns="0" anchor="t">
            <a:spAutoFit/>
          </a:bodyPr>
          <a:lstStyle/>
          <a:p>
            <a:pPr algn="ctr"/>
            <a:r>
              <a:rPr sz="750" b="0">
                <a:solidFill>
                  <a:srgbClr val="EA580C"/>
                </a:solidFill>
                <a:latin typeface="Segoe UI"/>
              </a:rPr>
              <a:t>pretends to be local</a:t>
            </a:r>
          </a:p>
        </p:txBody>
      </p:sp>
      <p:sp>
        <p:nvSpPr>
          <p:cNvPr id="18" name="a1ud200_nd17"/>
          <p:cNvSpPr/>
          <p:nvPr/>
        </p:nvSpPr>
        <p:spPr>
          <a:xfrm>
            <a:off x="5669280" y="1463040"/>
            <a:ext cx="1234440" cy="658368"/>
          </a:xfrm>
          <a:prstGeom prst="roundRect">
            <a:avLst>
              <a:gd name="adj" fmla="val 11111"/>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200_ndt18"/>
          <p:cNvSpPr txBox="1"/>
          <p:nvPr/>
        </p:nvSpPr>
        <p:spPr>
          <a:xfrm>
            <a:off x="5715000" y="1499616"/>
            <a:ext cx="1143000" cy="310896"/>
          </a:xfrm>
          <a:prstGeom prst="rect">
            <a:avLst/>
          </a:prstGeom>
          <a:noFill/>
        </p:spPr>
        <p:txBody>
          <a:bodyPr wrap="square" lIns="0" tIns="0" rIns="0" bIns="0" anchor="b">
            <a:spAutoFit/>
          </a:bodyPr>
          <a:lstStyle/>
          <a:p>
            <a:pPr algn="ctr"/>
            <a:r>
              <a:rPr sz="1000" b="1">
                <a:solidFill>
                  <a:srgbClr val="1C1917"/>
                </a:solidFill>
                <a:latin typeface="Segoe UI"/>
              </a:rPr>
              <a:t>Skeleton</a:t>
            </a:r>
          </a:p>
        </p:txBody>
      </p:sp>
      <p:sp>
        <p:nvSpPr>
          <p:cNvPr id="20" name="a1ud200_nds19"/>
          <p:cNvSpPr txBox="1"/>
          <p:nvPr/>
        </p:nvSpPr>
        <p:spPr>
          <a:xfrm>
            <a:off x="5715000" y="1819656"/>
            <a:ext cx="1143000" cy="265176"/>
          </a:xfrm>
          <a:prstGeom prst="rect">
            <a:avLst/>
          </a:prstGeom>
          <a:noFill/>
        </p:spPr>
        <p:txBody>
          <a:bodyPr wrap="square" lIns="0" tIns="0" rIns="0" bIns="0" anchor="t">
            <a:spAutoFit/>
          </a:bodyPr>
          <a:lstStyle/>
          <a:p>
            <a:pPr algn="ctr"/>
            <a:r>
              <a:rPr sz="750" b="0">
                <a:solidFill>
                  <a:srgbClr val="0E7490"/>
                </a:solidFill>
                <a:latin typeface="Segoe UI"/>
              </a:rPr>
              <a:t>unpacks the call</a:t>
            </a:r>
          </a:p>
        </p:txBody>
      </p:sp>
      <p:sp>
        <p:nvSpPr>
          <p:cNvPr id="21" name="a1ud300_nd20"/>
          <p:cNvSpPr/>
          <p:nvPr/>
        </p:nvSpPr>
        <p:spPr>
          <a:xfrm>
            <a:off x="7223760" y="1463040"/>
            <a:ext cx="1463040" cy="658368"/>
          </a:xfrm>
          <a:prstGeom prst="roundRect">
            <a:avLst>
              <a:gd name="adj" fmla="val 11111"/>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ud300_ndt21"/>
          <p:cNvSpPr txBox="1"/>
          <p:nvPr/>
        </p:nvSpPr>
        <p:spPr>
          <a:xfrm>
            <a:off x="7269480" y="1499616"/>
            <a:ext cx="1371600" cy="310896"/>
          </a:xfrm>
          <a:prstGeom prst="rect">
            <a:avLst/>
          </a:prstGeom>
          <a:noFill/>
        </p:spPr>
        <p:txBody>
          <a:bodyPr wrap="square" lIns="0" tIns="0" rIns="0" bIns="0" anchor="b">
            <a:spAutoFit/>
          </a:bodyPr>
          <a:lstStyle/>
          <a:p>
            <a:pPr algn="ctr"/>
            <a:r>
              <a:rPr sz="1000" b="1">
                <a:solidFill>
                  <a:srgbClr val="1C1917"/>
                </a:solidFill>
                <a:latin typeface="Segoe UI"/>
              </a:rPr>
              <a:t>Server code</a:t>
            </a:r>
          </a:p>
        </p:txBody>
      </p:sp>
      <p:sp>
        <p:nvSpPr>
          <p:cNvPr id="23" name="a1ud300_nds22"/>
          <p:cNvSpPr txBox="1"/>
          <p:nvPr/>
        </p:nvSpPr>
        <p:spPr>
          <a:xfrm>
            <a:off x="7269480" y="1819656"/>
            <a:ext cx="1371600" cy="265176"/>
          </a:xfrm>
          <a:prstGeom prst="rect">
            <a:avLst/>
          </a:prstGeom>
          <a:noFill/>
        </p:spPr>
        <p:txBody>
          <a:bodyPr wrap="square" lIns="0" tIns="0" rIns="0" bIns="0" anchor="t">
            <a:spAutoFit/>
          </a:bodyPr>
          <a:lstStyle/>
          <a:p>
            <a:pPr algn="ctr"/>
            <a:r>
              <a:rPr sz="800" b="0">
                <a:solidFill>
                  <a:srgbClr val="0E7490"/>
                </a:solidFill>
                <a:latin typeface="Segoe UI"/>
              </a:rPr>
              <a:t>does the work</a:t>
            </a:r>
          </a:p>
        </p:txBody>
      </p:sp>
      <p:cxnSp>
        <p:nvCxnSpPr>
          <p:cNvPr id="24" name="a1ud100_ar23"/>
          <p:cNvCxnSpPr/>
          <p:nvPr/>
        </p:nvCxnSpPr>
        <p:spPr>
          <a:xfrm>
            <a:off x="1947672" y="1792224"/>
            <a:ext cx="265176"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a2f_ar24"/>
          <p:cNvCxnSpPr/>
          <p:nvPr/>
        </p:nvCxnSpPr>
        <p:spPr>
          <a:xfrm>
            <a:off x="3502152" y="1664208"/>
            <a:ext cx="2139696"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a2f_lb25"/>
          <p:cNvSpPr txBox="1"/>
          <p:nvPr/>
        </p:nvSpPr>
        <p:spPr>
          <a:xfrm>
            <a:off x="3520440" y="1444752"/>
            <a:ext cx="2103120" cy="201168"/>
          </a:xfrm>
          <a:prstGeom prst="rect">
            <a:avLst/>
          </a:prstGeom>
          <a:noFill/>
        </p:spPr>
        <p:txBody>
          <a:bodyPr wrap="square" lIns="0" tIns="0" rIns="0" bIns="0" anchor="ctr">
            <a:spAutoFit/>
          </a:bodyPr>
          <a:lstStyle/>
          <a:p>
            <a:pPr algn="ctr"/>
            <a:r>
              <a:rPr sz="800" b="1">
                <a:solidFill>
                  <a:srgbClr val="C2410C"/>
                </a:solidFill>
                <a:latin typeface="Segoe UI"/>
              </a:rPr>
              <a:t>request over the network</a:t>
            </a:r>
          </a:p>
        </p:txBody>
      </p:sp>
      <p:cxnSp>
        <p:nvCxnSpPr>
          <p:cNvPr id="27" name="a2fd200_ar26"/>
          <p:cNvCxnSpPr/>
          <p:nvPr/>
        </p:nvCxnSpPr>
        <p:spPr>
          <a:xfrm flipH="1">
            <a:off x="3502152" y="1938528"/>
            <a:ext cx="2139696" cy="0"/>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a2fd200_lb27"/>
          <p:cNvSpPr txBox="1"/>
          <p:nvPr/>
        </p:nvSpPr>
        <p:spPr>
          <a:xfrm>
            <a:off x="3520440" y="1975104"/>
            <a:ext cx="2103120" cy="201168"/>
          </a:xfrm>
          <a:prstGeom prst="rect">
            <a:avLst/>
          </a:prstGeom>
          <a:noFill/>
        </p:spPr>
        <p:txBody>
          <a:bodyPr wrap="square" lIns="0" tIns="0" rIns="0" bIns="0" anchor="ctr">
            <a:spAutoFit/>
          </a:bodyPr>
          <a:lstStyle/>
          <a:p>
            <a:pPr algn="ctr"/>
            <a:r>
              <a:rPr sz="800" b="1">
                <a:solidFill>
                  <a:srgbClr val="0E7490"/>
                </a:solidFill>
                <a:latin typeface="Segoe UI"/>
              </a:rPr>
              <a:t>result - the caller WAITS</a:t>
            </a:r>
          </a:p>
        </p:txBody>
      </p:sp>
      <p:cxnSp>
        <p:nvCxnSpPr>
          <p:cNvPr id="29" name="a1ud300_ar28"/>
          <p:cNvCxnSpPr/>
          <p:nvPr/>
        </p:nvCxnSpPr>
        <p:spPr>
          <a:xfrm>
            <a:off x="6931152" y="1792224"/>
            <a:ext cx="265176" cy="0"/>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a3u_pill29"/>
          <p:cNvSpPr/>
          <p:nvPr/>
        </p:nvSpPr>
        <p:spPr>
          <a:xfrm>
            <a:off x="457200" y="2450592"/>
            <a:ext cx="1975104" cy="32918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00" b="1">
                <a:solidFill>
                  <a:srgbClr val="C2410C"/>
                </a:solidFill>
                <a:latin typeface="Consolas"/>
              </a:rPr>
              <a:t>RPC  1984</a:t>
            </a:r>
          </a:p>
        </p:txBody>
      </p:sp>
      <p:sp>
        <p:nvSpPr>
          <p:cNvPr id="31" name="a3ud90_pill30"/>
          <p:cNvSpPr/>
          <p:nvPr/>
        </p:nvSpPr>
        <p:spPr>
          <a:xfrm>
            <a:off x="2542032" y="2450592"/>
            <a:ext cx="1975104" cy="32918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00" b="1">
                <a:solidFill>
                  <a:srgbClr val="C2410C"/>
                </a:solidFill>
                <a:latin typeface="Consolas"/>
              </a:rPr>
              <a:t>CORBA  1991</a:t>
            </a:r>
          </a:p>
        </p:txBody>
      </p:sp>
      <p:sp>
        <p:nvSpPr>
          <p:cNvPr id="32" name="a3ud180_pill31"/>
          <p:cNvSpPr/>
          <p:nvPr/>
        </p:nvSpPr>
        <p:spPr>
          <a:xfrm>
            <a:off x="4626864" y="2450592"/>
            <a:ext cx="1975104" cy="32918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00" b="1">
                <a:solidFill>
                  <a:srgbClr val="C2410C"/>
                </a:solidFill>
                <a:latin typeface="Consolas"/>
              </a:rPr>
              <a:t>DCOM  1996</a:t>
            </a:r>
          </a:p>
        </p:txBody>
      </p:sp>
      <p:sp>
        <p:nvSpPr>
          <p:cNvPr id="33" name="a3ud270_pill32"/>
          <p:cNvSpPr/>
          <p:nvPr/>
        </p:nvSpPr>
        <p:spPr>
          <a:xfrm>
            <a:off x="6711696" y="2450592"/>
            <a:ext cx="1975104" cy="32918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00" b="1">
                <a:solidFill>
                  <a:srgbClr val="C2410C"/>
                </a:solidFill>
                <a:latin typeface="Consolas"/>
              </a:rPr>
              <a:t>Java RMI  1997</a:t>
            </a:r>
          </a:p>
        </p:txBody>
      </p:sp>
      <p:sp>
        <p:nvSpPr>
          <p:cNvPr id="34" name="a4u_card33"/>
          <p:cNvSpPr/>
          <p:nvPr/>
        </p:nvSpPr>
        <p:spPr>
          <a:xfrm>
            <a:off x="457200" y="3017520"/>
            <a:ext cx="4023360" cy="1325880"/>
          </a:xfrm>
          <a:prstGeom prst="roundRect">
            <a:avLst>
              <a:gd name="adj" fmla="val 827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4u_acc34"/>
          <p:cNvSpPr/>
          <p:nvPr/>
        </p:nvSpPr>
        <p:spPr>
          <a:xfrm>
            <a:off x="457200" y="3017520"/>
            <a:ext cx="50292" cy="132588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4u_hh35"/>
          <p:cNvSpPr txBox="1"/>
          <p:nvPr/>
        </p:nvSpPr>
        <p:spPr>
          <a:xfrm>
            <a:off x="658368" y="3127248"/>
            <a:ext cx="3657600" cy="237744"/>
          </a:xfrm>
          <a:prstGeom prst="rect">
            <a:avLst/>
          </a:prstGeom>
          <a:noFill/>
        </p:spPr>
        <p:txBody>
          <a:bodyPr wrap="square" lIns="0" tIns="0" rIns="0" bIns="0" anchor="ctr">
            <a:spAutoFit/>
          </a:bodyPr>
          <a:lstStyle/>
          <a:p>
            <a:pPr algn="l"/>
            <a:r>
              <a:rPr sz="900" b="1">
                <a:solidFill>
                  <a:srgbClr val="15803D"/>
                </a:solidFill>
                <a:latin typeface="Segoe UI"/>
              </a:rPr>
              <a:t>WHAT IT GAVE US</a:t>
            </a:r>
          </a:p>
        </p:txBody>
      </p:sp>
      <p:sp>
        <p:nvSpPr>
          <p:cNvPr id="37" name="a4ud80_dot36"/>
          <p:cNvSpPr/>
          <p:nvPr/>
        </p:nvSpPr>
        <p:spPr>
          <a:xfrm>
            <a:off x="658368" y="3534156"/>
            <a:ext cx="91440" cy="91440"/>
          </a:xfrm>
          <a:prstGeom prst="roundRect">
            <a:avLst>
              <a:gd name="adj" fmla="val 25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4ud80_b37"/>
          <p:cNvSpPr txBox="1"/>
          <p:nvPr/>
        </p:nvSpPr>
        <p:spPr>
          <a:xfrm>
            <a:off x="877824" y="3438144"/>
            <a:ext cx="3401568" cy="274320"/>
          </a:xfrm>
          <a:prstGeom prst="rect">
            <a:avLst/>
          </a:prstGeom>
          <a:noFill/>
        </p:spPr>
        <p:txBody>
          <a:bodyPr wrap="square" lIns="0" tIns="0" rIns="0" bIns="0" anchor="t">
            <a:spAutoFit/>
          </a:bodyPr>
          <a:lstStyle/>
          <a:p>
            <a:pPr algn="l"/>
            <a:r>
              <a:rPr sz="950" b="0">
                <a:solidFill>
                  <a:srgbClr val="44403C"/>
                </a:solidFill>
                <a:latin typeface="Segoe UI"/>
              </a:rPr>
              <a:t>A familiar programming model</a:t>
            </a:r>
          </a:p>
        </p:txBody>
      </p:sp>
      <p:sp>
        <p:nvSpPr>
          <p:cNvPr id="39" name="a4ud180_dot38"/>
          <p:cNvSpPr/>
          <p:nvPr/>
        </p:nvSpPr>
        <p:spPr>
          <a:xfrm>
            <a:off x="658368" y="3845052"/>
            <a:ext cx="91440" cy="91440"/>
          </a:xfrm>
          <a:prstGeom prst="roundRect">
            <a:avLst>
              <a:gd name="adj" fmla="val 25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4ud180_b39"/>
          <p:cNvSpPr txBox="1"/>
          <p:nvPr/>
        </p:nvSpPr>
        <p:spPr>
          <a:xfrm>
            <a:off x="877824" y="3749040"/>
            <a:ext cx="3401568" cy="274320"/>
          </a:xfrm>
          <a:prstGeom prst="rect">
            <a:avLst/>
          </a:prstGeom>
          <a:noFill/>
        </p:spPr>
        <p:txBody>
          <a:bodyPr wrap="square" lIns="0" tIns="0" rIns="0" bIns="0" anchor="t">
            <a:spAutoFit/>
          </a:bodyPr>
          <a:lstStyle/>
          <a:p>
            <a:pPr algn="l"/>
            <a:r>
              <a:rPr sz="950" b="0">
                <a:solidFill>
                  <a:srgbClr val="44403C"/>
                </a:solidFill>
                <a:latin typeface="Segoe UI"/>
              </a:rPr>
              <a:t>Services reused across machines</a:t>
            </a:r>
          </a:p>
        </p:txBody>
      </p:sp>
      <p:sp>
        <p:nvSpPr>
          <p:cNvPr id="41" name="a5u_card40"/>
          <p:cNvSpPr/>
          <p:nvPr/>
        </p:nvSpPr>
        <p:spPr>
          <a:xfrm>
            <a:off x="4663440" y="3017520"/>
            <a:ext cx="4023360" cy="1325880"/>
          </a:xfrm>
          <a:prstGeom prst="roundRect">
            <a:avLst>
              <a:gd name="adj" fmla="val 827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5u_acc41"/>
          <p:cNvSpPr/>
          <p:nvPr/>
        </p:nvSpPr>
        <p:spPr>
          <a:xfrm>
            <a:off x="4663440" y="3017520"/>
            <a:ext cx="50292" cy="13258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5u_hh42"/>
          <p:cNvSpPr txBox="1"/>
          <p:nvPr/>
        </p:nvSpPr>
        <p:spPr>
          <a:xfrm>
            <a:off x="4864607" y="3127248"/>
            <a:ext cx="3657600" cy="237744"/>
          </a:xfrm>
          <a:prstGeom prst="rect">
            <a:avLst/>
          </a:prstGeom>
          <a:noFill/>
        </p:spPr>
        <p:txBody>
          <a:bodyPr wrap="square" lIns="0" tIns="0" rIns="0" bIns="0" anchor="ctr">
            <a:spAutoFit/>
          </a:bodyPr>
          <a:lstStyle/>
          <a:p>
            <a:pPr algn="l"/>
            <a:r>
              <a:rPr sz="900" b="1">
                <a:solidFill>
                  <a:srgbClr val="E11D48"/>
                </a:solidFill>
                <a:latin typeface="Segoe UI"/>
              </a:rPr>
              <a:t>WHAT IT HID</a:t>
            </a:r>
          </a:p>
        </p:txBody>
      </p:sp>
      <p:sp>
        <p:nvSpPr>
          <p:cNvPr id="44" name="a5ud80_dot43"/>
          <p:cNvSpPr/>
          <p:nvPr/>
        </p:nvSpPr>
        <p:spPr>
          <a:xfrm>
            <a:off x="4864607" y="3506724"/>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5ud80_b44"/>
          <p:cNvSpPr txBox="1"/>
          <p:nvPr/>
        </p:nvSpPr>
        <p:spPr>
          <a:xfrm>
            <a:off x="5084064" y="3410712"/>
            <a:ext cx="3401568" cy="237744"/>
          </a:xfrm>
          <a:prstGeom prst="rect">
            <a:avLst/>
          </a:prstGeom>
          <a:noFill/>
        </p:spPr>
        <p:txBody>
          <a:bodyPr wrap="square" lIns="0" tIns="0" rIns="0" bIns="0" anchor="t">
            <a:spAutoFit/>
          </a:bodyPr>
          <a:lstStyle/>
          <a:p>
            <a:pPr algn="l"/>
            <a:r>
              <a:rPr sz="900" b="0">
                <a:solidFill>
                  <a:srgbClr val="44403C"/>
                </a:solidFill>
                <a:latin typeface="Segoe UI"/>
              </a:rPr>
              <a:t>Both sides must be up at the same moment</a:t>
            </a:r>
          </a:p>
        </p:txBody>
      </p:sp>
      <p:sp>
        <p:nvSpPr>
          <p:cNvPr id="46" name="a5ud180_dot45"/>
          <p:cNvSpPr/>
          <p:nvPr/>
        </p:nvSpPr>
        <p:spPr>
          <a:xfrm>
            <a:off x="4864607" y="3781044"/>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5ud180_b46"/>
          <p:cNvSpPr txBox="1"/>
          <p:nvPr/>
        </p:nvSpPr>
        <p:spPr>
          <a:xfrm>
            <a:off x="5084064" y="3685032"/>
            <a:ext cx="3401568" cy="237744"/>
          </a:xfrm>
          <a:prstGeom prst="rect">
            <a:avLst/>
          </a:prstGeom>
          <a:noFill/>
        </p:spPr>
        <p:txBody>
          <a:bodyPr wrap="square" lIns="0" tIns="0" rIns="0" bIns="0" anchor="t">
            <a:spAutoFit/>
          </a:bodyPr>
          <a:lstStyle/>
          <a:p>
            <a:pPr algn="l"/>
            <a:r>
              <a:rPr sz="900" b="0">
                <a:solidFill>
                  <a:srgbClr val="44403C"/>
                </a:solidFill>
                <a:latin typeface="Segoe UI"/>
              </a:rPr>
              <a:t>The caller is blocked while it waits</a:t>
            </a:r>
          </a:p>
        </p:txBody>
      </p:sp>
      <p:sp>
        <p:nvSpPr>
          <p:cNvPr id="48" name="a5ud280_dot47"/>
          <p:cNvSpPr/>
          <p:nvPr/>
        </p:nvSpPr>
        <p:spPr>
          <a:xfrm>
            <a:off x="4864607" y="4055363"/>
            <a:ext cx="91440" cy="91440"/>
          </a:xfrm>
          <a:prstGeom prst="roundRect">
            <a:avLst>
              <a:gd name="adj" fmla="val 25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5ud280_b48"/>
          <p:cNvSpPr txBox="1"/>
          <p:nvPr/>
        </p:nvSpPr>
        <p:spPr>
          <a:xfrm>
            <a:off x="5084064" y="3959352"/>
            <a:ext cx="3401568" cy="237744"/>
          </a:xfrm>
          <a:prstGeom prst="rect">
            <a:avLst/>
          </a:prstGeom>
          <a:noFill/>
        </p:spPr>
        <p:txBody>
          <a:bodyPr wrap="square" lIns="0" tIns="0" rIns="0" bIns="0" anchor="t">
            <a:spAutoFit/>
          </a:bodyPr>
          <a:lstStyle/>
          <a:p>
            <a:pPr algn="l"/>
            <a:r>
              <a:rPr sz="900" b="0">
                <a:solidFill>
                  <a:srgbClr val="44403C"/>
                </a:solidFill>
                <a:latin typeface="Segoe UI"/>
              </a:rPr>
              <a:t>Network failures surface as strange errors</a:t>
            </a:r>
          </a:p>
        </p:txBody>
      </p:sp>
      <p:sp>
        <p:nvSpPr>
          <p:cNvPr id="50" name="ft4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11</a:t>
            </a:r>
          </a:p>
        </p:txBody>
      </p:sp>
      <p:sp>
        <p:nvSpPr>
          <p:cNvPr id="51" name="ft5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ft5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53" name="ft5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 calcmode="lin" valueType="num">
                                      <p:cBhvr additive="base">
                                        <p:cTn id="6" dur="500" fill="hold"/>
                                        <p:tgtEl>
                                          <p:spTgt spid="12"/>
                                        </p:tgtEl>
                                        <p:attrNameLst>
                                          <p:attrName>ppt_x</p:attrName>
                                        </p:attrNameLst>
                                      </p:cBhvr>
                                      <p:tavLst>
                                        <p:tav tm="0">
                                          <p:val>
                                            <p:strVal val="#ppt_x"/>
                                          </p:val>
                                        </p:tav>
                                        <p:tav tm="100000">
                                          <p:val>
                                            <p:strVal val="#ppt_x"/>
                                          </p:val>
                                        </p:tav>
                                      </p:tavLst>
                                    </p:anim>
                                    <p:anim calcmode="lin" valueType="num">
                                      <p:cBhvr additive="base">
                                        <p:cTn id="7" dur="500" fill="hold"/>
                                        <p:tgtEl>
                                          <p:spTgt spid="12"/>
                                        </p:tgtEl>
                                        <p:attrNameLst>
                                          <p:attrName>ppt_y</p:attrName>
                                        </p:attrNameLst>
                                      </p:cBhvr>
                                      <p:tavLst>
                                        <p:tav tm="0">
                                          <p:val>
                                            <p:strVal val="#ppt_y+0.1"/>
                                          </p:val>
                                        </p:tav>
                                        <p:tav tm="100000">
                                          <p:val>
                                            <p:strVal val="#ppt_y"/>
                                          </p:val>
                                        </p:tav>
                                      </p:tavLst>
                                    </p:anim>
                                    <p:animEffect transition="in" filter="fade">
                                      <p:cBhvr>
                                        <p:cTn id="8" dur="500"/>
                                        <p:tgtEl>
                                          <p:spTgt spid="12"/>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ppt_y+0.1"/>
                                          </p:val>
                                        </p:tav>
                                        <p:tav tm="100000">
                                          <p:val>
                                            <p:strVal val="#ppt_y"/>
                                          </p:val>
                                        </p:tav>
                                      </p:tavLst>
                                    </p:anim>
                                    <p:animEffect transition="in" filter="fade">
                                      <p:cBhvr>
                                        <p:cTn id="13" dur="500"/>
                                        <p:tgtEl>
                                          <p:spTgt spid="13"/>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ppt_y+0.1"/>
                                          </p:val>
                                        </p:tav>
                                        <p:tav tm="100000">
                                          <p:val>
                                            <p:strVal val="#ppt_y"/>
                                          </p:val>
                                        </p:tav>
                                      </p:tavLst>
                                    </p:anim>
                                    <p:animEffect transition="in" filter="fade">
                                      <p:cBhvr>
                                        <p:cTn id="18" dur="500"/>
                                        <p:tgtEl>
                                          <p:spTgt spid="14"/>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ppt_y+0.1"/>
                                          </p:val>
                                        </p:tav>
                                        <p:tav tm="100000">
                                          <p:val>
                                            <p:strVal val="#ppt_y"/>
                                          </p:val>
                                        </p:tav>
                                      </p:tavLst>
                                    </p:anim>
                                    <p:animEffect transition="in" filter="fade">
                                      <p:cBhvr>
                                        <p:cTn id="28" dur="500"/>
                                        <p:tgtEl>
                                          <p:spTgt spid="16"/>
                                        </p:tgtEl>
                                      </p:cBhvr>
                                    </p:animEffect>
                                  </p:childTnLst>
                                </p:cTn>
                              </p:par>
                              <p:par>
                                <p:cTn id="34" presetID="2" presetClass="entr" presetSubtype="4" fill="hold" grpId="0" nodeType="withEffect">
                                  <p:stCondLst>
                                    <p:cond delay="10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100"/>
                                  </p:stCondLst>
                                  <p:childTnLst>
                                    <p:set>
                                      <p:cBhvr>
                                        <p:cTn id="35" dur="1" fill="hold">
                                          <p:stCondLst>
                                            <p:cond delay="0"/>
                                          </p:stCondLst>
                                        </p:cTn>
                                        <p:tgtEl>
                                          <p:spTgt spid="24"/>
                                        </p:tgtEl>
                                        <p:attrNameLst>
                                          <p:attrName>style.visibility</p:attrName>
                                        </p:attrNameLst>
                                      </p:cBhvr>
                                      <p:to>
                                        <p:strVal val="visible"/>
                                      </p:to>
                                    </p:set>
                                    <p:anim calcmode="lin" valueType="num">
                                      <p:cBhvr additive="base">
                                        <p:cTn id="36" dur="500" fill="hold"/>
                                        <p:tgtEl>
                                          <p:spTgt spid="24"/>
                                        </p:tgtEl>
                                        <p:attrNameLst>
                                          <p:attrName>ppt_x</p:attrName>
                                        </p:attrNameLst>
                                      </p:cBhvr>
                                      <p:tavLst>
                                        <p:tav tm="0">
                                          <p:val>
                                            <p:strVal val="#ppt_x"/>
                                          </p:val>
                                        </p:tav>
                                        <p:tav tm="100000">
                                          <p:val>
                                            <p:strVal val="#ppt_x"/>
                                          </p:val>
                                        </p:tav>
                                      </p:tavLst>
                                    </p:anim>
                                    <p:anim calcmode="lin" valueType="num">
                                      <p:cBhvr additive="base">
                                        <p:cTn id="37" dur="500" fill="hold"/>
                                        <p:tgtEl>
                                          <p:spTgt spid="24"/>
                                        </p:tgtEl>
                                        <p:attrNameLst>
                                          <p:attrName>ppt_y</p:attrName>
                                        </p:attrNameLst>
                                      </p:cBhvr>
                                      <p:tavLst>
                                        <p:tav tm="0">
                                          <p:val>
                                            <p:strVal val="#ppt_y+0.1"/>
                                          </p:val>
                                        </p:tav>
                                        <p:tav tm="100000">
                                          <p:val>
                                            <p:strVal val="#ppt_y"/>
                                          </p:val>
                                        </p:tav>
                                      </p:tavLst>
                                    </p:anim>
                                    <p:animEffect transition="in" filter="fade">
                                      <p:cBhvr>
                                        <p:cTn id="38" dur="500"/>
                                        <p:tgtEl>
                                          <p:spTgt spid="24"/>
                                        </p:tgtEl>
                                      </p:cBhvr>
                                    </p:animEffect>
                                  </p:childTnLst>
                                </p:cTn>
                              </p:par>
                              <p:par>
                                <p:cTn id="44" presetID="2" presetClass="entr" presetSubtype="4" fill="hold" grpId="0" nodeType="withEffect">
                                  <p:stCondLst>
                                    <p:cond delay="20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20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20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30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30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30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300"/>
                                  </p:stCondLst>
                                  <p:childTnLst>
                                    <p:set>
                                      <p:cBhvr>
                                        <p:cTn id="70" dur="1" fill="hold">
                                          <p:stCondLst>
                                            <p:cond delay="0"/>
                                          </p:stCondLst>
                                        </p:cTn>
                                        <p:tgtEl>
                                          <p:spTgt spid="29"/>
                                        </p:tgtEl>
                                        <p:attrNameLst>
                                          <p:attrName>style.visibility</p:attrName>
                                        </p:attrNameLst>
                                      </p:cBhvr>
                                      <p:to>
                                        <p:strVal val="visible"/>
                                      </p:to>
                                    </p:set>
                                    <p:anim calcmode="lin" valueType="num">
                                      <p:cBhvr additive="base">
                                        <p:cTn id="71" dur="500" fill="hold"/>
                                        <p:tgtEl>
                                          <p:spTgt spid="29"/>
                                        </p:tgtEl>
                                        <p:attrNameLst>
                                          <p:attrName>ppt_x</p:attrName>
                                        </p:attrNameLst>
                                      </p:cBhvr>
                                      <p:tavLst>
                                        <p:tav tm="0">
                                          <p:val>
                                            <p:strVal val="#ppt_x"/>
                                          </p:val>
                                        </p:tav>
                                        <p:tav tm="100000">
                                          <p:val>
                                            <p:strVal val="#ppt_x"/>
                                          </p:val>
                                        </p:tav>
                                      </p:tavLst>
                                    </p:anim>
                                    <p:anim calcmode="lin" valueType="num">
                                      <p:cBhvr additive="base">
                                        <p:cTn id="72" dur="500" fill="hold"/>
                                        <p:tgtEl>
                                          <p:spTgt spid="29"/>
                                        </p:tgtEl>
                                        <p:attrNameLst>
                                          <p:attrName>ppt_y</p:attrName>
                                        </p:attrNameLst>
                                      </p:cBhvr>
                                      <p:tavLst>
                                        <p:tav tm="0">
                                          <p:val>
                                            <p:strVal val="#ppt_y+0.1"/>
                                          </p:val>
                                        </p:tav>
                                        <p:tav tm="100000">
                                          <p:val>
                                            <p:strVal val="#ppt_y"/>
                                          </p:val>
                                        </p:tav>
                                      </p:tavLst>
                                    </p:anim>
                                    <p:animEffect transition="in" filter="fade">
                                      <p:cBhvr>
                                        <p:cTn id="73" dur="500"/>
                                        <p:tgtEl>
                                          <p:spTgt spid="29"/>
                                        </p:tgtEl>
                                      </p:cBhvr>
                                    </p:animEffect>
                                  </p:childTnLst>
                                </p:cTn>
                              </p:par>
                            </p:childTnLst>
                          </p:cTn>
                        </p:par>
                      </p:childTnLst>
                    </p:cTn>
                  </p:par>
                  <p:par>
                    <p:cTn id="75" fill="hold">
                      <p:stCondLst>
                        <p:cond delay="indefinite"/>
                      </p:stCondLst>
                      <p:childTnLst>
                        <p:par>
                          <p:cTn id="76" fill="hold">
                            <p:stCondLst>
                              <p:cond delay="0"/>
                            </p:stCondLst>
                            <p:childTnLst>
                              <p:par>
                                <p:cTn id="79" presetID="10" presetClass="entr" presetSubtype="0" fill="hold" grpId="0" nodeType="click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82"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5" presetID="10" presetClass="entr" presetSubtype="0" fill="hold" grpId="0" nodeType="withEffect">
                                  <p:stCondLst>
                                    <p:cond delay="20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par>
                                <p:cTn id="88" presetID="10" presetClass="entr" presetSubtype="0" fill="hold" grpId="0" nodeType="withEffect">
                                  <p:stCondLst>
                                    <p:cond delay="20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childTnLst>
                    </p:cTn>
                  </p:par>
                  <p:par>
                    <p:cTn id="89" fill="hold">
                      <p:stCondLst>
                        <p:cond delay="indefinite"/>
                      </p:stCondLst>
                      <p:childTnLst>
                        <p:par>
                          <p:cTn id="90" fill="hold">
                            <p:stCondLst>
                              <p:cond delay="0"/>
                            </p:stCondLst>
                            <p:childTnLst>
                              <p:par>
                                <p:cTn id="95" presetID="2" presetClass="entr" presetSubtype="4"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 calcmode="lin" valueType="num">
                                      <p:cBhvr additive="base">
                                        <p:cTn id="92" dur="500" fill="hold"/>
                                        <p:tgtEl>
                                          <p:spTgt spid="30"/>
                                        </p:tgtEl>
                                        <p:attrNameLst>
                                          <p:attrName>ppt_x</p:attrName>
                                        </p:attrNameLst>
                                      </p:cBhvr>
                                      <p:tavLst>
                                        <p:tav tm="0">
                                          <p:val>
                                            <p:strVal val="#ppt_x"/>
                                          </p:val>
                                        </p:tav>
                                        <p:tav tm="100000">
                                          <p:val>
                                            <p:strVal val="#ppt_x"/>
                                          </p:val>
                                        </p:tav>
                                      </p:tavLst>
                                    </p:anim>
                                    <p:anim calcmode="lin" valueType="num">
                                      <p:cBhvr additive="base">
                                        <p:cTn id="93" dur="500" fill="hold"/>
                                        <p:tgtEl>
                                          <p:spTgt spid="30"/>
                                        </p:tgtEl>
                                        <p:attrNameLst>
                                          <p:attrName>ppt_y</p:attrName>
                                        </p:attrNameLst>
                                      </p:cBhvr>
                                      <p:tavLst>
                                        <p:tav tm="0">
                                          <p:val>
                                            <p:strVal val="#ppt_y+0.1"/>
                                          </p:val>
                                        </p:tav>
                                        <p:tav tm="100000">
                                          <p:val>
                                            <p:strVal val="#ppt_y"/>
                                          </p:val>
                                        </p:tav>
                                      </p:tavLst>
                                    </p:anim>
                                    <p:animEffect transition="in" filter="fade">
                                      <p:cBhvr>
                                        <p:cTn id="94" dur="500"/>
                                        <p:tgtEl>
                                          <p:spTgt spid="30"/>
                                        </p:tgtEl>
                                      </p:cBhvr>
                                    </p:animEffect>
                                  </p:childTnLst>
                                </p:cTn>
                              </p:par>
                              <p:par>
                                <p:cTn id="100" presetID="2" presetClass="entr" presetSubtype="4" fill="hold" grpId="0" nodeType="withEffect">
                                  <p:stCondLst>
                                    <p:cond delay="90"/>
                                  </p:stCondLst>
                                  <p:childTnLst>
                                    <p:set>
                                      <p:cBhvr>
                                        <p:cTn id="96" dur="1" fill="hold">
                                          <p:stCondLst>
                                            <p:cond delay="0"/>
                                          </p:stCondLst>
                                        </p:cTn>
                                        <p:tgtEl>
                                          <p:spTgt spid="31"/>
                                        </p:tgtEl>
                                        <p:attrNameLst>
                                          <p:attrName>style.visibility</p:attrName>
                                        </p:attrNameLst>
                                      </p:cBhvr>
                                      <p:to>
                                        <p:strVal val="visible"/>
                                      </p:to>
                                    </p:set>
                                    <p:anim calcmode="lin" valueType="num">
                                      <p:cBhvr additive="base">
                                        <p:cTn id="97" dur="500" fill="hold"/>
                                        <p:tgtEl>
                                          <p:spTgt spid="31"/>
                                        </p:tgtEl>
                                        <p:attrNameLst>
                                          <p:attrName>ppt_x</p:attrName>
                                        </p:attrNameLst>
                                      </p:cBhvr>
                                      <p:tavLst>
                                        <p:tav tm="0">
                                          <p:val>
                                            <p:strVal val="#ppt_x"/>
                                          </p:val>
                                        </p:tav>
                                        <p:tav tm="100000">
                                          <p:val>
                                            <p:strVal val="#ppt_x"/>
                                          </p:val>
                                        </p:tav>
                                      </p:tavLst>
                                    </p:anim>
                                    <p:anim calcmode="lin" valueType="num">
                                      <p:cBhvr additive="base">
                                        <p:cTn id="98" dur="500" fill="hold"/>
                                        <p:tgtEl>
                                          <p:spTgt spid="31"/>
                                        </p:tgtEl>
                                        <p:attrNameLst>
                                          <p:attrName>ppt_y</p:attrName>
                                        </p:attrNameLst>
                                      </p:cBhvr>
                                      <p:tavLst>
                                        <p:tav tm="0">
                                          <p:val>
                                            <p:strVal val="#ppt_y+0.1"/>
                                          </p:val>
                                        </p:tav>
                                        <p:tav tm="100000">
                                          <p:val>
                                            <p:strVal val="#ppt_y"/>
                                          </p:val>
                                        </p:tav>
                                      </p:tavLst>
                                    </p:anim>
                                    <p:animEffect transition="in" filter="fade">
                                      <p:cBhvr>
                                        <p:cTn id="99" dur="500"/>
                                        <p:tgtEl>
                                          <p:spTgt spid="31"/>
                                        </p:tgtEl>
                                      </p:cBhvr>
                                    </p:animEffect>
                                  </p:childTnLst>
                                </p:cTn>
                              </p:par>
                              <p:par>
                                <p:cTn id="105" presetID="2" presetClass="entr" presetSubtype="4" fill="hold" grpId="0" nodeType="withEffect">
                                  <p:stCondLst>
                                    <p:cond delay="180"/>
                                  </p:stCondLst>
                                  <p:childTnLst>
                                    <p:set>
                                      <p:cBhvr>
                                        <p:cTn id="101" dur="1" fill="hold">
                                          <p:stCondLst>
                                            <p:cond delay="0"/>
                                          </p:stCondLst>
                                        </p:cTn>
                                        <p:tgtEl>
                                          <p:spTgt spid="32"/>
                                        </p:tgtEl>
                                        <p:attrNameLst>
                                          <p:attrName>style.visibility</p:attrName>
                                        </p:attrNameLst>
                                      </p:cBhvr>
                                      <p:to>
                                        <p:strVal val="visible"/>
                                      </p:to>
                                    </p:set>
                                    <p:anim calcmode="lin" valueType="num">
                                      <p:cBhvr additive="base">
                                        <p:cTn id="102" dur="500" fill="hold"/>
                                        <p:tgtEl>
                                          <p:spTgt spid="32"/>
                                        </p:tgtEl>
                                        <p:attrNameLst>
                                          <p:attrName>ppt_x</p:attrName>
                                        </p:attrNameLst>
                                      </p:cBhvr>
                                      <p:tavLst>
                                        <p:tav tm="0">
                                          <p:val>
                                            <p:strVal val="#ppt_x"/>
                                          </p:val>
                                        </p:tav>
                                        <p:tav tm="100000">
                                          <p:val>
                                            <p:strVal val="#ppt_x"/>
                                          </p:val>
                                        </p:tav>
                                      </p:tavLst>
                                    </p:anim>
                                    <p:anim calcmode="lin" valueType="num">
                                      <p:cBhvr additive="base">
                                        <p:cTn id="103" dur="500" fill="hold"/>
                                        <p:tgtEl>
                                          <p:spTgt spid="32"/>
                                        </p:tgtEl>
                                        <p:attrNameLst>
                                          <p:attrName>ppt_y</p:attrName>
                                        </p:attrNameLst>
                                      </p:cBhvr>
                                      <p:tavLst>
                                        <p:tav tm="0">
                                          <p:val>
                                            <p:strVal val="#ppt_y+0.1"/>
                                          </p:val>
                                        </p:tav>
                                        <p:tav tm="100000">
                                          <p:val>
                                            <p:strVal val="#ppt_y"/>
                                          </p:val>
                                        </p:tav>
                                      </p:tavLst>
                                    </p:anim>
                                    <p:animEffect transition="in" filter="fade">
                                      <p:cBhvr>
                                        <p:cTn id="104" dur="500"/>
                                        <p:tgtEl>
                                          <p:spTgt spid="32"/>
                                        </p:tgtEl>
                                      </p:cBhvr>
                                    </p:animEffect>
                                  </p:childTnLst>
                                </p:cTn>
                              </p:par>
                              <p:par>
                                <p:cTn id="110" presetID="2" presetClass="entr" presetSubtype="4" fill="hold" grpId="0" nodeType="withEffect">
                                  <p:stCondLst>
                                    <p:cond delay="270"/>
                                  </p:stCondLst>
                                  <p:childTnLst>
                                    <p:set>
                                      <p:cBhvr>
                                        <p:cTn id="106" dur="1" fill="hold">
                                          <p:stCondLst>
                                            <p:cond delay="0"/>
                                          </p:stCondLst>
                                        </p:cTn>
                                        <p:tgtEl>
                                          <p:spTgt spid="33"/>
                                        </p:tgtEl>
                                        <p:attrNameLst>
                                          <p:attrName>style.visibility</p:attrName>
                                        </p:attrNameLst>
                                      </p:cBhvr>
                                      <p:to>
                                        <p:strVal val="visible"/>
                                      </p:to>
                                    </p:set>
                                    <p:anim calcmode="lin" valueType="num">
                                      <p:cBhvr additive="base">
                                        <p:cTn id="107" dur="500" fill="hold"/>
                                        <p:tgtEl>
                                          <p:spTgt spid="33"/>
                                        </p:tgtEl>
                                        <p:attrNameLst>
                                          <p:attrName>ppt_x</p:attrName>
                                        </p:attrNameLst>
                                      </p:cBhvr>
                                      <p:tavLst>
                                        <p:tav tm="0">
                                          <p:val>
                                            <p:strVal val="#ppt_x"/>
                                          </p:val>
                                        </p:tav>
                                        <p:tav tm="100000">
                                          <p:val>
                                            <p:strVal val="#ppt_x"/>
                                          </p:val>
                                        </p:tav>
                                      </p:tavLst>
                                    </p:anim>
                                    <p:anim calcmode="lin" valueType="num">
                                      <p:cBhvr additive="base">
                                        <p:cTn id="108" dur="500" fill="hold"/>
                                        <p:tgtEl>
                                          <p:spTgt spid="33"/>
                                        </p:tgtEl>
                                        <p:attrNameLst>
                                          <p:attrName>ppt_y</p:attrName>
                                        </p:attrNameLst>
                                      </p:cBhvr>
                                      <p:tavLst>
                                        <p:tav tm="0">
                                          <p:val>
                                            <p:strVal val="#ppt_y+0.1"/>
                                          </p:val>
                                        </p:tav>
                                        <p:tav tm="100000">
                                          <p:val>
                                            <p:strVal val="#ppt_y"/>
                                          </p:val>
                                        </p:tav>
                                      </p:tavLst>
                                    </p:anim>
                                    <p:animEffect transition="in" filter="fade">
                                      <p:cBhvr>
                                        <p:cTn id="109" dur="500"/>
                                        <p:tgtEl>
                                          <p:spTgt spid="33"/>
                                        </p:tgtEl>
                                      </p:cBhvr>
                                    </p:animEffect>
                                  </p:childTnLst>
                                </p:cTn>
                              </p:par>
                            </p:childTnLst>
                          </p:cTn>
                        </p:par>
                      </p:childTnLst>
                    </p:cTn>
                  </p:par>
                  <p:par>
                    <p:cTn id="111" fill="hold">
                      <p:stCondLst>
                        <p:cond delay="indefinite"/>
                      </p:stCondLst>
                      <p:childTnLst>
                        <p:par>
                          <p:cTn id="112" fill="hold">
                            <p:stCondLst>
                              <p:cond delay="0"/>
                            </p:stCondLst>
                            <p:childTnLst>
                              <p:par>
                                <p:cTn id="117" presetID="2" presetClass="entr" presetSubtype="4" fill="hold" grpId="0" nodeType="clickEffect">
                                  <p:stCondLst>
                                    <p:cond delay="0"/>
                                  </p:stCondLst>
                                  <p:childTnLst>
                                    <p:set>
                                      <p:cBhvr>
                                        <p:cTn id="113" dur="1" fill="hold">
                                          <p:stCondLst>
                                            <p:cond delay="0"/>
                                          </p:stCondLst>
                                        </p:cTn>
                                        <p:tgtEl>
                                          <p:spTgt spid="34"/>
                                        </p:tgtEl>
                                        <p:attrNameLst>
                                          <p:attrName>style.visibility</p:attrName>
                                        </p:attrNameLst>
                                      </p:cBhvr>
                                      <p:to>
                                        <p:strVal val="visible"/>
                                      </p:to>
                                    </p:set>
                                    <p:anim calcmode="lin" valueType="num">
                                      <p:cBhvr additive="base">
                                        <p:cTn id="114" dur="500" fill="hold"/>
                                        <p:tgtEl>
                                          <p:spTgt spid="34"/>
                                        </p:tgtEl>
                                        <p:attrNameLst>
                                          <p:attrName>ppt_x</p:attrName>
                                        </p:attrNameLst>
                                      </p:cBhvr>
                                      <p:tavLst>
                                        <p:tav tm="0">
                                          <p:val>
                                            <p:strVal val="#ppt_x"/>
                                          </p:val>
                                        </p:tav>
                                        <p:tav tm="100000">
                                          <p:val>
                                            <p:strVal val="#ppt_x"/>
                                          </p:val>
                                        </p:tav>
                                      </p:tavLst>
                                    </p:anim>
                                    <p:anim calcmode="lin" valueType="num">
                                      <p:cBhvr additive="base">
                                        <p:cTn id="115" dur="500" fill="hold"/>
                                        <p:tgtEl>
                                          <p:spTgt spid="34"/>
                                        </p:tgtEl>
                                        <p:attrNameLst>
                                          <p:attrName>ppt_y</p:attrName>
                                        </p:attrNameLst>
                                      </p:cBhvr>
                                      <p:tavLst>
                                        <p:tav tm="0">
                                          <p:val>
                                            <p:strVal val="#ppt_y+0.1"/>
                                          </p:val>
                                        </p:tav>
                                        <p:tav tm="100000">
                                          <p:val>
                                            <p:strVal val="#ppt_y"/>
                                          </p:val>
                                        </p:tav>
                                      </p:tavLst>
                                    </p:anim>
                                    <p:animEffect transition="in" filter="fade">
                                      <p:cBhvr>
                                        <p:cTn id="116" dur="500"/>
                                        <p:tgtEl>
                                          <p:spTgt spid="34"/>
                                        </p:tgtEl>
                                      </p:cBhvr>
                                    </p:animEffect>
                                  </p:childTnLst>
                                </p:cTn>
                              </p:par>
                              <p:par>
                                <p:cTn id="122" presetID="2" presetClass="entr" presetSubtype="4" fill="hold" grpId="0" nodeType="withEffect">
                                  <p:stCondLst>
                                    <p:cond delay="0"/>
                                  </p:stCondLst>
                                  <p:childTnLst>
                                    <p:set>
                                      <p:cBhvr>
                                        <p:cTn id="118" dur="1" fill="hold">
                                          <p:stCondLst>
                                            <p:cond delay="0"/>
                                          </p:stCondLst>
                                        </p:cTn>
                                        <p:tgtEl>
                                          <p:spTgt spid="35"/>
                                        </p:tgtEl>
                                        <p:attrNameLst>
                                          <p:attrName>style.visibility</p:attrName>
                                        </p:attrNameLst>
                                      </p:cBhvr>
                                      <p:to>
                                        <p:strVal val="visible"/>
                                      </p:to>
                                    </p:set>
                                    <p:anim calcmode="lin" valueType="num">
                                      <p:cBhvr additive="base">
                                        <p:cTn id="119" dur="500" fill="hold"/>
                                        <p:tgtEl>
                                          <p:spTgt spid="35"/>
                                        </p:tgtEl>
                                        <p:attrNameLst>
                                          <p:attrName>ppt_x</p:attrName>
                                        </p:attrNameLst>
                                      </p:cBhvr>
                                      <p:tavLst>
                                        <p:tav tm="0">
                                          <p:val>
                                            <p:strVal val="#ppt_x"/>
                                          </p:val>
                                        </p:tav>
                                        <p:tav tm="100000">
                                          <p:val>
                                            <p:strVal val="#ppt_x"/>
                                          </p:val>
                                        </p:tav>
                                      </p:tavLst>
                                    </p:anim>
                                    <p:anim calcmode="lin" valueType="num">
                                      <p:cBhvr additive="base">
                                        <p:cTn id="120" dur="500" fill="hold"/>
                                        <p:tgtEl>
                                          <p:spTgt spid="35"/>
                                        </p:tgtEl>
                                        <p:attrNameLst>
                                          <p:attrName>ppt_y</p:attrName>
                                        </p:attrNameLst>
                                      </p:cBhvr>
                                      <p:tavLst>
                                        <p:tav tm="0">
                                          <p:val>
                                            <p:strVal val="#ppt_y+0.1"/>
                                          </p:val>
                                        </p:tav>
                                        <p:tav tm="100000">
                                          <p:val>
                                            <p:strVal val="#ppt_y"/>
                                          </p:val>
                                        </p:tav>
                                      </p:tavLst>
                                    </p:anim>
                                    <p:animEffect transition="in" filter="fade">
                                      <p:cBhvr>
                                        <p:cTn id="121" dur="500"/>
                                        <p:tgtEl>
                                          <p:spTgt spid="35"/>
                                        </p:tgtEl>
                                      </p:cBhvr>
                                    </p:animEffect>
                                  </p:childTnLst>
                                </p:cTn>
                              </p:par>
                              <p:par>
                                <p:cTn id="127" presetID="2" presetClass="entr" presetSubtype="4" fill="hold" grpId="0" nodeType="withEffect">
                                  <p:stCondLst>
                                    <p:cond delay="0"/>
                                  </p:stCondLst>
                                  <p:childTnLst>
                                    <p:set>
                                      <p:cBhvr>
                                        <p:cTn id="123" dur="1" fill="hold">
                                          <p:stCondLst>
                                            <p:cond delay="0"/>
                                          </p:stCondLst>
                                        </p:cTn>
                                        <p:tgtEl>
                                          <p:spTgt spid="36"/>
                                        </p:tgtEl>
                                        <p:attrNameLst>
                                          <p:attrName>style.visibility</p:attrName>
                                        </p:attrNameLst>
                                      </p:cBhvr>
                                      <p:to>
                                        <p:strVal val="visible"/>
                                      </p:to>
                                    </p:set>
                                    <p:anim calcmode="lin" valueType="num">
                                      <p:cBhvr additive="base">
                                        <p:cTn id="124" dur="500" fill="hold"/>
                                        <p:tgtEl>
                                          <p:spTgt spid="36"/>
                                        </p:tgtEl>
                                        <p:attrNameLst>
                                          <p:attrName>ppt_x</p:attrName>
                                        </p:attrNameLst>
                                      </p:cBhvr>
                                      <p:tavLst>
                                        <p:tav tm="0">
                                          <p:val>
                                            <p:strVal val="#ppt_x"/>
                                          </p:val>
                                        </p:tav>
                                        <p:tav tm="100000">
                                          <p:val>
                                            <p:strVal val="#ppt_x"/>
                                          </p:val>
                                        </p:tav>
                                      </p:tavLst>
                                    </p:anim>
                                    <p:anim calcmode="lin" valueType="num">
                                      <p:cBhvr additive="base">
                                        <p:cTn id="125" dur="500" fill="hold"/>
                                        <p:tgtEl>
                                          <p:spTgt spid="36"/>
                                        </p:tgtEl>
                                        <p:attrNameLst>
                                          <p:attrName>ppt_y</p:attrName>
                                        </p:attrNameLst>
                                      </p:cBhvr>
                                      <p:tavLst>
                                        <p:tav tm="0">
                                          <p:val>
                                            <p:strVal val="#ppt_y+0.1"/>
                                          </p:val>
                                        </p:tav>
                                        <p:tav tm="100000">
                                          <p:val>
                                            <p:strVal val="#ppt_y"/>
                                          </p:val>
                                        </p:tav>
                                      </p:tavLst>
                                    </p:anim>
                                    <p:animEffect transition="in" filter="fade">
                                      <p:cBhvr>
                                        <p:cTn id="126" dur="500"/>
                                        <p:tgtEl>
                                          <p:spTgt spid="36"/>
                                        </p:tgtEl>
                                      </p:cBhvr>
                                    </p:animEffect>
                                  </p:childTnLst>
                                </p:cTn>
                              </p:par>
                              <p:par>
                                <p:cTn id="132" presetID="2" presetClass="entr" presetSubtype="4" fill="hold" grpId="0" nodeType="withEffect">
                                  <p:stCondLst>
                                    <p:cond delay="80"/>
                                  </p:stCondLst>
                                  <p:childTnLst>
                                    <p:set>
                                      <p:cBhvr>
                                        <p:cTn id="128" dur="1" fill="hold">
                                          <p:stCondLst>
                                            <p:cond delay="0"/>
                                          </p:stCondLst>
                                        </p:cTn>
                                        <p:tgtEl>
                                          <p:spTgt spid="37"/>
                                        </p:tgtEl>
                                        <p:attrNameLst>
                                          <p:attrName>style.visibility</p:attrName>
                                        </p:attrNameLst>
                                      </p:cBhvr>
                                      <p:to>
                                        <p:strVal val="visible"/>
                                      </p:to>
                                    </p:set>
                                    <p:anim calcmode="lin" valueType="num">
                                      <p:cBhvr additive="base">
                                        <p:cTn id="129" dur="500" fill="hold"/>
                                        <p:tgtEl>
                                          <p:spTgt spid="37"/>
                                        </p:tgtEl>
                                        <p:attrNameLst>
                                          <p:attrName>ppt_x</p:attrName>
                                        </p:attrNameLst>
                                      </p:cBhvr>
                                      <p:tavLst>
                                        <p:tav tm="0">
                                          <p:val>
                                            <p:strVal val="#ppt_x"/>
                                          </p:val>
                                        </p:tav>
                                        <p:tav tm="100000">
                                          <p:val>
                                            <p:strVal val="#ppt_x"/>
                                          </p:val>
                                        </p:tav>
                                      </p:tavLst>
                                    </p:anim>
                                    <p:anim calcmode="lin" valueType="num">
                                      <p:cBhvr additive="base">
                                        <p:cTn id="130" dur="500" fill="hold"/>
                                        <p:tgtEl>
                                          <p:spTgt spid="37"/>
                                        </p:tgtEl>
                                        <p:attrNameLst>
                                          <p:attrName>ppt_y</p:attrName>
                                        </p:attrNameLst>
                                      </p:cBhvr>
                                      <p:tavLst>
                                        <p:tav tm="0">
                                          <p:val>
                                            <p:strVal val="#ppt_y+0.1"/>
                                          </p:val>
                                        </p:tav>
                                        <p:tav tm="100000">
                                          <p:val>
                                            <p:strVal val="#ppt_y"/>
                                          </p:val>
                                        </p:tav>
                                      </p:tavLst>
                                    </p:anim>
                                    <p:animEffect transition="in" filter="fade">
                                      <p:cBhvr>
                                        <p:cTn id="131" dur="500"/>
                                        <p:tgtEl>
                                          <p:spTgt spid="37"/>
                                        </p:tgtEl>
                                      </p:cBhvr>
                                    </p:animEffect>
                                  </p:childTnLst>
                                </p:cTn>
                              </p:par>
                              <p:par>
                                <p:cTn id="137" presetID="2" presetClass="entr" presetSubtype="4" fill="hold" grpId="0" nodeType="withEffect">
                                  <p:stCondLst>
                                    <p:cond delay="80"/>
                                  </p:stCondLst>
                                  <p:childTnLst>
                                    <p:set>
                                      <p:cBhvr>
                                        <p:cTn id="133" dur="1" fill="hold">
                                          <p:stCondLst>
                                            <p:cond delay="0"/>
                                          </p:stCondLst>
                                        </p:cTn>
                                        <p:tgtEl>
                                          <p:spTgt spid="38"/>
                                        </p:tgtEl>
                                        <p:attrNameLst>
                                          <p:attrName>style.visibility</p:attrName>
                                        </p:attrNameLst>
                                      </p:cBhvr>
                                      <p:to>
                                        <p:strVal val="visible"/>
                                      </p:to>
                                    </p:set>
                                    <p:anim calcmode="lin" valueType="num">
                                      <p:cBhvr additive="base">
                                        <p:cTn id="134" dur="500" fill="hold"/>
                                        <p:tgtEl>
                                          <p:spTgt spid="38"/>
                                        </p:tgtEl>
                                        <p:attrNameLst>
                                          <p:attrName>ppt_x</p:attrName>
                                        </p:attrNameLst>
                                      </p:cBhvr>
                                      <p:tavLst>
                                        <p:tav tm="0">
                                          <p:val>
                                            <p:strVal val="#ppt_x"/>
                                          </p:val>
                                        </p:tav>
                                        <p:tav tm="100000">
                                          <p:val>
                                            <p:strVal val="#ppt_x"/>
                                          </p:val>
                                        </p:tav>
                                      </p:tavLst>
                                    </p:anim>
                                    <p:anim calcmode="lin" valueType="num">
                                      <p:cBhvr additive="base">
                                        <p:cTn id="135" dur="500" fill="hold"/>
                                        <p:tgtEl>
                                          <p:spTgt spid="38"/>
                                        </p:tgtEl>
                                        <p:attrNameLst>
                                          <p:attrName>ppt_y</p:attrName>
                                        </p:attrNameLst>
                                      </p:cBhvr>
                                      <p:tavLst>
                                        <p:tav tm="0">
                                          <p:val>
                                            <p:strVal val="#ppt_y+0.1"/>
                                          </p:val>
                                        </p:tav>
                                        <p:tav tm="100000">
                                          <p:val>
                                            <p:strVal val="#ppt_y"/>
                                          </p:val>
                                        </p:tav>
                                      </p:tavLst>
                                    </p:anim>
                                    <p:animEffect transition="in" filter="fade">
                                      <p:cBhvr>
                                        <p:cTn id="136" dur="500"/>
                                        <p:tgtEl>
                                          <p:spTgt spid="38"/>
                                        </p:tgtEl>
                                      </p:cBhvr>
                                    </p:animEffect>
                                  </p:childTnLst>
                                </p:cTn>
                              </p:par>
                              <p:par>
                                <p:cTn id="142" presetID="2" presetClass="entr" presetSubtype="4" fill="hold" grpId="0" nodeType="withEffect">
                                  <p:stCondLst>
                                    <p:cond delay="180"/>
                                  </p:stCondLst>
                                  <p:childTnLst>
                                    <p:set>
                                      <p:cBhvr>
                                        <p:cTn id="138" dur="1" fill="hold">
                                          <p:stCondLst>
                                            <p:cond delay="0"/>
                                          </p:stCondLst>
                                        </p:cTn>
                                        <p:tgtEl>
                                          <p:spTgt spid="39"/>
                                        </p:tgtEl>
                                        <p:attrNameLst>
                                          <p:attrName>style.visibility</p:attrName>
                                        </p:attrNameLst>
                                      </p:cBhvr>
                                      <p:to>
                                        <p:strVal val="visible"/>
                                      </p:to>
                                    </p:set>
                                    <p:anim calcmode="lin" valueType="num">
                                      <p:cBhvr additive="base">
                                        <p:cTn id="139" dur="500" fill="hold"/>
                                        <p:tgtEl>
                                          <p:spTgt spid="39"/>
                                        </p:tgtEl>
                                        <p:attrNameLst>
                                          <p:attrName>ppt_x</p:attrName>
                                        </p:attrNameLst>
                                      </p:cBhvr>
                                      <p:tavLst>
                                        <p:tav tm="0">
                                          <p:val>
                                            <p:strVal val="#ppt_x"/>
                                          </p:val>
                                        </p:tav>
                                        <p:tav tm="100000">
                                          <p:val>
                                            <p:strVal val="#ppt_x"/>
                                          </p:val>
                                        </p:tav>
                                      </p:tavLst>
                                    </p:anim>
                                    <p:anim calcmode="lin" valueType="num">
                                      <p:cBhvr additive="base">
                                        <p:cTn id="140" dur="500" fill="hold"/>
                                        <p:tgtEl>
                                          <p:spTgt spid="39"/>
                                        </p:tgtEl>
                                        <p:attrNameLst>
                                          <p:attrName>ppt_y</p:attrName>
                                        </p:attrNameLst>
                                      </p:cBhvr>
                                      <p:tavLst>
                                        <p:tav tm="0">
                                          <p:val>
                                            <p:strVal val="#ppt_y+0.1"/>
                                          </p:val>
                                        </p:tav>
                                        <p:tav tm="100000">
                                          <p:val>
                                            <p:strVal val="#ppt_y"/>
                                          </p:val>
                                        </p:tav>
                                      </p:tavLst>
                                    </p:anim>
                                    <p:animEffect transition="in" filter="fade">
                                      <p:cBhvr>
                                        <p:cTn id="141" dur="500"/>
                                        <p:tgtEl>
                                          <p:spTgt spid="39"/>
                                        </p:tgtEl>
                                      </p:cBhvr>
                                    </p:animEffect>
                                  </p:childTnLst>
                                </p:cTn>
                              </p:par>
                              <p:par>
                                <p:cTn id="147" presetID="2" presetClass="entr" presetSubtype="4" fill="hold" grpId="0" nodeType="withEffect">
                                  <p:stCondLst>
                                    <p:cond delay="180"/>
                                  </p:stCondLst>
                                  <p:childTnLst>
                                    <p:set>
                                      <p:cBhvr>
                                        <p:cTn id="143" dur="1" fill="hold">
                                          <p:stCondLst>
                                            <p:cond delay="0"/>
                                          </p:stCondLst>
                                        </p:cTn>
                                        <p:tgtEl>
                                          <p:spTgt spid="40"/>
                                        </p:tgtEl>
                                        <p:attrNameLst>
                                          <p:attrName>style.visibility</p:attrName>
                                        </p:attrNameLst>
                                      </p:cBhvr>
                                      <p:to>
                                        <p:strVal val="visible"/>
                                      </p:to>
                                    </p:set>
                                    <p:anim calcmode="lin" valueType="num">
                                      <p:cBhvr additive="base">
                                        <p:cTn id="144" dur="500" fill="hold"/>
                                        <p:tgtEl>
                                          <p:spTgt spid="40"/>
                                        </p:tgtEl>
                                        <p:attrNameLst>
                                          <p:attrName>ppt_x</p:attrName>
                                        </p:attrNameLst>
                                      </p:cBhvr>
                                      <p:tavLst>
                                        <p:tav tm="0">
                                          <p:val>
                                            <p:strVal val="#ppt_x"/>
                                          </p:val>
                                        </p:tav>
                                        <p:tav tm="100000">
                                          <p:val>
                                            <p:strVal val="#ppt_x"/>
                                          </p:val>
                                        </p:tav>
                                      </p:tavLst>
                                    </p:anim>
                                    <p:anim calcmode="lin" valueType="num">
                                      <p:cBhvr additive="base">
                                        <p:cTn id="145" dur="500" fill="hold"/>
                                        <p:tgtEl>
                                          <p:spTgt spid="40"/>
                                        </p:tgtEl>
                                        <p:attrNameLst>
                                          <p:attrName>ppt_y</p:attrName>
                                        </p:attrNameLst>
                                      </p:cBhvr>
                                      <p:tavLst>
                                        <p:tav tm="0">
                                          <p:val>
                                            <p:strVal val="#ppt_y+0.1"/>
                                          </p:val>
                                        </p:tav>
                                        <p:tav tm="100000">
                                          <p:val>
                                            <p:strVal val="#ppt_y"/>
                                          </p:val>
                                        </p:tav>
                                      </p:tavLst>
                                    </p:anim>
                                    <p:animEffect transition="in" filter="fade">
                                      <p:cBhvr>
                                        <p:cTn id="146" dur="500"/>
                                        <p:tgtEl>
                                          <p:spTgt spid="40"/>
                                        </p:tgtEl>
                                      </p:cBhvr>
                                    </p:animEffect>
                                  </p:childTnLst>
                                </p:cTn>
                              </p:par>
                            </p:childTnLst>
                          </p:cTn>
                        </p:par>
                      </p:childTnLst>
                    </p:cTn>
                  </p:par>
                  <p:par>
                    <p:cTn id="148" fill="hold">
                      <p:stCondLst>
                        <p:cond delay="indefinite"/>
                      </p:stCondLst>
                      <p:childTnLst>
                        <p:par>
                          <p:cTn id="149" fill="hold">
                            <p:stCondLst>
                              <p:cond delay="0"/>
                            </p:stCondLst>
                            <p:childTnLst>
                              <p:par>
                                <p:cTn id="154" presetID="2" presetClass="entr" presetSubtype="4" fill="hold" grpId="0" nodeType="clickEffect">
                                  <p:stCondLst>
                                    <p:cond delay="0"/>
                                  </p:stCondLst>
                                  <p:childTnLst>
                                    <p:set>
                                      <p:cBhvr>
                                        <p:cTn id="150" dur="1" fill="hold">
                                          <p:stCondLst>
                                            <p:cond delay="0"/>
                                          </p:stCondLst>
                                        </p:cTn>
                                        <p:tgtEl>
                                          <p:spTgt spid="41"/>
                                        </p:tgtEl>
                                        <p:attrNameLst>
                                          <p:attrName>style.visibility</p:attrName>
                                        </p:attrNameLst>
                                      </p:cBhvr>
                                      <p:to>
                                        <p:strVal val="visible"/>
                                      </p:to>
                                    </p:set>
                                    <p:anim calcmode="lin" valueType="num">
                                      <p:cBhvr additive="base">
                                        <p:cTn id="151" dur="500" fill="hold"/>
                                        <p:tgtEl>
                                          <p:spTgt spid="41"/>
                                        </p:tgtEl>
                                        <p:attrNameLst>
                                          <p:attrName>ppt_x</p:attrName>
                                        </p:attrNameLst>
                                      </p:cBhvr>
                                      <p:tavLst>
                                        <p:tav tm="0">
                                          <p:val>
                                            <p:strVal val="#ppt_x"/>
                                          </p:val>
                                        </p:tav>
                                        <p:tav tm="100000">
                                          <p:val>
                                            <p:strVal val="#ppt_x"/>
                                          </p:val>
                                        </p:tav>
                                      </p:tavLst>
                                    </p:anim>
                                    <p:anim calcmode="lin" valueType="num">
                                      <p:cBhvr additive="base">
                                        <p:cTn id="152" dur="500" fill="hold"/>
                                        <p:tgtEl>
                                          <p:spTgt spid="41"/>
                                        </p:tgtEl>
                                        <p:attrNameLst>
                                          <p:attrName>ppt_y</p:attrName>
                                        </p:attrNameLst>
                                      </p:cBhvr>
                                      <p:tavLst>
                                        <p:tav tm="0">
                                          <p:val>
                                            <p:strVal val="#ppt_y+0.1"/>
                                          </p:val>
                                        </p:tav>
                                        <p:tav tm="100000">
                                          <p:val>
                                            <p:strVal val="#ppt_y"/>
                                          </p:val>
                                        </p:tav>
                                      </p:tavLst>
                                    </p:anim>
                                    <p:animEffect transition="in" filter="fade">
                                      <p:cBhvr>
                                        <p:cTn id="153" dur="500"/>
                                        <p:tgtEl>
                                          <p:spTgt spid="41"/>
                                        </p:tgtEl>
                                      </p:cBhvr>
                                    </p:animEffect>
                                  </p:childTnLst>
                                </p:cTn>
                              </p:par>
                              <p:par>
                                <p:cTn id="159" presetID="2" presetClass="entr" presetSubtype="4" fill="hold" grpId="0" nodeType="withEffect">
                                  <p:stCondLst>
                                    <p:cond delay="0"/>
                                  </p:stCondLst>
                                  <p:childTnLst>
                                    <p:set>
                                      <p:cBhvr>
                                        <p:cTn id="155" dur="1" fill="hold">
                                          <p:stCondLst>
                                            <p:cond delay="0"/>
                                          </p:stCondLst>
                                        </p:cTn>
                                        <p:tgtEl>
                                          <p:spTgt spid="42"/>
                                        </p:tgtEl>
                                        <p:attrNameLst>
                                          <p:attrName>style.visibility</p:attrName>
                                        </p:attrNameLst>
                                      </p:cBhvr>
                                      <p:to>
                                        <p:strVal val="visible"/>
                                      </p:to>
                                    </p:set>
                                    <p:anim calcmode="lin" valueType="num">
                                      <p:cBhvr additive="base">
                                        <p:cTn id="156" dur="500" fill="hold"/>
                                        <p:tgtEl>
                                          <p:spTgt spid="42"/>
                                        </p:tgtEl>
                                        <p:attrNameLst>
                                          <p:attrName>ppt_x</p:attrName>
                                        </p:attrNameLst>
                                      </p:cBhvr>
                                      <p:tavLst>
                                        <p:tav tm="0">
                                          <p:val>
                                            <p:strVal val="#ppt_x"/>
                                          </p:val>
                                        </p:tav>
                                        <p:tav tm="100000">
                                          <p:val>
                                            <p:strVal val="#ppt_x"/>
                                          </p:val>
                                        </p:tav>
                                      </p:tavLst>
                                    </p:anim>
                                    <p:anim calcmode="lin" valueType="num">
                                      <p:cBhvr additive="base">
                                        <p:cTn id="157" dur="500" fill="hold"/>
                                        <p:tgtEl>
                                          <p:spTgt spid="42"/>
                                        </p:tgtEl>
                                        <p:attrNameLst>
                                          <p:attrName>ppt_y</p:attrName>
                                        </p:attrNameLst>
                                      </p:cBhvr>
                                      <p:tavLst>
                                        <p:tav tm="0">
                                          <p:val>
                                            <p:strVal val="#ppt_y+0.1"/>
                                          </p:val>
                                        </p:tav>
                                        <p:tav tm="100000">
                                          <p:val>
                                            <p:strVal val="#ppt_y"/>
                                          </p:val>
                                        </p:tav>
                                      </p:tavLst>
                                    </p:anim>
                                    <p:animEffect transition="in" filter="fade">
                                      <p:cBhvr>
                                        <p:cTn id="158" dur="500"/>
                                        <p:tgtEl>
                                          <p:spTgt spid="42"/>
                                        </p:tgtEl>
                                      </p:cBhvr>
                                    </p:animEffect>
                                  </p:childTnLst>
                                </p:cTn>
                              </p:par>
                              <p:par>
                                <p:cTn id="164" presetID="2" presetClass="entr" presetSubtype="4" fill="hold" grpId="0" nodeType="withEffect">
                                  <p:stCondLst>
                                    <p:cond delay="0"/>
                                  </p:stCondLst>
                                  <p:childTnLst>
                                    <p:set>
                                      <p:cBhvr>
                                        <p:cTn id="160" dur="1" fill="hold">
                                          <p:stCondLst>
                                            <p:cond delay="0"/>
                                          </p:stCondLst>
                                        </p:cTn>
                                        <p:tgtEl>
                                          <p:spTgt spid="43"/>
                                        </p:tgtEl>
                                        <p:attrNameLst>
                                          <p:attrName>style.visibility</p:attrName>
                                        </p:attrNameLst>
                                      </p:cBhvr>
                                      <p:to>
                                        <p:strVal val="visible"/>
                                      </p:to>
                                    </p:set>
                                    <p:anim calcmode="lin" valueType="num">
                                      <p:cBhvr additive="base">
                                        <p:cTn id="161" dur="500" fill="hold"/>
                                        <p:tgtEl>
                                          <p:spTgt spid="43"/>
                                        </p:tgtEl>
                                        <p:attrNameLst>
                                          <p:attrName>ppt_x</p:attrName>
                                        </p:attrNameLst>
                                      </p:cBhvr>
                                      <p:tavLst>
                                        <p:tav tm="0">
                                          <p:val>
                                            <p:strVal val="#ppt_x"/>
                                          </p:val>
                                        </p:tav>
                                        <p:tav tm="100000">
                                          <p:val>
                                            <p:strVal val="#ppt_x"/>
                                          </p:val>
                                        </p:tav>
                                      </p:tavLst>
                                    </p:anim>
                                    <p:anim calcmode="lin" valueType="num">
                                      <p:cBhvr additive="base">
                                        <p:cTn id="162" dur="500" fill="hold"/>
                                        <p:tgtEl>
                                          <p:spTgt spid="43"/>
                                        </p:tgtEl>
                                        <p:attrNameLst>
                                          <p:attrName>ppt_y</p:attrName>
                                        </p:attrNameLst>
                                      </p:cBhvr>
                                      <p:tavLst>
                                        <p:tav tm="0">
                                          <p:val>
                                            <p:strVal val="#ppt_y+0.1"/>
                                          </p:val>
                                        </p:tav>
                                        <p:tav tm="100000">
                                          <p:val>
                                            <p:strVal val="#ppt_y"/>
                                          </p:val>
                                        </p:tav>
                                      </p:tavLst>
                                    </p:anim>
                                    <p:animEffect transition="in" filter="fade">
                                      <p:cBhvr>
                                        <p:cTn id="163" dur="500"/>
                                        <p:tgtEl>
                                          <p:spTgt spid="43"/>
                                        </p:tgtEl>
                                      </p:cBhvr>
                                    </p:animEffect>
                                  </p:childTnLst>
                                </p:cTn>
                              </p:par>
                              <p:par>
                                <p:cTn id="169" presetID="2" presetClass="entr" presetSubtype="4" fill="hold" grpId="0" nodeType="withEffect">
                                  <p:stCondLst>
                                    <p:cond delay="80"/>
                                  </p:stCondLst>
                                  <p:childTnLst>
                                    <p:set>
                                      <p:cBhvr>
                                        <p:cTn id="165" dur="1" fill="hold">
                                          <p:stCondLst>
                                            <p:cond delay="0"/>
                                          </p:stCondLst>
                                        </p:cTn>
                                        <p:tgtEl>
                                          <p:spTgt spid="44"/>
                                        </p:tgtEl>
                                        <p:attrNameLst>
                                          <p:attrName>style.visibility</p:attrName>
                                        </p:attrNameLst>
                                      </p:cBhvr>
                                      <p:to>
                                        <p:strVal val="visible"/>
                                      </p:to>
                                    </p:set>
                                    <p:anim calcmode="lin" valueType="num">
                                      <p:cBhvr additive="base">
                                        <p:cTn id="166" dur="500" fill="hold"/>
                                        <p:tgtEl>
                                          <p:spTgt spid="44"/>
                                        </p:tgtEl>
                                        <p:attrNameLst>
                                          <p:attrName>ppt_x</p:attrName>
                                        </p:attrNameLst>
                                      </p:cBhvr>
                                      <p:tavLst>
                                        <p:tav tm="0">
                                          <p:val>
                                            <p:strVal val="#ppt_x"/>
                                          </p:val>
                                        </p:tav>
                                        <p:tav tm="100000">
                                          <p:val>
                                            <p:strVal val="#ppt_x"/>
                                          </p:val>
                                        </p:tav>
                                      </p:tavLst>
                                    </p:anim>
                                    <p:anim calcmode="lin" valueType="num">
                                      <p:cBhvr additive="base">
                                        <p:cTn id="167" dur="500" fill="hold"/>
                                        <p:tgtEl>
                                          <p:spTgt spid="44"/>
                                        </p:tgtEl>
                                        <p:attrNameLst>
                                          <p:attrName>ppt_y</p:attrName>
                                        </p:attrNameLst>
                                      </p:cBhvr>
                                      <p:tavLst>
                                        <p:tav tm="0">
                                          <p:val>
                                            <p:strVal val="#ppt_y+0.1"/>
                                          </p:val>
                                        </p:tav>
                                        <p:tav tm="100000">
                                          <p:val>
                                            <p:strVal val="#ppt_y"/>
                                          </p:val>
                                        </p:tav>
                                      </p:tavLst>
                                    </p:anim>
                                    <p:animEffect transition="in" filter="fade">
                                      <p:cBhvr>
                                        <p:cTn id="168" dur="500"/>
                                        <p:tgtEl>
                                          <p:spTgt spid="44"/>
                                        </p:tgtEl>
                                      </p:cBhvr>
                                    </p:animEffect>
                                  </p:childTnLst>
                                </p:cTn>
                              </p:par>
                              <p:par>
                                <p:cTn id="174" presetID="2" presetClass="entr" presetSubtype="4" fill="hold" grpId="0" nodeType="withEffect">
                                  <p:stCondLst>
                                    <p:cond delay="80"/>
                                  </p:stCondLst>
                                  <p:childTnLst>
                                    <p:set>
                                      <p:cBhvr>
                                        <p:cTn id="170" dur="1" fill="hold">
                                          <p:stCondLst>
                                            <p:cond delay="0"/>
                                          </p:stCondLst>
                                        </p:cTn>
                                        <p:tgtEl>
                                          <p:spTgt spid="45"/>
                                        </p:tgtEl>
                                        <p:attrNameLst>
                                          <p:attrName>style.visibility</p:attrName>
                                        </p:attrNameLst>
                                      </p:cBhvr>
                                      <p:to>
                                        <p:strVal val="visible"/>
                                      </p:to>
                                    </p:set>
                                    <p:anim calcmode="lin" valueType="num">
                                      <p:cBhvr additive="base">
                                        <p:cTn id="171" dur="500" fill="hold"/>
                                        <p:tgtEl>
                                          <p:spTgt spid="45"/>
                                        </p:tgtEl>
                                        <p:attrNameLst>
                                          <p:attrName>ppt_x</p:attrName>
                                        </p:attrNameLst>
                                      </p:cBhvr>
                                      <p:tavLst>
                                        <p:tav tm="0">
                                          <p:val>
                                            <p:strVal val="#ppt_x"/>
                                          </p:val>
                                        </p:tav>
                                        <p:tav tm="100000">
                                          <p:val>
                                            <p:strVal val="#ppt_x"/>
                                          </p:val>
                                        </p:tav>
                                      </p:tavLst>
                                    </p:anim>
                                    <p:anim calcmode="lin" valueType="num">
                                      <p:cBhvr additive="base">
                                        <p:cTn id="172" dur="500" fill="hold"/>
                                        <p:tgtEl>
                                          <p:spTgt spid="45"/>
                                        </p:tgtEl>
                                        <p:attrNameLst>
                                          <p:attrName>ppt_y</p:attrName>
                                        </p:attrNameLst>
                                      </p:cBhvr>
                                      <p:tavLst>
                                        <p:tav tm="0">
                                          <p:val>
                                            <p:strVal val="#ppt_y+0.1"/>
                                          </p:val>
                                        </p:tav>
                                        <p:tav tm="100000">
                                          <p:val>
                                            <p:strVal val="#ppt_y"/>
                                          </p:val>
                                        </p:tav>
                                      </p:tavLst>
                                    </p:anim>
                                    <p:animEffect transition="in" filter="fade">
                                      <p:cBhvr>
                                        <p:cTn id="173" dur="500"/>
                                        <p:tgtEl>
                                          <p:spTgt spid="45"/>
                                        </p:tgtEl>
                                      </p:cBhvr>
                                    </p:animEffect>
                                  </p:childTnLst>
                                </p:cTn>
                              </p:par>
                              <p:par>
                                <p:cTn id="179" presetID="2" presetClass="entr" presetSubtype="4" fill="hold" grpId="0" nodeType="withEffect">
                                  <p:stCondLst>
                                    <p:cond delay="180"/>
                                  </p:stCondLst>
                                  <p:childTnLst>
                                    <p:set>
                                      <p:cBhvr>
                                        <p:cTn id="175" dur="1" fill="hold">
                                          <p:stCondLst>
                                            <p:cond delay="0"/>
                                          </p:stCondLst>
                                        </p:cTn>
                                        <p:tgtEl>
                                          <p:spTgt spid="46"/>
                                        </p:tgtEl>
                                        <p:attrNameLst>
                                          <p:attrName>style.visibility</p:attrName>
                                        </p:attrNameLst>
                                      </p:cBhvr>
                                      <p:to>
                                        <p:strVal val="visible"/>
                                      </p:to>
                                    </p:set>
                                    <p:anim calcmode="lin" valueType="num">
                                      <p:cBhvr additive="base">
                                        <p:cTn id="176" dur="500" fill="hold"/>
                                        <p:tgtEl>
                                          <p:spTgt spid="46"/>
                                        </p:tgtEl>
                                        <p:attrNameLst>
                                          <p:attrName>ppt_x</p:attrName>
                                        </p:attrNameLst>
                                      </p:cBhvr>
                                      <p:tavLst>
                                        <p:tav tm="0">
                                          <p:val>
                                            <p:strVal val="#ppt_x"/>
                                          </p:val>
                                        </p:tav>
                                        <p:tav tm="100000">
                                          <p:val>
                                            <p:strVal val="#ppt_x"/>
                                          </p:val>
                                        </p:tav>
                                      </p:tavLst>
                                    </p:anim>
                                    <p:anim calcmode="lin" valueType="num">
                                      <p:cBhvr additive="base">
                                        <p:cTn id="177" dur="500" fill="hold"/>
                                        <p:tgtEl>
                                          <p:spTgt spid="46"/>
                                        </p:tgtEl>
                                        <p:attrNameLst>
                                          <p:attrName>ppt_y</p:attrName>
                                        </p:attrNameLst>
                                      </p:cBhvr>
                                      <p:tavLst>
                                        <p:tav tm="0">
                                          <p:val>
                                            <p:strVal val="#ppt_y+0.1"/>
                                          </p:val>
                                        </p:tav>
                                        <p:tav tm="100000">
                                          <p:val>
                                            <p:strVal val="#ppt_y"/>
                                          </p:val>
                                        </p:tav>
                                      </p:tavLst>
                                    </p:anim>
                                    <p:animEffect transition="in" filter="fade">
                                      <p:cBhvr>
                                        <p:cTn id="178" dur="500"/>
                                        <p:tgtEl>
                                          <p:spTgt spid="46"/>
                                        </p:tgtEl>
                                      </p:cBhvr>
                                    </p:animEffect>
                                  </p:childTnLst>
                                </p:cTn>
                              </p:par>
                              <p:par>
                                <p:cTn id="184" presetID="2" presetClass="entr" presetSubtype="4" fill="hold" grpId="0" nodeType="withEffect">
                                  <p:stCondLst>
                                    <p:cond delay="180"/>
                                  </p:stCondLst>
                                  <p:childTnLst>
                                    <p:set>
                                      <p:cBhvr>
                                        <p:cTn id="180" dur="1" fill="hold">
                                          <p:stCondLst>
                                            <p:cond delay="0"/>
                                          </p:stCondLst>
                                        </p:cTn>
                                        <p:tgtEl>
                                          <p:spTgt spid="47"/>
                                        </p:tgtEl>
                                        <p:attrNameLst>
                                          <p:attrName>style.visibility</p:attrName>
                                        </p:attrNameLst>
                                      </p:cBhvr>
                                      <p:to>
                                        <p:strVal val="visible"/>
                                      </p:to>
                                    </p:set>
                                    <p:anim calcmode="lin" valueType="num">
                                      <p:cBhvr additive="base">
                                        <p:cTn id="181" dur="500" fill="hold"/>
                                        <p:tgtEl>
                                          <p:spTgt spid="47"/>
                                        </p:tgtEl>
                                        <p:attrNameLst>
                                          <p:attrName>ppt_x</p:attrName>
                                        </p:attrNameLst>
                                      </p:cBhvr>
                                      <p:tavLst>
                                        <p:tav tm="0">
                                          <p:val>
                                            <p:strVal val="#ppt_x"/>
                                          </p:val>
                                        </p:tav>
                                        <p:tav tm="100000">
                                          <p:val>
                                            <p:strVal val="#ppt_x"/>
                                          </p:val>
                                        </p:tav>
                                      </p:tavLst>
                                    </p:anim>
                                    <p:anim calcmode="lin" valueType="num">
                                      <p:cBhvr additive="base">
                                        <p:cTn id="182" dur="500" fill="hold"/>
                                        <p:tgtEl>
                                          <p:spTgt spid="47"/>
                                        </p:tgtEl>
                                        <p:attrNameLst>
                                          <p:attrName>ppt_y</p:attrName>
                                        </p:attrNameLst>
                                      </p:cBhvr>
                                      <p:tavLst>
                                        <p:tav tm="0">
                                          <p:val>
                                            <p:strVal val="#ppt_y+0.1"/>
                                          </p:val>
                                        </p:tav>
                                        <p:tav tm="100000">
                                          <p:val>
                                            <p:strVal val="#ppt_y"/>
                                          </p:val>
                                        </p:tav>
                                      </p:tavLst>
                                    </p:anim>
                                    <p:animEffect transition="in" filter="fade">
                                      <p:cBhvr>
                                        <p:cTn id="183" dur="500"/>
                                        <p:tgtEl>
                                          <p:spTgt spid="47"/>
                                        </p:tgtEl>
                                      </p:cBhvr>
                                    </p:animEffect>
                                  </p:childTnLst>
                                </p:cTn>
                              </p:par>
                              <p:par>
                                <p:cTn id="189" presetID="2" presetClass="entr" presetSubtype="4" fill="hold" grpId="0" nodeType="withEffect">
                                  <p:stCondLst>
                                    <p:cond delay="280"/>
                                  </p:stCondLst>
                                  <p:childTnLst>
                                    <p:set>
                                      <p:cBhvr>
                                        <p:cTn id="185" dur="1" fill="hold">
                                          <p:stCondLst>
                                            <p:cond delay="0"/>
                                          </p:stCondLst>
                                        </p:cTn>
                                        <p:tgtEl>
                                          <p:spTgt spid="48"/>
                                        </p:tgtEl>
                                        <p:attrNameLst>
                                          <p:attrName>style.visibility</p:attrName>
                                        </p:attrNameLst>
                                      </p:cBhvr>
                                      <p:to>
                                        <p:strVal val="visible"/>
                                      </p:to>
                                    </p:set>
                                    <p:anim calcmode="lin" valueType="num">
                                      <p:cBhvr additive="base">
                                        <p:cTn id="186" dur="500" fill="hold"/>
                                        <p:tgtEl>
                                          <p:spTgt spid="48"/>
                                        </p:tgtEl>
                                        <p:attrNameLst>
                                          <p:attrName>ppt_x</p:attrName>
                                        </p:attrNameLst>
                                      </p:cBhvr>
                                      <p:tavLst>
                                        <p:tav tm="0">
                                          <p:val>
                                            <p:strVal val="#ppt_x"/>
                                          </p:val>
                                        </p:tav>
                                        <p:tav tm="100000">
                                          <p:val>
                                            <p:strVal val="#ppt_x"/>
                                          </p:val>
                                        </p:tav>
                                      </p:tavLst>
                                    </p:anim>
                                    <p:anim calcmode="lin" valueType="num">
                                      <p:cBhvr additive="base">
                                        <p:cTn id="187" dur="500" fill="hold"/>
                                        <p:tgtEl>
                                          <p:spTgt spid="48"/>
                                        </p:tgtEl>
                                        <p:attrNameLst>
                                          <p:attrName>ppt_y</p:attrName>
                                        </p:attrNameLst>
                                      </p:cBhvr>
                                      <p:tavLst>
                                        <p:tav tm="0">
                                          <p:val>
                                            <p:strVal val="#ppt_y+0.1"/>
                                          </p:val>
                                        </p:tav>
                                        <p:tav tm="100000">
                                          <p:val>
                                            <p:strVal val="#ppt_y"/>
                                          </p:val>
                                        </p:tav>
                                      </p:tavLst>
                                    </p:anim>
                                    <p:animEffect transition="in" filter="fade">
                                      <p:cBhvr>
                                        <p:cTn id="188" dur="500"/>
                                        <p:tgtEl>
                                          <p:spTgt spid="48"/>
                                        </p:tgtEl>
                                      </p:cBhvr>
                                    </p:animEffect>
                                  </p:childTnLst>
                                </p:cTn>
                              </p:par>
                              <p:par>
                                <p:cTn id="194" presetID="2" presetClass="entr" presetSubtype="4" fill="hold" grpId="0" nodeType="withEffect">
                                  <p:stCondLst>
                                    <p:cond delay="280"/>
                                  </p:stCondLst>
                                  <p:childTnLst>
                                    <p:set>
                                      <p:cBhvr>
                                        <p:cTn id="190" dur="1" fill="hold">
                                          <p:stCondLst>
                                            <p:cond delay="0"/>
                                          </p:stCondLst>
                                        </p:cTn>
                                        <p:tgtEl>
                                          <p:spTgt spid="49"/>
                                        </p:tgtEl>
                                        <p:attrNameLst>
                                          <p:attrName>style.visibility</p:attrName>
                                        </p:attrNameLst>
                                      </p:cBhvr>
                                      <p:to>
                                        <p:strVal val="visible"/>
                                      </p:to>
                                    </p:set>
                                    <p:anim calcmode="lin" valueType="num">
                                      <p:cBhvr additive="base">
                                        <p:cTn id="191" dur="500" fill="hold"/>
                                        <p:tgtEl>
                                          <p:spTgt spid="49"/>
                                        </p:tgtEl>
                                        <p:attrNameLst>
                                          <p:attrName>ppt_x</p:attrName>
                                        </p:attrNameLst>
                                      </p:cBhvr>
                                      <p:tavLst>
                                        <p:tav tm="0">
                                          <p:val>
                                            <p:strVal val="#ppt_x"/>
                                          </p:val>
                                        </p:tav>
                                        <p:tav tm="100000">
                                          <p:val>
                                            <p:strVal val="#ppt_x"/>
                                          </p:val>
                                        </p:tav>
                                      </p:tavLst>
                                    </p:anim>
                                    <p:anim calcmode="lin" valueType="num">
                                      <p:cBhvr additive="base">
                                        <p:cTn id="192" dur="500" fill="hold"/>
                                        <p:tgtEl>
                                          <p:spTgt spid="49"/>
                                        </p:tgtEl>
                                        <p:attrNameLst>
                                          <p:attrName>ppt_y</p:attrName>
                                        </p:attrNameLst>
                                      </p:cBhvr>
                                      <p:tavLst>
                                        <p:tav tm="0">
                                          <p:val>
                                            <p:strVal val="#ppt_y+0.1"/>
                                          </p:val>
                                        </p:tav>
                                        <p:tav tm="100000">
                                          <p:val>
                                            <p:strVal val="#ppt_y"/>
                                          </p:val>
                                        </p:tav>
                                      </p:tavLst>
                                    </p:anim>
                                    <p:animEffect transition="in" filter="fade">
                                      <p:cBhvr>
                                        <p:cTn id="19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k8"/>
          <p:cNvSpPr/>
          <p:nvPr/>
        </p:nvSpPr>
        <p:spPr>
          <a:xfrm>
            <a:off x="457200" y="155448"/>
            <a:ext cx="1354455" cy="22860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spc="60">
                <a:solidFill>
                  <a:srgbClr val="C2410C"/>
                </a:solidFill>
                <a:latin typeface="Segoe UI"/>
              </a:rPr>
              <a:t>1990s - 2000s</a:t>
            </a:r>
          </a:p>
        </p:txBody>
      </p:sp>
      <p:sp>
        <p:nvSpPr>
          <p:cNvPr id="10" name="h9"/>
          <p:cNvSpPr txBox="1"/>
          <p:nvPr/>
        </p:nvSpPr>
        <p:spPr>
          <a:xfrm>
            <a:off x="457200" y="420624"/>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Three Tier: The Web Arrives</a:t>
            </a:r>
          </a:p>
        </p:txBody>
      </p:sp>
      <p:sp>
        <p:nvSpPr>
          <p:cNvPr id="11" name="sub10"/>
          <p:cNvSpPr txBox="1"/>
          <p:nvPr/>
        </p:nvSpPr>
        <p:spPr>
          <a:xfrm>
            <a:off x="457200" y="932688"/>
            <a:ext cx="8229600" cy="292608"/>
          </a:xfrm>
          <a:prstGeom prst="rect">
            <a:avLst/>
          </a:prstGeom>
          <a:noFill/>
        </p:spPr>
        <p:txBody>
          <a:bodyPr wrap="square" lIns="0" tIns="0" rIns="0" bIns="0" anchor="ctr">
            <a:spAutoFit/>
          </a:bodyPr>
          <a:lstStyle/>
          <a:p>
            <a:pPr algn="l"/>
            <a:r>
              <a:rPr sz="1150" b="0">
                <a:solidFill>
                  <a:srgbClr val="78716C"/>
                </a:solidFill>
                <a:latin typeface="Segoe UI"/>
              </a:rPr>
              <a:t>Client, business logic and database - each on its own machine, over the internet</a:t>
            </a:r>
          </a:p>
        </p:txBody>
      </p:sp>
      <p:sp>
        <p:nvSpPr>
          <p:cNvPr id="12" name="a1u_nd11"/>
          <p:cNvSpPr/>
          <p:nvPr/>
        </p:nvSpPr>
        <p:spPr>
          <a:xfrm>
            <a:off x="457200" y="1481328"/>
            <a:ext cx="2011680" cy="914400"/>
          </a:xfrm>
          <a:prstGeom prst="roundRect">
            <a:avLst>
              <a:gd name="adj" fmla="val 8000"/>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ndt12"/>
          <p:cNvSpPr txBox="1"/>
          <p:nvPr/>
        </p:nvSpPr>
        <p:spPr>
          <a:xfrm>
            <a:off x="502920" y="1517904"/>
            <a:ext cx="1920240" cy="438912"/>
          </a:xfrm>
          <a:prstGeom prst="rect">
            <a:avLst/>
          </a:prstGeom>
          <a:noFill/>
        </p:spPr>
        <p:txBody>
          <a:bodyPr wrap="square" lIns="0" tIns="0" rIns="0" bIns="0" anchor="b">
            <a:spAutoFit/>
          </a:bodyPr>
          <a:lstStyle/>
          <a:p>
            <a:pPr algn="ctr"/>
            <a:r>
              <a:rPr sz="1200" b="1">
                <a:solidFill>
                  <a:srgbClr val="1C1917"/>
                </a:solidFill>
                <a:latin typeface="Segoe UI"/>
              </a:rPr>
              <a:t>Client</a:t>
            </a:r>
          </a:p>
        </p:txBody>
      </p:sp>
      <p:sp>
        <p:nvSpPr>
          <p:cNvPr id="14" name="a1u_nds13"/>
          <p:cNvSpPr txBox="1"/>
          <p:nvPr/>
        </p:nvSpPr>
        <p:spPr>
          <a:xfrm>
            <a:off x="502920" y="1965960"/>
            <a:ext cx="1920240" cy="393192"/>
          </a:xfrm>
          <a:prstGeom prst="rect">
            <a:avLst/>
          </a:prstGeom>
          <a:noFill/>
        </p:spPr>
        <p:txBody>
          <a:bodyPr wrap="square" lIns="0" tIns="0" rIns="0" bIns="0" anchor="t">
            <a:spAutoFit/>
          </a:bodyPr>
          <a:lstStyle/>
          <a:p>
            <a:pPr algn="ctr"/>
            <a:r>
              <a:rPr sz="850" b="0">
                <a:solidFill>
                  <a:srgbClr val="EA580C"/>
                </a:solidFill>
                <a:latin typeface="Segoe UI"/>
              </a:rPr>
              <a:t>a web browser</a:t>
            </a:r>
          </a:p>
        </p:txBody>
      </p:sp>
      <p:sp>
        <p:nvSpPr>
          <p:cNvPr id="15" name="a1ud150_nd14"/>
          <p:cNvSpPr/>
          <p:nvPr/>
        </p:nvSpPr>
        <p:spPr>
          <a:xfrm>
            <a:off x="3566160" y="1481328"/>
            <a:ext cx="2011680" cy="914400"/>
          </a:xfrm>
          <a:prstGeom prst="roundRect">
            <a:avLst>
              <a:gd name="adj" fmla="val 8000"/>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150_ndt15"/>
          <p:cNvSpPr txBox="1"/>
          <p:nvPr/>
        </p:nvSpPr>
        <p:spPr>
          <a:xfrm>
            <a:off x="3611879" y="1517904"/>
            <a:ext cx="1920240" cy="438912"/>
          </a:xfrm>
          <a:prstGeom prst="rect">
            <a:avLst/>
          </a:prstGeom>
          <a:noFill/>
        </p:spPr>
        <p:txBody>
          <a:bodyPr wrap="square" lIns="0" tIns="0" rIns="0" bIns="0" anchor="b">
            <a:spAutoFit/>
          </a:bodyPr>
          <a:lstStyle/>
          <a:p>
            <a:pPr algn="ctr"/>
            <a:r>
              <a:rPr sz="1200" b="1">
                <a:solidFill>
                  <a:srgbClr val="1C1917"/>
                </a:solidFill>
                <a:latin typeface="Segoe UI"/>
              </a:rPr>
              <a:t>Server</a:t>
            </a:r>
          </a:p>
        </p:txBody>
      </p:sp>
      <p:sp>
        <p:nvSpPr>
          <p:cNvPr id="17" name="a1ud150_nds16"/>
          <p:cNvSpPr txBox="1"/>
          <p:nvPr/>
        </p:nvSpPr>
        <p:spPr>
          <a:xfrm>
            <a:off x="3611879" y="1965960"/>
            <a:ext cx="1920240" cy="393192"/>
          </a:xfrm>
          <a:prstGeom prst="rect">
            <a:avLst/>
          </a:prstGeom>
          <a:noFill/>
        </p:spPr>
        <p:txBody>
          <a:bodyPr wrap="square" lIns="0" tIns="0" rIns="0" bIns="0" anchor="t">
            <a:spAutoFit/>
          </a:bodyPr>
          <a:lstStyle/>
          <a:p>
            <a:pPr algn="ctr"/>
            <a:r>
              <a:rPr sz="850" b="0">
                <a:solidFill>
                  <a:srgbClr val="0E7490"/>
                </a:solidFill>
                <a:latin typeface="Segoe UI"/>
              </a:rPr>
              <a:t>business logic as web applications</a:t>
            </a:r>
          </a:p>
        </p:txBody>
      </p:sp>
      <p:sp>
        <p:nvSpPr>
          <p:cNvPr id="18" name="a1ud300_nd17"/>
          <p:cNvSpPr/>
          <p:nvPr/>
        </p:nvSpPr>
        <p:spPr>
          <a:xfrm>
            <a:off x="6675120" y="1481328"/>
            <a:ext cx="2011680" cy="914400"/>
          </a:xfrm>
          <a:prstGeom prst="roundRect">
            <a:avLst>
              <a:gd name="adj" fmla="val 8000"/>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300_ndt18"/>
          <p:cNvSpPr txBox="1"/>
          <p:nvPr/>
        </p:nvSpPr>
        <p:spPr>
          <a:xfrm>
            <a:off x="6720840" y="1517904"/>
            <a:ext cx="1920240" cy="438912"/>
          </a:xfrm>
          <a:prstGeom prst="rect">
            <a:avLst/>
          </a:prstGeom>
          <a:noFill/>
        </p:spPr>
        <p:txBody>
          <a:bodyPr wrap="square" lIns="0" tIns="0" rIns="0" bIns="0" anchor="b">
            <a:spAutoFit/>
          </a:bodyPr>
          <a:lstStyle/>
          <a:p>
            <a:pPr algn="ctr"/>
            <a:r>
              <a:rPr sz="1200" b="1">
                <a:solidFill>
                  <a:srgbClr val="1C1917"/>
                </a:solidFill>
                <a:latin typeface="Segoe UI"/>
              </a:rPr>
              <a:t>Database</a:t>
            </a:r>
          </a:p>
        </p:txBody>
      </p:sp>
      <p:sp>
        <p:nvSpPr>
          <p:cNvPr id="20" name="a1ud300_nds19"/>
          <p:cNvSpPr txBox="1"/>
          <p:nvPr/>
        </p:nvSpPr>
        <p:spPr>
          <a:xfrm>
            <a:off x="6720840" y="1965960"/>
            <a:ext cx="1920240" cy="393192"/>
          </a:xfrm>
          <a:prstGeom prst="rect">
            <a:avLst/>
          </a:prstGeom>
          <a:noFill/>
        </p:spPr>
        <p:txBody>
          <a:bodyPr wrap="square" lIns="0" tIns="0" rIns="0" bIns="0" anchor="t">
            <a:spAutoFit/>
          </a:bodyPr>
          <a:lstStyle/>
          <a:p>
            <a:pPr algn="ctr"/>
            <a:r>
              <a:rPr sz="850" b="0">
                <a:solidFill>
                  <a:srgbClr val="A16207"/>
                </a:solidFill>
                <a:latin typeface="Segoe UI"/>
              </a:rPr>
              <a:t>on another machine</a:t>
            </a:r>
          </a:p>
        </p:txBody>
      </p:sp>
      <p:cxnSp>
        <p:nvCxnSpPr>
          <p:cNvPr id="21" name="a2f_ar20"/>
          <p:cNvCxnSpPr/>
          <p:nvPr/>
        </p:nvCxnSpPr>
        <p:spPr>
          <a:xfrm>
            <a:off x="2496312" y="1938528"/>
            <a:ext cx="1042416"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a2f_lb21"/>
          <p:cNvSpPr txBox="1"/>
          <p:nvPr/>
        </p:nvSpPr>
        <p:spPr>
          <a:xfrm>
            <a:off x="2468880" y="1691640"/>
            <a:ext cx="1097280" cy="201168"/>
          </a:xfrm>
          <a:prstGeom prst="rect">
            <a:avLst/>
          </a:prstGeom>
          <a:noFill/>
        </p:spPr>
        <p:txBody>
          <a:bodyPr wrap="square" lIns="0" tIns="0" rIns="0" bIns="0" anchor="ctr">
            <a:spAutoFit/>
          </a:bodyPr>
          <a:lstStyle/>
          <a:p>
            <a:pPr algn="ctr"/>
            <a:r>
              <a:rPr sz="800" b="1">
                <a:solidFill>
                  <a:srgbClr val="C2410C"/>
                </a:solidFill>
                <a:latin typeface="Segoe UI"/>
              </a:rPr>
              <a:t>internet (HTTP)</a:t>
            </a:r>
          </a:p>
        </p:txBody>
      </p:sp>
      <p:cxnSp>
        <p:nvCxnSpPr>
          <p:cNvPr id="23" name="a2fd200_ar22"/>
          <p:cNvCxnSpPr/>
          <p:nvPr/>
        </p:nvCxnSpPr>
        <p:spPr>
          <a:xfrm>
            <a:off x="5605272" y="1938528"/>
            <a:ext cx="1042416" cy="0"/>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a2fd200_lb23"/>
          <p:cNvSpPr txBox="1"/>
          <p:nvPr/>
        </p:nvSpPr>
        <p:spPr>
          <a:xfrm>
            <a:off x="5577840" y="1691640"/>
            <a:ext cx="1097280" cy="201168"/>
          </a:xfrm>
          <a:prstGeom prst="rect">
            <a:avLst/>
          </a:prstGeom>
          <a:noFill/>
        </p:spPr>
        <p:txBody>
          <a:bodyPr wrap="square" lIns="0" tIns="0" rIns="0" bIns="0" anchor="ctr">
            <a:spAutoFit/>
          </a:bodyPr>
          <a:lstStyle/>
          <a:p>
            <a:pPr algn="ctr"/>
            <a:r>
              <a:rPr sz="800" b="1">
                <a:solidFill>
                  <a:srgbClr val="0E7490"/>
                </a:solidFill>
                <a:latin typeface="Segoe UI"/>
              </a:rPr>
              <a:t>server-side code</a:t>
            </a:r>
          </a:p>
        </p:txBody>
      </p:sp>
      <p:sp>
        <p:nvSpPr>
          <p:cNvPr id="25" name="a3f_lb24"/>
          <p:cNvSpPr txBox="1"/>
          <p:nvPr/>
        </p:nvSpPr>
        <p:spPr>
          <a:xfrm>
            <a:off x="457200" y="2651760"/>
            <a:ext cx="8229600" cy="201168"/>
          </a:xfrm>
          <a:prstGeom prst="rect">
            <a:avLst/>
          </a:prstGeom>
          <a:noFill/>
        </p:spPr>
        <p:txBody>
          <a:bodyPr wrap="square" lIns="0" tIns="0" rIns="0" bIns="0" anchor="ctr">
            <a:spAutoFit/>
          </a:bodyPr>
          <a:lstStyle/>
          <a:p>
            <a:pPr algn="l"/>
            <a:r>
              <a:rPr sz="900" b="1">
                <a:solidFill>
                  <a:srgbClr val="44403C"/>
                </a:solidFill>
                <a:latin typeface="Segoe UI"/>
              </a:rPr>
              <a:t>Server-side technologies that run the web application and reach the database:</a:t>
            </a:r>
          </a:p>
        </p:txBody>
      </p:sp>
      <p:sp>
        <p:nvSpPr>
          <p:cNvPr id="26" name="a3u_pill25"/>
          <p:cNvSpPr/>
          <p:nvPr/>
        </p:nvSpPr>
        <p:spPr>
          <a:xfrm>
            <a:off x="457200" y="2926080"/>
            <a:ext cx="1298448" cy="32918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J2EE (Java EE)</a:t>
            </a:r>
          </a:p>
        </p:txBody>
      </p:sp>
      <p:sp>
        <p:nvSpPr>
          <p:cNvPr id="27" name="a3ud90_pill26"/>
          <p:cNvSpPr/>
          <p:nvPr/>
        </p:nvSpPr>
        <p:spPr>
          <a:xfrm>
            <a:off x="1847088" y="2926080"/>
            <a:ext cx="1298448" cy="32918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ASP.NET</a:t>
            </a:r>
          </a:p>
        </p:txBody>
      </p:sp>
      <p:sp>
        <p:nvSpPr>
          <p:cNvPr id="28" name="a3ud180_pill27"/>
          <p:cNvSpPr/>
          <p:nvPr/>
        </p:nvSpPr>
        <p:spPr>
          <a:xfrm>
            <a:off x="3236976" y="2926080"/>
            <a:ext cx="1298448" cy="32918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PHP</a:t>
            </a:r>
          </a:p>
        </p:txBody>
      </p:sp>
      <p:sp>
        <p:nvSpPr>
          <p:cNvPr id="29" name="a3ud270_pill28"/>
          <p:cNvSpPr/>
          <p:nvPr/>
        </p:nvSpPr>
        <p:spPr>
          <a:xfrm>
            <a:off x="4626864" y="2926080"/>
            <a:ext cx="1298448" cy="32918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Spring Boot</a:t>
            </a:r>
          </a:p>
        </p:txBody>
      </p:sp>
      <p:sp>
        <p:nvSpPr>
          <p:cNvPr id="30" name="a3ud360_pill29"/>
          <p:cNvSpPr/>
          <p:nvPr/>
        </p:nvSpPr>
        <p:spPr>
          <a:xfrm>
            <a:off x="6016752" y="2926080"/>
            <a:ext cx="1298448" cy="32918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Node.js</a:t>
            </a:r>
          </a:p>
        </p:txBody>
      </p:sp>
      <p:sp>
        <p:nvSpPr>
          <p:cNvPr id="31" name="a3ud450_pill30"/>
          <p:cNvSpPr/>
          <p:nvPr/>
        </p:nvSpPr>
        <p:spPr>
          <a:xfrm>
            <a:off x="7406640" y="2926080"/>
            <a:ext cx="1298448" cy="32918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Python / Django</a:t>
            </a:r>
          </a:p>
        </p:txBody>
      </p:sp>
      <p:sp>
        <p:nvSpPr>
          <p:cNvPr id="32" name="a4u_nb31"/>
          <p:cNvSpPr/>
          <p:nvPr/>
        </p:nvSpPr>
        <p:spPr>
          <a:xfrm>
            <a:off x="457200" y="3520440"/>
            <a:ext cx="8229600" cy="713232"/>
          </a:xfrm>
          <a:prstGeom prst="roundRect">
            <a:avLst>
              <a:gd name="adj" fmla="val 10256"/>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4u_nacc32"/>
          <p:cNvSpPr/>
          <p:nvPr/>
        </p:nvSpPr>
        <p:spPr>
          <a:xfrm>
            <a:off x="457200" y="3520440"/>
            <a:ext cx="54864" cy="713232"/>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4u_nt33"/>
          <p:cNvSpPr txBox="1"/>
          <p:nvPr/>
        </p:nvSpPr>
        <p:spPr>
          <a:xfrm>
            <a:off x="658368" y="3520440"/>
            <a:ext cx="7827264" cy="713232"/>
          </a:xfrm>
          <a:prstGeom prst="rect">
            <a:avLst/>
          </a:prstGeom>
          <a:noFill/>
        </p:spPr>
        <p:txBody>
          <a:bodyPr wrap="square" lIns="0" tIns="0" rIns="0" bIns="0" anchor="ctr">
            <a:spAutoFit/>
          </a:bodyPr>
          <a:lstStyle/>
          <a:p>
            <a:pPr algn="l"/>
            <a:r>
              <a:rPr sz="900" b="1">
                <a:solidFill>
                  <a:srgbClr val="A16207"/>
                </a:solidFill>
                <a:latin typeface="Segoe UI"/>
              </a:rPr>
              <a:t>WEB  </a:t>
            </a:r>
            <a:r>
              <a:rPr sz="900" b="0">
                <a:solidFill>
                  <a:srgbClr val="44403C"/>
                </a:solidFill>
                <a:latin typeface="Segoe UI"/>
              </a:rPr>
              <a:t>The web went public in 1991; J2EE (1999) and ASP.NET (2002) made three tier the enterprise standard. The browser needs no installation, and the server can be upgraded without touching any client.</a:t>
            </a:r>
          </a:p>
        </p:txBody>
      </p:sp>
      <p:sp>
        <p:nvSpPr>
          <p:cNvPr id="35" name="ft3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12</a:t>
            </a:r>
          </a:p>
        </p:txBody>
      </p:sp>
      <p:sp>
        <p:nvSpPr>
          <p:cNvPr id="36" name="ft3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ft3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38" name="ft3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 calcmode="lin" valueType="num">
                                      <p:cBhvr additive="base">
                                        <p:cTn id="6" dur="500" fill="hold"/>
                                        <p:tgtEl>
                                          <p:spTgt spid="12"/>
                                        </p:tgtEl>
                                        <p:attrNameLst>
                                          <p:attrName>ppt_x</p:attrName>
                                        </p:attrNameLst>
                                      </p:cBhvr>
                                      <p:tavLst>
                                        <p:tav tm="0">
                                          <p:val>
                                            <p:strVal val="#ppt_x"/>
                                          </p:val>
                                        </p:tav>
                                        <p:tav tm="100000">
                                          <p:val>
                                            <p:strVal val="#ppt_x"/>
                                          </p:val>
                                        </p:tav>
                                      </p:tavLst>
                                    </p:anim>
                                    <p:anim calcmode="lin" valueType="num">
                                      <p:cBhvr additive="base">
                                        <p:cTn id="7" dur="500" fill="hold"/>
                                        <p:tgtEl>
                                          <p:spTgt spid="12"/>
                                        </p:tgtEl>
                                        <p:attrNameLst>
                                          <p:attrName>ppt_y</p:attrName>
                                        </p:attrNameLst>
                                      </p:cBhvr>
                                      <p:tavLst>
                                        <p:tav tm="0">
                                          <p:val>
                                            <p:strVal val="#ppt_y+0.1"/>
                                          </p:val>
                                        </p:tav>
                                        <p:tav tm="100000">
                                          <p:val>
                                            <p:strVal val="#ppt_y"/>
                                          </p:val>
                                        </p:tav>
                                      </p:tavLst>
                                    </p:anim>
                                    <p:animEffect transition="in" filter="fade">
                                      <p:cBhvr>
                                        <p:cTn id="8" dur="500"/>
                                        <p:tgtEl>
                                          <p:spTgt spid="12"/>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ppt_y+0.1"/>
                                          </p:val>
                                        </p:tav>
                                        <p:tav tm="100000">
                                          <p:val>
                                            <p:strVal val="#ppt_y"/>
                                          </p:val>
                                        </p:tav>
                                      </p:tavLst>
                                    </p:anim>
                                    <p:animEffect transition="in" filter="fade">
                                      <p:cBhvr>
                                        <p:cTn id="13" dur="500"/>
                                        <p:tgtEl>
                                          <p:spTgt spid="13"/>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ppt_y+0.1"/>
                                          </p:val>
                                        </p:tav>
                                        <p:tav tm="100000">
                                          <p:val>
                                            <p:strVal val="#ppt_y"/>
                                          </p:val>
                                        </p:tav>
                                      </p:tavLst>
                                    </p:anim>
                                    <p:animEffect transition="in" filter="fade">
                                      <p:cBhvr>
                                        <p:cTn id="18" dur="500"/>
                                        <p:tgtEl>
                                          <p:spTgt spid="14"/>
                                        </p:tgtEl>
                                      </p:cBhvr>
                                    </p:animEffect>
                                  </p:childTnLst>
                                </p:cTn>
                              </p:par>
                              <p:par>
                                <p:cTn id="24" presetID="2" presetClass="entr" presetSubtype="4" fill="hold" grpId="0" nodeType="withEffect">
                                  <p:stCondLst>
                                    <p:cond delay="15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15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ppt_y+0.1"/>
                                          </p:val>
                                        </p:tav>
                                        <p:tav tm="100000">
                                          <p:val>
                                            <p:strVal val="#ppt_y"/>
                                          </p:val>
                                        </p:tav>
                                      </p:tavLst>
                                    </p:anim>
                                    <p:animEffect transition="in" filter="fade">
                                      <p:cBhvr>
                                        <p:cTn id="28" dur="500"/>
                                        <p:tgtEl>
                                          <p:spTgt spid="16"/>
                                        </p:tgtEl>
                                      </p:cBhvr>
                                    </p:animEffect>
                                  </p:childTnLst>
                                </p:cTn>
                              </p:par>
                              <p:par>
                                <p:cTn id="34" presetID="2" presetClass="entr" presetSubtype="4" fill="hold" grpId="0" nodeType="withEffect">
                                  <p:stCondLst>
                                    <p:cond delay="15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30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ppt_y+0.1"/>
                                          </p:val>
                                        </p:tav>
                                        <p:tav tm="100000">
                                          <p:val>
                                            <p:strVal val="#ppt_y"/>
                                          </p:val>
                                        </p:tav>
                                      </p:tavLst>
                                    </p:anim>
                                    <p:animEffect transition="in" filter="fade">
                                      <p:cBhvr>
                                        <p:cTn id="38" dur="500"/>
                                        <p:tgtEl>
                                          <p:spTgt spid="18"/>
                                        </p:tgtEl>
                                      </p:cBhvr>
                                    </p:animEffect>
                                  </p:childTnLst>
                                </p:cTn>
                              </p:par>
                              <p:par>
                                <p:cTn id="44" presetID="2" presetClass="entr" presetSubtype="4" fill="hold" grpId="0" nodeType="withEffect">
                                  <p:stCondLst>
                                    <p:cond delay="300"/>
                                  </p:stCondLst>
                                  <p:childTnLst>
                                    <p:set>
                                      <p:cBhvr>
                                        <p:cTn id="40" dur="1" fill="hold">
                                          <p:stCondLst>
                                            <p:cond delay="0"/>
                                          </p:stCondLst>
                                        </p:cTn>
                                        <p:tgtEl>
                                          <p:spTgt spid="19"/>
                                        </p:tgtEl>
                                        <p:attrNameLst>
                                          <p:attrName>style.visibility</p:attrName>
                                        </p:attrNameLst>
                                      </p:cBhvr>
                                      <p:to>
                                        <p:strVal val="visible"/>
                                      </p:to>
                                    </p:set>
                                    <p:anim calcmode="lin" valueType="num">
                                      <p:cBhvr additive="base">
                                        <p:cTn id="41" dur="500" fill="hold"/>
                                        <p:tgtEl>
                                          <p:spTgt spid="19"/>
                                        </p:tgtEl>
                                        <p:attrNameLst>
                                          <p:attrName>ppt_x</p:attrName>
                                        </p:attrNameLst>
                                      </p:cBhvr>
                                      <p:tavLst>
                                        <p:tav tm="0">
                                          <p:val>
                                            <p:strVal val="#ppt_x"/>
                                          </p:val>
                                        </p:tav>
                                        <p:tav tm="100000">
                                          <p:val>
                                            <p:strVal val="#ppt_x"/>
                                          </p:val>
                                        </p:tav>
                                      </p:tavLst>
                                    </p:anim>
                                    <p:anim calcmode="lin" valueType="num">
                                      <p:cBhvr additive="base">
                                        <p:cTn id="42" dur="500" fill="hold"/>
                                        <p:tgtEl>
                                          <p:spTgt spid="19"/>
                                        </p:tgtEl>
                                        <p:attrNameLst>
                                          <p:attrName>ppt_y</p:attrName>
                                        </p:attrNameLst>
                                      </p:cBhvr>
                                      <p:tavLst>
                                        <p:tav tm="0">
                                          <p:val>
                                            <p:strVal val="#ppt_y+0.1"/>
                                          </p:val>
                                        </p:tav>
                                        <p:tav tm="100000">
                                          <p:val>
                                            <p:strVal val="#ppt_y"/>
                                          </p:val>
                                        </p:tav>
                                      </p:tavLst>
                                    </p:anim>
                                    <p:animEffect transition="in" filter="fade">
                                      <p:cBhvr>
                                        <p:cTn id="43" dur="500"/>
                                        <p:tgtEl>
                                          <p:spTgt spid="19"/>
                                        </p:tgtEl>
                                      </p:cBhvr>
                                    </p:animEffect>
                                  </p:childTnLst>
                                </p:cTn>
                              </p:par>
                              <p:par>
                                <p:cTn id="49" presetID="2" presetClass="entr" presetSubtype="4" fill="hold" grpId="0" nodeType="withEffect">
                                  <p:stCondLst>
                                    <p:cond delay="300"/>
                                  </p:stCondLst>
                                  <p:childTnLst>
                                    <p:set>
                                      <p:cBhvr>
                                        <p:cTn id="45" dur="1" fill="hold">
                                          <p:stCondLst>
                                            <p:cond delay="0"/>
                                          </p:stCondLst>
                                        </p:cTn>
                                        <p:tgtEl>
                                          <p:spTgt spid="20"/>
                                        </p:tgtEl>
                                        <p:attrNameLst>
                                          <p:attrName>style.visibility</p:attrName>
                                        </p:attrNameLst>
                                      </p:cBhvr>
                                      <p:to>
                                        <p:strVal val="visible"/>
                                      </p:to>
                                    </p:set>
                                    <p:anim calcmode="lin" valueType="num">
                                      <p:cBhvr additive="base">
                                        <p:cTn id="46" dur="500" fill="hold"/>
                                        <p:tgtEl>
                                          <p:spTgt spid="20"/>
                                        </p:tgtEl>
                                        <p:attrNameLst>
                                          <p:attrName>ppt_x</p:attrName>
                                        </p:attrNameLst>
                                      </p:cBhvr>
                                      <p:tavLst>
                                        <p:tav tm="0">
                                          <p:val>
                                            <p:strVal val="#ppt_x"/>
                                          </p:val>
                                        </p:tav>
                                        <p:tav tm="100000">
                                          <p:val>
                                            <p:strVal val="#ppt_x"/>
                                          </p:val>
                                        </p:tav>
                                      </p:tavLst>
                                    </p:anim>
                                    <p:anim calcmode="lin" valueType="num">
                                      <p:cBhvr additive="base">
                                        <p:cTn id="47" dur="500" fill="hold"/>
                                        <p:tgtEl>
                                          <p:spTgt spid="20"/>
                                        </p:tgtEl>
                                        <p:attrNameLst>
                                          <p:attrName>ppt_y</p:attrName>
                                        </p:attrNameLst>
                                      </p:cBhvr>
                                      <p:tavLst>
                                        <p:tav tm="0">
                                          <p:val>
                                            <p:strVal val="#ppt_y+0.1"/>
                                          </p:val>
                                        </p:tav>
                                        <p:tav tm="100000">
                                          <p:val>
                                            <p:strVal val="#ppt_y"/>
                                          </p:val>
                                        </p:tav>
                                      </p:tavLst>
                                    </p:anim>
                                    <p:animEffect transition="in" filter="fade">
                                      <p:cBhvr>
                                        <p:cTn id="48" dur="5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4" presetID="10"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7"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60" presetID="10" presetClass="entr" presetSubtype="0" fill="hold" grpId="0" nodeType="withEffect">
                                  <p:stCondLst>
                                    <p:cond delay="20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3" presetID="10" presetClass="entr" presetSubtype="0" fill="hold" grpId="0" nodeType="withEffect">
                                  <p:stCondLst>
                                    <p:cond delay="20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childTnLst>
                          </p:cTn>
                        </p:par>
                      </p:childTnLst>
                    </p:cTn>
                  </p:par>
                  <p:par>
                    <p:cTn id="64" fill="hold">
                      <p:stCondLst>
                        <p:cond delay="indefinite"/>
                      </p:stCondLst>
                      <p:childTnLst>
                        <p:par>
                          <p:cTn id="65" fill="hold">
                            <p:stCondLst>
                              <p:cond delay="0"/>
                            </p:stCondLst>
                            <p:childTnLst>
                              <p:par>
                                <p:cTn id="68" presetID="10" presetClass="entr" presetSubtype="0"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73" presetID="2" presetClass="entr" presetSubtype="4"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 calcmode="lin" valueType="num">
                                      <p:cBhvr additive="base">
                                        <p:cTn id="70" dur="500" fill="hold"/>
                                        <p:tgtEl>
                                          <p:spTgt spid="26"/>
                                        </p:tgtEl>
                                        <p:attrNameLst>
                                          <p:attrName>ppt_x</p:attrName>
                                        </p:attrNameLst>
                                      </p:cBhvr>
                                      <p:tavLst>
                                        <p:tav tm="0">
                                          <p:val>
                                            <p:strVal val="#ppt_x"/>
                                          </p:val>
                                        </p:tav>
                                        <p:tav tm="100000">
                                          <p:val>
                                            <p:strVal val="#ppt_x"/>
                                          </p:val>
                                        </p:tav>
                                      </p:tavLst>
                                    </p:anim>
                                    <p:anim calcmode="lin" valueType="num">
                                      <p:cBhvr additive="base">
                                        <p:cTn id="71" dur="500" fill="hold"/>
                                        <p:tgtEl>
                                          <p:spTgt spid="26"/>
                                        </p:tgtEl>
                                        <p:attrNameLst>
                                          <p:attrName>ppt_y</p:attrName>
                                        </p:attrNameLst>
                                      </p:cBhvr>
                                      <p:tavLst>
                                        <p:tav tm="0">
                                          <p:val>
                                            <p:strVal val="#ppt_y+0.1"/>
                                          </p:val>
                                        </p:tav>
                                        <p:tav tm="100000">
                                          <p:val>
                                            <p:strVal val="#ppt_y"/>
                                          </p:val>
                                        </p:tav>
                                      </p:tavLst>
                                    </p:anim>
                                    <p:animEffect transition="in" filter="fade">
                                      <p:cBhvr>
                                        <p:cTn id="72" dur="500"/>
                                        <p:tgtEl>
                                          <p:spTgt spid="26"/>
                                        </p:tgtEl>
                                      </p:cBhvr>
                                    </p:animEffect>
                                  </p:childTnLst>
                                </p:cTn>
                              </p:par>
                              <p:par>
                                <p:cTn id="78" presetID="2" presetClass="entr" presetSubtype="4" fill="hold" grpId="0" nodeType="withEffect">
                                  <p:stCondLst>
                                    <p:cond delay="90"/>
                                  </p:stCondLst>
                                  <p:childTnLst>
                                    <p:set>
                                      <p:cBhvr>
                                        <p:cTn id="74" dur="1" fill="hold">
                                          <p:stCondLst>
                                            <p:cond delay="0"/>
                                          </p:stCondLst>
                                        </p:cTn>
                                        <p:tgtEl>
                                          <p:spTgt spid="27"/>
                                        </p:tgtEl>
                                        <p:attrNameLst>
                                          <p:attrName>style.visibility</p:attrName>
                                        </p:attrNameLst>
                                      </p:cBhvr>
                                      <p:to>
                                        <p:strVal val="visible"/>
                                      </p:to>
                                    </p:set>
                                    <p:anim calcmode="lin" valueType="num">
                                      <p:cBhvr additive="base">
                                        <p:cTn id="75" dur="500" fill="hold"/>
                                        <p:tgtEl>
                                          <p:spTgt spid="27"/>
                                        </p:tgtEl>
                                        <p:attrNameLst>
                                          <p:attrName>ppt_x</p:attrName>
                                        </p:attrNameLst>
                                      </p:cBhvr>
                                      <p:tavLst>
                                        <p:tav tm="0">
                                          <p:val>
                                            <p:strVal val="#ppt_x"/>
                                          </p:val>
                                        </p:tav>
                                        <p:tav tm="100000">
                                          <p:val>
                                            <p:strVal val="#ppt_x"/>
                                          </p:val>
                                        </p:tav>
                                      </p:tavLst>
                                    </p:anim>
                                    <p:anim calcmode="lin" valueType="num">
                                      <p:cBhvr additive="base">
                                        <p:cTn id="76" dur="500" fill="hold"/>
                                        <p:tgtEl>
                                          <p:spTgt spid="27"/>
                                        </p:tgtEl>
                                        <p:attrNameLst>
                                          <p:attrName>ppt_y</p:attrName>
                                        </p:attrNameLst>
                                      </p:cBhvr>
                                      <p:tavLst>
                                        <p:tav tm="0">
                                          <p:val>
                                            <p:strVal val="#ppt_y+0.1"/>
                                          </p:val>
                                        </p:tav>
                                        <p:tav tm="100000">
                                          <p:val>
                                            <p:strVal val="#ppt_y"/>
                                          </p:val>
                                        </p:tav>
                                      </p:tavLst>
                                    </p:anim>
                                    <p:animEffect transition="in" filter="fade">
                                      <p:cBhvr>
                                        <p:cTn id="77" dur="500"/>
                                        <p:tgtEl>
                                          <p:spTgt spid="27"/>
                                        </p:tgtEl>
                                      </p:cBhvr>
                                    </p:animEffect>
                                  </p:childTnLst>
                                </p:cTn>
                              </p:par>
                              <p:par>
                                <p:cTn id="83" presetID="2" presetClass="entr" presetSubtype="4" fill="hold" grpId="0" nodeType="withEffect">
                                  <p:stCondLst>
                                    <p:cond delay="180"/>
                                  </p:stCondLst>
                                  <p:childTnLst>
                                    <p:set>
                                      <p:cBhvr>
                                        <p:cTn id="79" dur="1" fill="hold">
                                          <p:stCondLst>
                                            <p:cond delay="0"/>
                                          </p:stCondLst>
                                        </p:cTn>
                                        <p:tgtEl>
                                          <p:spTgt spid="28"/>
                                        </p:tgtEl>
                                        <p:attrNameLst>
                                          <p:attrName>style.visibility</p:attrName>
                                        </p:attrNameLst>
                                      </p:cBhvr>
                                      <p:to>
                                        <p:strVal val="visible"/>
                                      </p:to>
                                    </p:set>
                                    <p:anim calcmode="lin" valueType="num">
                                      <p:cBhvr additive="base">
                                        <p:cTn id="80" dur="500" fill="hold"/>
                                        <p:tgtEl>
                                          <p:spTgt spid="28"/>
                                        </p:tgtEl>
                                        <p:attrNameLst>
                                          <p:attrName>ppt_x</p:attrName>
                                        </p:attrNameLst>
                                      </p:cBhvr>
                                      <p:tavLst>
                                        <p:tav tm="0">
                                          <p:val>
                                            <p:strVal val="#ppt_x"/>
                                          </p:val>
                                        </p:tav>
                                        <p:tav tm="100000">
                                          <p:val>
                                            <p:strVal val="#ppt_x"/>
                                          </p:val>
                                        </p:tav>
                                      </p:tavLst>
                                    </p:anim>
                                    <p:anim calcmode="lin" valueType="num">
                                      <p:cBhvr additive="base">
                                        <p:cTn id="81" dur="500" fill="hold"/>
                                        <p:tgtEl>
                                          <p:spTgt spid="28"/>
                                        </p:tgtEl>
                                        <p:attrNameLst>
                                          <p:attrName>ppt_y</p:attrName>
                                        </p:attrNameLst>
                                      </p:cBhvr>
                                      <p:tavLst>
                                        <p:tav tm="0">
                                          <p:val>
                                            <p:strVal val="#ppt_y+0.1"/>
                                          </p:val>
                                        </p:tav>
                                        <p:tav tm="100000">
                                          <p:val>
                                            <p:strVal val="#ppt_y"/>
                                          </p:val>
                                        </p:tav>
                                      </p:tavLst>
                                    </p:anim>
                                    <p:animEffect transition="in" filter="fade">
                                      <p:cBhvr>
                                        <p:cTn id="82" dur="500"/>
                                        <p:tgtEl>
                                          <p:spTgt spid="28"/>
                                        </p:tgtEl>
                                      </p:cBhvr>
                                    </p:animEffect>
                                  </p:childTnLst>
                                </p:cTn>
                              </p:par>
                              <p:par>
                                <p:cTn id="88" presetID="2" presetClass="entr" presetSubtype="4" fill="hold" grpId="0" nodeType="withEffect">
                                  <p:stCondLst>
                                    <p:cond delay="270"/>
                                  </p:stCondLst>
                                  <p:childTnLst>
                                    <p:set>
                                      <p:cBhvr>
                                        <p:cTn id="84" dur="1" fill="hold">
                                          <p:stCondLst>
                                            <p:cond delay="0"/>
                                          </p:stCondLst>
                                        </p:cTn>
                                        <p:tgtEl>
                                          <p:spTgt spid="29"/>
                                        </p:tgtEl>
                                        <p:attrNameLst>
                                          <p:attrName>style.visibility</p:attrName>
                                        </p:attrNameLst>
                                      </p:cBhvr>
                                      <p:to>
                                        <p:strVal val="visible"/>
                                      </p:to>
                                    </p:set>
                                    <p:anim calcmode="lin" valueType="num">
                                      <p:cBhvr additive="base">
                                        <p:cTn id="85" dur="500" fill="hold"/>
                                        <p:tgtEl>
                                          <p:spTgt spid="29"/>
                                        </p:tgtEl>
                                        <p:attrNameLst>
                                          <p:attrName>ppt_x</p:attrName>
                                        </p:attrNameLst>
                                      </p:cBhvr>
                                      <p:tavLst>
                                        <p:tav tm="0">
                                          <p:val>
                                            <p:strVal val="#ppt_x"/>
                                          </p:val>
                                        </p:tav>
                                        <p:tav tm="100000">
                                          <p:val>
                                            <p:strVal val="#ppt_x"/>
                                          </p:val>
                                        </p:tav>
                                      </p:tavLst>
                                    </p:anim>
                                    <p:anim calcmode="lin" valueType="num">
                                      <p:cBhvr additive="base">
                                        <p:cTn id="86" dur="500" fill="hold"/>
                                        <p:tgtEl>
                                          <p:spTgt spid="29"/>
                                        </p:tgtEl>
                                        <p:attrNameLst>
                                          <p:attrName>ppt_y</p:attrName>
                                        </p:attrNameLst>
                                      </p:cBhvr>
                                      <p:tavLst>
                                        <p:tav tm="0">
                                          <p:val>
                                            <p:strVal val="#ppt_y+0.1"/>
                                          </p:val>
                                        </p:tav>
                                        <p:tav tm="100000">
                                          <p:val>
                                            <p:strVal val="#ppt_y"/>
                                          </p:val>
                                        </p:tav>
                                      </p:tavLst>
                                    </p:anim>
                                    <p:animEffect transition="in" filter="fade">
                                      <p:cBhvr>
                                        <p:cTn id="87" dur="500"/>
                                        <p:tgtEl>
                                          <p:spTgt spid="29"/>
                                        </p:tgtEl>
                                      </p:cBhvr>
                                    </p:animEffect>
                                  </p:childTnLst>
                                </p:cTn>
                              </p:par>
                              <p:par>
                                <p:cTn id="93" presetID="2" presetClass="entr" presetSubtype="4" fill="hold" grpId="0" nodeType="withEffect">
                                  <p:stCondLst>
                                    <p:cond delay="360"/>
                                  </p:stCondLst>
                                  <p:childTnLst>
                                    <p:set>
                                      <p:cBhvr>
                                        <p:cTn id="89" dur="1" fill="hold">
                                          <p:stCondLst>
                                            <p:cond delay="0"/>
                                          </p:stCondLst>
                                        </p:cTn>
                                        <p:tgtEl>
                                          <p:spTgt spid="30"/>
                                        </p:tgtEl>
                                        <p:attrNameLst>
                                          <p:attrName>style.visibility</p:attrName>
                                        </p:attrNameLst>
                                      </p:cBhvr>
                                      <p:to>
                                        <p:strVal val="visible"/>
                                      </p:to>
                                    </p:set>
                                    <p:anim calcmode="lin" valueType="num">
                                      <p:cBhvr additive="base">
                                        <p:cTn id="90" dur="500" fill="hold"/>
                                        <p:tgtEl>
                                          <p:spTgt spid="30"/>
                                        </p:tgtEl>
                                        <p:attrNameLst>
                                          <p:attrName>ppt_x</p:attrName>
                                        </p:attrNameLst>
                                      </p:cBhvr>
                                      <p:tavLst>
                                        <p:tav tm="0">
                                          <p:val>
                                            <p:strVal val="#ppt_x"/>
                                          </p:val>
                                        </p:tav>
                                        <p:tav tm="100000">
                                          <p:val>
                                            <p:strVal val="#ppt_x"/>
                                          </p:val>
                                        </p:tav>
                                      </p:tavLst>
                                    </p:anim>
                                    <p:anim calcmode="lin" valueType="num">
                                      <p:cBhvr additive="base">
                                        <p:cTn id="91" dur="500" fill="hold"/>
                                        <p:tgtEl>
                                          <p:spTgt spid="30"/>
                                        </p:tgtEl>
                                        <p:attrNameLst>
                                          <p:attrName>ppt_y</p:attrName>
                                        </p:attrNameLst>
                                      </p:cBhvr>
                                      <p:tavLst>
                                        <p:tav tm="0">
                                          <p:val>
                                            <p:strVal val="#ppt_y+0.1"/>
                                          </p:val>
                                        </p:tav>
                                        <p:tav tm="100000">
                                          <p:val>
                                            <p:strVal val="#ppt_y"/>
                                          </p:val>
                                        </p:tav>
                                      </p:tavLst>
                                    </p:anim>
                                    <p:animEffect transition="in" filter="fade">
                                      <p:cBhvr>
                                        <p:cTn id="92" dur="500"/>
                                        <p:tgtEl>
                                          <p:spTgt spid="30"/>
                                        </p:tgtEl>
                                      </p:cBhvr>
                                    </p:animEffect>
                                  </p:childTnLst>
                                </p:cTn>
                              </p:par>
                              <p:par>
                                <p:cTn id="98" presetID="2" presetClass="entr" presetSubtype="4" fill="hold" grpId="0" nodeType="withEffect">
                                  <p:stCondLst>
                                    <p:cond delay="450"/>
                                  </p:stCondLst>
                                  <p:childTnLst>
                                    <p:set>
                                      <p:cBhvr>
                                        <p:cTn id="94" dur="1" fill="hold">
                                          <p:stCondLst>
                                            <p:cond delay="0"/>
                                          </p:stCondLst>
                                        </p:cTn>
                                        <p:tgtEl>
                                          <p:spTgt spid="31"/>
                                        </p:tgtEl>
                                        <p:attrNameLst>
                                          <p:attrName>style.visibility</p:attrName>
                                        </p:attrNameLst>
                                      </p:cBhvr>
                                      <p:to>
                                        <p:strVal val="visible"/>
                                      </p:to>
                                    </p:set>
                                    <p:anim calcmode="lin" valueType="num">
                                      <p:cBhvr additive="base">
                                        <p:cTn id="95" dur="500" fill="hold"/>
                                        <p:tgtEl>
                                          <p:spTgt spid="31"/>
                                        </p:tgtEl>
                                        <p:attrNameLst>
                                          <p:attrName>ppt_x</p:attrName>
                                        </p:attrNameLst>
                                      </p:cBhvr>
                                      <p:tavLst>
                                        <p:tav tm="0">
                                          <p:val>
                                            <p:strVal val="#ppt_x"/>
                                          </p:val>
                                        </p:tav>
                                        <p:tav tm="100000">
                                          <p:val>
                                            <p:strVal val="#ppt_x"/>
                                          </p:val>
                                        </p:tav>
                                      </p:tavLst>
                                    </p:anim>
                                    <p:anim calcmode="lin" valueType="num">
                                      <p:cBhvr additive="base">
                                        <p:cTn id="96" dur="500" fill="hold"/>
                                        <p:tgtEl>
                                          <p:spTgt spid="31"/>
                                        </p:tgtEl>
                                        <p:attrNameLst>
                                          <p:attrName>ppt_y</p:attrName>
                                        </p:attrNameLst>
                                      </p:cBhvr>
                                      <p:tavLst>
                                        <p:tav tm="0">
                                          <p:val>
                                            <p:strVal val="#ppt_y+0.1"/>
                                          </p:val>
                                        </p:tav>
                                        <p:tav tm="100000">
                                          <p:val>
                                            <p:strVal val="#ppt_y"/>
                                          </p:val>
                                        </p:tav>
                                      </p:tavLst>
                                    </p:anim>
                                    <p:animEffect transition="in" filter="fade">
                                      <p:cBhvr>
                                        <p:cTn id="97" dur="500"/>
                                        <p:tgtEl>
                                          <p:spTgt spid="31"/>
                                        </p:tgtEl>
                                      </p:cBhvr>
                                    </p:animEffect>
                                  </p:childTnLst>
                                </p:cTn>
                              </p:par>
                            </p:childTnLst>
                          </p:cTn>
                        </p:par>
                      </p:childTnLst>
                    </p:cTn>
                  </p:par>
                  <p:par>
                    <p:cTn id="99" fill="hold">
                      <p:stCondLst>
                        <p:cond delay="indefinite"/>
                      </p:stCondLst>
                      <p:childTnLst>
                        <p:par>
                          <p:cTn id="100" fill="hold">
                            <p:stCondLst>
                              <p:cond delay="0"/>
                            </p:stCondLst>
                            <p:childTnLst>
                              <p:par>
                                <p:cTn id="105" presetID="2" presetClass="entr" presetSubtype="4" fill="hold" grpId="0" nodeType="clickEffect">
                                  <p:stCondLst>
                                    <p:cond delay="0"/>
                                  </p:stCondLst>
                                  <p:childTnLst>
                                    <p:set>
                                      <p:cBhvr>
                                        <p:cTn id="101" dur="1" fill="hold">
                                          <p:stCondLst>
                                            <p:cond delay="0"/>
                                          </p:stCondLst>
                                        </p:cTn>
                                        <p:tgtEl>
                                          <p:spTgt spid="32"/>
                                        </p:tgtEl>
                                        <p:attrNameLst>
                                          <p:attrName>style.visibility</p:attrName>
                                        </p:attrNameLst>
                                      </p:cBhvr>
                                      <p:to>
                                        <p:strVal val="visible"/>
                                      </p:to>
                                    </p:set>
                                    <p:anim calcmode="lin" valueType="num">
                                      <p:cBhvr additive="base">
                                        <p:cTn id="102" dur="500" fill="hold"/>
                                        <p:tgtEl>
                                          <p:spTgt spid="32"/>
                                        </p:tgtEl>
                                        <p:attrNameLst>
                                          <p:attrName>ppt_x</p:attrName>
                                        </p:attrNameLst>
                                      </p:cBhvr>
                                      <p:tavLst>
                                        <p:tav tm="0">
                                          <p:val>
                                            <p:strVal val="#ppt_x"/>
                                          </p:val>
                                        </p:tav>
                                        <p:tav tm="100000">
                                          <p:val>
                                            <p:strVal val="#ppt_x"/>
                                          </p:val>
                                        </p:tav>
                                      </p:tavLst>
                                    </p:anim>
                                    <p:anim calcmode="lin" valueType="num">
                                      <p:cBhvr additive="base">
                                        <p:cTn id="103" dur="500" fill="hold"/>
                                        <p:tgtEl>
                                          <p:spTgt spid="32"/>
                                        </p:tgtEl>
                                        <p:attrNameLst>
                                          <p:attrName>ppt_y</p:attrName>
                                        </p:attrNameLst>
                                      </p:cBhvr>
                                      <p:tavLst>
                                        <p:tav tm="0">
                                          <p:val>
                                            <p:strVal val="#ppt_y+0.1"/>
                                          </p:val>
                                        </p:tav>
                                        <p:tav tm="100000">
                                          <p:val>
                                            <p:strVal val="#ppt_y"/>
                                          </p:val>
                                        </p:tav>
                                      </p:tavLst>
                                    </p:anim>
                                    <p:animEffect transition="in" filter="fade">
                                      <p:cBhvr>
                                        <p:cTn id="104" dur="500"/>
                                        <p:tgtEl>
                                          <p:spTgt spid="32"/>
                                        </p:tgtEl>
                                      </p:cBhvr>
                                    </p:animEffect>
                                  </p:childTnLst>
                                </p:cTn>
                              </p:par>
                              <p:par>
                                <p:cTn id="110" presetID="2" presetClass="entr" presetSubtype="4" fill="hold" grpId="0" nodeType="withEffect">
                                  <p:stCondLst>
                                    <p:cond delay="0"/>
                                  </p:stCondLst>
                                  <p:childTnLst>
                                    <p:set>
                                      <p:cBhvr>
                                        <p:cTn id="106" dur="1" fill="hold">
                                          <p:stCondLst>
                                            <p:cond delay="0"/>
                                          </p:stCondLst>
                                        </p:cTn>
                                        <p:tgtEl>
                                          <p:spTgt spid="33"/>
                                        </p:tgtEl>
                                        <p:attrNameLst>
                                          <p:attrName>style.visibility</p:attrName>
                                        </p:attrNameLst>
                                      </p:cBhvr>
                                      <p:to>
                                        <p:strVal val="visible"/>
                                      </p:to>
                                    </p:set>
                                    <p:anim calcmode="lin" valueType="num">
                                      <p:cBhvr additive="base">
                                        <p:cTn id="107" dur="500" fill="hold"/>
                                        <p:tgtEl>
                                          <p:spTgt spid="33"/>
                                        </p:tgtEl>
                                        <p:attrNameLst>
                                          <p:attrName>ppt_x</p:attrName>
                                        </p:attrNameLst>
                                      </p:cBhvr>
                                      <p:tavLst>
                                        <p:tav tm="0">
                                          <p:val>
                                            <p:strVal val="#ppt_x"/>
                                          </p:val>
                                        </p:tav>
                                        <p:tav tm="100000">
                                          <p:val>
                                            <p:strVal val="#ppt_x"/>
                                          </p:val>
                                        </p:tav>
                                      </p:tavLst>
                                    </p:anim>
                                    <p:anim calcmode="lin" valueType="num">
                                      <p:cBhvr additive="base">
                                        <p:cTn id="108" dur="500" fill="hold"/>
                                        <p:tgtEl>
                                          <p:spTgt spid="33"/>
                                        </p:tgtEl>
                                        <p:attrNameLst>
                                          <p:attrName>ppt_y</p:attrName>
                                        </p:attrNameLst>
                                      </p:cBhvr>
                                      <p:tavLst>
                                        <p:tav tm="0">
                                          <p:val>
                                            <p:strVal val="#ppt_y+0.1"/>
                                          </p:val>
                                        </p:tav>
                                        <p:tav tm="100000">
                                          <p:val>
                                            <p:strVal val="#ppt_y"/>
                                          </p:val>
                                        </p:tav>
                                      </p:tavLst>
                                    </p:anim>
                                    <p:animEffect transition="in" filter="fade">
                                      <p:cBhvr>
                                        <p:cTn id="109" dur="500"/>
                                        <p:tgtEl>
                                          <p:spTgt spid="33"/>
                                        </p:tgtEl>
                                      </p:cBhvr>
                                    </p:animEffect>
                                  </p:childTnLst>
                                </p:cTn>
                              </p:par>
                              <p:par>
                                <p:cTn id="115" presetID="2" presetClass="entr" presetSubtype="4" fill="hold" grpId="0" nodeType="withEffect">
                                  <p:stCondLst>
                                    <p:cond delay="0"/>
                                  </p:stCondLst>
                                  <p:childTnLst>
                                    <p:set>
                                      <p:cBhvr>
                                        <p:cTn id="111" dur="1" fill="hold">
                                          <p:stCondLst>
                                            <p:cond delay="0"/>
                                          </p:stCondLst>
                                        </p:cTn>
                                        <p:tgtEl>
                                          <p:spTgt spid="34"/>
                                        </p:tgtEl>
                                        <p:attrNameLst>
                                          <p:attrName>style.visibility</p:attrName>
                                        </p:attrNameLst>
                                      </p:cBhvr>
                                      <p:to>
                                        <p:strVal val="visible"/>
                                      </p:to>
                                    </p:set>
                                    <p:anim calcmode="lin" valueType="num">
                                      <p:cBhvr additive="base">
                                        <p:cTn id="112" dur="500" fill="hold"/>
                                        <p:tgtEl>
                                          <p:spTgt spid="34"/>
                                        </p:tgtEl>
                                        <p:attrNameLst>
                                          <p:attrName>ppt_x</p:attrName>
                                        </p:attrNameLst>
                                      </p:cBhvr>
                                      <p:tavLst>
                                        <p:tav tm="0">
                                          <p:val>
                                            <p:strVal val="#ppt_x"/>
                                          </p:val>
                                        </p:tav>
                                        <p:tav tm="100000">
                                          <p:val>
                                            <p:strVal val="#ppt_x"/>
                                          </p:val>
                                        </p:tav>
                                      </p:tavLst>
                                    </p:anim>
                                    <p:anim calcmode="lin" valueType="num">
                                      <p:cBhvr additive="base">
                                        <p:cTn id="113" dur="500" fill="hold"/>
                                        <p:tgtEl>
                                          <p:spTgt spid="34"/>
                                        </p:tgtEl>
                                        <p:attrNameLst>
                                          <p:attrName>ppt_y</p:attrName>
                                        </p:attrNameLst>
                                      </p:cBhvr>
                                      <p:tavLst>
                                        <p:tav tm="0">
                                          <p:val>
                                            <p:strVal val="#ppt_y+0.1"/>
                                          </p:val>
                                        </p:tav>
                                        <p:tav tm="100000">
                                          <p:val>
                                            <p:strVal val="#ppt_y"/>
                                          </p:val>
                                        </p:tav>
                                      </p:tavLst>
                                    </p:anim>
                                    <p:animEffect transition="in" filter="fade">
                                      <p:cBhvr>
                                        <p:cTn id="11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k8"/>
          <p:cNvSpPr/>
          <p:nvPr/>
        </p:nvSpPr>
        <p:spPr>
          <a:xfrm>
            <a:off x="457200" y="155448"/>
            <a:ext cx="1354455" cy="22860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spc="60">
                <a:solidFill>
                  <a:srgbClr val="C2410C"/>
                </a:solidFill>
                <a:latin typeface="Segoe UI"/>
              </a:rPr>
              <a:t>2000s  ·  SOA</a:t>
            </a:r>
          </a:p>
        </p:txBody>
      </p:sp>
      <p:sp>
        <p:nvSpPr>
          <p:cNvPr id="10" name="h9"/>
          <p:cNvSpPr txBox="1"/>
          <p:nvPr/>
        </p:nvSpPr>
        <p:spPr>
          <a:xfrm>
            <a:off x="457200" y="420624"/>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Services and the Enterprise Service Bus</a:t>
            </a:r>
          </a:p>
        </p:txBody>
      </p:sp>
      <p:sp>
        <p:nvSpPr>
          <p:cNvPr id="11" name="sub10"/>
          <p:cNvSpPr txBox="1"/>
          <p:nvPr/>
        </p:nvSpPr>
        <p:spPr>
          <a:xfrm>
            <a:off x="457200" y="932688"/>
            <a:ext cx="8229600" cy="292608"/>
          </a:xfrm>
          <a:prstGeom prst="rect">
            <a:avLst/>
          </a:prstGeom>
          <a:noFill/>
        </p:spPr>
        <p:txBody>
          <a:bodyPr wrap="square" lIns="0" tIns="0" rIns="0" bIns="0" anchor="ctr">
            <a:spAutoFit/>
          </a:bodyPr>
          <a:lstStyle/>
          <a:p>
            <a:pPr algn="l"/>
            <a:r>
              <a:rPr sz="1150" b="0">
                <a:solidFill>
                  <a:srgbClr val="78716C"/>
                </a:solidFill>
                <a:latin typeface="Segoe UI"/>
              </a:rPr>
              <a:t>Share business functions as web services - and connect them all through one central bus</a:t>
            </a:r>
          </a:p>
        </p:txBody>
      </p:sp>
      <p:sp>
        <p:nvSpPr>
          <p:cNvPr id="12" name="a1u_nd11"/>
          <p:cNvSpPr/>
          <p:nvPr/>
        </p:nvSpPr>
        <p:spPr>
          <a:xfrm>
            <a:off x="731520" y="1325880"/>
            <a:ext cx="1783080" cy="457200"/>
          </a:xfrm>
          <a:prstGeom prst="roundRect">
            <a:avLst>
              <a:gd name="adj" fmla="val 16000"/>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ndt12"/>
          <p:cNvSpPr txBox="1"/>
          <p:nvPr/>
        </p:nvSpPr>
        <p:spPr>
          <a:xfrm>
            <a:off x="777240" y="1325880"/>
            <a:ext cx="1691639" cy="457200"/>
          </a:xfrm>
          <a:prstGeom prst="rect">
            <a:avLst/>
          </a:prstGeom>
          <a:noFill/>
        </p:spPr>
        <p:txBody>
          <a:bodyPr wrap="square" lIns="0" tIns="0" rIns="0" bIns="0" anchor="ctr">
            <a:spAutoFit/>
          </a:bodyPr>
          <a:lstStyle/>
          <a:p>
            <a:pPr algn="ctr"/>
            <a:r>
              <a:rPr sz="900" b="1">
                <a:solidFill>
                  <a:srgbClr val="1C1917"/>
                </a:solidFill>
                <a:latin typeface="Segoe UI"/>
              </a:rPr>
              <a:t>Billing service</a:t>
            </a:r>
          </a:p>
        </p:txBody>
      </p:sp>
      <p:cxnSp>
        <p:nvCxnSpPr>
          <p:cNvPr id="14" name="a2f_wr13"/>
          <p:cNvCxnSpPr/>
          <p:nvPr/>
        </p:nvCxnSpPr>
        <p:spPr>
          <a:xfrm>
            <a:off x="1618488" y="1801368"/>
            <a:ext cx="0" cy="228600"/>
          </a:xfrm>
          <a:prstGeom prst="line">
            <a:avLst/>
          </a:prstGeom>
          <a:ln w="15875">
            <a:solidFill>
              <a:srgbClr val="EA580C"/>
            </a:solidFill>
          </a:ln>
        </p:spPr>
        <p:style>
          <a:lnRef idx="2">
            <a:schemeClr val="accent1"/>
          </a:lnRef>
          <a:fillRef idx="0">
            <a:schemeClr val="accent1"/>
          </a:fillRef>
          <a:effectRef idx="1">
            <a:schemeClr val="accent1"/>
          </a:effectRef>
          <a:fontRef idx="minor">
            <a:schemeClr val="tx1"/>
          </a:fontRef>
        </p:style>
      </p:cxnSp>
      <p:sp>
        <p:nvSpPr>
          <p:cNvPr id="15" name="a1ud100_nd14"/>
          <p:cNvSpPr/>
          <p:nvPr/>
        </p:nvSpPr>
        <p:spPr>
          <a:xfrm>
            <a:off x="2697480" y="1325880"/>
            <a:ext cx="1783080" cy="457200"/>
          </a:xfrm>
          <a:prstGeom prst="roundRect">
            <a:avLst>
              <a:gd name="adj" fmla="val 16000"/>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100_ndt15"/>
          <p:cNvSpPr txBox="1"/>
          <p:nvPr/>
        </p:nvSpPr>
        <p:spPr>
          <a:xfrm>
            <a:off x="2743200" y="1325880"/>
            <a:ext cx="1691639" cy="457200"/>
          </a:xfrm>
          <a:prstGeom prst="rect">
            <a:avLst/>
          </a:prstGeom>
          <a:noFill/>
        </p:spPr>
        <p:txBody>
          <a:bodyPr wrap="square" lIns="0" tIns="0" rIns="0" bIns="0" anchor="ctr">
            <a:spAutoFit/>
          </a:bodyPr>
          <a:lstStyle/>
          <a:p>
            <a:pPr algn="ctr"/>
            <a:r>
              <a:rPr sz="900" b="1">
                <a:solidFill>
                  <a:srgbClr val="1C1917"/>
                </a:solidFill>
                <a:latin typeface="Segoe UI"/>
              </a:rPr>
              <a:t>CRM</a:t>
            </a:r>
          </a:p>
        </p:txBody>
      </p:sp>
      <p:cxnSp>
        <p:nvCxnSpPr>
          <p:cNvPr id="17" name="a2f_wr16"/>
          <p:cNvCxnSpPr/>
          <p:nvPr/>
        </p:nvCxnSpPr>
        <p:spPr>
          <a:xfrm>
            <a:off x="3584448" y="1801368"/>
            <a:ext cx="0" cy="228600"/>
          </a:xfrm>
          <a:prstGeom prst="line">
            <a:avLst/>
          </a:prstGeom>
          <a:ln w="15875">
            <a:solidFill>
              <a:srgbClr val="EA580C"/>
            </a:solidFill>
          </a:ln>
        </p:spPr>
        <p:style>
          <a:lnRef idx="2">
            <a:schemeClr val="accent1"/>
          </a:lnRef>
          <a:fillRef idx="0">
            <a:schemeClr val="accent1"/>
          </a:fillRef>
          <a:effectRef idx="1">
            <a:schemeClr val="accent1"/>
          </a:effectRef>
          <a:fontRef idx="minor">
            <a:schemeClr val="tx1"/>
          </a:fontRef>
        </p:style>
      </p:cxnSp>
      <p:sp>
        <p:nvSpPr>
          <p:cNvPr id="18" name="a1ud200_nd17"/>
          <p:cNvSpPr/>
          <p:nvPr/>
        </p:nvSpPr>
        <p:spPr>
          <a:xfrm>
            <a:off x="4663440" y="1325880"/>
            <a:ext cx="1783080" cy="457200"/>
          </a:xfrm>
          <a:prstGeom prst="roundRect">
            <a:avLst>
              <a:gd name="adj" fmla="val 16000"/>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200_ndt18"/>
          <p:cNvSpPr txBox="1"/>
          <p:nvPr/>
        </p:nvSpPr>
        <p:spPr>
          <a:xfrm>
            <a:off x="4709159" y="1325880"/>
            <a:ext cx="1691639" cy="457200"/>
          </a:xfrm>
          <a:prstGeom prst="rect">
            <a:avLst/>
          </a:prstGeom>
          <a:noFill/>
        </p:spPr>
        <p:txBody>
          <a:bodyPr wrap="square" lIns="0" tIns="0" rIns="0" bIns="0" anchor="ctr">
            <a:spAutoFit/>
          </a:bodyPr>
          <a:lstStyle/>
          <a:p>
            <a:pPr algn="ctr"/>
            <a:r>
              <a:rPr sz="900" b="1">
                <a:solidFill>
                  <a:srgbClr val="1C1917"/>
                </a:solidFill>
                <a:latin typeface="Segoe UI"/>
              </a:rPr>
              <a:t>Inventory service</a:t>
            </a:r>
          </a:p>
        </p:txBody>
      </p:sp>
      <p:cxnSp>
        <p:nvCxnSpPr>
          <p:cNvPr id="20" name="a2f_wr19"/>
          <p:cNvCxnSpPr/>
          <p:nvPr/>
        </p:nvCxnSpPr>
        <p:spPr>
          <a:xfrm>
            <a:off x="5550407" y="1801368"/>
            <a:ext cx="0" cy="228600"/>
          </a:xfrm>
          <a:prstGeom prst="line">
            <a:avLst/>
          </a:prstGeom>
          <a:ln w="15875">
            <a:solidFill>
              <a:srgbClr val="EA580C"/>
            </a:solidFill>
          </a:ln>
        </p:spPr>
        <p:style>
          <a:lnRef idx="2">
            <a:schemeClr val="accent1"/>
          </a:lnRef>
          <a:fillRef idx="0">
            <a:schemeClr val="accent1"/>
          </a:fillRef>
          <a:effectRef idx="1">
            <a:schemeClr val="accent1"/>
          </a:effectRef>
          <a:fontRef idx="minor">
            <a:schemeClr val="tx1"/>
          </a:fontRef>
        </p:style>
      </p:cxnSp>
      <p:sp>
        <p:nvSpPr>
          <p:cNvPr id="21" name="a1ud300_nd20"/>
          <p:cNvSpPr/>
          <p:nvPr/>
        </p:nvSpPr>
        <p:spPr>
          <a:xfrm>
            <a:off x="6629399" y="1325880"/>
            <a:ext cx="1783080" cy="457200"/>
          </a:xfrm>
          <a:prstGeom prst="roundRect">
            <a:avLst>
              <a:gd name="adj" fmla="val 16000"/>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ud300_ndt21"/>
          <p:cNvSpPr txBox="1"/>
          <p:nvPr/>
        </p:nvSpPr>
        <p:spPr>
          <a:xfrm>
            <a:off x="6675119" y="1325880"/>
            <a:ext cx="1691639" cy="457200"/>
          </a:xfrm>
          <a:prstGeom prst="rect">
            <a:avLst/>
          </a:prstGeom>
          <a:noFill/>
        </p:spPr>
        <p:txBody>
          <a:bodyPr wrap="square" lIns="0" tIns="0" rIns="0" bIns="0" anchor="ctr">
            <a:spAutoFit/>
          </a:bodyPr>
          <a:lstStyle/>
          <a:p>
            <a:pPr algn="ctr"/>
            <a:r>
              <a:rPr sz="900" b="1">
                <a:solidFill>
                  <a:srgbClr val="1C1917"/>
                </a:solidFill>
                <a:latin typeface="Segoe UI"/>
              </a:rPr>
              <a:t>Payments service</a:t>
            </a:r>
          </a:p>
        </p:txBody>
      </p:sp>
      <p:cxnSp>
        <p:nvCxnSpPr>
          <p:cNvPr id="23" name="a2f_wr22"/>
          <p:cNvCxnSpPr/>
          <p:nvPr/>
        </p:nvCxnSpPr>
        <p:spPr>
          <a:xfrm>
            <a:off x="7516367" y="1801368"/>
            <a:ext cx="0" cy="228600"/>
          </a:xfrm>
          <a:prstGeom prst="line">
            <a:avLst/>
          </a:prstGeom>
          <a:ln w="15875">
            <a:solidFill>
              <a:srgbClr val="EA580C"/>
            </a:solidFill>
          </a:ln>
        </p:spPr>
        <p:style>
          <a:lnRef idx="2">
            <a:schemeClr val="accent1"/>
          </a:lnRef>
          <a:fillRef idx="0">
            <a:schemeClr val="accent1"/>
          </a:fillRef>
          <a:effectRef idx="1">
            <a:schemeClr val="accent1"/>
          </a:effectRef>
          <a:fontRef idx="minor">
            <a:schemeClr val="tx1"/>
          </a:fontRef>
        </p:style>
      </p:cxnSp>
      <p:sp>
        <p:nvSpPr>
          <p:cNvPr id="24" name="a2u_bus23"/>
          <p:cNvSpPr/>
          <p:nvPr/>
        </p:nvSpPr>
        <p:spPr>
          <a:xfrm>
            <a:off x="548640" y="2029968"/>
            <a:ext cx="8046720" cy="502920"/>
          </a:xfrm>
          <a:prstGeom prst="roundRect">
            <a:avLst>
              <a:gd name="adj" fmla="val 18181"/>
            </a:avLst>
          </a:prstGeom>
          <a:solidFill>
            <a:srgbClr val="FEF9C3"/>
          </a:solidFill>
          <a:ln w="12700">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u_bust24"/>
          <p:cNvSpPr txBox="1"/>
          <p:nvPr/>
        </p:nvSpPr>
        <p:spPr>
          <a:xfrm>
            <a:off x="640080" y="2029968"/>
            <a:ext cx="7863840" cy="502920"/>
          </a:xfrm>
          <a:prstGeom prst="rect">
            <a:avLst/>
          </a:prstGeom>
          <a:noFill/>
        </p:spPr>
        <p:txBody>
          <a:bodyPr wrap="square" lIns="0" tIns="0" rIns="0" bIns="0" anchor="ctr">
            <a:spAutoFit/>
          </a:bodyPr>
          <a:lstStyle/>
          <a:p>
            <a:pPr algn="ctr"/>
            <a:r>
              <a:rPr sz="1100" b="1">
                <a:solidFill>
                  <a:srgbClr val="A16207"/>
                </a:solidFill>
                <a:latin typeface="Segoe UI"/>
              </a:rPr>
              <a:t>Enterprise Service Bus  -  routing  ·  transformation  ·  orchestration</a:t>
            </a:r>
          </a:p>
        </p:txBody>
      </p:sp>
      <p:sp>
        <p:nvSpPr>
          <p:cNvPr id="26" name="a3u_nd25"/>
          <p:cNvSpPr/>
          <p:nvPr/>
        </p:nvSpPr>
        <p:spPr>
          <a:xfrm>
            <a:off x="1280160" y="2761488"/>
            <a:ext cx="2011680" cy="457200"/>
          </a:xfrm>
          <a:prstGeom prst="roundRect">
            <a:avLst>
              <a:gd name="adj" fmla="val 16000"/>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3u_ndt26"/>
          <p:cNvSpPr txBox="1"/>
          <p:nvPr/>
        </p:nvSpPr>
        <p:spPr>
          <a:xfrm>
            <a:off x="1325880" y="2761488"/>
            <a:ext cx="1920240" cy="457200"/>
          </a:xfrm>
          <a:prstGeom prst="rect">
            <a:avLst/>
          </a:prstGeom>
          <a:noFill/>
        </p:spPr>
        <p:txBody>
          <a:bodyPr wrap="square" lIns="0" tIns="0" rIns="0" bIns="0" anchor="ctr">
            <a:spAutoFit/>
          </a:bodyPr>
          <a:lstStyle/>
          <a:p>
            <a:pPr algn="ctr"/>
            <a:r>
              <a:rPr sz="900" b="1">
                <a:solidFill>
                  <a:srgbClr val="1C1917"/>
                </a:solidFill>
                <a:latin typeface="Segoe UI"/>
              </a:rPr>
              <a:t>Mainframe (via MQ)</a:t>
            </a:r>
          </a:p>
        </p:txBody>
      </p:sp>
      <p:cxnSp>
        <p:nvCxnSpPr>
          <p:cNvPr id="28" name="a3u_wr27"/>
          <p:cNvCxnSpPr/>
          <p:nvPr/>
        </p:nvCxnSpPr>
        <p:spPr>
          <a:xfrm>
            <a:off x="2286000" y="2551176"/>
            <a:ext cx="0" cy="210312"/>
          </a:xfrm>
          <a:prstGeom prst="line">
            <a:avLst/>
          </a:prstGeom>
          <a:ln w="15875">
            <a:solidFill>
              <a:srgbClr val="0E7490"/>
            </a:solidFill>
          </a:ln>
        </p:spPr>
        <p:style>
          <a:lnRef idx="2">
            <a:schemeClr val="accent1"/>
          </a:lnRef>
          <a:fillRef idx="0">
            <a:schemeClr val="accent1"/>
          </a:fillRef>
          <a:effectRef idx="1">
            <a:schemeClr val="accent1"/>
          </a:effectRef>
          <a:fontRef idx="minor">
            <a:schemeClr val="tx1"/>
          </a:fontRef>
        </p:style>
      </p:cxnSp>
      <p:sp>
        <p:nvSpPr>
          <p:cNvPr id="29" name="a3ud100_nd28"/>
          <p:cNvSpPr/>
          <p:nvPr/>
        </p:nvSpPr>
        <p:spPr>
          <a:xfrm>
            <a:off x="3657600" y="2761488"/>
            <a:ext cx="2011680" cy="457200"/>
          </a:xfrm>
          <a:prstGeom prst="roundRect">
            <a:avLst>
              <a:gd name="adj" fmla="val 16000"/>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d100_ndt29"/>
          <p:cNvSpPr txBox="1"/>
          <p:nvPr/>
        </p:nvSpPr>
        <p:spPr>
          <a:xfrm>
            <a:off x="3703320" y="2761488"/>
            <a:ext cx="1920240" cy="457200"/>
          </a:xfrm>
          <a:prstGeom prst="rect">
            <a:avLst/>
          </a:prstGeom>
          <a:noFill/>
        </p:spPr>
        <p:txBody>
          <a:bodyPr wrap="square" lIns="0" tIns="0" rIns="0" bIns="0" anchor="ctr">
            <a:spAutoFit/>
          </a:bodyPr>
          <a:lstStyle/>
          <a:p>
            <a:pPr algn="ctr"/>
            <a:r>
              <a:rPr sz="900" b="1">
                <a:solidFill>
                  <a:srgbClr val="1C1917"/>
                </a:solidFill>
                <a:latin typeface="Segoe UI"/>
              </a:rPr>
              <a:t>Partner (via FTP)</a:t>
            </a:r>
          </a:p>
        </p:txBody>
      </p:sp>
      <p:cxnSp>
        <p:nvCxnSpPr>
          <p:cNvPr id="31" name="a3ud100_wr30"/>
          <p:cNvCxnSpPr/>
          <p:nvPr/>
        </p:nvCxnSpPr>
        <p:spPr>
          <a:xfrm>
            <a:off x="4663440" y="2551176"/>
            <a:ext cx="0" cy="210312"/>
          </a:xfrm>
          <a:prstGeom prst="line">
            <a:avLst/>
          </a:prstGeom>
          <a:ln w="15875">
            <a:solidFill>
              <a:srgbClr val="0E7490"/>
            </a:solidFill>
          </a:ln>
        </p:spPr>
        <p:style>
          <a:lnRef idx="2">
            <a:schemeClr val="accent1"/>
          </a:lnRef>
          <a:fillRef idx="0">
            <a:schemeClr val="accent1"/>
          </a:fillRef>
          <a:effectRef idx="1">
            <a:schemeClr val="accent1"/>
          </a:effectRef>
          <a:fontRef idx="minor">
            <a:schemeClr val="tx1"/>
          </a:fontRef>
        </p:style>
      </p:cxnSp>
      <p:sp>
        <p:nvSpPr>
          <p:cNvPr id="32" name="a3ud200_nd31"/>
          <p:cNvSpPr/>
          <p:nvPr/>
        </p:nvSpPr>
        <p:spPr>
          <a:xfrm>
            <a:off x="6035040" y="2761488"/>
            <a:ext cx="2011680" cy="457200"/>
          </a:xfrm>
          <a:prstGeom prst="roundRect">
            <a:avLst>
              <a:gd name="adj" fmla="val 16000"/>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3ud200_ndt32"/>
          <p:cNvSpPr txBox="1"/>
          <p:nvPr/>
        </p:nvSpPr>
        <p:spPr>
          <a:xfrm>
            <a:off x="6080759" y="2761488"/>
            <a:ext cx="1920240" cy="457200"/>
          </a:xfrm>
          <a:prstGeom prst="rect">
            <a:avLst/>
          </a:prstGeom>
          <a:noFill/>
        </p:spPr>
        <p:txBody>
          <a:bodyPr wrap="square" lIns="0" tIns="0" rIns="0" bIns="0" anchor="ctr">
            <a:spAutoFit/>
          </a:bodyPr>
          <a:lstStyle/>
          <a:p>
            <a:pPr algn="ctr"/>
            <a:r>
              <a:rPr sz="900" b="1">
                <a:solidFill>
                  <a:srgbClr val="1C1917"/>
                </a:solidFill>
                <a:latin typeface="Segoe UI"/>
              </a:rPr>
              <a:t>Web portal (SOAP)</a:t>
            </a:r>
          </a:p>
        </p:txBody>
      </p:sp>
      <p:cxnSp>
        <p:nvCxnSpPr>
          <p:cNvPr id="34" name="a3ud200_wr33"/>
          <p:cNvCxnSpPr/>
          <p:nvPr/>
        </p:nvCxnSpPr>
        <p:spPr>
          <a:xfrm>
            <a:off x="7040879" y="2551176"/>
            <a:ext cx="0" cy="210312"/>
          </a:xfrm>
          <a:prstGeom prst="line">
            <a:avLst/>
          </a:prstGeom>
          <a:ln w="15875">
            <a:solidFill>
              <a:srgbClr val="0E7490"/>
            </a:solidFill>
          </a:ln>
        </p:spPr>
        <p:style>
          <a:lnRef idx="2">
            <a:schemeClr val="accent1"/>
          </a:lnRef>
          <a:fillRef idx="0">
            <a:schemeClr val="accent1"/>
          </a:fillRef>
          <a:effectRef idx="1">
            <a:schemeClr val="accent1"/>
          </a:effectRef>
          <a:fontRef idx="minor">
            <a:schemeClr val="tx1"/>
          </a:fontRef>
        </p:style>
      </p:cxnSp>
      <p:sp>
        <p:nvSpPr>
          <p:cNvPr id="35" name="a4u_nb34"/>
          <p:cNvSpPr/>
          <p:nvPr/>
        </p:nvSpPr>
        <p:spPr>
          <a:xfrm>
            <a:off x="457200" y="3474720"/>
            <a:ext cx="4023360" cy="868680"/>
          </a:xfrm>
          <a:prstGeom prst="roundRect">
            <a:avLst>
              <a:gd name="adj" fmla="val 8421"/>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4u_nacc35"/>
          <p:cNvSpPr/>
          <p:nvPr/>
        </p:nvSpPr>
        <p:spPr>
          <a:xfrm>
            <a:off x="457200" y="3474720"/>
            <a:ext cx="54864" cy="86868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4u_nt36"/>
          <p:cNvSpPr txBox="1"/>
          <p:nvPr/>
        </p:nvSpPr>
        <p:spPr>
          <a:xfrm>
            <a:off x="658368" y="3474720"/>
            <a:ext cx="3621024" cy="868680"/>
          </a:xfrm>
          <a:prstGeom prst="rect">
            <a:avLst/>
          </a:prstGeom>
          <a:noFill/>
        </p:spPr>
        <p:txBody>
          <a:bodyPr wrap="square" lIns="0" tIns="0" rIns="0" bIns="0" anchor="ctr">
            <a:spAutoFit/>
          </a:bodyPr>
          <a:lstStyle/>
          <a:p>
            <a:pPr algn="l"/>
            <a:r>
              <a:rPr sz="900" b="1">
                <a:solidFill>
                  <a:srgbClr val="15803D"/>
                </a:solidFill>
                <a:latin typeface="Segoe UI"/>
              </a:rPr>
              <a:t>+  </a:t>
            </a:r>
            <a:r>
              <a:rPr sz="900" b="0">
                <a:solidFill>
                  <a:srgbClr val="44403C"/>
                </a:solidFill>
                <a:latin typeface="Segoe UI"/>
              </a:rPr>
              <a:t>The good idea: ONE central place to connect every system, instead of N x M point-to-point links.</a:t>
            </a:r>
          </a:p>
        </p:txBody>
      </p:sp>
      <p:sp>
        <p:nvSpPr>
          <p:cNvPr id="38" name="a5u_nb37"/>
          <p:cNvSpPr/>
          <p:nvPr/>
        </p:nvSpPr>
        <p:spPr>
          <a:xfrm>
            <a:off x="4663440" y="3474720"/>
            <a:ext cx="4023360" cy="868680"/>
          </a:xfrm>
          <a:prstGeom prst="roundRect">
            <a:avLst>
              <a:gd name="adj" fmla="val 8421"/>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5u_nacc38"/>
          <p:cNvSpPr/>
          <p:nvPr/>
        </p:nvSpPr>
        <p:spPr>
          <a:xfrm>
            <a:off x="4663440" y="3474720"/>
            <a:ext cx="54864" cy="8686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5u_nt39"/>
          <p:cNvSpPr txBox="1"/>
          <p:nvPr/>
        </p:nvSpPr>
        <p:spPr>
          <a:xfrm>
            <a:off x="4864607" y="3474720"/>
            <a:ext cx="3621024" cy="868680"/>
          </a:xfrm>
          <a:prstGeom prst="rect">
            <a:avLst/>
          </a:prstGeom>
          <a:noFill/>
        </p:spPr>
        <p:txBody>
          <a:bodyPr wrap="square" lIns="0" tIns="0" rIns="0" bIns="0" anchor="ctr">
            <a:spAutoFit/>
          </a:bodyPr>
          <a:lstStyle/>
          <a:p>
            <a:pPr algn="l"/>
            <a:r>
              <a:rPr sz="900" b="1">
                <a:solidFill>
                  <a:srgbClr val="9F1239"/>
                </a:solidFill>
                <a:latin typeface="Segoe UI"/>
              </a:rPr>
              <a:t>-  </a:t>
            </a:r>
            <a:r>
              <a:rPr sz="900" b="0">
                <a:solidFill>
                  <a:srgbClr val="44403C"/>
                </a:solidFill>
                <a:latin typeface="Segoe UI"/>
              </a:rPr>
              <a:t>The problem: the bus got smart and heavy - business logic lived in the pipe, and one central team owned it.</a:t>
            </a:r>
          </a:p>
        </p:txBody>
      </p:sp>
      <p:sp>
        <p:nvSpPr>
          <p:cNvPr id="41" name="ft4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13</a:t>
            </a:r>
          </a:p>
        </p:txBody>
      </p:sp>
      <p:sp>
        <p:nvSpPr>
          <p:cNvPr id="42" name="ft4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ft4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4" name="ft4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 calcmode="lin" valueType="num">
                                      <p:cBhvr additive="base">
                                        <p:cTn id="6" dur="500" fill="hold"/>
                                        <p:tgtEl>
                                          <p:spTgt spid="12"/>
                                        </p:tgtEl>
                                        <p:attrNameLst>
                                          <p:attrName>ppt_x</p:attrName>
                                        </p:attrNameLst>
                                      </p:cBhvr>
                                      <p:tavLst>
                                        <p:tav tm="0">
                                          <p:val>
                                            <p:strVal val="#ppt_x"/>
                                          </p:val>
                                        </p:tav>
                                        <p:tav tm="100000">
                                          <p:val>
                                            <p:strVal val="#ppt_x"/>
                                          </p:val>
                                        </p:tav>
                                      </p:tavLst>
                                    </p:anim>
                                    <p:anim calcmode="lin" valueType="num">
                                      <p:cBhvr additive="base">
                                        <p:cTn id="7" dur="500" fill="hold"/>
                                        <p:tgtEl>
                                          <p:spTgt spid="12"/>
                                        </p:tgtEl>
                                        <p:attrNameLst>
                                          <p:attrName>ppt_y</p:attrName>
                                        </p:attrNameLst>
                                      </p:cBhvr>
                                      <p:tavLst>
                                        <p:tav tm="0">
                                          <p:val>
                                            <p:strVal val="#ppt_y+0.1"/>
                                          </p:val>
                                        </p:tav>
                                        <p:tav tm="100000">
                                          <p:val>
                                            <p:strVal val="#ppt_y"/>
                                          </p:val>
                                        </p:tav>
                                      </p:tavLst>
                                    </p:anim>
                                    <p:animEffect transition="in" filter="fade">
                                      <p:cBhvr>
                                        <p:cTn id="8" dur="500"/>
                                        <p:tgtEl>
                                          <p:spTgt spid="12"/>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ppt_y+0.1"/>
                                          </p:val>
                                        </p:tav>
                                        <p:tav tm="100000">
                                          <p:val>
                                            <p:strVal val="#ppt_y"/>
                                          </p:val>
                                        </p:tav>
                                      </p:tavLst>
                                    </p:anim>
                                    <p:animEffect transition="in" filter="fade">
                                      <p:cBhvr>
                                        <p:cTn id="13" dur="500"/>
                                        <p:tgtEl>
                                          <p:spTgt spid="13"/>
                                        </p:tgtEl>
                                      </p:cBhvr>
                                    </p:animEffect>
                                  </p:childTnLst>
                                </p:cTn>
                              </p:par>
                              <p:par>
                                <p:cTn id="19" presetID="2" presetClass="entr" presetSubtype="4" fill="hold" grpId="0" nodeType="withEffect">
                                  <p:stCondLst>
                                    <p:cond delay="10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fill="hold"/>
                                        <p:tgtEl>
                                          <p:spTgt spid="15"/>
                                        </p:tgtEl>
                                        <p:attrNameLst>
                                          <p:attrName>ppt_x</p:attrName>
                                        </p:attrNameLst>
                                      </p:cBhvr>
                                      <p:tavLst>
                                        <p:tav tm="0">
                                          <p:val>
                                            <p:strVal val="#ppt_x"/>
                                          </p:val>
                                        </p:tav>
                                        <p:tav tm="100000">
                                          <p:val>
                                            <p:strVal val="#ppt_x"/>
                                          </p:val>
                                        </p:tav>
                                      </p:tavLst>
                                    </p:anim>
                                    <p:anim calcmode="lin" valueType="num">
                                      <p:cBhvr additive="base">
                                        <p:cTn id="17" dur="500" fill="hold"/>
                                        <p:tgtEl>
                                          <p:spTgt spid="15"/>
                                        </p:tgtEl>
                                        <p:attrNameLst>
                                          <p:attrName>ppt_y</p:attrName>
                                        </p:attrNameLst>
                                      </p:cBhvr>
                                      <p:tavLst>
                                        <p:tav tm="0">
                                          <p:val>
                                            <p:strVal val="#ppt_y+0.1"/>
                                          </p:val>
                                        </p:tav>
                                        <p:tav tm="100000">
                                          <p:val>
                                            <p:strVal val="#ppt_y"/>
                                          </p:val>
                                        </p:tav>
                                      </p:tavLst>
                                    </p:anim>
                                    <p:animEffect transition="in" filter="fade">
                                      <p:cBhvr>
                                        <p:cTn id="18" dur="500"/>
                                        <p:tgtEl>
                                          <p:spTgt spid="15"/>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ppt_x"/>
                                          </p:val>
                                        </p:tav>
                                        <p:tav tm="100000">
                                          <p:val>
                                            <p:strVal val="#ppt_x"/>
                                          </p:val>
                                        </p:tav>
                                      </p:tavLst>
                                    </p:anim>
                                    <p:anim calcmode="lin" valueType="num">
                                      <p:cBhvr additive="base">
                                        <p:cTn id="22" dur="500" fill="hold"/>
                                        <p:tgtEl>
                                          <p:spTgt spid="16"/>
                                        </p:tgtEl>
                                        <p:attrNameLst>
                                          <p:attrName>ppt_y</p:attrName>
                                        </p:attrNameLst>
                                      </p:cBhvr>
                                      <p:tavLst>
                                        <p:tav tm="0">
                                          <p:val>
                                            <p:strVal val="#ppt_y+0.1"/>
                                          </p:val>
                                        </p:tav>
                                        <p:tav tm="100000">
                                          <p:val>
                                            <p:strVal val="#ppt_y"/>
                                          </p:val>
                                        </p:tav>
                                      </p:tavLst>
                                    </p:anim>
                                    <p:animEffect transition="in" filter="fade">
                                      <p:cBhvr>
                                        <p:cTn id="23" dur="500"/>
                                        <p:tgtEl>
                                          <p:spTgt spid="16"/>
                                        </p:tgtEl>
                                      </p:cBhvr>
                                    </p:animEffect>
                                  </p:childTnLst>
                                </p:cTn>
                              </p:par>
                              <p:par>
                                <p:cTn id="29" presetID="2" presetClass="entr" presetSubtype="4" fill="hold" grpId="0" nodeType="withEffect">
                                  <p:stCondLst>
                                    <p:cond delay="200"/>
                                  </p:stCondLst>
                                  <p:childTnLst>
                                    <p:set>
                                      <p:cBhvr>
                                        <p:cTn id="25" dur="1" fill="hold">
                                          <p:stCondLst>
                                            <p:cond delay="0"/>
                                          </p:stCondLst>
                                        </p:cTn>
                                        <p:tgtEl>
                                          <p:spTgt spid="18"/>
                                        </p:tgtEl>
                                        <p:attrNameLst>
                                          <p:attrName>style.visibility</p:attrName>
                                        </p:attrNameLst>
                                      </p:cBhvr>
                                      <p:to>
                                        <p:strVal val="visible"/>
                                      </p:to>
                                    </p:set>
                                    <p:anim calcmode="lin" valueType="num">
                                      <p:cBhvr additive="base">
                                        <p:cTn id="26" dur="500" fill="hold"/>
                                        <p:tgtEl>
                                          <p:spTgt spid="18"/>
                                        </p:tgtEl>
                                        <p:attrNameLst>
                                          <p:attrName>ppt_x</p:attrName>
                                        </p:attrNameLst>
                                      </p:cBhvr>
                                      <p:tavLst>
                                        <p:tav tm="0">
                                          <p:val>
                                            <p:strVal val="#ppt_x"/>
                                          </p:val>
                                        </p:tav>
                                        <p:tav tm="100000">
                                          <p:val>
                                            <p:strVal val="#ppt_x"/>
                                          </p:val>
                                        </p:tav>
                                      </p:tavLst>
                                    </p:anim>
                                    <p:anim calcmode="lin" valueType="num">
                                      <p:cBhvr additive="base">
                                        <p:cTn id="27" dur="500" fill="hold"/>
                                        <p:tgtEl>
                                          <p:spTgt spid="18"/>
                                        </p:tgtEl>
                                        <p:attrNameLst>
                                          <p:attrName>ppt_y</p:attrName>
                                        </p:attrNameLst>
                                      </p:cBhvr>
                                      <p:tavLst>
                                        <p:tav tm="0">
                                          <p:val>
                                            <p:strVal val="#ppt_y+0.1"/>
                                          </p:val>
                                        </p:tav>
                                        <p:tav tm="100000">
                                          <p:val>
                                            <p:strVal val="#ppt_y"/>
                                          </p:val>
                                        </p:tav>
                                      </p:tavLst>
                                    </p:anim>
                                    <p:animEffect transition="in" filter="fade">
                                      <p:cBhvr>
                                        <p:cTn id="28" dur="500"/>
                                        <p:tgtEl>
                                          <p:spTgt spid="18"/>
                                        </p:tgtEl>
                                      </p:cBhvr>
                                    </p:animEffect>
                                  </p:childTnLst>
                                </p:cTn>
                              </p:par>
                              <p:par>
                                <p:cTn id="34" presetID="2" presetClass="entr" presetSubtype="4" fill="hold" grpId="0" nodeType="withEffect">
                                  <p:stCondLst>
                                    <p:cond delay="20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ppt_y+0.1"/>
                                          </p:val>
                                        </p:tav>
                                        <p:tav tm="100000">
                                          <p:val>
                                            <p:strVal val="#ppt_y"/>
                                          </p:val>
                                        </p:tav>
                                      </p:tavLst>
                                    </p:anim>
                                    <p:animEffect transition="in" filter="fade">
                                      <p:cBhvr>
                                        <p:cTn id="33" dur="500"/>
                                        <p:tgtEl>
                                          <p:spTgt spid="19"/>
                                        </p:tgtEl>
                                      </p:cBhvr>
                                    </p:animEffect>
                                  </p:childTnLst>
                                </p:cTn>
                              </p:par>
                              <p:par>
                                <p:cTn id="39" presetID="2" presetClass="entr" presetSubtype="4" fill="hold" grpId="0" nodeType="withEffect">
                                  <p:stCondLst>
                                    <p:cond delay="300"/>
                                  </p:stCondLst>
                                  <p:childTnLst>
                                    <p:set>
                                      <p:cBhvr>
                                        <p:cTn id="35" dur="1" fill="hold">
                                          <p:stCondLst>
                                            <p:cond delay="0"/>
                                          </p:stCondLst>
                                        </p:cTn>
                                        <p:tgtEl>
                                          <p:spTgt spid="21"/>
                                        </p:tgtEl>
                                        <p:attrNameLst>
                                          <p:attrName>style.visibility</p:attrName>
                                        </p:attrNameLst>
                                      </p:cBhvr>
                                      <p:to>
                                        <p:strVal val="visible"/>
                                      </p:to>
                                    </p:set>
                                    <p:anim calcmode="lin" valueType="num">
                                      <p:cBhvr additive="base">
                                        <p:cTn id="36" dur="500" fill="hold"/>
                                        <p:tgtEl>
                                          <p:spTgt spid="21"/>
                                        </p:tgtEl>
                                        <p:attrNameLst>
                                          <p:attrName>ppt_x</p:attrName>
                                        </p:attrNameLst>
                                      </p:cBhvr>
                                      <p:tavLst>
                                        <p:tav tm="0">
                                          <p:val>
                                            <p:strVal val="#ppt_x"/>
                                          </p:val>
                                        </p:tav>
                                        <p:tav tm="100000">
                                          <p:val>
                                            <p:strVal val="#ppt_x"/>
                                          </p:val>
                                        </p:tav>
                                      </p:tavLst>
                                    </p:anim>
                                    <p:anim calcmode="lin" valueType="num">
                                      <p:cBhvr additive="base">
                                        <p:cTn id="37" dur="500" fill="hold"/>
                                        <p:tgtEl>
                                          <p:spTgt spid="21"/>
                                        </p:tgtEl>
                                        <p:attrNameLst>
                                          <p:attrName>ppt_y</p:attrName>
                                        </p:attrNameLst>
                                      </p:cBhvr>
                                      <p:tavLst>
                                        <p:tav tm="0">
                                          <p:val>
                                            <p:strVal val="#ppt_y+0.1"/>
                                          </p:val>
                                        </p:tav>
                                        <p:tav tm="100000">
                                          <p:val>
                                            <p:strVal val="#ppt_y"/>
                                          </p:val>
                                        </p:tav>
                                      </p:tavLst>
                                    </p:anim>
                                    <p:animEffect transition="in" filter="fade">
                                      <p:cBhvr>
                                        <p:cTn id="38" dur="500"/>
                                        <p:tgtEl>
                                          <p:spTgt spid="21"/>
                                        </p:tgtEl>
                                      </p:cBhvr>
                                    </p:animEffect>
                                  </p:childTnLst>
                                </p:cTn>
                              </p:par>
                              <p:par>
                                <p:cTn id="44" presetID="2" presetClass="entr" presetSubtype="4" fill="hold" grpId="0" nodeType="withEffect">
                                  <p:stCondLst>
                                    <p:cond delay="30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ppt_y+0.1"/>
                                          </p:val>
                                        </p:tav>
                                        <p:tav tm="100000">
                                          <p:val>
                                            <p:strVal val="#ppt_y"/>
                                          </p:val>
                                        </p:tav>
                                      </p:tavLst>
                                    </p:anim>
                                    <p:animEffect transition="in" filter="fade">
                                      <p:cBhvr>
                                        <p:cTn id="43" dur="500"/>
                                        <p:tgtEl>
                                          <p:spTgt spid="22"/>
                                        </p:tgtEl>
                                      </p:cBhvr>
                                    </p:animEffect>
                                  </p:childTnLst>
                                </p:cTn>
                              </p:par>
                            </p:childTnLst>
                          </p:cTn>
                        </p:par>
                      </p:childTnLst>
                    </p:cTn>
                  </p:par>
                  <p:par>
                    <p:cTn id="45" fill="hold">
                      <p:stCondLst>
                        <p:cond delay="indefinite"/>
                      </p:stCondLst>
                      <p:childTnLst>
                        <p:par>
                          <p:cTn id="46" fill="hold">
                            <p:stCondLst>
                              <p:cond delay="0"/>
                            </p:stCondLst>
                            <p:childTnLst>
                              <p:par>
                                <p:cTn id="49" presetID="10" presetClass="entr" presetSubtype="0"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5"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8"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par>
                                <p:cTn id="63" presetID="2" presetClass="entr" presetSubtype="4"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 calcmode="lin" valueType="num">
                                      <p:cBhvr additive="base">
                                        <p:cTn id="60" dur="500" fill="hold"/>
                                        <p:tgtEl>
                                          <p:spTgt spid="24"/>
                                        </p:tgtEl>
                                        <p:attrNameLst>
                                          <p:attrName>ppt_x</p:attrName>
                                        </p:attrNameLst>
                                      </p:cBhvr>
                                      <p:tavLst>
                                        <p:tav tm="0">
                                          <p:val>
                                            <p:strVal val="#ppt_x"/>
                                          </p:val>
                                        </p:tav>
                                        <p:tav tm="100000">
                                          <p:val>
                                            <p:strVal val="#ppt_x"/>
                                          </p:val>
                                        </p:tav>
                                      </p:tavLst>
                                    </p:anim>
                                    <p:anim calcmode="lin" valueType="num">
                                      <p:cBhvr additive="base">
                                        <p:cTn id="61" dur="500" fill="hold"/>
                                        <p:tgtEl>
                                          <p:spTgt spid="24"/>
                                        </p:tgtEl>
                                        <p:attrNameLst>
                                          <p:attrName>ppt_y</p:attrName>
                                        </p:attrNameLst>
                                      </p:cBhvr>
                                      <p:tavLst>
                                        <p:tav tm="0">
                                          <p:val>
                                            <p:strVal val="#ppt_y+0.1"/>
                                          </p:val>
                                        </p:tav>
                                        <p:tav tm="100000">
                                          <p:val>
                                            <p:strVal val="#ppt_y"/>
                                          </p:val>
                                        </p:tav>
                                      </p:tavLst>
                                    </p:anim>
                                    <p:animEffect transition="in" filter="fade">
                                      <p:cBhvr>
                                        <p:cTn id="62" dur="500"/>
                                        <p:tgtEl>
                                          <p:spTgt spid="24"/>
                                        </p:tgtEl>
                                      </p:cBhvr>
                                    </p:animEffect>
                                  </p:childTnLst>
                                </p:cTn>
                              </p:par>
                              <p:par>
                                <p:cTn id="68" presetID="2" presetClass="entr" presetSubtype="4"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 calcmode="lin" valueType="num">
                                      <p:cBhvr additive="base">
                                        <p:cTn id="65" dur="500" fill="hold"/>
                                        <p:tgtEl>
                                          <p:spTgt spid="25"/>
                                        </p:tgtEl>
                                        <p:attrNameLst>
                                          <p:attrName>ppt_x</p:attrName>
                                        </p:attrNameLst>
                                      </p:cBhvr>
                                      <p:tavLst>
                                        <p:tav tm="0">
                                          <p:val>
                                            <p:strVal val="#ppt_x"/>
                                          </p:val>
                                        </p:tav>
                                        <p:tav tm="100000">
                                          <p:val>
                                            <p:strVal val="#ppt_x"/>
                                          </p:val>
                                        </p:tav>
                                      </p:tavLst>
                                    </p:anim>
                                    <p:anim calcmode="lin" valueType="num">
                                      <p:cBhvr additive="base">
                                        <p:cTn id="66" dur="500" fill="hold"/>
                                        <p:tgtEl>
                                          <p:spTgt spid="25"/>
                                        </p:tgtEl>
                                        <p:attrNameLst>
                                          <p:attrName>ppt_y</p:attrName>
                                        </p:attrNameLst>
                                      </p:cBhvr>
                                      <p:tavLst>
                                        <p:tav tm="0">
                                          <p:val>
                                            <p:strVal val="#ppt_y+0.1"/>
                                          </p:val>
                                        </p:tav>
                                        <p:tav tm="100000">
                                          <p:val>
                                            <p:strVal val="#ppt_y"/>
                                          </p:val>
                                        </p:tav>
                                      </p:tavLst>
                                    </p:anim>
                                    <p:animEffect transition="in" filter="fade">
                                      <p:cBhvr>
                                        <p:cTn id="67" dur="500"/>
                                        <p:tgtEl>
                                          <p:spTgt spid="25"/>
                                        </p:tgtEl>
                                      </p:cBhvr>
                                    </p:animEffect>
                                  </p:childTnLst>
                                </p:cTn>
                              </p:par>
                            </p:childTnLst>
                          </p:cTn>
                        </p:par>
                      </p:childTnLst>
                    </p:cTn>
                  </p:par>
                  <p:par>
                    <p:cTn id="69" fill="hold">
                      <p:stCondLst>
                        <p:cond delay="indefinite"/>
                      </p:stCondLst>
                      <p:childTnLst>
                        <p:par>
                          <p:cTn id="70" fill="hold">
                            <p:stCondLst>
                              <p:cond delay="0"/>
                            </p:stCondLst>
                            <p:childTnLst>
                              <p:par>
                                <p:cTn id="75" presetID="2" presetClass="entr" presetSubtype="4" fill="hold" grpId="0" nodeType="clickEffect">
                                  <p:stCondLst>
                                    <p:cond delay="0"/>
                                  </p:stCondLst>
                                  <p:childTnLst>
                                    <p:set>
                                      <p:cBhvr>
                                        <p:cTn id="71" dur="1" fill="hold">
                                          <p:stCondLst>
                                            <p:cond delay="0"/>
                                          </p:stCondLst>
                                        </p:cTn>
                                        <p:tgtEl>
                                          <p:spTgt spid="26"/>
                                        </p:tgtEl>
                                        <p:attrNameLst>
                                          <p:attrName>style.visibility</p:attrName>
                                        </p:attrNameLst>
                                      </p:cBhvr>
                                      <p:to>
                                        <p:strVal val="visible"/>
                                      </p:to>
                                    </p:set>
                                    <p:anim calcmode="lin" valueType="num">
                                      <p:cBhvr additive="base">
                                        <p:cTn id="72" dur="500" fill="hold"/>
                                        <p:tgtEl>
                                          <p:spTgt spid="26"/>
                                        </p:tgtEl>
                                        <p:attrNameLst>
                                          <p:attrName>ppt_x</p:attrName>
                                        </p:attrNameLst>
                                      </p:cBhvr>
                                      <p:tavLst>
                                        <p:tav tm="0">
                                          <p:val>
                                            <p:strVal val="#ppt_x"/>
                                          </p:val>
                                        </p:tav>
                                        <p:tav tm="100000">
                                          <p:val>
                                            <p:strVal val="#ppt_x"/>
                                          </p:val>
                                        </p:tav>
                                      </p:tavLst>
                                    </p:anim>
                                    <p:anim calcmode="lin" valueType="num">
                                      <p:cBhvr additive="base">
                                        <p:cTn id="73" dur="500" fill="hold"/>
                                        <p:tgtEl>
                                          <p:spTgt spid="26"/>
                                        </p:tgtEl>
                                        <p:attrNameLst>
                                          <p:attrName>ppt_y</p:attrName>
                                        </p:attrNameLst>
                                      </p:cBhvr>
                                      <p:tavLst>
                                        <p:tav tm="0">
                                          <p:val>
                                            <p:strVal val="#ppt_y+0.1"/>
                                          </p:val>
                                        </p:tav>
                                        <p:tav tm="100000">
                                          <p:val>
                                            <p:strVal val="#ppt_y"/>
                                          </p:val>
                                        </p:tav>
                                      </p:tavLst>
                                    </p:anim>
                                    <p:animEffect transition="in" filter="fade">
                                      <p:cBhvr>
                                        <p:cTn id="74" dur="500"/>
                                        <p:tgtEl>
                                          <p:spTgt spid="26"/>
                                        </p:tgtEl>
                                      </p:cBhvr>
                                    </p:animEffect>
                                  </p:childTnLst>
                                </p:cTn>
                              </p:par>
                              <p:par>
                                <p:cTn id="80" presetID="2" presetClass="entr" presetSubtype="4"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 calcmode="lin" valueType="num">
                                      <p:cBhvr additive="base">
                                        <p:cTn id="77" dur="500" fill="hold"/>
                                        <p:tgtEl>
                                          <p:spTgt spid="27"/>
                                        </p:tgtEl>
                                        <p:attrNameLst>
                                          <p:attrName>ppt_x</p:attrName>
                                        </p:attrNameLst>
                                      </p:cBhvr>
                                      <p:tavLst>
                                        <p:tav tm="0">
                                          <p:val>
                                            <p:strVal val="#ppt_x"/>
                                          </p:val>
                                        </p:tav>
                                        <p:tav tm="100000">
                                          <p:val>
                                            <p:strVal val="#ppt_x"/>
                                          </p:val>
                                        </p:tav>
                                      </p:tavLst>
                                    </p:anim>
                                    <p:anim calcmode="lin" valueType="num">
                                      <p:cBhvr additive="base">
                                        <p:cTn id="78" dur="500" fill="hold"/>
                                        <p:tgtEl>
                                          <p:spTgt spid="27"/>
                                        </p:tgtEl>
                                        <p:attrNameLst>
                                          <p:attrName>ppt_y</p:attrName>
                                        </p:attrNameLst>
                                      </p:cBhvr>
                                      <p:tavLst>
                                        <p:tav tm="0">
                                          <p:val>
                                            <p:strVal val="#ppt_y+0.1"/>
                                          </p:val>
                                        </p:tav>
                                        <p:tav tm="100000">
                                          <p:val>
                                            <p:strVal val="#ppt_y"/>
                                          </p:val>
                                        </p:tav>
                                      </p:tavLst>
                                    </p:anim>
                                    <p:animEffect transition="in" filter="fade">
                                      <p:cBhvr>
                                        <p:cTn id="79" dur="500"/>
                                        <p:tgtEl>
                                          <p:spTgt spid="27"/>
                                        </p:tgtEl>
                                      </p:cBhvr>
                                    </p:animEffect>
                                  </p:childTnLst>
                                </p:cTn>
                              </p:par>
                              <p:par>
                                <p:cTn id="85" presetID="2" presetClass="entr" presetSubtype="4"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 calcmode="lin" valueType="num">
                                      <p:cBhvr additive="base">
                                        <p:cTn id="82" dur="500" fill="hold"/>
                                        <p:tgtEl>
                                          <p:spTgt spid="28"/>
                                        </p:tgtEl>
                                        <p:attrNameLst>
                                          <p:attrName>ppt_x</p:attrName>
                                        </p:attrNameLst>
                                      </p:cBhvr>
                                      <p:tavLst>
                                        <p:tav tm="0">
                                          <p:val>
                                            <p:strVal val="#ppt_x"/>
                                          </p:val>
                                        </p:tav>
                                        <p:tav tm="100000">
                                          <p:val>
                                            <p:strVal val="#ppt_x"/>
                                          </p:val>
                                        </p:tav>
                                      </p:tavLst>
                                    </p:anim>
                                    <p:anim calcmode="lin" valueType="num">
                                      <p:cBhvr additive="base">
                                        <p:cTn id="83" dur="500" fill="hold"/>
                                        <p:tgtEl>
                                          <p:spTgt spid="28"/>
                                        </p:tgtEl>
                                        <p:attrNameLst>
                                          <p:attrName>ppt_y</p:attrName>
                                        </p:attrNameLst>
                                      </p:cBhvr>
                                      <p:tavLst>
                                        <p:tav tm="0">
                                          <p:val>
                                            <p:strVal val="#ppt_y+0.1"/>
                                          </p:val>
                                        </p:tav>
                                        <p:tav tm="100000">
                                          <p:val>
                                            <p:strVal val="#ppt_y"/>
                                          </p:val>
                                        </p:tav>
                                      </p:tavLst>
                                    </p:anim>
                                    <p:animEffect transition="in" filter="fade">
                                      <p:cBhvr>
                                        <p:cTn id="84" dur="500"/>
                                        <p:tgtEl>
                                          <p:spTgt spid="28"/>
                                        </p:tgtEl>
                                      </p:cBhvr>
                                    </p:animEffect>
                                  </p:childTnLst>
                                </p:cTn>
                              </p:par>
                              <p:par>
                                <p:cTn id="90" presetID="2" presetClass="entr" presetSubtype="4" fill="hold" grpId="0" nodeType="withEffect">
                                  <p:stCondLst>
                                    <p:cond delay="100"/>
                                  </p:stCondLst>
                                  <p:childTnLst>
                                    <p:set>
                                      <p:cBhvr>
                                        <p:cTn id="86" dur="1" fill="hold">
                                          <p:stCondLst>
                                            <p:cond delay="0"/>
                                          </p:stCondLst>
                                        </p:cTn>
                                        <p:tgtEl>
                                          <p:spTgt spid="29"/>
                                        </p:tgtEl>
                                        <p:attrNameLst>
                                          <p:attrName>style.visibility</p:attrName>
                                        </p:attrNameLst>
                                      </p:cBhvr>
                                      <p:to>
                                        <p:strVal val="visible"/>
                                      </p:to>
                                    </p:set>
                                    <p:anim calcmode="lin" valueType="num">
                                      <p:cBhvr additive="base">
                                        <p:cTn id="87" dur="500" fill="hold"/>
                                        <p:tgtEl>
                                          <p:spTgt spid="29"/>
                                        </p:tgtEl>
                                        <p:attrNameLst>
                                          <p:attrName>ppt_x</p:attrName>
                                        </p:attrNameLst>
                                      </p:cBhvr>
                                      <p:tavLst>
                                        <p:tav tm="0">
                                          <p:val>
                                            <p:strVal val="#ppt_x"/>
                                          </p:val>
                                        </p:tav>
                                        <p:tav tm="100000">
                                          <p:val>
                                            <p:strVal val="#ppt_x"/>
                                          </p:val>
                                        </p:tav>
                                      </p:tavLst>
                                    </p:anim>
                                    <p:anim calcmode="lin" valueType="num">
                                      <p:cBhvr additive="base">
                                        <p:cTn id="88" dur="500" fill="hold"/>
                                        <p:tgtEl>
                                          <p:spTgt spid="29"/>
                                        </p:tgtEl>
                                        <p:attrNameLst>
                                          <p:attrName>ppt_y</p:attrName>
                                        </p:attrNameLst>
                                      </p:cBhvr>
                                      <p:tavLst>
                                        <p:tav tm="0">
                                          <p:val>
                                            <p:strVal val="#ppt_y+0.1"/>
                                          </p:val>
                                        </p:tav>
                                        <p:tav tm="100000">
                                          <p:val>
                                            <p:strVal val="#ppt_y"/>
                                          </p:val>
                                        </p:tav>
                                      </p:tavLst>
                                    </p:anim>
                                    <p:animEffect transition="in" filter="fade">
                                      <p:cBhvr>
                                        <p:cTn id="89" dur="500"/>
                                        <p:tgtEl>
                                          <p:spTgt spid="29"/>
                                        </p:tgtEl>
                                      </p:cBhvr>
                                    </p:animEffect>
                                  </p:childTnLst>
                                </p:cTn>
                              </p:par>
                              <p:par>
                                <p:cTn id="95" presetID="2" presetClass="entr" presetSubtype="4" fill="hold" grpId="0" nodeType="withEffect">
                                  <p:stCondLst>
                                    <p:cond delay="100"/>
                                  </p:stCondLst>
                                  <p:childTnLst>
                                    <p:set>
                                      <p:cBhvr>
                                        <p:cTn id="91" dur="1" fill="hold">
                                          <p:stCondLst>
                                            <p:cond delay="0"/>
                                          </p:stCondLst>
                                        </p:cTn>
                                        <p:tgtEl>
                                          <p:spTgt spid="30"/>
                                        </p:tgtEl>
                                        <p:attrNameLst>
                                          <p:attrName>style.visibility</p:attrName>
                                        </p:attrNameLst>
                                      </p:cBhvr>
                                      <p:to>
                                        <p:strVal val="visible"/>
                                      </p:to>
                                    </p:set>
                                    <p:anim calcmode="lin" valueType="num">
                                      <p:cBhvr additive="base">
                                        <p:cTn id="92" dur="500" fill="hold"/>
                                        <p:tgtEl>
                                          <p:spTgt spid="30"/>
                                        </p:tgtEl>
                                        <p:attrNameLst>
                                          <p:attrName>ppt_x</p:attrName>
                                        </p:attrNameLst>
                                      </p:cBhvr>
                                      <p:tavLst>
                                        <p:tav tm="0">
                                          <p:val>
                                            <p:strVal val="#ppt_x"/>
                                          </p:val>
                                        </p:tav>
                                        <p:tav tm="100000">
                                          <p:val>
                                            <p:strVal val="#ppt_x"/>
                                          </p:val>
                                        </p:tav>
                                      </p:tavLst>
                                    </p:anim>
                                    <p:anim calcmode="lin" valueType="num">
                                      <p:cBhvr additive="base">
                                        <p:cTn id="93" dur="500" fill="hold"/>
                                        <p:tgtEl>
                                          <p:spTgt spid="30"/>
                                        </p:tgtEl>
                                        <p:attrNameLst>
                                          <p:attrName>ppt_y</p:attrName>
                                        </p:attrNameLst>
                                      </p:cBhvr>
                                      <p:tavLst>
                                        <p:tav tm="0">
                                          <p:val>
                                            <p:strVal val="#ppt_y+0.1"/>
                                          </p:val>
                                        </p:tav>
                                        <p:tav tm="100000">
                                          <p:val>
                                            <p:strVal val="#ppt_y"/>
                                          </p:val>
                                        </p:tav>
                                      </p:tavLst>
                                    </p:anim>
                                    <p:animEffect transition="in" filter="fade">
                                      <p:cBhvr>
                                        <p:cTn id="94" dur="500"/>
                                        <p:tgtEl>
                                          <p:spTgt spid="30"/>
                                        </p:tgtEl>
                                      </p:cBhvr>
                                    </p:animEffect>
                                  </p:childTnLst>
                                </p:cTn>
                              </p:par>
                              <p:par>
                                <p:cTn id="100" presetID="2" presetClass="entr" presetSubtype="4" fill="hold" grpId="0" nodeType="withEffect">
                                  <p:stCondLst>
                                    <p:cond delay="100"/>
                                  </p:stCondLst>
                                  <p:childTnLst>
                                    <p:set>
                                      <p:cBhvr>
                                        <p:cTn id="96" dur="1" fill="hold">
                                          <p:stCondLst>
                                            <p:cond delay="0"/>
                                          </p:stCondLst>
                                        </p:cTn>
                                        <p:tgtEl>
                                          <p:spTgt spid="31"/>
                                        </p:tgtEl>
                                        <p:attrNameLst>
                                          <p:attrName>style.visibility</p:attrName>
                                        </p:attrNameLst>
                                      </p:cBhvr>
                                      <p:to>
                                        <p:strVal val="visible"/>
                                      </p:to>
                                    </p:set>
                                    <p:anim calcmode="lin" valueType="num">
                                      <p:cBhvr additive="base">
                                        <p:cTn id="97" dur="500" fill="hold"/>
                                        <p:tgtEl>
                                          <p:spTgt spid="31"/>
                                        </p:tgtEl>
                                        <p:attrNameLst>
                                          <p:attrName>ppt_x</p:attrName>
                                        </p:attrNameLst>
                                      </p:cBhvr>
                                      <p:tavLst>
                                        <p:tav tm="0">
                                          <p:val>
                                            <p:strVal val="#ppt_x"/>
                                          </p:val>
                                        </p:tav>
                                        <p:tav tm="100000">
                                          <p:val>
                                            <p:strVal val="#ppt_x"/>
                                          </p:val>
                                        </p:tav>
                                      </p:tavLst>
                                    </p:anim>
                                    <p:anim calcmode="lin" valueType="num">
                                      <p:cBhvr additive="base">
                                        <p:cTn id="98" dur="500" fill="hold"/>
                                        <p:tgtEl>
                                          <p:spTgt spid="31"/>
                                        </p:tgtEl>
                                        <p:attrNameLst>
                                          <p:attrName>ppt_y</p:attrName>
                                        </p:attrNameLst>
                                      </p:cBhvr>
                                      <p:tavLst>
                                        <p:tav tm="0">
                                          <p:val>
                                            <p:strVal val="#ppt_y+0.1"/>
                                          </p:val>
                                        </p:tav>
                                        <p:tav tm="100000">
                                          <p:val>
                                            <p:strVal val="#ppt_y"/>
                                          </p:val>
                                        </p:tav>
                                      </p:tavLst>
                                    </p:anim>
                                    <p:animEffect transition="in" filter="fade">
                                      <p:cBhvr>
                                        <p:cTn id="99" dur="500"/>
                                        <p:tgtEl>
                                          <p:spTgt spid="31"/>
                                        </p:tgtEl>
                                      </p:cBhvr>
                                    </p:animEffect>
                                  </p:childTnLst>
                                </p:cTn>
                              </p:par>
                              <p:par>
                                <p:cTn id="105" presetID="2" presetClass="entr" presetSubtype="4" fill="hold" grpId="0" nodeType="withEffect">
                                  <p:stCondLst>
                                    <p:cond delay="200"/>
                                  </p:stCondLst>
                                  <p:childTnLst>
                                    <p:set>
                                      <p:cBhvr>
                                        <p:cTn id="101" dur="1" fill="hold">
                                          <p:stCondLst>
                                            <p:cond delay="0"/>
                                          </p:stCondLst>
                                        </p:cTn>
                                        <p:tgtEl>
                                          <p:spTgt spid="32"/>
                                        </p:tgtEl>
                                        <p:attrNameLst>
                                          <p:attrName>style.visibility</p:attrName>
                                        </p:attrNameLst>
                                      </p:cBhvr>
                                      <p:to>
                                        <p:strVal val="visible"/>
                                      </p:to>
                                    </p:set>
                                    <p:anim calcmode="lin" valueType="num">
                                      <p:cBhvr additive="base">
                                        <p:cTn id="102" dur="500" fill="hold"/>
                                        <p:tgtEl>
                                          <p:spTgt spid="32"/>
                                        </p:tgtEl>
                                        <p:attrNameLst>
                                          <p:attrName>ppt_x</p:attrName>
                                        </p:attrNameLst>
                                      </p:cBhvr>
                                      <p:tavLst>
                                        <p:tav tm="0">
                                          <p:val>
                                            <p:strVal val="#ppt_x"/>
                                          </p:val>
                                        </p:tav>
                                        <p:tav tm="100000">
                                          <p:val>
                                            <p:strVal val="#ppt_x"/>
                                          </p:val>
                                        </p:tav>
                                      </p:tavLst>
                                    </p:anim>
                                    <p:anim calcmode="lin" valueType="num">
                                      <p:cBhvr additive="base">
                                        <p:cTn id="103" dur="500" fill="hold"/>
                                        <p:tgtEl>
                                          <p:spTgt spid="32"/>
                                        </p:tgtEl>
                                        <p:attrNameLst>
                                          <p:attrName>ppt_y</p:attrName>
                                        </p:attrNameLst>
                                      </p:cBhvr>
                                      <p:tavLst>
                                        <p:tav tm="0">
                                          <p:val>
                                            <p:strVal val="#ppt_y+0.1"/>
                                          </p:val>
                                        </p:tav>
                                        <p:tav tm="100000">
                                          <p:val>
                                            <p:strVal val="#ppt_y"/>
                                          </p:val>
                                        </p:tav>
                                      </p:tavLst>
                                    </p:anim>
                                    <p:animEffect transition="in" filter="fade">
                                      <p:cBhvr>
                                        <p:cTn id="104" dur="500"/>
                                        <p:tgtEl>
                                          <p:spTgt spid="32"/>
                                        </p:tgtEl>
                                      </p:cBhvr>
                                    </p:animEffect>
                                  </p:childTnLst>
                                </p:cTn>
                              </p:par>
                              <p:par>
                                <p:cTn id="110" presetID="2" presetClass="entr" presetSubtype="4" fill="hold" grpId="0" nodeType="withEffect">
                                  <p:stCondLst>
                                    <p:cond delay="200"/>
                                  </p:stCondLst>
                                  <p:childTnLst>
                                    <p:set>
                                      <p:cBhvr>
                                        <p:cTn id="106" dur="1" fill="hold">
                                          <p:stCondLst>
                                            <p:cond delay="0"/>
                                          </p:stCondLst>
                                        </p:cTn>
                                        <p:tgtEl>
                                          <p:spTgt spid="33"/>
                                        </p:tgtEl>
                                        <p:attrNameLst>
                                          <p:attrName>style.visibility</p:attrName>
                                        </p:attrNameLst>
                                      </p:cBhvr>
                                      <p:to>
                                        <p:strVal val="visible"/>
                                      </p:to>
                                    </p:set>
                                    <p:anim calcmode="lin" valueType="num">
                                      <p:cBhvr additive="base">
                                        <p:cTn id="107" dur="500" fill="hold"/>
                                        <p:tgtEl>
                                          <p:spTgt spid="33"/>
                                        </p:tgtEl>
                                        <p:attrNameLst>
                                          <p:attrName>ppt_x</p:attrName>
                                        </p:attrNameLst>
                                      </p:cBhvr>
                                      <p:tavLst>
                                        <p:tav tm="0">
                                          <p:val>
                                            <p:strVal val="#ppt_x"/>
                                          </p:val>
                                        </p:tav>
                                        <p:tav tm="100000">
                                          <p:val>
                                            <p:strVal val="#ppt_x"/>
                                          </p:val>
                                        </p:tav>
                                      </p:tavLst>
                                    </p:anim>
                                    <p:anim calcmode="lin" valueType="num">
                                      <p:cBhvr additive="base">
                                        <p:cTn id="108" dur="500" fill="hold"/>
                                        <p:tgtEl>
                                          <p:spTgt spid="33"/>
                                        </p:tgtEl>
                                        <p:attrNameLst>
                                          <p:attrName>ppt_y</p:attrName>
                                        </p:attrNameLst>
                                      </p:cBhvr>
                                      <p:tavLst>
                                        <p:tav tm="0">
                                          <p:val>
                                            <p:strVal val="#ppt_y+0.1"/>
                                          </p:val>
                                        </p:tav>
                                        <p:tav tm="100000">
                                          <p:val>
                                            <p:strVal val="#ppt_y"/>
                                          </p:val>
                                        </p:tav>
                                      </p:tavLst>
                                    </p:anim>
                                    <p:animEffect transition="in" filter="fade">
                                      <p:cBhvr>
                                        <p:cTn id="109" dur="500"/>
                                        <p:tgtEl>
                                          <p:spTgt spid="33"/>
                                        </p:tgtEl>
                                      </p:cBhvr>
                                    </p:animEffect>
                                  </p:childTnLst>
                                </p:cTn>
                              </p:par>
                              <p:par>
                                <p:cTn id="115" presetID="2" presetClass="entr" presetSubtype="4" fill="hold" grpId="0" nodeType="withEffect">
                                  <p:stCondLst>
                                    <p:cond delay="200"/>
                                  </p:stCondLst>
                                  <p:childTnLst>
                                    <p:set>
                                      <p:cBhvr>
                                        <p:cTn id="111" dur="1" fill="hold">
                                          <p:stCondLst>
                                            <p:cond delay="0"/>
                                          </p:stCondLst>
                                        </p:cTn>
                                        <p:tgtEl>
                                          <p:spTgt spid="34"/>
                                        </p:tgtEl>
                                        <p:attrNameLst>
                                          <p:attrName>style.visibility</p:attrName>
                                        </p:attrNameLst>
                                      </p:cBhvr>
                                      <p:to>
                                        <p:strVal val="visible"/>
                                      </p:to>
                                    </p:set>
                                    <p:anim calcmode="lin" valueType="num">
                                      <p:cBhvr additive="base">
                                        <p:cTn id="112" dur="500" fill="hold"/>
                                        <p:tgtEl>
                                          <p:spTgt spid="34"/>
                                        </p:tgtEl>
                                        <p:attrNameLst>
                                          <p:attrName>ppt_x</p:attrName>
                                        </p:attrNameLst>
                                      </p:cBhvr>
                                      <p:tavLst>
                                        <p:tav tm="0">
                                          <p:val>
                                            <p:strVal val="#ppt_x"/>
                                          </p:val>
                                        </p:tav>
                                        <p:tav tm="100000">
                                          <p:val>
                                            <p:strVal val="#ppt_x"/>
                                          </p:val>
                                        </p:tav>
                                      </p:tavLst>
                                    </p:anim>
                                    <p:anim calcmode="lin" valueType="num">
                                      <p:cBhvr additive="base">
                                        <p:cTn id="113" dur="500" fill="hold"/>
                                        <p:tgtEl>
                                          <p:spTgt spid="34"/>
                                        </p:tgtEl>
                                        <p:attrNameLst>
                                          <p:attrName>ppt_y</p:attrName>
                                        </p:attrNameLst>
                                      </p:cBhvr>
                                      <p:tavLst>
                                        <p:tav tm="0">
                                          <p:val>
                                            <p:strVal val="#ppt_y+0.1"/>
                                          </p:val>
                                        </p:tav>
                                        <p:tav tm="100000">
                                          <p:val>
                                            <p:strVal val="#ppt_y"/>
                                          </p:val>
                                        </p:tav>
                                      </p:tavLst>
                                    </p:anim>
                                    <p:animEffect transition="in" filter="fade">
                                      <p:cBhvr>
                                        <p:cTn id="114" dur="500"/>
                                        <p:tgtEl>
                                          <p:spTgt spid="34"/>
                                        </p:tgtEl>
                                      </p:cBhvr>
                                    </p:animEffect>
                                  </p:childTnLst>
                                </p:cTn>
                              </p:par>
                            </p:childTnLst>
                          </p:cTn>
                        </p:par>
                      </p:childTnLst>
                    </p:cTn>
                  </p:par>
                  <p:par>
                    <p:cTn id="116" fill="hold">
                      <p:stCondLst>
                        <p:cond delay="indefinite"/>
                      </p:stCondLst>
                      <p:childTnLst>
                        <p:par>
                          <p:cTn id="117" fill="hold">
                            <p:stCondLst>
                              <p:cond delay="0"/>
                            </p:stCondLst>
                            <p:childTnLst>
                              <p:par>
                                <p:cTn id="122" presetID="2" presetClass="entr" presetSubtype="4" fill="hold" grpId="0" nodeType="clickEffect">
                                  <p:stCondLst>
                                    <p:cond delay="0"/>
                                  </p:stCondLst>
                                  <p:childTnLst>
                                    <p:set>
                                      <p:cBhvr>
                                        <p:cTn id="118" dur="1" fill="hold">
                                          <p:stCondLst>
                                            <p:cond delay="0"/>
                                          </p:stCondLst>
                                        </p:cTn>
                                        <p:tgtEl>
                                          <p:spTgt spid="35"/>
                                        </p:tgtEl>
                                        <p:attrNameLst>
                                          <p:attrName>style.visibility</p:attrName>
                                        </p:attrNameLst>
                                      </p:cBhvr>
                                      <p:to>
                                        <p:strVal val="visible"/>
                                      </p:to>
                                    </p:set>
                                    <p:anim calcmode="lin" valueType="num">
                                      <p:cBhvr additive="base">
                                        <p:cTn id="119" dur="500" fill="hold"/>
                                        <p:tgtEl>
                                          <p:spTgt spid="35"/>
                                        </p:tgtEl>
                                        <p:attrNameLst>
                                          <p:attrName>ppt_x</p:attrName>
                                        </p:attrNameLst>
                                      </p:cBhvr>
                                      <p:tavLst>
                                        <p:tav tm="0">
                                          <p:val>
                                            <p:strVal val="#ppt_x"/>
                                          </p:val>
                                        </p:tav>
                                        <p:tav tm="100000">
                                          <p:val>
                                            <p:strVal val="#ppt_x"/>
                                          </p:val>
                                        </p:tav>
                                      </p:tavLst>
                                    </p:anim>
                                    <p:anim calcmode="lin" valueType="num">
                                      <p:cBhvr additive="base">
                                        <p:cTn id="120" dur="500" fill="hold"/>
                                        <p:tgtEl>
                                          <p:spTgt spid="35"/>
                                        </p:tgtEl>
                                        <p:attrNameLst>
                                          <p:attrName>ppt_y</p:attrName>
                                        </p:attrNameLst>
                                      </p:cBhvr>
                                      <p:tavLst>
                                        <p:tav tm="0">
                                          <p:val>
                                            <p:strVal val="#ppt_y+0.1"/>
                                          </p:val>
                                        </p:tav>
                                        <p:tav tm="100000">
                                          <p:val>
                                            <p:strVal val="#ppt_y"/>
                                          </p:val>
                                        </p:tav>
                                      </p:tavLst>
                                    </p:anim>
                                    <p:animEffect transition="in" filter="fade">
                                      <p:cBhvr>
                                        <p:cTn id="121" dur="500"/>
                                        <p:tgtEl>
                                          <p:spTgt spid="35"/>
                                        </p:tgtEl>
                                      </p:cBhvr>
                                    </p:animEffect>
                                  </p:childTnLst>
                                </p:cTn>
                              </p:par>
                              <p:par>
                                <p:cTn id="127" presetID="2" presetClass="entr" presetSubtype="4" fill="hold" grpId="0" nodeType="withEffect">
                                  <p:stCondLst>
                                    <p:cond delay="0"/>
                                  </p:stCondLst>
                                  <p:childTnLst>
                                    <p:set>
                                      <p:cBhvr>
                                        <p:cTn id="123" dur="1" fill="hold">
                                          <p:stCondLst>
                                            <p:cond delay="0"/>
                                          </p:stCondLst>
                                        </p:cTn>
                                        <p:tgtEl>
                                          <p:spTgt spid="36"/>
                                        </p:tgtEl>
                                        <p:attrNameLst>
                                          <p:attrName>style.visibility</p:attrName>
                                        </p:attrNameLst>
                                      </p:cBhvr>
                                      <p:to>
                                        <p:strVal val="visible"/>
                                      </p:to>
                                    </p:set>
                                    <p:anim calcmode="lin" valueType="num">
                                      <p:cBhvr additive="base">
                                        <p:cTn id="124" dur="500" fill="hold"/>
                                        <p:tgtEl>
                                          <p:spTgt spid="36"/>
                                        </p:tgtEl>
                                        <p:attrNameLst>
                                          <p:attrName>ppt_x</p:attrName>
                                        </p:attrNameLst>
                                      </p:cBhvr>
                                      <p:tavLst>
                                        <p:tav tm="0">
                                          <p:val>
                                            <p:strVal val="#ppt_x"/>
                                          </p:val>
                                        </p:tav>
                                        <p:tav tm="100000">
                                          <p:val>
                                            <p:strVal val="#ppt_x"/>
                                          </p:val>
                                        </p:tav>
                                      </p:tavLst>
                                    </p:anim>
                                    <p:anim calcmode="lin" valueType="num">
                                      <p:cBhvr additive="base">
                                        <p:cTn id="125" dur="500" fill="hold"/>
                                        <p:tgtEl>
                                          <p:spTgt spid="36"/>
                                        </p:tgtEl>
                                        <p:attrNameLst>
                                          <p:attrName>ppt_y</p:attrName>
                                        </p:attrNameLst>
                                      </p:cBhvr>
                                      <p:tavLst>
                                        <p:tav tm="0">
                                          <p:val>
                                            <p:strVal val="#ppt_y+0.1"/>
                                          </p:val>
                                        </p:tav>
                                        <p:tav tm="100000">
                                          <p:val>
                                            <p:strVal val="#ppt_y"/>
                                          </p:val>
                                        </p:tav>
                                      </p:tavLst>
                                    </p:anim>
                                    <p:animEffect transition="in" filter="fade">
                                      <p:cBhvr>
                                        <p:cTn id="126" dur="500"/>
                                        <p:tgtEl>
                                          <p:spTgt spid="36"/>
                                        </p:tgtEl>
                                      </p:cBhvr>
                                    </p:animEffect>
                                  </p:childTnLst>
                                </p:cTn>
                              </p:par>
                              <p:par>
                                <p:cTn id="132" presetID="2" presetClass="entr" presetSubtype="4" fill="hold" grpId="0" nodeType="withEffect">
                                  <p:stCondLst>
                                    <p:cond delay="0"/>
                                  </p:stCondLst>
                                  <p:childTnLst>
                                    <p:set>
                                      <p:cBhvr>
                                        <p:cTn id="128" dur="1" fill="hold">
                                          <p:stCondLst>
                                            <p:cond delay="0"/>
                                          </p:stCondLst>
                                        </p:cTn>
                                        <p:tgtEl>
                                          <p:spTgt spid="37"/>
                                        </p:tgtEl>
                                        <p:attrNameLst>
                                          <p:attrName>style.visibility</p:attrName>
                                        </p:attrNameLst>
                                      </p:cBhvr>
                                      <p:to>
                                        <p:strVal val="visible"/>
                                      </p:to>
                                    </p:set>
                                    <p:anim calcmode="lin" valueType="num">
                                      <p:cBhvr additive="base">
                                        <p:cTn id="129" dur="500" fill="hold"/>
                                        <p:tgtEl>
                                          <p:spTgt spid="37"/>
                                        </p:tgtEl>
                                        <p:attrNameLst>
                                          <p:attrName>ppt_x</p:attrName>
                                        </p:attrNameLst>
                                      </p:cBhvr>
                                      <p:tavLst>
                                        <p:tav tm="0">
                                          <p:val>
                                            <p:strVal val="#ppt_x"/>
                                          </p:val>
                                        </p:tav>
                                        <p:tav tm="100000">
                                          <p:val>
                                            <p:strVal val="#ppt_x"/>
                                          </p:val>
                                        </p:tav>
                                      </p:tavLst>
                                    </p:anim>
                                    <p:anim calcmode="lin" valueType="num">
                                      <p:cBhvr additive="base">
                                        <p:cTn id="130" dur="500" fill="hold"/>
                                        <p:tgtEl>
                                          <p:spTgt spid="37"/>
                                        </p:tgtEl>
                                        <p:attrNameLst>
                                          <p:attrName>ppt_y</p:attrName>
                                        </p:attrNameLst>
                                      </p:cBhvr>
                                      <p:tavLst>
                                        <p:tav tm="0">
                                          <p:val>
                                            <p:strVal val="#ppt_y+0.1"/>
                                          </p:val>
                                        </p:tav>
                                        <p:tav tm="100000">
                                          <p:val>
                                            <p:strVal val="#ppt_y"/>
                                          </p:val>
                                        </p:tav>
                                      </p:tavLst>
                                    </p:anim>
                                    <p:animEffect transition="in" filter="fade">
                                      <p:cBhvr>
                                        <p:cTn id="131" dur="500"/>
                                        <p:tgtEl>
                                          <p:spTgt spid="37"/>
                                        </p:tgtEl>
                                      </p:cBhvr>
                                    </p:animEffect>
                                  </p:childTnLst>
                                </p:cTn>
                              </p:par>
                            </p:childTnLst>
                          </p:cTn>
                        </p:par>
                      </p:childTnLst>
                    </p:cTn>
                  </p:par>
                  <p:par>
                    <p:cTn id="133" fill="hold">
                      <p:stCondLst>
                        <p:cond delay="indefinite"/>
                      </p:stCondLst>
                      <p:childTnLst>
                        <p:par>
                          <p:cTn id="134" fill="hold">
                            <p:stCondLst>
                              <p:cond delay="0"/>
                            </p:stCondLst>
                            <p:childTnLst>
                              <p:par>
                                <p:cTn id="139" presetID="2" presetClass="entr" presetSubtype="4" fill="hold" grpId="0" nodeType="clickEffect">
                                  <p:stCondLst>
                                    <p:cond delay="0"/>
                                  </p:stCondLst>
                                  <p:childTnLst>
                                    <p:set>
                                      <p:cBhvr>
                                        <p:cTn id="135" dur="1" fill="hold">
                                          <p:stCondLst>
                                            <p:cond delay="0"/>
                                          </p:stCondLst>
                                        </p:cTn>
                                        <p:tgtEl>
                                          <p:spTgt spid="38"/>
                                        </p:tgtEl>
                                        <p:attrNameLst>
                                          <p:attrName>style.visibility</p:attrName>
                                        </p:attrNameLst>
                                      </p:cBhvr>
                                      <p:to>
                                        <p:strVal val="visible"/>
                                      </p:to>
                                    </p:set>
                                    <p:anim calcmode="lin" valueType="num">
                                      <p:cBhvr additive="base">
                                        <p:cTn id="136" dur="500" fill="hold"/>
                                        <p:tgtEl>
                                          <p:spTgt spid="38"/>
                                        </p:tgtEl>
                                        <p:attrNameLst>
                                          <p:attrName>ppt_x</p:attrName>
                                        </p:attrNameLst>
                                      </p:cBhvr>
                                      <p:tavLst>
                                        <p:tav tm="0">
                                          <p:val>
                                            <p:strVal val="#ppt_x"/>
                                          </p:val>
                                        </p:tav>
                                        <p:tav tm="100000">
                                          <p:val>
                                            <p:strVal val="#ppt_x"/>
                                          </p:val>
                                        </p:tav>
                                      </p:tavLst>
                                    </p:anim>
                                    <p:anim calcmode="lin" valueType="num">
                                      <p:cBhvr additive="base">
                                        <p:cTn id="137" dur="500" fill="hold"/>
                                        <p:tgtEl>
                                          <p:spTgt spid="38"/>
                                        </p:tgtEl>
                                        <p:attrNameLst>
                                          <p:attrName>ppt_y</p:attrName>
                                        </p:attrNameLst>
                                      </p:cBhvr>
                                      <p:tavLst>
                                        <p:tav tm="0">
                                          <p:val>
                                            <p:strVal val="#ppt_y+0.1"/>
                                          </p:val>
                                        </p:tav>
                                        <p:tav tm="100000">
                                          <p:val>
                                            <p:strVal val="#ppt_y"/>
                                          </p:val>
                                        </p:tav>
                                      </p:tavLst>
                                    </p:anim>
                                    <p:animEffect transition="in" filter="fade">
                                      <p:cBhvr>
                                        <p:cTn id="138" dur="500"/>
                                        <p:tgtEl>
                                          <p:spTgt spid="38"/>
                                        </p:tgtEl>
                                      </p:cBhvr>
                                    </p:animEffect>
                                  </p:childTnLst>
                                </p:cTn>
                              </p:par>
                              <p:par>
                                <p:cTn id="144" presetID="2" presetClass="entr" presetSubtype="4" fill="hold" grpId="0" nodeType="withEffect">
                                  <p:stCondLst>
                                    <p:cond delay="0"/>
                                  </p:stCondLst>
                                  <p:childTnLst>
                                    <p:set>
                                      <p:cBhvr>
                                        <p:cTn id="140" dur="1" fill="hold">
                                          <p:stCondLst>
                                            <p:cond delay="0"/>
                                          </p:stCondLst>
                                        </p:cTn>
                                        <p:tgtEl>
                                          <p:spTgt spid="39"/>
                                        </p:tgtEl>
                                        <p:attrNameLst>
                                          <p:attrName>style.visibility</p:attrName>
                                        </p:attrNameLst>
                                      </p:cBhvr>
                                      <p:to>
                                        <p:strVal val="visible"/>
                                      </p:to>
                                    </p:set>
                                    <p:anim calcmode="lin" valueType="num">
                                      <p:cBhvr additive="base">
                                        <p:cTn id="141" dur="500" fill="hold"/>
                                        <p:tgtEl>
                                          <p:spTgt spid="39"/>
                                        </p:tgtEl>
                                        <p:attrNameLst>
                                          <p:attrName>ppt_x</p:attrName>
                                        </p:attrNameLst>
                                      </p:cBhvr>
                                      <p:tavLst>
                                        <p:tav tm="0">
                                          <p:val>
                                            <p:strVal val="#ppt_x"/>
                                          </p:val>
                                        </p:tav>
                                        <p:tav tm="100000">
                                          <p:val>
                                            <p:strVal val="#ppt_x"/>
                                          </p:val>
                                        </p:tav>
                                      </p:tavLst>
                                    </p:anim>
                                    <p:anim calcmode="lin" valueType="num">
                                      <p:cBhvr additive="base">
                                        <p:cTn id="142" dur="500" fill="hold"/>
                                        <p:tgtEl>
                                          <p:spTgt spid="39"/>
                                        </p:tgtEl>
                                        <p:attrNameLst>
                                          <p:attrName>ppt_y</p:attrName>
                                        </p:attrNameLst>
                                      </p:cBhvr>
                                      <p:tavLst>
                                        <p:tav tm="0">
                                          <p:val>
                                            <p:strVal val="#ppt_y+0.1"/>
                                          </p:val>
                                        </p:tav>
                                        <p:tav tm="100000">
                                          <p:val>
                                            <p:strVal val="#ppt_y"/>
                                          </p:val>
                                        </p:tav>
                                      </p:tavLst>
                                    </p:anim>
                                    <p:animEffect transition="in" filter="fade">
                                      <p:cBhvr>
                                        <p:cTn id="143" dur="500"/>
                                        <p:tgtEl>
                                          <p:spTgt spid="39"/>
                                        </p:tgtEl>
                                      </p:cBhvr>
                                    </p:animEffect>
                                  </p:childTnLst>
                                </p:cTn>
                              </p:par>
                              <p:par>
                                <p:cTn id="149" presetID="2" presetClass="entr" presetSubtype="4" fill="hold" grpId="0" nodeType="withEffect">
                                  <p:stCondLst>
                                    <p:cond delay="0"/>
                                  </p:stCondLst>
                                  <p:childTnLst>
                                    <p:set>
                                      <p:cBhvr>
                                        <p:cTn id="145" dur="1" fill="hold">
                                          <p:stCondLst>
                                            <p:cond delay="0"/>
                                          </p:stCondLst>
                                        </p:cTn>
                                        <p:tgtEl>
                                          <p:spTgt spid="40"/>
                                        </p:tgtEl>
                                        <p:attrNameLst>
                                          <p:attrName>style.visibility</p:attrName>
                                        </p:attrNameLst>
                                      </p:cBhvr>
                                      <p:to>
                                        <p:strVal val="visible"/>
                                      </p:to>
                                    </p:set>
                                    <p:anim calcmode="lin" valueType="num">
                                      <p:cBhvr additive="base">
                                        <p:cTn id="146" dur="500" fill="hold"/>
                                        <p:tgtEl>
                                          <p:spTgt spid="40"/>
                                        </p:tgtEl>
                                        <p:attrNameLst>
                                          <p:attrName>ppt_x</p:attrName>
                                        </p:attrNameLst>
                                      </p:cBhvr>
                                      <p:tavLst>
                                        <p:tav tm="0">
                                          <p:val>
                                            <p:strVal val="#ppt_x"/>
                                          </p:val>
                                        </p:tav>
                                        <p:tav tm="100000">
                                          <p:val>
                                            <p:strVal val="#ppt_x"/>
                                          </p:val>
                                        </p:tav>
                                      </p:tavLst>
                                    </p:anim>
                                    <p:anim calcmode="lin" valueType="num">
                                      <p:cBhvr additive="base">
                                        <p:cTn id="147" dur="500" fill="hold"/>
                                        <p:tgtEl>
                                          <p:spTgt spid="40"/>
                                        </p:tgtEl>
                                        <p:attrNameLst>
                                          <p:attrName>ppt_y</p:attrName>
                                        </p:attrNameLst>
                                      </p:cBhvr>
                                      <p:tavLst>
                                        <p:tav tm="0">
                                          <p:val>
                                            <p:strVal val="#ppt_y+0.1"/>
                                          </p:val>
                                        </p:tav>
                                        <p:tav tm="100000">
                                          <p:val>
                                            <p:strVal val="#ppt_y"/>
                                          </p:val>
                                        </p:tav>
                                      </p:tavLst>
                                    </p:anim>
                                    <p:animEffect transition="in" filter="fade">
                                      <p:cBhvr>
                                        <p:cTn id="14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k8"/>
          <p:cNvSpPr/>
          <p:nvPr/>
        </p:nvSpPr>
        <p:spPr>
          <a:xfrm>
            <a:off x="457200" y="155448"/>
            <a:ext cx="1591055" cy="22860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spc="60">
                <a:solidFill>
                  <a:srgbClr val="C2410C"/>
                </a:solidFill>
                <a:latin typeface="Segoe UI"/>
              </a:rPr>
              <a:t>2010s  ·  N TIER</a:t>
            </a:r>
          </a:p>
        </p:txBody>
      </p:sp>
      <p:sp>
        <p:nvSpPr>
          <p:cNvPr id="10" name="h9"/>
          <p:cNvSpPr txBox="1"/>
          <p:nvPr/>
        </p:nvSpPr>
        <p:spPr>
          <a:xfrm>
            <a:off x="457200" y="420624"/>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Cloud and Microservices</a:t>
            </a:r>
          </a:p>
        </p:txBody>
      </p:sp>
      <p:sp>
        <p:nvSpPr>
          <p:cNvPr id="11" name="sub10"/>
          <p:cNvSpPr txBox="1"/>
          <p:nvPr/>
        </p:nvSpPr>
        <p:spPr>
          <a:xfrm>
            <a:off x="457200" y="932688"/>
            <a:ext cx="8229600" cy="292608"/>
          </a:xfrm>
          <a:prstGeom prst="rect">
            <a:avLst/>
          </a:prstGeom>
          <a:noFill/>
        </p:spPr>
        <p:txBody>
          <a:bodyPr wrap="square" lIns="0" tIns="0" rIns="0" bIns="0" anchor="ctr">
            <a:spAutoFit/>
          </a:bodyPr>
          <a:lstStyle/>
          <a:p>
            <a:pPr algn="l"/>
            <a:r>
              <a:rPr sz="1150" b="0">
                <a:solidFill>
                  <a:srgbClr val="78716C"/>
                </a:solidFill>
                <a:latin typeface="Segoe UI"/>
              </a:rPr>
              <a:t>The business layer splits into many small services - each with its own data</a:t>
            </a:r>
          </a:p>
        </p:txBody>
      </p:sp>
      <p:sp>
        <p:nvSpPr>
          <p:cNvPr id="12" name="a1u_nd11"/>
          <p:cNvSpPr/>
          <p:nvPr/>
        </p:nvSpPr>
        <p:spPr>
          <a:xfrm>
            <a:off x="457200" y="1920240"/>
            <a:ext cx="1188720" cy="640080"/>
          </a:xfrm>
          <a:prstGeom prst="roundRect">
            <a:avLst>
              <a:gd name="adj" fmla="val 11428"/>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ndt12"/>
          <p:cNvSpPr txBox="1"/>
          <p:nvPr/>
        </p:nvSpPr>
        <p:spPr>
          <a:xfrm>
            <a:off x="502920" y="1920240"/>
            <a:ext cx="1097280" cy="640080"/>
          </a:xfrm>
          <a:prstGeom prst="rect">
            <a:avLst/>
          </a:prstGeom>
          <a:noFill/>
        </p:spPr>
        <p:txBody>
          <a:bodyPr wrap="square" lIns="0" tIns="0" rIns="0" bIns="0" anchor="ctr">
            <a:spAutoFit/>
          </a:bodyPr>
          <a:lstStyle/>
          <a:p>
            <a:pPr algn="ctr"/>
            <a:r>
              <a:rPr sz="1000" b="1">
                <a:solidFill>
                  <a:srgbClr val="1C1917"/>
                </a:solidFill>
                <a:latin typeface="Segoe UI"/>
              </a:rPr>
              <a:t>Browser</a:t>
            </a:r>
          </a:p>
        </p:txBody>
      </p:sp>
      <p:sp>
        <p:nvSpPr>
          <p:cNvPr id="14" name="a1ud100_nd13"/>
          <p:cNvSpPr/>
          <p:nvPr/>
        </p:nvSpPr>
        <p:spPr>
          <a:xfrm>
            <a:off x="1965960" y="1920240"/>
            <a:ext cx="1280160" cy="640080"/>
          </a:xfrm>
          <a:prstGeom prst="roundRect">
            <a:avLst>
              <a:gd name="adj" fmla="val 11428"/>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100_ndt14"/>
          <p:cNvSpPr txBox="1"/>
          <p:nvPr/>
        </p:nvSpPr>
        <p:spPr>
          <a:xfrm>
            <a:off x="2011679" y="1920240"/>
            <a:ext cx="1188719" cy="640080"/>
          </a:xfrm>
          <a:prstGeom prst="rect">
            <a:avLst/>
          </a:prstGeom>
          <a:noFill/>
        </p:spPr>
        <p:txBody>
          <a:bodyPr wrap="square" lIns="0" tIns="0" rIns="0" bIns="0" anchor="ctr">
            <a:spAutoFit/>
          </a:bodyPr>
          <a:lstStyle/>
          <a:p>
            <a:pPr algn="ctr"/>
            <a:r>
              <a:rPr sz="1000" b="1">
                <a:solidFill>
                  <a:srgbClr val="1C1917"/>
                </a:solidFill>
                <a:latin typeface="Segoe UI"/>
              </a:rPr>
              <a:t>Web layer</a:t>
            </a:r>
          </a:p>
        </p:txBody>
      </p:sp>
      <p:cxnSp>
        <p:nvCxnSpPr>
          <p:cNvPr id="16" name="a1ud100_ar15"/>
          <p:cNvCxnSpPr/>
          <p:nvPr/>
        </p:nvCxnSpPr>
        <p:spPr>
          <a:xfrm>
            <a:off x="1673352" y="2240280"/>
            <a:ext cx="265176"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a2u_nd16"/>
          <p:cNvSpPr/>
          <p:nvPr/>
        </p:nvSpPr>
        <p:spPr>
          <a:xfrm>
            <a:off x="3611880" y="1234440"/>
            <a:ext cx="1874519" cy="438912"/>
          </a:xfrm>
          <a:prstGeom prst="roundRect">
            <a:avLst>
              <a:gd name="adj" fmla="val 16666"/>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2u_ndt17"/>
          <p:cNvSpPr txBox="1"/>
          <p:nvPr/>
        </p:nvSpPr>
        <p:spPr>
          <a:xfrm>
            <a:off x="3657600" y="1234440"/>
            <a:ext cx="1783079" cy="438912"/>
          </a:xfrm>
          <a:prstGeom prst="rect">
            <a:avLst/>
          </a:prstGeom>
          <a:noFill/>
        </p:spPr>
        <p:txBody>
          <a:bodyPr wrap="square" lIns="0" tIns="0" rIns="0" bIns="0" anchor="ctr">
            <a:spAutoFit/>
          </a:bodyPr>
          <a:lstStyle/>
          <a:p>
            <a:pPr algn="ctr"/>
            <a:r>
              <a:rPr sz="900" b="1">
                <a:solidFill>
                  <a:srgbClr val="1C1917"/>
                </a:solidFill>
                <a:latin typeface="Segoe UI"/>
              </a:rPr>
              <a:t>Order service</a:t>
            </a:r>
          </a:p>
        </p:txBody>
      </p:sp>
      <p:cxnSp>
        <p:nvCxnSpPr>
          <p:cNvPr id="19" name="a2u_ar18"/>
          <p:cNvCxnSpPr/>
          <p:nvPr/>
        </p:nvCxnSpPr>
        <p:spPr>
          <a:xfrm flipV="1">
            <a:off x="3273552" y="1453896"/>
            <a:ext cx="310896" cy="786384"/>
          </a:xfrm>
          <a:prstGeom prst="line">
            <a:avLst/>
          </a:prstGeom>
          <a:ln w="1270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a3u_nd19"/>
          <p:cNvSpPr/>
          <p:nvPr/>
        </p:nvSpPr>
        <p:spPr>
          <a:xfrm>
            <a:off x="5852160" y="1234440"/>
            <a:ext cx="1234440" cy="438912"/>
          </a:xfrm>
          <a:prstGeom prst="roundRect">
            <a:avLst>
              <a:gd name="adj" fmla="val 16666"/>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3u_ndt20"/>
          <p:cNvSpPr txBox="1"/>
          <p:nvPr/>
        </p:nvSpPr>
        <p:spPr>
          <a:xfrm>
            <a:off x="5897880" y="1234440"/>
            <a:ext cx="1143000" cy="438912"/>
          </a:xfrm>
          <a:prstGeom prst="rect">
            <a:avLst/>
          </a:prstGeom>
          <a:noFill/>
        </p:spPr>
        <p:txBody>
          <a:bodyPr wrap="square" lIns="0" tIns="0" rIns="0" bIns="0" anchor="ctr">
            <a:spAutoFit/>
          </a:bodyPr>
          <a:lstStyle/>
          <a:p>
            <a:pPr algn="ctr"/>
            <a:r>
              <a:rPr sz="850" b="1">
                <a:solidFill>
                  <a:srgbClr val="1C1917"/>
                </a:solidFill>
                <a:latin typeface="Segoe UI"/>
              </a:rPr>
              <a:t>Orders DB</a:t>
            </a:r>
          </a:p>
        </p:txBody>
      </p:sp>
      <p:cxnSp>
        <p:nvCxnSpPr>
          <p:cNvPr id="22" name="a3u_ar21"/>
          <p:cNvCxnSpPr/>
          <p:nvPr/>
        </p:nvCxnSpPr>
        <p:spPr>
          <a:xfrm>
            <a:off x="5513832" y="1453896"/>
            <a:ext cx="310896" cy="0"/>
          </a:xfrm>
          <a:prstGeom prst="line">
            <a:avLst/>
          </a:prstGeom>
          <a:ln w="1270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a2ud120_nd22"/>
          <p:cNvSpPr/>
          <p:nvPr/>
        </p:nvSpPr>
        <p:spPr>
          <a:xfrm>
            <a:off x="3611880" y="1801368"/>
            <a:ext cx="1874519" cy="438912"/>
          </a:xfrm>
          <a:prstGeom prst="roundRect">
            <a:avLst>
              <a:gd name="adj" fmla="val 16666"/>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d120_ndt23"/>
          <p:cNvSpPr txBox="1"/>
          <p:nvPr/>
        </p:nvSpPr>
        <p:spPr>
          <a:xfrm>
            <a:off x="3657600" y="1801368"/>
            <a:ext cx="1783079" cy="438912"/>
          </a:xfrm>
          <a:prstGeom prst="rect">
            <a:avLst/>
          </a:prstGeom>
          <a:noFill/>
        </p:spPr>
        <p:txBody>
          <a:bodyPr wrap="square" lIns="0" tIns="0" rIns="0" bIns="0" anchor="ctr">
            <a:spAutoFit/>
          </a:bodyPr>
          <a:lstStyle/>
          <a:p>
            <a:pPr algn="ctr"/>
            <a:r>
              <a:rPr sz="900" b="1">
                <a:solidFill>
                  <a:srgbClr val="1C1917"/>
                </a:solidFill>
                <a:latin typeface="Segoe UI"/>
              </a:rPr>
              <a:t>Payment service</a:t>
            </a:r>
          </a:p>
        </p:txBody>
      </p:sp>
      <p:cxnSp>
        <p:nvCxnSpPr>
          <p:cNvPr id="25" name="a2ud120_ar24"/>
          <p:cNvCxnSpPr/>
          <p:nvPr/>
        </p:nvCxnSpPr>
        <p:spPr>
          <a:xfrm flipV="1">
            <a:off x="3273552" y="2020824"/>
            <a:ext cx="310896" cy="219456"/>
          </a:xfrm>
          <a:prstGeom prst="line">
            <a:avLst/>
          </a:prstGeom>
          <a:ln w="1270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a3ud120_nd25"/>
          <p:cNvSpPr/>
          <p:nvPr/>
        </p:nvSpPr>
        <p:spPr>
          <a:xfrm>
            <a:off x="5852160" y="1801368"/>
            <a:ext cx="1234440" cy="438912"/>
          </a:xfrm>
          <a:prstGeom prst="roundRect">
            <a:avLst>
              <a:gd name="adj" fmla="val 16666"/>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3ud120_ndt26"/>
          <p:cNvSpPr txBox="1"/>
          <p:nvPr/>
        </p:nvSpPr>
        <p:spPr>
          <a:xfrm>
            <a:off x="5897880" y="1801368"/>
            <a:ext cx="1143000" cy="438912"/>
          </a:xfrm>
          <a:prstGeom prst="rect">
            <a:avLst/>
          </a:prstGeom>
          <a:noFill/>
        </p:spPr>
        <p:txBody>
          <a:bodyPr wrap="square" lIns="0" tIns="0" rIns="0" bIns="0" anchor="ctr">
            <a:spAutoFit/>
          </a:bodyPr>
          <a:lstStyle/>
          <a:p>
            <a:pPr algn="ctr"/>
            <a:r>
              <a:rPr sz="850" b="1">
                <a:solidFill>
                  <a:srgbClr val="1C1917"/>
                </a:solidFill>
                <a:latin typeface="Segoe UI"/>
              </a:rPr>
              <a:t>Payments DB</a:t>
            </a:r>
          </a:p>
        </p:txBody>
      </p:sp>
      <p:cxnSp>
        <p:nvCxnSpPr>
          <p:cNvPr id="28" name="a3ud120_ar27"/>
          <p:cNvCxnSpPr/>
          <p:nvPr/>
        </p:nvCxnSpPr>
        <p:spPr>
          <a:xfrm>
            <a:off x="5513832" y="2020824"/>
            <a:ext cx="310896" cy="0"/>
          </a:xfrm>
          <a:prstGeom prst="line">
            <a:avLst/>
          </a:prstGeom>
          <a:ln w="1270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a2ud240_nd28"/>
          <p:cNvSpPr/>
          <p:nvPr/>
        </p:nvSpPr>
        <p:spPr>
          <a:xfrm>
            <a:off x="3611880" y="2368296"/>
            <a:ext cx="1874519" cy="438912"/>
          </a:xfrm>
          <a:prstGeom prst="roundRect">
            <a:avLst>
              <a:gd name="adj" fmla="val 16666"/>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ud240_ndt29"/>
          <p:cNvSpPr txBox="1"/>
          <p:nvPr/>
        </p:nvSpPr>
        <p:spPr>
          <a:xfrm>
            <a:off x="3657600" y="2368296"/>
            <a:ext cx="1783079" cy="438912"/>
          </a:xfrm>
          <a:prstGeom prst="rect">
            <a:avLst/>
          </a:prstGeom>
          <a:noFill/>
        </p:spPr>
        <p:txBody>
          <a:bodyPr wrap="square" lIns="0" tIns="0" rIns="0" bIns="0" anchor="ctr">
            <a:spAutoFit/>
          </a:bodyPr>
          <a:lstStyle/>
          <a:p>
            <a:pPr algn="ctr"/>
            <a:r>
              <a:rPr sz="900" b="1">
                <a:solidFill>
                  <a:srgbClr val="1C1917"/>
                </a:solidFill>
                <a:latin typeface="Segoe UI"/>
              </a:rPr>
              <a:t>Inventory service</a:t>
            </a:r>
          </a:p>
        </p:txBody>
      </p:sp>
      <p:cxnSp>
        <p:nvCxnSpPr>
          <p:cNvPr id="31" name="a2ud240_ar30"/>
          <p:cNvCxnSpPr/>
          <p:nvPr/>
        </p:nvCxnSpPr>
        <p:spPr>
          <a:xfrm>
            <a:off x="3273552" y="2240280"/>
            <a:ext cx="310896" cy="347472"/>
          </a:xfrm>
          <a:prstGeom prst="line">
            <a:avLst/>
          </a:prstGeom>
          <a:ln w="1270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a3ud240_nd31"/>
          <p:cNvSpPr/>
          <p:nvPr/>
        </p:nvSpPr>
        <p:spPr>
          <a:xfrm>
            <a:off x="5852160" y="2368296"/>
            <a:ext cx="1234440" cy="438912"/>
          </a:xfrm>
          <a:prstGeom prst="roundRect">
            <a:avLst>
              <a:gd name="adj" fmla="val 16666"/>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3ud240_ndt32"/>
          <p:cNvSpPr txBox="1"/>
          <p:nvPr/>
        </p:nvSpPr>
        <p:spPr>
          <a:xfrm>
            <a:off x="5897880" y="2368296"/>
            <a:ext cx="1143000" cy="438912"/>
          </a:xfrm>
          <a:prstGeom prst="rect">
            <a:avLst/>
          </a:prstGeom>
          <a:noFill/>
        </p:spPr>
        <p:txBody>
          <a:bodyPr wrap="square" lIns="0" tIns="0" rIns="0" bIns="0" anchor="ctr">
            <a:spAutoFit/>
          </a:bodyPr>
          <a:lstStyle/>
          <a:p>
            <a:pPr algn="ctr"/>
            <a:r>
              <a:rPr sz="850" b="1">
                <a:solidFill>
                  <a:srgbClr val="1C1917"/>
                </a:solidFill>
                <a:latin typeface="Segoe UI"/>
              </a:rPr>
              <a:t>Stock DB</a:t>
            </a:r>
          </a:p>
        </p:txBody>
      </p:sp>
      <p:cxnSp>
        <p:nvCxnSpPr>
          <p:cNvPr id="34" name="a3ud240_ar33"/>
          <p:cNvCxnSpPr/>
          <p:nvPr/>
        </p:nvCxnSpPr>
        <p:spPr>
          <a:xfrm>
            <a:off x="5513832" y="2587752"/>
            <a:ext cx="310896" cy="0"/>
          </a:xfrm>
          <a:prstGeom prst="line">
            <a:avLst/>
          </a:prstGeom>
          <a:ln w="1270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a2ud360_nd34"/>
          <p:cNvSpPr/>
          <p:nvPr/>
        </p:nvSpPr>
        <p:spPr>
          <a:xfrm>
            <a:off x="3611880" y="2935224"/>
            <a:ext cx="1874519" cy="438912"/>
          </a:xfrm>
          <a:prstGeom prst="roundRect">
            <a:avLst>
              <a:gd name="adj" fmla="val 16666"/>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2ud360_ndt35"/>
          <p:cNvSpPr txBox="1"/>
          <p:nvPr/>
        </p:nvSpPr>
        <p:spPr>
          <a:xfrm>
            <a:off x="3657600" y="2935224"/>
            <a:ext cx="1783079" cy="438912"/>
          </a:xfrm>
          <a:prstGeom prst="rect">
            <a:avLst/>
          </a:prstGeom>
          <a:noFill/>
        </p:spPr>
        <p:txBody>
          <a:bodyPr wrap="square" lIns="0" tIns="0" rIns="0" bIns="0" anchor="ctr">
            <a:spAutoFit/>
          </a:bodyPr>
          <a:lstStyle/>
          <a:p>
            <a:pPr algn="ctr"/>
            <a:r>
              <a:rPr sz="900" b="1">
                <a:solidFill>
                  <a:srgbClr val="1C1917"/>
                </a:solidFill>
                <a:latin typeface="Segoe UI"/>
              </a:rPr>
              <a:t>Notification service</a:t>
            </a:r>
          </a:p>
        </p:txBody>
      </p:sp>
      <p:cxnSp>
        <p:nvCxnSpPr>
          <p:cNvPr id="37" name="a2ud360_ar36"/>
          <p:cNvCxnSpPr/>
          <p:nvPr/>
        </p:nvCxnSpPr>
        <p:spPr>
          <a:xfrm>
            <a:off x="3273552" y="2240280"/>
            <a:ext cx="310896" cy="914400"/>
          </a:xfrm>
          <a:prstGeom prst="line">
            <a:avLst/>
          </a:prstGeom>
          <a:ln w="1270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a3ud360_nd37"/>
          <p:cNvSpPr/>
          <p:nvPr/>
        </p:nvSpPr>
        <p:spPr>
          <a:xfrm>
            <a:off x="5852160" y="2935224"/>
            <a:ext cx="1234440" cy="438912"/>
          </a:xfrm>
          <a:prstGeom prst="roundRect">
            <a:avLst>
              <a:gd name="adj" fmla="val 16666"/>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3ud360_ndt38"/>
          <p:cNvSpPr txBox="1"/>
          <p:nvPr/>
        </p:nvSpPr>
        <p:spPr>
          <a:xfrm>
            <a:off x="5897880" y="2935224"/>
            <a:ext cx="1143000" cy="438912"/>
          </a:xfrm>
          <a:prstGeom prst="rect">
            <a:avLst/>
          </a:prstGeom>
          <a:noFill/>
        </p:spPr>
        <p:txBody>
          <a:bodyPr wrap="square" lIns="0" tIns="0" rIns="0" bIns="0" anchor="ctr">
            <a:spAutoFit/>
          </a:bodyPr>
          <a:lstStyle/>
          <a:p>
            <a:pPr algn="ctr"/>
            <a:r>
              <a:rPr sz="850" b="1">
                <a:solidFill>
                  <a:srgbClr val="1C1917"/>
                </a:solidFill>
                <a:latin typeface="Segoe UI"/>
              </a:rPr>
              <a:t>Mail / SMS</a:t>
            </a:r>
          </a:p>
        </p:txBody>
      </p:sp>
      <p:cxnSp>
        <p:nvCxnSpPr>
          <p:cNvPr id="40" name="a3ud360_ar39"/>
          <p:cNvCxnSpPr/>
          <p:nvPr/>
        </p:nvCxnSpPr>
        <p:spPr>
          <a:xfrm>
            <a:off x="5513832" y="3154680"/>
            <a:ext cx="310896" cy="0"/>
          </a:xfrm>
          <a:prstGeom prst="line">
            <a:avLst/>
          </a:prstGeom>
          <a:ln w="1270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a4u_pill40"/>
          <p:cNvSpPr/>
          <p:nvPr/>
        </p:nvSpPr>
        <p:spPr>
          <a:xfrm>
            <a:off x="7178040" y="1298448"/>
            <a:ext cx="1508760" cy="329184"/>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2006  AWS cloud</a:t>
            </a:r>
          </a:p>
        </p:txBody>
      </p:sp>
      <p:sp>
        <p:nvSpPr>
          <p:cNvPr id="42" name="a4ud100_pill41"/>
          <p:cNvSpPr/>
          <p:nvPr/>
        </p:nvSpPr>
        <p:spPr>
          <a:xfrm>
            <a:off x="7178040" y="1865376"/>
            <a:ext cx="1508760" cy="329184"/>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2013  Docker</a:t>
            </a:r>
          </a:p>
        </p:txBody>
      </p:sp>
      <p:sp>
        <p:nvSpPr>
          <p:cNvPr id="43" name="a4ud200_pill42"/>
          <p:cNvSpPr/>
          <p:nvPr/>
        </p:nvSpPr>
        <p:spPr>
          <a:xfrm>
            <a:off x="7178040" y="2432304"/>
            <a:ext cx="1508760" cy="329184"/>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2014  Kubernetes</a:t>
            </a:r>
          </a:p>
        </p:txBody>
      </p:sp>
      <p:sp>
        <p:nvSpPr>
          <p:cNvPr id="44" name="a4ud300_pill43"/>
          <p:cNvSpPr/>
          <p:nvPr/>
        </p:nvSpPr>
        <p:spPr>
          <a:xfrm>
            <a:off x="7178040" y="2999232"/>
            <a:ext cx="1508760" cy="329184"/>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2014  microservices</a:t>
            </a:r>
          </a:p>
        </p:txBody>
      </p:sp>
      <p:sp>
        <p:nvSpPr>
          <p:cNvPr id="45" name="a5u_nb44"/>
          <p:cNvSpPr/>
          <p:nvPr/>
        </p:nvSpPr>
        <p:spPr>
          <a:xfrm>
            <a:off x="457200" y="3657600"/>
            <a:ext cx="8229600" cy="685800"/>
          </a:xfrm>
          <a:prstGeom prst="roundRect">
            <a:avLst>
              <a:gd name="adj" fmla="val 10666"/>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5u_nacc45"/>
          <p:cNvSpPr/>
          <p:nvPr/>
        </p:nvSpPr>
        <p:spPr>
          <a:xfrm>
            <a:off x="457200" y="3657600"/>
            <a:ext cx="54864" cy="68580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5u_nt46"/>
          <p:cNvSpPr txBox="1"/>
          <p:nvPr/>
        </p:nvSpPr>
        <p:spPr>
          <a:xfrm>
            <a:off x="658368" y="3657600"/>
            <a:ext cx="7827264" cy="685800"/>
          </a:xfrm>
          <a:prstGeom prst="rect">
            <a:avLst/>
          </a:prstGeom>
          <a:noFill/>
        </p:spPr>
        <p:txBody>
          <a:bodyPr wrap="square" lIns="0" tIns="0" rIns="0" bIns="0" anchor="ctr">
            <a:spAutoFit/>
          </a:bodyPr>
          <a:lstStyle/>
          <a:p>
            <a:pPr algn="l"/>
            <a:r>
              <a:rPr sz="950" b="1">
                <a:solidFill>
                  <a:srgbClr val="A16207"/>
                </a:solidFill>
                <a:latin typeface="Segoe UI"/>
              </a:rPr>
              <a:t>KEY  </a:t>
            </a:r>
            <a:r>
              <a:rPr sz="950" b="0">
                <a:solidFill>
                  <a:srgbClr val="44403C"/>
                </a:solidFill>
                <a:latin typeface="Segoe UI"/>
              </a:rPr>
              <a:t>Every service owns its own database. The data a business needs is now scattered across dozens of services - and every one of them needs data from the others.</a:t>
            </a:r>
          </a:p>
        </p:txBody>
      </p:sp>
      <p:sp>
        <p:nvSpPr>
          <p:cNvPr id="48" name="ft4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14</a:t>
            </a:r>
          </a:p>
        </p:txBody>
      </p:sp>
      <p:sp>
        <p:nvSpPr>
          <p:cNvPr id="49" name="ft4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ft4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51" name="ft5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 calcmode="lin" valueType="num">
                                      <p:cBhvr additive="base">
                                        <p:cTn id="6" dur="500" fill="hold"/>
                                        <p:tgtEl>
                                          <p:spTgt spid="12"/>
                                        </p:tgtEl>
                                        <p:attrNameLst>
                                          <p:attrName>ppt_x</p:attrName>
                                        </p:attrNameLst>
                                      </p:cBhvr>
                                      <p:tavLst>
                                        <p:tav tm="0">
                                          <p:val>
                                            <p:strVal val="#ppt_x"/>
                                          </p:val>
                                        </p:tav>
                                        <p:tav tm="100000">
                                          <p:val>
                                            <p:strVal val="#ppt_x"/>
                                          </p:val>
                                        </p:tav>
                                      </p:tavLst>
                                    </p:anim>
                                    <p:anim calcmode="lin" valueType="num">
                                      <p:cBhvr additive="base">
                                        <p:cTn id="7" dur="500" fill="hold"/>
                                        <p:tgtEl>
                                          <p:spTgt spid="12"/>
                                        </p:tgtEl>
                                        <p:attrNameLst>
                                          <p:attrName>ppt_y</p:attrName>
                                        </p:attrNameLst>
                                      </p:cBhvr>
                                      <p:tavLst>
                                        <p:tav tm="0">
                                          <p:val>
                                            <p:strVal val="#ppt_y+0.1"/>
                                          </p:val>
                                        </p:tav>
                                        <p:tav tm="100000">
                                          <p:val>
                                            <p:strVal val="#ppt_y"/>
                                          </p:val>
                                        </p:tav>
                                      </p:tavLst>
                                    </p:anim>
                                    <p:animEffect transition="in" filter="fade">
                                      <p:cBhvr>
                                        <p:cTn id="8" dur="500"/>
                                        <p:tgtEl>
                                          <p:spTgt spid="12"/>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ppt_y+0.1"/>
                                          </p:val>
                                        </p:tav>
                                        <p:tav tm="100000">
                                          <p:val>
                                            <p:strVal val="#ppt_y"/>
                                          </p:val>
                                        </p:tav>
                                      </p:tavLst>
                                    </p:anim>
                                    <p:animEffect transition="in" filter="fade">
                                      <p:cBhvr>
                                        <p:cTn id="13" dur="500"/>
                                        <p:tgtEl>
                                          <p:spTgt spid="13"/>
                                        </p:tgtEl>
                                      </p:cBhvr>
                                    </p:animEffect>
                                  </p:childTnLst>
                                </p:cTn>
                              </p:par>
                              <p:par>
                                <p:cTn id="19" presetID="2" presetClass="entr" presetSubtype="4" fill="hold" grpId="0" nodeType="withEffect">
                                  <p:stCondLst>
                                    <p:cond delay="10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ppt_y+0.1"/>
                                          </p:val>
                                        </p:tav>
                                        <p:tav tm="100000">
                                          <p:val>
                                            <p:strVal val="#ppt_y"/>
                                          </p:val>
                                        </p:tav>
                                      </p:tavLst>
                                    </p:anim>
                                    <p:animEffect transition="in" filter="fade">
                                      <p:cBhvr>
                                        <p:cTn id="18" dur="500"/>
                                        <p:tgtEl>
                                          <p:spTgt spid="14"/>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ppt_y+0.1"/>
                                          </p:val>
                                        </p:tav>
                                        <p:tav tm="100000">
                                          <p:val>
                                            <p:strVal val="#ppt_y"/>
                                          </p:val>
                                        </p:tav>
                                      </p:tavLst>
                                    </p:anim>
                                    <p:animEffect transition="in" filter="fade">
                                      <p:cBhvr>
                                        <p:cTn id="28"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6" presetID="2" presetClass="entr" presetSubtype="4"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ppt_x"/>
                                          </p:val>
                                        </p:tav>
                                        <p:tav tm="100000">
                                          <p:val>
                                            <p:strVal val="#ppt_x"/>
                                          </p:val>
                                        </p:tav>
                                      </p:tavLst>
                                    </p:anim>
                                    <p:anim calcmode="lin" valueType="num">
                                      <p:cBhvr additive="base">
                                        <p:cTn id="34" dur="500" fill="hold"/>
                                        <p:tgtEl>
                                          <p:spTgt spid="17"/>
                                        </p:tgtEl>
                                        <p:attrNameLst>
                                          <p:attrName>ppt_y</p:attrName>
                                        </p:attrNameLst>
                                      </p:cBhvr>
                                      <p:tavLst>
                                        <p:tav tm="0">
                                          <p:val>
                                            <p:strVal val="#ppt_y+0.1"/>
                                          </p:val>
                                        </p:tav>
                                        <p:tav tm="100000">
                                          <p:val>
                                            <p:strVal val="#ppt_y"/>
                                          </p:val>
                                        </p:tav>
                                      </p:tavLst>
                                    </p:anim>
                                    <p:animEffect transition="in" filter="fade">
                                      <p:cBhvr>
                                        <p:cTn id="35" dur="500"/>
                                        <p:tgtEl>
                                          <p:spTgt spid="17"/>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 calcmode="lin" valueType="num">
                                      <p:cBhvr additive="base">
                                        <p:cTn id="38" dur="500" fill="hold"/>
                                        <p:tgtEl>
                                          <p:spTgt spid="18"/>
                                        </p:tgtEl>
                                        <p:attrNameLst>
                                          <p:attrName>ppt_x</p:attrName>
                                        </p:attrNameLst>
                                      </p:cBhvr>
                                      <p:tavLst>
                                        <p:tav tm="0">
                                          <p:val>
                                            <p:strVal val="#ppt_x"/>
                                          </p:val>
                                        </p:tav>
                                        <p:tav tm="100000">
                                          <p:val>
                                            <p:strVal val="#ppt_x"/>
                                          </p:val>
                                        </p:tav>
                                      </p:tavLst>
                                    </p:anim>
                                    <p:anim calcmode="lin" valueType="num">
                                      <p:cBhvr additive="base">
                                        <p:cTn id="39" dur="500" fill="hold"/>
                                        <p:tgtEl>
                                          <p:spTgt spid="18"/>
                                        </p:tgtEl>
                                        <p:attrNameLst>
                                          <p:attrName>ppt_y</p:attrName>
                                        </p:attrNameLst>
                                      </p:cBhvr>
                                      <p:tavLst>
                                        <p:tav tm="0">
                                          <p:val>
                                            <p:strVal val="#ppt_y+0.1"/>
                                          </p:val>
                                        </p:tav>
                                        <p:tav tm="100000">
                                          <p:val>
                                            <p:strVal val="#ppt_y"/>
                                          </p:val>
                                        </p:tav>
                                      </p:tavLst>
                                    </p:anim>
                                    <p:animEffect transition="in" filter="fade">
                                      <p:cBhvr>
                                        <p:cTn id="40" dur="500"/>
                                        <p:tgtEl>
                                          <p:spTgt spid="18"/>
                                        </p:tgtEl>
                                      </p:cBhvr>
                                    </p:animEffect>
                                  </p:childTnLst>
                                </p:cTn>
                              </p:par>
                              <p:par>
                                <p:cTn id="46" presetID="2" presetClass="entr" presetSubtype="4"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ppt_y+0.1"/>
                                          </p:val>
                                        </p:tav>
                                        <p:tav tm="100000">
                                          <p:val>
                                            <p:strVal val="#ppt_y"/>
                                          </p:val>
                                        </p:tav>
                                      </p:tavLst>
                                    </p:anim>
                                    <p:animEffect transition="in" filter="fade">
                                      <p:cBhvr>
                                        <p:cTn id="45" dur="500"/>
                                        <p:tgtEl>
                                          <p:spTgt spid="19"/>
                                        </p:tgtEl>
                                      </p:cBhvr>
                                    </p:animEffect>
                                  </p:childTnLst>
                                </p:cTn>
                              </p:par>
                              <p:par>
                                <p:cTn id="51" presetID="2" presetClass="entr" presetSubtype="4" fill="hold" grpId="0" nodeType="withEffect">
                                  <p:stCondLst>
                                    <p:cond delay="120"/>
                                  </p:stCondLst>
                                  <p:childTnLst>
                                    <p:set>
                                      <p:cBhvr>
                                        <p:cTn id="47" dur="1" fill="hold">
                                          <p:stCondLst>
                                            <p:cond delay="0"/>
                                          </p:stCondLst>
                                        </p:cTn>
                                        <p:tgtEl>
                                          <p:spTgt spid="23"/>
                                        </p:tgtEl>
                                        <p:attrNameLst>
                                          <p:attrName>style.visibility</p:attrName>
                                        </p:attrNameLst>
                                      </p:cBhvr>
                                      <p:to>
                                        <p:strVal val="visible"/>
                                      </p:to>
                                    </p:set>
                                    <p:anim calcmode="lin" valueType="num">
                                      <p:cBhvr additive="base">
                                        <p:cTn id="48" dur="500" fill="hold"/>
                                        <p:tgtEl>
                                          <p:spTgt spid="23"/>
                                        </p:tgtEl>
                                        <p:attrNameLst>
                                          <p:attrName>ppt_x</p:attrName>
                                        </p:attrNameLst>
                                      </p:cBhvr>
                                      <p:tavLst>
                                        <p:tav tm="0">
                                          <p:val>
                                            <p:strVal val="#ppt_x"/>
                                          </p:val>
                                        </p:tav>
                                        <p:tav tm="100000">
                                          <p:val>
                                            <p:strVal val="#ppt_x"/>
                                          </p:val>
                                        </p:tav>
                                      </p:tavLst>
                                    </p:anim>
                                    <p:anim calcmode="lin" valueType="num">
                                      <p:cBhvr additive="base">
                                        <p:cTn id="49" dur="500" fill="hold"/>
                                        <p:tgtEl>
                                          <p:spTgt spid="23"/>
                                        </p:tgtEl>
                                        <p:attrNameLst>
                                          <p:attrName>ppt_y</p:attrName>
                                        </p:attrNameLst>
                                      </p:cBhvr>
                                      <p:tavLst>
                                        <p:tav tm="0">
                                          <p:val>
                                            <p:strVal val="#ppt_y+0.1"/>
                                          </p:val>
                                        </p:tav>
                                        <p:tav tm="100000">
                                          <p:val>
                                            <p:strVal val="#ppt_y"/>
                                          </p:val>
                                        </p:tav>
                                      </p:tavLst>
                                    </p:anim>
                                    <p:animEffect transition="in" filter="fade">
                                      <p:cBhvr>
                                        <p:cTn id="50" dur="500"/>
                                        <p:tgtEl>
                                          <p:spTgt spid="23"/>
                                        </p:tgtEl>
                                      </p:cBhvr>
                                    </p:animEffect>
                                  </p:childTnLst>
                                </p:cTn>
                              </p:par>
                              <p:par>
                                <p:cTn id="56" presetID="2" presetClass="entr" presetSubtype="4" fill="hold" grpId="0" nodeType="withEffect">
                                  <p:stCondLst>
                                    <p:cond delay="120"/>
                                  </p:stCondLst>
                                  <p:childTnLst>
                                    <p:set>
                                      <p:cBhvr>
                                        <p:cTn id="52" dur="1" fill="hold">
                                          <p:stCondLst>
                                            <p:cond delay="0"/>
                                          </p:stCondLst>
                                        </p:cTn>
                                        <p:tgtEl>
                                          <p:spTgt spid="24"/>
                                        </p:tgtEl>
                                        <p:attrNameLst>
                                          <p:attrName>style.visibility</p:attrName>
                                        </p:attrNameLst>
                                      </p:cBhvr>
                                      <p:to>
                                        <p:strVal val="visible"/>
                                      </p:to>
                                    </p:set>
                                    <p:anim calcmode="lin" valueType="num">
                                      <p:cBhvr additive="base">
                                        <p:cTn id="53" dur="500" fill="hold"/>
                                        <p:tgtEl>
                                          <p:spTgt spid="24"/>
                                        </p:tgtEl>
                                        <p:attrNameLst>
                                          <p:attrName>ppt_x</p:attrName>
                                        </p:attrNameLst>
                                      </p:cBhvr>
                                      <p:tavLst>
                                        <p:tav tm="0">
                                          <p:val>
                                            <p:strVal val="#ppt_x"/>
                                          </p:val>
                                        </p:tav>
                                        <p:tav tm="100000">
                                          <p:val>
                                            <p:strVal val="#ppt_x"/>
                                          </p:val>
                                        </p:tav>
                                      </p:tavLst>
                                    </p:anim>
                                    <p:anim calcmode="lin" valueType="num">
                                      <p:cBhvr additive="base">
                                        <p:cTn id="54" dur="500" fill="hold"/>
                                        <p:tgtEl>
                                          <p:spTgt spid="24"/>
                                        </p:tgtEl>
                                        <p:attrNameLst>
                                          <p:attrName>ppt_y</p:attrName>
                                        </p:attrNameLst>
                                      </p:cBhvr>
                                      <p:tavLst>
                                        <p:tav tm="0">
                                          <p:val>
                                            <p:strVal val="#ppt_y+0.1"/>
                                          </p:val>
                                        </p:tav>
                                        <p:tav tm="100000">
                                          <p:val>
                                            <p:strVal val="#ppt_y"/>
                                          </p:val>
                                        </p:tav>
                                      </p:tavLst>
                                    </p:anim>
                                    <p:animEffect transition="in" filter="fade">
                                      <p:cBhvr>
                                        <p:cTn id="55" dur="500"/>
                                        <p:tgtEl>
                                          <p:spTgt spid="24"/>
                                        </p:tgtEl>
                                      </p:cBhvr>
                                    </p:animEffect>
                                  </p:childTnLst>
                                </p:cTn>
                              </p:par>
                              <p:par>
                                <p:cTn id="61" presetID="2" presetClass="entr" presetSubtype="4" fill="hold" grpId="0" nodeType="withEffect">
                                  <p:stCondLst>
                                    <p:cond delay="120"/>
                                  </p:stCondLst>
                                  <p:childTnLst>
                                    <p:set>
                                      <p:cBhvr>
                                        <p:cTn id="57" dur="1" fill="hold">
                                          <p:stCondLst>
                                            <p:cond delay="0"/>
                                          </p:stCondLst>
                                        </p:cTn>
                                        <p:tgtEl>
                                          <p:spTgt spid="25"/>
                                        </p:tgtEl>
                                        <p:attrNameLst>
                                          <p:attrName>style.visibility</p:attrName>
                                        </p:attrNameLst>
                                      </p:cBhvr>
                                      <p:to>
                                        <p:strVal val="visible"/>
                                      </p:to>
                                    </p:set>
                                    <p:anim calcmode="lin" valueType="num">
                                      <p:cBhvr additive="base">
                                        <p:cTn id="58" dur="500" fill="hold"/>
                                        <p:tgtEl>
                                          <p:spTgt spid="25"/>
                                        </p:tgtEl>
                                        <p:attrNameLst>
                                          <p:attrName>ppt_x</p:attrName>
                                        </p:attrNameLst>
                                      </p:cBhvr>
                                      <p:tavLst>
                                        <p:tav tm="0">
                                          <p:val>
                                            <p:strVal val="#ppt_x"/>
                                          </p:val>
                                        </p:tav>
                                        <p:tav tm="100000">
                                          <p:val>
                                            <p:strVal val="#ppt_x"/>
                                          </p:val>
                                        </p:tav>
                                      </p:tavLst>
                                    </p:anim>
                                    <p:anim calcmode="lin" valueType="num">
                                      <p:cBhvr additive="base">
                                        <p:cTn id="59" dur="500" fill="hold"/>
                                        <p:tgtEl>
                                          <p:spTgt spid="25"/>
                                        </p:tgtEl>
                                        <p:attrNameLst>
                                          <p:attrName>ppt_y</p:attrName>
                                        </p:attrNameLst>
                                      </p:cBhvr>
                                      <p:tavLst>
                                        <p:tav tm="0">
                                          <p:val>
                                            <p:strVal val="#ppt_y+0.1"/>
                                          </p:val>
                                        </p:tav>
                                        <p:tav tm="100000">
                                          <p:val>
                                            <p:strVal val="#ppt_y"/>
                                          </p:val>
                                        </p:tav>
                                      </p:tavLst>
                                    </p:anim>
                                    <p:animEffect transition="in" filter="fade">
                                      <p:cBhvr>
                                        <p:cTn id="60" dur="500"/>
                                        <p:tgtEl>
                                          <p:spTgt spid="25"/>
                                        </p:tgtEl>
                                      </p:cBhvr>
                                    </p:animEffect>
                                  </p:childTnLst>
                                </p:cTn>
                              </p:par>
                              <p:par>
                                <p:cTn id="66" presetID="2" presetClass="entr" presetSubtype="4" fill="hold" grpId="0" nodeType="withEffect">
                                  <p:stCondLst>
                                    <p:cond delay="240"/>
                                  </p:stCondLst>
                                  <p:childTnLst>
                                    <p:set>
                                      <p:cBhvr>
                                        <p:cTn id="62" dur="1" fill="hold">
                                          <p:stCondLst>
                                            <p:cond delay="0"/>
                                          </p:stCondLst>
                                        </p:cTn>
                                        <p:tgtEl>
                                          <p:spTgt spid="29"/>
                                        </p:tgtEl>
                                        <p:attrNameLst>
                                          <p:attrName>style.visibility</p:attrName>
                                        </p:attrNameLst>
                                      </p:cBhvr>
                                      <p:to>
                                        <p:strVal val="visible"/>
                                      </p:to>
                                    </p:set>
                                    <p:anim calcmode="lin" valueType="num">
                                      <p:cBhvr additive="base">
                                        <p:cTn id="63" dur="500" fill="hold"/>
                                        <p:tgtEl>
                                          <p:spTgt spid="29"/>
                                        </p:tgtEl>
                                        <p:attrNameLst>
                                          <p:attrName>ppt_x</p:attrName>
                                        </p:attrNameLst>
                                      </p:cBhvr>
                                      <p:tavLst>
                                        <p:tav tm="0">
                                          <p:val>
                                            <p:strVal val="#ppt_x"/>
                                          </p:val>
                                        </p:tav>
                                        <p:tav tm="100000">
                                          <p:val>
                                            <p:strVal val="#ppt_x"/>
                                          </p:val>
                                        </p:tav>
                                      </p:tavLst>
                                    </p:anim>
                                    <p:anim calcmode="lin" valueType="num">
                                      <p:cBhvr additive="base">
                                        <p:cTn id="64" dur="500" fill="hold"/>
                                        <p:tgtEl>
                                          <p:spTgt spid="29"/>
                                        </p:tgtEl>
                                        <p:attrNameLst>
                                          <p:attrName>ppt_y</p:attrName>
                                        </p:attrNameLst>
                                      </p:cBhvr>
                                      <p:tavLst>
                                        <p:tav tm="0">
                                          <p:val>
                                            <p:strVal val="#ppt_y+0.1"/>
                                          </p:val>
                                        </p:tav>
                                        <p:tav tm="100000">
                                          <p:val>
                                            <p:strVal val="#ppt_y"/>
                                          </p:val>
                                        </p:tav>
                                      </p:tavLst>
                                    </p:anim>
                                    <p:animEffect transition="in" filter="fade">
                                      <p:cBhvr>
                                        <p:cTn id="65" dur="500"/>
                                        <p:tgtEl>
                                          <p:spTgt spid="29"/>
                                        </p:tgtEl>
                                      </p:cBhvr>
                                    </p:animEffect>
                                  </p:childTnLst>
                                </p:cTn>
                              </p:par>
                              <p:par>
                                <p:cTn id="71" presetID="2" presetClass="entr" presetSubtype="4" fill="hold" grpId="0" nodeType="withEffect">
                                  <p:stCondLst>
                                    <p:cond delay="240"/>
                                  </p:stCondLst>
                                  <p:childTnLst>
                                    <p:set>
                                      <p:cBhvr>
                                        <p:cTn id="67" dur="1" fill="hold">
                                          <p:stCondLst>
                                            <p:cond delay="0"/>
                                          </p:stCondLst>
                                        </p:cTn>
                                        <p:tgtEl>
                                          <p:spTgt spid="30"/>
                                        </p:tgtEl>
                                        <p:attrNameLst>
                                          <p:attrName>style.visibility</p:attrName>
                                        </p:attrNameLst>
                                      </p:cBhvr>
                                      <p:to>
                                        <p:strVal val="visible"/>
                                      </p:to>
                                    </p:set>
                                    <p:anim calcmode="lin" valueType="num">
                                      <p:cBhvr additive="base">
                                        <p:cTn id="68" dur="500" fill="hold"/>
                                        <p:tgtEl>
                                          <p:spTgt spid="30"/>
                                        </p:tgtEl>
                                        <p:attrNameLst>
                                          <p:attrName>ppt_x</p:attrName>
                                        </p:attrNameLst>
                                      </p:cBhvr>
                                      <p:tavLst>
                                        <p:tav tm="0">
                                          <p:val>
                                            <p:strVal val="#ppt_x"/>
                                          </p:val>
                                        </p:tav>
                                        <p:tav tm="100000">
                                          <p:val>
                                            <p:strVal val="#ppt_x"/>
                                          </p:val>
                                        </p:tav>
                                      </p:tavLst>
                                    </p:anim>
                                    <p:anim calcmode="lin" valueType="num">
                                      <p:cBhvr additive="base">
                                        <p:cTn id="69" dur="500" fill="hold"/>
                                        <p:tgtEl>
                                          <p:spTgt spid="30"/>
                                        </p:tgtEl>
                                        <p:attrNameLst>
                                          <p:attrName>ppt_y</p:attrName>
                                        </p:attrNameLst>
                                      </p:cBhvr>
                                      <p:tavLst>
                                        <p:tav tm="0">
                                          <p:val>
                                            <p:strVal val="#ppt_y+0.1"/>
                                          </p:val>
                                        </p:tav>
                                        <p:tav tm="100000">
                                          <p:val>
                                            <p:strVal val="#ppt_y"/>
                                          </p:val>
                                        </p:tav>
                                      </p:tavLst>
                                    </p:anim>
                                    <p:animEffect transition="in" filter="fade">
                                      <p:cBhvr>
                                        <p:cTn id="70" dur="500"/>
                                        <p:tgtEl>
                                          <p:spTgt spid="30"/>
                                        </p:tgtEl>
                                      </p:cBhvr>
                                    </p:animEffect>
                                  </p:childTnLst>
                                </p:cTn>
                              </p:par>
                              <p:par>
                                <p:cTn id="76" presetID="2" presetClass="entr" presetSubtype="4" fill="hold" grpId="0" nodeType="withEffect">
                                  <p:stCondLst>
                                    <p:cond delay="240"/>
                                  </p:stCondLst>
                                  <p:childTnLst>
                                    <p:set>
                                      <p:cBhvr>
                                        <p:cTn id="72" dur="1" fill="hold">
                                          <p:stCondLst>
                                            <p:cond delay="0"/>
                                          </p:stCondLst>
                                        </p:cTn>
                                        <p:tgtEl>
                                          <p:spTgt spid="31"/>
                                        </p:tgtEl>
                                        <p:attrNameLst>
                                          <p:attrName>style.visibility</p:attrName>
                                        </p:attrNameLst>
                                      </p:cBhvr>
                                      <p:to>
                                        <p:strVal val="visible"/>
                                      </p:to>
                                    </p:set>
                                    <p:anim calcmode="lin" valueType="num">
                                      <p:cBhvr additive="base">
                                        <p:cTn id="73" dur="500" fill="hold"/>
                                        <p:tgtEl>
                                          <p:spTgt spid="31"/>
                                        </p:tgtEl>
                                        <p:attrNameLst>
                                          <p:attrName>ppt_x</p:attrName>
                                        </p:attrNameLst>
                                      </p:cBhvr>
                                      <p:tavLst>
                                        <p:tav tm="0">
                                          <p:val>
                                            <p:strVal val="#ppt_x"/>
                                          </p:val>
                                        </p:tav>
                                        <p:tav tm="100000">
                                          <p:val>
                                            <p:strVal val="#ppt_x"/>
                                          </p:val>
                                        </p:tav>
                                      </p:tavLst>
                                    </p:anim>
                                    <p:anim calcmode="lin" valueType="num">
                                      <p:cBhvr additive="base">
                                        <p:cTn id="74" dur="500" fill="hold"/>
                                        <p:tgtEl>
                                          <p:spTgt spid="31"/>
                                        </p:tgtEl>
                                        <p:attrNameLst>
                                          <p:attrName>ppt_y</p:attrName>
                                        </p:attrNameLst>
                                      </p:cBhvr>
                                      <p:tavLst>
                                        <p:tav tm="0">
                                          <p:val>
                                            <p:strVal val="#ppt_y+0.1"/>
                                          </p:val>
                                        </p:tav>
                                        <p:tav tm="100000">
                                          <p:val>
                                            <p:strVal val="#ppt_y"/>
                                          </p:val>
                                        </p:tav>
                                      </p:tavLst>
                                    </p:anim>
                                    <p:animEffect transition="in" filter="fade">
                                      <p:cBhvr>
                                        <p:cTn id="75" dur="500"/>
                                        <p:tgtEl>
                                          <p:spTgt spid="31"/>
                                        </p:tgtEl>
                                      </p:cBhvr>
                                    </p:animEffect>
                                  </p:childTnLst>
                                </p:cTn>
                              </p:par>
                              <p:par>
                                <p:cTn id="81" presetID="2" presetClass="entr" presetSubtype="4" fill="hold" grpId="0" nodeType="withEffect">
                                  <p:stCondLst>
                                    <p:cond delay="360"/>
                                  </p:stCondLst>
                                  <p:childTnLst>
                                    <p:set>
                                      <p:cBhvr>
                                        <p:cTn id="77" dur="1" fill="hold">
                                          <p:stCondLst>
                                            <p:cond delay="0"/>
                                          </p:stCondLst>
                                        </p:cTn>
                                        <p:tgtEl>
                                          <p:spTgt spid="35"/>
                                        </p:tgtEl>
                                        <p:attrNameLst>
                                          <p:attrName>style.visibility</p:attrName>
                                        </p:attrNameLst>
                                      </p:cBhvr>
                                      <p:to>
                                        <p:strVal val="visible"/>
                                      </p:to>
                                    </p:set>
                                    <p:anim calcmode="lin" valueType="num">
                                      <p:cBhvr additive="base">
                                        <p:cTn id="78" dur="500" fill="hold"/>
                                        <p:tgtEl>
                                          <p:spTgt spid="35"/>
                                        </p:tgtEl>
                                        <p:attrNameLst>
                                          <p:attrName>ppt_x</p:attrName>
                                        </p:attrNameLst>
                                      </p:cBhvr>
                                      <p:tavLst>
                                        <p:tav tm="0">
                                          <p:val>
                                            <p:strVal val="#ppt_x"/>
                                          </p:val>
                                        </p:tav>
                                        <p:tav tm="100000">
                                          <p:val>
                                            <p:strVal val="#ppt_x"/>
                                          </p:val>
                                        </p:tav>
                                      </p:tavLst>
                                    </p:anim>
                                    <p:anim calcmode="lin" valueType="num">
                                      <p:cBhvr additive="base">
                                        <p:cTn id="79" dur="500" fill="hold"/>
                                        <p:tgtEl>
                                          <p:spTgt spid="35"/>
                                        </p:tgtEl>
                                        <p:attrNameLst>
                                          <p:attrName>ppt_y</p:attrName>
                                        </p:attrNameLst>
                                      </p:cBhvr>
                                      <p:tavLst>
                                        <p:tav tm="0">
                                          <p:val>
                                            <p:strVal val="#ppt_y+0.1"/>
                                          </p:val>
                                        </p:tav>
                                        <p:tav tm="100000">
                                          <p:val>
                                            <p:strVal val="#ppt_y"/>
                                          </p:val>
                                        </p:tav>
                                      </p:tavLst>
                                    </p:anim>
                                    <p:animEffect transition="in" filter="fade">
                                      <p:cBhvr>
                                        <p:cTn id="80" dur="500"/>
                                        <p:tgtEl>
                                          <p:spTgt spid="35"/>
                                        </p:tgtEl>
                                      </p:cBhvr>
                                    </p:animEffect>
                                  </p:childTnLst>
                                </p:cTn>
                              </p:par>
                              <p:par>
                                <p:cTn id="86" presetID="2" presetClass="entr" presetSubtype="4" fill="hold" grpId="0" nodeType="withEffect">
                                  <p:stCondLst>
                                    <p:cond delay="360"/>
                                  </p:stCondLst>
                                  <p:childTnLst>
                                    <p:set>
                                      <p:cBhvr>
                                        <p:cTn id="82" dur="1" fill="hold">
                                          <p:stCondLst>
                                            <p:cond delay="0"/>
                                          </p:stCondLst>
                                        </p:cTn>
                                        <p:tgtEl>
                                          <p:spTgt spid="36"/>
                                        </p:tgtEl>
                                        <p:attrNameLst>
                                          <p:attrName>style.visibility</p:attrName>
                                        </p:attrNameLst>
                                      </p:cBhvr>
                                      <p:to>
                                        <p:strVal val="visible"/>
                                      </p:to>
                                    </p:set>
                                    <p:anim calcmode="lin" valueType="num">
                                      <p:cBhvr additive="base">
                                        <p:cTn id="83" dur="500" fill="hold"/>
                                        <p:tgtEl>
                                          <p:spTgt spid="36"/>
                                        </p:tgtEl>
                                        <p:attrNameLst>
                                          <p:attrName>ppt_x</p:attrName>
                                        </p:attrNameLst>
                                      </p:cBhvr>
                                      <p:tavLst>
                                        <p:tav tm="0">
                                          <p:val>
                                            <p:strVal val="#ppt_x"/>
                                          </p:val>
                                        </p:tav>
                                        <p:tav tm="100000">
                                          <p:val>
                                            <p:strVal val="#ppt_x"/>
                                          </p:val>
                                        </p:tav>
                                      </p:tavLst>
                                    </p:anim>
                                    <p:anim calcmode="lin" valueType="num">
                                      <p:cBhvr additive="base">
                                        <p:cTn id="84" dur="500" fill="hold"/>
                                        <p:tgtEl>
                                          <p:spTgt spid="36"/>
                                        </p:tgtEl>
                                        <p:attrNameLst>
                                          <p:attrName>ppt_y</p:attrName>
                                        </p:attrNameLst>
                                      </p:cBhvr>
                                      <p:tavLst>
                                        <p:tav tm="0">
                                          <p:val>
                                            <p:strVal val="#ppt_y+0.1"/>
                                          </p:val>
                                        </p:tav>
                                        <p:tav tm="100000">
                                          <p:val>
                                            <p:strVal val="#ppt_y"/>
                                          </p:val>
                                        </p:tav>
                                      </p:tavLst>
                                    </p:anim>
                                    <p:animEffect transition="in" filter="fade">
                                      <p:cBhvr>
                                        <p:cTn id="85" dur="500"/>
                                        <p:tgtEl>
                                          <p:spTgt spid="36"/>
                                        </p:tgtEl>
                                      </p:cBhvr>
                                    </p:animEffect>
                                  </p:childTnLst>
                                </p:cTn>
                              </p:par>
                              <p:par>
                                <p:cTn id="91" presetID="2" presetClass="entr" presetSubtype="4" fill="hold" grpId="0" nodeType="withEffect">
                                  <p:stCondLst>
                                    <p:cond delay="360"/>
                                  </p:stCondLst>
                                  <p:childTnLst>
                                    <p:set>
                                      <p:cBhvr>
                                        <p:cTn id="87" dur="1" fill="hold">
                                          <p:stCondLst>
                                            <p:cond delay="0"/>
                                          </p:stCondLst>
                                        </p:cTn>
                                        <p:tgtEl>
                                          <p:spTgt spid="37"/>
                                        </p:tgtEl>
                                        <p:attrNameLst>
                                          <p:attrName>style.visibility</p:attrName>
                                        </p:attrNameLst>
                                      </p:cBhvr>
                                      <p:to>
                                        <p:strVal val="visible"/>
                                      </p:to>
                                    </p:set>
                                    <p:anim calcmode="lin" valueType="num">
                                      <p:cBhvr additive="base">
                                        <p:cTn id="88" dur="500" fill="hold"/>
                                        <p:tgtEl>
                                          <p:spTgt spid="37"/>
                                        </p:tgtEl>
                                        <p:attrNameLst>
                                          <p:attrName>ppt_x</p:attrName>
                                        </p:attrNameLst>
                                      </p:cBhvr>
                                      <p:tavLst>
                                        <p:tav tm="0">
                                          <p:val>
                                            <p:strVal val="#ppt_x"/>
                                          </p:val>
                                        </p:tav>
                                        <p:tav tm="100000">
                                          <p:val>
                                            <p:strVal val="#ppt_x"/>
                                          </p:val>
                                        </p:tav>
                                      </p:tavLst>
                                    </p:anim>
                                    <p:anim calcmode="lin" valueType="num">
                                      <p:cBhvr additive="base">
                                        <p:cTn id="89" dur="500" fill="hold"/>
                                        <p:tgtEl>
                                          <p:spTgt spid="37"/>
                                        </p:tgtEl>
                                        <p:attrNameLst>
                                          <p:attrName>ppt_y</p:attrName>
                                        </p:attrNameLst>
                                      </p:cBhvr>
                                      <p:tavLst>
                                        <p:tav tm="0">
                                          <p:val>
                                            <p:strVal val="#ppt_y+0.1"/>
                                          </p:val>
                                        </p:tav>
                                        <p:tav tm="100000">
                                          <p:val>
                                            <p:strVal val="#ppt_y"/>
                                          </p:val>
                                        </p:tav>
                                      </p:tavLst>
                                    </p:anim>
                                    <p:animEffect transition="in" filter="fade">
                                      <p:cBhvr>
                                        <p:cTn id="90" dur="500"/>
                                        <p:tgtEl>
                                          <p:spTgt spid="37"/>
                                        </p:tgtEl>
                                      </p:cBhvr>
                                    </p:animEffect>
                                  </p:childTnLst>
                                </p:cTn>
                              </p:par>
                            </p:childTnLst>
                          </p:cTn>
                        </p:par>
                      </p:childTnLst>
                    </p:cTn>
                  </p:par>
                  <p:par>
                    <p:cTn id="92" fill="hold">
                      <p:stCondLst>
                        <p:cond delay="indefinite"/>
                      </p:stCondLst>
                      <p:childTnLst>
                        <p:par>
                          <p:cTn id="93" fill="hold">
                            <p:stCondLst>
                              <p:cond delay="0"/>
                            </p:stCondLst>
                            <p:childTnLst>
                              <p:par>
                                <p:cTn id="98" presetID="2" presetClass="entr" presetSubtype="4" fill="hold" grpId="0" nodeType="clickEffect">
                                  <p:stCondLst>
                                    <p:cond delay="0"/>
                                  </p:stCondLst>
                                  <p:childTnLst>
                                    <p:set>
                                      <p:cBhvr>
                                        <p:cTn id="94" dur="1" fill="hold">
                                          <p:stCondLst>
                                            <p:cond delay="0"/>
                                          </p:stCondLst>
                                        </p:cTn>
                                        <p:tgtEl>
                                          <p:spTgt spid="20"/>
                                        </p:tgtEl>
                                        <p:attrNameLst>
                                          <p:attrName>style.visibility</p:attrName>
                                        </p:attrNameLst>
                                      </p:cBhvr>
                                      <p:to>
                                        <p:strVal val="visible"/>
                                      </p:to>
                                    </p:set>
                                    <p:anim calcmode="lin" valueType="num">
                                      <p:cBhvr additive="base">
                                        <p:cTn id="95" dur="500" fill="hold"/>
                                        <p:tgtEl>
                                          <p:spTgt spid="20"/>
                                        </p:tgtEl>
                                        <p:attrNameLst>
                                          <p:attrName>ppt_x</p:attrName>
                                        </p:attrNameLst>
                                      </p:cBhvr>
                                      <p:tavLst>
                                        <p:tav tm="0">
                                          <p:val>
                                            <p:strVal val="#ppt_x"/>
                                          </p:val>
                                        </p:tav>
                                        <p:tav tm="100000">
                                          <p:val>
                                            <p:strVal val="#ppt_x"/>
                                          </p:val>
                                        </p:tav>
                                      </p:tavLst>
                                    </p:anim>
                                    <p:anim calcmode="lin" valueType="num">
                                      <p:cBhvr additive="base">
                                        <p:cTn id="96" dur="500" fill="hold"/>
                                        <p:tgtEl>
                                          <p:spTgt spid="20"/>
                                        </p:tgtEl>
                                        <p:attrNameLst>
                                          <p:attrName>ppt_y</p:attrName>
                                        </p:attrNameLst>
                                      </p:cBhvr>
                                      <p:tavLst>
                                        <p:tav tm="0">
                                          <p:val>
                                            <p:strVal val="#ppt_y+0.1"/>
                                          </p:val>
                                        </p:tav>
                                        <p:tav tm="100000">
                                          <p:val>
                                            <p:strVal val="#ppt_y"/>
                                          </p:val>
                                        </p:tav>
                                      </p:tavLst>
                                    </p:anim>
                                    <p:animEffect transition="in" filter="fade">
                                      <p:cBhvr>
                                        <p:cTn id="97" dur="500"/>
                                        <p:tgtEl>
                                          <p:spTgt spid="20"/>
                                        </p:tgtEl>
                                      </p:cBhvr>
                                    </p:animEffect>
                                  </p:childTnLst>
                                </p:cTn>
                              </p:par>
                              <p:par>
                                <p:cTn id="103" presetID="2" presetClass="entr" presetSubtype="4" fill="hold" grpId="0" nodeType="withEffect">
                                  <p:stCondLst>
                                    <p:cond delay="0"/>
                                  </p:stCondLst>
                                  <p:childTnLst>
                                    <p:set>
                                      <p:cBhvr>
                                        <p:cTn id="99" dur="1" fill="hold">
                                          <p:stCondLst>
                                            <p:cond delay="0"/>
                                          </p:stCondLst>
                                        </p:cTn>
                                        <p:tgtEl>
                                          <p:spTgt spid="21"/>
                                        </p:tgtEl>
                                        <p:attrNameLst>
                                          <p:attrName>style.visibility</p:attrName>
                                        </p:attrNameLst>
                                      </p:cBhvr>
                                      <p:to>
                                        <p:strVal val="visible"/>
                                      </p:to>
                                    </p:set>
                                    <p:anim calcmode="lin" valueType="num">
                                      <p:cBhvr additive="base">
                                        <p:cTn id="100" dur="500" fill="hold"/>
                                        <p:tgtEl>
                                          <p:spTgt spid="21"/>
                                        </p:tgtEl>
                                        <p:attrNameLst>
                                          <p:attrName>ppt_x</p:attrName>
                                        </p:attrNameLst>
                                      </p:cBhvr>
                                      <p:tavLst>
                                        <p:tav tm="0">
                                          <p:val>
                                            <p:strVal val="#ppt_x"/>
                                          </p:val>
                                        </p:tav>
                                        <p:tav tm="100000">
                                          <p:val>
                                            <p:strVal val="#ppt_x"/>
                                          </p:val>
                                        </p:tav>
                                      </p:tavLst>
                                    </p:anim>
                                    <p:anim calcmode="lin" valueType="num">
                                      <p:cBhvr additive="base">
                                        <p:cTn id="101" dur="500" fill="hold"/>
                                        <p:tgtEl>
                                          <p:spTgt spid="21"/>
                                        </p:tgtEl>
                                        <p:attrNameLst>
                                          <p:attrName>ppt_y</p:attrName>
                                        </p:attrNameLst>
                                      </p:cBhvr>
                                      <p:tavLst>
                                        <p:tav tm="0">
                                          <p:val>
                                            <p:strVal val="#ppt_y+0.1"/>
                                          </p:val>
                                        </p:tav>
                                        <p:tav tm="100000">
                                          <p:val>
                                            <p:strVal val="#ppt_y"/>
                                          </p:val>
                                        </p:tav>
                                      </p:tavLst>
                                    </p:anim>
                                    <p:animEffect transition="in" filter="fade">
                                      <p:cBhvr>
                                        <p:cTn id="102" dur="500"/>
                                        <p:tgtEl>
                                          <p:spTgt spid="21"/>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22"/>
                                        </p:tgtEl>
                                        <p:attrNameLst>
                                          <p:attrName>style.visibility</p:attrName>
                                        </p:attrNameLst>
                                      </p:cBhvr>
                                      <p:to>
                                        <p:strVal val="visible"/>
                                      </p:to>
                                    </p:set>
                                    <p:anim calcmode="lin" valueType="num">
                                      <p:cBhvr additive="base">
                                        <p:cTn id="105" dur="500" fill="hold"/>
                                        <p:tgtEl>
                                          <p:spTgt spid="22"/>
                                        </p:tgtEl>
                                        <p:attrNameLst>
                                          <p:attrName>ppt_x</p:attrName>
                                        </p:attrNameLst>
                                      </p:cBhvr>
                                      <p:tavLst>
                                        <p:tav tm="0">
                                          <p:val>
                                            <p:strVal val="#ppt_x"/>
                                          </p:val>
                                        </p:tav>
                                        <p:tav tm="100000">
                                          <p:val>
                                            <p:strVal val="#ppt_x"/>
                                          </p:val>
                                        </p:tav>
                                      </p:tavLst>
                                    </p:anim>
                                    <p:anim calcmode="lin" valueType="num">
                                      <p:cBhvr additive="base">
                                        <p:cTn id="106" dur="500" fill="hold"/>
                                        <p:tgtEl>
                                          <p:spTgt spid="22"/>
                                        </p:tgtEl>
                                        <p:attrNameLst>
                                          <p:attrName>ppt_y</p:attrName>
                                        </p:attrNameLst>
                                      </p:cBhvr>
                                      <p:tavLst>
                                        <p:tav tm="0">
                                          <p:val>
                                            <p:strVal val="#ppt_y+0.1"/>
                                          </p:val>
                                        </p:tav>
                                        <p:tav tm="100000">
                                          <p:val>
                                            <p:strVal val="#ppt_y"/>
                                          </p:val>
                                        </p:tav>
                                      </p:tavLst>
                                    </p:anim>
                                    <p:animEffect transition="in" filter="fade">
                                      <p:cBhvr>
                                        <p:cTn id="107" dur="500"/>
                                        <p:tgtEl>
                                          <p:spTgt spid="22"/>
                                        </p:tgtEl>
                                      </p:cBhvr>
                                    </p:animEffect>
                                  </p:childTnLst>
                                </p:cTn>
                              </p:par>
                              <p:par>
                                <p:cTn id="113" presetID="2" presetClass="entr" presetSubtype="4" fill="hold" grpId="0" nodeType="withEffect">
                                  <p:stCondLst>
                                    <p:cond delay="120"/>
                                  </p:stCondLst>
                                  <p:childTnLst>
                                    <p:set>
                                      <p:cBhvr>
                                        <p:cTn id="109" dur="1" fill="hold">
                                          <p:stCondLst>
                                            <p:cond delay="0"/>
                                          </p:stCondLst>
                                        </p:cTn>
                                        <p:tgtEl>
                                          <p:spTgt spid="26"/>
                                        </p:tgtEl>
                                        <p:attrNameLst>
                                          <p:attrName>style.visibility</p:attrName>
                                        </p:attrNameLst>
                                      </p:cBhvr>
                                      <p:to>
                                        <p:strVal val="visible"/>
                                      </p:to>
                                    </p:set>
                                    <p:anim calcmode="lin" valueType="num">
                                      <p:cBhvr additive="base">
                                        <p:cTn id="110" dur="500" fill="hold"/>
                                        <p:tgtEl>
                                          <p:spTgt spid="26"/>
                                        </p:tgtEl>
                                        <p:attrNameLst>
                                          <p:attrName>ppt_x</p:attrName>
                                        </p:attrNameLst>
                                      </p:cBhvr>
                                      <p:tavLst>
                                        <p:tav tm="0">
                                          <p:val>
                                            <p:strVal val="#ppt_x"/>
                                          </p:val>
                                        </p:tav>
                                        <p:tav tm="100000">
                                          <p:val>
                                            <p:strVal val="#ppt_x"/>
                                          </p:val>
                                        </p:tav>
                                      </p:tavLst>
                                    </p:anim>
                                    <p:anim calcmode="lin" valueType="num">
                                      <p:cBhvr additive="base">
                                        <p:cTn id="111" dur="500" fill="hold"/>
                                        <p:tgtEl>
                                          <p:spTgt spid="26"/>
                                        </p:tgtEl>
                                        <p:attrNameLst>
                                          <p:attrName>ppt_y</p:attrName>
                                        </p:attrNameLst>
                                      </p:cBhvr>
                                      <p:tavLst>
                                        <p:tav tm="0">
                                          <p:val>
                                            <p:strVal val="#ppt_y+0.1"/>
                                          </p:val>
                                        </p:tav>
                                        <p:tav tm="100000">
                                          <p:val>
                                            <p:strVal val="#ppt_y"/>
                                          </p:val>
                                        </p:tav>
                                      </p:tavLst>
                                    </p:anim>
                                    <p:animEffect transition="in" filter="fade">
                                      <p:cBhvr>
                                        <p:cTn id="112" dur="500"/>
                                        <p:tgtEl>
                                          <p:spTgt spid="26"/>
                                        </p:tgtEl>
                                      </p:cBhvr>
                                    </p:animEffect>
                                  </p:childTnLst>
                                </p:cTn>
                              </p:par>
                              <p:par>
                                <p:cTn id="118" presetID="2" presetClass="entr" presetSubtype="4" fill="hold" grpId="0" nodeType="withEffect">
                                  <p:stCondLst>
                                    <p:cond delay="120"/>
                                  </p:stCondLst>
                                  <p:childTnLst>
                                    <p:set>
                                      <p:cBhvr>
                                        <p:cTn id="114" dur="1" fill="hold">
                                          <p:stCondLst>
                                            <p:cond delay="0"/>
                                          </p:stCondLst>
                                        </p:cTn>
                                        <p:tgtEl>
                                          <p:spTgt spid="27"/>
                                        </p:tgtEl>
                                        <p:attrNameLst>
                                          <p:attrName>style.visibility</p:attrName>
                                        </p:attrNameLst>
                                      </p:cBhvr>
                                      <p:to>
                                        <p:strVal val="visible"/>
                                      </p:to>
                                    </p:set>
                                    <p:anim calcmode="lin" valueType="num">
                                      <p:cBhvr additive="base">
                                        <p:cTn id="115" dur="500" fill="hold"/>
                                        <p:tgtEl>
                                          <p:spTgt spid="27"/>
                                        </p:tgtEl>
                                        <p:attrNameLst>
                                          <p:attrName>ppt_x</p:attrName>
                                        </p:attrNameLst>
                                      </p:cBhvr>
                                      <p:tavLst>
                                        <p:tav tm="0">
                                          <p:val>
                                            <p:strVal val="#ppt_x"/>
                                          </p:val>
                                        </p:tav>
                                        <p:tav tm="100000">
                                          <p:val>
                                            <p:strVal val="#ppt_x"/>
                                          </p:val>
                                        </p:tav>
                                      </p:tavLst>
                                    </p:anim>
                                    <p:anim calcmode="lin" valueType="num">
                                      <p:cBhvr additive="base">
                                        <p:cTn id="116" dur="500" fill="hold"/>
                                        <p:tgtEl>
                                          <p:spTgt spid="27"/>
                                        </p:tgtEl>
                                        <p:attrNameLst>
                                          <p:attrName>ppt_y</p:attrName>
                                        </p:attrNameLst>
                                      </p:cBhvr>
                                      <p:tavLst>
                                        <p:tav tm="0">
                                          <p:val>
                                            <p:strVal val="#ppt_y+0.1"/>
                                          </p:val>
                                        </p:tav>
                                        <p:tav tm="100000">
                                          <p:val>
                                            <p:strVal val="#ppt_y"/>
                                          </p:val>
                                        </p:tav>
                                      </p:tavLst>
                                    </p:anim>
                                    <p:animEffect transition="in" filter="fade">
                                      <p:cBhvr>
                                        <p:cTn id="117" dur="500"/>
                                        <p:tgtEl>
                                          <p:spTgt spid="27"/>
                                        </p:tgtEl>
                                      </p:cBhvr>
                                    </p:animEffect>
                                  </p:childTnLst>
                                </p:cTn>
                              </p:par>
                              <p:par>
                                <p:cTn id="123" presetID="2" presetClass="entr" presetSubtype="4" fill="hold" grpId="0" nodeType="withEffect">
                                  <p:stCondLst>
                                    <p:cond delay="120"/>
                                  </p:stCondLst>
                                  <p:childTnLst>
                                    <p:set>
                                      <p:cBhvr>
                                        <p:cTn id="119" dur="1" fill="hold">
                                          <p:stCondLst>
                                            <p:cond delay="0"/>
                                          </p:stCondLst>
                                        </p:cTn>
                                        <p:tgtEl>
                                          <p:spTgt spid="28"/>
                                        </p:tgtEl>
                                        <p:attrNameLst>
                                          <p:attrName>style.visibility</p:attrName>
                                        </p:attrNameLst>
                                      </p:cBhvr>
                                      <p:to>
                                        <p:strVal val="visible"/>
                                      </p:to>
                                    </p:set>
                                    <p:anim calcmode="lin" valueType="num">
                                      <p:cBhvr additive="base">
                                        <p:cTn id="120" dur="500" fill="hold"/>
                                        <p:tgtEl>
                                          <p:spTgt spid="28"/>
                                        </p:tgtEl>
                                        <p:attrNameLst>
                                          <p:attrName>ppt_x</p:attrName>
                                        </p:attrNameLst>
                                      </p:cBhvr>
                                      <p:tavLst>
                                        <p:tav tm="0">
                                          <p:val>
                                            <p:strVal val="#ppt_x"/>
                                          </p:val>
                                        </p:tav>
                                        <p:tav tm="100000">
                                          <p:val>
                                            <p:strVal val="#ppt_x"/>
                                          </p:val>
                                        </p:tav>
                                      </p:tavLst>
                                    </p:anim>
                                    <p:anim calcmode="lin" valueType="num">
                                      <p:cBhvr additive="base">
                                        <p:cTn id="121" dur="500" fill="hold"/>
                                        <p:tgtEl>
                                          <p:spTgt spid="28"/>
                                        </p:tgtEl>
                                        <p:attrNameLst>
                                          <p:attrName>ppt_y</p:attrName>
                                        </p:attrNameLst>
                                      </p:cBhvr>
                                      <p:tavLst>
                                        <p:tav tm="0">
                                          <p:val>
                                            <p:strVal val="#ppt_y+0.1"/>
                                          </p:val>
                                        </p:tav>
                                        <p:tav tm="100000">
                                          <p:val>
                                            <p:strVal val="#ppt_y"/>
                                          </p:val>
                                        </p:tav>
                                      </p:tavLst>
                                    </p:anim>
                                    <p:animEffect transition="in" filter="fade">
                                      <p:cBhvr>
                                        <p:cTn id="122" dur="500"/>
                                        <p:tgtEl>
                                          <p:spTgt spid="28"/>
                                        </p:tgtEl>
                                      </p:cBhvr>
                                    </p:animEffect>
                                  </p:childTnLst>
                                </p:cTn>
                              </p:par>
                              <p:par>
                                <p:cTn id="128" presetID="2" presetClass="entr" presetSubtype="4" fill="hold" grpId="0" nodeType="withEffect">
                                  <p:stCondLst>
                                    <p:cond delay="240"/>
                                  </p:stCondLst>
                                  <p:childTnLst>
                                    <p:set>
                                      <p:cBhvr>
                                        <p:cTn id="124" dur="1" fill="hold">
                                          <p:stCondLst>
                                            <p:cond delay="0"/>
                                          </p:stCondLst>
                                        </p:cTn>
                                        <p:tgtEl>
                                          <p:spTgt spid="32"/>
                                        </p:tgtEl>
                                        <p:attrNameLst>
                                          <p:attrName>style.visibility</p:attrName>
                                        </p:attrNameLst>
                                      </p:cBhvr>
                                      <p:to>
                                        <p:strVal val="visible"/>
                                      </p:to>
                                    </p:set>
                                    <p:anim calcmode="lin" valueType="num">
                                      <p:cBhvr additive="base">
                                        <p:cTn id="125" dur="500" fill="hold"/>
                                        <p:tgtEl>
                                          <p:spTgt spid="32"/>
                                        </p:tgtEl>
                                        <p:attrNameLst>
                                          <p:attrName>ppt_x</p:attrName>
                                        </p:attrNameLst>
                                      </p:cBhvr>
                                      <p:tavLst>
                                        <p:tav tm="0">
                                          <p:val>
                                            <p:strVal val="#ppt_x"/>
                                          </p:val>
                                        </p:tav>
                                        <p:tav tm="100000">
                                          <p:val>
                                            <p:strVal val="#ppt_x"/>
                                          </p:val>
                                        </p:tav>
                                      </p:tavLst>
                                    </p:anim>
                                    <p:anim calcmode="lin" valueType="num">
                                      <p:cBhvr additive="base">
                                        <p:cTn id="126" dur="500" fill="hold"/>
                                        <p:tgtEl>
                                          <p:spTgt spid="32"/>
                                        </p:tgtEl>
                                        <p:attrNameLst>
                                          <p:attrName>ppt_y</p:attrName>
                                        </p:attrNameLst>
                                      </p:cBhvr>
                                      <p:tavLst>
                                        <p:tav tm="0">
                                          <p:val>
                                            <p:strVal val="#ppt_y+0.1"/>
                                          </p:val>
                                        </p:tav>
                                        <p:tav tm="100000">
                                          <p:val>
                                            <p:strVal val="#ppt_y"/>
                                          </p:val>
                                        </p:tav>
                                      </p:tavLst>
                                    </p:anim>
                                    <p:animEffect transition="in" filter="fade">
                                      <p:cBhvr>
                                        <p:cTn id="127" dur="500"/>
                                        <p:tgtEl>
                                          <p:spTgt spid="32"/>
                                        </p:tgtEl>
                                      </p:cBhvr>
                                    </p:animEffect>
                                  </p:childTnLst>
                                </p:cTn>
                              </p:par>
                              <p:par>
                                <p:cTn id="133" presetID="2" presetClass="entr" presetSubtype="4" fill="hold" grpId="0" nodeType="withEffect">
                                  <p:stCondLst>
                                    <p:cond delay="240"/>
                                  </p:stCondLst>
                                  <p:childTnLst>
                                    <p:set>
                                      <p:cBhvr>
                                        <p:cTn id="129" dur="1" fill="hold">
                                          <p:stCondLst>
                                            <p:cond delay="0"/>
                                          </p:stCondLst>
                                        </p:cTn>
                                        <p:tgtEl>
                                          <p:spTgt spid="33"/>
                                        </p:tgtEl>
                                        <p:attrNameLst>
                                          <p:attrName>style.visibility</p:attrName>
                                        </p:attrNameLst>
                                      </p:cBhvr>
                                      <p:to>
                                        <p:strVal val="visible"/>
                                      </p:to>
                                    </p:set>
                                    <p:anim calcmode="lin" valueType="num">
                                      <p:cBhvr additive="base">
                                        <p:cTn id="130" dur="500" fill="hold"/>
                                        <p:tgtEl>
                                          <p:spTgt spid="33"/>
                                        </p:tgtEl>
                                        <p:attrNameLst>
                                          <p:attrName>ppt_x</p:attrName>
                                        </p:attrNameLst>
                                      </p:cBhvr>
                                      <p:tavLst>
                                        <p:tav tm="0">
                                          <p:val>
                                            <p:strVal val="#ppt_x"/>
                                          </p:val>
                                        </p:tav>
                                        <p:tav tm="100000">
                                          <p:val>
                                            <p:strVal val="#ppt_x"/>
                                          </p:val>
                                        </p:tav>
                                      </p:tavLst>
                                    </p:anim>
                                    <p:anim calcmode="lin" valueType="num">
                                      <p:cBhvr additive="base">
                                        <p:cTn id="131" dur="500" fill="hold"/>
                                        <p:tgtEl>
                                          <p:spTgt spid="33"/>
                                        </p:tgtEl>
                                        <p:attrNameLst>
                                          <p:attrName>ppt_y</p:attrName>
                                        </p:attrNameLst>
                                      </p:cBhvr>
                                      <p:tavLst>
                                        <p:tav tm="0">
                                          <p:val>
                                            <p:strVal val="#ppt_y+0.1"/>
                                          </p:val>
                                        </p:tav>
                                        <p:tav tm="100000">
                                          <p:val>
                                            <p:strVal val="#ppt_y"/>
                                          </p:val>
                                        </p:tav>
                                      </p:tavLst>
                                    </p:anim>
                                    <p:animEffect transition="in" filter="fade">
                                      <p:cBhvr>
                                        <p:cTn id="132" dur="500"/>
                                        <p:tgtEl>
                                          <p:spTgt spid="33"/>
                                        </p:tgtEl>
                                      </p:cBhvr>
                                    </p:animEffect>
                                  </p:childTnLst>
                                </p:cTn>
                              </p:par>
                              <p:par>
                                <p:cTn id="138" presetID="2" presetClass="entr" presetSubtype="4" fill="hold" grpId="0" nodeType="withEffect">
                                  <p:stCondLst>
                                    <p:cond delay="240"/>
                                  </p:stCondLst>
                                  <p:childTnLst>
                                    <p:set>
                                      <p:cBhvr>
                                        <p:cTn id="134" dur="1" fill="hold">
                                          <p:stCondLst>
                                            <p:cond delay="0"/>
                                          </p:stCondLst>
                                        </p:cTn>
                                        <p:tgtEl>
                                          <p:spTgt spid="34"/>
                                        </p:tgtEl>
                                        <p:attrNameLst>
                                          <p:attrName>style.visibility</p:attrName>
                                        </p:attrNameLst>
                                      </p:cBhvr>
                                      <p:to>
                                        <p:strVal val="visible"/>
                                      </p:to>
                                    </p:set>
                                    <p:anim calcmode="lin" valueType="num">
                                      <p:cBhvr additive="base">
                                        <p:cTn id="135" dur="500" fill="hold"/>
                                        <p:tgtEl>
                                          <p:spTgt spid="34"/>
                                        </p:tgtEl>
                                        <p:attrNameLst>
                                          <p:attrName>ppt_x</p:attrName>
                                        </p:attrNameLst>
                                      </p:cBhvr>
                                      <p:tavLst>
                                        <p:tav tm="0">
                                          <p:val>
                                            <p:strVal val="#ppt_x"/>
                                          </p:val>
                                        </p:tav>
                                        <p:tav tm="100000">
                                          <p:val>
                                            <p:strVal val="#ppt_x"/>
                                          </p:val>
                                        </p:tav>
                                      </p:tavLst>
                                    </p:anim>
                                    <p:anim calcmode="lin" valueType="num">
                                      <p:cBhvr additive="base">
                                        <p:cTn id="136" dur="500" fill="hold"/>
                                        <p:tgtEl>
                                          <p:spTgt spid="34"/>
                                        </p:tgtEl>
                                        <p:attrNameLst>
                                          <p:attrName>ppt_y</p:attrName>
                                        </p:attrNameLst>
                                      </p:cBhvr>
                                      <p:tavLst>
                                        <p:tav tm="0">
                                          <p:val>
                                            <p:strVal val="#ppt_y+0.1"/>
                                          </p:val>
                                        </p:tav>
                                        <p:tav tm="100000">
                                          <p:val>
                                            <p:strVal val="#ppt_y"/>
                                          </p:val>
                                        </p:tav>
                                      </p:tavLst>
                                    </p:anim>
                                    <p:animEffect transition="in" filter="fade">
                                      <p:cBhvr>
                                        <p:cTn id="137" dur="500"/>
                                        <p:tgtEl>
                                          <p:spTgt spid="34"/>
                                        </p:tgtEl>
                                      </p:cBhvr>
                                    </p:animEffect>
                                  </p:childTnLst>
                                </p:cTn>
                              </p:par>
                              <p:par>
                                <p:cTn id="143" presetID="2" presetClass="entr" presetSubtype="4" fill="hold" grpId="0" nodeType="withEffect">
                                  <p:stCondLst>
                                    <p:cond delay="360"/>
                                  </p:stCondLst>
                                  <p:childTnLst>
                                    <p:set>
                                      <p:cBhvr>
                                        <p:cTn id="139" dur="1" fill="hold">
                                          <p:stCondLst>
                                            <p:cond delay="0"/>
                                          </p:stCondLst>
                                        </p:cTn>
                                        <p:tgtEl>
                                          <p:spTgt spid="38"/>
                                        </p:tgtEl>
                                        <p:attrNameLst>
                                          <p:attrName>style.visibility</p:attrName>
                                        </p:attrNameLst>
                                      </p:cBhvr>
                                      <p:to>
                                        <p:strVal val="visible"/>
                                      </p:to>
                                    </p:set>
                                    <p:anim calcmode="lin" valueType="num">
                                      <p:cBhvr additive="base">
                                        <p:cTn id="140" dur="500" fill="hold"/>
                                        <p:tgtEl>
                                          <p:spTgt spid="38"/>
                                        </p:tgtEl>
                                        <p:attrNameLst>
                                          <p:attrName>ppt_x</p:attrName>
                                        </p:attrNameLst>
                                      </p:cBhvr>
                                      <p:tavLst>
                                        <p:tav tm="0">
                                          <p:val>
                                            <p:strVal val="#ppt_x"/>
                                          </p:val>
                                        </p:tav>
                                        <p:tav tm="100000">
                                          <p:val>
                                            <p:strVal val="#ppt_x"/>
                                          </p:val>
                                        </p:tav>
                                      </p:tavLst>
                                    </p:anim>
                                    <p:anim calcmode="lin" valueType="num">
                                      <p:cBhvr additive="base">
                                        <p:cTn id="141" dur="500" fill="hold"/>
                                        <p:tgtEl>
                                          <p:spTgt spid="38"/>
                                        </p:tgtEl>
                                        <p:attrNameLst>
                                          <p:attrName>ppt_y</p:attrName>
                                        </p:attrNameLst>
                                      </p:cBhvr>
                                      <p:tavLst>
                                        <p:tav tm="0">
                                          <p:val>
                                            <p:strVal val="#ppt_y+0.1"/>
                                          </p:val>
                                        </p:tav>
                                        <p:tav tm="100000">
                                          <p:val>
                                            <p:strVal val="#ppt_y"/>
                                          </p:val>
                                        </p:tav>
                                      </p:tavLst>
                                    </p:anim>
                                    <p:animEffect transition="in" filter="fade">
                                      <p:cBhvr>
                                        <p:cTn id="142" dur="500"/>
                                        <p:tgtEl>
                                          <p:spTgt spid="38"/>
                                        </p:tgtEl>
                                      </p:cBhvr>
                                    </p:animEffect>
                                  </p:childTnLst>
                                </p:cTn>
                              </p:par>
                              <p:par>
                                <p:cTn id="148" presetID="2" presetClass="entr" presetSubtype="4" fill="hold" grpId="0" nodeType="withEffect">
                                  <p:stCondLst>
                                    <p:cond delay="360"/>
                                  </p:stCondLst>
                                  <p:childTnLst>
                                    <p:set>
                                      <p:cBhvr>
                                        <p:cTn id="144" dur="1" fill="hold">
                                          <p:stCondLst>
                                            <p:cond delay="0"/>
                                          </p:stCondLst>
                                        </p:cTn>
                                        <p:tgtEl>
                                          <p:spTgt spid="39"/>
                                        </p:tgtEl>
                                        <p:attrNameLst>
                                          <p:attrName>style.visibility</p:attrName>
                                        </p:attrNameLst>
                                      </p:cBhvr>
                                      <p:to>
                                        <p:strVal val="visible"/>
                                      </p:to>
                                    </p:set>
                                    <p:anim calcmode="lin" valueType="num">
                                      <p:cBhvr additive="base">
                                        <p:cTn id="145" dur="500" fill="hold"/>
                                        <p:tgtEl>
                                          <p:spTgt spid="39"/>
                                        </p:tgtEl>
                                        <p:attrNameLst>
                                          <p:attrName>ppt_x</p:attrName>
                                        </p:attrNameLst>
                                      </p:cBhvr>
                                      <p:tavLst>
                                        <p:tav tm="0">
                                          <p:val>
                                            <p:strVal val="#ppt_x"/>
                                          </p:val>
                                        </p:tav>
                                        <p:tav tm="100000">
                                          <p:val>
                                            <p:strVal val="#ppt_x"/>
                                          </p:val>
                                        </p:tav>
                                      </p:tavLst>
                                    </p:anim>
                                    <p:anim calcmode="lin" valueType="num">
                                      <p:cBhvr additive="base">
                                        <p:cTn id="146" dur="500" fill="hold"/>
                                        <p:tgtEl>
                                          <p:spTgt spid="39"/>
                                        </p:tgtEl>
                                        <p:attrNameLst>
                                          <p:attrName>ppt_y</p:attrName>
                                        </p:attrNameLst>
                                      </p:cBhvr>
                                      <p:tavLst>
                                        <p:tav tm="0">
                                          <p:val>
                                            <p:strVal val="#ppt_y+0.1"/>
                                          </p:val>
                                        </p:tav>
                                        <p:tav tm="100000">
                                          <p:val>
                                            <p:strVal val="#ppt_y"/>
                                          </p:val>
                                        </p:tav>
                                      </p:tavLst>
                                    </p:anim>
                                    <p:animEffect transition="in" filter="fade">
                                      <p:cBhvr>
                                        <p:cTn id="147" dur="500"/>
                                        <p:tgtEl>
                                          <p:spTgt spid="39"/>
                                        </p:tgtEl>
                                      </p:cBhvr>
                                    </p:animEffect>
                                  </p:childTnLst>
                                </p:cTn>
                              </p:par>
                              <p:par>
                                <p:cTn id="153" presetID="2" presetClass="entr" presetSubtype="4" fill="hold" grpId="0" nodeType="withEffect">
                                  <p:stCondLst>
                                    <p:cond delay="360"/>
                                  </p:stCondLst>
                                  <p:childTnLst>
                                    <p:set>
                                      <p:cBhvr>
                                        <p:cTn id="149" dur="1" fill="hold">
                                          <p:stCondLst>
                                            <p:cond delay="0"/>
                                          </p:stCondLst>
                                        </p:cTn>
                                        <p:tgtEl>
                                          <p:spTgt spid="40"/>
                                        </p:tgtEl>
                                        <p:attrNameLst>
                                          <p:attrName>style.visibility</p:attrName>
                                        </p:attrNameLst>
                                      </p:cBhvr>
                                      <p:to>
                                        <p:strVal val="visible"/>
                                      </p:to>
                                    </p:set>
                                    <p:anim calcmode="lin" valueType="num">
                                      <p:cBhvr additive="base">
                                        <p:cTn id="150" dur="500" fill="hold"/>
                                        <p:tgtEl>
                                          <p:spTgt spid="40"/>
                                        </p:tgtEl>
                                        <p:attrNameLst>
                                          <p:attrName>ppt_x</p:attrName>
                                        </p:attrNameLst>
                                      </p:cBhvr>
                                      <p:tavLst>
                                        <p:tav tm="0">
                                          <p:val>
                                            <p:strVal val="#ppt_x"/>
                                          </p:val>
                                        </p:tav>
                                        <p:tav tm="100000">
                                          <p:val>
                                            <p:strVal val="#ppt_x"/>
                                          </p:val>
                                        </p:tav>
                                      </p:tavLst>
                                    </p:anim>
                                    <p:anim calcmode="lin" valueType="num">
                                      <p:cBhvr additive="base">
                                        <p:cTn id="151" dur="500" fill="hold"/>
                                        <p:tgtEl>
                                          <p:spTgt spid="40"/>
                                        </p:tgtEl>
                                        <p:attrNameLst>
                                          <p:attrName>ppt_y</p:attrName>
                                        </p:attrNameLst>
                                      </p:cBhvr>
                                      <p:tavLst>
                                        <p:tav tm="0">
                                          <p:val>
                                            <p:strVal val="#ppt_y+0.1"/>
                                          </p:val>
                                        </p:tav>
                                        <p:tav tm="100000">
                                          <p:val>
                                            <p:strVal val="#ppt_y"/>
                                          </p:val>
                                        </p:tav>
                                      </p:tavLst>
                                    </p:anim>
                                    <p:animEffect transition="in" filter="fade">
                                      <p:cBhvr>
                                        <p:cTn id="152" dur="500"/>
                                        <p:tgtEl>
                                          <p:spTgt spid="40"/>
                                        </p:tgtEl>
                                      </p:cBhvr>
                                    </p:animEffect>
                                  </p:childTnLst>
                                </p:cTn>
                              </p:par>
                            </p:childTnLst>
                          </p:cTn>
                        </p:par>
                      </p:childTnLst>
                    </p:cTn>
                  </p:par>
                  <p:par>
                    <p:cTn id="154" fill="hold">
                      <p:stCondLst>
                        <p:cond delay="indefinite"/>
                      </p:stCondLst>
                      <p:childTnLst>
                        <p:par>
                          <p:cTn id="155" fill="hold">
                            <p:stCondLst>
                              <p:cond delay="0"/>
                            </p:stCondLst>
                            <p:childTnLst>
                              <p:par>
                                <p:cTn id="160" presetID="2" presetClass="entr" presetSubtype="4" fill="hold" grpId="0" nodeType="clickEffect">
                                  <p:stCondLst>
                                    <p:cond delay="0"/>
                                  </p:stCondLst>
                                  <p:childTnLst>
                                    <p:set>
                                      <p:cBhvr>
                                        <p:cTn id="156" dur="1" fill="hold">
                                          <p:stCondLst>
                                            <p:cond delay="0"/>
                                          </p:stCondLst>
                                        </p:cTn>
                                        <p:tgtEl>
                                          <p:spTgt spid="41"/>
                                        </p:tgtEl>
                                        <p:attrNameLst>
                                          <p:attrName>style.visibility</p:attrName>
                                        </p:attrNameLst>
                                      </p:cBhvr>
                                      <p:to>
                                        <p:strVal val="visible"/>
                                      </p:to>
                                    </p:set>
                                    <p:anim calcmode="lin" valueType="num">
                                      <p:cBhvr additive="base">
                                        <p:cTn id="157" dur="500" fill="hold"/>
                                        <p:tgtEl>
                                          <p:spTgt spid="41"/>
                                        </p:tgtEl>
                                        <p:attrNameLst>
                                          <p:attrName>ppt_x</p:attrName>
                                        </p:attrNameLst>
                                      </p:cBhvr>
                                      <p:tavLst>
                                        <p:tav tm="0">
                                          <p:val>
                                            <p:strVal val="#ppt_x"/>
                                          </p:val>
                                        </p:tav>
                                        <p:tav tm="100000">
                                          <p:val>
                                            <p:strVal val="#ppt_x"/>
                                          </p:val>
                                        </p:tav>
                                      </p:tavLst>
                                    </p:anim>
                                    <p:anim calcmode="lin" valueType="num">
                                      <p:cBhvr additive="base">
                                        <p:cTn id="158" dur="500" fill="hold"/>
                                        <p:tgtEl>
                                          <p:spTgt spid="41"/>
                                        </p:tgtEl>
                                        <p:attrNameLst>
                                          <p:attrName>ppt_y</p:attrName>
                                        </p:attrNameLst>
                                      </p:cBhvr>
                                      <p:tavLst>
                                        <p:tav tm="0">
                                          <p:val>
                                            <p:strVal val="#ppt_y+0.1"/>
                                          </p:val>
                                        </p:tav>
                                        <p:tav tm="100000">
                                          <p:val>
                                            <p:strVal val="#ppt_y"/>
                                          </p:val>
                                        </p:tav>
                                      </p:tavLst>
                                    </p:anim>
                                    <p:animEffect transition="in" filter="fade">
                                      <p:cBhvr>
                                        <p:cTn id="159" dur="500"/>
                                        <p:tgtEl>
                                          <p:spTgt spid="41"/>
                                        </p:tgtEl>
                                      </p:cBhvr>
                                    </p:animEffect>
                                  </p:childTnLst>
                                </p:cTn>
                              </p:par>
                              <p:par>
                                <p:cTn id="165" presetID="2" presetClass="entr" presetSubtype="4" fill="hold" grpId="0" nodeType="withEffect">
                                  <p:stCondLst>
                                    <p:cond delay="100"/>
                                  </p:stCondLst>
                                  <p:childTnLst>
                                    <p:set>
                                      <p:cBhvr>
                                        <p:cTn id="161" dur="1" fill="hold">
                                          <p:stCondLst>
                                            <p:cond delay="0"/>
                                          </p:stCondLst>
                                        </p:cTn>
                                        <p:tgtEl>
                                          <p:spTgt spid="42"/>
                                        </p:tgtEl>
                                        <p:attrNameLst>
                                          <p:attrName>style.visibility</p:attrName>
                                        </p:attrNameLst>
                                      </p:cBhvr>
                                      <p:to>
                                        <p:strVal val="visible"/>
                                      </p:to>
                                    </p:set>
                                    <p:anim calcmode="lin" valueType="num">
                                      <p:cBhvr additive="base">
                                        <p:cTn id="162" dur="500" fill="hold"/>
                                        <p:tgtEl>
                                          <p:spTgt spid="42"/>
                                        </p:tgtEl>
                                        <p:attrNameLst>
                                          <p:attrName>ppt_x</p:attrName>
                                        </p:attrNameLst>
                                      </p:cBhvr>
                                      <p:tavLst>
                                        <p:tav tm="0">
                                          <p:val>
                                            <p:strVal val="#ppt_x"/>
                                          </p:val>
                                        </p:tav>
                                        <p:tav tm="100000">
                                          <p:val>
                                            <p:strVal val="#ppt_x"/>
                                          </p:val>
                                        </p:tav>
                                      </p:tavLst>
                                    </p:anim>
                                    <p:anim calcmode="lin" valueType="num">
                                      <p:cBhvr additive="base">
                                        <p:cTn id="163" dur="500" fill="hold"/>
                                        <p:tgtEl>
                                          <p:spTgt spid="42"/>
                                        </p:tgtEl>
                                        <p:attrNameLst>
                                          <p:attrName>ppt_y</p:attrName>
                                        </p:attrNameLst>
                                      </p:cBhvr>
                                      <p:tavLst>
                                        <p:tav tm="0">
                                          <p:val>
                                            <p:strVal val="#ppt_y+0.1"/>
                                          </p:val>
                                        </p:tav>
                                        <p:tav tm="100000">
                                          <p:val>
                                            <p:strVal val="#ppt_y"/>
                                          </p:val>
                                        </p:tav>
                                      </p:tavLst>
                                    </p:anim>
                                    <p:animEffect transition="in" filter="fade">
                                      <p:cBhvr>
                                        <p:cTn id="164" dur="500"/>
                                        <p:tgtEl>
                                          <p:spTgt spid="42"/>
                                        </p:tgtEl>
                                      </p:cBhvr>
                                    </p:animEffect>
                                  </p:childTnLst>
                                </p:cTn>
                              </p:par>
                              <p:par>
                                <p:cTn id="170" presetID="2" presetClass="entr" presetSubtype="4" fill="hold" grpId="0" nodeType="withEffect">
                                  <p:stCondLst>
                                    <p:cond delay="200"/>
                                  </p:stCondLst>
                                  <p:childTnLst>
                                    <p:set>
                                      <p:cBhvr>
                                        <p:cTn id="166" dur="1" fill="hold">
                                          <p:stCondLst>
                                            <p:cond delay="0"/>
                                          </p:stCondLst>
                                        </p:cTn>
                                        <p:tgtEl>
                                          <p:spTgt spid="43"/>
                                        </p:tgtEl>
                                        <p:attrNameLst>
                                          <p:attrName>style.visibility</p:attrName>
                                        </p:attrNameLst>
                                      </p:cBhvr>
                                      <p:to>
                                        <p:strVal val="visible"/>
                                      </p:to>
                                    </p:set>
                                    <p:anim calcmode="lin" valueType="num">
                                      <p:cBhvr additive="base">
                                        <p:cTn id="167" dur="500" fill="hold"/>
                                        <p:tgtEl>
                                          <p:spTgt spid="43"/>
                                        </p:tgtEl>
                                        <p:attrNameLst>
                                          <p:attrName>ppt_x</p:attrName>
                                        </p:attrNameLst>
                                      </p:cBhvr>
                                      <p:tavLst>
                                        <p:tav tm="0">
                                          <p:val>
                                            <p:strVal val="#ppt_x"/>
                                          </p:val>
                                        </p:tav>
                                        <p:tav tm="100000">
                                          <p:val>
                                            <p:strVal val="#ppt_x"/>
                                          </p:val>
                                        </p:tav>
                                      </p:tavLst>
                                    </p:anim>
                                    <p:anim calcmode="lin" valueType="num">
                                      <p:cBhvr additive="base">
                                        <p:cTn id="168" dur="500" fill="hold"/>
                                        <p:tgtEl>
                                          <p:spTgt spid="43"/>
                                        </p:tgtEl>
                                        <p:attrNameLst>
                                          <p:attrName>ppt_y</p:attrName>
                                        </p:attrNameLst>
                                      </p:cBhvr>
                                      <p:tavLst>
                                        <p:tav tm="0">
                                          <p:val>
                                            <p:strVal val="#ppt_y+0.1"/>
                                          </p:val>
                                        </p:tav>
                                        <p:tav tm="100000">
                                          <p:val>
                                            <p:strVal val="#ppt_y"/>
                                          </p:val>
                                        </p:tav>
                                      </p:tavLst>
                                    </p:anim>
                                    <p:animEffect transition="in" filter="fade">
                                      <p:cBhvr>
                                        <p:cTn id="169" dur="500"/>
                                        <p:tgtEl>
                                          <p:spTgt spid="43"/>
                                        </p:tgtEl>
                                      </p:cBhvr>
                                    </p:animEffect>
                                  </p:childTnLst>
                                </p:cTn>
                              </p:par>
                              <p:par>
                                <p:cTn id="175" presetID="2" presetClass="entr" presetSubtype="4" fill="hold" grpId="0" nodeType="withEffect">
                                  <p:stCondLst>
                                    <p:cond delay="300"/>
                                  </p:stCondLst>
                                  <p:childTnLst>
                                    <p:set>
                                      <p:cBhvr>
                                        <p:cTn id="171" dur="1" fill="hold">
                                          <p:stCondLst>
                                            <p:cond delay="0"/>
                                          </p:stCondLst>
                                        </p:cTn>
                                        <p:tgtEl>
                                          <p:spTgt spid="44"/>
                                        </p:tgtEl>
                                        <p:attrNameLst>
                                          <p:attrName>style.visibility</p:attrName>
                                        </p:attrNameLst>
                                      </p:cBhvr>
                                      <p:to>
                                        <p:strVal val="visible"/>
                                      </p:to>
                                    </p:set>
                                    <p:anim calcmode="lin" valueType="num">
                                      <p:cBhvr additive="base">
                                        <p:cTn id="172" dur="500" fill="hold"/>
                                        <p:tgtEl>
                                          <p:spTgt spid="44"/>
                                        </p:tgtEl>
                                        <p:attrNameLst>
                                          <p:attrName>ppt_x</p:attrName>
                                        </p:attrNameLst>
                                      </p:cBhvr>
                                      <p:tavLst>
                                        <p:tav tm="0">
                                          <p:val>
                                            <p:strVal val="#ppt_x"/>
                                          </p:val>
                                        </p:tav>
                                        <p:tav tm="100000">
                                          <p:val>
                                            <p:strVal val="#ppt_x"/>
                                          </p:val>
                                        </p:tav>
                                      </p:tavLst>
                                    </p:anim>
                                    <p:anim calcmode="lin" valueType="num">
                                      <p:cBhvr additive="base">
                                        <p:cTn id="173" dur="500" fill="hold"/>
                                        <p:tgtEl>
                                          <p:spTgt spid="44"/>
                                        </p:tgtEl>
                                        <p:attrNameLst>
                                          <p:attrName>ppt_y</p:attrName>
                                        </p:attrNameLst>
                                      </p:cBhvr>
                                      <p:tavLst>
                                        <p:tav tm="0">
                                          <p:val>
                                            <p:strVal val="#ppt_y+0.1"/>
                                          </p:val>
                                        </p:tav>
                                        <p:tav tm="100000">
                                          <p:val>
                                            <p:strVal val="#ppt_y"/>
                                          </p:val>
                                        </p:tav>
                                      </p:tavLst>
                                    </p:anim>
                                    <p:animEffect transition="in" filter="fade">
                                      <p:cBhvr>
                                        <p:cTn id="174" dur="500"/>
                                        <p:tgtEl>
                                          <p:spTgt spid="44"/>
                                        </p:tgtEl>
                                      </p:cBhvr>
                                    </p:animEffect>
                                  </p:childTnLst>
                                </p:cTn>
                              </p:par>
                            </p:childTnLst>
                          </p:cTn>
                        </p:par>
                      </p:childTnLst>
                    </p:cTn>
                  </p:par>
                  <p:par>
                    <p:cTn id="176" fill="hold">
                      <p:stCondLst>
                        <p:cond delay="indefinite"/>
                      </p:stCondLst>
                      <p:childTnLst>
                        <p:par>
                          <p:cTn id="177" fill="hold">
                            <p:stCondLst>
                              <p:cond delay="0"/>
                            </p:stCondLst>
                            <p:childTnLst>
                              <p:par>
                                <p:cTn id="182" presetID="2" presetClass="entr" presetSubtype="4" fill="hold" grpId="0" nodeType="clickEffect">
                                  <p:stCondLst>
                                    <p:cond delay="0"/>
                                  </p:stCondLst>
                                  <p:childTnLst>
                                    <p:set>
                                      <p:cBhvr>
                                        <p:cTn id="178" dur="1" fill="hold">
                                          <p:stCondLst>
                                            <p:cond delay="0"/>
                                          </p:stCondLst>
                                        </p:cTn>
                                        <p:tgtEl>
                                          <p:spTgt spid="45"/>
                                        </p:tgtEl>
                                        <p:attrNameLst>
                                          <p:attrName>style.visibility</p:attrName>
                                        </p:attrNameLst>
                                      </p:cBhvr>
                                      <p:to>
                                        <p:strVal val="visible"/>
                                      </p:to>
                                    </p:set>
                                    <p:anim calcmode="lin" valueType="num">
                                      <p:cBhvr additive="base">
                                        <p:cTn id="179" dur="500" fill="hold"/>
                                        <p:tgtEl>
                                          <p:spTgt spid="45"/>
                                        </p:tgtEl>
                                        <p:attrNameLst>
                                          <p:attrName>ppt_x</p:attrName>
                                        </p:attrNameLst>
                                      </p:cBhvr>
                                      <p:tavLst>
                                        <p:tav tm="0">
                                          <p:val>
                                            <p:strVal val="#ppt_x"/>
                                          </p:val>
                                        </p:tav>
                                        <p:tav tm="100000">
                                          <p:val>
                                            <p:strVal val="#ppt_x"/>
                                          </p:val>
                                        </p:tav>
                                      </p:tavLst>
                                    </p:anim>
                                    <p:anim calcmode="lin" valueType="num">
                                      <p:cBhvr additive="base">
                                        <p:cTn id="180" dur="500" fill="hold"/>
                                        <p:tgtEl>
                                          <p:spTgt spid="45"/>
                                        </p:tgtEl>
                                        <p:attrNameLst>
                                          <p:attrName>ppt_y</p:attrName>
                                        </p:attrNameLst>
                                      </p:cBhvr>
                                      <p:tavLst>
                                        <p:tav tm="0">
                                          <p:val>
                                            <p:strVal val="#ppt_y+0.1"/>
                                          </p:val>
                                        </p:tav>
                                        <p:tav tm="100000">
                                          <p:val>
                                            <p:strVal val="#ppt_y"/>
                                          </p:val>
                                        </p:tav>
                                      </p:tavLst>
                                    </p:anim>
                                    <p:animEffect transition="in" filter="fade">
                                      <p:cBhvr>
                                        <p:cTn id="181" dur="500"/>
                                        <p:tgtEl>
                                          <p:spTgt spid="45"/>
                                        </p:tgtEl>
                                      </p:cBhvr>
                                    </p:animEffect>
                                  </p:childTnLst>
                                </p:cTn>
                              </p:par>
                              <p:par>
                                <p:cTn id="187" presetID="2" presetClass="entr" presetSubtype="4" fill="hold" grpId="0" nodeType="withEffect">
                                  <p:stCondLst>
                                    <p:cond delay="0"/>
                                  </p:stCondLst>
                                  <p:childTnLst>
                                    <p:set>
                                      <p:cBhvr>
                                        <p:cTn id="183" dur="1" fill="hold">
                                          <p:stCondLst>
                                            <p:cond delay="0"/>
                                          </p:stCondLst>
                                        </p:cTn>
                                        <p:tgtEl>
                                          <p:spTgt spid="46"/>
                                        </p:tgtEl>
                                        <p:attrNameLst>
                                          <p:attrName>style.visibility</p:attrName>
                                        </p:attrNameLst>
                                      </p:cBhvr>
                                      <p:to>
                                        <p:strVal val="visible"/>
                                      </p:to>
                                    </p:set>
                                    <p:anim calcmode="lin" valueType="num">
                                      <p:cBhvr additive="base">
                                        <p:cTn id="184" dur="500" fill="hold"/>
                                        <p:tgtEl>
                                          <p:spTgt spid="46"/>
                                        </p:tgtEl>
                                        <p:attrNameLst>
                                          <p:attrName>ppt_x</p:attrName>
                                        </p:attrNameLst>
                                      </p:cBhvr>
                                      <p:tavLst>
                                        <p:tav tm="0">
                                          <p:val>
                                            <p:strVal val="#ppt_x"/>
                                          </p:val>
                                        </p:tav>
                                        <p:tav tm="100000">
                                          <p:val>
                                            <p:strVal val="#ppt_x"/>
                                          </p:val>
                                        </p:tav>
                                      </p:tavLst>
                                    </p:anim>
                                    <p:anim calcmode="lin" valueType="num">
                                      <p:cBhvr additive="base">
                                        <p:cTn id="185" dur="500" fill="hold"/>
                                        <p:tgtEl>
                                          <p:spTgt spid="46"/>
                                        </p:tgtEl>
                                        <p:attrNameLst>
                                          <p:attrName>ppt_y</p:attrName>
                                        </p:attrNameLst>
                                      </p:cBhvr>
                                      <p:tavLst>
                                        <p:tav tm="0">
                                          <p:val>
                                            <p:strVal val="#ppt_y+0.1"/>
                                          </p:val>
                                        </p:tav>
                                        <p:tav tm="100000">
                                          <p:val>
                                            <p:strVal val="#ppt_y"/>
                                          </p:val>
                                        </p:tav>
                                      </p:tavLst>
                                    </p:anim>
                                    <p:animEffect transition="in" filter="fade">
                                      <p:cBhvr>
                                        <p:cTn id="186" dur="500"/>
                                        <p:tgtEl>
                                          <p:spTgt spid="46"/>
                                        </p:tgtEl>
                                      </p:cBhvr>
                                    </p:animEffect>
                                  </p:childTnLst>
                                </p:cTn>
                              </p:par>
                              <p:par>
                                <p:cTn id="192" presetID="2" presetClass="entr" presetSubtype="4" fill="hold" grpId="0" nodeType="withEffect">
                                  <p:stCondLst>
                                    <p:cond delay="0"/>
                                  </p:stCondLst>
                                  <p:childTnLst>
                                    <p:set>
                                      <p:cBhvr>
                                        <p:cTn id="188" dur="1" fill="hold">
                                          <p:stCondLst>
                                            <p:cond delay="0"/>
                                          </p:stCondLst>
                                        </p:cTn>
                                        <p:tgtEl>
                                          <p:spTgt spid="47"/>
                                        </p:tgtEl>
                                        <p:attrNameLst>
                                          <p:attrName>style.visibility</p:attrName>
                                        </p:attrNameLst>
                                      </p:cBhvr>
                                      <p:to>
                                        <p:strVal val="visible"/>
                                      </p:to>
                                    </p:set>
                                    <p:anim calcmode="lin" valueType="num">
                                      <p:cBhvr additive="base">
                                        <p:cTn id="189" dur="500" fill="hold"/>
                                        <p:tgtEl>
                                          <p:spTgt spid="47"/>
                                        </p:tgtEl>
                                        <p:attrNameLst>
                                          <p:attrName>ppt_x</p:attrName>
                                        </p:attrNameLst>
                                      </p:cBhvr>
                                      <p:tavLst>
                                        <p:tav tm="0">
                                          <p:val>
                                            <p:strVal val="#ppt_x"/>
                                          </p:val>
                                        </p:tav>
                                        <p:tav tm="100000">
                                          <p:val>
                                            <p:strVal val="#ppt_x"/>
                                          </p:val>
                                        </p:tav>
                                      </p:tavLst>
                                    </p:anim>
                                    <p:anim calcmode="lin" valueType="num">
                                      <p:cBhvr additive="base">
                                        <p:cTn id="190" dur="500" fill="hold"/>
                                        <p:tgtEl>
                                          <p:spTgt spid="47"/>
                                        </p:tgtEl>
                                        <p:attrNameLst>
                                          <p:attrName>ppt_y</p:attrName>
                                        </p:attrNameLst>
                                      </p:cBhvr>
                                      <p:tavLst>
                                        <p:tav tm="0">
                                          <p:val>
                                            <p:strVal val="#ppt_y+0.1"/>
                                          </p:val>
                                        </p:tav>
                                        <p:tav tm="100000">
                                          <p:val>
                                            <p:strVal val="#ppt_y"/>
                                          </p:val>
                                        </p:tav>
                                      </p:tavLst>
                                    </p:anim>
                                    <p:animEffect transition="in" filter="fade">
                                      <p:cBhvr>
                                        <p:cTn id="19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Eight Fallacies of Distributed Computing</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False assumptions every newcomer makes - collected by engineers at Sun Microsystems, 1994-97</a:t>
            </a:r>
          </a:p>
        </p:txBody>
      </p:sp>
      <p:sp>
        <p:nvSpPr>
          <p:cNvPr id="11" name="a1u_card10"/>
          <p:cNvSpPr/>
          <p:nvPr/>
        </p:nvSpPr>
        <p:spPr>
          <a:xfrm>
            <a:off x="457200" y="1280160"/>
            <a:ext cx="1938528" cy="868680"/>
          </a:xfrm>
          <a:prstGeom prst="roundRect">
            <a:avLst>
              <a:gd name="adj" fmla="val 1263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11"/>
          <p:cNvSpPr/>
          <p:nvPr/>
        </p:nvSpPr>
        <p:spPr>
          <a:xfrm>
            <a:off x="585216" y="1508760"/>
            <a:ext cx="402336" cy="402336"/>
          </a:xfrm>
          <a:prstGeom prst="roundRect">
            <a:avLst>
              <a:gd name="adj" fmla="val 18181"/>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nt12"/>
          <p:cNvSpPr txBox="1"/>
          <p:nvPr/>
        </p:nvSpPr>
        <p:spPr>
          <a:xfrm>
            <a:off x="585216" y="1508760"/>
            <a:ext cx="402336" cy="402336"/>
          </a:xfrm>
          <a:prstGeom prst="rect">
            <a:avLst/>
          </a:prstGeom>
          <a:noFill/>
        </p:spPr>
        <p:txBody>
          <a:bodyPr wrap="square" lIns="0" tIns="0" rIns="0" bIns="0" anchor="ctr">
            <a:spAutoFit/>
          </a:bodyPr>
          <a:lstStyle/>
          <a:p>
            <a:pPr algn="ctr"/>
            <a:r>
              <a:rPr sz="1200" b="1">
                <a:solidFill>
                  <a:srgbClr val="FFFFFF"/>
                </a:solidFill>
                <a:latin typeface="Segoe UI"/>
              </a:rPr>
              <a:t>1</a:t>
            </a:r>
          </a:p>
        </p:txBody>
      </p:sp>
      <p:sp>
        <p:nvSpPr>
          <p:cNvPr id="14" name="a1u_f13"/>
          <p:cNvSpPr txBox="1"/>
          <p:nvPr/>
        </p:nvSpPr>
        <p:spPr>
          <a:xfrm>
            <a:off x="1078992" y="1353312"/>
            <a:ext cx="1243584" cy="731520"/>
          </a:xfrm>
          <a:prstGeom prst="rect">
            <a:avLst/>
          </a:prstGeom>
          <a:noFill/>
        </p:spPr>
        <p:txBody>
          <a:bodyPr wrap="square" lIns="0" tIns="0" rIns="0" bIns="0" anchor="ctr">
            <a:spAutoFit/>
          </a:bodyPr>
          <a:lstStyle/>
          <a:p>
            <a:pPr algn="l"/>
            <a:r>
              <a:rPr sz="1000" b="1">
                <a:solidFill>
                  <a:srgbClr val="1C1917"/>
                </a:solidFill>
                <a:latin typeface="Segoe UI"/>
              </a:rPr>
              <a:t>The network is reliable</a:t>
            </a:r>
          </a:p>
        </p:txBody>
      </p:sp>
      <p:sp>
        <p:nvSpPr>
          <p:cNvPr id="15" name="a1ud90_card14"/>
          <p:cNvSpPr/>
          <p:nvPr/>
        </p:nvSpPr>
        <p:spPr>
          <a:xfrm>
            <a:off x="2551176" y="1280160"/>
            <a:ext cx="1938528" cy="868680"/>
          </a:xfrm>
          <a:prstGeom prst="roundRect">
            <a:avLst>
              <a:gd name="adj" fmla="val 1263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90_n15"/>
          <p:cNvSpPr/>
          <p:nvPr/>
        </p:nvSpPr>
        <p:spPr>
          <a:xfrm>
            <a:off x="2679192" y="1508760"/>
            <a:ext cx="402336" cy="402336"/>
          </a:xfrm>
          <a:prstGeom prst="roundRect">
            <a:avLst>
              <a:gd name="adj" fmla="val 18181"/>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90_nt16"/>
          <p:cNvSpPr txBox="1"/>
          <p:nvPr/>
        </p:nvSpPr>
        <p:spPr>
          <a:xfrm>
            <a:off x="2679192" y="1508760"/>
            <a:ext cx="402336" cy="402336"/>
          </a:xfrm>
          <a:prstGeom prst="rect">
            <a:avLst/>
          </a:prstGeom>
          <a:noFill/>
        </p:spPr>
        <p:txBody>
          <a:bodyPr wrap="square" lIns="0" tIns="0" rIns="0" bIns="0" anchor="ctr">
            <a:spAutoFit/>
          </a:bodyPr>
          <a:lstStyle/>
          <a:p>
            <a:pPr algn="ctr"/>
            <a:r>
              <a:rPr sz="1200" b="1">
                <a:solidFill>
                  <a:srgbClr val="FFFFFF"/>
                </a:solidFill>
                <a:latin typeface="Segoe UI"/>
              </a:rPr>
              <a:t>2</a:t>
            </a:r>
          </a:p>
        </p:txBody>
      </p:sp>
      <p:sp>
        <p:nvSpPr>
          <p:cNvPr id="18" name="a1ud90_f17"/>
          <p:cNvSpPr txBox="1"/>
          <p:nvPr/>
        </p:nvSpPr>
        <p:spPr>
          <a:xfrm>
            <a:off x="3172968" y="1353312"/>
            <a:ext cx="1243584" cy="731520"/>
          </a:xfrm>
          <a:prstGeom prst="rect">
            <a:avLst/>
          </a:prstGeom>
          <a:noFill/>
        </p:spPr>
        <p:txBody>
          <a:bodyPr wrap="square" lIns="0" tIns="0" rIns="0" bIns="0" anchor="ctr">
            <a:spAutoFit/>
          </a:bodyPr>
          <a:lstStyle/>
          <a:p>
            <a:pPr algn="l"/>
            <a:r>
              <a:rPr sz="1000" b="1">
                <a:solidFill>
                  <a:srgbClr val="1C1917"/>
                </a:solidFill>
                <a:latin typeface="Segoe UI"/>
              </a:rPr>
              <a:t>Latency is zero</a:t>
            </a:r>
          </a:p>
        </p:txBody>
      </p:sp>
      <p:sp>
        <p:nvSpPr>
          <p:cNvPr id="19" name="a1ud180_card18"/>
          <p:cNvSpPr/>
          <p:nvPr/>
        </p:nvSpPr>
        <p:spPr>
          <a:xfrm>
            <a:off x="4645152" y="1280160"/>
            <a:ext cx="1938528" cy="868680"/>
          </a:xfrm>
          <a:prstGeom prst="roundRect">
            <a:avLst>
              <a:gd name="adj" fmla="val 1263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180_n19"/>
          <p:cNvSpPr/>
          <p:nvPr/>
        </p:nvSpPr>
        <p:spPr>
          <a:xfrm>
            <a:off x="4773168" y="1508760"/>
            <a:ext cx="402336" cy="402336"/>
          </a:xfrm>
          <a:prstGeom prst="roundRect">
            <a:avLst>
              <a:gd name="adj" fmla="val 18181"/>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180_nt20"/>
          <p:cNvSpPr txBox="1"/>
          <p:nvPr/>
        </p:nvSpPr>
        <p:spPr>
          <a:xfrm>
            <a:off x="4773168" y="1508760"/>
            <a:ext cx="402336" cy="402336"/>
          </a:xfrm>
          <a:prstGeom prst="rect">
            <a:avLst/>
          </a:prstGeom>
          <a:noFill/>
        </p:spPr>
        <p:txBody>
          <a:bodyPr wrap="square" lIns="0" tIns="0" rIns="0" bIns="0" anchor="ctr">
            <a:spAutoFit/>
          </a:bodyPr>
          <a:lstStyle/>
          <a:p>
            <a:pPr algn="ctr"/>
            <a:r>
              <a:rPr sz="1200" b="1">
                <a:solidFill>
                  <a:srgbClr val="FFFFFF"/>
                </a:solidFill>
                <a:latin typeface="Segoe UI"/>
              </a:rPr>
              <a:t>3</a:t>
            </a:r>
          </a:p>
        </p:txBody>
      </p:sp>
      <p:sp>
        <p:nvSpPr>
          <p:cNvPr id="22" name="a1ud180_f21"/>
          <p:cNvSpPr txBox="1"/>
          <p:nvPr/>
        </p:nvSpPr>
        <p:spPr>
          <a:xfrm>
            <a:off x="5266944" y="1353312"/>
            <a:ext cx="1243584" cy="731520"/>
          </a:xfrm>
          <a:prstGeom prst="rect">
            <a:avLst/>
          </a:prstGeom>
          <a:noFill/>
        </p:spPr>
        <p:txBody>
          <a:bodyPr wrap="square" lIns="0" tIns="0" rIns="0" bIns="0" anchor="ctr">
            <a:spAutoFit/>
          </a:bodyPr>
          <a:lstStyle/>
          <a:p>
            <a:pPr algn="l"/>
            <a:r>
              <a:rPr sz="1000" b="1">
                <a:solidFill>
                  <a:srgbClr val="1C1917"/>
                </a:solidFill>
                <a:latin typeface="Segoe UI"/>
              </a:rPr>
              <a:t>Bandwidth is infinite</a:t>
            </a:r>
          </a:p>
        </p:txBody>
      </p:sp>
      <p:sp>
        <p:nvSpPr>
          <p:cNvPr id="23" name="a1ud270_card22"/>
          <p:cNvSpPr/>
          <p:nvPr/>
        </p:nvSpPr>
        <p:spPr>
          <a:xfrm>
            <a:off x="6739128" y="1280160"/>
            <a:ext cx="1938528" cy="868680"/>
          </a:xfrm>
          <a:prstGeom prst="roundRect">
            <a:avLst>
              <a:gd name="adj" fmla="val 1263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ud270_n23"/>
          <p:cNvSpPr/>
          <p:nvPr/>
        </p:nvSpPr>
        <p:spPr>
          <a:xfrm>
            <a:off x="6867144" y="1508760"/>
            <a:ext cx="402336" cy="402336"/>
          </a:xfrm>
          <a:prstGeom prst="roundRect">
            <a:avLst>
              <a:gd name="adj" fmla="val 18181"/>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ud270_nt24"/>
          <p:cNvSpPr txBox="1"/>
          <p:nvPr/>
        </p:nvSpPr>
        <p:spPr>
          <a:xfrm>
            <a:off x="6867144" y="1508760"/>
            <a:ext cx="402336" cy="402336"/>
          </a:xfrm>
          <a:prstGeom prst="rect">
            <a:avLst/>
          </a:prstGeom>
          <a:noFill/>
        </p:spPr>
        <p:txBody>
          <a:bodyPr wrap="square" lIns="0" tIns="0" rIns="0" bIns="0" anchor="ctr">
            <a:spAutoFit/>
          </a:bodyPr>
          <a:lstStyle/>
          <a:p>
            <a:pPr algn="ctr"/>
            <a:r>
              <a:rPr sz="1200" b="1">
                <a:solidFill>
                  <a:srgbClr val="FFFFFF"/>
                </a:solidFill>
                <a:latin typeface="Segoe UI"/>
              </a:rPr>
              <a:t>4</a:t>
            </a:r>
          </a:p>
        </p:txBody>
      </p:sp>
      <p:sp>
        <p:nvSpPr>
          <p:cNvPr id="26" name="a1ud270_f25"/>
          <p:cNvSpPr txBox="1"/>
          <p:nvPr/>
        </p:nvSpPr>
        <p:spPr>
          <a:xfrm>
            <a:off x="7360920" y="1353312"/>
            <a:ext cx="1243584" cy="731520"/>
          </a:xfrm>
          <a:prstGeom prst="rect">
            <a:avLst/>
          </a:prstGeom>
          <a:noFill/>
        </p:spPr>
        <p:txBody>
          <a:bodyPr wrap="square" lIns="0" tIns="0" rIns="0" bIns="0" anchor="ctr">
            <a:spAutoFit/>
          </a:bodyPr>
          <a:lstStyle/>
          <a:p>
            <a:pPr algn="l"/>
            <a:r>
              <a:rPr sz="1000" b="1">
                <a:solidFill>
                  <a:srgbClr val="1C1917"/>
                </a:solidFill>
                <a:latin typeface="Segoe UI"/>
              </a:rPr>
              <a:t>The network is secure</a:t>
            </a:r>
          </a:p>
        </p:txBody>
      </p:sp>
      <p:sp>
        <p:nvSpPr>
          <p:cNvPr id="27" name="a2u_card26"/>
          <p:cNvSpPr/>
          <p:nvPr/>
        </p:nvSpPr>
        <p:spPr>
          <a:xfrm>
            <a:off x="457200" y="2286000"/>
            <a:ext cx="1938528" cy="868680"/>
          </a:xfrm>
          <a:prstGeom prst="roundRect">
            <a:avLst>
              <a:gd name="adj" fmla="val 1263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_n27"/>
          <p:cNvSpPr/>
          <p:nvPr/>
        </p:nvSpPr>
        <p:spPr>
          <a:xfrm>
            <a:off x="585216" y="2514600"/>
            <a:ext cx="402336" cy="402336"/>
          </a:xfrm>
          <a:prstGeom prst="roundRect">
            <a:avLst>
              <a:gd name="adj" fmla="val 18181"/>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_nt28"/>
          <p:cNvSpPr txBox="1"/>
          <p:nvPr/>
        </p:nvSpPr>
        <p:spPr>
          <a:xfrm>
            <a:off x="585216" y="2514600"/>
            <a:ext cx="402336" cy="402336"/>
          </a:xfrm>
          <a:prstGeom prst="rect">
            <a:avLst/>
          </a:prstGeom>
          <a:noFill/>
        </p:spPr>
        <p:txBody>
          <a:bodyPr wrap="square" lIns="0" tIns="0" rIns="0" bIns="0" anchor="ctr">
            <a:spAutoFit/>
          </a:bodyPr>
          <a:lstStyle/>
          <a:p>
            <a:pPr algn="ctr"/>
            <a:r>
              <a:rPr sz="1200" b="1">
                <a:solidFill>
                  <a:srgbClr val="FFFFFF"/>
                </a:solidFill>
                <a:latin typeface="Segoe UI"/>
              </a:rPr>
              <a:t>5</a:t>
            </a:r>
          </a:p>
        </p:txBody>
      </p:sp>
      <p:sp>
        <p:nvSpPr>
          <p:cNvPr id="30" name="a2u_f29"/>
          <p:cNvSpPr txBox="1"/>
          <p:nvPr/>
        </p:nvSpPr>
        <p:spPr>
          <a:xfrm>
            <a:off x="1078992" y="2359152"/>
            <a:ext cx="1243584" cy="731520"/>
          </a:xfrm>
          <a:prstGeom prst="rect">
            <a:avLst/>
          </a:prstGeom>
          <a:noFill/>
        </p:spPr>
        <p:txBody>
          <a:bodyPr wrap="square" lIns="0" tIns="0" rIns="0" bIns="0" anchor="ctr">
            <a:spAutoFit/>
          </a:bodyPr>
          <a:lstStyle/>
          <a:p>
            <a:pPr algn="l"/>
            <a:r>
              <a:rPr sz="1000" b="1">
                <a:solidFill>
                  <a:srgbClr val="1C1917"/>
                </a:solidFill>
                <a:latin typeface="Segoe UI"/>
              </a:rPr>
              <a:t>Topology doesn't change</a:t>
            </a:r>
          </a:p>
        </p:txBody>
      </p:sp>
      <p:sp>
        <p:nvSpPr>
          <p:cNvPr id="31" name="a2ud90_card30"/>
          <p:cNvSpPr/>
          <p:nvPr/>
        </p:nvSpPr>
        <p:spPr>
          <a:xfrm>
            <a:off x="2551176" y="2286000"/>
            <a:ext cx="1938528" cy="868680"/>
          </a:xfrm>
          <a:prstGeom prst="roundRect">
            <a:avLst>
              <a:gd name="adj" fmla="val 1263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ud90_n31"/>
          <p:cNvSpPr/>
          <p:nvPr/>
        </p:nvSpPr>
        <p:spPr>
          <a:xfrm>
            <a:off x="2679192" y="2514600"/>
            <a:ext cx="402336" cy="402336"/>
          </a:xfrm>
          <a:prstGeom prst="roundRect">
            <a:avLst>
              <a:gd name="adj" fmla="val 18181"/>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ud90_nt32"/>
          <p:cNvSpPr txBox="1"/>
          <p:nvPr/>
        </p:nvSpPr>
        <p:spPr>
          <a:xfrm>
            <a:off x="2679192" y="2514600"/>
            <a:ext cx="402336" cy="402336"/>
          </a:xfrm>
          <a:prstGeom prst="rect">
            <a:avLst/>
          </a:prstGeom>
          <a:noFill/>
        </p:spPr>
        <p:txBody>
          <a:bodyPr wrap="square" lIns="0" tIns="0" rIns="0" bIns="0" anchor="ctr">
            <a:spAutoFit/>
          </a:bodyPr>
          <a:lstStyle/>
          <a:p>
            <a:pPr algn="ctr"/>
            <a:r>
              <a:rPr sz="1200" b="1">
                <a:solidFill>
                  <a:srgbClr val="FFFFFF"/>
                </a:solidFill>
                <a:latin typeface="Segoe UI"/>
              </a:rPr>
              <a:t>6</a:t>
            </a:r>
          </a:p>
        </p:txBody>
      </p:sp>
      <p:sp>
        <p:nvSpPr>
          <p:cNvPr id="34" name="a2ud90_f33"/>
          <p:cNvSpPr txBox="1"/>
          <p:nvPr/>
        </p:nvSpPr>
        <p:spPr>
          <a:xfrm>
            <a:off x="3172968" y="2359152"/>
            <a:ext cx="1243584" cy="731520"/>
          </a:xfrm>
          <a:prstGeom prst="rect">
            <a:avLst/>
          </a:prstGeom>
          <a:noFill/>
        </p:spPr>
        <p:txBody>
          <a:bodyPr wrap="square" lIns="0" tIns="0" rIns="0" bIns="0" anchor="ctr">
            <a:spAutoFit/>
          </a:bodyPr>
          <a:lstStyle/>
          <a:p>
            <a:pPr algn="l"/>
            <a:r>
              <a:rPr sz="1000" b="1">
                <a:solidFill>
                  <a:srgbClr val="1C1917"/>
                </a:solidFill>
                <a:latin typeface="Segoe UI"/>
              </a:rPr>
              <a:t>There is one administrator</a:t>
            </a:r>
          </a:p>
        </p:txBody>
      </p:sp>
      <p:sp>
        <p:nvSpPr>
          <p:cNvPr id="35" name="a2ud180_card34"/>
          <p:cNvSpPr/>
          <p:nvPr/>
        </p:nvSpPr>
        <p:spPr>
          <a:xfrm>
            <a:off x="4645152" y="2286000"/>
            <a:ext cx="1938528" cy="868680"/>
          </a:xfrm>
          <a:prstGeom prst="roundRect">
            <a:avLst>
              <a:gd name="adj" fmla="val 1263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2ud180_n35"/>
          <p:cNvSpPr/>
          <p:nvPr/>
        </p:nvSpPr>
        <p:spPr>
          <a:xfrm>
            <a:off x="4773168" y="2514600"/>
            <a:ext cx="402336" cy="402336"/>
          </a:xfrm>
          <a:prstGeom prst="roundRect">
            <a:avLst>
              <a:gd name="adj" fmla="val 18181"/>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2ud180_nt36"/>
          <p:cNvSpPr txBox="1"/>
          <p:nvPr/>
        </p:nvSpPr>
        <p:spPr>
          <a:xfrm>
            <a:off x="4773168" y="2514600"/>
            <a:ext cx="402336" cy="402336"/>
          </a:xfrm>
          <a:prstGeom prst="rect">
            <a:avLst/>
          </a:prstGeom>
          <a:noFill/>
        </p:spPr>
        <p:txBody>
          <a:bodyPr wrap="square" lIns="0" tIns="0" rIns="0" bIns="0" anchor="ctr">
            <a:spAutoFit/>
          </a:bodyPr>
          <a:lstStyle/>
          <a:p>
            <a:pPr algn="ctr"/>
            <a:r>
              <a:rPr sz="1200" b="1">
                <a:solidFill>
                  <a:srgbClr val="FFFFFF"/>
                </a:solidFill>
                <a:latin typeface="Segoe UI"/>
              </a:rPr>
              <a:t>7</a:t>
            </a:r>
          </a:p>
        </p:txBody>
      </p:sp>
      <p:sp>
        <p:nvSpPr>
          <p:cNvPr id="38" name="a2ud180_f37"/>
          <p:cNvSpPr txBox="1"/>
          <p:nvPr/>
        </p:nvSpPr>
        <p:spPr>
          <a:xfrm>
            <a:off x="5266944" y="2359152"/>
            <a:ext cx="1243584" cy="731520"/>
          </a:xfrm>
          <a:prstGeom prst="rect">
            <a:avLst/>
          </a:prstGeom>
          <a:noFill/>
        </p:spPr>
        <p:txBody>
          <a:bodyPr wrap="square" lIns="0" tIns="0" rIns="0" bIns="0" anchor="ctr">
            <a:spAutoFit/>
          </a:bodyPr>
          <a:lstStyle/>
          <a:p>
            <a:pPr algn="l"/>
            <a:r>
              <a:rPr sz="1000" b="1">
                <a:solidFill>
                  <a:srgbClr val="1C1917"/>
                </a:solidFill>
                <a:latin typeface="Segoe UI"/>
              </a:rPr>
              <a:t>Transport cost is zero</a:t>
            </a:r>
          </a:p>
        </p:txBody>
      </p:sp>
      <p:sp>
        <p:nvSpPr>
          <p:cNvPr id="39" name="a2ud270_card38"/>
          <p:cNvSpPr/>
          <p:nvPr/>
        </p:nvSpPr>
        <p:spPr>
          <a:xfrm>
            <a:off x="6739128" y="2286000"/>
            <a:ext cx="1938528" cy="868680"/>
          </a:xfrm>
          <a:prstGeom prst="roundRect">
            <a:avLst>
              <a:gd name="adj" fmla="val 1263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2ud270_n39"/>
          <p:cNvSpPr/>
          <p:nvPr/>
        </p:nvSpPr>
        <p:spPr>
          <a:xfrm>
            <a:off x="6867144" y="2514600"/>
            <a:ext cx="402336" cy="402336"/>
          </a:xfrm>
          <a:prstGeom prst="roundRect">
            <a:avLst>
              <a:gd name="adj" fmla="val 18181"/>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2ud270_nt40"/>
          <p:cNvSpPr txBox="1"/>
          <p:nvPr/>
        </p:nvSpPr>
        <p:spPr>
          <a:xfrm>
            <a:off x="6867144" y="2514600"/>
            <a:ext cx="402336" cy="402336"/>
          </a:xfrm>
          <a:prstGeom prst="rect">
            <a:avLst/>
          </a:prstGeom>
          <a:noFill/>
        </p:spPr>
        <p:txBody>
          <a:bodyPr wrap="square" lIns="0" tIns="0" rIns="0" bIns="0" anchor="ctr">
            <a:spAutoFit/>
          </a:bodyPr>
          <a:lstStyle/>
          <a:p>
            <a:pPr algn="ctr"/>
            <a:r>
              <a:rPr sz="1200" b="1">
                <a:solidFill>
                  <a:srgbClr val="FFFFFF"/>
                </a:solidFill>
                <a:latin typeface="Segoe UI"/>
              </a:rPr>
              <a:t>8</a:t>
            </a:r>
          </a:p>
        </p:txBody>
      </p:sp>
      <p:sp>
        <p:nvSpPr>
          <p:cNvPr id="42" name="a2ud270_f41"/>
          <p:cNvSpPr txBox="1"/>
          <p:nvPr/>
        </p:nvSpPr>
        <p:spPr>
          <a:xfrm>
            <a:off x="7360920" y="2359152"/>
            <a:ext cx="1243584" cy="731520"/>
          </a:xfrm>
          <a:prstGeom prst="rect">
            <a:avLst/>
          </a:prstGeom>
          <a:noFill/>
        </p:spPr>
        <p:txBody>
          <a:bodyPr wrap="square" lIns="0" tIns="0" rIns="0" bIns="0" anchor="ctr">
            <a:spAutoFit/>
          </a:bodyPr>
          <a:lstStyle/>
          <a:p>
            <a:pPr algn="l"/>
            <a:r>
              <a:rPr sz="1000" b="1">
                <a:solidFill>
                  <a:srgbClr val="1C1917"/>
                </a:solidFill>
                <a:latin typeface="Segoe UI"/>
              </a:rPr>
              <a:t>The network is homogeneous</a:t>
            </a:r>
          </a:p>
        </p:txBody>
      </p:sp>
      <p:sp>
        <p:nvSpPr>
          <p:cNvPr id="43" name="a3u_nb42"/>
          <p:cNvSpPr/>
          <p:nvPr/>
        </p:nvSpPr>
        <p:spPr>
          <a:xfrm>
            <a:off x="457200" y="3429000"/>
            <a:ext cx="8229600" cy="777240"/>
          </a:xfrm>
          <a:prstGeom prst="roundRect">
            <a:avLst>
              <a:gd name="adj" fmla="val 9411"/>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3u_nacc43"/>
          <p:cNvSpPr/>
          <p:nvPr/>
        </p:nvSpPr>
        <p:spPr>
          <a:xfrm>
            <a:off x="457200" y="3429000"/>
            <a:ext cx="54864" cy="7772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3u_nt44"/>
          <p:cNvSpPr txBox="1"/>
          <p:nvPr/>
        </p:nvSpPr>
        <p:spPr>
          <a:xfrm>
            <a:off x="658368" y="3429000"/>
            <a:ext cx="7827264" cy="777240"/>
          </a:xfrm>
          <a:prstGeom prst="rect">
            <a:avLst/>
          </a:prstGeom>
          <a:noFill/>
        </p:spPr>
        <p:txBody>
          <a:bodyPr wrap="square" lIns="0" tIns="0" rIns="0" bIns="0" anchor="ctr">
            <a:spAutoFit/>
          </a:bodyPr>
          <a:lstStyle/>
          <a:p>
            <a:pPr algn="l"/>
            <a:r>
              <a:rPr sz="1000" b="1">
                <a:solidFill>
                  <a:srgbClr val="9F1239"/>
                </a:solidFill>
                <a:latin typeface="Segoe UI"/>
              </a:rPr>
              <a:t>KEY  </a:t>
            </a:r>
            <a:r>
              <a:rPr sz="1000" b="0">
                <a:solidFill>
                  <a:srgbClr val="44403C"/>
                </a:solidFill>
                <a:latin typeface="Segoe UI"/>
              </a:rPr>
              <a:t>A direct, synchronous call silently assumes the first three are true. Messaging systems - and Kafka - exist largely to absorb the moments when they are not.</a:t>
            </a:r>
          </a:p>
        </p:txBody>
      </p:sp>
      <p:sp>
        <p:nvSpPr>
          <p:cNvPr id="46" name="ft45"/>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15</a:t>
            </a:r>
          </a:p>
        </p:txBody>
      </p:sp>
      <p:sp>
        <p:nvSpPr>
          <p:cNvPr id="47" name="ft46"/>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ft47"/>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9" name="ft48"/>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9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9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9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9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18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18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18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18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27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27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27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27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par>
                                <p:cTn id="111" presetID="2" presetClass="entr" presetSubtype="4" fill="hold" grpId="0" nodeType="withEffect">
                                  <p:stCondLst>
                                    <p:cond delay="9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par>
                                <p:cTn id="116" presetID="2" presetClass="entr" presetSubtype="4" fill="hold" grpId="0" nodeType="withEffect">
                                  <p:stCondLst>
                                    <p:cond delay="9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9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par>
                                <p:cTn id="126" presetID="2" presetClass="entr" presetSubtype="4" fill="hold" grpId="0" nodeType="withEffect">
                                  <p:stCondLst>
                                    <p:cond delay="9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par>
                                <p:cTn id="131" presetID="2" presetClass="entr" presetSubtype="4" fill="hold" grpId="0" nodeType="withEffect">
                                  <p:stCondLst>
                                    <p:cond delay="180"/>
                                  </p:stCondLst>
                                  <p:childTnLst>
                                    <p:set>
                                      <p:cBhvr>
                                        <p:cTn id="127" dur="1" fill="hold">
                                          <p:stCondLst>
                                            <p:cond delay="0"/>
                                          </p:stCondLst>
                                        </p:cTn>
                                        <p:tgtEl>
                                          <p:spTgt spid="35"/>
                                        </p:tgtEl>
                                        <p:attrNameLst>
                                          <p:attrName>style.visibility</p:attrName>
                                        </p:attrNameLst>
                                      </p:cBhvr>
                                      <p:to>
                                        <p:strVal val="visible"/>
                                      </p:to>
                                    </p:set>
                                    <p:anim calcmode="lin" valueType="num">
                                      <p:cBhvr additive="base">
                                        <p:cTn id="128" dur="500" fill="hold"/>
                                        <p:tgtEl>
                                          <p:spTgt spid="35"/>
                                        </p:tgtEl>
                                        <p:attrNameLst>
                                          <p:attrName>ppt_x</p:attrName>
                                        </p:attrNameLst>
                                      </p:cBhvr>
                                      <p:tavLst>
                                        <p:tav tm="0">
                                          <p:val>
                                            <p:strVal val="#ppt_x"/>
                                          </p:val>
                                        </p:tav>
                                        <p:tav tm="100000">
                                          <p:val>
                                            <p:strVal val="#ppt_x"/>
                                          </p:val>
                                        </p:tav>
                                      </p:tavLst>
                                    </p:anim>
                                    <p:anim calcmode="lin" valueType="num">
                                      <p:cBhvr additive="base">
                                        <p:cTn id="129" dur="500" fill="hold"/>
                                        <p:tgtEl>
                                          <p:spTgt spid="35"/>
                                        </p:tgtEl>
                                        <p:attrNameLst>
                                          <p:attrName>ppt_y</p:attrName>
                                        </p:attrNameLst>
                                      </p:cBhvr>
                                      <p:tavLst>
                                        <p:tav tm="0">
                                          <p:val>
                                            <p:strVal val="#ppt_y+0.1"/>
                                          </p:val>
                                        </p:tav>
                                        <p:tav tm="100000">
                                          <p:val>
                                            <p:strVal val="#ppt_y"/>
                                          </p:val>
                                        </p:tav>
                                      </p:tavLst>
                                    </p:anim>
                                    <p:animEffect transition="in" filter="fade">
                                      <p:cBhvr>
                                        <p:cTn id="130" dur="500"/>
                                        <p:tgtEl>
                                          <p:spTgt spid="35"/>
                                        </p:tgtEl>
                                      </p:cBhvr>
                                    </p:animEffect>
                                  </p:childTnLst>
                                </p:cTn>
                              </p:par>
                              <p:par>
                                <p:cTn id="136" presetID="2" presetClass="entr" presetSubtype="4" fill="hold" grpId="0" nodeType="withEffect">
                                  <p:stCondLst>
                                    <p:cond delay="180"/>
                                  </p:stCondLst>
                                  <p:childTnLst>
                                    <p:set>
                                      <p:cBhvr>
                                        <p:cTn id="132" dur="1" fill="hold">
                                          <p:stCondLst>
                                            <p:cond delay="0"/>
                                          </p:stCondLst>
                                        </p:cTn>
                                        <p:tgtEl>
                                          <p:spTgt spid="36"/>
                                        </p:tgtEl>
                                        <p:attrNameLst>
                                          <p:attrName>style.visibility</p:attrName>
                                        </p:attrNameLst>
                                      </p:cBhvr>
                                      <p:to>
                                        <p:strVal val="visible"/>
                                      </p:to>
                                    </p:set>
                                    <p:anim calcmode="lin" valueType="num">
                                      <p:cBhvr additive="base">
                                        <p:cTn id="133" dur="500" fill="hold"/>
                                        <p:tgtEl>
                                          <p:spTgt spid="36"/>
                                        </p:tgtEl>
                                        <p:attrNameLst>
                                          <p:attrName>ppt_x</p:attrName>
                                        </p:attrNameLst>
                                      </p:cBhvr>
                                      <p:tavLst>
                                        <p:tav tm="0">
                                          <p:val>
                                            <p:strVal val="#ppt_x"/>
                                          </p:val>
                                        </p:tav>
                                        <p:tav tm="100000">
                                          <p:val>
                                            <p:strVal val="#ppt_x"/>
                                          </p:val>
                                        </p:tav>
                                      </p:tavLst>
                                    </p:anim>
                                    <p:anim calcmode="lin" valueType="num">
                                      <p:cBhvr additive="base">
                                        <p:cTn id="134" dur="500" fill="hold"/>
                                        <p:tgtEl>
                                          <p:spTgt spid="36"/>
                                        </p:tgtEl>
                                        <p:attrNameLst>
                                          <p:attrName>ppt_y</p:attrName>
                                        </p:attrNameLst>
                                      </p:cBhvr>
                                      <p:tavLst>
                                        <p:tav tm="0">
                                          <p:val>
                                            <p:strVal val="#ppt_y+0.1"/>
                                          </p:val>
                                        </p:tav>
                                        <p:tav tm="100000">
                                          <p:val>
                                            <p:strVal val="#ppt_y"/>
                                          </p:val>
                                        </p:tav>
                                      </p:tavLst>
                                    </p:anim>
                                    <p:animEffect transition="in" filter="fade">
                                      <p:cBhvr>
                                        <p:cTn id="135" dur="500"/>
                                        <p:tgtEl>
                                          <p:spTgt spid="36"/>
                                        </p:tgtEl>
                                      </p:cBhvr>
                                    </p:animEffect>
                                  </p:childTnLst>
                                </p:cTn>
                              </p:par>
                              <p:par>
                                <p:cTn id="141" presetID="2" presetClass="entr" presetSubtype="4" fill="hold" grpId="0" nodeType="withEffect">
                                  <p:stCondLst>
                                    <p:cond delay="180"/>
                                  </p:stCondLst>
                                  <p:childTnLst>
                                    <p:set>
                                      <p:cBhvr>
                                        <p:cTn id="137" dur="1" fill="hold">
                                          <p:stCondLst>
                                            <p:cond delay="0"/>
                                          </p:stCondLst>
                                        </p:cTn>
                                        <p:tgtEl>
                                          <p:spTgt spid="37"/>
                                        </p:tgtEl>
                                        <p:attrNameLst>
                                          <p:attrName>style.visibility</p:attrName>
                                        </p:attrNameLst>
                                      </p:cBhvr>
                                      <p:to>
                                        <p:strVal val="visible"/>
                                      </p:to>
                                    </p:set>
                                    <p:anim calcmode="lin" valueType="num">
                                      <p:cBhvr additive="base">
                                        <p:cTn id="138" dur="500" fill="hold"/>
                                        <p:tgtEl>
                                          <p:spTgt spid="37"/>
                                        </p:tgtEl>
                                        <p:attrNameLst>
                                          <p:attrName>ppt_x</p:attrName>
                                        </p:attrNameLst>
                                      </p:cBhvr>
                                      <p:tavLst>
                                        <p:tav tm="0">
                                          <p:val>
                                            <p:strVal val="#ppt_x"/>
                                          </p:val>
                                        </p:tav>
                                        <p:tav tm="100000">
                                          <p:val>
                                            <p:strVal val="#ppt_x"/>
                                          </p:val>
                                        </p:tav>
                                      </p:tavLst>
                                    </p:anim>
                                    <p:anim calcmode="lin" valueType="num">
                                      <p:cBhvr additive="base">
                                        <p:cTn id="139" dur="500" fill="hold"/>
                                        <p:tgtEl>
                                          <p:spTgt spid="37"/>
                                        </p:tgtEl>
                                        <p:attrNameLst>
                                          <p:attrName>ppt_y</p:attrName>
                                        </p:attrNameLst>
                                      </p:cBhvr>
                                      <p:tavLst>
                                        <p:tav tm="0">
                                          <p:val>
                                            <p:strVal val="#ppt_y+0.1"/>
                                          </p:val>
                                        </p:tav>
                                        <p:tav tm="100000">
                                          <p:val>
                                            <p:strVal val="#ppt_y"/>
                                          </p:val>
                                        </p:tav>
                                      </p:tavLst>
                                    </p:anim>
                                    <p:animEffect transition="in" filter="fade">
                                      <p:cBhvr>
                                        <p:cTn id="140" dur="500"/>
                                        <p:tgtEl>
                                          <p:spTgt spid="37"/>
                                        </p:tgtEl>
                                      </p:cBhvr>
                                    </p:animEffect>
                                  </p:childTnLst>
                                </p:cTn>
                              </p:par>
                              <p:par>
                                <p:cTn id="146" presetID="2" presetClass="entr" presetSubtype="4" fill="hold" grpId="0" nodeType="withEffect">
                                  <p:stCondLst>
                                    <p:cond delay="180"/>
                                  </p:stCondLst>
                                  <p:childTnLst>
                                    <p:set>
                                      <p:cBhvr>
                                        <p:cTn id="142" dur="1" fill="hold">
                                          <p:stCondLst>
                                            <p:cond delay="0"/>
                                          </p:stCondLst>
                                        </p:cTn>
                                        <p:tgtEl>
                                          <p:spTgt spid="38"/>
                                        </p:tgtEl>
                                        <p:attrNameLst>
                                          <p:attrName>style.visibility</p:attrName>
                                        </p:attrNameLst>
                                      </p:cBhvr>
                                      <p:to>
                                        <p:strVal val="visible"/>
                                      </p:to>
                                    </p:set>
                                    <p:anim calcmode="lin" valueType="num">
                                      <p:cBhvr additive="base">
                                        <p:cTn id="143" dur="500" fill="hold"/>
                                        <p:tgtEl>
                                          <p:spTgt spid="38"/>
                                        </p:tgtEl>
                                        <p:attrNameLst>
                                          <p:attrName>ppt_x</p:attrName>
                                        </p:attrNameLst>
                                      </p:cBhvr>
                                      <p:tavLst>
                                        <p:tav tm="0">
                                          <p:val>
                                            <p:strVal val="#ppt_x"/>
                                          </p:val>
                                        </p:tav>
                                        <p:tav tm="100000">
                                          <p:val>
                                            <p:strVal val="#ppt_x"/>
                                          </p:val>
                                        </p:tav>
                                      </p:tavLst>
                                    </p:anim>
                                    <p:anim calcmode="lin" valueType="num">
                                      <p:cBhvr additive="base">
                                        <p:cTn id="144" dur="500" fill="hold"/>
                                        <p:tgtEl>
                                          <p:spTgt spid="38"/>
                                        </p:tgtEl>
                                        <p:attrNameLst>
                                          <p:attrName>ppt_y</p:attrName>
                                        </p:attrNameLst>
                                      </p:cBhvr>
                                      <p:tavLst>
                                        <p:tav tm="0">
                                          <p:val>
                                            <p:strVal val="#ppt_y+0.1"/>
                                          </p:val>
                                        </p:tav>
                                        <p:tav tm="100000">
                                          <p:val>
                                            <p:strVal val="#ppt_y"/>
                                          </p:val>
                                        </p:tav>
                                      </p:tavLst>
                                    </p:anim>
                                    <p:animEffect transition="in" filter="fade">
                                      <p:cBhvr>
                                        <p:cTn id="145" dur="500"/>
                                        <p:tgtEl>
                                          <p:spTgt spid="38"/>
                                        </p:tgtEl>
                                      </p:cBhvr>
                                    </p:animEffect>
                                  </p:childTnLst>
                                </p:cTn>
                              </p:par>
                              <p:par>
                                <p:cTn id="151" presetID="2" presetClass="entr" presetSubtype="4" fill="hold" grpId="0" nodeType="withEffect">
                                  <p:stCondLst>
                                    <p:cond delay="270"/>
                                  </p:stCondLst>
                                  <p:childTnLst>
                                    <p:set>
                                      <p:cBhvr>
                                        <p:cTn id="147" dur="1" fill="hold">
                                          <p:stCondLst>
                                            <p:cond delay="0"/>
                                          </p:stCondLst>
                                        </p:cTn>
                                        <p:tgtEl>
                                          <p:spTgt spid="39"/>
                                        </p:tgtEl>
                                        <p:attrNameLst>
                                          <p:attrName>style.visibility</p:attrName>
                                        </p:attrNameLst>
                                      </p:cBhvr>
                                      <p:to>
                                        <p:strVal val="visible"/>
                                      </p:to>
                                    </p:set>
                                    <p:anim calcmode="lin" valueType="num">
                                      <p:cBhvr additive="base">
                                        <p:cTn id="148" dur="500" fill="hold"/>
                                        <p:tgtEl>
                                          <p:spTgt spid="39"/>
                                        </p:tgtEl>
                                        <p:attrNameLst>
                                          <p:attrName>ppt_x</p:attrName>
                                        </p:attrNameLst>
                                      </p:cBhvr>
                                      <p:tavLst>
                                        <p:tav tm="0">
                                          <p:val>
                                            <p:strVal val="#ppt_x"/>
                                          </p:val>
                                        </p:tav>
                                        <p:tav tm="100000">
                                          <p:val>
                                            <p:strVal val="#ppt_x"/>
                                          </p:val>
                                        </p:tav>
                                      </p:tavLst>
                                    </p:anim>
                                    <p:anim calcmode="lin" valueType="num">
                                      <p:cBhvr additive="base">
                                        <p:cTn id="149" dur="500" fill="hold"/>
                                        <p:tgtEl>
                                          <p:spTgt spid="39"/>
                                        </p:tgtEl>
                                        <p:attrNameLst>
                                          <p:attrName>ppt_y</p:attrName>
                                        </p:attrNameLst>
                                      </p:cBhvr>
                                      <p:tavLst>
                                        <p:tav tm="0">
                                          <p:val>
                                            <p:strVal val="#ppt_y+0.1"/>
                                          </p:val>
                                        </p:tav>
                                        <p:tav tm="100000">
                                          <p:val>
                                            <p:strVal val="#ppt_y"/>
                                          </p:val>
                                        </p:tav>
                                      </p:tavLst>
                                    </p:anim>
                                    <p:animEffect transition="in" filter="fade">
                                      <p:cBhvr>
                                        <p:cTn id="150" dur="500"/>
                                        <p:tgtEl>
                                          <p:spTgt spid="39"/>
                                        </p:tgtEl>
                                      </p:cBhvr>
                                    </p:animEffect>
                                  </p:childTnLst>
                                </p:cTn>
                              </p:par>
                              <p:par>
                                <p:cTn id="156" presetID="2" presetClass="entr" presetSubtype="4" fill="hold" grpId="0" nodeType="withEffect">
                                  <p:stCondLst>
                                    <p:cond delay="270"/>
                                  </p:stCondLst>
                                  <p:childTnLst>
                                    <p:set>
                                      <p:cBhvr>
                                        <p:cTn id="152" dur="1" fill="hold">
                                          <p:stCondLst>
                                            <p:cond delay="0"/>
                                          </p:stCondLst>
                                        </p:cTn>
                                        <p:tgtEl>
                                          <p:spTgt spid="40"/>
                                        </p:tgtEl>
                                        <p:attrNameLst>
                                          <p:attrName>style.visibility</p:attrName>
                                        </p:attrNameLst>
                                      </p:cBhvr>
                                      <p:to>
                                        <p:strVal val="visible"/>
                                      </p:to>
                                    </p:set>
                                    <p:anim calcmode="lin" valueType="num">
                                      <p:cBhvr additive="base">
                                        <p:cTn id="153" dur="500" fill="hold"/>
                                        <p:tgtEl>
                                          <p:spTgt spid="40"/>
                                        </p:tgtEl>
                                        <p:attrNameLst>
                                          <p:attrName>ppt_x</p:attrName>
                                        </p:attrNameLst>
                                      </p:cBhvr>
                                      <p:tavLst>
                                        <p:tav tm="0">
                                          <p:val>
                                            <p:strVal val="#ppt_x"/>
                                          </p:val>
                                        </p:tav>
                                        <p:tav tm="100000">
                                          <p:val>
                                            <p:strVal val="#ppt_x"/>
                                          </p:val>
                                        </p:tav>
                                      </p:tavLst>
                                    </p:anim>
                                    <p:anim calcmode="lin" valueType="num">
                                      <p:cBhvr additive="base">
                                        <p:cTn id="154" dur="500" fill="hold"/>
                                        <p:tgtEl>
                                          <p:spTgt spid="40"/>
                                        </p:tgtEl>
                                        <p:attrNameLst>
                                          <p:attrName>ppt_y</p:attrName>
                                        </p:attrNameLst>
                                      </p:cBhvr>
                                      <p:tavLst>
                                        <p:tav tm="0">
                                          <p:val>
                                            <p:strVal val="#ppt_y+0.1"/>
                                          </p:val>
                                        </p:tav>
                                        <p:tav tm="100000">
                                          <p:val>
                                            <p:strVal val="#ppt_y"/>
                                          </p:val>
                                        </p:tav>
                                      </p:tavLst>
                                    </p:anim>
                                    <p:animEffect transition="in" filter="fade">
                                      <p:cBhvr>
                                        <p:cTn id="155" dur="500"/>
                                        <p:tgtEl>
                                          <p:spTgt spid="40"/>
                                        </p:tgtEl>
                                      </p:cBhvr>
                                    </p:animEffect>
                                  </p:childTnLst>
                                </p:cTn>
                              </p:par>
                              <p:par>
                                <p:cTn id="161" presetID="2" presetClass="entr" presetSubtype="4" fill="hold" grpId="0" nodeType="withEffect">
                                  <p:stCondLst>
                                    <p:cond delay="270"/>
                                  </p:stCondLst>
                                  <p:childTnLst>
                                    <p:set>
                                      <p:cBhvr>
                                        <p:cTn id="157" dur="1" fill="hold">
                                          <p:stCondLst>
                                            <p:cond delay="0"/>
                                          </p:stCondLst>
                                        </p:cTn>
                                        <p:tgtEl>
                                          <p:spTgt spid="41"/>
                                        </p:tgtEl>
                                        <p:attrNameLst>
                                          <p:attrName>style.visibility</p:attrName>
                                        </p:attrNameLst>
                                      </p:cBhvr>
                                      <p:to>
                                        <p:strVal val="visible"/>
                                      </p:to>
                                    </p:set>
                                    <p:anim calcmode="lin" valueType="num">
                                      <p:cBhvr additive="base">
                                        <p:cTn id="158" dur="500" fill="hold"/>
                                        <p:tgtEl>
                                          <p:spTgt spid="41"/>
                                        </p:tgtEl>
                                        <p:attrNameLst>
                                          <p:attrName>ppt_x</p:attrName>
                                        </p:attrNameLst>
                                      </p:cBhvr>
                                      <p:tavLst>
                                        <p:tav tm="0">
                                          <p:val>
                                            <p:strVal val="#ppt_x"/>
                                          </p:val>
                                        </p:tav>
                                        <p:tav tm="100000">
                                          <p:val>
                                            <p:strVal val="#ppt_x"/>
                                          </p:val>
                                        </p:tav>
                                      </p:tavLst>
                                    </p:anim>
                                    <p:anim calcmode="lin" valueType="num">
                                      <p:cBhvr additive="base">
                                        <p:cTn id="159" dur="500" fill="hold"/>
                                        <p:tgtEl>
                                          <p:spTgt spid="41"/>
                                        </p:tgtEl>
                                        <p:attrNameLst>
                                          <p:attrName>ppt_y</p:attrName>
                                        </p:attrNameLst>
                                      </p:cBhvr>
                                      <p:tavLst>
                                        <p:tav tm="0">
                                          <p:val>
                                            <p:strVal val="#ppt_y+0.1"/>
                                          </p:val>
                                        </p:tav>
                                        <p:tav tm="100000">
                                          <p:val>
                                            <p:strVal val="#ppt_y"/>
                                          </p:val>
                                        </p:tav>
                                      </p:tavLst>
                                    </p:anim>
                                    <p:animEffect transition="in" filter="fade">
                                      <p:cBhvr>
                                        <p:cTn id="160" dur="500"/>
                                        <p:tgtEl>
                                          <p:spTgt spid="41"/>
                                        </p:tgtEl>
                                      </p:cBhvr>
                                    </p:animEffect>
                                  </p:childTnLst>
                                </p:cTn>
                              </p:par>
                              <p:par>
                                <p:cTn id="166" presetID="2" presetClass="entr" presetSubtype="4" fill="hold" grpId="0" nodeType="withEffect">
                                  <p:stCondLst>
                                    <p:cond delay="270"/>
                                  </p:stCondLst>
                                  <p:childTnLst>
                                    <p:set>
                                      <p:cBhvr>
                                        <p:cTn id="162" dur="1" fill="hold">
                                          <p:stCondLst>
                                            <p:cond delay="0"/>
                                          </p:stCondLst>
                                        </p:cTn>
                                        <p:tgtEl>
                                          <p:spTgt spid="42"/>
                                        </p:tgtEl>
                                        <p:attrNameLst>
                                          <p:attrName>style.visibility</p:attrName>
                                        </p:attrNameLst>
                                      </p:cBhvr>
                                      <p:to>
                                        <p:strVal val="visible"/>
                                      </p:to>
                                    </p:set>
                                    <p:anim calcmode="lin" valueType="num">
                                      <p:cBhvr additive="base">
                                        <p:cTn id="163" dur="500" fill="hold"/>
                                        <p:tgtEl>
                                          <p:spTgt spid="42"/>
                                        </p:tgtEl>
                                        <p:attrNameLst>
                                          <p:attrName>ppt_x</p:attrName>
                                        </p:attrNameLst>
                                      </p:cBhvr>
                                      <p:tavLst>
                                        <p:tav tm="0">
                                          <p:val>
                                            <p:strVal val="#ppt_x"/>
                                          </p:val>
                                        </p:tav>
                                        <p:tav tm="100000">
                                          <p:val>
                                            <p:strVal val="#ppt_x"/>
                                          </p:val>
                                        </p:tav>
                                      </p:tavLst>
                                    </p:anim>
                                    <p:anim calcmode="lin" valueType="num">
                                      <p:cBhvr additive="base">
                                        <p:cTn id="164" dur="500" fill="hold"/>
                                        <p:tgtEl>
                                          <p:spTgt spid="42"/>
                                        </p:tgtEl>
                                        <p:attrNameLst>
                                          <p:attrName>ppt_y</p:attrName>
                                        </p:attrNameLst>
                                      </p:cBhvr>
                                      <p:tavLst>
                                        <p:tav tm="0">
                                          <p:val>
                                            <p:strVal val="#ppt_y+0.1"/>
                                          </p:val>
                                        </p:tav>
                                        <p:tav tm="100000">
                                          <p:val>
                                            <p:strVal val="#ppt_y"/>
                                          </p:val>
                                        </p:tav>
                                      </p:tavLst>
                                    </p:anim>
                                    <p:animEffect transition="in" filter="fade">
                                      <p:cBhvr>
                                        <p:cTn id="165" dur="500"/>
                                        <p:tgtEl>
                                          <p:spTgt spid="42"/>
                                        </p:tgtEl>
                                      </p:cBhvr>
                                    </p:animEffect>
                                  </p:childTnLst>
                                </p:cTn>
                              </p:par>
                            </p:childTnLst>
                          </p:cTn>
                        </p:par>
                      </p:childTnLst>
                    </p:cTn>
                  </p:par>
                  <p:par>
                    <p:cTn id="167" fill="hold">
                      <p:stCondLst>
                        <p:cond delay="indefinite"/>
                      </p:stCondLst>
                      <p:childTnLst>
                        <p:par>
                          <p:cTn id="168" fill="hold">
                            <p:stCondLst>
                              <p:cond delay="0"/>
                            </p:stCondLst>
                            <p:childTnLst>
                              <p:par>
                                <p:cTn id="173" presetID="2" presetClass="entr" presetSubtype="4" fill="hold" grpId="0" nodeType="clickEffect">
                                  <p:stCondLst>
                                    <p:cond delay="0"/>
                                  </p:stCondLst>
                                  <p:childTnLst>
                                    <p:set>
                                      <p:cBhvr>
                                        <p:cTn id="169" dur="1" fill="hold">
                                          <p:stCondLst>
                                            <p:cond delay="0"/>
                                          </p:stCondLst>
                                        </p:cTn>
                                        <p:tgtEl>
                                          <p:spTgt spid="43"/>
                                        </p:tgtEl>
                                        <p:attrNameLst>
                                          <p:attrName>style.visibility</p:attrName>
                                        </p:attrNameLst>
                                      </p:cBhvr>
                                      <p:to>
                                        <p:strVal val="visible"/>
                                      </p:to>
                                    </p:set>
                                    <p:anim calcmode="lin" valueType="num">
                                      <p:cBhvr additive="base">
                                        <p:cTn id="170" dur="500" fill="hold"/>
                                        <p:tgtEl>
                                          <p:spTgt spid="43"/>
                                        </p:tgtEl>
                                        <p:attrNameLst>
                                          <p:attrName>ppt_x</p:attrName>
                                        </p:attrNameLst>
                                      </p:cBhvr>
                                      <p:tavLst>
                                        <p:tav tm="0">
                                          <p:val>
                                            <p:strVal val="#ppt_x"/>
                                          </p:val>
                                        </p:tav>
                                        <p:tav tm="100000">
                                          <p:val>
                                            <p:strVal val="#ppt_x"/>
                                          </p:val>
                                        </p:tav>
                                      </p:tavLst>
                                    </p:anim>
                                    <p:anim calcmode="lin" valueType="num">
                                      <p:cBhvr additive="base">
                                        <p:cTn id="171" dur="500" fill="hold"/>
                                        <p:tgtEl>
                                          <p:spTgt spid="43"/>
                                        </p:tgtEl>
                                        <p:attrNameLst>
                                          <p:attrName>ppt_y</p:attrName>
                                        </p:attrNameLst>
                                      </p:cBhvr>
                                      <p:tavLst>
                                        <p:tav tm="0">
                                          <p:val>
                                            <p:strVal val="#ppt_y+0.1"/>
                                          </p:val>
                                        </p:tav>
                                        <p:tav tm="100000">
                                          <p:val>
                                            <p:strVal val="#ppt_y"/>
                                          </p:val>
                                        </p:tav>
                                      </p:tavLst>
                                    </p:anim>
                                    <p:animEffect transition="in" filter="fade">
                                      <p:cBhvr>
                                        <p:cTn id="172" dur="500"/>
                                        <p:tgtEl>
                                          <p:spTgt spid="43"/>
                                        </p:tgtEl>
                                      </p:cBhvr>
                                    </p:animEffect>
                                  </p:childTnLst>
                                </p:cTn>
                              </p:par>
                              <p:par>
                                <p:cTn id="178" presetID="2" presetClass="entr" presetSubtype="4" fill="hold" grpId="0" nodeType="withEffect">
                                  <p:stCondLst>
                                    <p:cond delay="0"/>
                                  </p:stCondLst>
                                  <p:childTnLst>
                                    <p:set>
                                      <p:cBhvr>
                                        <p:cTn id="174" dur="1" fill="hold">
                                          <p:stCondLst>
                                            <p:cond delay="0"/>
                                          </p:stCondLst>
                                        </p:cTn>
                                        <p:tgtEl>
                                          <p:spTgt spid="44"/>
                                        </p:tgtEl>
                                        <p:attrNameLst>
                                          <p:attrName>style.visibility</p:attrName>
                                        </p:attrNameLst>
                                      </p:cBhvr>
                                      <p:to>
                                        <p:strVal val="visible"/>
                                      </p:to>
                                    </p:set>
                                    <p:anim calcmode="lin" valueType="num">
                                      <p:cBhvr additive="base">
                                        <p:cTn id="175" dur="500" fill="hold"/>
                                        <p:tgtEl>
                                          <p:spTgt spid="44"/>
                                        </p:tgtEl>
                                        <p:attrNameLst>
                                          <p:attrName>ppt_x</p:attrName>
                                        </p:attrNameLst>
                                      </p:cBhvr>
                                      <p:tavLst>
                                        <p:tav tm="0">
                                          <p:val>
                                            <p:strVal val="#ppt_x"/>
                                          </p:val>
                                        </p:tav>
                                        <p:tav tm="100000">
                                          <p:val>
                                            <p:strVal val="#ppt_x"/>
                                          </p:val>
                                        </p:tav>
                                      </p:tavLst>
                                    </p:anim>
                                    <p:anim calcmode="lin" valueType="num">
                                      <p:cBhvr additive="base">
                                        <p:cTn id="176" dur="500" fill="hold"/>
                                        <p:tgtEl>
                                          <p:spTgt spid="44"/>
                                        </p:tgtEl>
                                        <p:attrNameLst>
                                          <p:attrName>ppt_y</p:attrName>
                                        </p:attrNameLst>
                                      </p:cBhvr>
                                      <p:tavLst>
                                        <p:tav tm="0">
                                          <p:val>
                                            <p:strVal val="#ppt_y+0.1"/>
                                          </p:val>
                                        </p:tav>
                                        <p:tav tm="100000">
                                          <p:val>
                                            <p:strVal val="#ppt_y"/>
                                          </p:val>
                                        </p:tav>
                                      </p:tavLst>
                                    </p:anim>
                                    <p:animEffect transition="in" filter="fade">
                                      <p:cBhvr>
                                        <p:cTn id="177" dur="500"/>
                                        <p:tgtEl>
                                          <p:spTgt spid="44"/>
                                        </p:tgtEl>
                                      </p:cBhvr>
                                    </p:animEffect>
                                  </p:childTnLst>
                                </p:cTn>
                              </p:par>
                              <p:par>
                                <p:cTn id="183" presetID="2" presetClass="entr" presetSubtype="4" fill="hold" grpId="0" nodeType="withEffect">
                                  <p:stCondLst>
                                    <p:cond delay="0"/>
                                  </p:stCondLst>
                                  <p:childTnLst>
                                    <p:set>
                                      <p:cBhvr>
                                        <p:cTn id="179" dur="1" fill="hold">
                                          <p:stCondLst>
                                            <p:cond delay="0"/>
                                          </p:stCondLst>
                                        </p:cTn>
                                        <p:tgtEl>
                                          <p:spTgt spid="45"/>
                                        </p:tgtEl>
                                        <p:attrNameLst>
                                          <p:attrName>style.visibility</p:attrName>
                                        </p:attrNameLst>
                                      </p:cBhvr>
                                      <p:to>
                                        <p:strVal val="visible"/>
                                      </p:to>
                                    </p:set>
                                    <p:anim calcmode="lin" valueType="num">
                                      <p:cBhvr additive="base">
                                        <p:cTn id="180" dur="500" fill="hold"/>
                                        <p:tgtEl>
                                          <p:spTgt spid="45"/>
                                        </p:tgtEl>
                                        <p:attrNameLst>
                                          <p:attrName>ppt_x</p:attrName>
                                        </p:attrNameLst>
                                      </p:cBhvr>
                                      <p:tavLst>
                                        <p:tav tm="0">
                                          <p:val>
                                            <p:strVal val="#ppt_x"/>
                                          </p:val>
                                        </p:tav>
                                        <p:tav tm="100000">
                                          <p:val>
                                            <p:strVal val="#ppt_x"/>
                                          </p:val>
                                        </p:tav>
                                      </p:tavLst>
                                    </p:anim>
                                    <p:anim calcmode="lin" valueType="num">
                                      <p:cBhvr additive="base">
                                        <p:cTn id="181" dur="500" fill="hold"/>
                                        <p:tgtEl>
                                          <p:spTgt spid="45"/>
                                        </p:tgtEl>
                                        <p:attrNameLst>
                                          <p:attrName>ppt_y</p:attrName>
                                        </p:attrNameLst>
                                      </p:cBhvr>
                                      <p:tavLst>
                                        <p:tav tm="0">
                                          <p:val>
                                            <p:strVal val="#ppt_y+0.1"/>
                                          </p:val>
                                        </p:tav>
                                        <p:tav tm="100000">
                                          <p:val>
                                            <p:strVal val="#ppt_y"/>
                                          </p:val>
                                        </p:tav>
                                      </p:tavLst>
                                    </p:anim>
                                    <p:animEffect transition="in" filter="fade">
                                      <p:cBhvr>
                                        <p:cTn id="18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Every Era Asked the Same Question</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Different technology - the same problem underneath</a:t>
            </a:r>
          </a:p>
        </p:txBody>
      </p:sp>
      <p:sp>
        <p:nvSpPr>
          <p:cNvPr id="11" name="a1u_card10"/>
          <p:cNvSpPr/>
          <p:nvPr/>
        </p:nvSpPr>
        <p:spPr>
          <a:xfrm>
            <a:off x="457200" y="1216152"/>
            <a:ext cx="8229600" cy="640080"/>
          </a:xfrm>
          <a:prstGeom prst="roundRect">
            <a:avLst>
              <a:gd name="adj" fmla="val 17142"/>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q11"/>
          <p:cNvSpPr txBox="1"/>
          <p:nvPr/>
        </p:nvSpPr>
        <p:spPr>
          <a:xfrm>
            <a:off x="640080" y="1216152"/>
            <a:ext cx="7863840" cy="640080"/>
          </a:xfrm>
          <a:prstGeom prst="rect">
            <a:avLst/>
          </a:prstGeom>
          <a:noFill/>
        </p:spPr>
        <p:txBody>
          <a:bodyPr wrap="square" lIns="0" tIns="0" rIns="0" bIns="0" anchor="ctr">
            <a:spAutoFit/>
          </a:bodyPr>
          <a:lstStyle/>
          <a:p>
            <a:pPr algn="ctr"/>
            <a:r>
              <a:rPr sz="1450" b="1">
                <a:solidFill>
                  <a:srgbClr val="C2410C"/>
                </a:solidFill>
                <a:latin typeface="Segoe UI"/>
              </a:rPr>
              <a:t>How does data get from where it is created to where it is needed?</a:t>
            </a:r>
          </a:p>
        </p:txBody>
      </p:sp>
      <p:sp>
        <p:nvSpPr>
          <p:cNvPr id="13" name="a2f_th12"/>
          <p:cNvSpPr/>
          <p:nvPr/>
        </p:nvSpPr>
        <p:spPr>
          <a:xfrm>
            <a:off x="457200" y="2011680"/>
            <a:ext cx="1554480" cy="338328"/>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2f_tht13"/>
          <p:cNvSpPr txBox="1"/>
          <p:nvPr/>
        </p:nvSpPr>
        <p:spPr>
          <a:xfrm>
            <a:off x="530352" y="2011680"/>
            <a:ext cx="1444752" cy="338328"/>
          </a:xfrm>
          <a:prstGeom prst="rect">
            <a:avLst/>
          </a:prstGeom>
          <a:noFill/>
        </p:spPr>
        <p:txBody>
          <a:bodyPr wrap="square" lIns="0" tIns="0" rIns="0" bIns="0" anchor="ctr">
            <a:spAutoFit/>
          </a:bodyPr>
          <a:lstStyle/>
          <a:p>
            <a:pPr algn="l"/>
            <a:r>
              <a:rPr sz="850" b="1">
                <a:solidFill>
                  <a:srgbClr val="FFFFFF"/>
                </a:solidFill>
                <a:latin typeface="Segoe UI"/>
              </a:rPr>
              <a:t>Era</a:t>
            </a:r>
          </a:p>
        </p:txBody>
      </p:sp>
      <p:sp>
        <p:nvSpPr>
          <p:cNvPr id="15" name="a2wd130_td14"/>
          <p:cNvSpPr/>
          <p:nvPr/>
        </p:nvSpPr>
        <p:spPr>
          <a:xfrm>
            <a:off x="457200" y="2350008"/>
            <a:ext cx="1554480" cy="338328"/>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wd130_tdt15"/>
          <p:cNvSpPr txBox="1"/>
          <p:nvPr/>
        </p:nvSpPr>
        <p:spPr>
          <a:xfrm>
            <a:off x="530352" y="2350008"/>
            <a:ext cx="1444752" cy="338328"/>
          </a:xfrm>
          <a:prstGeom prst="rect">
            <a:avLst/>
          </a:prstGeom>
          <a:noFill/>
        </p:spPr>
        <p:txBody>
          <a:bodyPr wrap="square" lIns="0" tIns="0" rIns="0" bIns="0" anchor="ctr">
            <a:spAutoFit/>
          </a:bodyPr>
          <a:lstStyle/>
          <a:p>
            <a:pPr algn="l"/>
            <a:r>
              <a:rPr sz="850" b="0">
                <a:solidFill>
                  <a:srgbClr val="44403C"/>
                </a:solidFill>
                <a:latin typeface="Segoe UI"/>
              </a:rPr>
              <a:t>Mainframe</a:t>
            </a:r>
          </a:p>
        </p:txBody>
      </p:sp>
      <p:sp>
        <p:nvSpPr>
          <p:cNvPr id="17" name="a2wd260_td16"/>
          <p:cNvSpPr/>
          <p:nvPr/>
        </p:nvSpPr>
        <p:spPr>
          <a:xfrm>
            <a:off x="457200" y="2688336"/>
            <a:ext cx="1554480" cy="338328"/>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2wd260_tdt17"/>
          <p:cNvSpPr txBox="1"/>
          <p:nvPr/>
        </p:nvSpPr>
        <p:spPr>
          <a:xfrm>
            <a:off x="530352" y="2688336"/>
            <a:ext cx="1444752" cy="338328"/>
          </a:xfrm>
          <a:prstGeom prst="rect">
            <a:avLst/>
          </a:prstGeom>
          <a:noFill/>
        </p:spPr>
        <p:txBody>
          <a:bodyPr wrap="square" lIns="0" tIns="0" rIns="0" bIns="0" anchor="ctr">
            <a:spAutoFit/>
          </a:bodyPr>
          <a:lstStyle/>
          <a:p>
            <a:pPr algn="l"/>
            <a:r>
              <a:rPr sz="850" b="0">
                <a:solidFill>
                  <a:srgbClr val="44403C"/>
                </a:solidFill>
                <a:latin typeface="Segoe UI"/>
              </a:rPr>
              <a:t>Client-server</a:t>
            </a:r>
          </a:p>
        </p:txBody>
      </p:sp>
      <p:sp>
        <p:nvSpPr>
          <p:cNvPr id="19" name="a2wd390_td18"/>
          <p:cNvSpPr/>
          <p:nvPr/>
        </p:nvSpPr>
        <p:spPr>
          <a:xfrm>
            <a:off x="457200" y="3026664"/>
            <a:ext cx="1554480" cy="338328"/>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wd390_tdt19"/>
          <p:cNvSpPr txBox="1"/>
          <p:nvPr/>
        </p:nvSpPr>
        <p:spPr>
          <a:xfrm>
            <a:off x="530352" y="3026664"/>
            <a:ext cx="1444752" cy="338328"/>
          </a:xfrm>
          <a:prstGeom prst="rect">
            <a:avLst/>
          </a:prstGeom>
          <a:noFill/>
        </p:spPr>
        <p:txBody>
          <a:bodyPr wrap="square" lIns="0" tIns="0" rIns="0" bIns="0" anchor="ctr">
            <a:spAutoFit/>
          </a:bodyPr>
          <a:lstStyle/>
          <a:p>
            <a:pPr algn="l"/>
            <a:r>
              <a:rPr sz="850" b="0">
                <a:solidFill>
                  <a:srgbClr val="44403C"/>
                </a:solidFill>
                <a:latin typeface="Segoe UI"/>
              </a:rPr>
              <a:t>Remote calls</a:t>
            </a:r>
          </a:p>
        </p:txBody>
      </p:sp>
      <p:sp>
        <p:nvSpPr>
          <p:cNvPr id="21" name="a2wd520_td20"/>
          <p:cNvSpPr/>
          <p:nvPr/>
        </p:nvSpPr>
        <p:spPr>
          <a:xfrm>
            <a:off x="457200" y="3364992"/>
            <a:ext cx="1554480" cy="338328"/>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wd520_tdt21"/>
          <p:cNvSpPr txBox="1"/>
          <p:nvPr/>
        </p:nvSpPr>
        <p:spPr>
          <a:xfrm>
            <a:off x="530352" y="3364992"/>
            <a:ext cx="1444752" cy="338328"/>
          </a:xfrm>
          <a:prstGeom prst="rect">
            <a:avLst/>
          </a:prstGeom>
          <a:noFill/>
        </p:spPr>
        <p:txBody>
          <a:bodyPr wrap="square" lIns="0" tIns="0" rIns="0" bIns="0" anchor="ctr">
            <a:spAutoFit/>
          </a:bodyPr>
          <a:lstStyle/>
          <a:p>
            <a:pPr algn="l"/>
            <a:r>
              <a:rPr sz="850" b="0">
                <a:solidFill>
                  <a:srgbClr val="44403C"/>
                </a:solidFill>
                <a:latin typeface="Segoe UI"/>
              </a:rPr>
              <a:t>Web / three tier</a:t>
            </a:r>
          </a:p>
        </p:txBody>
      </p:sp>
      <p:sp>
        <p:nvSpPr>
          <p:cNvPr id="23" name="a2wd650_td22"/>
          <p:cNvSpPr/>
          <p:nvPr/>
        </p:nvSpPr>
        <p:spPr>
          <a:xfrm>
            <a:off x="457200" y="3703320"/>
            <a:ext cx="1554480" cy="338328"/>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wd650_tdt23"/>
          <p:cNvSpPr txBox="1"/>
          <p:nvPr/>
        </p:nvSpPr>
        <p:spPr>
          <a:xfrm>
            <a:off x="530352" y="3703320"/>
            <a:ext cx="1444752" cy="338328"/>
          </a:xfrm>
          <a:prstGeom prst="rect">
            <a:avLst/>
          </a:prstGeom>
          <a:noFill/>
        </p:spPr>
        <p:txBody>
          <a:bodyPr wrap="square" lIns="0" tIns="0" rIns="0" bIns="0" anchor="ctr">
            <a:spAutoFit/>
          </a:bodyPr>
          <a:lstStyle/>
          <a:p>
            <a:pPr algn="l"/>
            <a:r>
              <a:rPr sz="850" b="0">
                <a:solidFill>
                  <a:srgbClr val="44403C"/>
                </a:solidFill>
                <a:latin typeface="Segoe UI"/>
              </a:rPr>
              <a:t>SOA and ESB</a:t>
            </a:r>
          </a:p>
        </p:txBody>
      </p:sp>
      <p:sp>
        <p:nvSpPr>
          <p:cNvPr id="25" name="a2wd780_td24"/>
          <p:cNvSpPr/>
          <p:nvPr/>
        </p:nvSpPr>
        <p:spPr>
          <a:xfrm>
            <a:off x="457200" y="4041648"/>
            <a:ext cx="1554480" cy="338328"/>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wd780_tdt25"/>
          <p:cNvSpPr txBox="1"/>
          <p:nvPr/>
        </p:nvSpPr>
        <p:spPr>
          <a:xfrm>
            <a:off x="530352" y="4041648"/>
            <a:ext cx="1444752" cy="338328"/>
          </a:xfrm>
          <a:prstGeom prst="rect">
            <a:avLst/>
          </a:prstGeom>
          <a:noFill/>
        </p:spPr>
        <p:txBody>
          <a:bodyPr wrap="square" lIns="0" tIns="0" rIns="0" bIns="0" anchor="ctr">
            <a:spAutoFit/>
          </a:bodyPr>
          <a:lstStyle/>
          <a:p>
            <a:pPr algn="l"/>
            <a:r>
              <a:rPr sz="850" b="0">
                <a:solidFill>
                  <a:srgbClr val="44403C"/>
                </a:solidFill>
                <a:latin typeface="Segoe UI"/>
              </a:rPr>
              <a:t>Microservices</a:t>
            </a:r>
          </a:p>
        </p:txBody>
      </p:sp>
      <p:sp>
        <p:nvSpPr>
          <p:cNvPr id="27" name="a2f_th26"/>
          <p:cNvSpPr/>
          <p:nvPr/>
        </p:nvSpPr>
        <p:spPr>
          <a:xfrm>
            <a:off x="2011680" y="2011680"/>
            <a:ext cx="3291840" cy="3383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f_tht27"/>
          <p:cNvSpPr txBox="1"/>
          <p:nvPr/>
        </p:nvSpPr>
        <p:spPr>
          <a:xfrm>
            <a:off x="2084832" y="2011680"/>
            <a:ext cx="3182112" cy="338328"/>
          </a:xfrm>
          <a:prstGeom prst="rect">
            <a:avLst/>
          </a:prstGeom>
          <a:noFill/>
        </p:spPr>
        <p:txBody>
          <a:bodyPr wrap="square" lIns="0" tIns="0" rIns="0" bIns="0" anchor="ctr">
            <a:spAutoFit/>
          </a:bodyPr>
          <a:lstStyle/>
          <a:p>
            <a:pPr algn="l"/>
            <a:r>
              <a:rPr sz="850" b="1">
                <a:solidFill>
                  <a:srgbClr val="FFFFFF"/>
                </a:solidFill>
                <a:latin typeface="Segoe UI"/>
              </a:rPr>
              <a:t>How data moved</a:t>
            </a:r>
          </a:p>
        </p:txBody>
      </p:sp>
      <p:sp>
        <p:nvSpPr>
          <p:cNvPr id="29" name="a2wd130_td28"/>
          <p:cNvSpPr/>
          <p:nvPr/>
        </p:nvSpPr>
        <p:spPr>
          <a:xfrm>
            <a:off x="2011680" y="2350008"/>
            <a:ext cx="3291840" cy="338328"/>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wd130_tdt29"/>
          <p:cNvSpPr txBox="1"/>
          <p:nvPr/>
        </p:nvSpPr>
        <p:spPr>
          <a:xfrm>
            <a:off x="2084832" y="2350008"/>
            <a:ext cx="3182112" cy="338328"/>
          </a:xfrm>
          <a:prstGeom prst="rect">
            <a:avLst/>
          </a:prstGeom>
          <a:noFill/>
        </p:spPr>
        <p:txBody>
          <a:bodyPr wrap="square" lIns="0" tIns="0" rIns="0" bIns="0" anchor="ctr">
            <a:spAutoFit/>
          </a:bodyPr>
          <a:lstStyle/>
          <a:p>
            <a:pPr algn="l"/>
            <a:r>
              <a:rPr sz="850" b="0">
                <a:solidFill>
                  <a:srgbClr val="44403C"/>
                </a:solidFill>
                <a:latin typeface="Segoe UI"/>
              </a:rPr>
              <a:t>It did not - one machine held everything</a:t>
            </a:r>
          </a:p>
        </p:txBody>
      </p:sp>
      <p:sp>
        <p:nvSpPr>
          <p:cNvPr id="31" name="a2wd260_td30"/>
          <p:cNvSpPr/>
          <p:nvPr/>
        </p:nvSpPr>
        <p:spPr>
          <a:xfrm>
            <a:off x="2011680" y="2688336"/>
            <a:ext cx="3291840" cy="338328"/>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wd260_tdt31"/>
          <p:cNvSpPr txBox="1"/>
          <p:nvPr/>
        </p:nvSpPr>
        <p:spPr>
          <a:xfrm>
            <a:off x="2084832" y="2688336"/>
            <a:ext cx="3182112" cy="338328"/>
          </a:xfrm>
          <a:prstGeom prst="rect">
            <a:avLst/>
          </a:prstGeom>
          <a:noFill/>
        </p:spPr>
        <p:txBody>
          <a:bodyPr wrap="square" lIns="0" tIns="0" rIns="0" bIns="0" anchor="ctr">
            <a:spAutoFit/>
          </a:bodyPr>
          <a:lstStyle/>
          <a:p>
            <a:pPr algn="l"/>
            <a:r>
              <a:rPr sz="850" b="0">
                <a:solidFill>
                  <a:srgbClr val="44403C"/>
                </a:solidFill>
                <a:latin typeface="Segoe UI"/>
              </a:rPr>
              <a:t>SQL queries over the LAN</a:t>
            </a:r>
          </a:p>
        </p:txBody>
      </p:sp>
      <p:sp>
        <p:nvSpPr>
          <p:cNvPr id="33" name="a2wd390_td32"/>
          <p:cNvSpPr/>
          <p:nvPr/>
        </p:nvSpPr>
        <p:spPr>
          <a:xfrm>
            <a:off x="2011680" y="3026664"/>
            <a:ext cx="3291840" cy="338328"/>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2wd390_tdt33"/>
          <p:cNvSpPr txBox="1"/>
          <p:nvPr/>
        </p:nvSpPr>
        <p:spPr>
          <a:xfrm>
            <a:off x="2084832" y="3026664"/>
            <a:ext cx="3182112" cy="338328"/>
          </a:xfrm>
          <a:prstGeom prst="rect">
            <a:avLst/>
          </a:prstGeom>
          <a:noFill/>
        </p:spPr>
        <p:txBody>
          <a:bodyPr wrap="square" lIns="0" tIns="0" rIns="0" bIns="0" anchor="ctr">
            <a:spAutoFit/>
          </a:bodyPr>
          <a:lstStyle/>
          <a:p>
            <a:pPr algn="l"/>
            <a:r>
              <a:rPr sz="850" b="0">
                <a:solidFill>
                  <a:srgbClr val="44403C"/>
                </a:solidFill>
                <a:latin typeface="Segoe UI"/>
              </a:rPr>
              <a:t>Synchronous calls between programs</a:t>
            </a:r>
          </a:p>
        </p:txBody>
      </p:sp>
      <p:sp>
        <p:nvSpPr>
          <p:cNvPr id="35" name="a2wd520_td34"/>
          <p:cNvSpPr/>
          <p:nvPr/>
        </p:nvSpPr>
        <p:spPr>
          <a:xfrm>
            <a:off x="2011680" y="3364992"/>
            <a:ext cx="3291840" cy="338328"/>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2wd520_tdt35"/>
          <p:cNvSpPr txBox="1"/>
          <p:nvPr/>
        </p:nvSpPr>
        <p:spPr>
          <a:xfrm>
            <a:off x="2084832" y="3364992"/>
            <a:ext cx="3182112" cy="338328"/>
          </a:xfrm>
          <a:prstGeom prst="rect">
            <a:avLst/>
          </a:prstGeom>
          <a:noFill/>
        </p:spPr>
        <p:txBody>
          <a:bodyPr wrap="square" lIns="0" tIns="0" rIns="0" bIns="0" anchor="ctr">
            <a:spAutoFit/>
          </a:bodyPr>
          <a:lstStyle/>
          <a:p>
            <a:pPr algn="l"/>
            <a:r>
              <a:rPr sz="850" b="0">
                <a:solidFill>
                  <a:srgbClr val="44403C"/>
                </a:solidFill>
                <a:latin typeface="Segoe UI"/>
              </a:rPr>
              <a:t>HTTP, plus a shared database</a:t>
            </a:r>
          </a:p>
        </p:txBody>
      </p:sp>
      <p:sp>
        <p:nvSpPr>
          <p:cNvPr id="37" name="a2wd650_td36"/>
          <p:cNvSpPr/>
          <p:nvPr/>
        </p:nvSpPr>
        <p:spPr>
          <a:xfrm>
            <a:off x="2011680" y="3703320"/>
            <a:ext cx="3291840" cy="338328"/>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2wd650_tdt37"/>
          <p:cNvSpPr txBox="1"/>
          <p:nvPr/>
        </p:nvSpPr>
        <p:spPr>
          <a:xfrm>
            <a:off x="2084832" y="3703320"/>
            <a:ext cx="3182112" cy="338328"/>
          </a:xfrm>
          <a:prstGeom prst="rect">
            <a:avLst/>
          </a:prstGeom>
          <a:noFill/>
        </p:spPr>
        <p:txBody>
          <a:bodyPr wrap="square" lIns="0" tIns="0" rIns="0" bIns="0" anchor="ctr">
            <a:spAutoFit/>
          </a:bodyPr>
          <a:lstStyle/>
          <a:p>
            <a:pPr algn="l"/>
            <a:r>
              <a:rPr sz="850" b="0">
                <a:solidFill>
                  <a:srgbClr val="44403C"/>
                </a:solidFill>
                <a:latin typeface="Segoe UI"/>
              </a:rPr>
              <a:t>Through a central bus</a:t>
            </a:r>
          </a:p>
        </p:txBody>
      </p:sp>
      <p:sp>
        <p:nvSpPr>
          <p:cNvPr id="39" name="a2wd780_td38"/>
          <p:cNvSpPr/>
          <p:nvPr/>
        </p:nvSpPr>
        <p:spPr>
          <a:xfrm>
            <a:off x="2011680" y="4041648"/>
            <a:ext cx="3291840" cy="338328"/>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2wd780_tdt39"/>
          <p:cNvSpPr txBox="1"/>
          <p:nvPr/>
        </p:nvSpPr>
        <p:spPr>
          <a:xfrm>
            <a:off x="2084832" y="4041648"/>
            <a:ext cx="3182112" cy="338328"/>
          </a:xfrm>
          <a:prstGeom prst="rect">
            <a:avLst/>
          </a:prstGeom>
          <a:noFill/>
        </p:spPr>
        <p:txBody>
          <a:bodyPr wrap="square" lIns="0" tIns="0" rIns="0" bIns="0" anchor="ctr">
            <a:spAutoFit/>
          </a:bodyPr>
          <a:lstStyle/>
          <a:p>
            <a:pPr algn="l"/>
            <a:r>
              <a:rPr sz="850" b="0">
                <a:solidFill>
                  <a:srgbClr val="44403C"/>
                </a:solidFill>
                <a:latin typeface="Segoe UI"/>
              </a:rPr>
              <a:t>APIs between many services</a:t>
            </a:r>
          </a:p>
        </p:txBody>
      </p:sp>
      <p:sp>
        <p:nvSpPr>
          <p:cNvPr id="41" name="a2f_th40"/>
          <p:cNvSpPr/>
          <p:nvPr/>
        </p:nvSpPr>
        <p:spPr>
          <a:xfrm>
            <a:off x="5303520" y="2011680"/>
            <a:ext cx="3383280" cy="3383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2f_tht41"/>
          <p:cNvSpPr txBox="1"/>
          <p:nvPr/>
        </p:nvSpPr>
        <p:spPr>
          <a:xfrm>
            <a:off x="5376672" y="2011680"/>
            <a:ext cx="3273552" cy="338328"/>
          </a:xfrm>
          <a:prstGeom prst="rect">
            <a:avLst/>
          </a:prstGeom>
          <a:noFill/>
        </p:spPr>
        <p:txBody>
          <a:bodyPr wrap="square" lIns="0" tIns="0" rIns="0" bIns="0" anchor="ctr">
            <a:spAutoFit/>
          </a:bodyPr>
          <a:lstStyle/>
          <a:p>
            <a:pPr algn="l"/>
            <a:r>
              <a:rPr sz="850" b="1">
                <a:solidFill>
                  <a:srgbClr val="FFFFFF"/>
                </a:solidFill>
                <a:latin typeface="Segoe UI"/>
              </a:rPr>
              <a:t>What hurt</a:t>
            </a:r>
          </a:p>
        </p:txBody>
      </p:sp>
      <p:sp>
        <p:nvSpPr>
          <p:cNvPr id="43" name="a2wd130_td42"/>
          <p:cNvSpPr/>
          <p:nvPr/>
        </p:nvSpPr>
        <p:spPr>
          <a:xfrm>
            <a:off x="5303520" y="2350008"/>
            <a:ext cx="3383280" cy="338328"/>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2wd130_tdt43"/>
          <p:cNvSpPr txBox="1"/>
          <p:nvPr/>
        </p:nvSpPr>
        <p:spPr>
          <a:xfrm>
            <a:off x="5376672" y="2350008"/>
            <a:ext cx="3273552" cy="338328"/>
          </a:xfrm>
          <a:prstGeom prst="rect">
            <a:avLst/>
          </a:prstGeom>
          <a:noFill/>
        </p:spPr>
        <p:txBody>
          <a:bodyPr wrap="square" lIns="0" tIns="0" rIns="0" bIns="0" anchor="ctr">
            <a:spAutoFit/>
          </a:bodyPr>
          <a:lstStyle/>
          <a:p>
            <a:pPr algn="l"/>
            <a:r>
              <a:rPr sz="850" b="0">
                <a:solidFill>
                  <a:srgbClr val="44403C"/>
                </a:solidFill>
                <a:latin typeface="Segoe UI"/>
              </a:rPr>
              <a:t>Cost; scaling one giant machine</a:t>
            </a:r>
          </a:p>
        </p:txBody>
      </p:sp>
      <p:sp>
        <p:nvSpPr>
          <p:cNvPr id="45" name="a2wd260_td44"/>
          <p:cNvSpPr/>
          <p:nvPr/>
        </p:nvSpPr>
        <p:spPr>
          <a:xfrm>
            <a:off x="5303520" y="2688336"/>
            <a:ext cx="3383280" cy="338328"/>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2wd260_tdt45"/>
          <p:cNvSpPr txBox="1"/>
          <p:nvPr/>
        </p:nvSpPr>
        <p:spPr>
          <a:xfrm>
            <a:off x="5376672" y="2688336"/>
            <a:ext cx="3273552" cy="338328"/>
          </a:xfrm>
          <a:prstGeom prst="rect">
            <a:avLst/>
          </a:prstGeom>
          <a:noFill/>
        </p:spPr>
        <p:txBody>
          <a:bodyPr wrap="square" lIns="0" tIns="0" rIns="0" bIns="0" anchor="ctr">
            <a:spAutoFit/>
          </a:bodyPr>
          <a:lstStyle/>
          <a:p>
            <a:pPr algn="l"/>
            <a:r>
              <a:rPr sz="850" b="0">
                <a:solidFill>
                  <a:srgbClr val="44403C"/>
                </a:solidFill>
                <a:latin typeface="Segoe UI"/>
              </a:rPr>
              <a:t>Everyone depends on one database</a:t>
            </a:r>
          </a:p>
        </p:txBody>
      </p:sp>
      <p:sp>
        <p:nvSpPr>
          <p:cNvPr id="47" name="a2wd390_td46"/>
          <p:cNvSpPr/>
          <p:nvPr/>
        </p:nvSpPr>
        <p:spPr>
          <a:xfrm>
            <a:off x="5303520" y="3026664"/>
            <a:ext cx="3383280" cy="338328"/>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2wd390_tdt47"/>
          <p:cNvSpPr txBox="1"/>
          <p:nvPr/>
        </p:nvSpPr>
        <p:spPr>
          <a:xfrm>
            <a:off x="5376672" y="3026664"/>
            <a:ext cx="3273552" cy="338328"/>
          </a:xfrm>
          <a:prstGeom prst="rect">
            <a:avLst/>
          </a:prstGeom>
          <a:noFill/>
        </p:spPr>
        <p:txBody>
          <a:bodyPr wrap="square" lIns="0" tIns="0" rIns="0" bIns="0" anchor="ctr">
            <a:spAutoFit/>
          </a:bodyPr>
          <a:lstStyle/>
          <a:p>
            <a:pPr algn="l"/>
            <a:r>
              <a:rPr sz="850" b="0">
                <a:solidFill>
                  <a:srgbClr val="44403C"/>
                </a:solidFill>
                <a:latin typeface="Segoe UI"/>
              </a:rPr>
              <a:t>Both sides must be up; callers block</a:t>
            </a:r>
          </a:p>
        </p:txBody>
      </p:sp>
      <p:sp>
        <p:nvSpPr>
          <p:cNvPr id="49" name="a2wd520_td48"/>
          <p:cNvSpPr/>
          <p:nvPr/>
        </p:nvSpPr>
        <p:spPr>
          <a:xfrm>
            <a:off x="5303520" y="3364992"/>
            <a:ext cx="3383280" cy="338328"/>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2wd520_tdt49"/>
          <p:cNvSpPr txBox="1"/>
          <p:nvPr/>
        </p:nvSpPr>
        <p:spPr>
          <a:xfrm>
            <a:off x="5376672" y="3364992"/>
            <a:ext cx="3273552" cy="338328"/>
          </a:xfrm>
          <a:prstGeom prst="rect">
            <a:avLst/>
          </a:prstGeom>
          <a:noFill/>
        </p:spPr>
        <p:txBody>
          <a:bodyPr wrap="square" lIns="0" tIns="0" rIns="0" bIns="0" anchor="ctr">
            <a:spAutoFit/>
          </a:bodyPr>
          <a:lstStyle/>
          <a:p>
            <a:pPr algn="l"/>
            <a:r>
              <a:rPr sz="850" b="0">
                <a:solidFill>
                  <a:srgbClr val="44403C"/>
                </a:solidFill>
                <a:latin typeface="Segoe UI"/>
              </a:rPr>
              <a:t>The database becomes the integration point</a:t>
            </a:r>
          </a:p>
        </p:txBody>
      </p:sp>
      <p:sp>
        <p:nvSpPr>
          <p:cNvPr id="51" name="a2wd650_td50"/>
          <p:cNvSpPr/>
          <p:nvPr/>
        </p:nvSpPr>
        <p:spPr>
          <a:xfrm>
            <a:off x="5303520" y="3703320"/>
            <a:ext cx="3383280" cy="338328"/>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2wd650_tdt51"/>
          <p:cNvSpPr txBox="1"/>
          <p:nvPr/>
        </p:nvSpPr>
        <p:spPr>
          <a:xfrm>
            <a:off x="5376672" y="3703320"/>
            <a:ext cx="3273552" cy="338328"/>
          </a:xfrm>
          <a:prstGeom prst="rect">
            <a:avLst/>
          </a:prstGeom>
          <a:noFill/>
        </p:spPr>
        <p:txBody>
          <a:bodyPr wrap="square" lIns="0" tIns="0" rIns="0" bIns="0" anchor="ctr">
            <a:spAutoFit/>
          </a:bodyPr>
          <a:lstStyle/>
          <a:p>
            <a:pPr algn="l"/>
            <a:r>
              <a:rPr sz="850" b="0">
                <a:solidFill>
                  <a:srgbClr val="44403C"/>
                </a:solidFill>
                <a:latin typeface="Segoe UI"/>
              </a:rPr>
              <a:t>A heavy, centrally owned 'smart pipe'</a:t>
            </a:r>
          </a:p>
        </p:txBody>
      </p:sp>
      <p:sp>
        <p:nvSpPr>
          <p:cNvPr id="53" name="a2wd780_td52"/>
          <p:cNvSpPr/>
          <p:nvPr/>
        </p:nvSpPr>
        <p:spPr>
          <a:xfrm>
            <a:off x="5303520" y="4041648"/>
            <a:ext cx="3383280" cy="338328"/>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2wd780_tdt53"/>
          <p:cNvSpPr txBox="1"/>
          <p:nvPr/>
        </p:nvSpPr>
        <p:spPr>
          <a:xfrm>
            <a:off x="5376672" y="4041648"/>
            <a:ext cx="3273552" cy="338328"/>
          </a:xfrm>
          <a:prstGeom prst="rect">
            <a:avLst/>
          </a:prstGeom>
          <a:noFill/>
        </p:spPr>
        <p:txBody>
          <a:bodyPr wrap="square" lIns="0" tIns="0" rIns="0" bIns="0" anchor="ctr">
            <a:spAutoFit/>
          </a:bodyPr>
          <a:lstStyle/>
          <a:p>
            <a:pPr algn="l"/>
            <a:r>
              <a:rPr sz="850" b="0">
                <a:solidFill>
                  <a:srgbClr val="44403C"/>
                </a:solidFill>
                <a:latin typeface="Segoe UI"/>
              </a:rPr>
              <a:t>N x M connections; data in silos</a:t>
            </a:r>
          </a:p>
        </p:txBody>
      </p:sp>
      <p:sp>
        <p:nvSpPr>
          <p:cNvPr id="55" name="ft5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16</a:t>
            </a:r>
          </a:p>
        </p:txBody>
      </p:sp>
      <p:sp>
        <p:nvSpPr>
          <p:cNvPr id="56" name="ft5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ft5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58" name="ft5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9"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500"/>
                                        <p:tgtEl>
                                          <p:spTgt spid="41"/>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fade">
                                      <p:cBhvr>
                                        <p:cTn id="33" dur="500"/>
                                        <p:tgtEl>
                                          <p:spTgt spid="42"/>
                                        </p:tgtEl>
                                      </p:cBhvr>
                                    </p:animEffect>
                                  </p:childTnLst>
                                </p:cTn>
                              </p:par>
                              <p:par>
                                <p:cTn id="37" presetID="22" presetClass="entr" presetSubtype="8" fill="hold" grpId="0" nodeType="withEffect">
                                  <p:stCondLst>
                                    <p:cond delay="130"/>
                                  </p:stCondLst>
                                  <p:childTnLst>
                                    <p:set>
                                      <p:cBhvr>
                                        <p:cTn id="35" dur="1" fill="hold">
                                          <p:stCondLst>
                                            <p:cond delay="0"/>
                                          </p:stCondLst>
                                        </p:cTn>
                                        <p:tgtEl>
                                          <p:spTgt spid="15"/>
                                        </p:tgtEl>
                                        <p:attrNameLst>
                                          <p:attrName>style.visibility</p:attrName>
                                        </p:attrNameLst>
                                      </p:cBhvr>
                                      <p:to>
                                        <p:strVal val="visible"/>
                                      </p:to>
                                    </p:set>
                                    <p:animEffect transition="in" filter="wipe(left)">
                                      <p:cBhvr>
                                        <p:cTn id="36" dur="500"/>
                                        <p:tgtEl>
                                          <p:spTgt spid="15"/>
                                        </p:tgtEl>
                                      </p:cBhvr>
                                    </p:animEffect>
                                  </p:childTnLst>
                                </p:cTn>
                              </p:par>
                              <p:par>
                                <p:cTn id="40" presetID="22" presetClass="entr" presetSubtype="8" fill="hold" grpId="0" nodeType="withEffect">
                                  <p:stCondLst>
                                    <p:cond delay="130"/>
                                  </p:stCondLst>
                                  <p:childTnLst>
                                    <p:set>
                                      <p:cBhvr>
                                        <p:cTn id="38" dur="1" fill="hold">
                                          <p:stCondLst>
                                            <p:cond delay="0"/>
                                          </p:stCondLst>
                                        </p:cTn>
                                        <p:tgtEl>
                                          <p:spTgt spid="16"/>
                                        </p:tgtEl>
                                        <p:attrNameLst>
                                          <p:attrName>style.visibility</p:attrName>
                                        </p:attrNameLst>
                                      </p:cBhvr>
                                      <p:to>
                                        <p:strVal val="visible"/>
                                      </p:to>
                                    </p:set>
                                    <p:animEffect transition="in" filter="wipe(left)">
                                      <p:cBhvr>
                                        <p:cTn id="39" dur="500"/>
                                        <p:tgtEl>
                                          <p:spTgt spid="16"/>
                                        </p:tgtEl>
                                      </p:cBhvr>
                                    </p:animEffect>
                                  </p:childTnLst>
                                </p:cTn>
                              </p:par>
                              <p:par>
                                <p:cTn id="43" presetID="22" presetClass="entr" presetSubtype="8" fill="hold" grpId="0" nodeType="withEffect">
                                  <p:stCondLst>
                                    <p:cond delay="130"/>
                                  </p:stCondLst>
                                  <p:childTnLst>
                                    <p:set>
                                      <p:cBhvr>
                                        <p:cTn id="41" dur="1" fill="hold">
                                          <p:stCondLst>
                                            <p:cond delay="0"/>
                                          </p:stCondLst>
                                        </p:cTn>
                                        <p:tgtEl>
                                          <p:spTgt spid="29"/>
                                        </p:tgtEl>
                                        <p:attrNameLst>
                                          <p:attrName>style.visibility</p:attrName>
                                        </p:attrNameLst>
                                      </p:cBhvr>
                                      <p:to>
                                        <p:strVal val="visible"/>
                                      </p:to>
                                    </p:set>
                                    <p:animEffect transition="in" filter="wipe(left)">
                                      <p:cBhvr>
                                        <p:cTn id="42" dur="500"/>
                                        <p:tgtEl>
                                          <p:spTgt spid="29"/>
                                        </p:tgtEl>
                                      </p:cBhvr>
                                    </p:animEffect>
                                  </p:childTnLst>
                                </p:cTn>
                              </p:par>
                              <p:par>
                                <p:cTn id="46" presetID="22" presetClass="entr" presetSubtype="8" fill="hold" grpId="0" nodeType="withEffect">
                                  <p:stCondLst>
                                    <p:cond delay="130"/>
                                  </p:stCondLst>
                                  <p:childTnLst>
                                    <p:set>
                                      <p:cBhvr>
                                        <p:cTn id="44" dur="1" fill="hold">
                                          <p:stCondLst>
                                            <p:cond delay="0"/>
                                          </p:stCondLst>
                                        </p:cTn>
                                        <p:tgtEl>
                                          <p:spTgt spid="30"/>
                                        </p:tgtEl>
                                        <p:attrNameLst>
                                          <p:attrName>style.visibility</p:attrName>
                                        </p:attrNameLst>
                                      </p:cBhvr>
                                      <p:to>
                                        <p:strVal val="visible"/>
                                      </p:to>
                                    </p:set>
                                    <p:animEffect transition="in" filter="wipe(left)">
                                      <p:cBhvr>
                                        <p:cTn id="45" dur="500"/>
                                        <p:tgtEl>
                                          <p:spTgt spid="30"/>
                                        </p:tgtEl>
                                      </p:cBhvr>
                                    </p:animEffect>
                                  </p:childTnLst>
                                </p:cTn>
                              </p:par>
                              <p:par>
                                <p:cTn id="49" presetID="22" presetClass="entr" presetSubtype="8" fill="hold" grpId="0" nodeType="withEffect">
                                  <p:stCondLst>
                                    <p:cond delay="130"/>
                                  </p:stCondLst>
                                  <p:childTnLst>
                                    <p:set>
                                      <p:cBhvr>
                                        <p:cTn id="47" dur="1" fill="hold">
                                          <p:stCondLst>
                                            <p:cond delay="0"/>
                                          </p:stCondLst>
                                        </p:cTn>
                                        <p:tgtEl>
                                          <p:spTgt spid="43"/>
                                        </p:tgtEl>
                                        <p:attrNameLst>
                                          <p:attrName>style.visibility</p:attrName>
                                        </p:attrNameLst>
                                      </p:cBhvr>
                                      <p:to>
                                        <p:strVal val="visible"/>
                                      </p:to>
                                    </p:set>
                                    <p:animEffect transition="in" filter="wipe(left)">
                                      <p:cBhvr>
                                        <p:cTn id="48" dur="500"/>
                                        <p:tgtEl>
                                          <p:spTgt spid="43"/>
                                        </p:tgtEl>
                                      </p:cBhvr>
                                    </p:animEffect>
                                  </p:childTnLst>
                                </p:cTn>
                              </p:par>
                              <p:par>
                                <p:cTn id="52" presetID="22" presetClass="entr" presetSubtype="8" fill="hold" grpId="0" nodeType="withEffect">
                                  <p:stCondLst>
                                    <p:cond delay="130"/>
                                  </p:stCondLst>
                                  <p:childTnLst>
                                    <p:set>
                                      <p:cBhvr>
                                        <p:cTn id="50" dur="1" fill="hold">
                                          <p:stCondLst>
                                            <p:cond delay="0"/>
                                          </p:stCondLst>
                                        </p:cTn>
                                        <p:tgtEl>
                                          <p:spTgt spid="44"/>
                                        </p:tgtEl>
                                        <p:attrNameLst>
                                          <p:attrName>style.visibility</p:attrName>
                                        </p:attrNameLst>
                                      </p:cBhvr>
                                      <p:to>
                                        <p:strVal val="visible"/>
                                      </p:to>
                                    </p:set>
                                    <p:animEffect transition="in" filter="wipe(left)">
                                      <p:cBhvr>
                                        <p:cTn id="51" dur="500"/>
                                        <p:tgtEl>
                                          <p:spTgt spid="44"/>
                                        </p:tgtEl>
                                      </p:cBhvr>
                                    </p:animEffect>
                                  </p:childTnLst>
                                </p:cTn>
                              </p:par>
                              <p:par>
                                <p:cTn id="55" presetID="22" presetClass="entr" presetSubtype="8" fill="hold" grpId="0" nodeType="withEffect">
                                  <p:stCondLst>
                                    <p:cond delay="260"/>
                                  </p:stCondLst>
                                  <p:childTnLst>
                                    <p:set>
                                      <p:cBhvr>
                                        <p:cTn id="53" dur="1" fill="hold">
                                          <p:stCondLst>
                                            <p:cond delay="0"/>
                                          </p:stCondLst>
                                        </p:cTn>
                                        <p:tgtEl>
                                          <p:spTgt spid="17"/>
                                        </p:tgtEl>
                                        <p:attrNameLst>
                                          <p:attrName>style.visibility</p:attrName>
                                        </p:attrNameLst>
                                      </p:cBhvr>
                                      <p:to>
                                        <p:strVal val="visible"/>
                                      </p:to>
                                    </p:set>
                                    <p:animEffect transition="in" filter="wipe(left)">
                                      <p:cBhvr>
                                        <p:cTn id="54" dur="500"/>
                                        <p:tgtEl>
                                          <p:spTgt spid="17"/>
                                        </p:tgtEl>
                                      </p:cBhvr>
                                    </p:animEffect>
                                  </p:childTnLst>
                                </p:cTn>
                              </p:par>
                              <p:par>
                                <p:cTn id="58" presetID="22" presetClass="entr" presetSubtype="8" fill="hold" grpId="0" nodeType="withEffect">
                                  <p:stCondLst>
                                    <p:cond delay="260"/>
                                  </p:stCondLst>
                                  <p:childTnLst>
                                    <p:set>
                                      <p:cBhvr>
                                        <p:cTn id="56" dur="1" fill="hold">
                                          <p:stCondLst>
                                            <p:cond delay="0"/>
                                          </p:stCondLst>
                                        </p:cTn>
                                        <p:tgtEl>
                                          <p:spTgt spid="18"/>
                                        </p:tgtEl>
                                        <p:attrNameLst>
                                          <p:attrName>style.visibility</p:attrName>
                                        </p:attrNameLst>
                                      </p:cBhvr>
                                      <p:to>
                                        <p:strVal val="visible"/>
                                      </p:to>
                                    </p:set>
                                    <p:animEffect transition="in" filter="wipe(left)">
                                      <p:cBhvr>
                                        <p:cTn id="57" dur="500"/>
                                        <p:tgtEl>
                                          <p:spTgt spid="18"/>
                                        </p:tgtEl>
                                      </p:cBhvr>
                                    </p:animEffect>
                                  </p:childTnLst>
                                </p:cTn>
                              </p:par>
                              <p:par>
                                <p:cTn id="61" presetID="22" presetClass="entr" presetSubtype="8" fill="hold" grpId="0" nodeType="withEffect">
                                  <p:stCondLst>
                                    <p:cond delay="260"/>
                                  </p:stCondLst>
                                  <p:childTnLst>
                                    <p:set>
                                      <p:cBhvr>
                                        <p:cTn id="59" dur="1" fill="hold">
                                          <p:stCondLst>
                                            <p:cond delay="0"/>
                                          </p:stCondLst>
                                        </p:cTn>
                                        <p:tgtEl>
                                          <p:spTgt spid="31"/>
                                        </p:tgtEl>
                                        <p:attrNameLst>
                                          <p:attrName>style.visibility</p:attrName>
                                        </p:attrNameLst>
                                      </p:cBhvr>
                                      <p:to>
                                        <p:strVal val="visible"/>
                                      </p:to>
                                    </p:set>
                                    <p:animEffect transition="in" filter="wipe(left)">
                                      <p:cBhvr>
                                        <p:cTn id="60" dur="500"/>
                                        <p:tgtEl>
                                          <p:spTgt spid="31"/>
                                        </p:tgtEl>
                                      </p:cBhvr>
                                    </p:animEffect>
                                  </p:childTnLst>
                                </p:cTn>
                              </p:par>
                              <p:par>
                                <p:cTn id="64" presetID="22" presetClass="entr" presetSubtype="8" fill="hold" grpId="0" nodeType="withEffect">
                                  <p:stCondLst>
                                    <p:cond delay="260"/>
                                  </p:stCondLst>
                                  <p:childTnLst>
                                    <p:set>
                                      <p:cBhvr>
                                        <p:cTn id="62" dur="1" fill="hold">
                                          <p:stCondLst>
                                            <p:cond delay="0"/>
                                          </p:stCondLst>
                                        </p:cTn>
                                        <p:tgtEl>
                                          <p:spTgt spid="32"/>
                                        </p:tgtEl>
                                        <p:attrNameLst>
                                          <p:attrName>style.visibility</p:attrName>
                                        </p:attrNameLst>
                                      </p:cBhvr>
                                      <p:to>
                                        <p:strVal val="visible"/>
                                      </p:to>
                                    </p:set>
                                    <p:animEffect transition="in" filter="wipe(left)">
                                      <p:cBhvr>
                                        <p:cTn id="63" dur="500"/>
                                        <p:tgtEl>
                                          <p:spTgt spid="32"/>
                                        </p:tgtEl>
                                      </p:cBhvr>
                                    </p:animEffect>
                                  </p:childTnLst>
                                </p:cTn>
                              </p:par>
                              <p:par>
                                <p:cTn id="67" presetID="22" presetClass="entr" presetSubtype="8" fill="hold" grpId="0" nodeType="withEffect">
                                  <p:stCondLst>
                                    <p:cond delay="260"/>
                                  </p:stCondLst>
                                  <p:childTnLst>
                                    <p:set>
                                      <p:cBhvr>
                                        <p:cTn id="65" dur="1" fill="hold">
                                          <p:stCondLst>
                                            <p:cond delay="0"/>
                                          </p:stCondLst>
                                        </p:cTn>
                                        <p:tgtEl>
                                          <p:spTgt spid="45"/>
                                        </p:tgtEl>
                                        <p:attrNameLst>
                                          <p:attrName>style.visibility</p:attrName>
                                        </p:attrNameLst>
                                      </p:cBhvr>
                                      <p:to>
                                        <p:strVal val="visible"/>
                                      </p:to>
                                    </p:set>
                                    <p:animEffect transition="in" filter="wipe(left)">
                                      <p:cBhvr>
                                        <p:cTn id="66" dur="500"/>
                                        <p:tgtEl>
                                          <p:spTgt spid="45"/>
                                        </p:tgtEl>
                                      </p:cBhvr>
                                    </p:animEffect>
                                  </p:childTnLst>
                                </p:cTn>
                              </p:par>
                              <p:par>
                                <p:cTn id="70" presetID="22" presetClass="entr" presetSubtype="8" fill="hold" grpId="0" nodeType="withEffect">
                                  <p:stCondLst>
                                    <p:cond delay="260"/>
                                  </p:stCondLst>
                                  <p:childTnLst>
                                    <p:set>
                                      <p:cBhvr>
                                        <p:cTn id="68" dur="1" fill="hold">
                                          <p:stCondLst>
                                            <p:cond delay="0"/>
                                          </p:stCondLst>
                                        </p:cTn>
                                        <p:tgtEl>
                                          <p:spTgt spid="46"/>
                                        </p:tgtEl>
                                        <p:attrNameLst>
                                          <p:attrName>style.visibility</p:attrName>
                                        </p:attrNameLst>
                                      </p:cBhvr>
                                      <p:to>
                                        <p:strVal val="visible"/>
                                      </p:to>
                                    </p:set>
                                    <p:animEffect transition="in" filter="wipe(left)">
                                      <p:cBhvr>
                                        <p:cTn id="69" dur="500"/>
                                        <p:tgtEl>
                                          <p:spTgt spid="46"/>
                                        </p:tgtEl>
                                      </p:cBhvr>
                                    </p:animEffect>
                                  </p:childTnLst>
                                </p:cTn>
                              </p:par>
                              <p:par>
                                <p:cTn id="73" presetID="22" presetClass="entr" presetSubtype="8" fill="hold" grpId="0" nodeType="withEffect">
                                  <p:stCondLst>
                                    <p:cond delay="390"/>
                                  </p:stCondLst>
                                  <p:childTnLst>
                                    <p:set>
                                      <p:cBhvr>
                                        <p:cTn id="71" dur="1" fill="hold">
                                          <p:stCondLst>
                                            <p:cond delay="0"/>
                                          </p:stCondLst>
                                        </p:cTn>
                                        <p:tgtEl>
                                          <p:spTgt spid="19"/>
                                        </p:tgtEl>
                                        <p:attrNameLst>
                                          <p:attrName>style.visibility</p:attrName>
                                        </p:attrNameLst>
                                      </p:cBhvr>
                                      <p:to>
                                        <p:strVal val="visible"/>
                                      </p:to>
                                    </p:set>
                                    <p:animEffect transition="in" filter="wipe(left)">
                                      <p:cBhvr>
                                        <p:cTn id="72" dur="500"/>
                                        <p:tgtEl>
                                          <p:spTgt spid="19"/>
                                        </p:tgtEl>
                                      </p:cBhvr>
                                    </p:animEffect>
                                  </p:childTnLst>
                                </p:cTn>
                              </p:par>
                              <p:par>
                                <p:cTn id="76" presetID="22" presetClass="entr" presetSubtype="8" fill="hold" grpId="0" nodeType="withEffect">
                                  <p:stCondLst>
                                    <p:cond delay="390"/>
                                  </p:stCondLst>
                                  <p:childTnLst>
                                    <p:set>
                                      <p:cBhvr>
                                        <p:cTn id="74" dur="1" fill="hold">
                                          <p:stCondLst>
                                            <p:cond delay="0"/>
                                          </p:stCondLst>
                                        </p:cTn>
                                        <p:tgtEl>
                                          <p:spTgt spid="20"/>
                                        </p:tgtEl>
                                        <p:attrNameLst>
                                          <p:attrName>style.visibility</p:attrName>
                                        </p:attrNameLst>
                                      </p:cBhvr>
                                      <p:to>
                                        <p:strVal val="visible"/>
                                      </p:to>
                                    </p:set>
                                    <p:animEffect transition="in" filter="wipe(left)">
                                      <p:cBhvr>
                                        <p:cTn id="75" dur="500"/>
                                        <p:tgtEl>
                                          <p:spTgt spid="20"/>
                                        </p:tgtEl>
                                      </p:cBhvr>
                                    </p:animEffect>
                                  </p:childTnLst>
                                </p:cTn>
                              </p:par>
                              <p:par>
                                <p:cTn id="79" presetID="22" presetClass="entr" presetSubtype="8" fill="hold" grpId="0" nodeType="withEffect">
                                  <p:stCondLst>
                                    <p:cond delay="390"/>
                                  </p:stCondLst>
                                  <p:childTnLst>
                                    <p:set>
                                      <p:cBhvr>
                                        <p:cTn id="77" dur="1" fill="hold">
                                          <p:stCondLst>
                                            <p:cond delay="0"/>
                                          </p:stCondLst>
                                        </p:cTn>
                                        <p:tgtEl>
                                          <p:spTgt spid="33"/>
                                        </p:tgtEl>
                                        <p:attrNameLst>
                                          <p:attrName>style.visibility</p:attrName>
                                        </p:attrNameLst>
                                      </p:cBhvr>
                                      <p:to>
                                        <p:strVal val="visible"/>
                                      </p:to>
                                    </p:set>
                                    <p:animEffect transition="in" filter="wipe(left)">
                                      <p:cBhvr>
                                        <p:cTn id="78" dur="500"/>
                                        <p:tgtEl>
                                          <p:spTgt spid="33"/>
                                        </p:tgtEl>
                                      </p:cBhvr>
                                    </p:animEffect>
                                  </p:childTnLst>
                                </p:cTn>
                              </p:par>
                              <p:par>
                                <p:cTn id="82" presetID="22" presetClass="entr" presetSubtype="8" fill="hold" grpId="0" nodeType="withEffect">
                                  <p:stCondLst>
                                    <p:cond delay="390"/>
                                  </p:stCondLst>
                                  <p:childTnLst>
                                    <p:set>
                                      <p:cBhvr>
                                        <p:cTn id="80" dur="1" fill="hold">
                                          <p:stCondLst>
                                            <p:cond delay="0"/>
                                          </p:stCondLst>
                                        </p:cTn>
                                        <p:tgtEl>
                                          <p:spTgt spid="34"/>
                                        </p:tgtEl>
                                        <p:attrNameLst>
                                          <p:attrName>style.visibility</p:attrName>
                                        </p:attrNameLst>
                                      </p:cBhvr>
                                      <p:to>
                                        <p:strVal val="visible"/>
                                      </p:to>
                                    </p:set>
                                    <p:animEffect transition="in" filter="wipe(left)">
                                      <p:cBhvr>
                                        <p:cTn id="81" dur="500"/>
                                        <p:tgtEl>
                                          <p:spTgt spid="34"/>
                                        </p:tgtEl>
                                      </p:cBhvr>
                                    </p:animEffect>
                                  </p:childTnLst>
                                </p:cTn>
                              </p:par>
                              <p:par>
                                <p:cTn id="85" presetID="22" presetClass="entr" presetSubtype="8" fill="hold" grpId="0" nodeType="withEffect">
                                  <p:stCondLst>
                                    <p:cond delay="390"/>
                                  </p:stCondLst>
                                  <p:childTnLst>
                                    <p:set>
                                      <p:cBhvr>
                                        <p:cTn id="83" dur="1" fill="hold">
                                          <p:stCondLst>
                                            <p:cond delay="0"/>
                                          </p:stCondLst>
                                        </p:cTn>
                                        <p:tgtEl>
                                          <p:spTgt spid="47"/>
                                        </p:tgtEl>
                                        <p:attrNameLst>
                                          <p:attrName>style.visibility</p:attrName>
                                        </p:attrNameLst>
                                      </p:cBhvr>
                                      <p:to>
                                        <p:strVal val="visible"/>
                                      </p:to>
                                    </p:set>
                                    <p:animEffect transition="in" filter="wipe(left)">
                                      <p:cBhvr>
                                        <p:cTn id="84" dur="500"/>
                                        <p:tgtEl>
                                          <p:spTgt spid="47"/>
                                        </p:tgtEl>
                                      </p:cBhvr>
                                    </p:animEffect>
                                  </p:childTnLst>
                                </p:cTn>
                              </p:par>
                              <p:par>
                                <p:cTn id="88" presetID="22" presetClass="entr" presetSubtype="8" fill="hold" grpId="0" nodeType="withEffect">
                                  <p:stCondLst>
                                    <p:cond delay="390"/>
                                  </p:stCondLst>
                                  <p:childTnLst>
                                    <p:set>
                                      <p:cBhvr>
                                        <p:cTn id="86" dur="1" fill="hold">
                                          <p:stCondLst>
                                            <p:cond delay="0"/>
                                          </p:stCondLst>
                                        </p:cTn>
                                        <p:tgtEl>
                                          <p:spTgt spid="48"/>
                                        </p:tgtEl>
                                        <p:attrNameLst>
                                          <p:attrName>style.visibility</p:attrName>
                                        </p:attrNameLst>
                                      </p:cBhvr>
                                      <p:to>
                                        <p:strVal val="visible"/>
                                      </p:to>
                                    </p:set>
                                    <p:animEffect transition="in" filter="wipe(left)">
                                      <p:cBhvr>
                                        <p:cTn id="87" dur="500"/>
                                        <p:tgtEl>
                                          <p:spTgt spid="48"/>
                                        </p:tgtEl>
                                      </p:cBhvr>
                                    </p:animEffect>
                                  </p:childTnLst>
                                </p:cTn>
                              </p:par>
                              <p:par>
                                <p:cTn id="91" presetID="22" presetClass="entr" presetSubtype="8" fill="hold" grpId="0" nodeType="withEffect">
                                  <p:stCondLst>
                                    <p:cond delay="520"/>
                                  </p:stCondLst>
                                  <p:childTnLst>
                                    <p:set>
                                      <p:cBhvr>
                                        <p:cTn id="89" dur="1" fill="hold">
                                          <p:stCondLst>
                                            <p:cond delay="0"/>
                                          </p:stCondLst>
                                        </p:cTn>
                                        <p:tgtEl>
                                          <p:spTgt spid="21"/>
                                        </p:tgtEl>
                                        <p:attrNameLst>
                                          <p:attrName>style.visibility</p:attrName>
                                        </p:attrNameLst>
                                      </p:cBhvr>
                                      <p:to>
                                        <p:strVal val="visible"/>
                                      </p:to>
                                    </p:set>
                                    <p:animEffect transition="in" filter="wipe(left)">
                                      <p:cBhvr>
                                        <p:cTn id="90" dur="500"/>
                                        <p:tgtEl>
                                          <p:spTgt spid="21"/>
                                        </p:tgtEl>
                                      </p:cBhvr>
                                    </p:animEffect>
                                  </p:childTnLst>
                                </p:cTn>
                              </p:par>
                              <p:par>
                                <p:cTn id="94" presetID="22" presetClass="entr" presetSubtype="8" fill="hold" grpId="0" nodeType="withEffect">
                                  <p:stCondLst>
                                    <p:cond delay="520"/>
                                  </p:stCondLst>
                                  <p:childTnLst>
                                    <p:set>
                                      <p:cBhvr>
                                        <p:cTn id="92" dur="1" fill="hold">
                                          <p:stCondLst>
                                            <p:cond delay="0"/>
                                          </p:stCondLst>
                                        </p:cTn>
                                        <p:tgtEl>
                                          <p:spTgt spid="22"/>
                                        </p:tgtEl>
                                        <p:attrNameLst>
                                          <p:attrName>style.visibility</p:attrName>
                                        </p:attrNameLst>
                                      </p:cBhvr>
                                      <p:to>
                                        <p:strVal val="visible"/>
                                      </p:to>
                                    </p:set>
                                    <p:animEffect transition="in" filter="wipe(left)">
                                      <p:cBhvr>
                                        <p:cTn id="93" dur="500"/>
                                        <p:tgtEl>
                                          <p:spTgt spid="22"/>
                                        </p:tgtEl>
                                      </p:cBhvr>
                                    </p:animEffect>
                                  </p:childTnLst>
                                </p:cTn>
                              </p:par>
                              <p:par>
                                <p:cTn id="97" presetID="22" presetClass="entr" presetSubtype="8" fill="hold" grpId="0" nodeType="withEffect">
                                  <p:stCondLst>
                                    <p:cond delay="520"/>
                                  </p:stCondLst>
                                  <p:childTnLst>
                                    <p:set>
                                      <p:cBhvr>
                                        <p:cTn id="95" dur="1" fill="hold">
                                          <p:stCondLst>
                                            <p:cond delay="0"/>
                                          </p:stCondLst>
                                        </p:cTn>
                                        <p:tgtEl>
                                          <p:spTgt spid="35"/>
                                        </p:tgtEl>
                                        <p:attrNameLst>
                                          <p:attrName>style.visibility</p:attrName>
                                        </p:attrNameLst>
                                      </p:cBhvr>
                                      <p:to>
                                        <p:strVal val="visible"/>
                                      </p:to>
                                    </p:set>
                                    <p:animEffect transition="in" filter="wipe(left)">
                                      <p:cBhvr>
                                        <p:cTn id="96" dur="500"/>
                                        <p:tgtEl>
                                          <p:spTgt spid="35"/>
                                        </p:tgtEl>
                                      </p:cBhvr>
                                    </p:animEffect>
                                  </p:childTnLst>
                                </p:cTn>
                              </p:par>
                              <p:par>
                                <p:cTn id="100" presetID="22" presetClass="entr" presetSubtype="8" fill="hold" grpId="0" nodeType="withEffect">
                                  <p:stCondLst>
                                    <p:cond delay="520"/>
                                  </p:stCondLst>
                                  <p:childTnLst>
                                    <p:set>
                                      <p:cBhvr>
                                        <p:cTn id="98" dur="1" fill="hold">
                                          <p:stCondLst>
                                            <p:cond delay="0"/>
                                          </p:stCondLst>
                                        </p:cTn>
                                        <p:tgtEl>
                                          <p:spTgt spid="36"/>
                                        </p:tgtEl>
                                        <p:attrNameLst>
                                          <p:attrName>style.visibility</p:attrName>
                                        </p:attrNameLst>
                                      </p:cBhvr>
                                      <p:to>
                                        <p:strVal val="visible"/>
                                      </p:to>
                                    </p:set>
                                    <p:animEffect transition="in" filter="wipe(left)">
                                      <p:cBhvr>
                                        <p:cTn id="99" dur="500"/>
                                        <p:tgtEl>
                                          <p:spTgt spid="36"/>
                                        </p:tgtEl>
                                      </p:cBhvr>
                                    </p:animEffect>
                                  </p:childTnLst>
                                </p:cTn>
                              </p:par>
                              <p:par>
                                <p:cTn id="103" presetID="22" presetClass="entr" presetSubtype="8" fill="hold" grpId="0" nodeType="withEffect">
                                  <p:stCondLst>
                                    <p:cond delay="520"/>
                                  </p:stCondLst>
                                  <p:childTnLst>
                                    <p:set>
                                      <p:cBhvr>
                                        <p:cTn id="101" dur="1" fill="hold">
                                          <p:stCondLst>
                                            <p:cond delay="0"/>
                                          </p:stCondLst>
                                        </p:cTn>
                                        <p:tgtEl>
                                          <p:spTgt spid="49"/>
                                        </p:tgtEl>
                                        <p:attrNameLst>
                                          <p:attrName>style.visibility</p:attrName>
                                        </p:attrNameLst>
                                      </p:cBhvr>
                                      <p:to>
                                        <p:strVal val="visible"/>
                                      </p:to>
                                    </p:set>
                                    <p:animEffect transition="in" filter="wipe(left)">
                                      <p:cBhvr>
                                        <p:cTn id="102" dur="500"/>
                                        <p:tgtEl>
                                          <p:spTgt spid="49"/>
                                        </p:tgtEl>
                                      </p:cBhvr>
                                    </p:animEffect>
                                  </p:childTnLst>
                                </p:cTn>
                              </p:par>
                              <p:par>
                                <p:cTn id="106" presetID="22" presetClass="entr" presetSubtype="8" fill="hold" grpId="0" nodeType="withEffect">
                                  <p:stCondLst>
                                    <p:cond delay="520"/>
                                  </p:stCondLst>
                                  <p:childTnLst>
                                    <p:set>
                                      <p:cBhvr>
                                        <p:cTn id="104" dur="1" fill="hold">
                                          <p:stCondLst>
                                            <p:cond delay="0"/>
                                          </p:stCondLst>
                                        </p:cTn>
                                        <p:tgtEl>
                                          <p:spTgt spid="50"/>
                                        </p:tgtEl>
                                        <p:attrNameLst>
                                          <p:attrName>style.visibility</p:attrName>
                                        </p:attrNameLst>
                                      </p:cBhvr>
                                      <p:to>
                                        <p:strVal val="visible"/>
                                      </p:to>
                                    </p:set>
                                    <p:animEffect transition="in" filter="wipe(left)">
                                      <p:cBhvr>
                                        <p:cTn id="105" dur="500"/>
                                        <p:tgtEl>
                                          <p:spTgt spid="50"/>
                                        </p:tgtEl>
                                      </p:cBhvr>
                                    </p:animEffect>
                                  </p:childTnLst>
                                </p:cTn>
                              </p:par>
                              <p:par>
                                <p:cTn id="109" presetID="22" presetClass="entr" presetSubtype="8" fill="hold" grpId="0" nodeType="withEffect">
                                  <p:stCondLst>
                                    <p:cond delay="650"/>
                                  </p:stCondLst>
                                  <p:childTnLst>
                                    <p:set>
                                      <p:cBhvr>
                                        <p:cTn id="107" dur="1" fill="hold">
                                          <p:stCondLst>
                                            <p:cond delay="0"/>
                                          </p:stCondLst>
                                        </p:cTn>
                                        <p:tgtEl>
                                          <p:spTgt spid="23"/>
                                        </p:tgtEl>
                                        <p:attrNameLst>
                                          <p:attrName>style.visibility</p:attrName>
                                        </p:attrNameLst>
                                      </p:cBhvr>
                                      <p:to>
                                        <p:strVal val="visible"/>
                                      </p:to>
                                    </p:set>
                                    <p:animEffect transition="in" filter="wipe(left)">
                                      <p:cBhvr>
                                        <p:cTn id="108" dur="500"/>
                                        <p:tgtEl>
                                          <p:spTgt spid="23"/>
                                        </p:tgtEl>
                                      </p:cBhvr>
                                    </p:animEffect>
                                  </p:childTnLst>
                                </p:cTn>
                              </p:par>
                              <p:par>
                                <p:cTn id="112" presetID="22" presetClass="entr" presetSubtype="8" fill="hold" grpId="0" nodeType="withEffect">
                                  <p:stCondLst>
                                    <p:cond delay="650"/>
                                  </p:stCondLst>
                                  <p:childTnLst>
                                    <p:set>
                                      <p:cBhvr>
                                        <p:cTn id="110" dur="1" fill="hold">
                                          <p:stCondLst>
                                            <p:cond delay="0"/>
                                          </p:stCondLst>
                                        </p:cTn>
                                        <p:tgtEl>
                                          <p:spTgt spid="24"/>
                                        </p:tgtEl>
                                        <p:attrNameLst>
                                          <p:attrName>style.visibility</p:attrName>
                                        </p:attrNameLst>
                                      </p:cBhvr>
                                      <p:to>
                                        <p:strVal val="visible"/>
                                      </p:to>
                                    </p:set>
                                    <p:animEffect transition="in" filter="wipe(left)">
                                      <p:cBhvr>
                                        <p:cTn id="111" dur="500"/>
                                        <p:tgtEl>
                                          <p:spTgt spid="24"/>
                                        </p:tgtEl>
                                      </p:cBhvr>
                                    </p:animEffect>
                                  </p:childTnLst>
                                </p:cTn>
                              </p:par>
                              <p:par>
                                <p:cTn id="115" presetID="22" presetClass="entr" presetSubtype="8" fill="hold" grpId="0" nodeType="withEffect">
                                  <p:stCondLst>
                                    <p:cond delay="650"/>
                                  </p:stCondLst>
                                  <p:childTnLst>
                                    <p:set>
                                      <p:cBhvr>
                                        <p:cTn id="113" dur="1" fill="hold">
                                          <p:stCondLst>
                                            <p:cond delay="0"/>
                                          </p:stCondLst>
                                        </p:cTn>
                                        <p:tgtEl>
                                          <p:spTgt spid="37"/>
                                        </p:tgtEl>
                                        <p:attrNameLst>
                                          <p:attrName>style.visibility</p:attrName>
                                        </p:attrNameLst>
                                      </p:cBhvr>
                                      <p:to>
                                        <p:strVal val="visible"/>
                                      </p:to>
                                    </p:set>
                                    <p:animEffect transition="in" filter="wipe(left)">
                                      <p:cBhvr>
                                        <p:cTn id="114" dur="500"/>
                                        <p:tgtEl>
                                          <p:spTgt spid="37"/>
                                        </p:tgtEl>
                                      </p:cBhvr>
                                    </p:animEffect>
                                  </p:childTnLst>
                                </p:cTn>
                              </p:par>
                              <p:par>
                                <p:cTn id="118" presetID="22" presetClass="entr" presetSubtype="8" fill="hold" grpId="0" nodeType="withEffect">
                                  <p:stCondLst>
                                    <p:cond delay="650"/>
                                  </p:stCondLst>
                                  <p:childTnLst>
                                    <p:set>
                                      <p:cBhvr>
                                        <p:cTn id="116" dur="1" fill="hold">
                                          <p:stCondLst>
                                            <p:cond delay="0"/>
                                          </p:stCondLst>
                                        </p:cTn>
                                        <p:tgtEl>
                                          <p:spTgt spid="38"/>
                                        </p:tgtEl>
                                        <p:attrNameLst>
                                          <p:attrName>style.visibility</p:attrName>
                                        </p:attrNameLst>
                                      </p:cBhvr>
                                      <p:to>
                                        <p:strVal val="visible"/>
                                      </p:to>
                                    </p:set>
                                    <p:animEffect transition="in" filter="wipe(left)">
                                      <p:cBhvr>
                                        <p:cTn id="117" dur="500"/>
                                        <p:tgtEl>
                                          <p:spTgt spid="38"/>
                                        </p:tgtEl>
                                      </p:cBhvr>
                                    </p:animEffect>
                                  </p:childTnLst>
                                </p:cTn>
                              </p:par>
                              <p:par>
                                <p:cTn id="121" presetID="22" presetClass="entr" presetSubtype="8" fill="hold" grpId="0" nodeType="withEffect">
                                  <p:stCondLst>
                                    <p:cond delay="650"/>
                                  </p:stCondLst>
                                  <p:childTnLst>
                                    <p:set>
                                      <p:cBhvr>
                                        <p:cTn id="119" dur="1" fill="hold">
                                          <p:stCondLst>
                                            <p:cond delay="0"/>
                                          </p:stCondLst>
                                        </p:cTn>
                                        <p:tgtEl>
                                          <p:spTgt spid="51"/>
                                        </p:tgtEl>
                                        <p:attrNameLst>
                                          <p:attrName>style.visibility</p:attrName>
                                        </p:attrNameLst>
                                      </p:cBhvr>
                                      <p:to>
                                        <p:strVal val="visible"/>
                                      </p:to>
                                    </p:set>
                                    <p:animEffect transition="in" filter="wipe(left)">
                                      <p:cBhvr>
                                        <p:cTn id="120" dur="500"/>
                                        <p:tgtEl>
                                          <p:spTgt spid="51"/>
                                        </p:tgtEl>
                                      </p:cBhvr>
                                    </p:animEffect>
                                  </p:childTnLst>
                                </p:cTn>
                              </p:par>
                              <p:par>
                                <p:cTn id="124" presetID="22" presetClass="entr" presetSubtype="8" fill="hold" grpId="0" nodeType="withEffect">
                                  <p:stCondLst>
                                    <p:cond delay="650"/>
                                  </p:stCondLst>
                                  <p:childTnLst>
                                    <p:set>
                                      <p:cBhvr>
                                        <p:cTn id="122" dur="1" fill="hold">
                                          <p:stCondLst>
                                            <p:cond delay="0"/>
                                          </p:stCondLst>
                                        </p:cTn>
                                        <p:tgtEl>
                                          <p:spTgt spid="52"/>
                                        </p:tgtEl>
                                        <p:attrNameLst>
                                          <p:attrName>style.visibility</p:attrName>
                                        </p:attrNameLst>
                                      </p:cBhvr>
                                      <p:to>
                                        <p:strVal val="visible"/>
                                      </p:to>
                                    </p:set>
                                    <p:animEffect transition="in" filter="wipe(left)">
                                      <p:cBhvr>
                                        <p:cTn id="123" dur="500"/>
                                        <p:tgtEl>
                                          <p:spTgt spid="52"/>
                                        </p:tgtEl>
                                      </p:cBhvr>
                                    </p:animEffect>
                                  </p:childTnLst>
                                </p:cTn>
                              </p:par>
                              <p:par>
                                <p:cTn id="127" presetID="22" presetClass="entr" presetSubtype="8" fill="hold" grpId="0" nodeType="withEffect">
                                  <p:stCondLst>
                                    <p:cond delay="780"/>
                                  </p:stCondLst>
                                  <p:childTnLst>
                                    <p:set>
                                      <p:cBhvr>
                                        <p:cTn id="125" dur="1" fill="hold">
                                          <p:stCondLst>
                                            <p:cond delay="0"/>
                                          </p:stCondLst>
                                        </p:cTn>
                                        <p:tgtEl>
                                          <p:spTgt spid="25"/>
                                        </p:tgtEl>
                                        <p:attrNameLst>
                                          <p:attrName>style.visibility</p:attrName>
                                        </p:attrNameLst>
                                      </p:cBhvr>
                                      <p:to>
                                        <p:strVal val="visible"/>
                                      </p:to>
                                    </p:set>
                                    <p:animEffect transition="in" filter="wipe(left)">
                                      <p:cBhvr>
                                        <p:cTn id="126" dur="500"/>
                                        <p:tgtEl>
                                          <p:spTgt spid="25"/>
                                        </p:tgtEl>
                                      </p:cBhvr>
                                    </p:animEffect>
                                  </p:childTnLst>
                                </p:cTn>
                              </p:par>
                              <p:par>
                                <p:cTn id="130" presetID="22" presetClass="entr" presetSubtype="8" fill="hold" grpId="0" nodeType="withEffect">
                                  <p:stCondLst>
                                    <p:cond delay="780"/>
                                  </p:stCondLst>
                                  <p:childTnLst>
                                    <p:set>
                                      <p:cBhvr>
                                        <p:cTn id="128" dur="1" fill="hold">
                                          <p:stCondLst>
                                            <p:cond delay="0"/>
                                          </p:stCondLst>
                                        </p:cTn>
                                        <p:tgtEl>
                                          <p:spTgt spid="26"/>
                                        </p:tgtEl>
                                        <p:attrNameLst>
                                          <p:attrName>style.visibility</p:attrName>
                                        </p:attrNameLst>
                                      </p:cBhvr>
                                      <p:to>
                                        <p:strVal val="visible"/>
                                      </p:to>
                                    </p:set>
                                    <p:animEffect transition="in" filter="wipe(left)">
                                      <p:cBhvr>
                                        <p:cTn id="129" dur="500"/>
                                        <p:tgtEl>
                                          <p:spTgt spid="26"/>
                                        </p:tgtEl>
                                      </p:cBhvr>
                                    </p:animEffect>
                                  </p:childTnLst>
                                </p:cTn>
                              </p:par>
                              <p:par>
                                <p:cTn id="133" presetID="22" presetClass="entr" presetSubtype="8" fill="hold" grpId="0" nodeType="withEffect">
                                  <p:stCondLst>
                                    <p:cond delay="780"/>
                                  </p:stCondLst>
                                  <p:childTnLst>
                                    <p:set>
                                      <p:cBhvr>
                                        <p:cTn id="131" dur="1" fill="hold">
                                          <p:stCondLst>
                                            <p:cond delay="0"/>
                                          </p:stCondLst>
                                        </p:cTn>
                                        <p:tgtEl>
                                          <p:spTgt spid="39"/>
                                        </p:tgtEl>
                                        <p:attrNameLst>
                                          <p:attrName>style.visibility</p:attrName>
                                        </p:attrNameLst>
                                      </p:cBhvr>
                                      <p:to>
                                        <p:strVal val="visible"/>
                                      </p:to>
                                    </p:set>
                                    <p:animEffect transition="in" filter="wipe(left)">
                                      <p:cBhvr>
                                        <p:cTn id="132" dur="500"/>
                                        <p:tgtEl>
                                          <p:spTgt spid="39"/>
                                        </p:tgtEl>
                                      </p:cBhvr>
                                    </p:animEffect>
                                  </p:childTnLst>
                                </p:cTn>
                              </p:par>
                              <p:par>
                                <p:cTn id="136" presetID="22" presetClass="entr" presetSubtype="8" fill="hold" grpId="0" nodeType="withEffect">
                                  <p:stCondLst>
                                    <p:cond delay="780"/>
                                  </p:stCondLst>
                                  <p:childTnLst>
                                    <p:set>
                                      <p:cBhvr>
                                        <p:cTn id="134" dur="1" fill="hold">
                                          <p:stCondLst>
                                            <p:cond delay="0"/>
                                          </p:stCondLst>
                                        </p:cTn>
                                        <p:tgtEl>
                                          <p:spTgt spid="40"/>
                                        </p:tgtEl>
                                        <p:attrNameLst>
                                          <p:attrName>style.visibility</p:attrName>
                                        </p:attrNameLst>
                                      </p:cBhvr>
                                      <p:to>
                                        <p:strVal val="visible"/>
                                      </p:to>
                                    </p:set>
                                    <p:animEffect transition="in" filter="wipe(left)">
                                      <p:cBhvr>
                                        <p:cTn id="135" dur="500"/>
                                        <p:tgtEl>
                                          <p:spTgt spid="40"/>
                                        </p:tgtEl>
                                      </p:cBhvr>
                                    </p:animEffect>
                                  </p:childTnLst>
                                </p:cTn>
                              </p:par>
                              <p:par>
                                <p:cTn id="139" presetID="22" presetClass="entr" presetSubtype="8" fill="hold" grpId="0" nodeType="withEffect">
                                  <p:stCondLst>
                                    <p:cond delay="780"/>
                                  </p:stCondLst>
                                  <p:childTnLst>
                                    <p:set>
                                      <p:cBhvr>
                                        <p:cTn id="137" dur="1" fill="hold">
                                          <p:stCondLst>
                                            <p:cond delay="0"/>
                                          </p:stCondLst>
                                        </p:cTn>
                                        <p:tgtEl>
                                          <p:spTgt spid="53"/>
                                        </p:tgtEl>
                                        <p:attrNameLst>
                                          <p:attrName>style.visibility</p:attrName>
                                        </p:attrNameLst>
                                      </p:cBhvr>
                                      <p:to>
                                        <p:strVal val="visible"/>
                                      </p:to>
                                    </p:set>
                                    <p:animEffect transition="in" filter="wipe(left)">
                                      <p:cBhvr>
                                        <p:cTn id="138" dur="500"/>
                                        <p:tgtEl>
                                          <p:spTgt spid="53"/>
                                        </p:tgtEl>
                                      </p:cBhvr>
                                    </p:animEffect>
                                  </p:childTnLst>
                                </p:cTn>
                              </p:par>
                              <p:par>
                                <p:cTn id="142" presetID="22" presetClass="entr" presetSubtype="8" fill="hold" grpId="0" nodeType="withEffect">
                                  <p:stCondLst>
                                    <p:cond delay="780"/>
                                  </p:stCondLst>
                                  <p:childTnLst>
                                    <p:set>
                                      <p:cBhvr>
                                        <p:cTn id="140" dur="1" fill="hold">
                                          <p:stCondLst>
                                            <p:cond delay="0"/>
                                          </p:stCondLst>
                                        </p:cTn>
                                        <p:tgtEl>
                                          <p:spTgt spid="54"/>
                                        </p:tgtEl>
                                        <p:attrNameLst>
                                          <p:attrName>style.visibility</p:attrName>
                                        </p:attrNameLst>
                                      </p:cBhvr>
                                      <p:to>
                                        <p:strVal val="visible"/>
                                      </p:to>
                                    </p:set>
                                    <p:animEffect transition="in" filter="wipe(left)">
                                      <p:cBhvr>
                                        <p:cTn id="14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panel1"/>
          <p:cNvSpPr/>
          <p:nvPr/>
        </p:nvSpPr>
        <p:spPr>
          <a:xfrm>
            <a:off x="0" y="0"/>
            <a:ext cx="2926080" cy="51435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a0f_pl2"/>
          <p:cNvSpPr txBox="1"/>
          <p:nvPr/>
        </p:nvSpPr>
        <p:spPr>
          <a:xfrm>
            <a:off x="502920" y="1005840"/>
            <a:ext cx="2194560" cy="274320"/>
          </a:xfrm>
          <a:prstGeom prst="rect">
            <a:avLst/>
          </a:prstGeom>
          <a:noFill/>
        </p:spPr>
        <p:txBody>
          <a:bodyPr wrap="square" lIns="0" tIns="0" rIns="0" bIns="0" anchor="ctr">
            <a:spAutoFit/>
          </a:bodyPr>
          <a:lstStyle/>
          <a:p>
            <a:pPr algn="l"/>
            <a:r>
              <a:rPr sz="1100" b="1" spc="500">
                <a:solidFill>
                  <a:srgbClr val="18181B"/>
                </a:solidFill>
                <a:latin typeface="Segoe UI"/>
              </a:rPr>
              <a:t>PART</a:t>
            </a:r>
          </a:p>
        </p:txBody>
      </p:sp>
      <p:sp>
        <p:nvSpPr>
          <p:cNvPr id="4" name="a0ud100_n3"/>
          <p:cNvSpPr txBox="1"/>
          <p:nvPr/>
        </p:nvSpPr>
        <p:spPr>
          <a:xfrm>
            <a:off x="411480" y="1280160"/>
            <a:ext cx="2377440" cy="1691640"/>
          </a:xfrm>
          <a:prstGeom prst="rect">
            <a:avLst/>
          </a:prstGeom>
          <a:noFill/>
        </p:spPr>
        <p:txBody>
          <a:bodyPr wrap="square" lIns="0" tIns="0" rIns="0" bIns="0" anchor="ctr">
            <a:spAutoFit/>
          </a:bodyPr>
          <a:lstStyle/>
          <a:p>
            <a:pPr algn="l"/>
            <a:r>
              <a:rPr sz="10450" b="0">
                <a:solidFill>
                  <a:srgbClr val="FFFFFF"/>
                </a:solidFill>
                <a:latin typeface="Bahnschrift SemiBold"/>
              </a:rPr>
              <a:t>02</a:t>
            </a:r>
          </a:p>
        </p:txBody>
      </p:sp>
      <p:sp>
        <p:nvSpPr>
          <p:cNvPr id="5" name="a0wd300_pb4"/>
          <p:cNvSpPr/>
          <p:nvPr/>
        </p:nvSpPr>
        <p:spPr>
          <a:xfrm>
            <a:off x="502920" y="3090672"/>
            <a:ext cx="640080" cy="45720"/>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0fd400_pc5"/>
          <p:cNvSpPr/>
          <p:nvPr/>
        </p:nvSpPr>
        <p:spPr>
          <a:xfrm>
            <a:off x="502920" y="4160520"/>
            <a:ext cx="329184" cy="274320"/>
          </a:xfrm>
          <a:prstGeom prst="roundRect">
            <a:avLst>
              <a:gd name="adj" fmla="val 13333"/>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0fd400_pct6"/>
          <p:cNvSpPr txBox="1"/>
          <p:nvPr/>
        </p:nvSpPr>
        <p:spPr>
          <a:xfrm>
            <a:off x="502920" y="4160520"/>
            <a:ext cx="329184" cy="274320"/>
          </a:xfrm>
          <a:prstGeom prst="rect">
            <a:avLst/>
          </a:prstGeom>
          <a:noFill/>
        </p:spPr>
        <p:txBody>
          <a:bodyPr wrap="square" lIns="0" tIns="0" rIns="0" bIns="0" anchor="ctr">
            <a:spAutoFit/>
          </a:bodyPr>
          <a:lstStyle/>
          <a:p>
            <a:pPr algn="ctr"/>
            <a:r>
              <a:rPr sz="850" b="0">
                <a:solidFill>
                  <a:srgbClr val="FDBA74"/>
                </a:solidFill>
                <a:latin typeface="Consolas"/>
              </a:rPr>
              <a:t>01</a:t>
            </a:r>
          </a:p>
        </p:txBody>
      </p:sp>
      <p:sp>
        <p:nvSpPr>
          <p:cNvPr id="8" name="a0fd480_pc7"/>
          <p:cNvSpPr/>
          <p:nvPr/>
        </p:nvSpPr>
        <p:spPr>
          <a:xfrm>
            <a:off x="877824" y="4160520"/>
            <a:ext cx="329184" cy="274320"/>
          </a:xfrm>
          <a:prstGeom prst="roundRect">
            <a:avLst>
              <a:gd name="adj" fmla="val 133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0fd480_pct8"/>
          <p:cNvSpPr txBox="1"/>
          <p:nvPr/>
        </p:nvSpPr>
        <p:spPr>
          <a:xfrm>
            <a:off x="877824" y="4160520"/>
            <a:ext cx="329184" cy="274320"/>
          </a:xfrm>
          <a:prstGeom prst="rect">
            <a:avLst/>
          </a:prstGeom>
          <a:noFill/>
        </p:spPr>
        <p:txBody>
          <a:bodyPr wrap="square" lIns="0" tIns="0" rIns="0" bIns="0" anchor="ctr">
            <a:spAutoFit/>
          </a:bodyPr>
          <a:lstStyle/>
          <a:p>
            <a:pPr algn="ctr"/>
            <a:r>
              <a:rPr sz="850" b="1">
                <a:solidFill>
                  <a:srgbClr val="C2410C"/>
                </a:solidFill>
                <a:latin typeface="Consolas"/>
              </a:rPr>
              <a:t>02</a:t>
            </a:r>
          </a:p>
        </p:txBody>
      </p:sp>
      <p:sp>
        <p:nvSpPr>
          <p:cNvPr id="10" name="a0ud250_h9"/>
          <p:cNvSpPr txBox="1"/>
          <p:nvPr/>
        </p:nvSpPr>
        <p:spPr>
          <a:xfrm>
            <a:off x="3429000" y="868680"/>
            <a:ext cx="5257800" cy="1188720"/>
          </a:xfrm>
          <a:prstGeom prst="rect">
            <a:avLst/>
          </a:prstGeom>
          <a:noFill/>
        </p:spPr>
        <p:txBody>
          <a:bodyPr wrap="square" lIns="0" tIns="0" rIns="0" bIns="0" anchor="b">
            <a:spAutoFit/>
          </a:bodyPr>
          <a:lstStyle/>
          <a:p>
            <a:pPr algn="l"/>
            <a:r>
              <a:rPr sz="3250" b="0">
                <a:solidFill>
                  <a:srgbClr val="FFFFFF"/>
                </a:solidFill>
                <a:latin typeface="Bahnschrift SemiBold"/>
              </a:rPr>
              <a:t>Moving Data Around</a:t>
            </a:r>
          </a:p>
        </p:txBody>
      </p:sp>
      <p:sp>
        <p:nvSpPr>
          <p:cNvPr id="11" name="a0wd450_hb10"/>
          <p:cNvSpPr/>
          <p:nvPr/>
        </p:nvSpPr>
        <p:spPr>
          <a:xfrm>
            <a:off x="3429000" y="2212848"/>
            <a:ext cx="548640"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d500_t11"/>
          <p:cNvSpPr txBox="1"/>
          <p:nvPr/>
        </p:nvSpPr>
        <p:spPr>
          <a:xfrm>
            <a:off x="3429000" y="2395728"/>
            <a:ext cx="5257800" cy="603504"/>
          </a:xfrm>
          <a:prstGeom prst="rect">
            <a:avLst/>
          </a:prstGeom>
          <a:noFill/>
        </p:spPr>
        <p:txBody>
          <a:bodyPr wrap="square" lIns="0" tIns="0" rIns="0" bIns="0" anchor="t">
            <a:spAutoFit/>
          </a:bodyPr>
          <a:lstStyle/>
          <a:p>
            <a:pPr algn="l"/>
            <a:r>
              <a:rPr sz="1400" b="0">
                <a:solidFill>
                  <a:srgbClr val="D6D3D1"/>
                </a:solidFill>
                <a:latin typeface="Segoe UI"/>
              </a:rPr>
              <a:t>Every application creates data - the hard part is getting it where it is needed</a:t>
            </a:r>
          </a:p>
        </p:txBody>
      </p:sp>
      <p:sp>
        <p:nvSpPr>
          <p:cNvPr id="13" name="a0ud700_dd12"/>
          <p:cNvSpPr/>
          <p:nvPr/>
        </p:nvSpPr>
        <p:spPr>
          <a:xfrm>
            <a:off x="3429000" y="323697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ud700_di13"/>
          <p:cNvSpPr txBox="1"/>
          <p:nvPr/>
        </p:nvSpPr>
        <p:spPr>
          <a:xfrm>
            <a:off x="3666744" y="3154680"/>
            <a:ext cx="5020056" cy="274320"/>
          </a:xfrm>
          <a:prstGeom prst="rect">
            <a:avLst/>
          </a:prstGeom>
          <a:noFill/>
        </p:spPr>
        <p:txBody>
          <a:bodyPr wrap="square" lIns="0" tIns="0" rIns="0" bIns="0" anchor="ctr">
            <a:spAutoFit/>
          </a:bodyPr>
          <a:lstStyle/>
          <a:p>
            <a:pPr algn="l"/>
            <a:r>
              <a:rPr sz="1200" b="0">
                <a:solidFill>
                  <a:srgbClr val="E7E5E4"/>
                </a:solidFill>
                <a:latin typeface="Segoe UI"/>
              </a:rPr>
              <a:t>Data</a:t>
            </a:r>
          </a:p>
        </p:txBody>
      </p:sp>
      <p:sp>
        <p:nvSpPr>
          <p:cNvPr id="15" name="a0ud820_dd14"/>
          <p:cNvSpPr/>
          <p:nvPr/>
        </p:nvSpPr>
        <p:spPr>
          <a:xfrm>
            <a:off x="3429000" y="360273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ud820_di15"/>
          <p:cNvSpPr txBox="1"/>
          <p:nvPr/>
        </p:nvSpPr>
        <p:spPr>
          <a:xfrm>
            <a:off x="3666744" y="3520440"/>
            <a:ext cx="5020056" cy="274320"/>
          </a:xfrm>
          <a:prstGeom prst="rect">
            <a:avLst/>
          </a:prstGeom>
          <a:noFill/>
        </p:spPr>
        <p:txBody>
          <a:bodyPr wrap="square" lIns="0" tIns="0" rIns="0" bIns="0" anchor="ctr">
            <a:spAutoFit/>
          </a:bodyPr>
          <a:lstStyle/>
          <a:p>
            <a:pPr algn="l"/>
            <a:r>
              <a:rPr sz="1200" b="0">
                <a:solidFill>
                  <a:srgbClr val="E7E5E4"/>
                </a:solidFill>
                <a:latin typeface="Segoe UI"/>
              </a:rPr>
              <a:t>At rest vs in motion</a:t>
            </a:r>
          </a:p>
        </p:txBody>
      </p:sp>
      <p:sp>
        <p:nvSpPr>
          <p:cNvPr id="17" name="a0ud940_dd16"/>
          <p:cNvSpPr/>
          <p:nvPr/>
        </p:nvSpPr>
        <p:spPr>
          <a:xfrm>
            <a:off x="3429000" y="396849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0ud940_di17"/>
          <p:cNvSpPr txBox="1"/>
          <p:nvPr/>
        </p:nvSpPr>
        <p:spPr>
          <a:xfrm>
            <a:off x="3666744" y="3886200"/>
            <a:ext cx="5020056" cy="274320"/>
          </a:xfrm>
          <a:prstGeom prst="rect">
            <a:avLst/>
          </a:prstGeom>
          <a:noFill/>
        </p:spPr>
        <p:txBody>
          <a:bodyPr wrap="square" lIns="0" tIns="0" rIns="0" bIns="0" anchor="ctr">
            <a:spAutoFit/>
          </a:bodyPr>
          <a:lstStyle/>
          <a:p>
            <a:pPr algn="l"/>
            <a:r>
              <a:rPr sz="1200" b="0">
                <a:solidFill>
                  <a:srgbClr val="E7E5E4"/>
                </a:solidFill>
                <a:latin typeface="Segoe UI"/>
              </a:rPr>
              <a:t>Direct connections</a:t>
            </a:r>
          </a:p>
        </p:txBody>
      </p:sp>
      <p:sp>
        <p:nvSpPr>
          <p:cNvPr id="19" name="a0ud1060_dd18"/>
          <p:cNvSpPr/>
          <p:nvPr/>
        </p:nvSpPr>
        <p:spPr>
          <a:xfrm>
            <a:off x="3429000" y="433425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ud1060_di19"/>
          <p:cNvSpPr txBox="1"/>
          <p:nvPr/>
        </p:nvSpPr>
        <p:spPr>
          <a:xfrm>
            <a:off x="3666744" y="4251960"/>
            <a:ext cx="5020056" cy="274320"/>
          </a:xfrm>
          <a:prstGeom prst="rect">
            <a:avLst/>
          </a:prstGeom>
          <a:noFill/>
        </p:spPr>
        <p:txBody>
          <a:bodyPr wrap="square" lIns="0" tIns="0" rIns="0" bIns="0" anchor="ctr">
            <a:spAutoFit/>
          </a:bodyPr>
          <a:lstStyle/>
          <a:p>
            <a:pPr algn="l"/>
            <a:r>
              <a:rPr sz="1200" b="0">
                <a:solidFill>
                  <a:srgbClr val="E7E5E4"/>
                </a:solidFill>
                <a:latin typeface="Segoe UI"/>
              </a:rPr>
              <a:t>Duplication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12" presetID="2" presetClass="entr" presetSubtype="4" fill="hold" grpId="0" nodeType="withEffect">
                                  <p:stCondLst>
                                    <p:cond delay="10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ppt_x</p:attrName>
                                        </p:attrNameLst>
                                      </p:cBhvr>
                                      <p:tavLst>
                                        <p:tav tm="0">
                                          <p:val>
                                            <p:strVal val="#ppt_x"/>
                                          </p:val>
                                        </p:tav>
                                        <p:tav tm="100000">
                                          <p:val>
                                            <p:strVal val="#ppt_x"/>
                                          </p:val>
                                        </p:tav>
                                      </p:tavLst>
                                    </p:anim>
                                    <p:anim calcmode="lin" valueType="num">
                                      <p:cBhvr additive="base">
                                        <p:cTn id="10" dur="500" fill="hold"/>
                                        <p:tgtEl>
                                          <p:spTgt spid="4"/>
                                        </p:tgtEl>
                                        <p:attrNameLst>
                                          <p:attrName>ppt_y</p:attrName>
                                        </p:attrNameLst>
                                      </p:cBhvr>
                                      <p:tavLst>
                                        <p:tav tm="0">
                                          <p:val>
                                            <p:strVal val="#ppt_y+0.1"/>
                                          </p:val>
                                        </p:tav>
                                        <p:tav tm="100000">
                                          <p:val>
                                            <p:strVal val="#ppt_y"/>
                                          </p:val>
                                        </p:tav>
                                      </p:tavLst>
                                    </p:anim>
                                    <p:animEffect transition="in" filter="fade">
                                      <p:cBhvr>
                                        <p:cTn id="11" dur="500"/>
                                        <p:tgtEl>
                                          <p:spTgt spid="4"/>
                                        </p:tgtEl>
                                      </p:cBhvr>
                                    </p:animEffect>
                                  </p:childTnLst>
                                </p:cTn>
                              </p:par>
                              <p:par>
                                <p:cTn id="17" presetID="2" presetClass="entr" presetSubtype="4" fill="hold" grpId="0" nodeType="withEffect">
                                  <p:stCondLst>
                                    <p:cond delay="25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ppt_x"/>
                                          </p:val>
                                        </p:tav>
                                        <p:tav tm="100000">
                                          <p:val>
                                            <p:strVal val="#ppt_x"/>
                                          </p:val>
                                        </p:tav>
                                      </p:tavLst>
                                    </p:anim>
                                    <p:anim calcmode="lin" valueType="num">
                                      <p:cBhvr additive="base">
                                        <p:cTn id="15" dur="500" fill="hold"/>
                                        <p:tgtEl>
                                          <p:spTgt spid="10"/>
                                        </p:tgtEl>
                                        <p:attrNameLst>
                                          <p:attrName>ppt_y</p:attrName>
                                        </p:attrNameLst>
                                      </p:cBhvr>
                                      <p:tavLst>
                                        <p:tav tm="0">
                                          <p:val>
                                            <p:strVal val="#ppt_y+0.1"/>
                                          </p:val>
                                        </p:tav>
                                        <p:tav tm="100000">
                                          <p:val>
                                            <p:strVal val="#ppt_y"/>
                                          </p:val>
                                        </p:tav>
                                      </p:tavLst>
                                    </p:anim>
                                    <p:animEffect transition="in" filter="fade">
                                      <p:cBhvr>
                                        <p:cTn id="16" dur="500"/>
                                        <p:tgtEl>
                                          <p:spTgt spid="10"/>
                                        </p:tgtEl>
                                      </p:cBhvr>
                                    </p:animEffect>
                                  </p:childTnLst>
                                </p:cTn>
                              </p:par>
                              <p:par>
                                <p:cTn id="20" presetID="22" presetClass="entr" presetSubtype="8" fill="hold" grpId="0" nodeType="withEffect">
                                  <p:stCondLst>
                                    <p:cond delay="30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par>
                                <p:cTn id="23" presetID="10" presetClass="entr" presetSubtype="0" fill="hold" grpId="0" nodeType="withEffect">
                                  <p:stCondLst>
                                    <p:cond delay="4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6" presetID="10" presetClass="entr" presetSubtype="0" fill="hold" grpId="0" nodeType="withEffect">
                                  <p:stCondLst>
                                    <p:cond delay="4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9" presetID="22" presetClass="entr" presetSubtype="8" fill="hold" grpId="0" nodeType="withEffect">
                                  <p:stCondLst>
                                    <p:cond delay="45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32"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5" presetID="10" presetClass="entr" presetSubtype="0" fill="hold" grpId="0" nodeType="withEffect">
                                  <p:stCondLst>
                                    <p:cond delay="48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8" presetID="10" presetClass="entr" presetSubtype="0" fill="hold" grpId="0" nodeType="withEffect">
                                  <p:stCondLst>
                                    <p:cond delay="50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43" presetID="2" presetClass="entr" presetSubtype="4" fill="hold" grpId="0" nodeType="withEffect">
                                  <p:stCondLst>
                                    <p:cond delay="70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500" fill="hold"/>
                                        <p:tgtEl>
                                          <p:spTgt spid="13"/>
                                        </p:tgtEl>
                                        <p:attrNameLst>
                                          <p:attrName>ppt_x</p:attrName>
                                        </p:attrNameLst>
                                      </p:cBhvr>
                                      <p:tavLst>
                                        <p:tav tm="0">
                                          <p:val>
                                            <p:strVal val="#ppt_x"/>
                                          </p:val>
                                        </p:tav>
                                        <p:tav tm="100000">
                                          <p:val>
                                            <p:strVal val="#ppt_x"/>
                                          </p:val>
                                        </p:tav>
                                      </p:tavLst>
                                    </p:anim>
                                    <p:anim calcmode="lin" valueType="num">
                                      <p:cBhvr additive="base">
                                        <p:cTn id="41" dur="500" fill="hold"/>
                                        <p:tgtEl>
                                          <p:spTgt spid="13"/>
                                        </p:tgtEl>
                                        <p:attrNameLst>
                                          <p:attrName>ppt_y</p:attrName>
                                        </p:attrNameLst>
                                      </p:cBhvr>
                                      <p:tavLst>
                                        <p:tav tm="0">
                                          <p:val>
                                            <p:strVal val="#ppt_y+0.1"/>
                                          </p:val>
                                        </p:tav>
                                        <p:tav tm="100000">
                                          <p:val>
                                            <p:strVal val="#ppt_y"/>
                                          </p:val>
                                        </p:tav>
                                      </p:tavLst>
                                    </p:anim>
                                    <p:animEffect transition="in" filter="fade">
                                      <p:cBhvr>
                                        <p:cTn id="42" dur="500"/>
                                        <p:tgtEl>
                                          <p:spTgt spid="13"/>
                                        </p:tgtEl>
                                      </p:cBhvr>
                                    </p:animEffect>
                                  </p:childTnLst>
                                </p:cTn>
                              </p:par>
                              <p:par>
                                <p:cTn id="48" presetID="2" presetClass="entr" presetSubtype="4" fill="hold" grpId="0" nodeType="withEffect">
                                  <p:stCondLst>
                                    <p:cond delay="70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ppt_y+0.1"/>
                                          </p:val>
                                        </p:tav>
                                        <p:tav tm="100000">
                                          <p:val>
                                            <p:strVal val="#ppt_y"/>
                                          </p:val>
                                        </p:tav>
                                      </p:tavLst>
                                    </p:anim>
                                    <p:animEffect transition="in" filter="fade">
                                      <p:cBhvr>
                                        <p:cTn id="47" dur="500"/>
                                        <p:tgtEl>
                                          <p:spTgt spid="14"/>
                                        </p:tgtEl>
                                      </p:cBhvr>
                                    </p:animEffect>
                                  </p:childTnLst>
                                </p:cTn>
                              </p:par>
                              <p:par>
                                <p:cTn id="53" presetID="2" presetClass="entr" presetSubtype="4" fill="hold" grpId="0" nodeType="withEffect">
                                  <p:stCondLst>
                                    <p:cond delay="82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500" fill="hold"/>
                                        <p:tgtEl>
                                          <p:spTgt spid="15"/>
                                        </p:tgtEl>
                                        <p:attrNameLst>
                                          <p:attrName>ppt_x</p:attrName>
                                        </p:attrNameLst>
                                      </p:cBhvr>
                                      <p:tavLst>
                                        <p:tav tm="0">
                                          <p:val>
                                            <p:strVal val="#ppt_x"/>
                                          </p:val>
                                        </p:tav>
                                        <p:tav tm="100000">
                                          <p:val>
                                            <p:strVal val="#ppt_x"/>
                                          </p:val>
                                        </p:tav>
                                      </p:tavLst>
                                    </p:anim>
                                    <p:anim calcmode="lin" valueType="num">
                                      <p:cBhvr additive="base">
                                        <p:cTn id="51" dur="500" fill="hold"/>
                                        <p:tgtEl>
                                          <p:spTgt spid="15"/>
                                        </p:tgtEl>
                                        <p:attrNameLst>
                                          <p:attrName>ppt_y</p:attrName>
                                        </p:attrNameLst>
                                      </p:cBhvr>
                                      <p:tavLst>
                                        <p:tav tm="0">
                                          <p:val>
                                            <p:strVal val="#ppt_y+0.1"/>
                                          </p:val>
                                        </p:tav>
                                        <p:tav tm="100000">
                                          <p:val>
                                            <p:strVal val="#ppt_y"/>
                                          </p:val>
                                        </p:tav>
                                      </p:tavLst>
                                    </p:anim>
                                    <p:animEffect transition="in" filter="fade">
                                      <p:cBhvr>
                                        <p:cTn id="52" dur="500"/>
                                        <p:tgtEl>
                                          <p:spTgt spid="15"/>
                                        </p:tgtEl>
                                      </p:cBhvr>
                                    </p:animEffect>
                                  </p:childTnLst>
                                </p:cTn>
                              </p:par>
                              <p:par>
                                <p:cTn id="58" presetID="2" presetClass="entr" presetSubtype="4" fill="hold" grpId="0" nodeType="withEffect">
                                  <p:stCondLst>
                                    <p:cond delay="82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ppt_y+0.1"/>
                                          </p:val>
                                        </p:tav>
                                        <p:tav tm="100000">
                                          <p:val>
                                            <p:strVal val="#ppt_y"/>
                                          </p:val>
                                        </p:tav>
                                      </p:tavLst>
                                    </p:anim>
                                    <p:animEffect transition="in" filter="fade">
                                      <p:cBhvr>
                                        <p:cTn id="57" dur="500"/>
                                        <p:tgtEl>
                                          <p:spTgt spid="16"/>
                                        </p:tgtEl>
                                      </p:cBhvr>
                                    </p:animEffect>
                                  </p:childTnLst>
                                </p:cTn>
                              </p:par>
                              <p:par>
                                <p:cTn id="63" presetID="2" presetClass="entr" presetSubtype="4" fill="hold" grpId="0" nodeType="withEffect">
                                  <p:stCondLst>
                                    <p:cond delay="940"/>
                                  </p:stCondLst>
                                  <p:childTnLst>
                                    <p:set>
                                      <p:cBhvr>
                                        <p:cTn id="59" dur="1" fill="hold">
                                          <p:stCondLst>
                                            <p:cond delay="0"/>
                                          </p:stCondLst>
                                        </p:cTn>
                                        <p:tgtEl>
                                          <p:spTgt spid="17"/>
                                        </p:tgtEl>
                                        <p:attrNameLst>
                                          <p:attrName>style.visibility</p:attrName>
                                        </p:attrNameLst>
                                      </p:cBhvr>
                                      <p:to>
                                        <p:strVal val="visible"/>
                                      </p:to>
                                    </p:set>
                                    <p:anim calcmode="lin" valueType="num">
                                      <p:cBhvr additive="base">
                                        <p:cTn id="60" dur="500" fill="hold"/>
                                        <p:tgtEl>
                                          <p:spTgt spid="17"/>
                                        </p:tgtEl>
                                        <p:attrNameLst>
                                          <p:attrName>ppt_x</p:attrName>
                                        </p:attrNameLst>
                                      </p:cBhvr>
                                      <p:tavLst>
                                        <p:tav tm="0">
                                          <p:val>
                                            <p:strVal val="#ppt_x"/>
                                          </p:val>
                                        </p:tav>
                                        <p:tav tm="100000">
                                          <p:val>
                                            <p:strVal val="#ppt_x"/>
                                          </p:val>
                                        </p:tav>
                                      </p:tavLst>
                                    </p:anim>
                                    <p:anim calcmode="lin" valueType="num">
                                      <p:cBhvr additive="base">
                                        <p:cTn id="61" dur="500" fill="hold"/>
                                        <p:tgtEl>
                                          <p:spTgt spid="17"/>
                                        </p:tgtEl>
                                        <p:attrNameLst>
                                          <p:attrName>ppt_y</p:attrName>
                                        </p:attrNameLst>
                                      </p:cBhvr>
                                      <p:tavLst>
                                        <p:tav tm="0">
                                          <p:val>
                                            <p:strVal val="#ppt_y+0.1"/>
                                          </p:val>
                                        </p:tav>
                                        <p:tav tm="100000">
                                          <p:val>
                                            <p:strVal val="#ppt_y"/>
                                          </p:val>
                                        </p:tav>
                                      </p:tavLst>
                                    </p:anim>
                                    <p:animEffect transition="in" filter="fade">
                                      <p:cBhvr>
                                        <p:cTn id="62" dur="500"/>
                                        <p:tgtEl>
                                          <p:spTgt spid="17"/>
                                        </p:tgtEl>
                                      </p:cBhvr>
                                    </p:animEffect>
                                  </p:childTnLst>
                                </p:cTn>
                              </p:par>
                              <p:par>
                                <p:cTn id="68" presetID="2" presetClass="entr" presetSubtype="4" fill="hold" grpId="0" nodeType="withEffect">
                                  <p:stCondLst>
                                    <p:cond delay="940"/>
                                  </p:stCondLst>
                                  <p:childTnLst>
                                    <p:set>
                                      <p:cBhvr>
                                        <p:cTn id="64" dur="1" fill="hold">
                                          <p:stCondLst>
                                            <p:cond delay="0"/>
                                          </p:stCondLst>
                                        </p:cTn>
                                        <p:tgtEl>
                                          <p:spTgt spid="18"/>
                                        </p:tgtEl>
                                        <p:attrNameLst>
                                          <p:attrName>style.visibility</p:attrName>
                                        </p:attrNameLst>
                                      </p:cBhvr>
                                      <p:to>
                                        <p:strVal val="visible"/>
                                      </p:to>
                                    </p:set>
                                    <p:anim calcmode="lin" valueType="num">
                                      <p:cBhvr additive="base">
                                        <p:cTn id="65" dur="500" fill="hold"/>
                                        <p:tgtEl>
                                          <p:spTgt spid="18"/>
                                        </p:tgtEl>
                                        <p:attrNameLst>
                                          <p:attrName>ppt_x</p:attrName>
                                        </p:attrNameLst>
                                      </p:cBhvr>
                                      <p:tavLst>
                                        <p:tav tm="0">
                                          <p:val>
                                            <p:strVal val="#ppt_x"/>
                                          </p:val>
                                        </p:tav>
                                        <p:tav tm="100000">
                                          <p:val>
                                            <p:strVal val="#ppt_x"/>
                                          </p:val>
                                        </p:tav>
                                      </p:tavLst>
                                    </p:anim>
                                    <p:anim calcmode="lin" valueType="num">
                                      <p:cBhvr additive="base">
                                        <p:cTn id="66" dur="500" fill="hold"/>
                                        <p:tgtEl>
                                          <p:spTgt spid="18"/>
                                        </p:tgtEl>
                                        <p:attrNameLst>
                                          <p:attrName>ppt_y</p:attrName>
                                        </p:attrNameLst>
                                      </p:cBhvr>
                                      <p:tavLst>
                                        <p:tav tm="0">
                                          <p:val>
                                            <p:strVal val="#ppt_y+0.1"/>
                                          </p:val>
                                        </p:tav>
                                        <p:tav tm="100000">
                                          <p:val>
                                            <p:strVal val="#ppt_y"/>
                                          </p:val>
                                        </p:tav>
                                      </p:tavLst>
                                    </p:anim>
                                    <p:animEffect transition="in" filter="fade">
                                      <p:cBhvr>
                                        <p:cTn id="67" dur="500"/>
                                        <p:tgtEl>
                                          <p:spTgt spid="18"/>
                                        </p:tgtEl>
                                      </p:cBhvr>
                                    </p:animEffect>
                                  </p:childTnLst>
                                </p:cTn>
                              </p:par>
                              <p:par>
                                <p:cTn id="73" presetID="2" presetClass="entr" presetSubtype="4" fill="hold" grpId="0" nodeType="withEffect">
                                  <p:stCondLst>
                                    <p:cond delay="106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500" fill="hold"/>
                                        <p:tgtEl>
                                          <p:spTgt spid="19"/>
                                        </p:tgtEl>
                                        <p:attrNameLst>
                                          <p:attrName>ppt_x</p:attrName>
                                        </p:attrNameLst>
                                      </p:cBhvr>
                                      <p:tavLst>
                                        <p:tav tm="0">
                                          <p:val>
                                            <p:strVal val="#ppt_x"/>
                                          </p:val>
                                        </p:tav>
                                        <p:tav tm="100000">
                                          <p:val>
                                            <p:strVal val="#ppt_x"/>
                                          </p:val>
                                        </p:tav>
                                      </p:tavLst>
                                    </p:anim>
                                    <p:anim calcmode="lin" valueType="num">
                                      <p:cBhvr additive="base">
                                        <p:cTn id="71" dur="500" fill="hold"/>
                                        <p:tgtEl>
                                          <p:spTgt spid="19"/>
                                        </p:tgtEl>
                                        <p:attrNameLst>
                                          <p:attrName>ppt_y</p:attrName>
                                        </p:attrNameLst>
                                      </p:cBhvr>
                                      <p:tavLst>
                                        <p:tav tm="0">
                                          <p:val>
                                            <p:strVal val="#ppt_y+0.1"/>
                                          </p:val>
                                        </p:tav>
                                        <p:tav tm="100000">
                                          <p:val>
                                            <p:strVal val="#ppt_y"/>
                                          </p:val>
                                        </p:tav>
                                      </p:tavLst>
                                    </p:anim>
                                    <p:animEffect transition="in" filter="fade">
                                      <p:cBhvr>
                                        <p:cTn id="72" dur="500"/>
                                        <p:tgtEl>
                                          <p:spTgt spid="19"/>
                                        </p:tgtEl>
                                      </p:cBhvr>
                                    </p:animEffect>
                                  </p:childTnLst>
                                </p:cTn>
                              </p:par>
                              <p:par>
                                <p:cTn id="78" presetID="2" presetClass="entr" presetSubtype="4" fill="hold" grpId="0" nodeType="withEffect">
                                  <p:stCondLst>
                                    <p:cond delay="106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500" fill="hold"/>
                                        <p:tgtEl>
                                          <p:spTgt spid="20"/>
                                        </p:tgtEl>
                                        <p:attrNameLst>
                                          <p:attrName>ppt_x</p:attrName>
                                        </p:attrNameLst>
                                      </p:cBhvr>
                                      <p:tavLst>
                                        <p:tav tm="0">
                                          <p:val>
                                            <p:strVal val="#ppt_x"/>
                                          </p:val>
                                        </p:tav>
                                        <p:tav tm="100000">
                                          <p:val>
                                            <p:strVal val="#ppt_x"/>
                                          </p:val>
                                        </p:tav>
                                      </p:tavLst>
                                    </p:anim>
                                    <p:anim calcmode="lin" valueType="num">
                                      <p:cBhvr additive="base">
                                        <p:cTn id="76" dur="500" fill="hold"/>
                                        <p:tgtEl>
                                          <p:spTgt spid="20"/>
                                        </p:tgtEl>
                                        <p:attrNameLst>
                                          <p:attrName>ppt_y</p:attrName>
                                        </p:attrNameLst>
                                      </p:cBhvr>
                                      <p:tavLst>
                                        <p:tav tm="0">
                                          <p:val>
                                            <p:strVal val="#ppt_y+0.1"/>
                                          </p:val>
                                        </p:tav>
                                        <p:tav tm="100000">
                                          <p:val>
                                            <p:strVal val="#ppt_y"/>
                                          </p:val>
                                        </p:tav>
                                      </p:tavLst>
                                    </p:anim>
                                    <p:animEffect transition="in" filter="fade">
                                      <p:cBhvr>
                                        <p:cTn id="7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Data Is Everything</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Every enterprise is powered by data</a:t>
            </a:r>
          </a:p>
        </p:txBody>
      </p:sp>
      <p:sp>
        <p:nvSpPr>
          <p:cNvPr id="11" name="a1u_nd10"/>
          <p:cNvSpPr/>
          <p:nvPr/>
        </p:nvSpPr>
        <p:spPr>
          <a:xfrm>
            <a:off x="457200" y="1280160"/>
            <a:ext cx="2286000" cy="566928"/>
          </a:xfrm>
          <a:prstGeom prst="roundRect">
            <a:avLst>
              <a:gd name="adj" fmla="val 1290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280160"/>
            <a:ext cx="2194560" cy="566928"/>
          </a:xfrm>
          <a:prstGeom prst="rect">
            <a:avLst/>
          </a:prstGeom>
          <a:noFill/>
        </p:spPr>
        <p:txBody>
          <a:bodyPr wrap="square" lIns="0" tIns="0" rIns="0" bIns="0" anchor="ctr">
            <a:spAutoFit/>
          </a:bodyPr>
          <a:lstStyle/>
          <a:p>
            <a:pPr algn="ctr"/>
            <a:r>
              <a:rPr sz="1100" b="1">
                <a:solidFill>
                  <a:srgbClr val="1C1917"/>
                </a:solidFill>
                <a:latin typeface="Segoe UI"/>
              </a:rPr>
              <a:t>Information in</a:t>
            </a:r>
          </a:p>
        </p:txBody>
      </p:sp>
      <p:sp>
        <p:nvSpPr>
          <p:cNvPr id="13" name="a1ud150_nd12"/>
          <p:cNvSpPr/>
          <p:nvPr/>
        </p:nvSpPr>
        <p:spPr>
          <a:xfrm>
            <a:off x="3429000" y="1280160"/>
            <a:ext cx="2286000" cy="566928"/>
          </a:xfrm>
          <a:prstGeom prst="roundRect">
            <a:avLst>
              <a:gd name="adj" fmla="val 12903"/>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150_ndt13"/>
          <p:cNvSpPr txBox="1"/>
          <p:nvPr/>
        </p:nvSpPr>
        <p:spPr>
          <a:xfrm>
            <a:off x="3474720" y="1280160"/>
            <a:ext cx="2194560" cy="566928"/>
          </a:xfrm>
          <a:prstGeom prst="rect">
            <a:avLst/>
          </a:prstGeom>
          <a:noFill/>
        </p:spPr>
        <p:txBody>
          <a:bodyPr wrap="square" lIns="0" tIns="0" rIns="0" bIns="0" anchor="ctr">
            <a:spAutoFit/>
          </a:bodyPr>
          <a:lstStyle/>
          <a:p>
            <a:pPr algn="ctr"/>
            <a:r>
              <a:rPr sz="1100" b="1">
                <a:solidFill>
                  <a:srgbClr val="1C1917"/>
                </a:solidFill>
                <a:latin typeface="Segoe UI"/>
              </a:rPr>
              <a:t>Analyze · manipulate</a:t>
            </a:r>
          </a:p>
        </p:txBody>
      </p:sp>
      <p:cxnSp>
        <p:nvCxnSpPr>
          <p:cNvPr id="15" name="a1ud150_ar14"/>
          <p:cNvCxnSpPr/>
          <p:nvPr/>
        </p:nvCxnSpPr>
        <p:spPr>
          <a:xfrm>
            <a:off x="2770632" y="1563624"/>
            <a:ext cx="630936"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a1ud300_nd15"/>
          <p:cNvSpPr/>
          <p:nvPr/>
        </p:nvSpPr>
        <p:spPr>
          <a:xfrm>
            <a:off x="6400800" y="1280160"/>
            <a:ext cx="2286000" cy="566928"/>
          </a:xfrm>
          <a:prstGeom prst="roundRect">
            <a:avLst>
              <a:gd name="adj" fmla="val 12903"/>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300_ndt16"/>
          <p:cNvSpPr txBox="1"/>
          <p:nvPr/>
        </p:nvSpPr>
        <p:spPr>
          <a:xfrm>
            <a:off x="6446520" y="1280160"/>
            <a:ext cx="2194560" cy="566928"/>
          </a:xfrm>
          <a:prstGeom prst="rect">
            <a:avLst/>
          </a:prstGeom>
          <a:noFill/>
        </p:spPr>
        <p:txBody>
          <a:bodyPr wrap="square" lIns="0" tIns="0" rIns="0" bIns="0" anchor="ctr">
            <a:spAutoFit/>
          </a:bodyPr>
          <a:lstStyle/>
          <a:p>
            <a:pPr algn="ctr"/>
            <a:r>
              <a:rPr sz="1100" b="1">
                <a:solidFill>
                  <a:srgbClr val="1C1917"/>
                </a:solidFill>
                <a:latin typeface="Segoe UI"/>
              </a:rPr>
              <a:t>More information out</a:t>
            </a:r>
          </a:p>
        </p:txBody>
      </p:sp>
      <p:cxnSp>
        <p:nvCxnSpPr>
          <p:cNvPr id="18" name="a1ud300_ar17"/>
          <p:cNvCxnSpPr/>
          <p:nvPr/>
        </p:nvCxnSpPr>
        <p:spPr>
          <a:xfrm>
            <a:off x="5742432" y="1563624"/>
            <a:ext cx="630936"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a2f_lb18"/>
          <p:cNvSpPr txBox="1"/>
          <p:nvPr/>
        </p:nvSpPr>
        <p:spPr>
          <a:xfrm>
            <a:off x="457200" y="2103120"/>
            <a:ext cx="8229600" cy="201168"/>
          </a:xfrm>
          <a:prstGeom prst="rect">
            <a:avLst/>
          </a:prstGeom>
          <a:noFill/>
        </p:spPr>
        <p:txBody>
          <a:bodyPr wrap="square" lIns="0" tIns="0" rIns="0" bIns="0" anchor="ctr">
            <a:spAutoFit/>
          </a:bodyPr>
          <a:lstStyle/>
          <a:p>
            <a:pPr algn="l"/>
            <a:r>
              <a:rPr sz="1000" b="1">
                <a:solidFill>
                  <a:srgbClr val="44403C"/>
                </a:solidFill>
                <a:latin typeface="Segoe UI"/>
              </a:rPr>
              <a:t>Every application creates data - whether it is:</a:t>
            </a:r>
          </a:p>
        </p:txBody>
      </p:sp>
      <p:sp>
        <p:nvSpPr>
          <p:cNvPr id="20" name="a2u_card19"/>
          <p:cNvSpPr/>
          <p:nvPr/>
        </p:nvSpPr>
        <p:spPr>
          <a:xfrm>
            <a:off x="457200" y="2423160"/>
            <a:ext cx="1906524" cy="1691640"/>
          </a:xfrm>
          <a:prstGeom prst="roundRect">
            <a:avLst>
              <a:gd name="adj" fmla="val 648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_acc20"/>
          <p:cNvSpPr/>
          <p:nvPr/>
        </p:nvSpPr>
        <p:spPr>
          <a:xfrm>
            <a:off x="457200" y="2423160"/>
            <a:ext cx="1906524" cy="6400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d90_ct21"/>
          <p:cNvSpPr txBox="1"/>
          <p:nvPr/>
        </p:nvSpPr>
        <p:spPr>
          <a:xfrm>
            <a:off x="621792" y="2624328"/>
            <a:ext cx="1577340" cy="274320"/>
          </a:xfrm>
          <a:prstGeom prst="rect">
            <a:avLst/>
          </a:prstGeom>
          <a:noFill/>
        </p:spPr>
        <p:txBody>
          <a:bodyPr wrap="square" lIns="0" tIns="0" rIns="0" bIns="0" anchor="ctr">
            <a:spAutoFit/>
          </a:bodyPr>
          <a:lstStyle/>
          <a:p>
            <a:pPr algn="l"/>
            <a:r>
              <a:rPr sz="1300" b="1">
                <a:solidFill>
                  <a:srgbClr val="1C1917"/>
                </a:solidFill>
                <a:latin typeface="Segoe UI"/>
              </a:rPr>
              <a:t>Log messages</a:t>
            </a:r>
          </a:p>
        </p:txBody>
      </p:sp>
      <p:sp>
        <p:nvSpPr>
          <p:cNvPr id="23" name="a2ud120_cs22"/>
          <p:cNvSpPr txBox="1"/>
          <p:nvPr/>
        </p:nvSpPr>
        <p:spPr>
          <a:xfrm>
            <a:off x="621792" y="2898648"/>
            <a:ext cx="1577340" cy="237744"/>
          </a:xfrm>
          <a:prstGeom prst="rect">
            <a:avLst/>
          </a:prstGeom>
          <a:noFill/>
        </p:spPr>
        <p:txBody>
          <a:bodyPr wrap="square" lIns="0" tIns="0" rIns="0" bIns="0" anchor="ctr">
            <a:spAutoFit/>
          </a:bodyPr>
          <a:lstStyle/>
          <a:p>
            <a:pPr algn="l"/>
            <a:r>
              <a:rPr sz="1000" b="1">
                <a:solidFill>
                  <a:srgbClr val="EA580C"/>
                </a:solidFill>
                <a:latin typeface="Consolas"/>
              </a:rPr>
              <a:t>WHAT THE CODE DID</a:t>
            </a:r>
          </a:p>
        </p:txBody>
      </p:sp>
      <p:sp>
        <p:nvSpPr>
          <p:cNvPr id="24" name="a2ud150_cb23"/>
          <p:cNvSpPr txBox="1"/>
          <p:nvPr/>
        </p:nvSpPr>
        <p:spPr>
          <a:xfrm>
            <a:off x="621792" y="3154680"/>
            <a:ext cx="1577340" cy="475488"/>
          </a:xfrm>
          <a:prstGeom prst="rect">
            <a:avLst/>
          </a:prstGeom>
          <a:noFill/>
        </p:spPr>
        <p:txBody>
          <a:bodyPr wrap="square" lIns="0" tIns="0" rIns="0" bIns="0" anchor="t">
            <a:spAutoFit/>
          </a:bodyPr>
          <a:lstStyle/>
          <a:p>
            <a:pPr algn="l"/>
            <a:r>
              <a:rPr sz="950" b="1">
                <a:solidFill>
                  <a:srgbClr val="EA580C"/>
                </a:solidFill>
                <a:latin typeface="Segoe UI"/>
              </a:rPr>
              <a:t>· </a:t>
            </a:r>
            <a:r>
              <a:rPr sz="950" b="0">
                <a:solidFill>
                  <a:srgbClr val="44403C"/>
                </a:solidFill>
                <a:latin typeface="Segoe UI"/>
              </a:rPr>
              <a:t>ERROR payment timeout</a:t>
            </a:r>
          </a:p>
        </p:txBody>
      </p:sp>
      <p:sp>
        <p:nvSpPr>
          <p:cNvPr id="25" name="a2ud220_cb24"/>
          <p:cNvSpPr txBox="1"/>
          <p:nvPr/>
        </p:nvSpPr>
        <p:spPr>
          <a:xfrm>
            <a:off x="621792" y="3538728"/>
            <a:ext cx="1577340" cy="475488"/>
          </a:xfrm>
          <a:prstGeom prst="rect">
            <a:avLst/>
          </a:prstGeom>
          <a:noFill/>
        </p:spPr>
        <p:txBody>
          <a:bodyPr wrap="square" lIns="0" tIns="0" rIns="0" bIns="0" anchor="t">
            <a:spAutoFit/>
          </a:bodyPr>
          <a:lstStyle/>
          <a:p>
            <a:pPr algn="l"/>
            <a:r>
              <a:rPr sz="950" b="1">
                <a:solidFill>
                  <a:srgbClr val="EA580C"/>
                </a:solidFill>
                <a:latin typeface="Segoe UI"/>
              </a:rPr>
              <a:t>· </a:t>
            </a:r>
            <a:r>
              <a:rPr sz="950" b="0">
                <a:solidFill>
                  <a:srgbClr val="44403C"/>
                </a:solidFill>
                <a:latin typeface="Segoe UI"/>
              </a:rPr>
              <a:t>INFO user 101 logged in</a:t>
            </a:r>
          </a:p>
        </p:txBody>
      </p:sp>
      <p:sp>
        <p:nvSpPr>
          <p:cNvPr id="26" name="a2u_card25"/>
          <p:cNvSpPr/>
          <p:nvPr/>
        </p:nvSpPr>
        <p:spPr>
          <a:xfrm>
            <a:off x="2564892" y="2423160"/>
            <a:ext cx="1906524" cy="1691640"/>
          </a:xfrm>
          <a:prstGeom prst="roundRect">
            <a:avLst>
              <a:gd name="adj" fmla="val 648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u_acc26"/>
          <p:cNvSpPr/>
          <p:nvPr/>
        </p:nvSpPr>
        <p:spPr>
          <a:xfrm>
            <a:off x="2564892" y="2423160"/>
            <a:ext cx="1906524" cy="6400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d90_ct27"/>
          <p:cNvSpPr txBox="1"/>
          <p:nvPr/>
        </p:nvSpPr>
        <p:spPr>
          <a:xfrm>
            <a:off x="2729484" y="2624328"/>
            <a:ext cx="1577340" cy="274320"/>
          </a:xfrm>
          <a:prstGeom prst="rect">
            <a:avLst/>
          </a:prstGeom>
          <a:noFill/>
        </p:spPr>
        <p:txBody>
          <a:bodyPr wrap="square" lIns="0" tIns="0" rIns="0" bIns="0" anchor="ctr">
            <a:spAutoFit/>
          </a:bodyPr>
          <a:lstStyle/>
          <a:p>
            <a:pPr algn="l"/>
            <a:r>
              <a:rPr sz="1300" b="1">
                <a:solidFill>
                  <a:srgbClr val="1C1917"/>
                </a:solidFill>
                <a:latin typeface="Segoe UI"/>
              </a:rPr>
              <a:t>Metrics</a:t>
            </a:r>
          </a:p>
        </p:txBody>
      </p:sp>
      <p:sp>
        <p:nvSpPr>
          <p:cNvPr id="29" name="a2ud120_cs28"/>
          <p:cNvSpPr txBox="1"/>
          <p:nvPr/>
        </p:nvSpPr>
        <p:spPr>
          <a:xfrm>
            <a:off x="2729484" y="2898648"/>
            <a:ext cx="1577340" cy="237744"/>
          </a:xfrm>
          <a:prstGeom prst="rect">
            <a:avLst/>
          </a:prstGeom>
          <a:noFill/>
        </p:spPr>
        <p:txBody>
          <a:bodyPr wrap="square" lIns="0" tIns="0" rIns="0" bIns="0" anchor="ctr">
            <a:spAutoFit/>
          </a:bodyPr>
          <a:lstStyle/>
          <a:p>
            <a:pPr algn="l"/>
            <a:r>
              <a:rPr sz="1000" b="1">
                <a:solidFill>
                  <a:srgbClr val="0E7490"/>
                </a:solidFill>
                <a:latin typeface="Consolas"/>
              </a:rPr>
              <a:t>HOW IT IS RUNNING</a:t>
            </a:r>
          </a:p>
        </p:txBody>
      </p:sp>
      <p:sp>
        <p:nvSpPr>
          <p:cNvPr id="30" name="a2ud150_cb29"/>
          <p:cNvSpPr txBox="1"/>
          <p:nvPr/>
        </p:nvSpPr>
        <p:spPr>
          <a:xfrm>
            <a:off x="2729484" y="3154680"/>
            <a:ext cx="1577340" cy="475488"/>
          </a:xfrm>
          <a:prstGeom prst="rect">
            <a:avLst/>
          </a:prstGeom>
          <a:noFill/>
        </p:spPr>
        <p:txBody>
          <a:bodyPr wrap="square" lIns="0" tIns="0" rIns="0" bIns="0" anchor="t">
            <a:spAutoFit/>
          </a:bodyPr>
          <a:lstStyle/>
          <a:p>
            <a:pPr algn="l"/>
            <a:r>
              <a:rPr sz="950" b="1">
                <a:solidFill>
                  <a:srgbClr val="0E7490"/>
                </a:solidFill>
                <a:latin typeface="Segoe UI"/>
              </a:rPr>
              <a:t>· </a:t>
            </a:r>
            <a:r>
              <a:rPr sz="950" b="0">
                <a:solidFill>
                  <a:srgbClr val="44403C"/>
                </a:solidFill>
                <a:latin typeface="Segoe UI"/>
              </a:rPr>
              <a:t>CPU at 72%</a:t>
            </a:r>
          </a:p>
        </p:txBody>
      </p:sp>
      <p:sp>
        <p:nvSpPr>
          <p:cNvPr id="31" name="a2ud220_cb30"/>
          <p:cNvSpPr txBox="1"/>
          <p:nvPr/>
        </p:nvSpPr>
        <p:spPr>
          <a:xfrm>
            <a:off x="2729484" y="3538728"/>
            <a:ext cx="1577340" cy="475488"/>
          </a:xfrm>
          <a:prstGeom prst="rect">
            <a:avLst/>
          </a:prstGeom>
          <a:noFill/>
        </p:spPr>
        <p:txBody>
          <a:bodyPr wrap="square" lIns="0" tIns="0" rIns="0" bIns="0" anchor="t">
            <a:spAutoFit/>
          </a:bodyPr>
          <a:lstStyle/>
          <a:p>
            <a:pPr algn="l"/>
            <a:r>
              <a:rPr sz="950" b="1">
                <a:solidFill>
                  <a:srgbClr val="0E7490"/>
                </a:solidFill>
                <a:latin typeface="Segoe UI"/>
              </a:rPr>
              <a:t>· </a:t>
            </a:r>
            <a:r>
              <a:rPr sz="950" b="0">
                <a:solidFill>
                  <a:srgbClr val="44403C"/>
                </a:solidFill>
                <a:latin typeface="Segoe UI"/>
              </a:rPr>
              <a:t>340 requests per second</a:t>
            </a:r>
          </a:p>
        </p:txBody>
      </p:sp>
      <p:sp>
        <p:nvSpPr>
          <p:cNvPr id="32" name="a2u_card31"/>
          <p:cNvSpPr/>
          <p:nvPr/>
        </p:nvSpPr>
        <p:spPr>
          <a:xfrm>
            <a:off x="4672584" y="2423160"/>
            <a:ext cx="1906524" cy="1691640"/>
          </a:xfrm>
          <a:prstGeom prst="roundRect">
            <a:avLst>
              <a:gd name="adj" fmla="val 648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u_acc32"/>
          <p:cNvSpPr/>
          <p:nvPr/>
        </p:nvSpPr>
        <p:spPr>
          <a:xfrm>
            <a:off x="4672584" y="2423160"/>
            <a:ext cx="1906524" cy="64008"/>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2ud90_ct33"/>
          <p:cNvSpPr txBox="1"/>
          <p:nvPr/>
        </p:nvSpPr>
        <p:spPr>
          <a:xfrm>
            <a:off x="4837176" y="2624328"/>
            <a:ext cx="1577340" cy="274320"/>
          </a:xfrm>
          <a:prstGeom prst="rect">
            <a:avLst/>
          </a:prstGeom>
          <a:noFill/>
        </p:spPr>
        <p:txBody>
          <a:bodyPr wrap="square" lIns="0" tIns="0" rIns="0" bIns="0" anchor="ctr">
            <a:spAutoFit/>
          </a:bodyPr>
          <a:lstStyle/>
          <a:p>
            <a:pPr algn="l"/>
            <a:r>
              <a:rPr sz="1300" b="1">
                <a:solidFill>
                  <a:srgbClr val="1C1917"/>
                </a:solidFill>
                <a:latin typeface="Segoe UI"/>
              </a:rPr>
              <a:t>User activity</a:t>
            </a:r>
          </a:p>
        </p:txBody>
      </p:sp>
      <p:sp>
        <p:nvSpPr>
          <p:cNvPr id="35" name="a2ud120_cs34"/>
          <p:cNvSpPr txBox="1"/>
          <p:nvPr/>
        </p:nvSpPr>
        <p:spPr>
          <a:xfrm>
            <a:off x="4837176" y="2898648"/>
            <a:ext cx="1577340" cy="237744"/>
          </a:xfrm>
          <a:prstGeom prst="rect">
            <a:avLst/>
          </a:prstGeom>
          <a:noFill/>
        </p:spPr>
        <p:txBody>
          <a:bodyPr wrap="square" lIns="0" tIns="0" rIns="0" bIns="0" anchor="ctr">
            <a:spAutoFit/>
          </a:bodyPr>
          <a:lstStyle/>
          <a:p>
            <a:pPr algn="l"/>
            <a:r>
              <a:rPr sz="1000" b="1">
                <a:solidFill>
                  <a:srgbClr val="A16207"/>
                </a:solidFill>
                <a:latin typeface="Consolas"/>
              </a:rPr>
              <a:t>WHAT PEOPLE DO</a:t>
            </a:r>
          </a:p>
        </p:txBody>
      </p:sp>
      <p:sp>
        <p:nvSpPr>
          <p:cNvPr id="36" name="a2ud150_cb35"/>
          <p:cNvSpPr txBox="1"/>
          <p:nvPr/>
        </p:nvSpPr>
        <p:spPr>
          <a:xfrm>
            <a:off x="4837176" y="3154680"/>
            <a:ext cx="1577340" cy="475488"/>
          </a:xfrm>
          <a:prstGeom prst="rect">
            <a:avLst/>
          </a:prstGeom>
          <a:noFill/>
        </p:spPr>
        <p:txBody>
          <a:bodyPr wrap="square" lIns="0" tIns="0" rIns="0" bIns="0" anchor="t">
            <a:spAutoFit/>
          </a:bodyPr>
          <a:lstStyle/>
          <a:p>
            <a:pPr algn="l"/>
            <a:r>
              <a:rPr sz="950" b="1">
                <a:solidFill>
                  <a:srgbClr val="A16207"/>
                </a:solidFill>
                <a:latin typeface="Segoe UI"/>
              </a:rPr>
              <a:t>· </a:t>
            </a:r>
            <a:r>
              <a:rPr sz="950" b="0">
                <a:solidFill>
                  <a:srgbClr val="44403C"/>
                </a:solidFill>
                <a:latin typeface="Segoe UI"/>
              </a:rPr>
              <a:t>clicked "iPhone 15"</a:t>
            </a:r>
          </a:p>
        </p:txBody>
      </p:sp>
      <p:sp>
        <p:nvSpPr>
          <p:cNvPr id="37" name="a2ud220_cb36"/>
          <p:cNvSpPr txBox="1"/>
          <p:nvPr/>
        </p:nvSpPr>
        <p:spPr>
          <a:xfrm>
            <a:off x="4837176" y="3538728"/>
            <a:ext cx="1577340" cy="475488"/>
          </a:xfrm>
          <a:prstGeom prst="rect">
            <a:avLst/>
          </a:prstGeom>
          <a:noFill/>
        </p:spPr>
        <p:txBody>
          <a:bodyPr wrap="square" lIns="0" tIns="0" rIns="0" bIns="0" anchor="t">
            <a:spAutoFit/>
          </a:bodyPr>
          <a:lstStyle/>
          <a:p>
            <a:pPr algn="l"/>
            <a:r>
              <a:rPr sz="950" b="1">
                <a:solidFill>
                  <a:srgbClr val="A16207"/>
                </a:solidFill>
                <a:latin typeface="Segoe UI"/>
              </a:rPr>
              <a:t>· </a:t>
            </a:r>
            <a:r>
              <a:rPr sz="950" b="0">
                <a:solidFill>
                  <a:srgbClr val="44403C"/>
                </a:solidFill>
                <a:latin typeface="Segoe UI"/>
              </a:rPr>
              <a:t>searched "laptop"</a:t>
            </a:r>
          </a:p>
        </p:txBody>
      </p:sp>
      <p:sp>
        <p:nvSpPr>
          <p:cNvPr id="38" name="a2u_card37"/>
          <p:cNvSpPr/>
          <p:nvPr/>
        </p:nvSpPr>
        <p:spPr>
          <a:xfrm>
            <a:off x="6780276" y="2423160"/>
            <a:ext cx="1906524" cy="1691640"/>
          </a:xfrm>
          <a:prstGeom prst="roundRect">
            <a:avLst>
              <a:gd name="adj" fmla="val 648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2u_acc38"/>
          <p:cNvSpPr/>
          <p:nvPr/>
        </p:nvSpPr>
        <p:spPr>
          <a:xfrm>
            <a:off x="6780276" y="2423160"/>
            <a:ext cx="1906524" cy="6400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2ud90_ct39"/>
          <p:cNvSpPr txBox="1"/>
          <p:nvPr/>
        </p:nvSpPr>
        <p:spPr>
          <a:xfrm>
            <a:off x="6944868" y="2624328"/>
            <a:ext cx="1577340" cy="274320"/>
          </a:xfrm>
          <a:prstGeom prst="rect">
            <a:avLst/>
          </a:prstGeom>
          <a:noFill/>
        </p:spPr>
        <p:txBody>
          <a:bodyPr wrap="square" lIns="0" tIns="0" rIns="0" bIns="0" anchor="ctr">
            <a:spAutoFit/>
          </a:bodyPr>
          <a:lstStyle/>
          <a:p>
            <a:pPr algn="l"/>
            <a:r>
              <a:rPr sz="1300" b="1">
                <a:solidFill>
                  <a:srgbClr val="1C1917"/>
                </a:solidFill>
                <a:latin typeface="Segoe UI"/>
              </a:rPr>
              <a:t>Outgoing messages</a:t>
            </a:r>
          </a:p>
        </p:txBody>
      </p:sp>
      <p:sp>
        <p:nvSpPr>
          <p:cNvPr id="41" name="a2ud120_cs40"/>
          <p:cNvSpPr txBox="1"/>
          <p:nvPr/>
        </p:nvSpPr>
        <p:spPr>
          <a:xfrm>
            <a:off x="6944868" y="2898648"/>
            <a:ext cx="1577340" cy="237744"/>
          </a:xfrm>
          <a:prstGeom prst="rect">
            <a:avLst/>
          </a:prstGeom>
          <a:noFill/>
        </p:spPr>
        <p:txBody>
          <a:bodyPr wrap="square" lIns="0" tIns="0" rIns="0" bIns="0" anchor="ctr">
            <a:spAutoFit/>
          </a:bodyPr>
          <a:lstStyle/>
          <a:p>
            <a:pPr algn="l"/>
            <a:r>
              <a:rPr sz="1000" b="1">
                <a:solidFill>
                  <a:srgbClr val="4F46E5"/>
                </a:solidFill>
                <a:latin typeface="Consolas"/>
              </a:rPr>
              <a:t>WHAT IT SENDS</a:t>
            </a:r>
          </a:p>
        </p:txBody>
      </p:sp>
      <p:sp>
        <p:nvSpPr>
          <p:cNvPr id="42" name="a2ud150_cb41"/>
          <p:cNvSpPr txBox="1"/>
          <p:nvPr/>
        </p:nvSpPr>
        <p:spPr>
          <a:xfrm>
            <a:off x="6944868" y="3154680"/>
            <a:ext cx="1577340" cy="475488"/>
          </a:xfrm>
          <a:prstGeom prst="rect">
            <a:avLst/>
          </a:prstGeom>
          <a:noFill/>
        </p:spPr>
        <p:txBody>
          <a:bodyPr wrap="square" lIns="0" tIns="0" rIns="0" bIns="0" anchor="t">
            <a:spAutoFit/>
          </a:bodyPr>
          <a:lstStyle/>
          <a:p>
            <a:pPr algn="l"/>
            <a:r>
              <a:rPr sz="950" b="1">
                <a:solidFill>
                  <a:srgbClr val="4F46E5"/>
                </a:solidFill>
                <a:latin typeface="Segoe UI"/>
              </a:rPr>
              <a:t>· </a:t>
            </a:r>
            <a:r>
              <a:rPr sz="950" b="0">
                <a:solidFill>
                  <a:srgbClr val="44403C"/>
                </a:solidFill>
                <a:latin typeface="Segoe UI"/>
              </a:rPr>
              <a:t>order confirmation email</a:t>
            </a:r>
          </a:p>
        </p:txBody>
      </p:sp>
      <p:sp>
        <p:nvSpPr>
          <p:cNvPr id="43" name="a2ud220_cb42"/>
          <p:cNvSpPr txBox="1"/>
          <p:nvPr/>
        </p:nvSpPr>
        <p:spPr>
          <a:xfrm>
            <a:off x="6944868" y="3538728"/>
            <a:ext cx="1577340" cy="475488"/>
          </a:xfrm>
          <a:prstGeom prst="rect">
            <a:avLst/>
          </a:prstGeom>
          <a:noFill/>
        </p:spPr>
        <p:txBody>
          <a:bodyPr wrap="square" lIns="0" tIns="0" rIns="0" bIns="0" anchor="t">
            <a:spAutoFit/>
          </a:bodyPr>
          <a:lstStyle/>
          <a:p>
            <a:pPr algn="l"/>
            <a:r>
              <a:rPr sz="950" b="1">
                <a:solidFill>
                  <a:srgbClr val="4F46E5"/>
                </a:solidFill>
                <a:latin typeface="Segoe UI"/>
              </a:rPr>
              <a:t>· </a:t>
            </a:r>
            <a:r>
              <a:rPr sz="950" b="0">
                <a:solidFill>
                  <a:srgbClr val="44403C"/>
                </a:solidFill>
                <a:latin typeface="Segoe UI"/>
              </a:rPr>
              <a:t>OTP by SMS</a:t>
            </a:r>
          </a:p>
        </p:txBody>
      </p:sp>
      <p:sp>
        <p:nvSpPr>
          <p:cNvPr id="44" name="a3f_tail43"/>
          <p:cNvSpPr txBox="1"/>
          <p:nvPr/>
        </p:nvSpPr>
        <p:spPr>
          <a:xfrm>
            <a:off x="457200" y="4224528"/>
            <a:ext cx="8229600" cy="274320"/>
          </a:xfrm>
          <a:prstGeom prst="rect">
            <a:avLst/>
          </a:prstGeom>
          <a:noFill/>
        </p:spPr>
        <p:txBody>
          <a:bodyPr wrap="square" lIns="0" tIns="0" rIns="0" bIns="0" anchor="ctr">
            <a:spAutoFit/>
          </a:bodyPr>
          <a:lstStyle/>
          <a:p>
            <a:pPr algn="l"/>
            <a:r>
              <a:rPr sz="950" b="0" i="1">
                <a:solidFill>
                  <a:srgbClr val="78716C"/>
                </a:solidFill>
                <a:latin typeface="Segoe UI"/>
              </a:rPr>
              <a:t>... or something else. Every byte of data has a story to tell.</a:t>
            </a:r>
          </a:p>
        </p:txBody>
      </p:sp>
      <p:sp>
        <p:nvSpPr>
          <p:cNvPr id="45" name="ft4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18</a:t>
            </a:r>
          </a:p>
        </p:txBody>
      </p:sp>
      <p:sp>
        <p:nvSpPr>
          <p:cNvPr id="46" name="ft4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ft4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8" name="ft4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15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5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5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3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30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30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9" presetID="10"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54" presetID="2" presetClass="entr" presetSubtype="4"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 calcmode="lin" valueType="num">
                                      <p:cBhvr additive="base">
                                        <p:cTn id="61" dur="500" fill="hold"/>
                                        <p:tgtEl>
                                          <p:spTgt spid="26"/>
                                        </p:tgtEl>
                                        <p:attrNameLst>
                                          <p:attrName>ppt_x</p:attrName>
                                        </p:attrNameLst>
                                      </p:cBhvr>
                                      <p:tavLst>
                                        <p:tav tm="0">
                                          <p:val>
                                            <p:strVal val="#ppt_x"/>
                                          </p:val>
                                        </p:tav>
                                        <p:tav tm="100000">
                                          <p:val>
                                            <p:strVal val="#ppt_x"/>
                                          </p:val>
                                        </p:tav>
                                      </p:tavLst>
                                    </p:anim>
                                    <p:anim calcmode="lin" valueType="num">
                                      <p:cBhvr additive="base">
                                        <p:cTn id="62" dur="500" fill="hold"/>
                                        <p:tgtEl>
                                          <p:spTgt spid="26"/>
                                        </p:tgtEl>
                                        <p:attrNameLst>
                                          <p:attrName>ppt_y</p:attrName>
                                        </p:attrNameLst>
                                      </p:cBhvr>
                                      <p:tavLst>
                                        <p:tav tm="0">
                                          <p:val>
                                            <p:strVal val="#ppt_y+0.1"/>
                                          </p:val>
                                        </p:tav>
                                        <p:tav tm="100000">
                                          <p:val>
                                            <p:strVal val="#ppt_y"/>
                                          </p:val>
                                        </p:tav>
                                      </p:tavLst>
                                    </p:anim>
                                    <p:animEffect transition="in" filter="fade">
                                      <p:cBhvr>
                                        <p:cTn id="63" dur="500"/>
                                        <p:tgtEl>
                                          <p:spTgt spid="26"/>
                                        </p:tgtEl>
                                      </p:cBhvr>
                                    </p:animEffect>
                                  </p:childTnLst>
                                </p:cTn>
                              </p:par>
                              <p:par>
                                <p:cTn id="69" presetID="2" presetClass="entr" presetSubtype="4"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 calcmode="lin" valueType="num">
                                      <p:cBhvr additive="base">
                                        <p:cTn id="66" dur="500" fill="hold"/>
                                        <p:tgtEl>
                                          <p:spTgt spid="27"/>
                                        </p:tgtEl>
                                        <p:attrNameLst>
                                          <p:attrName>ppt_x</p:attrName>
                                        </p:attrNameLst>
                                      </p:cBhvr>
                                      <p:tavLst>
                                        <p:tav tm="0">
                                          <p:val>
                                            <p:strVal val="#ppt_x"/>
                                          </p:val>
                                        </p:tav>
                                        <p:tav tm="100000">
                                          <p:val>
                                            <p:strVal val="#ppt_x"/>
                                          </p:val>
                                        </p:tav>
                                      </p:tavLst>
                                    </p:anim>
                                    <p:anim calcmode="lin" valueType="num">
                                      <p:cBhvr additive="base">
                                        <p:cTn id="67" dur="500" fill="hold"/>
                                        <p:tgtEl>
                                          <p:spTgt spid="27"/>
                                        </p:tgtEl>
                                        <p:attrNameLst>
                                          <p:attrName>ppt_y</p:attrName>
                                        </p:attrNameLst>
                                      </p:cBhvr>
                                      <p:tavLst>
                                        <p:tav tm="0">
                                          <p:val>
                                            <p:strVal val="#ppt_y+0.1"/>
                                          </p:val>
                                        </p:tav>
                                        <p:tav tm="100000">
                                          <p:val>
                                            <p:strVal val="#ppt_y"/>
                                          </p:val>
                                        </p:tav>
                                      </p:tavLst>
                                    </p:anim>
                                    <p:animEffect transition="in" filter="fade">
                                      <p:cBhvr>
                                        <p:cTn id="68" dur="500"/>
                                        <p:tgtEl>
                                          <p:spTgt spid="27"/>
                                        </p:tgtEl>
                                      </p:cBhvr>
                                    </p:animEffect>
                                  </p:childTnLst>
                                </p:cTn>
                              </p:par>
                              <p:par>
                                <p:cTn id="74" presetID="2" presetClass="entr" presetSubtype="4"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 calcmode="lin" valueType="num">
                                      <p:cBhvr additive="base">
                                        <p:cTn id="71" dur="500" fill="hold"/>
                                        <p:tgtEl>
                                          <p:spTgt spid="32"/>
                                        </p:tgtEl>
                                        <p:attrNameLst>
                                          <p:attrName>ppt_x</p:attrName>
                                        </p:attrNameLst>
                                      </p:cBhvr>
                                      <p:tavLst>
                                        <p:tav tm="0">
                                          <p:val>
                                            <p:strVal val="#ppt_x"/>
                                          </p:val>
                                        </p:tav>
                                        <p:tav tm="100000">
                                          <p:val>
                                            <p:strVal val="#ppt_x"/>
                                          </p:val>
                                        </p:tav>
                                      </p:tavLst>
                                    </p:anim>
                                    <p:anim calcmode="lin" valueType="num">
                                      <p:cBhvr additive="base">
                                        <p:cTn id="72" dur="500" fill="hold"/>
                                        <p:tgtEl>
                                          <p:spTgt spid="32"/>
                                        </p:tgtEl>
                                        <p:attrNameLst>
                                          <p:attrName>ppt_y</p:attrName>
                                        </p:attrNameLst>
                                      </p:cBhvr>
                                      <p:tavLst>
                                        <p:tav tm="0">
                                          <p:val>
                                            <p:strVal val="#ppt_y+0.1"/>
                                          </p:val>
                                        </p:tav>
                                        <p:tav tm="100000">
                                          <p:val>
                                            <p:strVal val="#ppt_y"/>
                                          </p:val>
                                        </p:tav>
                                      </p:tavLst>
                                    </p:anim>
                                    <p:animEffect transition="in" filter="fade">
                                      <p:cBhvr>
                                        <p:cTn id="73" dur="500"/>
                                        <p:tgtEl>
                                          <p:spTgt spid="32"/>
                                        </p:tgtEl>
                                      </p:cBhvr>
                                    </p:animEffect>
                                  </p:childTnLst>
                                </p:cTn>
                              </p:par>
                              <p:par>
                                <p:cTn id="79" presetID="2" presetClass="entr" presetSubtype="4"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 calcmode="lin" valueType="num">
                                      <p:cBhvr additive="base">
                                        <p:cTn id="76" dur="500" fill="hold"/>
                                        <p:tgtEl>
                                          <p:spTgt spid="33"/>
                                        </p:tgtEl>
                                        <p:attrNameLst>
                                          <p:attrName>ppt_x</p:attrName>
                                        </p:attrNameLst>
                                      </p:cBhvr>
                                      <p:tavLst>
                                        <p:tav tm="0">
                                          <p:val>
                                            <p:strVal val="#ppt_x"/>
                                          </p:val>
                                        </p:tav>
                                        <p:tav tm="100000">
                                          <p:val>
                                            <p:strVal val="#ppt_x"/>
                                          </p:val>
                                        </p:tav>
                                      </p:tavLst>
                                    </p:anim>
                                    <p:anim calcmode="lin" valueType="num">
                                      <p:cBhvr additive="base">
                                        <p:cTn id="77" dur="500" fill="hold"/>
                                        <p:tgtEl>
                                          <p:spTgt spid="33"/>
                                        </p:tgtEl>
                                        <p:attrNameLst>
                                          <p:attrName>ppt_y</p:attrName>
                                        </p:attrNameLst>
                                      </p:cBhvr>
                                      <p:tavLst>
                                        <p:tav tm="0">
                                          <p:val>
                                            <p:strVal val="#ppt_y+0.1"/>
                                          </p:val>
                                        </p:tav>
                                        <p:tav tm="100000">
                                          <p:val>
                                            <p:strVal val="#ppt_y"/>
                                          </p:val>
                                        </p:tav>
                                      </p:tavLst>
                                    </p:anim>
                                    <p:animEffect transition="in" filter="fade">
                                      <p:cBhvr>
                                        <p:cTn id="78" dur="500"/>
                                        <p:tgtEl>
                                          <p:spTgt spid="33"/>
                                        </p:tgtEl>
                                      </p:cBhvr>
                                    </p:animEffect>
                                  </p:childTnLst>
                                </p:cTn>
                              </p:par>
                              <p:par>
                                <p:cTn id="84" presetID="2" presetClass="entr" presetSubtype="4"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anim calcmode="lin" valueType="num">
                                      <p:cBhvr additive="base">
                                        <p:cTn id="81" dur="500" fill="hold"/>
                                        <p:tgtEl>
                                          <p:spTgt spid="38"/>
                                        </p:tgtEl>
                                        <p:attrNameLst>
                                          <p:attrName>ppt_x</p:attrName>
                                        </p:attrNameLst>
                                      </p:cBhvr>
                                      <p:tavLst>
                                        <p:tav tm="0">
                                          <p:val>
                                            <p:strVal val="#ppt_x"/>
                                          </p:val>
                                        </p:tav>
                                        <p:tav tm="100000">
                                          <p:val>
                                            <p:strVal val="#ppt_x"/>
                                          </p:val>
                                        </p:tav>
                                      </p:tavLst>
                                    </p:anim>
                                    <p:anim calcmode="lin" valueType="num">
                                      <p:cBhvr additive="base">
                                        <p:cTn id="82" dur="500" fill="hold"/>
                                        <p:tgtEl>
                                          <p:spTgt spid="38"/>
                                        </p:tgtEl>
                                        <p:attrNameLst>
                                          <p:attrName>ppt_y</p:attrName>
                                        </p:attrNameLst>
                                      </p:cBhvr>
                                      <p:tavLst>
                                        <p:tav tm="0">
                                          <p:val>
                                            <p:strVal val="#ppt_y+0.1"/>
                                          </p:val>
                                        </p:tav>
                                        <p:tav tm="100000">
                                          <p:val>
                                            <p:strVal val="#ppt_y"/>
                                          </p:val>
                                        </p:tav>
                                      </p:tavLst>
                                    </p:anim>
                                    <p:animEffect transition="in" filter="fade">
                                      <p:cBhvr>
                                        <p:cTn id="83" dur="500"/>
                                        <p:tgtEl>
                                          <p:spTgt spid="38"/>
                                        </p:tgtEl>
                                      </p:cBhvr>
                                    </p:animEffect>
                                  </p:childTnLst>
                                </p:cTn>
                              </p:par>
                              <p:par>
                                <p:cTn id="89" presetID="2" presetClass="entr" presetSubtype="4" fill="hold" grpId="0" nodeType="withEffect">
                                  <p:stCondLst>
                                    <p:cond delay="0"/>
                                  </p:stCondLst>
                                  <p:childTnLst>
                                    <p:set>
                                      <p:cBhvr>
                                        <p:cTn id="85" dur="1" fill="hold">
                                          <p:stCondLst>
                                            <p:cond delay="0"/>
                                          </p:stCondLst>
                                        </p:cTn>
                                        <p:tgtEl>
                                          <p:spTgt spid="39"/>
                                        </p:tgtEl>
                                        <p:attrNameLst>
                                          <p:attrName>style.visibility</p:attrName>
                                        </p:attrNameLst>
                                      </p:cBhvr>
                                      <p:to>
                                        <p:strVal val="visible"/>
                                      </p:to>
                                    </p:set>
                                    <p:anim calcmode="lin" valueType="num">
                                      <p:cBhvr additive="base">
                                        <p:cTn id="86" dur="500" fill="hold"/>
                                        <p:tgtEl>
                                          <p:spTgt spid="39"/>
                                        </p:tgtEl>
                                        <p:attrNameLst>
                                          <p:attrName>ppt_x</p:attrName>
                                        </p:attrNameLst>
                                      </p:cBhvr>
                                      <p:tavLst>
                                        <p:tav tm="0">
                                          <p:val>
                                            <p:strVal val="#ppt_x"/>
                                          </p:val>
                                        </p:tav>
                                        <p:tav tm="100000">
                                          <p:val>
                                            <p:strVal val="#ppt_x"/>
                                          </p:val>
                                        </p:tav>
                                      </p:tavLst>
                                    </p:anim>
                                    <p:anim calcmode="lin" valueType="num">
                                      <p:cBhvr additive="base">
                                        <p:cTn id="87" dur="500" fill="hold"/>
                                        <p:tgtEl>
                                          <p:spTgt spid="39"/>
                                        </p:tgtEl>
                                        <p:attrNameLst>
                                          <p:attrName>ppt_y</p:attrName>
                                        </p:attrNameLst>
                                      </p:cBhvr>
                                      <p:tavLst>
                                        <p:tav tm="0">
                                          <p:val>
                                            <p:strVal val="#ppt_y+0.1"/>
                                          </p:val>
                                        </p:tav>
                                        <p:tav tm="100000">
                                          <p:val>
                                            <p:strVal val="#ppt_y"/>
                                          </p:val>
                                        </p:tav>
                                      </p:tavLst>
                                    </p:anim>
                                    <p:animEffect transition="in" filter="fade">
                                      <p:cBhvr>
                                        <p:cTn id="88" dur="500"/>
                                        <p:tgtEl>
                                          <p:spTgt spid="39"/>
                                        </p:tgtEl>
                                      </p:cBhvr>
                                    </p:animEffect>
                                  </p:childTnLst>
                                </p:cTn>
                              </p:par>
                              <p:par>
                                <p:cTn id="94" presetID="2" presetClass="entr" presetSubtype="4" fill="hold" grpId="0" nodeType="withEffect">
                                  <p:stCondLst>
                                    <p:cond delay="90"/>
                                  </p:stCondLst>
                                  <p:childTnLst>
                                    <p:set>
                                      <p:cBhvr>
                                        <p:cTn id="90" dur="1" fill="hold">
                                          <p:stCondLst>
                                            <p:cond delay="0"/>
                                          </p:stCondLst>
                                        </p:cTn>
                                        <p:tgtEl>
                                          <p:spTgt spid="22"/>
                                        </p:tgtEl>
                                        <p:attrNameLst>
                                          <p:attrName>style.visibility</p:attrName>
                                        </p:attrNameLst>
                                      </p:cBhvr>
                                      <p:to>
                                        <p:strVal val="visible"/>
                                      </p:to>
                                    </p:set>
                                    <p:anim calcmode="lin" valueType="num">
                                      <p:cBhvr additive="base">
                                        <p:cTn id="91" dur="500" fill="hold"/>
                                        <p:tgtEl>
                                          <p:spTgt spid="22"/>
                                        </p:tgtEl>
                                        <p:attrNameLst>
                                          <p:attrName>ppt_x</p:attrName>
                                        </p:attrNameLst>
                                      </p:cBhvr>
                                      <p:tavLst>
                                        <p:tav tm="0">
                                          <p:val>
                                            <p:strVal val="#ppt_x"/>
                                          </p:val>
                                        </p:tav>
                                        <p:tav tm="100000">
                                          <p:val>
                                            <p:strVal val="#ppt_x"/>
                                          </p:val>
                                        </p:tav>
                                      </p:tavLst>
                                    </p:anim>
                                    <p:anim calcmode="lin" valueType="num">
                                      <p:cBhvr additive="base">
                                        <p:cTn id="92" dur="500" fill="hold"/>
                                        <p:tgtEl>
                                          <p:spTgt spid="22"/>
                                        </p:tgtEl>
                                        <p:attrNameLst>
                                          <p:attrName>ppt_y</p:attrName>
                                        </p:attrNameLst>
                                      </p:cBhvr>
                                      <p:tavLst>
                                        <p:tav tm="0">
                                          <p:val>
                                            <p:strVal val="#ppt_y+0.1"/>
                                          </p:val>
                                        </p:tav>
                                        <p:tav tm="100000">
                                          <p:val>
                                            <p:strVal val="#ppt_y"/>
                                          </p:val>
                                        </p:tav>
                                      </p:tavLst>
                                    </p:anim>
                                    <p:animEffect transition="in" filter="fade">
                                      <p:cBhvr>
                                        <p:cTn id="93" dur="500"/>
                                        <p:tgtEl>
                                          <p:spTgt spid="22"/>
                                        </p:tgtEl>
                                      </p:cBhvr>
                                    </p:animEffect>
                                  </p:childTnLst>
                                </p:cTn>
                              </p:par>
                              <p:par>
                                <p:cTn id="99" presetID="2" presetClass="entr" presetSubtype="4" fill="hold" grpId="0" nodeType="withEffect">
                                  <p:stCondLst>
                                    <p:cond delay="90"/>
                                  </p:stCondLst>
                                  <p:childTnLst>
                                    <p:set>
                                      <p:cBhvr>
                                        <p:cTn id="95" dur="1" fill="hold">
                                          <p:stCondLst>
                                            <p:cond delay="0"/>
                                          </p:stCondLst>
                                        </p:cTn>
                                        <p:tgtEl>
                                          <p:spTgt spid="28"/>
                                        </p:tgtEl>
                                        <p:attrNameLst>
                                          <p:attrName>style.visibility</p:attrName>
                                        </p:attrNameLst>
                                      </p:cBhvr>
                                      <p:to>
                                        <p:strVal val="visible"/>
                                      </p:to>
                                    </p:set>
                                    <p:anim calcmode="lin" valueType="num">
                                      <p:cBhvr additive="base">
                                        <p:cTn id="96" dur="500" fill="hold"/>
                                        <p:tgtEl>
                                          <p:spTgt spid="28"/>
                                        </p:tgtEl>
                                        <p:attrNameLst>
                                          <p:attrName>ppt_x</p:attrName>
                                        </p:attrNameLst>
                                      </p:cBhvr>
                                      <p:tavLst>
                                        <p:tav tm="0">
                                          <p:val>
                                            <p:strVal val="#ppt_x"/>
                                          </p:val>
                                        </p:tav>
                                        <p:tav tm="100000">
                                          <p:val>
                                            <p:strVal val="#ppt_x"/>
                                          </p:val>
                                        </p:tav>
                                      </p:tavLst>
                                    </p:anim>
                                    <p:anim calcmode="lin" valueType="num">
                                      <p:cBhvr additive="base">
                                        <p:cTn id="97" dur="500" fill="hold"/>
                                        <p:tgtEl>
                                          <p:spTgt spid="28"/>
                                        </p:tgtEl>
                                        <p:attrNameLst>
                                          <p:attrName>ppt_y</p:attrName>
                                        </p:attrNameLst>
                                      </p:cBhvr>
                                      <p:tavLst>
                                        <p:tav tm="0">
                                          <p:val>
                                            <p:strVal val="#ppt_y+0.1"/>
                                          </p:val>
                                        </p:tav>
                                        <p:tav tm="100000">
                                          <p:val>
                                            <p:strVal val="#ppt_y"/>
                                          </p:val>
                                        </p:tav>
                                      </p:tavLst>
                                    </p:anim>
                                    <p:animEffect transition="in" filter="fade">
                                      <p:cBhvr>
                                        <p:cTn id="98" dur="500"/>
                                        <p:tgtEl>
                                          <p:spTgt spid="28"/>
                                        </p:tgtEl>
                                      </p:cBhvr>
                                    </p:animEffect>
                                  </p:childTnLst>
                                </p:cTn>
                              </p:par>
                              <p:par>
                                <p:cTn id="104" presetID="2" presetClass="entr" presetSubtype="4" fill="hold" grpId="0" nodeType="withEffect">
                                  <p:stCondLst>
                                    <p:cond delay="90"/>
                                  </p:stCondLst>
                                  <p:childTnLst>
                                    <p:set>
                                      <p:cBhvr>
                                        <p:cTn id="100" dur="1" fill="hold">
                                          <p:stCondLst>
                                            <p:cond delay="0"/>
                                          </p:stCondLst>
                                        </p:cTn>
                                        <p:tgtEl>
                                          <p:spTgt spid="34"/>
                                        </p:tgtEl>
                                        <p:attrNameLst>
                                          <p:attrName>style.visibility</p:attrName>
                                        </p:attrNameLst>
                                      </p:cBhvr>
                                      <p:to>
                                        <p:strVal val="visible"/>
                                      </p:to>
                                    </p:set>
                                    <p:anim calcmode="lin" valueType="num">
                                      <p:cBhvr additive="base">
                                        <p:cTn id="101" dur="500" fill="hold"/>
                                        <p:tgtEl>
                                          <p:spTgt spid="34"/>
                                        </p:tgtEl>
                                        <p:attrNameLst>
                                          <p:attrName>ppt_x</p:attrName>
                                        </p:attrNameLst>
                                      </p:cBhvr>
                                      <p:tavLst>
                                        <p:tav tm="0">
                                          <p:val>
                                            <p:strVal val="#ppt_x"/>
                                          </p:val>
                                        </p:tav>
                                        <p:tav tm="100000">
                                          <p:val>
                                            <p:strVal val="#ppt_x"/>
                                          </p:val>
                                        </p:tav>
                                      </p:tavLst>
                                    </p:anim>
                                    <p:anim calcmode="lin" valueType="num">
                                      <p:cBhvr additive="base">
                                        <p:cTn id="102" dur="500" fill="hold"/>
                                        <p:tgtEl>
                                          <p:spTgt spid="34"/>
                                        </p:tgtEl>
                                        <p:attrNameLst>
                                          <p:attrName>ppt_y</p:attrName>
                                        </p:attrNameLst>
                                      </p:cBhvr>
                                      <p:tavLst>
                                        <p:tav tm="0">
                                          <p:val>
                                            <p:strVal val="#ppt_y+0.1"/>
                                          </p:val>
                                        </p:tav>
                                        <p:tav tm="100000">
                                          <p:val>
                                            <p:strVal val="#ppt_y"/>
                                          </p:val>
                                        </p:tav>
                                      </p:tavLst>
                                    </p:anim>
                                    <p:animEffect transition="in" filter="fade">
                                      <p:cBhvr>
                                        <p:cTn id="103" dur="500"/>
                                        <p:tgtEl>
                                          <p:spTgt spid="34"/>
                                        </p:tgtEl>
                                      </p:cBhvr>
                                    </p:animEffect>
                                  </p:childTnLst>
                                </p:cTn>
                              </p:par>
                              <p:par>
                                <p:cTn id="109" presetID="2" presetClass="entr" presetSubtype="4" fill="hold" grpId="0" nodeType="withEffect">
                                  <p:stCondLst>
                                    <p:cond delay="90"/>
                                  </p:stCondLst>
                                  <p:childTnLst>
                                    <p:set>
                                      <p:cBhvr>
                                        <p:cTn id="105" dur="1" fill="hold">
                                          <p:stCondLst>
                                            <p:cond delay="0"/>
                                          </p:stCondLst>
                                        </p:cTn>
                                        <p:tgtEl>
                                          <p:spTgt spid="40"/>
                                        </p:tgtEl>
                                        <p:attrNameLst>
                                          <p:attrName>style.visibility</p:attrName>
                                        </p:attrNameLst>
                                      </p:cBhvr>
                                      <p:to>
                                        <p:strVal val="visible"/>
                                      </p:to>
                                    </p:set>
                                    <p:anim calcmode="lin" valueType="num">
                                      <p:cBhvr additive="base">
                                        <p:cTn id="106" dur="500" fill="hold"/>
                                        <p:tgtEl>
                                          <p:spTgt spid="40"/>
                                        </p:tgtEl>
                                        <p:attrNameLst>
                                          <p:attrName>ppt_x</p:attrName>
                                        </p:attrNameLst>
                                      </p:cBhvr>
                                      <p:tavLst>
                                        <p:tav tm="0">
                                          <p:val>
                                            <p:strVal val="#ppt_x"/>
                                          </p:val>
                                        </p:tav>
                                        <p:tav tm="100000">
                                          <p:val>
                                            <p:strVal val="#ppt_x"/>
                                          </p:val>
                                        </p:tav>
                                      </p:tavLst>
                                    </p:anim>
                                    <p:anim calcmode="lin" valueType="num">
                                      <p:cBhvr additive="base">
                                        <p:cTn id="107" dur="500" fill="hold"/>
                                        <p:tgtEl>
                                          <p:spTgt spid="40"/>
                                        </p:tgtEl>
                                        <p:attrNameLst>
                                          <p:attrName>ppt_y</p:attrName>
                                        </p:attrNameLst>
                                      </p:cBhvr>
                                      <p:tavLst>
                                        <p:tav tm="0">
                                          <p:val>
                                            <p:strVal val="#ppt_y+0.1"/>
                                          </p:val>
                                        </p:tav>
                                        <p:tav tm="100000">
                                          <p:val>
                                            <p:strVal val="#ppt_y"/>
                                          </p:val>
                                        </p:tav>
                                      </p:tavLst>
                                    </p:anim>
                                    <p:animEffect transition="in" filter="fade">
                                      <p:cBhvr>
                                        <p:cTn id="108" dur="500"/>
                                        <p:tgtEl>
                                          <p:spTgt spid="40"/>
                                        </p:tgtEl>
                                      </p:cBhvr>
                                    </p:animEffect>
                                  </p:childTnLst>
                                </p:cTn>
                              </p:par>
                              <p:par>
                                <p:cTn id="114" presetID="2" presetClass="entr" presetSubtype="4" fill="hold" grpId="0" nodeType="withEffect">
                                  <p:stCondLst>
                                    <p:cond delay="120"/>
                                  </p:stCondLst>
                                  <p:childTnLst>
                                    <p:set>
                                      <p:cBhvr>
                                        <p:cTn id="110" dur="1" fill="hold">
                                          <p:stCondLst>
                                            <p:cond delay="0"/>
                                          </p:stCondLst>
                                        </p:cTn>
                                        <p:tgtEl>
                                          <p:spTgt spid="23"/>
                                        </p:tgtEl>
                                        <p:attrNameLst>
                                          <p:attrName>style.visibility</p:attrName>
                                        </p:attrNameLst>
                                      </p:cBhvr>
                                      <p:to>
                                        <p:strVal val="visible"/>
                                      </p:to>
                                    </p:set>
                                    <p:anim calcmode="lin" valueType="num">
                                      <p:cBhvr additive="base">
                                        <p:cTn id="111" dur="500" fill="hold"/>
                                        <p:tgtEl>
                                          <p:spTgt spid="23"/>
                                        </p:tgtEl>
                                        <p:attrNameLst>
                                          <p:attrName>ppt_x</p:attrName>
                                        </p:attrNameLst>
                                      </p:cBhvr>
                                      <p:tavLst>
                                        <p:tav tm="0">
                                          <p:val>
                                            <p:strVal val="#ppt_x"/>
                                          </p:val>
                                        </p:tav>
                                        <p:tav tm="100000">
                                          <p:val>
                                            <p:strVal val="#ppt_x"/>
                                          </p:val>
                                        </p:tav>
                                      </p:tavLst>
                                    </p:anim>
                                    <p:anim calcmode="lin" valueType="num">
                                      <p:cBhvr additive="base">
                                        <p:cTn id="112" dur="500" fill="hold"/>
                                        <p:tgtEl>
                                          <p:spTgt spid="23"/>
                                        </p:tgtEl>
                                        <p:attrNameLst>
                                          <p:attrName>ppt_y</p:attrName>
                                        </p:attrNameLst>
                                      </p:cBhvr>
                                      <p:tavLst>
                                        <p:tav tm="0">
                                          <p:val>
                                            <p:strVal val="#ppt_y+0.1"/>
                                          </p:val>
                                        </p:tav>
                                        <p:tav tm="100000">
                                          <p:val>
                                            <p:strVal val="#ppt_y"/>
                                          </p:val>
                                        </p:tav>
                                      </p:tavLst>
                                    </p:anim>
                                    <p:animEffect transition="in" filter="fade">
                                      <p:cBhvr>
                                        <p:cTn id="113" dur="500"/>
                                        <p:tgtEl>
                                          <p:spTgt spid="23"/>
                                        </p:tgtEl>
                                      </p:cBhvr>
                                    </p:animEffect>
                                  </p:childTnLst>
                                </p:cTn>
                              </p:par>
                              <p:par>
                                <p:cTn id="119" presetID="2" presetClass="entr" presetSubtype="4" fill="hold" grpId="0" nodeType="withEffect">
                                  <p:stCondLst>
                                    <p:cond delay="120"/>
                                  </p:stCondLst>
                                  <p:childTnLst>
                                    <p:set>
                                      <p:cBhvr>
                                        <p:cTn id="115" dur="1" fill="hold">
                                          <p:stCondLst>
                                            <p:cond delay="0"/>
                                          </p:stCondLst>
                                        </p:cTn>
                                        <p:tgtEl>
                                          <p:spTgt spid="29"/>
                                        </p:tgtEl>
                                        <p:attrNameLst>
                                          <p:attrName>style.visibility</p:attrName>
                                        </p:attrNameLst>
                                      </p:cBhvr>
                                      <p:to>
                                        <p:strVal val="visible"/>
                                      </p:to>
                                    </p:set>
                                    <p:anim calcmode="lin" valueType="num">
                                      <p:cBhvr additive="base">
                                        <p:cTn id="116" dur="500" fill="hold"/>
                                        <p:tgtEl>
                                          <p:spTgt spid="29"/>
                                        </p:tgtEl>
                                        <p:attrNameLst>
                                          <p:attrName>ppt_x</p:attrName>
                                        </p:attrNameLst>
                                      </p:cBhvr>
                                      <p:tavLst>
                                        <p:tav tm="0">
                                          <p:val>
                                            <p:strVal val="#ppt_x"/>
                                          </p:val>
                                        </p:tav>
                                        <p:tav tm="100000">
                                          <p:val>
                                            <p:strVal val="#ppt_x"/>
                                          </p:val>
                                        </p:tav>
                                      </p:tavLst>
                                    </p:anim>
                                    <p:anim calcmode="lin" valueType="num">
                                      <p:cBhvr additive="base">
                                        <p:cTn id="117" dur="500" fill="hold"/>
                                        <p:tgtEl>
                                          <p:spTgt spid="29"/>
                                        </p:tgtEl>
                                        <p:attrNameLst>
                                          <p:attrName>ppt_y</p:attrName>
                                        </p:attrNameLst>
                                      </p:cBhvr>
                                      <p:tavLst>
                                        <p:tav tm="0">
                                          <p:val>
                                            <p:strVal val="#ppt_y+0.1"/>
                                          </p:val>
                                        </p:tav>
                                        <p:tav tm="100000">
                                          <p:val>
                                            <p:strVal val="#ppt_y"/>
                                          </p:val>
                                        </p:tav>
                                      </p:tavLst>
                                    </p:anim>
                                    <p:animEffect transition="in" filter="fade">
                                      <p:cBhvr>
                                        <p:cTn id="118" dur="500"/>
                                        <p:tgtEl>
                                          <p:spTgt spid="29"/>
                                        </p:tgtEl>
                                      </p:cBhvr>
                                    </p:animEffect>
                                  </p:childTnLst>
                                </p:cTn>
                              </p:par>
                              <p:par>
                                <p:cTn id="124" presetID="2" presetClass="entr" presetSubtype="4" fill="hold" grpId="0" nodeType="withEffect">
                                  <p:stCondLst>
                                    <p:cond delay="120"/>
                                  </p:stCondLst>
                                  <p:childTnLst>
                                    <p:set>
                                      <p:cBhvr>
                                        <p:cTn id="120" dur="1" fill="hold">
                                          <p:stCondLst>
                                            <p:cond delay="0"/>
                                          </p:stCondLst>
                                        </p:cTn>
                                        <p:tgtEl>
                                          <p:spTgt spid="35"/>
                                        </p:tgtEl>
                                        <p:attrNameLst>
                                          <p:attrName>style.visibility</p:attrName>
                                        </p:attrNameLst>
                                      </p:cBhvr>
                                      <p:to>
                                        <p:strVal val="visible"/>
                                      </p:to>
                                    </p:set>
                                    <p:anim calcmode="lin" valueType="num">
                                      <p:cBhvr additive="base">
                                        <p:cTn id="121" dur="500" fill="hold"/>
                                        <p:tgtEl>
                                          <p:spTgt spid="35"/>
                                        </p:tgtEl>
                                        <p:attrNameLst>
                                          <p:attrName>ppt_x</p:attrName>
                                        </p:attrNameLst>
                                      </p:cBhvr>
                                      <p:tavLst>
                                        <p:tav tm="0">
                                          <p:val>
                                            <p:strVal val="#ppt_x"/>
                                          </p:val>
                                        </p:tav>
                                        <p:tav tm="100000">
                                          <p:val>
                                            <p:strVal val="#ppt_x"/>
                                          </p:val>
                                        </p:tav>
                                      </p:tavLst>
                                    </p:anim>
                                    <p:anim calcmode="lin" valueType="num">
                                      <p:cBhvr additive="base">
                                        <p:cTn id="122" dur="500" fill="hold"/>
                                        <p:tgtEl>
                                          <p:spTgt spid="35"/>
                                        </p:tgtEl>
                                        <p:attrNameLst>
                                          <p:attrName>ppt_y</p:attrName>
                                        </p:attrNameLst>
                                      </p:cBhvr>
                                      <p:tavLst>
                                        <p:tav tm="0">
                                          <p:val>
                                            <p:strVal val="#ppt_y+0.1"/>
                                          </p:val>
                                        </p:tav>
                                        <p:tav tm="100000">
                                          <p:val>
                                            <p:strVal val="#ppt_y"/>
                                          </p:val>
                                        </p:tav>
                                      </p:tavLst>
                                    </p:anim>
                                    <p:animEffect transition="in" filter="fade">
                                      <p:cBhvr>
                                        <p:cTn id="123" dur="500"/>
                                        <p:tgtEl>
                                          <p:spTgt spid="35"/>
                                        </p:tgtEl>
                                      </p:cBhvr>
                                    </p:animEffect>
                                  </p:childTnLst>
                                </p:cTn>
                              </p:par>
                              <p:par>
                                <p:cTn id="129" presetID="2" presetClass="entr" presetSubtype="4" fill="hold" grpId="0" nodeType="withEffect">
                                  <p:stCondLst>
                                    <p:cond delay="120"/>
                                  </p:stCondLst>
                                  <p:childTnLst>
                                    <p:set>
                                      <p:cBhvr>
                                        <p:cTn id="125" dur="1" fill="hold">
                                          <p:stCondLst>
                                            <p:cond delay="0"/>
                                          </p:stCondLst>
                                        </p:cTn>
                                        <p:tgtEl>
                                          <p:spTgt spid="41"/>
                                        </p:tgtEl>
                                        <p:attrNameLst>
                                          <p:attrName>style.visibility</p:attrName>
                                        </p:attrNameLst>
                                      </p:cBhvr>
                                      <p:to>
                                        <p:strVal val="visible"/>
                                      </p:to>
                                    </p:set>
                                    <p:anim calcmode="lin" valueType="num">
                                      <p:cBhvr additive="base">
                                        <p:cTn id="126" dur="500" fill="hold"/>
                                        <p:tgtEl>
                                          <p:spTgt spid="41"/>
                                        </p:tgtEl>
                                        <p:attrNameLst>
                                          <p:attrName>ppt_x</p:attrName>
                                        </p:attrNameLst>
                                      </p:cBhvr>
                                      <p:tavLst>
                                        <p:tav tm="0">
                                          <p:val>
                                            <p:strVal val="#ppt_x"/>
                                          </p:val>
                                        </p:tav>
                                        <p:tav tm="100000">
                                          <p:val>
                                            <p:strVal val="#ppt_x"/>
                                          </p:val>
                                        </p:tav>
                                      </p:tavLst>
                                    </p:anim>
                                    <p:anim calcmode="lin" valueType="num">
                                      <p:cBhvr additive="base">
                                        <p:cTn id="127" dur="500" fill="hold"/>
                                        <p:tgtEl>
                                          <p:spTgt spid="41"/>
                                        </p:tgtEl>
                                        <p:attrNameLst>
                                          <p:attrName>ppt_y</p:attrName>
                                        </p:attrNameLst>
                                      </p:cBhvr>
                                      <p:tavLst>
                                        <p:tav tm="0">
                                          <p:val>
                                            <p:strVal val="#ppt_y+0.1"/>
                                          </p:val>
                                        </p:tav>
                                        <p:tav tm="100000">
                                          <p:val>
                                            <p:strVal val="#ppt_y"/>
                                          </p:val>
                                        </p:tav>
                                      </p:tavLst>
                                    </p:anim>
                                    <p:animEffect transition="in" filter="fade">
                                      <p:cBhvr>
                                        <p:cTn id="128" dur="500"/>
                                        <p:tgtEl>
                                          <p:spTgt spid="41"/>
                                        </p:tgtEl>
                                      </p:cBhvr>
                                    </p:animEffect>
                                  </p:childTnLst>
                                </p:cTn>
                              </p:par>
                              <p:par>
                                <p:cTn id="134" presetID="2" presetClass="entr" presetSubtype="4" fill="hold" grpId="0" nodeType="withEffect">
                                  <p:stCondLst>
                                    <p:cond delay="150"/>
                                  </p:stCondLst>
                                  <p:childTnLst>
                                    <p:set>
                                      <p:cBhvr>
                                        <p:cTn id="130" dur="1" fill="hold">
                                          <p:stCondLst>
                                            <p:cond delay="0"/>
                                          </p:stCondLst>
                                        </p:cTn>
                                        <p:tgtEl>
                                          <p:spTgt spid="24"/>
                                        </p:tgtEl>
                                        <p:attrNameLst>
                                          <p:attrName>style.visibility</p:attrName>
                                        </p:attrNameLst>
                                      </p:cBhvr>
                                      <p:to>
                                        <p:strVal val="visible"/>
                                      </p:to>
                                    </p:set>
                                    <p:anim calcmode="lin" valueType="num">
                                      <p:cBhvr additive="base">
                                        <p:cTn id="131" dur="500" fill="hold"/>
                                        <p:tgtEl>
                                          <p:spTgt spid="24"/>
                                        </p:tgtEl>
                                        <p:attrNameLst>
                                          <p:attrName>ppt_x</p:attrName>
                                        </p:attrNameLst>
                                      </p:cBhvr>
                                      <p:tavLst>
                                        <p:tav tm="0">
                                          <p:val>
                                            <p:strVal val="#ppt_x"/>
                                          </p:val>
                                        </p:tav>
                                        <p:tav tm="100000">
                                          <p:val>
                                            <p:strVal val="#ppt_x"/>
                                          </p:val>
                                        </p:tav>
                                      </p:tavLst>
                                    </p:anim>
                                    <p:anim calcmode="lin" valueType="num">
                                      <p:cBhvr additive="base">
                                        <p:cTn id="132" dur="500" fill="hold"/>
                                        <p:tgtEl>
                                          <p:spTgt spid="24"/>
                                        </p:tgtEl>
                                        <p:attrNameLst>
                                          <p:attrName>ppt_y</p:attrName>
                                        </p:attrNameLst>
                                      </p:cBhvr>
                                      <p:tavLst>
                                        <p:tav tm="0">
                                          <p:val>
                                            <p:strVal val="#ppt_y+0.1"/>
                                          </p:val>
                                        </p:tav>
                                        <p:tav tm="100000">
                                          <p:val>
                                            <p:strVal val="#ppt_y"/>
                                          </p:val>
                                        </p:tav>
                                      </p:tavLst>
                                    </p:anim>
                                    <p:animEffect transition="in" filter="fade">
                                      <p:cBhvr>
                                        <p:cTn id="133" dur="500"/>
                                        <p:tgtEl>
                                          <p:spTgt spid="24"/>
                                        </p:tgtEl>
                                      </p:cBhvr>
                                    </p:animEffect>
                                  </p:childTnLst>
                                </p:cTn>
                              </p:par>
                              <p:par>
                                <p:cTn id="139" presetID="2" presetClass="entr" presetSubtype="4" fill="hold" grpId="0" nodeType="withEffect">
                                  <p:stCondLst>
                                    <p:cond delay="150"/>
                                  </p:stCondLst>
                                  <p:childTnLst>
                                    <p:set>
                                      <p:cBhvr>
                                        <p:cTn id="135" dur="1" fill="hold">
                                          <p:stCondLst>
                                            <p:cond delay="0"/>
                                          </p:stCondLst>
                                        </p:cTn>
                                        <p:tgtEl>
                                          <p:spTgt spid="30"/>
                                        </p:tgtEl>
                                        <p:attrNameLst>
                                          <p:attrName>style.visibility</p:attrName>
                                        </p:attrNameLst>
                                      </p:cBhvr>
                                      <p:to>
                                        <p:strVal val="visible"/>
                                      </p:to>
                                    </p:set>
                                    <p:anim calcmode="lin" valueType="num">
                                      <p:cBhvr additive="base">
                                        <p:cTn id="136" dur="500" fill="hold"/>
                                        <p:tgtEl>
                                          <p:spTgt spid="30"/>
                                        </p:tgtEl>
                                        <p:attrNameLst>
                                          <p:attrName>ppt_x</p:attrName>
                                        </p:attrNameLst>
                                      </p:cBhvr>
                                      <p:tavLst>
                                        <p:tav tm="0">
                                          <p:val>
                                            <p:strVal val="#ppt_x"/>
                                          </p:val>
                                        </p:tav>
                                        <p:tav tm="100000">
                                          <p:val>
                                            <p:strVal val="#ppt_x"/>
                                          </p:val>
                                        </p:tav>
                                      </p:tavLst>
                                    </p:anim>
                                    <p:anim calcmode="lin" valueType="num">
                                      <p:cBhvr additive="base">
                                        <p:cTn id="137" dur="500" fill="hold"/>
                                        <p:tgtEl>
                                          <p:spTgt spid="30"/>
                                        </p:tgtEl>
                                        <p:attrNameLst>
                                          <p:attrName>ppt_y</p:attrName>
                                        </p:attrNameLst>
                                      </p:cBhvr>
                                      <p:tavLst>
                                        <p:tav tm="0">
                                          <p:val>
                                            <p:strVal val="#ppt_y+0.1"/>
                                          </p:val>
                                        </p:tav>
                                        <p:tav tm="100000">
                                          <p:val>
                                            <p:strVal val="#ppt_y"/>
                                          </p:val>
                                        </p:tav>
                                      </p:tavLst>
                                    </p:anim>
                                    <p:animEffect transition="in" filter="fade">
                                      <p:cBhvr>
                                        <p:cTn id="138" dur="500"/>
                                        <p:tgtEl>
                                          <p:spTgt spid="30"/>
                                        </p:tgtEl>
                                      </p:cBhvr>
                                    </p:animEffect>
                                  </p:childTnLst>
                                </p:cTn>
                              </p:par>
                              <p:par>
                                <p:cTn id="144" presetID="2" presetClass="entr" presetSubtype="4" fill="hold" grpId="0" nodeType="withEffect">
                                  <p:stCondLst>
                                    <p:cond delay="150"/>
                                  </p:stCondLst>
                                  <p:childTnLst>
                                    <p:set>
                                      <p:cBhvr>
                                        <p:cTn id="140" dur="1" fill="hold">
                                          <p:stCondLst>
                                            <p:cond delay="0"/>
                                          </p:stCondLst>
                                        </p:cTn>
                                        <p:tgtEl>
                                          <p:spTgt spid="36"/>
                                        </p:tgtEl>
                                        <p:attrNameLst>
                                          <p:attrName>style.visibility</p:attrName>
                                        </p:attrNameLst>
                                      </p:cBhvr>
                                      <p:to>
                                        <p:strVal val="visible"/>
                                      </p:to>
                                    </p:set>
                                    <p:anim calcmode="lin" valueType="num">
                                      <p:cBhvr additive="base">
                                        <p:cTn id="141" dur="500" fill="hold"/>
                                        <p:tgtEl>
                                          <p:spTgt spid="36"/>
                                        </p:tgtEl>
                                        <p:attrNameLst>
                                          <p:attrName>ppt_x</p:attrName>
                                        </p:attrNameLst>
                                      </p:cBhvr>
                                      <p:tavLst>
                                        <p:tav tm="0">
                                          <p:val>
                                            <p:strVal val="#ppt_x"/>
                                          </p:val>
                                        </p:tav>
                                        <p:tav tm="100000">
                                          <p:val>
                                            <p:strVal val="#ppt_x"/>
                                          </p:val>
                                        </p:tav>
                                      </p:tavLst>
                                    </p:anim>
                                    <p:anim calcmode="lin" valueType="num">
                                      <p:cBhvr additive="base">
                                        <p:cTn id="142" dur="500" fill="hold"/>
                                        <p:tgtEl>
                                          <p:spTgt spid="36"/>
                                        </p:tgtEl>
                                        <p:attrNameLst>
                                          <p:attrName>ppt_y</p:attrName>
                                        </p:attrNameLst>
                                      </p:cBhvr>
                                      <p:tavLst>
                                        <p:tav tm="0">
                                          <p:val>
                                            <p:strVal val="#ppt_y+0.1"/>
                                          </p:val>
                                        </p:tav>
                                        <p:tav tm="100000">
                                          <p:val>
                                            <p:strVal val="#ppt_y"/>
                                          </p:val>
                                        </p:tav>
                                      </p:tavLst>
                                    </p:anim>
                                    <p:animEffect transition="in" filter="fade">
                                      <p:cBhvr>
                                        <p:cTn id="143" dur="500"/>
                                        <p:tgtEl>
                                          <p:spTgt spid="36"/>
                                        </p:tgtEl>
                                      </p:cBhvr>
                                    </p:animEffect>
                                  </p:childTnLst>
                                </p:cTn>
                              </p:par>
                              <p:par>
                                <p:cTn id="149" presetID="2" presetClass="entr" presetSubtype="4" fill="hold" grpId="0" nodeType="withEffect">
                                  <p:stCondLst>
                                    <p:cond delay="150"/>
                                  </p:stCondLst>
                                  <p:childTnLst>
                                    <p:set>
                                      <p:cBhvr>
                                        <p:cTn id="145" dur="1" fill="hold">
                                          <p:stCondLst>
                                            <p:cond delay="0"/>
                                          </p:stCondLst>
                                        </p:cTn>
                                        <p:tgtEl>
                                          <p:spTgt spid="42"/>
                                        </p:tgtEl>
                                        <p:attrNameLst>
                                          <p:attrName>style.visibility</p:attrName>
                                        </p:attrNameLst>
                                      </p:cBhvr>
                                      <p:to>
                                        <p:strVal val="visible"/>
                                      </p:to>
                                    </p:set>
                                    <p:anim calcmode="lin" valueType="num">
                                      <p:cBhvr additive="base">
                                        <p:cTn id="146" dur="500" fill="hold"/>
                                        <p:tgtEl>
                                          <p:spTgt spid="42"/>
                                        </p:tgtEl>
                                        <p:attrNameLst>
                                          <p:attrName>ppt_x</p:attrName>
                                        </p:attrNameLst>
                                      </p:cBhvr>
                                      <p:tavLst>
                                        <p:tav tm="0">
                                          <p:val>
                                            <p:strVal val="#ppt_x"/>
                                          </p:val>
                                        </p:tav>
                                        <p:tav tm="100000">
                                          <p:val>
                                            <p:strVal val="#ppt_x"/>
                                          </p:val>
                                        </p:tav>
                                      </p:tavLst>
                                    </p:anim>
                                    <p:anim calcmode="lin" valueType="num">
                                      <p:cBhvr additive="base">
                                        <p:cTn id="147" dur="500" fill="hold"/>
                                        <p:tgtEl>
                                          <p:spTgt spid="42"/>
                                        </p:tgtEl>
                                        <p:attrNameLst>
                                          <p:attrName>ppt_y</p:attrName>
                                        </p:attrNameLst>
                                      </p:cBhvr>
                                      <p:tavLst>
                                        <p:tav tm="0">
                                          <p:val>
                                            <p:strVal val="#ppt_y+0.1"/>
                                          </p:val>
                                        </p:tav>
                                        <p:tav tm="100000">
                                          <p:val>
                                            <p:strVal val="#ppt_y"/>
                                          </p:val>
                                        </p:tav>
                                      </p:tavLst>
                                    </p:anim>
                                    <p:animEffect transition="in" filter="fade">
                                      <p:cBhvr>
                                        <p:cTn id="148" dur="500"/>
                                        <p:tgtEl>
                                          <p:spTgt spid="42"/>
                                        </p:tgtEl>
                                      </p:cBhvr>
                                    </p:animEffect>
                                  </p:childTnLst>
                                </p:cTn>
                              </p:par>
                              <p:par>
                                <p:cTn id="154" presetID="2" presetClass="entr" presetSubtype="4" fill="hold" grpId="0" nodeType="withEffect">
                                  <p:stCondLst>
                                    <p:cond delay="220"/>
                                  </p:stCondLst>
                                  <p:childTnLst>
                                    <p:set>
                                      <p:cBhvr>
                                        <p:cTn id="150" dur="1" fill="hold">
                                          <p:stCondLst>
                                            <p:cond delay="0"/>
                                          </p:stCondLst>
                                        </p:cTn>
                                        <p:tgtEl>
                                          <p:spTgt spid="25"/>
                                        </p:tgtEl>
                                        <p:attrNameLst>
                                          <p:attrName>style.visibility</p:attrName>
                                        </p:attrNameLst>
                                      </p:cBhvr>
                                      <p:to>
                                        <p:strVal val="visible"/>
                                      </p:to>
                                    </p:set>
                                    <p:anim calcmode="lin" valueType="num">
                                      <p:cBhvr additive="base">
                                        <p:cTn id="151" dur="500" fill="hold"/>
                                        <p:tgtEl>
                                          <p:spTgt spid="25"/>
                                        </p:tgtEl>
                                        <p:attrNameLst>
                                          <p:attrName>ppt_x</p:attrName>
                                        </p:attrNameLst>
                                      </p:cBhvr>
                                      <p:tavLst>
                                        <p:tav tm="0">
                                          <p:val>
                                            <p:strVal val="#ppt_x"/>
                                          </p:val>
                                        </p:tav>
                                        <p:tav tm="100000">
                                          <p:val>
                                            <p:strVal val="#ppt_x"/>
                                          </p:val>
                                        </p:tav>
                                      </p:tavLst>
                                    </p:anim>
                                    <p:anim calcmode="lin" valueType="num">
                                      <p:cBhvr additive="base">
                                        <p:cTn id="152" dur="500" fill="hold"/>
                                        <p:tgtEl>
                                          <p:spTgt spid="25"/>
                                        </p:tgtEl>
                                        <p:attrNameLst>
                                          <p:attrName>ppt_y</p:attrName>
                                        </p:attrNameLst>
                                      </p:cBhvr>
                                      <p:tavLst>
                                        <p:tav tm="0">
                                          <p:val>
                                            <p:strVal val="#ppt_y+0.1"/>
                                          </p:val>
                                        </p:tav>
                                        <p:tav tm="100000">
                                          <p:val>
                                            <p:strVal val="#ppt_y"/>
                                          </p:val>
                                        </p:tav>
                                      </p:tavLst>
                                    </p:anim>
                                    <p:animEffect transition="in" filter="fade">
                                      <p:cBhvr>
                                        <p:cTn id="153" dur="500"/>
                                        <p:tgtEl>
                                          <p:spTgt spid="25"/>
                                        </p:tgtEl>
                                      </p:cBhvr>
                                    </p:animEffect>
                                  </p:childTnLst>
                                </p:cTn>
                              </p:par>
                              <p:par>
                                <p:cTn id="159" presetID="2" presetClass="entr" presetSubtype="4" fill="hold" grpId="0" nodeType="withEffect">
                                  <p:stCondLst>
                                    <p:cond delay="220"/>
                                  </p:stCondLst>
                                  <p:childTnLst>
                                    <p:set>
                                      <p:cBhvr>
                                        <p:cTn id="155" dur="1" fill="hold">
                                          <p:stCondLst>
                                            <p:cond delay="0"/>
                                          </p:stCondLst>
                                        </p:cTn>
                                        <p:tgtEl>
                                          <p:spTgt spid="31"/>
                                        </p:tgtEl>
                                        <p:attrNameLst>
                                          <p:attrName>style.visibility</p:attrName>
                                        </p:attrNameLst>
                                      </p:cBhvr>
                                      <p:to>
                                        <p:strVal val="visible"/>
                                      </p:to>
                                    </p:set>
                                    <p:anim calcmode="lin" valueType="num">
                                      <p:cBhvr additive="base">
                                        <p:cTn id="156" dur="500" fill="hold"/>
                                        <p:tgtEl>
                                          <p:spTgt spid="31"/>
                                        </p:tgtEl>
                                        <p:attrNameLst>
                                          <p:attrName>ppt_x</p:attrName>
                                        </p:attrNameLst>
                                      </p:cBhvr>
                                      <p:tavLst>
                                        <p:tav tm="0">
                                          <p:val>
                                            <p:strVal val="#ppt_x"/>
                                          </p:val>
                                        </p:tav>
                                        <p:tav tm="100000">
                                          <p:val>
                                            <p:strVal val="#ppt_x"/>
                                          </p:val>
                                        </p:tav>
                                      </p:tavLst>
                                    </p:anim>
                                    <p:anim calcmode="lin" valueType="num">
                                      <p:cBhvr additive="base">
                                        <p:cTn id="157" dur="500" fill="hold"/>
                                        <p:tgtEl>
                                          <p:spTgt spid="31"/>
                                        </p:tgtEl>
                                        <p:attrNameLst>
                                          <p:attrName>ppt_y</p:attrName>
                                        </p:attrNameLst>
                                      </p:cBhvr>
                                      <p:tavLst>
                                        <p:tav tm="0">
                                          <p:val>
                                            <p:strVal val="#ppt_y+0.1"/>
                                          </p:val>
                                        </p:tav>
                                        <p:tav tm="100000">
                                          <p:val>
                                            <p:strVal val="#ppt_y"/>
                                          </p:val>
                                        </p:tav>
                                      </p:tavLst>
                                    </p:anim>
                                    <p:animEffect transition="in" filter="fade">
                                      <p:cBhvr>
                                        <p:cTn id="158" dur="500"/>
                                        <p:tgtEl>
                                          <p:spTgt spid="31"/>
                                        </p:tgtEl>
                                      </p:cBhvr>
                                    </p:animEffect>
                                  </p:childTnLst>
                                </p:cTn>
                              </p:par>
                              <p:par>
                                <p:cTn id="164" presetID="2" presetClass="entr" presetSubtype="4" fill="hold" grpId="0" nodeType="withEffect">
                                  <p:stCondLst>
                                    <p:cond delay="220"/>
                                  </p:stCondLst>
                                  <p:childTnLst>
                                    <p:set>
                                      <p:cBhvr>
                                        <p:cTn id="160" dur="1" fill="hold">
                                          <p:stCondLst>
                                            <p:cond delay="0"/>
                                          </p:stCondLst>
                                        </p:cTn>
                                        <p:tgtEl>
                                          <p:spTgt spid="37"/>
                                        </p:tgtEl>
                                        <p:attrNameLst>
                                          <p:attrName>style.visibility</p:attrName>
                                        </p:attrNameLst>
                                      </p:cBhvr>
                                      <p:to>
                                        <p:strVal val="visible"/>
                                      </p:to>
                                    </p:set>
                                    <p:anim calcmode="lin" valueType="num">
                                      <p:cBhvr additive="base">
                                        <p:cTn id="161" dur="500" fill="hold"/>
                                        <p:tgtEl>
                                          <p:spTgt spid="37"/>
                                        </p:tgtEl>
                                        <p:attrNameLst>
                                          <p:attrName>ppt_x</p:attrName>
                                        </p:attrNameLst>
                                      </p:cBhvr>
                                      <p:tavLst>
                                        <p:tav tm="0">
                                          <p:val>
                                            <p:strVal val="#ppt_x"/>
                                          </p:val>
                                        </p:tav>
                                        <p:tav tm="100000">
                                          <p:val>
                                            <p:strVal val="#ppt_x"/>
                                          </p:val>
                                        </p:tav>
                                      </p:tavLst>
                                    </p:anim>
                                    <p:anim calcmode="lin" valueType="num">
                                      <p:cBhvr additive="base">
                                        <p:cTn id="162" dur="500" fill="hold"/>
                                        <p:tgtEl>
                                          <p:spTgt spid="37"/>
                                        </p:tgtEl>
                                        <p:attrNameLst>
                                          <p:attrName>ppt_y</p:attrName>
                                        </p:attrNameLst>
                                      </p:cBhvr>
                                      <p:tavLst>
                                        <p:tav tm="0">
                                          <p:val>
                                            <p:strVal val="#ppt_y+0.1"/>
                                          </p:val>
                                        </p:tav>
                                        <p:tav tm="100000">
                                          <p:val>
                                            <p:strVal val="#ppt_y"/>
                                          </p:val>
                                        </p:tav>
                                      </p:tavLst>
                                    </p:anim>
                                    <p:animEffect transition="in" filter="fade">
                                      <p:cBhvr>
                                        <p:cTn id="163" dur="500"/>
                                        <p:tgtEl>
                                          <p:spTgt spid="37"/>
                                        </p:tgtEl>
                                      </p:cBhvr>
                                    </p:animEffect>
                                  </p:childTnLst>
                                </p:cTn>
                              </p:par>
                              <p:par>
                                <p:cTn id="169" presetID="2" presetClass="entr" presetSubtype="4" fill="hold" grpId="0" nodeType="withEffect">
                                  <p:stCondLst>
                                    <p:cond delay="220"/>
                                  </p:stCondLst>
                                  <p:childTnLst>
                                    <p:set>
                                      <p:cBhvr>
                                        <p:cTn id="165" dur="1" fill="hold">
                                          <p:stCondLst>
                                            <p:cond delay="0"/>
                                          </p:stCondLst>
                                        </p:cTn>
                                        <p:tgtEl>
                                          <p:spTgt spid="43"/>
                                        </p:tgtEl>
                                        <p:attrNameLst>
                                          <p:attrName>style.visibility</p:attrName>
                                        </p:attrNameLst>
                                      </p:cBhvr>
                                      <p:to>
                                        <p:strVal val="visible"/>
                                      </p:to>
                                    </p:set>
                                    <p:anim calcmode="lin" valueType="num">
                                      <p:cBhvr additive="base">
                                        <p:cTn id="166" dur="500" fill="hold"/>
                                        <p:tgtEl>
                                          <p:spTgt spid="43"/>
                                        </p:tgtEl>
                                        <p:attrNameLst>
                                          <p:attrName>ppt_x</p:attrName>
                                        </p:attrNameLst>
                                      </p:cBhvr>
                                      <p:tavLst>
                                        <p:tav tm="0">
                                          <p:val>
                                            <p:strVal val="#ppt_x"/>
                                          </p:val>
                                        </p:tav>
                                        <p:tav tm="100000">
                                          <p:val>
                                            <p:strVal val="#ppt_x"/>
                                          </p:val>
                                        </p:tav>
                                      </p:tavLst>
                                    </p:anim>
                                    <p:anim calcmode="lin" valueType="num">
                                      <p:cBhvr additive="base">
                                        <p:cTn id="167" dur="500" fill="hold"/>
                                        <p:tgtEl>
                                          <p:spTgt spid="43"/>
                                        </p:tgtEl>
                                        <p:attrNameLst>
                                          <p:attrName>ppt_y</p:attrName>
                                        </p:attrNameLst>
                                      </p:cBhvr>
                                      <p:tavLst>
                                        <p:tav tm="0">
                                          <p:val>
                                            <p:strVal val="#ppt_y+0.1"/>
                                          </p:val>
                                        </p:tav>
                                        <p:tav tm="100000">
                                          <p:val>
                                            <p:strVal val="#ppt_y"/>
                                          </p:val>
                                        </p:tav>
                                      </p:tavLst>
                                    </p:anim>
                                    <p:animEffect transition="in" filter="fade">
                                      <p:cBhvr>
                                        <p:cTn id="168" dur="500"/>
                                        <p:tgtEl>
                                          <p:spTgt spid="43"/>
                                        </p:tgtEl>
                                      </p:cBhvr>
                                    </p:animEffect>
                                  </p:childTnLst>
                                </p:cTn>
                              </p:par>
                            </p:childTnLst>
                          </p:cTn>
                        </p:par>
                      </p:childTnLst>
                    </p:cTn>
                  </p:par>
                  <p:par>
                    <p:cTn id="170" fill="hold">
                      <p:stCondLst>
                        <p:cond delay="indefinite"/>
                      </p:stCondLst>
                      <p:childTnLst>
                        <p:par>
                          <p:cTn id="171" fill="hold">
                            <p:stCondLst>
                              <p:cond delay="0"/>
                            </p:stCondLst>
                            <p:childTnLst>
                              <p:par>
                                <p:cTn id="174" presetID="10" presetClass="entr" presetSubtype="0" fill="hold" grpId="0" nodeType="clickEffect">
                                  <p:stCondLst>
                                    <p:cond delay="0"/>
                                  </p:stCondLst>
                                  <p:childTnLst>
                                    <p:set>
                                      <p:cBhvr>
                                        <p:cTn id="172" dur="1" fill="hold">
                                          <p:stCondLst>
                                            <p:cond delay="0"/>
                                          </p:stCondLst>
                                        </p:cTn>
                                        <p:tgtEl>
                                          <p:spTgt spid="44"/>
                                        </p:tgtEl>
                                        <p:attrNameLst>
                                          <p:attrName>style.visibility</p:attrName>
                                        </p:attrNameLst>
                                      </p:cBhvr>
                                      <p:to>
                                        <p:strVal val="visible"/>
                                      </p:to>
                                    </p:set>
                                    <p:animEffect transition="in" filter="fade">
                                      <p:cBhvr>
                                        <p:cTn id="17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Every Byte Has a Story</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To hear it, data must travel from where it is created to where it can be analyzed</a:t>
            </a:r>
          </a:p>
        </p:txBody>
      </p:sp>
      <p:sp>
        <p:nvSpPr>
          <p:cNvPr id="11" name="a1u_nd10"/>
          <p:cNvSpPr/>
          <p:nvPr/>
        </p:nvSpPr>
        <p:spPr>
          <a:xfrm>
            <a:off x="457200" y="1280160"/>
            <a:ext cx="1828800" cy="914400"/>
          </a:xfrm>
          <a:prstGeom prst="roundRect">
            <a:avLst>
              <a:gd name="adj" fmla="val 8000"/>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316736"/>
            <a:ext cx="1737360" cy="438912"/>
          </a:xfrm>
          <a:prstGeom prst="rect">
            <a:avLst/>
          </a:prstGeom>
          <a:noFill/>
        </p:spPr>
        <p:txBody>
          <a:bodyPr wrap="square" lIns="0" tIns="0" rIns="0" bIns="0" anchor="b">
            <a:spAutoFit/>
          </a:bodyPr>
          <a:lstStyle/>
          <a:p>
            <a:pPr algn="ctr"/>
            <a:r>
              <a:rPr sz="1200" b="1">
                <a:solidFill>
                  <a:srgbClr val="1C1917"/>
                </a:solidFill>
                <a:latin typeface="Segoe UI"/>
              </a:rPr>
              <a:t>You click</a:t>
            </a:r>
          </a:p>
        </p:txBody>
      </p:sp>
      <p:sp>
        <p:nvSpPr>
          <p:cNvPr id="13" name="a1u_nds12"/>
          <p:cNvSpPr txBox="1"/>
          <p:nvPr/>
        </p:nvSpPr>
        <p:spPr>
          <a:xfrm>
            <a:off x="502920" y="1764792"/>
            <a:ext cx="1737360" cy="393192"/>
          </a:xfrm>
          <a:prstGeom prst="rect">
            <a:avLst/>
          </a:prstGeom>
          <a:noFill/>
        </p:spPr>
        <p:txBody>
          <a:bodyPr wrap="square" lIns="0" tIns="0" rIns="0" bIns="0" anchor="t">
            <a:spAutoFit/>
          </a:bodyPr>
          <a:lstStyle/>
          <a:p>
            <a:pPr algn="ctr"/>
            <a:r>
              <a:rPr sz="850" b="0">
                <a:solidFill>
                  <a:srgbClr val="EA580C"/>
                </a:solidFill>
                <a:latin typeface="Segoe UI"/>
              </a:rPr>
              <a:t>an item on Amazon, YouTube or Facebook</a:t>
            </a:r>
          </a:p>
        </p:txBody>
      </p:sp>
      <p:sp>
        <p:nvSpPr>
          <p:cNvPr id="14" name="a1ud200_nd13"/>
          <p:cNvSpPr/>
          <p:nvPr/>
        </p:nvSpPr>
        <p:spPr>
          <a:xfrm>
            <a:off x="2587752" y="1280160"/>
            <a:ext cx="1828800" cy="914400"/>
          </a:xfrm>
          <a:prstGeom prst="roundRect">
            <a:avLst>
              <a:gd name="adj" fmla="val 8000"/>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200_ndt14"/>
          <p:cNvSpPr txBox="1"/>
          <p:nvPr/>
        </p:nvSpPr>
        <p:spPr>
          <a:xfrm>
            <a:off x="2633472" y="1316736"/>
            <a:ext cx="1737360" cy="438912"/>
          </a:xfrm>
          <a:prstGeom prst="rect">
            <a:avLst/>
          </a:prstGeom>
          <a:noFill/>
        </p:spPr>
        <p:txBody>
          <a:bodyPr wrap="square" lIns="0" tIns="0" rIns="0" bIns="0" anchor="b">
            <a:spAutoFit/>
          </a:bodyPr>
          <a:lstStyle/>
          <a:p>
            <a:pPr algn="ctr"/>
            <a:r>
              <a:rPr sz="1200" b="1">
                <a:solidFill>
                  <a:srgbClr val="1C1917"/>
                </a:solidFill>
                <a:latin typeface="Segoe UI"/>
              </a:rPr>
              <a:t>Captured</a:t>
            </a:r>
          </a:p>
        </p:txBody>
      </p:sp>
      <p:sp>
        <p:nvSpPr>
          <p:cNvPr id="16" name="a1ud200_nds15"/>
          <p:cNvSpPr txBox="1"/>
          <p:nvPr/>
        </p:nvSpPr>
        <p:spPr>
          <a:xfrm>
            <a:off x="2633472" y="1764792"/>
            <a:ext cx="1737360" cy="393192"/>
          </a:xfrm>
          <a:prstGeom prst="rect">
            <a:avLst/>
          </a:prstGeom>
          <a:noFill/>
        </p:spPr>
        <p:txBody>
          <a:bodyPr wrap="square" lIns="0" tIns="0" rIns="0" bIns="0" anchor="t">
            <a:spAutoFit/>
          </a:bodyPr>
          <a:lstStyle/>
          <a:p>
            <a:pPr algn="ctr"/>
            <a:r>
              <a:rPr sz="850" b="0">
                <a:solidFill>
                  <a:srgbClr val="0E7490"/>
                </a:solidFill>
                <a:latin typeface="Segoe UI"/>
              </a:rPr>
              <a:t>the click becomes a piece of data</a:t>
            </a:r>
          </a:p>
        </p:txBody>
      </p:sp>
      <p:cxnSp>
        <p:nvCxnSpPr>
          <p:cNvPr id="17" name="a1ud200_ar16"/>
          <p:cNvCxnSpPr/>
          <p:nvPr/>
        </p:nvCxnSpPr>
        <p:spPr>
          <a:xfrm>
            <a:off x="2304288" y="1737360"/>
            <a:ext cx="256032"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a1ud400_nd17"/>
          <p:cNvSpPr/>
          <p:nvPr/>
        </p:nvSpPr>
        <p:spPr>
          <a:xfrm>
            <a:off x="4718304" y="1280160"/>
            <a:ext cx="1828800" cy="914400"/>
          </a:xfrm>
          <a:prstGeom prst="roundRect">
            <a:avLst>
              <a:gd name="adj" fmla="val 8000"/>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400_ndt18"/>
          <p:cNvSpPr txBox="1"/>
          <p:nvPr/>
        </p:nvSpPr>
        <p:spPr>
          <a:xfrm>
            <a:off x="4764024" y="1316736"/>
            <a:ext cx="1737360" cy="438912"/>
          </a:xfrm>
          <a:prstGeom prst="rect">
            <a:avLst/>
          </a:prstGeom>
          <a:noFill/>
        </p:spPr>
        <p:txBody>
          <a:bodyPr wrap="square" lIns="0" tIns="0" rIns="0" bIns="0" anchor="b">
            <a:spAutoFit/>
          </a:bodyPr>
          <a:lstStyle/>
          <a:p>
            <a:pPr algn="ctr"/>
            <a:r>
              <a:rPr sz="1200" b="1">
                <a:solidFill>
                  <a:srgbClr val="1C1917"/>
                </a:solidFill>
                <a:latin typeface="Segoe UI"/>
              </a:rPr>
              <a:t>Analyzed</a:t>
            </a:r>
          </a:p>
        </p:txBody>
      </p:sp>
      <p:sp>
        <p:nvSpPr>
          <p:cNvPr id="20" name="a1ud400_nds19"/>
          <p:cNvSpPr txBox="1"/>
          <p:nvPr/>
        </p:nvSpPr>
        <p:spPr>
          <a:xfrm>
            <a:off x="4764024" y="1764792"/>
            <a:ext cx="1737360" cy="393192"/>
          </a:xfrm>
          <a:prstGeom prst="rect">
            <a:avLst/>
          </a:prstGeom>
          <a:noFill/>
        </p:spPr>
        <p:txBody>
          <a:bodyPr wrap="square" lIns="0" tIns="0" rIns="0" bIns="0" anchor="t">
            <a:spAutoFit/>
          </a:bodyPr>
          <a:lstStyle/>
          <a:p>
            <a:pPr algn="ctr"/>
            <a:r>
              <a:rPr sz="850" b="0">
                <a:solidFill>
                  <a:srgbClr val="A16207"/>
                </a:solidFill>
                <a:latin typeface="Segoe UI"/>
              </a:rPr>
              <a:t>together with millions of other clicks</a:t>
            </a:r>
          </a:p>
        </p:txBody>
      </p:sp>
      <p:cxnSp>
        <p:nvCxnSpPr>
          <p:cNvPr id="21" name="a1ud400_ar20"/>
          <p:cNvCxnSpPr/>
          <p:nvPr/>
        </p:nvCxnSpPr>
        <p:spPr>
          <a:xfrm>
            <a:off x="4434840" y="1737360"/>
            <a:ext cx="256032"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a1ud600_nd21"/>
          <p:cNvSpPr/>
          <p:nvPr/>
        </p:nvSpPr>
        <p:spPr>
          <a:xfrm>
            <a:off x="6848856" y="1280160"/>
            <a:ext cx="1828800" cy="914400"/>
          </a:xfrm>
          <a:prstGeom prst="roundRect">
            <a:avLst>
              <a:gd name="adj" fmla="val 8000"/>
            </a:avLst>
          </a:prstGeom>
          <a:solidFill>
            <a:srgbClr val="F7F6F3"/>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600_ndt22"/>
          <p:cNvSpPr txBox="1"/>
          <p:nvPr/>
        </p:nvSpPr>
        <p:spPr>
          <a:xfrm>
            <a:off x="6894576" y="1316736"/>
            <a:ext cx="1737360" cy="438912"/>
          </a:xfrm>
          <a:prstGeom prst="rect">
            <a:avLst/>
          </a:prstGeom>
          <a:noFill/>
        </p:spPr>
        <p:txBody>
          <a:bodyPr wrap="square" lIns="0" tIns="0" rIns="0" bIns="0" anchor="b">
            <a:spAutoFit/>
          </a:bodyPr>
          <a:lstStyle/>
          <a:p>
            <a:pPr algn="ctr"/>
            <a:r>
              <a:rPr sz="1200" b="1">
                <a:solidFill>
                  <a:srgbClr val="1C1917"/>
                </a:solidFill>
                <a:latin typeface="Segoe UI"/>
              </a:rPr>
              <a:t>Recommended</a:t>
            </a:r>
          </a:p>
        </p:txBody>
      </p:sp>
      <p:sp>
        <p:nvSpPr>
          <p:cNvPr id="24" name="a1ud600_nds23"/>
          <p:cNvSpPr txBox="1"/>
          <p:nvPr/>
        </p:nvSpPr>
        <p:spPr>
          <a:xfrm>
            <a:off x="6894576" y="1764792"/>
            <a:ext cx="1737360" cy="393192"/>
          </a:xfrm>
          <a:prstGeom prst="rect">
            <a:avLst/>
          </a:prstGeom>
          <a:noFill/>
        </p:spPr>
        <p:txBody>
          <a:bodyPr wrap="square" lIns="0" tIns="0" rIns="0" bIns="0" anchor="t">
            <a:spAutoFit/>
          </a:bodyPr>
          <a:lstStyle/>
          <a:p>
            <a:pPr algn="ctr"/>
            <a:r>
              <a:rPr sz="850" b="0">
                <a:solidFill>
                  <a:srgbClr val="15803D"/>
                </a:solidFill>
                <a:latin typeface="Segoe UI"/>
              </a:rPr>
              <a:t>shown back to you a little later</a:t>
            </a:r>
          </a:p>
        </p:txBody>
      </p:sp>
      <p:cxnSp>
        <p:nvCxnSpPr>
          <p:cNvPr id="25" name="a1ud600_ar24"/>
          <p:cNvCxnSpPr/>
          <p:nvPr/>
        </p:nvCxnSpPr>
        <p:spPr>
          <a:xfrm>
            <a:off x="6565392" y="1737360"/>
            <a:ext cx="256032"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a2u_card25"/>
          <p:cNvSpPr/>
          <p:nvPr/>
        </p:nvSpPr>
        <p:spPr>
          <a:xfrm>
            <a:off x="457200" y="2514600"/>
            <a:ext cx="4023360" cy="1417320"/>
          </a:xfrm>
          <a:prstGeom prst="roundRect">
            <a:avLst>
              <a:gd name="adj" fmla="val 774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u_acc26"/>
          <p:cNvSpPr/>
          <p:nvPr/>
        </p:nvSpPr>
        <p:spPr>
          <a:xfrm>
            <a:off x="457200" y="2514600"/>
            <a:ext cx="50292" cy="14173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_big27"/>
          <p:cNvSpPr txBox="1"/>
          <p:nvPr/>
        </p:nvSpPr>
        <p:spPr>
          <a:xfrm>
            <a:off x="685800" y="2651760"/>
            <a:ext cx="3611880" cy="365760"/>
          </a:xfrm>
          <a:prstGeom prst="rect">
            <a:avLst/>
          </a:prstGeom>
          <a:noFill/>
        </p:spPr>
        <p:txBody>
          <a:bodyPr wrap="square" lIns="0" tIns="0" rIns="0" bIns="0" anchor="ctr">
            <a:spAutoFit/>
          </a:bodyPr>
          <a:lstStyle/>
          <a:p>
            <a:pPr algn="l"/>
            <a:r>
              <a:rPr sz="1400" b="1">
                <a:solidFill>
                  <a:srgbClr val="0E7490"/>
                </a:solidFill>
                <a:latin typeface="Segoe UI"/>
              </a:rPr>
              <a:t>The FASTER we move data,</a:t>
            </a:r>
          </a:p>
        </p:txBody>
      </p:sp>
      <p:sp>
        <p:nvSpPr>
          <p:cNvPr id="29" name="a2ud100_rest28"/>
          <p:cNvSpPr txBox="1"/>
          <p:nvPr/>
        </p:nvSpPr>
        <p:spPr>
          <a:xfrm>
            <a:off x="685800" y="3063240"/>
            <a:ext cx="3611880" cy="731520"/>
          </a:xfrm>
          <a:prstGeom prst="rect">
            <a:avLst/>
          </a:prstGeom>
          <a:noFill/>
        </p:spPr>
        <p:txBody>
          <a:bodyPr wrap="square" lIns="0" tIns="0" rIns="0" bIns="0" anchor="t">
            <a:spAutoFit/>
          </a:bodyPr>
          <a:lstStyle/>
          <a:p>
            <a:pPr algn="l"/>
            <a:r>
              <a:rPr sz="1100" b="0">
                <a:solidFill>
                  <a:srgbClr val="44403C"/>
                </a:solidFill>
                <a:latin typeface="Segoe UI"/>
              </a:rPr>
              <a:t>the more agile and responsive the organization can be.</a:t>
            </a:r>
          </a:p>
        </p:txBody>
      </p:sp>
      <p:sp>
        <p:nvSpPr>
          <p:cNvPr id="30" name="a3u_card29"/>
          <p:cNvSpPr/>
          <p:nvPr/>
        </p:nvSpPr>
        <p:spPr>
          <a:xfrm>
            <a:off x="4663440" y="2514600"/>
            <a:ext cx="4023360" cy="1417320"/>
          </a:xfrm>
          <a:prstGeom prst="roundRect">
            <a:avLst>
              <a:gd name="adj" fmla="val 774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u_acc30"/>
          <p:cNvSpPr/>
          <p:nvPr/>
        </p:nvSpPr>
        <p:spPr>
          <a:xfrm>
            <a:off x="4663440" y="2514600"/>
            <a:ext cx="5029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3u_big31"/>
          <p:cNvSpPr txBox="1"/>
          <p:nvPr/>
        </p:nvSpPr>
        <p:spPr>
          <a:xfrm>
            <a:off x="4892040" y="2651760"/>
            <a:ext cx="3611880" cy="365760"/>
          </a:xfrm>
          <a:prstGeom prst="rect">
            <a:avLst/>
          </a:prstGeom>
          <a:noFill/>
        </p:spPr>
        <p:txBody>
          <a:bodyPr wrap="square" lIns="0" tIns="0" rIns="0" bIns="0" anchor="ctr">
            <a:spAutoFit/>
          </a:bodyPr>
          <a:lstStyle/>
          <a:p>
            <a:pPr algn="l"/>
            <a:r>
              <a:rPr sz="1400" b="1">
                <a:solidFill>
                  <a:srgbClr val="EA580C"/>
                </a:solidFill>
                <a:latin typeface="Segoe UI"/>
              </a:rPr>
              <a:t>The LESS EFFORT spent moving data,</a:t>
            </a:r>
          </a:p>
        </p:txBody>
      </p:sp>
      <p:sp>
        <p:nvSpPr>
          <p:cNvPr id="33" name="a3ud100_rest32"/>
          <p:cNvSpPr txBox="1"/>
          <p:nvPr/>
        </p:nvSpPr>
        <p:spPr>
          <a:xfrm>
            <a:off x="4892040" y="3063240"/>
            <a:ext cx="3611880" cy="731520"/>
          </a:xfrm>
          <a:prstGeom prst="rect">
            <a:avLst/>
          </a:prstGeom>
          <a:noFill/>
        </p:spPr>
        <p:txBody>
          <a:bodyPr wrap="square" lIns="0" tIns="0" rIns="0" bIns="0" anchor="t">
            <a:spAutoFit/>
          </a:bodyPr>
          <a:lstStyle/>
          <a:p>
            <a:pPr algn="l"/>
            <a:r>
              <a:rPr sz="1100" b="0">
                <a:solidFill>
                  <a:srgbClr val="44403C"/>
                </a:solidFill>
                <a:latin typeface="Segoe UI"/>
              </a:rPr>
              <a:t>the more we can focus on the core business.</a:t>
            </a:r>
          </a:p>
        </p:txBody>
      </p:sp>
      <p:sp>
        <p:nvSpPr>
          <p:cNvPr id="34" name="ft33"/>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19</a:t>
            </a:r>
          </a:p>
        </p:txBody>
      </p:sp>
      <p:sp>
        <p:nvSpPr>
          <p:cNvPr id="35" name="ft34"/>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ft35"/>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37" name="ft36"/>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2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2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2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40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40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40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40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60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60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60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60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childTnLst>
                          </p:cTn>
                        </p:par>
                      </p:childTnLst>
                    </p:cTn>
                  </p:par>
                  <p:par>
                    <p:cTn id="80" fill="hold">
                      <p:stCondLst>
                        <p:cond delay="indefinite"/>
                      </p:stCondLst>
                      <p:childTnLst>
                        <p:par>
                          <p:cTn id="81" fill="hold">
                            <p:stCondLst>
                              <p:cond delay="0"/>
                            </p:stCondLst>
                            <p:childTnLst>
                              <p:par>
                                <p:cTn id="86" presetID="2" presetClass="entr" presetSubtype="4" fill="hold" grpId="0" nodeType="click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10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childTnLst>
                          </p:cTn>
                        </p:par>
                      </p:childTnLst>
                    </p:cTn>
                  </p:par>
                  <p:par>
                    <p:cTn id="102" fill="hold">
                      <p:stCondLst>
                        <p:cond delay="indefinite"/>
                      </p:stCondLst>
                      <p:childTnLst>
                        <p:par>
                          <p:cTn id="103" fill="hold">
                            <p:stCondLst>
                              <p:cond delay="0"/>
                            </p:stCondLst>
                            <p:childTnLst>
                              <p:par>
                                <p:cTn id="108" presetID="2" presetClass="entr" presetSubtype="4" fill="hold" grpId="0" nodeType="clickEffect">
                                  <p:stCondLst>
                                    <p:cond delay="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ppt_x"/>
                                          </p:val>
                                        </p:tav>
                                        <p:tav tm="100000">
                                          <p:val>
                                            <p:strVal val="#ppt_x"/>
                                          </p:val>
                                        </p:tav>
                                      </p:tavLst>
                                    </p:anim>
                                    <p:anim calcmode="lin" valueType="num">
                                      <p:cBhvr additive="base">
                                        <p:cTn id="106" dur="500" fill="hold"/>
                                        <p:tgtEl>
                                          <p:spTgt spid="30"/>
                                        </p:tgtEl>
                                        <p:attrNameLst>
                                          <p:attrName>ppt_y</p:attrName>
                                        </p:attrNameLst>
                                      </p:cBhvr>
                                      <p:tavLst>
                                        <p:tav tm="0">
                                          <p:val>
                                            <p:strVal val="#ppt_y+0.1"/>
                                          </p:val>
                                        </p:tav>
                                        <p:tav tm="100000">
                                          <p:val>
                                            <p:strVal val="#ppt_y"/>
                                          </p:val>
                                        </p:tav>
                                      </p:tavLst>
                                    </p:anim>
                                    <p:animEffect transition="in" filter="fade">
                                      <p:cBhvr>
                                        <p:cTn id="107" dur="500"/>
                                        <p:tgtEl>
                                          <p:spTgt spid="30"/>
                                        </p:tgtEl>
                                      </p:cBhvr>
                                    </p:animEffect>
                                  </p:childTnLst>
                                </p:cTn>
                              </p:par>
                              <p:par>
                                <p:cTn id="113" presetID="2" presetClass="entr" presetSubtype="4" fill="hold" grpId="0" nodeType="withEffect">
                                  <p:stCondLst>
                                    <p:cond delay="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8" presetID="2" presetClass="entr" presetSubtype="4" fill="hold" grpId="0" nodeType="withEffect">
                                  <p:stCondLst>
                                    <p:cond delay="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par>
                                <p:cTn id="123" presetID="2" presetClass="entr" presetSubtype="4" fill="hold" grpId="0" nodeType="withEffect">
                                  <p:stCondLst>
                                    <p:cond delay="10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Data at Rest vs Data in Motion</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Two ways to use data: store it and ask later - or react the moment it happens</a:t>
            </a:r>
          </a:p>
        </p:txBody>
      </p:sp>
      <p:sp>
        <p:nvSpPr>
          <p:cNvPr id="11" name="a1u_card10"/>
          <p:cNvSpPr/>
          <p:nvPr/>
        </p:nvSpPr>
        <p:spPr>
          <a:xfrm>
            <a:off x="457200" y="1234440"/>
            <a:ext cx="4023360" cy="2926080"/>
          </a:xfrm>
          <a:prstGeom prst="roundRect">
            <a:avLst>
              <a:gd name="adj" fmla="val 375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50292" cy="292608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44168"/>
            <a:ext cx="3657600" cy="237744"/>
          </a:xfrm>
          <a:prstGeom prst="rect">
            <a:avLst/>
          </a:prstGeom>
          <a:noFill/>
        </p:spPr>
        <p:txBody>
          <a:bodyPr wrap="square" lIns="0" tIns="0" rIns="0" bIns="0" anchor="ctr">
            <a:spAutoFit/>
          </a:bodyPr>
          <a:lstStyle/>
          <a:p>
            <a:pPr algn="l"/>
            <a:r>
              <a:rPr sz="900" b="1">
                <a:solidFill>
                  <a:srgbClr val="A16207"/>
                </a:solidFill>
                <a:latin typeface="Segoe UI"/>
              </a:rPr>
              <a:t>DATA AT REST  ·  DATABASES</a:t>
            </a:r>
          </a:p>
        </p:txBody>
      </p:sp>
      <p:sp>
        <p:nvSpPr>
          <p:cNvPr id="14" name="a1ud100_fl13"/>
          <p:cNvSpPr/>
          <p:nvPr/>
        </p:nvSpPr>
        <p:spPr>
          <a:xfrm>
            <a:off x="685800" y="1691640"/>
            <a:ext cx="1097280" cy="548640"/>
          </a:xfrm>
          <a:prstGeom prst="roundRect">
            <a:avLst>
              <a:gd name="adj" fmla="val 13333"/>
            </a:avLst>
          </a:prstGeom>
          <a:solidFill>
            <a:srgbClr val="FEF9C3"/>
          </a:solidFill>
          <a:ln w="12700">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100_flt14"/>
          <p:cNvSpPr txBox="1"/>
          <p:nvPr/>
        </p:nvSpPr>
        <p:spPr>
          <a:xfrm>
            <a:off x="722376" y="1691640"/>
            <a:ext cx="1024128" cy="548640"/>
          </a:xfrm>
          <a:prstGeom prst="rect">
            <a:avLst/>
          </a:prstGeom>
          <a:noFill/>
        </p:spPr>
        <p:txBody>
          <a:bodyPr wrap="square" lIns="0" tIns="0" rIns="0" bIns="0" anchor="ctr">
            <a:spAutoFit/>
          </a:bodyPr>
          <a:lstStyle/>
          <a:p>
            <a:pPr algn="ctr"/>
            <a:r>
              <a:rPr sz="850" b="1">
                <a:solidFill>
                  <a:srgbClr val="A16207"/>
                </a:solidFill>
                <a:latin typeface="Segoe UI"/>
              </a:rPr>
              <a:t>data arrives</a:t>
            </a:r>
          </a:p>
        </p:txBody>
      </p:sp>
      <p:sp>
        <p:nvSpPr>
          <p:cNvPr id="16" name="a1ud220_fl15"/>
          <p:cNvSpPr/>
          <p:nvPr/>
        </p:nvSpPr>
        <p:spPr>
          <a:xfrm>
            <a:off x="1938528" y="1691640"/>
            <a:ext cx="1097280" cy="548640"/>
          </a:xfrm>
          <a:prstGeom prst="roundRect">
            <a:avLst>
              <a:gd name="adj" fmla="val 13333"/>
            </a:avLst>
          </a:prstGeom>
          <a:solidFill>
            <a:srgbClr val="FEF9C3"/>
          </a:solidFill>
          <a:ln w="12700">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220_flt16"/>
          <p:cNvSpPr txBox="1"/>
          <p:nvPr/>
        </p:nvSpPr>
        <p:spPr>
          <a:xfrm>
            <a:off x="1975104" y="1691640"/>
            <a:ext cx="1024128" cy="548640"/>
          </a:xfrm>
          <a:prstGeom prst="rect">
            <a:avLst/>
          </a:prstGeom>
          <a:noFill/>
        </p:spPr>
        <p:txBody>
          <a:bodyPr wrap="square" lIns="0" tIns="0" rIns="0" bIns="0" anchor="ctr">
            <a:spAutoFit/>
          </a:bodyPr>
          <a:lstStyle/>
          <a:p>
            <a:pPr algn="ctr"/>
            <a:r>
              <a:rPr sz="850" b="1">
                <a:solidFill>
                  <a:srgbClr val="A16207"/>
                </a:solidFill>
                <a:latin typeface="Segoe UI"/>
              </a:rPr>
              <a:t>stored in tables</a:t>
            </a:r>
          </a:p>
        </p:txBody>
      </p:sp>
      <p:cxnSp>
        <p:nvCxnSpPr>
          <p:cNvPr id="18" name="a1ud220_ar17"/>
          <p:cNvCxnSpPr/>
          <p:nvPr/>
        </p:nvCxnSpPr>
        <p:spPr>
          <a:xfrm>
            <a:off x="1792224" y="1965960"/>
            <a:ext cx="128016" cy="0"/>
          </a:xfrm>
          <a:prstGeom prst="line">
            <a:avLst/>
          </a:prstGeom>
          <a:ln w="1587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a1ud340_fl18"/>
          <p:cNvSpPr/>
          <p:nvPr/>
        </p:nvSpPr>
        <p:spPr>
          <a:xfrm>
            <a:off x="3191256" y="1691640"/>
            <a:ext cx="1097280" cy="548640"/>
          </a:xfrm>
          <a:prstGeom prst="roundRect">
            <a:avLst>
              <a:gd name="adj" fmla="val 13333"/>
            </a:avLst>
          </a:prstGeom>
          <a:solidFill>
            <a:srgbClr val="FEF9C3"/>
          </a:solidFill>
          <a:ln w="12700">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340_flt19"/>
          <p:cNvSpPr txBox="1"/>
          <p:nvPr/>
        </p:nvSpPr>
        <p:spPr>
          <a:xfrm>
            <a:off x="3227832" y="1691640"/>
            <a:ext cx="1024128" cy="548640"/>
          </a:xfrm>
          <a:prstGeom prst="rect">
            <a:avLst/>
          </a:prstGeom>
          <a:noFill/>
        </p:spPr>
        <p:txBody>
          <a:bodyPr wrap="square" lIns="0" tIns="0" rIns="0" bIns="0" anchor="ctr">
            <a:spAutoFit/>
          </a:bodyPr>
          <a:lstStyle/>
          <a:p>
            <a:pPr algn="ctr"/>
            <a:r>
              <a:rPr sz="850" b="1">
                <a:solidFill>
                  <a:srgbClr val="A16207"/>
                </a:solidFill>
                <a:latin typeface="Segoe UI"/>
              </a:rPr>
              <a:t>query it later</a:t>
            </a:r>
          </a:p>
        </p:txBody>
      </p:sp>
      <p:cxnSp>
        <p:nvCxnSpPr>
          <p:cNvPr id="21" name="a1ud340_ar20"/>
          <p:cNvCxnSpPr/>
          <p:nvPr/>
        </p:nvCxnSpPr>
        <p:spPr>
          <a:xfrm>
            <a:off x="3044952" y="1965960"/>
            <a:ext cx="128016" cy="0"/>
          </a:xfrm>
          <a:prstGeom prst="line">
            <a:avLst/>
          </a:prstGeom>
          <a:ln w="1587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a1ud450_dot21"/>
          <p:cNvSpPr/>
          <p:nvPr/>
        </p:nvSpPr>
        <p:spPr>
          <a:xfrm>
            <a:off x="658368" y="2592324"/>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450_b22"/>
          <p:cNvSpPr txBox="1"/>
          <p:nvPr/>
        </p:nvSpPr>
        <p:spPr>
          <a:xfrm>
            <a:off x="877824" y="2496312"/>
            <a:ext cx="3401568" cy="365760"/>
          </a:xfrm>
          <a:prstGeom prst="rect">
            <a:avLst/>
          </a:prstGeom>
          <a:noFill/>
        </p:spPr>
        <p:txBody>
          <a:bodyPr wrap="square" lIns="0" tIns="0" rIns="0" bIns="0" anchor="t">
            <a:spAutoFit/>
          </a:bodyPr>
          <a:lstStyle/>
          <a:p>
            <a:pPr algn="l"/>
            <a:r>
              <a:rPr sz="950" b="0">
                <a:solidFill>
                  <a:srgbClr val="44403C"/>
                </a:solidFill>
                <a:latin typeface="Segoe UI"/>
              </a:rPr>
              <a:t>Store first, ask questions later</a:t>
            </a:r>
          </a:p>
        </p:txBody>
      </p:sp>
      <p:sp>
        <p:nvSpPr>
          <p:cNvPr id="24" name="a1ud550_dot23"/>
          <p:cNvSpPr/>
          <p:nvPr/>
        </p:nvSpPr>
        <p:spPr>
          <a:xfrm>
            <a:off x="658368" y="2994660"/>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ud550_b24"/>
          <p:cNvSpPr txBox="1"/>
          <p:nvPr/>
        </p:nvSpPr>
        <p:spPr>
          <a:xfrm>
            <a:off x="877824" y="2898648"/>
            <a:ext cx="3401568" cy="365760"/>
          </a:xfrm>
          <a:prstGeom prst="rect">
            <a:avLst/>
          </a:prstGeom>
          <a:noFill/>
        </p:spPr>
        <p:txBody>
          <a:bodyPr wrap="square" lIns="0" tIns="0" rIns="0" bIns="0" anchor="t">
            <a:spAutoFit/>
          </a:bodyPr>
          <a:lstStyle/>
          <a:p>
            <a:pPr algn="l"/>
            <a:r>
              <a:rPr sz="950" b="0">
                <a:solidFill>
                  <a:srgbClr val="44403C"/>
                </a:solidFill>
                <a:latin typeface="Segoe UI"/>
              </a:rPr>
              <a:t>Answers describe the past - as of the query</a:t>
            </a:r>
          </a:p>
        </p:txBody>
      </p:sp>
      <p:sp>
        <p:nvSpPr>
          <p:cNvPr id="26" name="a1ud650_dot25"/>
          <p:cNvSpPr/>
          <p:nvPr/>
        </p:nvSpPr>
        <p:spPr>
          <a:xfrm>
            <a:off x="658368" y="3396996"/>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ud650_b26"/>
          <p:cNvSpPr txBox="1"/>
          <p:nvPr/>
        </p:nvSpPr>
        <p:spPr>
          <a:xfrm>
            <a:off x="877824" y="3300984"/>
            <a:ext cx="3401568" cy="365760"/>
          </a:xfrm>
          <a:prstGeom prst="rect">
            <a:avLst/>
          </a:prstGeom>
          <a:noFill/>
        </p:spPr>
        <p:txBody>
          <a:bodyPr wrap="square" lIns="0" tIns="0" rIns="0" bIns="0" anchor="t">
            <a:spAutoFit/>
          </a:bodyPr>
          <a:lstStyle/>
          <a:p>
            <a:pPr algn="l"/>
            <a:r>
              <a:rPr sz="950" b="0">
                <a:solidFill>
                  <a:srgbClr val="44403C"/>
                </a:solidFill>
                <a:latin typeface="Segoe UI"/>
              </a:rPr>
              <a:t>e.g. 'total sales last month'</a:t>
            </a:r>
          </a:p>
        </p:txBody>
      </p:sp>
      <p:sp>
        <p:nvSpPr>
          <p:cNvPr id="28" name="a2u_card27"/>
          <p:cNvSpPr/>
          <p:nvPr/>
        </p:nvSpPr>
        <p:spPr>
          <a:xfrm>
            <a:off x="4663440" y="1234440"/>
            <a:ext cx="4023360" cy="2926080"/>
          </a:xfrm>
          <a:prstGeom prst="roundRect">
            <a:avLst>
              <a:gd name="adj" fmla="val 375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_acc28"/>
          <p:cNvSpPr/>
          <p:nvPr/>
        </p:nvSpPr>
        <p:spPr>
          <a:xfrm>
            <a:off x="4663440" y="1234440"/>
            <a:ext cx="50292" cy="29260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u_hh29"/>
          <p:cNvSpPr txBox="1"/>
          <p:nvPr/>
        </p:nvSpPr>
        <p:spPr>
          <a:xfrm>
            <a:off x="4864607" y="1344168"/>
            <a:ext cx="3657600" cy="237744"/>
          </a:xfrm>
          <a:prstGeom prst="rect">
            <a:avLst/>
          </a:prstGeom>
          <a:noFill/>
        </p:spPr>
        <p:txBody>
          <a:bodyPr wrap="square" lIns="0" tIns="0" rIns="0" bIns="0" anchor="ctr">
            <a:spAutoFit/>
          </a:bodyPr>
          <a:lstStyle/>
          <a:p>
            <a:pPr algn="l"/>
            <a:r>
              <a:rPr sz="900" b="1">
                <a:solidFill>
                  <a:srgbClr val="0E7490"/>
                </a:solidFill>
                <a:latin typeface="Segoe UI"/>
              </a:rPr>
              <a:t>DATA IN MOTION  ·  STREAMING</a:t>
            </a:r>
          </a:p>
        </p:txBody>
      </p:sp>
      <p:sp>
        <p:nvSpPr>
          <p:cNvPr id="31" name="a2ud100_fl30"/>
          <p:cNvSpPr/>
          <p:nvPr/>
        </p:nvSpPr>
        <p:spPr>
          <a:xfrm>
            <a:off x="4892040" y="1691640"/>
            <a:ext cx="1097280" cy="548640"/>
          </a:xfrm>
          <a:prstGeom prst="roundRect">
            <a:avLst>
              <a:gd name="adj" fmla="val 13333"/>
            </a:avLst>
          </a:prstGeom>
          <a:solidFill>
            <a:srgbClr val="D9F2F7"/>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ud100_flt31"/>
          <p:cNvSpPr txBox="1"/>
          <p:nvPr/>
        </p:nvSpPr>
        <p:spPr>
          <a:xfrm>
            <a:off x="4928616" y="1691640"/>
            <a:ext cx="1024128" cy="548640"/>
          </a:xfrm>
          <a:prstGeom prst="rect">
            <a:avLst/>
          </a:prstGeom>
          <a:noFill/>
        </p:spPr>
        <p:txBody>
          <a:bodyPr wrap="square" lIns="0" tIns="0" rIns="0" bIns="0" anchor="ctr">
            <a:spAutoFit/>
          </a:bodyPr>
          <a:lstStyle/>
          <a:p>
            <a:pPr algn="ctr"/>
            <a:r>
              <a:rPr sz="850" b="1">
                <a:solidFill>
                  <a:srgbClr val="0E7490"/>
                </a:solidFill>
                <a:latin typeface="Segoe UI"/>
              </a:rPr>
              <a:t>event happens</a:t>
            </a:r>
          </a:p>
        </p:txBody>
      </p:sp>
      <p:sp>
        <p:nvSpPr>
          <p:cNvPr id="33" name="a2ud220_fl32"/>
          <p:cNvSpPr/>
          <p:nvPr/>
        </p:nvSpPr>
        <p:spPr>
          <a:xfrm>
            <a:off x="6144768" y="1691640"/>
            <a:ext cx="1097280" cy="548640"/>
          </a:xfrm>
          <a:prstGeom prst="roundRect">
            <a:avLst>
              <a:gd name="adj" fmla="val 13333"/>
            </a:avLst>
          </a:prstGeom>
          <a:solidFill>
            <a:srgbClr val="D9F2F7"/>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2ud220_flt33"/>
          <p:cNvSpPr txBox="1"/>
          <p:nvPr/>
        </p:nvSpPr>
        <p:spPr>
          <a:xfrm>
            <a:off x="6181344" y="1691640"/>
            <a:ext cx="1024128" cy="548640"/>
          </a:xfrm>
          <a:prstGeom prst="rect">
            <a:avLst/>
          </a:prstGeom>
          <a:noFill/>
        </p:spPr>
        <p:txBody>
          <a:bodyPr wrap="square" lIns="0" tIns="0" rIns="0" bIns="0" anchor="ctr">
            <a:spAutoFit/>
          </a:bodyPr>
          <a:lstStyle/>
          <a:p>
            <a:pPr algn="ctr"/>
            <a:r>
              <a:rPr sz="850" b="1">
                <a:solidFill>
                  <a:srgbClr val="0E7490"/>
                </a:solidFill>
                <a:latin typeface="Segoe UI"/>
              </a:rPr>
              <a:t>flows as a stream</a:t>
            </a:r>
          </a:p>
        </p:txBody>
      </p:sp>
      <p:cxnSp>
        <p:nvCxnSpPr>
          <p:cNvPr id="35" name="a2ud220_ar34"/>
          <p:cNvCxnSpPr/>
          <p:nvPr/>
        </p:nvCxnSpPr>
        <p:spPr>
          <a:xfrm>
            <a:off x="5998464" y="1965960"/>
            <a:ext cx="128016" cy="0"/>
          </a:xfrm>
          <a:prstGeom prst="line">
            <a:avLst/>
          </a:prstGeom>
          <a:ln w="158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a2ud340_fl35"/>
          <p:cNvSpPr/>
          <p:nvPr/>
        </p:nvSpPr>
        <p:spPr>
          <a:xfrm>
            <a:off x="7397496" y="1691640"/>
            <a:ext cx="1097280" cy="548640"/>
          </a:xfrm>
          <a:prstGeom prst="roundRect">
            <a:avLst>
              <a:gd name="adj" fmla="val 13333"/>
            </a:avLst>
          </a:prstGeom>
          <a:solidFill>
            <a:srgbClr val="D9F2F7"/>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2ud340_flt36"/>
          <p:cNvSpPr txBox="1"/>
          <p:nvPr/>
        </p:nvSpPr>
        <p:spPr>
          <a:xfrm>
            <a:off x="7434071" y="1691640"/>
            <a:ext cx="1024128" cy="548640"/>
          </a:xfrm>
          <a:prstGeom prst="rect">
            <a:avLst/>
          </a:prstGeom>
          <a:noFill/>
        </p:spPr>
        <p:txBody>
          <a:bodyPr wrap="square" lIns="0" tIns="0" rIns="0" bIns="0" anchor="ctr">
            <a:spAutoFit/>
          </a:bodyPr>
          <a:lstStyle/>
          <a:p>
            <a:pPr algn="ctr"/>
            <a:r>
              <a:rPr sz="850" b="1">
                <a:solidFill>
                  <a:srgbClr val="0E7490"/>
                </a:solidFill>
                <a:latin typeface="Segoe UI"/>
              </a:rPr>
              <a:t>react right now</a:t>
            </a:r>
          </a:p>
        </p:txBody>
      </p:sp>
      <p:cxnSp>
        <p:nvCxnSpPr>
          <p:cNvPr id="38" name="a2ud340_ar37"/>
          <p:cNvCxnSpPr/>
          <p:nvPr/>
        </p:nvCxnSpPr>
        <p:spPr>
          <a:xfrm>
            <a:off x="7251192" y="1965960"/>
            <a:ext cx="128016" cy="0"/>
          </a:xfrm>
          <a:prstGeom prst="line">
            <a:avLst/>
          </a:prstGeom>
          <a:ln w="158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a2ud450_dot38"/>
          <p:cNvSpPr/>
          <p:nvPr/>
        </p:nvSpPr>
        <p:spPr>
          <a:xfrm>
            <a:off x="4864607" y="259232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2ud450_b39"/>
          <p:cNvSpPr txBox="1"/>
          <p:nvPr/>
        </p:nvSpPr>
        <p:spPr>
          <a:xfrm>
            <a:off x="5084064" y="2496312"/>
            <a:ext cx="3401568" cy="365760"/>
          </a:xfrm>
          <a:prstGeom prst="rect">
            <a:avLst/>
          </a:prstGeom>
          <a:noFill/>
        </p:spPr>
        <p:txBody>
          <a:bodyPr wrap="square" lIns="0" tIns="0" rIns="0" bIns="0" anchor="t">
            <a:spAutoFit/>
          </a:bodyPr>
          <a:lstStyle/>
          <a:p>
            <a:pPr algn="l"/>
            <a:r>
              <a:rPr sz="950" b="0">
                <a:solidFill>
                  <a:srgbClr val="44403C"/>
                </a:solidFill>
                <a:latin typeface="Segoe UI"/>
              </a:rPr>
              <a:t>React the moment something happens</a:t>
            </a:r>
          </a:p>
        </p:txBody>
      </p:sp>
      <p:sp>
        <p:nvSpPr>
          <p:cNvPr id="41" name="a2ud550_dot40"/>
          <p:cNvSpPr/>
          <p:nvPr/>
        </p:nvSpPr>
        <p:spPr>
          <a:xfrm>
            <a:off x="4864607" y="2994660"/>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2ud550_b41"/>
          <p:cNvSpPr txBox="1"/>
          <p:nvPr/>
        </p:nvSpPr>
        <p:spPr>
          <a:xfrm>
            <a:off x="5084064" y="2898648"/>
            <a:ext cx="3401568" cy="365760"/>
          </a:xfrm>
          <a:prstGeom prst="rect">
            <a:avLst/>
          </a:prstGeom>
          <a:noFill/>
        </p:spPr>
        <p:txBody>
          <a:bodyPr wrap="square" lIns="0" tIns="0" rIns="0" bIns="0" anchor="t">
            <a:spAutoFit/>
          </a:bodyPr>
          <a:lstStyle/>
          <a:p>
            <a:pPr algn="l"/>
            <a:r>
              <a:rPr sz="950" b="0">
                <a:solidFill>
                  <a:srgbClr val="44403C"/>
                </a:solidFill>
                <a:latin typeface="Segoe UI"/>
              </a:rPr>
              <a:t>Results update continuously</a:t>
            </a:r>
          </a:p>
        </p:txBody>
      </p:sp>
      <p:sp>
        <p:nvSpPr>
          <p:cNvPr id="43" name="a2ud650_dot42"/>
          <p:cNvSpPr/>
          <p:nvPr/>
        </p:nvSpPr>
        <p:spPr>
          <a:xfrm>
            <a:off x="4864607" y="3396996"/>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2ud650_b43"/>
          <p:cNvSpPr txBox="1"/>
          <p:nvPr/>
        </p:nvSpPr>
        <p:spPr>
          <a:xfrm>
            <a:off x="5084064" y="3300984"/>
            <a:ext cx="3401568" cy="365760"/>
          </a:xfrm>
          <a:prstGeom prst="rect">
            <a:avLst/>
          </a:prstGeom>
          <a:noFill/>
        </p:spPr>
        <p:txBody>
          <a:bodyPr wrap="square" lIns="0" tIns="0" rIns="0" bIns="0" anchor="t">
            <a:spAutoFit/>
          </a:bodyPr>
          <a:lstStyle/>
          <a:p>
            <a:pPr algn="l"/>
            <a:r>
              <a:rPr sz="950" b="0">
                <a:solidFill>
                  <a:srgbClr val="44403C"/>
                </a:solidFill>
                <a:latin typeface="Segoe UI"/>
              </a:rPr>
              <a:t>e.g. 'flag this card payment - now'</a:t>
            </a:r>
          </a:p>
        </p:txBody>
      </p:sp>
      <p:sp>
        <p:nvSpPr>
          <p:cNvPr id="45" name="a3u_nb44"/>
          <p:cNvSpPr/>
          <p:nvPr/>
        </p:nvSpPr>
        <p:spPr>
          <a:xfrm>
            <a:off x="457200" y="4279392"/>
            <a:ext cx="8229600" cy="411480"/>
          </a:xfrm>
          <a:prstGeom prst="roundRect">
            <a:avLst>
              <a:gd name="adj" fmla="val 17777"/>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3u_nacc45"/>
          <p:cNvSpPr/>
          <p:nvPr/>
        </p:nvSpPr>
        <p:spPr>
          <a:xfrm>
            <a:off x="457200" y="4279392"/>
            <a:ext cx="54864" cy="41148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3u_nt46"/>
          <p:cNvSpPr txBox="1"/>
          <p:nvPr/>
        </p:nvSpPr>
        <p:spPr>
          <a:xfrm>
            <a:off x="658368" y="4279392"/>
            <a:ext cx="7827264" cy="411480"/>
          </a:xfrm>
          <a:prstGeom prst="rect">
            <a:avLst/>
          </a:prstGeom>
          <a:noFill/>
        </p:spPr>
        <p:txBody>
          <a:bodyPr wrap="square" lIns="0" tIns="0" rIns="0" bIns="0" anchor="ctr">
            <a:spAutoFit/>
          </a:bodyPr>
          <a:lstStyle/>
          <a:p>
            <a:pPr algn="l"/>
            <a:r>
              <a:rPr sz="900" b="1">
                <a:solidFill>
                  <a:srgbClr val="C2410C"/>
                </a:solidFill>
                <a:latin typeface="Segoe UI"/>
              </a:rPr>
              <a:t>KEY  </a:t>
            </a:r>
            <a:r>
              <a:rPr sz="900" b="0">
                <a:solidFill>
                  <a:srgbClr val="44403C"/>
                </a:solidFill>
                <a:latin typeface="Segoe UI"/>
              </a:rPr>
              <a:t>Kafka is built for data in motion - and it also keeps the data, so it can be read again later.</a:t>
            </a:r>
          </a:p>
        </p:txBody>
      </p:sp>
      <p:sp>
        <p:nvSpPr>
          <p:cNvPr id="48" name="ft4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20</a:t>
            </a:r>
          </a:p>
        </p:txBody>
      </p:sp>
      <p:sp>
        <p:nvSpPr>
          <p:cNvPr id="49" name="ft4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ft4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51" name="ft5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22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22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2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34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34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34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45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45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55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55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65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par>
                                <p:cTn id="89" presetID="2" presetClass="entr" presetSubtype="4" fill="hold" grpId="0" nodeType="withEffect">
                                  <p:stCondLst>
                                    <p:cond delay="65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childTnLst>
                          </p:cTn>
                        </p:par>
                      </p:childTnLst>
                    </p:cTn>
                  </p:par>
                  <p:par>
                    <p:cTn id="90" fill="hold">
                      <p:stCondLst>
                        <p:cond delay="indefinite"/>
                      </p:stCondLst>
                      <p:childTnLst>
                        <p:par>
                          <p:cTn id="91" fill="hold">
                            <p:stCondLst>
                              <p:cond delay="0"/>
                            </p:stCondLst>
                            <p:childTnLst>
                              <p:par>
                                <p:cTn id="96" presetID="2" presetClass="entr" presetSubtype="4" fill="hold" grpId="0" nodeType="clickEffect">
                                  <p:stCondLst>
                                    <p:cond delay="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par>
                                <p:cTn id="111" presetID="2" presetClass="entr" presetSubtype="4" fill="hold" grpId="0" nodeType="withEffect">
                                  <p:stCondLst>
                                    <p:cond delay="10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par>
                                <p:cTn id="116" presetID="2" presetClass="entr" presetSubtype="4" fill="hold" grpId="0" nodeType="withEffect">
                                  <p:stCondLst>
                                    <p:cond delay="10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22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par>
                                <p:cTn id="126" presetID="2" presetClass="entr" presetSubtype="4" fill="hold" grpId="0" nodeType="withEffect">
                                  <p:stCondLst>
                                    <p:cond delay="22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par>
                                <p:cTn id="131" presetID="2" presetClass="entr" presetSubtype="4" fill="hold" grpId="0" nodeType="withEffect">
                                  <p:stCondLst>
                                    <p:cond delay="220"/>
                                  </p:stCondLst>
                                  <p:childTnLst>
                                    <p:set>
                                      <p:cBhvr>
                                        <p:cTn id="127" dur="1" fill="hold">
                                          <p:stCondLst>
                                            <p:cond delay="0"/>
                                          </p:stCondLst>
                                        </p:cTn>
                                        <p:tgtEl>
                                          <p:spTgt spid="35"/>
                                        </p:tgtEl>
                                        <p:attrNameLst>
                                          <p:attrName>style.visibility</p:attrName>
                                        </p:attrNameLst>
                                      </p:cBhvr>
                                      <p:to>
                                        <p:strVal val="visible"/>
                                      </p:to>
                                    </p:set>
                                    <p:anim calcmode="lin" valueType="num">
                                      <p:cBhvr additive="base">
                                        <p:cTn id="128" dur="500" fill="hold"/>
                                        <p:tgtEl>
                                          <p:spTgt spid="35"/>
                                        </p:tgtEl>
                                        <p:attrNameLst>
                                          <p:attrName>ppt_x</p:attrName>
                                        </p:attrNameLst>
                                      </p:cBhvr>
                                      <p:tavLst>
                                        <p:tav tm="0">
                                          <p:val>
                                            <p:strVal val="#ppt_x"/>
                                          </p:val>
                                        </p:tav>
                                        <p:tav tm="100000">
                                          <p:val>
                                            <p:strVal val="#ppt_x"/>
                                          </p:val>
                                        </p:tav>
                                      </p:tavLst>
                                    </p:anim>
                                    <p:anim calcmode="lin" valueType="num">
                                      <p:cBhvr additive="base">
                                        <p:cTn id="129" dur="500" fill="hold"/>
                                        <p:tgtEl>
                                          <p:spTgt spid="35"/>
                                        </p:tgtEl>
                                        <p:attrNameLst>
                                          <p:attrName>ppt_y</p:attrName>
                                        </p:attrNameLst>
                                      </p:cBhvr>
                                      <p:tavLst>
                                        <p:tav tm="0">
                                          <p:val>
                                            <p:strVal val="#ppt_y+0.1"/>
                                          </p:val>
                                        </p:tav>
                                        <p:tav tm="100000">
                                          <p:val>
                                            <p:strVal val="#ppt_y"/>
                                          </p:val>
                                        </p:tav>
                                      </p:tavLst>
                                    </p:anim>
                                    <p:animEffect transition="in" filter="fade">
                                      <p:cBhvr>
                                        <p:cTn id="130" dur="500"/>
                                        <p:tgtEl>
                                          <p:spTgt spid="35"/>
                                        </p:tgtEl>
                                      </p:cBhvr>
                                    </p:animEffect>
                                  </p:childTnLst>
                                </p:cTn>
                              </p:par>
                              <p:par>
                                <p:cTn id="136" presetID="2" presetClass="entr" presetSubtype="4" fill="hold" grpId="0" nodeType="withEffect">
                                  <p:stCondLst>
                                    <p:cond delay="340"/>
                                  </p:stCondLst>
                                  <p:childTnLst>
                                    <p:set>
                                      <p:cBhvr>
                                        <p:cTn id="132" dur="1" fill="hold">
                                          <p:stCondLst>
                                            <p:cond delay="0"/>
                                          </p:stCondLst>
                                        </p:cTn>
                                        <p:tgtEl>
                                          <p:spTgt spid="36"/>
                                        </p:tgtEl>
                                        <p:attrNameLst>
                                          <p:attrName>style.visibility</p:attrName>
                                        </p:attrNameLst>
                                      </p:cBhvr>
                                      <p:to>
                                        <p:strVal val="visible"/>
                                      </p:to>
                                    </p:set>
                                    <p:anim calcmode="lin" valueType="num">
                                      <p:cBhvr additive="base">
                                        <p:cTn id="133" dur="500" fill="hold"/>
                                        <p:tgtEl>
                                          <p:spTgt spid="36"/>
                                        </p:tgtEl>
                                        <p:attrNameLst>
                                          <p:attrName>ppt_x</p:attrName>
                                        </p:attrNameLst>
                                      </p:cBhvr>
                                      <p:tavLst>
                                        <p:tav tm="0">
                                          <p:val>
                                            <p:strVal val="#ppt_x"/>
                                          </p:val>
                                        </p:tav>
                                        <p:tav tm="100000">
                                          <p:val>
                                            <p:strVal val="#ppt_x"/>
                                          </p:val>
                                        </p:tav>
                                      </p:tavLst>
                                    </p:anim>
                                    <p:anim calcmode="lin" valueType="num">
                                      <p:cBhvr additive="base">
                                        <p:cTn id="134" dur="500" fill="hold"/>
                                        <p:tgtEl>
                                          <p:spTgt spid="36"/>
                                        </p:tgtEl>
                                        <p:attrNameLst>
                                          <p:attrName>ppt_y</p:attrName>
                                        </p:attrNameLst>
                                      </p:cBhvr>
                                      <p:tavLst>
                                        <p:tav tm="0">
                                          <p:val>
                                            <p:strVal val="#ppt_y+0.1"/>
                                          </p:val>
                                        </p:tav>
                                        <p:tav tm="100000">
                                          <p:val>
                                            <p:strVal val="#ppt_y"/>
                                          </p:val>
                                        </p:tav>
                                      </p:tavLst>
                                    </p:anim>
                                    <p:animEffect transition="in" filter="fade">
                                      <p:cBhvr>
                                        <p:cTn id="135" dur="500"/>
                                        <p:tgtEl>
                                          <p:spTgt spid="36"/>
                                        </p:tgtEl>
                                      </p:cBhvr>
                                    </p:animEffect>
                                  </p:childTnLst>
                                </p:cTn>
                              </p:par>
                              <p:par>
                                <p:cTn id="141" presetID="2" presetClass="entr" presetSubtype="4" fill="hold" grpId="0" nodeType="withEffect">
                                  <p:stCondLst>
                                    <p:cond delay="340"/>
                                  </p:stCondLst>
                                  <p:childTnLst>
                                    <p:set>
                                      <p:cBhvr>
                                        <p:cTn id="137" dur="1" fill="hold">
                                          <p:stCondLst>
                                            <p:cond delay="0"/>
                                          </p:stCondLst>
                                        </p:cTn>
                                        <p:tgtEl>
                                          <p:spTgt spid="37"/>
                                        </p:tgtEl>
                                        <p:attrNameLst>
                                          <p:attrName>style.visibility</p:attrName>
                                        </p:attrNameLst>
                                      </p:cBhvr>
                                      <p:to>
                                        <p:strVal val="visible"/>
                                      </p:to>
                                    </p:set>
                                    <p:anim calcmode="lin" valueType="num">
                                      <p:cBhvr additive="base">
                                        <p:cTn id="138" dur="500" fill="hold"/>
                                        <p:tgtEl>
                                          <p:spTgt spid="37"/>
                                        </p:tgtEl>
                                        <p:attrNameLst>
                                          <p:attrName>ppt_x</p:attrName>
                                        </p:attrNameLst>
                                      </p:cBhvr>
                                      <p:tavLst>
                                        <p:tav tm="0">
                                          <p:val>
                                            <p:strVal val="#ppt_x"/>
                                          </p:val>
                                        </p:tav>
                                        <p:tav tm="100000">
                                          <p:val>
                                            <p:strVal val="#ppt_x"/>
                                          </p:val>
                                        </p:tav>
                                      </p:tavLst>
                                    </p:anim>
                                    <p:anim calcmode="lin" valueType="num">
                                      <p:cBhvr additive="base">
                                        <p:cTn id="139" dur="500" fill="hold"/>
                                        <p:tgtEl>
                                          <p:spTgt spid="37"/>
                                        </p:tgtEl>
                                        <p:attrNameLst>
                                          <p:attrName>ppt_y</p:attrName>
                                        </p:attrNameLst>
                                      </p:cBhvr>
                                      <p:tavLst>
                                        <p:tav tm="0">
                                          <p:val>
                                            <p:strVal val="#ppt_y+0.1"/>
                                          </p:val>
                                        </p:tav>
                                        <p:tav tm="100000">
                                          <p:val>
                                            <p:strVal val="#ppt_y"/>
                                          </p:val>
                                        </p:tav>
                                      </p:tavLst>
                                    </p:anim>
                                    <p:animEffect transition="in" filter="fade">
                                      <p:cBhvr>
                                        <p:cTn id="140" dur="500"/>
                                        <p:tgtEl>
                                          <p:spTgt spid="37"/>
                                        </p:tgtEl>
                                      </p:cBhvr>
                                    </p:animEffect>
                                  </p:childTnLst>
                                </p:cTn>
                              </p:par>
                              <p:par>
                                <p:cTn id="146" presetID="2" presetClass="entr" presetSubtype="4" fill="hold" grpId="0" nodeType="withEffect">
                                  <p:stCondLst>
                                    <p:cond delay="340"/>
                                  </p:stCondLst>
                                  <p:childTnLst>
                                    <p:set>
                                      <p:cBhvr>
                                        <p:cTn id="142" dur="1" fill="hold">
                                          <p:stCondLst>
                                            <p:cond delay="0"/>
                                          </p:stCondLst>
                                        </p:cTn>
                                        <p:tgtEl>
                                          <p:spTgt spid="38"/>
                                        </p:tgtEl>
                                        <p:attrNameLst>
                                          <p:attrName>style.visibility</p:attrName>
                                        </p:attrNameLst>
                                      </p:cBhvr>
                                      <p:to>
                                        <p:strVal val="visible"/>
                                      </p:to>
                                    </p:set>
                                    <p:anim calcmode="lin" valueType="num">
                                      <p:cBhvr additive="base">
                                        <p:cTn id="143" dur="500" fill="hold"/>
                                        <p:tgtEl>
                                          <p:spTgt spid="38"/>
                                        </p:tgtEl>
                                        <p:attrNameLst>
                                          <p:attrName>ppt_x</p:attrName>
                                        </p:attrNameLst>
                                      </p:cBhvr>
                                      <p:tavLst>
                                        <p:tav tm="0">
                                          <p:val>
                                            <p:strVal val="#ppt_x"/>
                                          </p:val>
                                        </p:tav>
                                        <p:tav tm="100000">
                                          <p:val>
                                            <p:strVal val="#ppt_x"/>
                                          </p:val>
                                        </p:tav>
                                      </p:tavLst>
                                    </p:anim>
                                    <p:anim calcmode="lin" valueType="num">
                                      <p:cBhvr additive="base">
                                        <p:cTn id="144" dur="500" fill="hold"/>
                                        <p:tgtEl>
                                          <p:spTgt spid="38"/>
                                        </p:tgtEl>
                                        <p:attrNameLst>
                                          <p:attrName>ppt_y</p:attrName>
                                        </p:attrNameLst>
                                      </p:cBhvr>
                                      <p:tavLst>
                                        <p:tav tm="0">
                                          <p:val>
                                            <p:strVal val="#ppt_y+0.1"/>
                                          </p:val>
                                        </p:tav>
                                        <p:tav tm="100000">
                                          <p:val>
                                            <p:strVal val="#ppt_y"/>
                                          </p:val>
                                        </p:tav>
                                      </p:tavLst>
                                    </p:anim>
                                    <p:animEffect transition="in" filter="fade">
                                      <p:cBhvr>
                                        <p:cTn id="145" dur="500"/>
                                        <p:tgtEl>
                                          <p:spTgt spid="38"/>
                                        </p:tgtEl>
                                      </p:cBhvr>
                                    </p:animEffect>
                                  </p:childTnLst>
                                </p:cTn>
                              </p:par>
                              <p:par>
                                <p:cTn id="151" presetID="2" presetClass="entr" presetSubtype="4" fill="hold" grpId="0" nodeType="withEffect">
                                  <p:stCondLst>
                                    <p:cond delay="450"/>
                                  </p:stCondLst>
                                  <p:childTnLst>
                                    <p:set>
                                      <p:cBhvr>
                                        <p:cTn id="147" dur="1" fill="hold">
                                          <p:stCondLst>
                                            <p:cond delay="0"/>
                                          </p:stCondLst>
                                        </p:cTn>
                                        <p:tgtEl>
                                          <p:spTgt spid="39"/>
                                        </p:tgtEl>
                                        <p:attrNameLst>
                                          <p:attrName>style.visibility</p:attrName>
                                        </p:attrNameLst>
                                      </p:cBhvr>
                                      <p:to>
                                        <p:strVal val="visible"/>
                                      </p:to>
                                    </p:set>
                                    <p:anim calcmode="lin" valueType="num">
                                      <p:cBhvr additive="base">
                                        <p:cTn id="148" dur="500" fill="hold"/>
                                        <p:tgtEl>
                                          <p:spTgt spid="39"/>
                                        </p:tgtEl>
                                        <p:attrNameLst>
                                          <p:attrName>ppt_x</p:attrName>
                                        </p:attrNameLst>
                                      </p:cBhvr>
                                      <p:tavLst>
                                        <p:tav tm="0">
                                          <p:val>
                                            <p:strVal val="#ppt_x"/>
                                          </p:val>
                                        </p:tav>
                                        <p:tav tm="100000">
                                          <p:val>
                                            <p:strVal val="#ppt_x"/>
                                          </p:val>
                                        </p:tav>
                                      </p:tavLst>
                                    </p:anim>
                                    <p:anim calcmode="lin" valueType="num">
                                      <p:cBhvr additive="base">
                                        <p:cTn id="149" dur="500" fill="hold"/>
                                        <p:tgtEl>
                                          <p:spTgt spid="39"/>
                                        </p:tgtEl>
                                        <p:attrNameLst>
                                          <p:attrName>ppt_y</p:attrName>
                                        </p:attrNameLst>
                                      </p:cBhvr>
                                      <p:tavLst>
                                        <p:tav tm="0">
                                          <p:val>
                                            <p:strVal val="#ppt_y+0.1"/>
                                          </p:val>
                                        </p:tav>
                                        <p:tav tm="100000">
                                          <p:val>
                                            <p:strVal val="#ppt_y"/>
                                          </p:val>
                                        </p:tav>
                                      </p:tavLst>
                                    </p:anim>
                                    <p:animEffect transition="in" filter="fade">
                                      <p:cBhvr>
                                        <p:cTn id="150" dur="500"/>
                                        <p:tgtEl>
                                          <p:spTgt spid="39"/>
                                        </p:tgtEl>
                                      </p:cBhvr>
                                    </p:animEffect>
                                  </p:childTnLst>
                                </p:cTn>
                              </p:par>
                              <p:par>
                                <p:cTn id="156" presetID="2" presetClass="entr" presetSubtype="4" fill="hold" grpId="0" nodeType="withEffect">
                                  <p:stCondLst>
                                    <p:cond delay="450"/>
                                  </p:stCondLst>
                                  <p:childTnLst>
                                    <p:set>
                                      <p:cBhvr>
                                        <p:cTn id="152" dur="1" fill="hold">
                                          <p:stCondLst>
                                            <p:cond delay="0"/>
                                          </p:stCondLst>
                                        </p:cTn>
                                        <p:tgtEl>
                                          <p:spTgt spid="40"/>
                                        </p:tgtEl>
                                        <p:attrNameLst>
                                          <p:attrName>style.visibility</p:attrName>
                                        </p:attrNameLst>
                                      </p:cBhvr>
                                      <p:to>
                                        <p:strVal val="visible"/>
                                      </p:to>
                                    </p:set>
                                    <p:anim calcmode="lin" valueType="num">
                                      <p:cBhvr additive="base">
                                        <p:cTn id="153" dur="500" fill="hold"/>
                                        <p:tgtEl>
                                          <p:spTgt spid="40"/>
                                        </p:tgtEl>
                                        <p:attrNameLst>
                                          <p:attrName>ppt_x</p:attrName>
                                        </p:attrNameLst>
                                      </p:cBhvr>
                                      <p:tavLst>
                                        <p:tav tm="0">
                                          <p:val>
                                            <p:strVal val="#ppt_x"/>
                                          </p:val>
                                        </p:tav>
                                        <p:tav tm="100000">
                                          <p:val>
                                            <p:strVal val="#ppt_x"/>
                                          </p:val>
                                        </p:tav>
                                      </p:tavLst>
                                    </p:anim>
                                    <p:anim calcmode="lin" valueType="num">
                                      <p:cBhvr additive="base">
                                        <p:cTn id="154" dur="500" fill="hold"/>
                                        <p:tgtEl>
                                          <p:spTgt spid="40"/>
                                        </p:tgtEl>
                                        <p:attrNameLst>
                                          <p:attrName>ppt_y</p:attrName>
                                        </p:attrNameLst>
                                      </p:cBhvr>
                                      <p:tavLst>
                                        <p:tav tm="0">
                                          <p:val>
                                            <p:strVal val="#ppt_y+0.1"/>
                                          </p:val>
                                        </p:tav>
                                        <p:tav tm="100000">
                                          <p:val>
                                            <p:strVal val="#ppt_y"/>
                                          </p:val>
                                        </p:tav>
                                      </p:tavLst>
                                    </p:anim>
                                    <p:animEffect transition="in" filter="fade">
                                      <p:cBhvr>
                                        <p:cTn id="155" dur="500"/>
                                        <p:tgtEl>
                                          <p:spTgt spid="40"/>
                                        </p:tgtEl>
                                      </p:cBhvr>
                                    </p:animEffect>
                                  </p:childTnLst>
                                </p:cTn>
                              </p:par>
                              <p:par>
                                <p:cTn id="161" presetID="2" presetClass="entr" presetSubtype="4" fill="hold" grpId="0" nodeType="withEffect">
                                  <p:stCondLst>
                                    <p:cond delay="550"/>
                                  </p:stCondLst>
                                  <p:childTnLst>
                                    <p:set>
                                      <p:cBhvr>
                                        <p:cTn id="157" dur="1" fill="hold">
                                          <p:stCondLst>
                                            <p:cond delay="0"/>
                                          </p:stCondLst>
                                        </p:cTn>
                                        <p:tgtEl>
                                          <p:spTgt spid="41"/>
                                        </p:tgtEl>
                                        <p:attrNameLst>
                                          <p:attrName>style.visibility</p:attrName>
                                        </p:attrNameLst>
                                      </p:cBhvr>
                                      <p:to>
                                        <p:strVal val="visible"/>
                                      </p:to>
                                    </p:set>
                                    <p:anim calcmode="lin" valueType="num">
                                      <p:cBhvr additive="base">
                                        <p:cTn id="158" dur="500" fill="hold"/>
                                        <p:tgtEl>
                                          <p:spTgt spid="41"/>
                                        </p:tgtEl>
                                        <p:attrNameLst>
                                          <p:attrName>ppt_x</p:attrName>
                                        </p:attrNameLst>
                                      </p:cBhvr>
                                      <p:tavLst>
                                        <p:tav tm="0">
                                          <p:val>
                                            <p:strVal val="#ppt_x"/>
                                          </p:val>
                                        </p:tav>
                                        <p:tav tm="100000">
                                          <p:val>
                                            <p:strVal val="#ppt_x"/>
                                          </p:val>
                                        </p:tav>
                                      </p:tavLst>
                                    </p:anim>
                                    <p:anim calcmode="lin" valueType="num">
                                      <p:cBhvr additive="base">
                                        <p:cTn id="159" dur="500" fill="hold"/>
                                        <p:tgtEl>
                                          <p:spTgt spid="41"/>
                                        </p:tgtEl>
                                        <p:attrNameLst>
                                          <p:attrName>ppt_y</p:attrName>
                                        </p:attrNameLst>
                                      </p:cBhvr>
                                      <p:tavLst>
                                        <p:tav tm="0">
                                          <p:val>
                                            <p:strVal val="#ppt_y+0.1"/>
                                          </p:val>
                                        </p:tav>
                                        <p:tav tm="100000">
                                          <p:val>
                                            <p:strVal val="#ppt_y"/>
                                          </p:val>
                                        </p:tav>
                                      </p:tavLst>
                                    </p:anim>
                                    <p:animEffect transition="in" filter="fade">
                                      <p:cBhvr>
                                        <p:cTn id="160" dur="500"/>
                                        <p:tgtEl>
                                          <p:spTgt spid="41"/>
                                        </p:tgtEl>
                                      </p:cBhvr>
                                    </p:animEffect>
                                  </p:childTnLst>
                                </p:cTn>
                              </p:par>
                              <p:par>
                                <p:cTn id="166" presetID="2" presetClass="entr" presetSubtype="4" fill="hold" grpId="0" nodeType="withEffect">
                                  <p:stCondLst>
                                    <p:cond delay="550"/>
                                  </p:stCondLst>
                                  <p:childTnLst>
                                    <p:set>
                                      <p:cBhvr>
                                        <p:cTn id="162" dur="1" fill="hold">
                                          <p:stCondLst>
                                            <p:cond delay="0"/>
                                          </p:stCondLst>
                                        </p:cTn>
                                        <p:tgtEl>
                                          <p:spTgt spid="42"/>
                                        </p:tgtEl>
                                        <p:attrNameLst>
                                          <p:attrName>style.visibility</p:attrName>
                                        </p:attrNameLst>
                                      </p:cBhvr>
                                      <p:to>
                                        <p:strVal val="visible"/>
                                      </p:to>
                                    </p:set>
                                    <p:anim calcmode="lin" valueType="num">
                                      <p:cBhvr additive="base">
                                        <p:cTn id="163" dur="500" fill="hold"/>
                                        <p:tgtEl>
                                          <p:spTgt spid="42"/>
                                        </p:tgtEl>
                                        <p:attrNameLst>
                                          <p:attrName>ppt_x</p:attrName>
                                        </p:attrNameLst>
                                      </p:cBhvr>
                                      <p:tavLst>
                                        <p:tav tm="0">
                                          <p:val>
                                            <p:strVal val="#ppt_x"/>
                                          </p:val>
                                        </p:tav>
                                        <p:tav tm="100000">
                                          <p:val>
                                            <p:strVal val="#ppt_x"/>
                                          </p:val>
                                        </p:tav>
                                      </p:tavLst>
                                    </p:anim>
                                    <p:anim calcmode="lin" valueType="num">
                                      <p:cBhvr additive="base">
                                        <p:cTn id="164" dur="500" fill="hold"/>
                                        <p:tgtEl>
                                          <p:spTgt spid="42"/>
                                        </p:tgtEl>
                                        <p:attrNameLst>
                                          <p:attrName>ppt_y</p:attrName>
                                        </p:attrNameLst>
                                      </p:cBhvr>
                                      <p:tavLst>
                                        <p:tav tm="0">
                                          <p:val>
                                            <p:strVal val="#ppt_y+0.1"/>
                                          </p:val>
                                        </p:tav>
                                        <p:tav tm="100000">
                                          <p:val>
                                            <p:strVal val="#ppt_y"/>
                                          </p:val>
                                        </p:tav>
                                      </p:tavLst>
                                    </p:anim>
                                    <p:animEffect transition="in" filter="fade">
                                      <p:cBhvr>
                                        <p:cTn id="165" dur="500"/>
                                        <p:tgtEl>
                                          <p:spTgt spid="42"/>
                                        </p:tgtEl>
                                      </p:cBhvr>
                                    </p:animEffect>
                                  </p:childTnLst>
                                </p:cTn>
                              </p:par>
                              <p:par>
                                <p:cTn id="171" presetID="2" presetClass="entr" presetSubtype="4" fill="hold" grpId="0" nodeType="withEffect">
                                  <p:stCondLst>
                                    <p:cond delay="650"/>
                                  </p:stCondLst>
                                  <p:childTnLst>
                                    <p:set>
                                      <p:cBhvr>
                                        <p:cTn id="167" dur="1" fill="hold">
                                          <p:stCondLst>
                                            <p:cond delay="0"/>
                                          </p:stCondLst>
                                        </p:cTn>
                                        <p:tgtEl>
                                          <p:spTgt spid="43"/>
                                        </p:tgtEl>
                                        <p:attrNameLst>
                                          <p:attrName>style.visibility</p:attrName>
                                        </p:attrNameLst>
                                      </p:cBhvr>
                                      <p:to>
                                        <p:strVal val="visible"/>
                                      </p:to>
                                    </p:set>
                                    <p:anim calcmode="lin" valueType="num">
                                      <p:cBhvr additive="base">
                                        <p:cTn id="168" dur="500" fill="hold"/>
                                        <p:tgtEl>
                                          <p:spTgt spid="43"/>
                                        </p:tgtEl>
                                        <p:attrNameLst>
                                          <p:attrName>ppt_x</p:attrName>
                                        </p:attrNameLst>
                                      </p:cBhvr>
                                      <p:tavLst>
                                        <p:tav tm="0">
                                          <p:val>
                                            <p:strVal val="#ppt_x"/>
                                          </p:val>
                                        </p:tav>
                                        <p:tav tm="100000">
                                          <p:val>
                                            <p:strVal val="#ppt_x"/>
                                          </p:val>
                                        </p:tav>
                                      </p:tavLst>
                                    </p:anim>
                                    <p:anim calcmode="lin" valueType="num">
                                      <p:cBhvr additive="base">
                                        <p:cTn id="169" dur="500" fill="hold"/>
                                        <p:tgtEl>
                                          <p:spTgt spid="43"/>
                                        </p:tgtEl>
                                        <p:attrNameLst>
                                          <p:attrName>ppt_y</p:attrName>
                                        </p:attrNameLst>
                                      </p:cBhvr>
                                      <p:tavLst>
                                        <p:tav tm="0">
                                          <p:val>
                                            <p:strVal val="#ppt_y+0.1"/>
                                          </p:val>
                                        </p:tav>
                                        <p:tav tm="100000">
                                          <p:val>
                                            <p:strVal val="#ppt_y"/>
                                          </p:val>
                                        </p:tav>
                                      </p:tavLst>
                                    </p:anim>
                                    <p:animEffect transition="in" filter="fade">
                                      <p:cBhvr>
                                        <p:cTn id="170" dur="500"/>
                                        <p:tgtEl>
                                          <p:spTgt spid="43"/>
                                        </p:tgtEl>
                                      </p:cBhvr>
                                    </p:animEffect>
                                  </p:childTnLst>
                                </p:cTn>
                              </p:par>
                              <p:par>
                                <p:cTn id="176" presetID="2" presetClass="entr" presetSubtype="4" fill="hold" grpId="0" nodeType="withEffect">
                                  <p:stCondLst>
                                    <p:cond delay="650"/>
                                  </p:stCondLst>
                                  <p:childTnLst>
                                    <p:set>
                                      <p:cBhvr>
                                        <p:cTn id="172" dur="1" fill="hold">
                                          <p:stCondLst>
                                            <p:cond delay="0"/>
                                          </p:stCondLst>
                                        </p:cTn>
                                        <p:tgtEl>
                                          <p:spTgt spid="44"/>
                                        </p:tgtEl>
                                        <p:attrNameLst>
                                          <p:attrName>style.visibility</p:attrName>
                                        </p:attrNameLst>
                                      </p:cBhvr>
                                      <p:to>
                                        <p:strVal val="visible"/>
                                      </p:to>
                                    </p:set>
                                    <p:anim calcmode="lin" valueType="num">
                                      <p:cBhvr additive="base">
                                        <p:cTn id="173" dur="500" fill="hold"/>
                                        <p:tgtEl>
                                          <p:spTgt spid="44"/>
                                        </p:tgtEl>
                                        <p:attrNameLst>
                                          <p:attrName>ppt_x</p:attrName>
                                        </p:attrNameLst>
                                      </p:cBhvr>
                                      <p:tavLst>
                                        <p:tav tm="0">
                                          <p:val>
                                            <p:strVal val="#ppt_x"/>
                                          </p:val>
                                        </p:tav>
                                        <p:tav tm="100000">
                                          <p:val>
                                            <p:strVal val="#ppt_x"/>
                                          </p:val>
                                        </p:tav>
                                      </p:tavLst>
                                    </p:anim>
                                    <p:anim calcmode="lin" valueType="num">
                                      <p:cBhvr additive="base">
                                        <p:cTn id="174" dur="500" fill="hold"/>
                                        <p:tgtEl>
                                          <p:spTgt spid="44"/>
                                        </p:tgtEl>
                                        <p:attrNameLst>
                                          <p:attrName>ppt_y</p:attrName>
                                        </p:attrNameLst>
                                      </p:cBhvr>
                                      <p:tavLst>
                                        <p:tav tm="0">
                                          <p:val>
                                            <p:strVal val="#ppt_y+0.1"/>
                                          </p:val>
                                        </p:tav>
                                        <p:tav tm="100000">
                                          <p:val>
                                            <p:strVal val="#ppt_y"/>
                                          </p:val>
                                        </p:tav>
                                      </p:tavLst>
                                    </p:anim>
                                    <p:animEffect transition="in" filter="fade">
                                      <p:cBhvr>
                                        <p:cTn id="175" dur="500"/>
                                        <p:tgtEl>
                                          <p:spTgt spid="44"/>
                                        </p:tgtEl>
                                      </p:cBhvr>
                                    </p:animEffect>
                                  </p:childTnLst>
                                </p:cTn>
                              </p:par>
                            </p:childTnLst>
                          </p:cTn>
                        </p:par>
                      </p:childTnLst>
                    </p:cTn>
                  </p:par>
                  <p:par>
                    <p:cTn id="177" fill="hold">
                      <p:stCondLst>
                        <p:cond delay="indefinite"/>
                      </p:stCondLst>
                      <p:childTnLst>
                        <p:par>
                          <p:cTn id="178" fill="hold">
                            <p:stCondLst>
                              <p:cond delay="0"/>
                            </p:stCondLst>
                            <p:childTnLst>
                              <p:par>
                                <p:cTn id="183" presetID="2" presetClass="entr" presetSubtype="4" fill="hold" grpId="0" nodeType="clickEffect">
                                  <p:stCondLst>
                                    <p:cond delay="0"/>
                                  </p:stCondLst>
                                  <p:childTnLst>
                                    <p:set>
                                      <p:cBhvr>
                                        <p:cTn id="179" dur="1" fill="hold">
                                          <p:stCondLst>
                                            <p:cond delay="0"/>
                                          </p:stCondLst>
                                        </p:cTn>
                                        <p:tgtEl>
                                          <p:spTgt spid="45"/>
                                        </p:tgtEl>
                                        <p:attrNameLst>
                                          <p:attrName>style.visibility</p:attrName>
                                        </p:attrNameLst>
                                      </p:cBhvr>
                                      <p:to>
                                        <p:strVal val="visible"/>
                                      </p:to>
                                    </p:set>
                                    <p:anim calcmode="lin" valueType="num">
                                      <p:cBhvr additive="base">
                                        <p:cTn id="180" dur="500" fill="hold"/>
                                        <p:tgtEl>
                                          <p:spTgt spid="45"/>
                                        </p:tgtEl>
                                        <p:attrNameLst>
                                          <p:attrName>ppt_x</p:attrName>
                                        </p:attrNameLst>
                                      </p:cBhvr>
                                      <p:tavLst>
                                        <p:tav tm="0">
                                          <p:val>
                                            <p:strVal val="#ppt_x"/>
                                          </p:val>
                                        </p:tav>
                                        <p:tav tm="100000">
                                          <p:val>
                                            <p:strVal val="#ppt_x"/>
                                          </p:val>
                                        </p:tav>
                                      </p:tavLst>
                                    </p:anim>
                                    <p:anim calcmode="lin" valueType="num">
                                      <p:cBhvr additive="base">
                                        <p:cTn id="181" dur="500" fill="hold"/>
                                        <p:tgtEl>
                                          <p:spTgt spid="45"/>
                                        </p:tgtEl>
                                        <p:attrNameLst>
                                          <p:attrName>ppt_y</p:attrName>
                                        </p:attrNameLst>
                                      </p:cBhvr>
                                      <p:tavLst>
                                        <p:tav tm="0">
                                          <p:val>
                                            <p:strVal val="#ppt_y+0.1"/>
                                          </p:val>
                                        </p:tav>
                                        <p:tav tm="100000">
                                          <p:val>
                                            <p:strVal val="#ppt_y"/>
                                          </p:val>
                                        </p:tav>
                                      </p:tavLst>
                                    </p:anim>
                                    <p:animEffect transition="in" filter="fade">
                                      <p:cBhvr>
                                        <p:cTn id="182" dur="500"/>
                                        <p:tgtEl>
                                          <p:spTgt spid="45"/>
                                        </p:tgtEl>
                                      </p:cBhvr>
                                    </p:animEffect>
                                  </p:childTnLst>
                                </p:cTn>
                              </p:par>
                              <p:par>
                                <p:cTn id="188" presetID="2" presetClass="entr" presetSubtype="4" fill="hold" grpId="0" nodeType="withEffect">
                                  <p:stCondLst>
                                    <p:cond delay="0"/>
                                  </p:stCondLst>
                                  <p:childTnLst>
                                    <p:set>
                                      <p:cBhvr>
                                        <p:cTn id="184" dur="1" fill="hold">
                                          <p:stCondLst>
                                            <p:cond delay="0"/>
                                          </p:stCondLst>
                                        </p:cTn>
                                        <p:tgtEl>
                                          <p:spTgt spid="46"/>
                                        </p:tgtEl>
                                        <p:attrNameLst>
                                          <p:attrName>style.visibility</p:attrName>
                                        </p:attrNameLst>
                                      </p:cBhvr>
                                      <p:to>
                                        <p:strVal val="visible"/>
                                      </p:to>
                                    </p:set>
                                    <p:anim calcmode="lin" valueType="num">
                                      <p:cBhvr additive="base">
                                        <p:cTn id="185" dur="500" fill="hold"/>
                                        <p:tgtEl>
                                          <p:spTgt spid="46"/>
                                        </p:tgtEl>
                                        <p:attrNameLst>
                                          <p:attrName>ppt_x</p:attrName>
                                        </p:attrNameLst>
                                      </p:cBhvr>
                                      <p:tavLst>
                                        <p:tav tm="0">
                                          <p:val>
                                            <p:strVal val="#ppt_x"/>
                                          </p:val>
                                        </p:tav>
                                        <p:tav tm="100000">
                                          <p:val>
                                            <p:strVal val="#ppt_x"/>
                                          </p:val>
                                        </p:tav>
                                      </p:tavLst>
                                    </p:anim>
                                    <p:anim calcmode="lin" valueType="num">
                                      <p:cBhvr additive="base">
                                        <p:cTn id="186" dur="500" fill="hold"/>
                                        <p:tgtEl>
                                          <p:spTgt spid="46"/>
                                        </p:tgtEl>
                                        <p:attrNameLst>
                                          <p:attrName>ppt_y</p:attrName>
                                        </p:attrNameLst>
                                      </p:cBhvr>
                                      <p:tavLst>
                                        <p:tav tm="0">
                                          <p:val>
                                            <p:strVal val="#ppt_y+0.1"/>
                                          </p:val>
                                        </p:tav>
                                        <p:tav tm="100000">
                                          <p:val>
                                            <p:strVal val="#ppt_y"/>
                                          </p:val>
                                        </p:tav>
                                      </p:tavLst>
                                    </p:anim>
                                    <p:animEffect transition="in" filter="fade">
                                      <p:cBhvr>
                                        <p:cTn id="187" dur="500"/>
                                        <p:tgtEl>
                                          <p:spTgt spid="46"/>
                                        </p:tgtEl>
                                      </p:cBhvr>
                                    </p:animEffect>
                                  </p:childTnLst>
                                </p:cTn>
                              </p:par>
                              <p:par>
                                <p:cTn id="193" presetID="2" presetClass="entr" presetSubtype="4" fill="hold" grpId="0" nodeType="withEffect">
                                  <p:stCondLst>
                                    <p:cond delay="0"/>
                                  </p:stCondLst>
                                  <p:childTnLst>
                                    <p:set>
                                      <p:cBhvr>
                                        <p:cTn id="189" dur="1" fill="hold">
                                          <p:stCondLst>
                                            <p:cond delay="0"/>
                                          </p:stCondLst>
                                        </p:cTn>
                                        <p:tgtEl>
                                          <p:spTgt spid="47"/>
                                        </p:tgtEl>
                                        <p:attrNameLst>
                                          <p:attrName>style.visibility</p:attrName>
                                        </p:attrNameLst>
                                      </p:cBhvr>
                                      <p:to>
                                        <p:strVal val="visible"/>
                                      </p:to>
                                    </p:set>
                                    <p:anim calcmode="lin" valueType="num">
                                      <p:cBhvr additive="base">
                                        <p:cTn id="190" dur="500" fill="hold"/>
                                        <p:tgtEl>
                                          <p:spTgt spid="47"/>
                                        </p:tgtEl>
                                        <p:attrNameLst>
                                          <p:attrName>ppt_x</p:attrName>
                                        </p:attrNameLst>
                                      </p:cBhvr>
                                      <p:tavLst>
                                        <p:tav tm="0">
                                          <p:val>
                                            <p:strVal val="#ppt_x"/>
                                          </p:val>
                                        </p:tav>
                                        <p:tav tm="100000">
                                          <p:val>
                                            <p:strVal val="#ppt_x"/>
                                          </p:val>
                                        </p:tav>
                                      </p:tavLst>
                                    </p:anim>
                                    <p:anim calcmode="lin" valueType="num">
                                      <p:cBhvr additive="base">
                                        <p:cTn id="191" dur="500" fill="hold"/>
                                        <p:tgtEl>
                                          <p:spTgt spid="47"/>
                                        </p:tgtEl>
                                        <p:attrNameLst>
                                          <p:attrName>ppt_y</p:attrName>
                                        </p:attrNameLst>
                                      </p:cBhvr>
                                      <p:tavLst>
                                        <p:tav tm="0">
                                          <p:val>
                                            <p:strVal val="#ppt_y+0.1"/>
                                          </p:val>
                                        </p:tav>
                                        <p:tav tm="100000">
                                          <p:val>
                                            <p:strVal val="#ppt_y"/>
                                          </p:val>
                                        </p:tav>
                                      </p:tavLst>
                                    </p:anim>
                                    <p:animEffect transition="in" filter="fade">
                                      <p:cBhvr>
                                        <p:cTn id="19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k8"/>
          <p:cNvSpPr/>
          <p:nvPr/>
        </p:nvSpPr>
        <p:spPr>
          <a:xfrm>
            <a:off x="457200" y="155448"/>
            <a:ext cx="2143125" cy="22860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spc="60">
                <a:solidFill>
                  <a:srgbClr val="C2410C"/>
                </a:solidFill>
                <a:latin typeface="Segoe UI"/>
              </a:rPr>
              <a:t>BEFORE KAFKA  ·  STEP 1</a:t>
            </a:r>
          </a:p>
        </p:txBody>
      </p:sp>
      <p:sp>
        <p:nvSpPr>
          <p:cNvPr id="10" name="h9"/>
          <p:cNvSpPr txBox="1"/>
          <p:nvPr/>
        </p:nvSpPr>
        <p:spPr>
          <a:xfrm>
            <a:off x="457200" y="420624"/>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Start Simple: A Direct Connection</a:t>
            </a:r>
          </a:p>
        </p:txBody>
      </p:sp>
      <p:sp>
        <p:nvSpPr>
          <p:cNvPr id="11" name="sub10"/>
          <p:cNvSpPr txBox="1"/>
          <p:nvPr/>
        </p:nvSpPr>
        <p:spPr>
          <a:xfrm>
            <a:off x="457200" y="932688"/>
            <a:ext cx="8229600" cy="292608"/>
          </a:xfrm>
          <a:prstGeom prst="rect">
            <a:avLst/>
          </a:prstGeom>
          <a:noFill/>
        </p:spPr>
        <p:txBody>
          <a:bodyPr wrap="square" lIns="0" tIns="0" rIns="0" bIns="0" anchor="ctr">
            <a:spAutoFit/>
          </a:bodyPr>
          <a:lstStyle/>
          <a:p>
            <a:pPr algn="l"/>
            <a:r>
              <a:rPr sz="1150" b="0">
                <a:solidFill>
                  <a:srgbClr val="78716C"/>
                </a:solidFill>
                <a:latin typeface="Segoe UI"/>
              </a:rPr>
              <a:t>An application needs to send its monitoring information somewhere</a:t>
            </a:r>
          </a:p>
        </p:txBody>
      </p:sp>
      <p:sp>
        <p:nvSpPr>
          <p:cNvPr id="12" name="a1u_nd11"/>
          <p:cNvSpPr/>
          <p:nvPr/>
        </p:nvSpPr>
        <p:spPr>
          <a:xfrm>
            <a:off x="640080" y="1508760"/>
            <a:ext cx="1783080" cy="640080"/>
          </a:xfrm>
          <a:prstGeom prst="roundRect">
            <a:avLst>
              <a:gd name="adj" fmla="val 11428"/>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ndt12"/>
          <p:cNvSpPr txBox="1"/>
          <p:nvPr/>
        </p:nvSpPr>
        <p:spPr>
          <a:xfrm>
            <a:off x="685800" y="1508760"/>
            <a:ext cx="1691639" cy="640080"/>
          </a:xfrm>
          <a:prstGeom prst="rect">
            <a:avLst/>
          </a:prstGeom>
          <a:noFill/>
        </p:spPr>
        <p:txBody>
          <a:bodyPr wrap="square" lIns="0" tIns="0" rIns="0" bIns="0" anchor="ctr">
            <a:spAutoFit/>
          </a:bodyPr>
          <a:lstStyle/>
          <a:p>
            <a:pPr algn="ctr"/>
            <a:r>
              <a:rPr sz="1000" b="1">
                <a:solidFill>
                  <a:srgbClr val="1C1917"/>
                </a:solidFill>
                <a:latin typeface="Segoe UI"/>
              </a:rPr>
              <a:t>Frontend server</a:t>
            </a:r>
          </a:p>
        </p:txBody>
      </p:sp>
      <p:sp>
        <p:nvSpPr>
          <p:cNvPr id="14" name="a1ud100_nd13"/>
          <p:cNvSpPr/>
          <p:nvPr/>
        </p:nvSpPr>
        <p:spPr>
          <a:xfrm>
            <a:off x="2926080" y="1508760"/>
            <a:ext cx="1783080" cy="640080"/>
          </a:xfrm>
          <a:prstGeom prst="roundRect">
            <a:avLst>
              <a:gd name="adj" fmla="val 11428"/>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100_ndt14"/>
          <p:cNvSpPr txBox="1"/>
          <p:nvPr/>
        </p:nvSpPr>
        <p:spPr>
          <a:xfrm>
            <a:off x="2971800" y="1508760"/>
            <a:ext cx="1691639" cy="640080"/>
          </a:xfrm>
          <a:prstGeom prst="rect">
            <a:avLst/>
          </a:prstGeom>
          <a:noFill/>
        </p:spPr>
        <p:txBody>
          <a:bodyPr wrap="square" lIns="0" tIns="0" rIns="0" bIns="0" anchor="ctr">
            <a:spAutoFit/>
          </a:bodyPr>
          <a:lstStyle/>
          <a:p>
            <a:pPr algn="ctr"/>
            <a:r>
              <a:rPr sz="1000" b="1">
                <a:solidFill>
                  <a:srgbClr val="1C1917"/>
                </a:solidFill>
                <a:latin typeface="Segoe UI"/>
              </a:rPr>
              <a:t>Backend server</a:t>
            </a:r>
          </a:p>
        </p:txBody>
      </p:sp>
      <p:sp>
        <p:nvSpPr>
          <p:cNvPr id="16" name="a1ud200_nd15"/>
          <p:cNvSpPr/>
          <p:nvPr/>
        </p:nvSpPr>
        <p:spPr>
          <a:xfrm>
            <a:off x="1783080" y="2880360"/>
            <a:ext cx="1783080" cy="731520"/>
          </a:xfrm>
          <a:prstGeom prst="roundRect">
            <a:avLst>
              <a:gd name="adj" fmla="val 10000"/>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200_ndt16"/>
          <p:cNvSpPr txBox="1"/>
          <p:nvPr/>
        </p:nvSpPr>
        <p:spPr>
          <a:xfrm>
            <a:off x="1828800" y="2916936"/>
            <a:ext cx="1691639" cy="347472"/>
          </a:xfrm>
          <a:prstGeom prst="rect">
            <a:avLst/>
          </a:prstGeom>
          <a:noFill/>
        </p:spPr>
        <p:txBody>
          <a:bodyPr wrap="square" lIns="0" tIns="0" rIns="0" bIns="0" anchor="b">
            <a:spAutoFit/>
          </a:bodyPr>
          <a:lstStyle/>
          <a:p>
            <a:pPr algn="ctr"/>
            <a:r>
              <a:rPr sz="1000" b="1">
                <a:solidFill>
                  <a:srgbClr val="1C1917"/>
                </a:solidFill>
                <a:latin typeface="Segoe UI"/>
              </a:rPr>
              <a:t>Metrics server</a:t>
            </a:r>
          </a:p>
        </p:txBody>
      </p:sp>
      <p:sp>
        <p:nvSpPr>
          <p:cNvPr id="18" name="a1ud200_nds17"/>
          <p:cNvSpPr txBox="1"/>
          <p:nvPr/>
        </p:nvSpPr>
        <p:spPr>
          <a:xfrm>
            <a:off x="1828800" y="3273551"/>
            <a:ext cx="1691639" cy="301752"/>
          </a:xfrm>
          <a:prstGeom prst="rect">
            <a:avLst/>
          </a:prstGeom>
          <a:noFill/>
        </p:spPr>
        <p:txBody>
          <a:bodyPr wrap="square" lIns="0" tIns="0" rIns="0" bIns="0" anchor="t">
            <a:spAutoFit/>
          </a:bodyPr>
          <a:lstStyle/>
          <a:p>
            <a:pPr algn="ctr"/>
            <a:r>
              <a:rPr sz="800" b="0">
                <a:solidFill>
                  <a:srgbClr val="0E7490"/>
                </a:solidFill>
                <a:latin typeface="Segoe UI"/>
              </a:rPr>
              <a:t>dashboard</a:t>
            </a:r>
          </a:p>
        </p:txBody>
      </p:sp>
      <p:cxnSp>
        <p:nvCxnSpPr>
          <p:cNvPr id="19" name="a2f_ar18"/>
          <p:cNvCxnSpPr/>
          <p:nvPr/>
        </p:nvCxnSpPr>
        <p:spPr>
          <a:xfrm>
            <a:off x="1527048" y="2176272"/>
            <a:ext cx="850392" cy="676656"/>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a2fd100_ar19"/>
          <p:cNvCxnSpPr/>
          <p:nvPr/>
        </p:nvCxnSpPr>
        <p:spPr>
          <a:xfrm flipH="1">
            <a:off x="2971800" y="2176272"/>
            <a:ext cx="850391" cy="676656"/>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a2f_lb20"/>
          <p:cNvSpPr txBox="1"/>
          <p:nvPr/>
        </p:nvSpPr>
        <p:spPr>
          <a:xfrm>
            <a:off x="502920" y="2395728"/>
            <a:ext cx="1280160" cy="201168"/>
          </a:xfrm>
          <a:prstGeom prst="rect">
            <a:avLst/>
          </a:prstGeom>
          <a:noFill/>
        </p:spPr>
        <p:txBody>
          <a:bodyPr wrap="square" lIns="0" tIns="0" rIns="0" bIns="0" anchor="ctr">
            <a:spAutoFit/>
          </a:bodyPr>
          <a:lstStyle/>
          <a:p>
            <a:pPr algn="ctr"/>
            <a:r>
              <a:rPr sz="800" b="1">
                <a:solidFill>
                  <a:srgbClr val="C2410C"/>
                </a:solidFill>
                <a:latin typeface="Segoe UI"/>
              </a:rPr>
              <a:t>metrics</a:t>
            </a:r>
          </a:p>
        </p:txBody>
      </p:sp>
      <p:sp>
        <p:nvSpPr>
          <p:cNvPr id="22" name="a2fd100_lb21"/>
          <p:cNvSpPr txBox="1"/>
          <p:nvPr/>
        </p:nvSpPr>
        <p:spPr>
          <a:xfrm>
            <a:off x="3611880" y="2395728"/>
            <a:ext cx="1280160" cy="201168"/>
          </a:xfrm>
          <a:prstGeom prst="rect">
            <a:avLst/>
          </a:prstGeom>
          <a:noFill/>
        </p:spPr>
        <p:txBody>
          <a:bodyPr wrap="square" lIns="0" tIns="0" rIns="0" bIns="0" anchor="ctr">
            <a:spAutoFit/>
          </a:bodyPr>
          <a:lstStyle/>
          <a:p>
            <a:pPr algn="ctr"/>
            <a:r>
              <a:rPr sz="800" b="1">
                <a:solidFill>
                  <a:srgbClr val="C2410C"/>
                </a:solidFill>
                <a:latin typeface="Segoe UI"/>
              </a:rPr>
              <a:t>metrics</a:t>
            </a:r>
          </a:p>
        </p:txBody>
      </p:sp>
      <p:sp>
        <p:nvSpPr>
          <p:cNvPr id="23" name="a3u_card22"/>
          <p:cNvSpPr/>
          <p:nvPr/>
        </p:nvSpPr>
        <p:spPr>
          <a:xfrm>
            <a:off x="5120640" y="1325880"/>
            <a:ext cx="3566160" cy="2331720"/>
          </a:xfrm>
          <a:prstGeom prst="roundRect">
            <a:avLst>
              <a:gd name="adj" fmla="val 470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3u_acc23"/>
          <p:cNvSpPr/>
          <p:nvPr/>
        </p:nvSpPr>
        <p:spPr>
          <a:xfrm>
            <a:off x="5120640" y="1325880"/>
            <a:ext cx="50292" cy="2331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3u_hh24"/>
          <p:cNvSpPr txBox="1"/>
          <p:nvPr/>
        </p:nvSpPr>
        <p:spPr>
          <a:xfrm>
            <a:off x="5321807" y="1435607"/>
            <a:ext cx="3200400" cy="237744"/>
          </a:xfrm>
          <a:prstGeom prst="rect">
            <a:avLst/>
          </a:prstGeom>
          <a:noFill/>
        </p:spPr>
        <p:txBody>
          <a:bodyPr wrap="square" lIns="0" tIns="0" rIns="0" bIns="0" anchor="ctr">
            <a:spAutoFit/>
          </a:bodyPr>
          <a:lstStyle/>
          <a:p>
            <a:pPr algn="l"/>
            <a:r>
              <a:rPr sz="900" b="1">
                <a:solidFill>
                  <a:srgbClr val="EA580C"/>
                </a:solidFill>
                <a:latin typeface="Segoe UI"/>
              </a:rPr>
              <a:t>HOW IT WORKS</a:t>
            </a:r>
          </a:p>
        </p:txBody>
      </p:sp>
      <p:sp>
        <p:nvSpPr>
          <p:cNvPr id="26" name="a3ud80_dot25"/>
          <p:cNvSpPr/>
          <p:nvPr/>
        </p:nvSpPr>
        <p:spPr>
          <a:xfrm>
            <a:off x="5321807" y="190652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3ud80_b26"/>
          <p:cNvSpPr txBox="1"/>
          <p:nvPr/>
        </p:nvSpPr>
        <p:spPr>
          <a:xfrm>
            <a:off x="5541264" y="1810512"/>
            <a:ext cx="2944368" cy="530352"/>
          </a:xfrm>
          <a:prstGeom prst="rect">
            <a:avLst/>
          </a:prstGeom>
          <a:noFill/>
        </p:spPr>
        <p:txBody>
          <a:bodyPr wrap="square" lIns="0" tIns="0" rIns="0" bIns="0" anchor="t">
            <a:spAutoFit/>
          </a:bodyPr>
          <a:lstStyle/>
          <a:p>
            <a:pPr algn="l"/>
            <a:r>
              <a:rPr sz="950" b="0">
                <a:solidFill>
                  <a:srgbClr val="44403C"/>
                </a:solidFill>
                <a:latin typeface="Segoe UI"/>
              </a:rPr>
              <a:t>Each server opens a DIRECT connection to the metrics server</a:t>
            </a:r>
          </a:p>
        </p:txBody>
      </p:sp>
      <p:sp>
        <p:nvSpPr>
          <p:cNvPr id="28" name="a3ud180_dot27"/>
          <p:cNvSpPr/>
          <p:nvPr/>
        </p:nvSpPr>
        <p:spPr>
          <a:xfrm>
            <a:off x="5321807" y="247345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3ud180_b28"/>
          <p:cNvSpPr txBox="1"/>
          <p:nvPr/>
        </p:nvSpPr>
        <p:spPr>
          <a:xfrm>
            <a:off x="5541264" y="2377440"/>
            <a:ext cx="2944368" cy="530352"/>
          </a:xfrm>
          <a:prstGeom prst="rect">
            <a:avLst/>
          </a:prstGeom>
          <a:noFill/>
        </p:spPr>
        <p:txBody>
          <a:bodyPr wrap="square" lIns="0" tIns="0" rIns="0" bIns="0" anchor="t">
            <a:spAutoFit/>
          </a:bodyPr>
          <a:lstStyle/>
          <a:p>
            <a:pPr algn="l"/>
            <a:r>
              <a:rPr sz="950" b="0">
                <a:solidFill>
                  <a:srgbClr val="44403C"/>
                </a:solidFill>
                <a:latin typeface="Segoe UI"/>
              </a:rPr>
              <a:t>It pushes its metrics over that connection</a:t>
            </a:r>
          </a:p>
        </p:txBody>
      </p:sp>
      <p:sp>
        <p:nvSpPr>
          <p:cNvPr id="30" name="a3ud280_dot29"/>
          <p:cNvSpPr/>
          <p:nvPr/>
        </p:nvSpPr>
        <p:spPr>
          <a:xfrm>
            <a:off x="5321807" y="3040380"/>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ud280_b30"/>
          <p:cNvSpPr txBox="1"/>
          <p:nvPr/>
        </p:nvSpPr>
        <p:spPr>
          <a:xfrm>
            <a:off x="5541264" y="2944368"/>
            <a:ext cx="2944368" cy="530352"/>
          </a:xfrm>
          <a:prstGeom prst="rect">
            <a:avLst/>
          </a:prstGeom>
          <a:noFill/>
        </p:spPr>
        <p:txBody>
          <a:bodyPr wrap="square" lIns="0" tIns="0" rIns="0" bIns="0" anchor="t">
            <a:spAutoFit/>
          </a:bodyPr>
          <a:lstStyle/>
          <a:p>
            <a:pPr algn="l"/>
            <a:r>
              <a:rPr sz="950" b="0">
                <a:solidFill>
                  <a:srgbClr val="44403C"/>
                </a:solidFill>
                <a:latin typeface="Segoe UI"/>
              </a:rPr>
              <a:t>The metrics server shows them on a dashboard</a:t>
            </a:r>
          </a:p>
        </p:txBody>
      </p:sp>
      <p:sp>
        <p:nvSpPr>
          <p:cNvPr id="32" name="a4u_nb31"/>
          <p:cNvSpPr/>
          <p:nvPr/>
        </p:nvSpPr>
        <p:spPr>
          <a:xfrm>
            <a:off x="5120640" y="3767328"/>
            <a:ext cx="3566160" cy="566928"/>
          </a:xfrm>
          <a:prstGeom prst="roundRect">
            <a:avLst>
              <a:gd name="adj" fmla="val 12903"/>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4u_nacc32"/>
          <p:cNvSpPr/>
          <p:nvPr/>
        </p:nvSpPr>
        <p:spPr>
          <a:xfrm>
            <a:off x="5120640" y="3767328"/>
            <a:ext cx="54864" cy="566928"/>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4u_nt33"/>
          <p:cNvSpPr txBox="1"/>
          <p:nvPr/>
        </p:nvSpPr>
        <p:spPr>
          <a:xfrm>
            <a:off x="5321807" y="3767328"/>
            <a:ext cx="3163824" cy="566928"/>
          </a:xfrm>
          <a:prstGeom prst="rect">
            <a:avLst/>
          </a:prstGeom>
          <a:noFill/>
        </p:spPr>
        <p:txBody>
          <a:bodyPr wrap="square" lIns="0" tIns="0" rIns="0" bIns="0" anchor="ctr">
            <a:spAutoFit/>
          </a:bodyPr>
          <a:lstStyle/>
          <a:p>
            <a:pPr algn="l"/>
            <a:r>
              <a:rPr sz="900" b="1">
                <a:solidFill>
                  <a:srgbClr val="15803D"/>
                </a:solidFill>
                <a:latin typeface="Segoe UI"/>
              </a:rPr>
              <a:t>OK  </a:t>
            </a:r>
            <a:r>
              <a:rPr sz="900" b="0">
                <a:solidFill>
                  <a:srgbClr val="44403C"/>
                </a:solidFill>
                <a:latin typeface="Segoe UI"/>
              </a:rPr>
              <a:t>Simple - and it works while you are getting started.</a:t>
            </a:r>
          </a:p>
        </p:txBody>
      </p:sp>
      <p:sp>
        <p:nvSpPr>
          <p:cNvPr id="35" name="ft3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21</a:t>
            </a:r>
          </a:p>
        </p:txBody>
      </p:sp>
      <p:sp>
        <p:nvSpPr>
          <p:cNvPr id="36" name="ft3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ft3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38" name="ft3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 calcmode="lin" valueType="num">
                                      <p:cBhvr additive="base">
                                        <p:cTn id="6" dur="500" fill="hold"/>
                                        <p:tgtEl>
                                          <p:spTgt spid="12"/>
                                        </p:tgtEl>
                                        <p:attrNameLst>
                                          <p:attrName>ppt_x</p:attrName>
                                        </p:attrNameLst>
                                      </p:cBhvr>
                                      <p:tavLst>
                                        <p:tav tm="0">
                                          <p:val>
                                            <p:strVal val="#ppt_x"/>
                                          </p:val>
                                        </p:tav>
                                        <p:tav tm="100000">
                                          <p:val>
                                            <p:strVal val="#ppt_x"/>
                                          </p:val>
                                        </p:tav>
                                      </p:tavLst>
                                    </p:anim>
                                    <p:anim calcmode="lin" valueType="num">
                                      <p:cBhvr additive="base">
                                        <p:cTn id="7" dur="500" fill="hold"/>
                                        <p:tgtEl>
                                          <p:spTgt spid="12"/>
                                        </p:tgtEl>
                                        <p:attrNameLst>
                                          <p:attrName>ppt_y</p:attrName>
                                        </p:attrNameLst>
                                      </p:cBhvr>
                                      <p:tavLst>
                                        <p:tav tm="0">
                                          <p:val>
                                            <p:strVal val="#ppt_y+0.1"/>
                                          </p:val>
                                        </p:tav>
                                        <p:tav tm="100000">
                                          <p:val>
                                            <p:strVal val="#ppt_y"/>
                                          </p:val>
                                        </p:tav>
                                      </p:tavLst>
                                    </p:anim>
                                    <p:animEffect transition="in" filter="fade">
                                      <p:cBhvr>
                                        <p:cTn id="8" dur="500"/>
                                        <p:tgtEl>
                                          <p:spTgt spid="12"/>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ppt_y+0.1"/>
                                          </p:val>
                                        </p:tav>
                                        <p:tav tm="100000">
                                          <p:val>
                                            <p:strVal val="#ppt_y"/>
                                          </p:val>
                                        </p:tav>
                                      </p:tavLst>
                                    </p:anim>
                                    <p:animEffect transition="in" filter="fade">
                                      <p:cBhvr>
                                        <p:cTn id="13" dur="500"/>
                                        <p:tgtEl>
                                          <p:spTgt spid="13"/>
                                        </p:tgtEl>
                                      </p:cBhvr>
                                    </p:animEffect>
                                  </p:childTnLst>
                                </p:cTn>
                              </p:par>
                              <p:par>
                                <p:cTn id="19" presetID="2" presetClass="entr" presetSubtype="4" fill="hold" grpId="0" nodeType="withEffect">
                                  <p:stCondLst>
                                    <p:cond delay="10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ppt_y+0.1"/>
                                          </p:val>
                                        </p:tav>
                                        <p:tav tm="100000">
                                          <p:val>
                                            <p:strVal val="#ppt_y"/>
                                          </p:val>
                                        </p:tav>
                                      </p:tavLst>
                                    </p:anim>
                                    <p:animEffect transition="in" filter="fade">
                                      <p:cBhvr>
                                        <p:cTn id="18" dur="500"/>
                                        <p:tgtEl>
                                          <p:spTgt spid="14"/>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20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ppt_y+0.1"/>
                                          </p:val>
                                        </p:tav>
                                        <p:tav tm="100000">
                                          <p:val>
                                            <p:strVal val="#ppt_y"/>
                                          </p:val>
                                        </p:tav>
                                      </p:tavLst>
                                    </p:anim>
                                    <p:animEffect transition="in" filter="fade">
                                      <p:cBhvr>
                                        <p:cTn id="28" dur="500"/>
                                        <p:tgtEl>
                                          <p:spTgt spid="16"/>
                                        </p:tgtEl>
                                      </p:cBhvr>
                                    </p:animEffect>
                                  </p:childTnLst>
                                </p:cTn>
                              </p:par>
                              <p:par>
                                <p:cTn id="34" presetID="2" presetClass="entr" presetSubtype="4" fill="hold" grpId="0" nodeType="withEffect">
                                  <p:stCondLst>
                                    <p:cond delay="20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ppt_y+0.1"/>
                                          </p:val>
                                        </p:tav>
                                        <p:tav tm="100000">
                                          <p:val>
                                            <p:strVal val="#ppt_y"/>
                                          </p:val>
                                        </p:tav>
                                      </p:tavLst>
                                    </p:anim>
                                    <p:animEffect transition="in" filter="fade">
                                      <p:cBhvr>
                                        <p:cTn id="38"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4" presetID="10"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7"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50" presetID="10" presetClass="entr" presetSubtype="0" fill="hold" grpId="0" nodeType="withEffect">
                                  <p:stCondLst>
                                    <p:cond delay="10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3" presetID="10" presetClass="entr" presetSubtype="0" fill="hold" grpId="0" nodeType="withEffect">
                                  <p:stCondLst>
                                    <p:cond delay="10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childTnLst>
                          </p:cTn>
                        </p:par>
                      </p:childTnLst>
                    </p:cTn>
                  </p:par>
                  <p:par>
                    <p:cTn id="54" fill="hold">
                      <p:stCondLst>
                        <p:cond delay="indefinite"/>
                      </p:stCondLst>
                      <p:childTnLst>
                        <p:par>
                          <p:cTn id="55" fill="hold">
                            <p:stCondLst>
                              <p:cond delay="0"/>
                            </p:stCondLst>
                            <p:childTnLst>
                              <p:par>
                                <p:cTn id="60" presetID="2" presetClass="entr" presetSubtype="4"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additive="base">
                                        <p:cTn id="57" dur="500" fill="hold"/>
                                        <p:tgtEl>
                                          <p:spTgt spid="23"/>
                                        </p:tgtEl>
                                        <p:attrNameLst>
                                          <p:attrName>ppt_x</p:attrName>
                                        </p:attrNameLst>
                                      </p:cBhvr>
                                      <p:tavLst>
                                        <p:tav tm="0">
                                          <p:val>
                                            <p:strVal val="#ppt_x"/>
                                          </p:val>
                                        </p:tav>
                                        <p:tav tm="100000">
                                          <p:val>
                                            <p:strVal val="#ppt_x"/>
                                          </p:val>
                                        </p:tav>
                                      </p:tavLst>
                                    </p:anim>
                                    <p:anim calcmode="lin" valueType="num">
                                      <p:cBhvr additive="base">
                                        <p:cTn id="58" dur="500" fill="hold"/>
                                        <p:tgtEl>
                                          <p:spTgt spid="23"/>
                                        </p:tgtEl>
                                        <p:attrNameLst>
                                          <p:attrName>ppt_y</p:attrName>
                                        </p:attrNameLst>
                                      </p:cBhvr>
                                      <p:tavLst>
                                        <p:tav tm="0">
                                          <p:val>
                                            <p:strVal val="#ppt_y+0.1"/>
                                          </p:val>
                                        </p:tav>
                                        <p:tav tm="100000">
                                          <p:val>
                                            <p:strVal val="#ppt_y"/>
                                          </p:val>
                                        </p:tav>
                                      </p:tavLst>
                                    </p:anim>
                                    <p:animEffect transition="in" filter="fade">
                                      <p:cBhvr>
                                        <p:cTn id="59" dur="500"/>
                                        <p:tgtEl>
                                          <p:spTgt spid="23"/>
                                        </p:tgtEl>
                                      </p:cBhvr>
                                    </p:animEffect>
                                  </p:childTnLst>
                                </p:cTn>
                              </p:par>
                              <p:par>
                                <p:cTn id="65" presetID="2" presetClass="entr" presetSubtype="4"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 calcmode="lin" valueType="num">
                                      <p:cBhvr additive="base">
                                        <p:cTn id="62" dur="500" fill="hold"/>
                                        <p:tgtEl>
                                          <p:spTgt spid="24"/>
                                        </p:tgtEl>
                                        <p:attrNameLst>
                                          <p:attrName>ppt_x</p:attrName>
                                        </p:attrNameLst>
                                      </p:cBhvr>
                                      <p:tavLst>
                                        <p:tav tm="0">
                                          <p:val>
                                            <p:strVal val="#ppt_x"/>
                                          </p:val>
                                        </p:tav>
                                        <p:tav tm="100000">
                                          <p:val>
                                            <p:strVal val="#ppt_x"/>
                                          </p:val>
                                        </p:tav>
                                      </p:tavLst>
                                    </p:anim>
                                    <p:anim calcmode="lin" valueType="num">
                                      <p:cBhvr additive="base">
                                        <p:cTn id="63" dur="500" fill="hold"/>
                                        <p:tgtEl>
                                          <p:spTgt spid="24"/>
                                        </p:tgtEl>
                                        <p:attrNameLst>
                                          <p:attrName>ppt_y</p:attrName>
                                        </p:attrNameLst>
                                      </p:cBhvr>
                                      <p:tavLst>
                                        <p:tav tm="0">
                                          <p:val>
                                            <p:strVal val="#ppt_y+0.1"/>
                                          </p:val>
                                        </p:tav>
                                        <p:tav tm="100000">
                                          <p:val>
                                            <p:strVal val="#ppt_y"/>
                                          </p:val>
                                        </p:tav>
                                      </p:tavLst>
                                    </p:anim>
                                    <p:animEffect transition="in" filter="fade">
                                      <p:cBhvr>
                                        <p:cTn id="64" dur="500"/>
                                        <p:tgtEl>
                                          <p:spTgt spid="24"/>
                                        </p:tgtEl>
                                      </p:cBhvr>
                                    </p:animEffect>
                                  </p:childTnLst>
                                </p:cTn>
                              </p:par>
                              <p:par>
                                <p:cTn id="70" presetID="2" presetClass="entr" presetSubtype="4"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 calcmode="lin" valueType="num">
                                      <p:cBhvr additive="base">
                                        <p:cTn id="67" dur="500" fill="hold"/>
                                        <p:tgtEl>
                                          <p:spTgt spid="25"/>
                                        </p:tgtEl>
                                        <p:attrNameLst>
                                          <p:attrName>ppt_x</p:attrName>
                                        </p:attrNameLst>
                                      </p:cBhvr>
                                      <p:tavLst>
                                        <p:tav tm="0">
                                          <p:val>
                                            <p:strVal val="#ppt_x"/>
                                          </p:val>
                                        </p:tav>
                                        <p:tav tm="100000">
                                          <p:val>
                                            <p:strVal val="#ppt_x"/>
                                          </p:val>
                                        </p:tav>
                                      </p:tavLst>
                                    </p:anim>
                                    <p:anim calcmode="lin" valueType="num">
                                      <p:cBhvr additive="base">
                                        <p:cTn id="68" dur="500" fill="hold"/>
                                        <p:tgtEl>
                                          <p:spTgt spid="25"/>
                                        </p:tgtEl>
                                        <p:attrNameLst>
                                          <p:attrName>ppt_y</p:attrName>
                                        </p:attrNameLst>
                                      </p:cBhvr>
                                      <p:tavLst>
                                        <p:tav tm="0">
                                          <p:val>
                                            <p:strVal val="#ppt_y+0.1"/>
                                          </p:val>
                                        </p:tav>
                                        <p:tav tm="100000">
                                          <p:val>
                                            <p:strVal val="#ppt_y"/>
                                          </p:val>
                                        </p:tav>
                                      </p:tavLst>
                                    </p:anim>
                                    <p:animEffect transition="in" filter="fade">
                                      <p:cBhvr>
                                        <p:cTn id="69" dur="500"/>
                                        <p:tgtEl>
                                          <p:spTgt spid="25"/>
                                        </p:tgtEl>
                                      </p:cBhvr>
                                    </p:animEffect>
                                  </p:childTnLst>
                                </p:cTn>
                              </p:par>
                              <p:par>
                                <p:cTn id="75" presetID="2" presetClass="entr" presetSubtype="4" fill="hold" grpId="0" nodeType="withEffect">
                                  <p:stCondLst>
                                    <p:cond delay="80"/>
                                  </p:stCondLst>
                                  <p:childTnLst>
                                    <p:set>
                                      <p:cBhvr>
                                        <p:cTn id="71" dur="1" fill="hold">
                                          <p:stCondLst>
                                            <p:cond delay="0"/>
                                          </p:stCondLst>
                                        </p:cTn>
                                        <p:tgtEl>
                                          <p:spTgt spid="26"/>
                                        </p:tgtEl>
                                        <p:attrNameLst>
                                          <p:attrName>style.visibility</p:attrName>
                                        </p:attrNameLst>
                                      </p:cBhvr>
                                      <p:to>
                                        <p:strVal val="visible"/>
                                      </p:to>
                                    </p:set>
                                    <p:anim calcmode="lin" valueType="num">
                                      <p:cBhvr additive="base">
                                        <p:cTn id="72" dur="500" fill="hold"/>
                                        <p:tgtEl>
                                          <p:spTgt spid="26"/>
                                        </p:tgtEl>
                                        <p:attrNameLst>
                                          <p:attrName>ppt_x</p:attrName>
                                        </p:attrNameLst>
                                      </p:cBhvr>
                                      <p:tavLst>
                                        <p:tav tm="0">
                                          <p:val>
                                            <p:strVal val="#ppt_x"/>
                                          </p:val>
                                        </p:tav>
                                        <p:tav tm="100000">
                                          <p:val>
                                            <p:strVal val="#ppt_x"/>
                                          </p:val>
                                        </p:tav>
                                      </p:tavLst>
                                    </p:anim>
                                    <p:anim calcmode="lin" valueType="num">
                                      <p:cBhvr additive="base">
                                        <p:cTn id="73" dur="500" fill="hold"/>
                                        <p:tgtEl>
                                          <p:spTgt spid="26"/>
                                        </p:tgtEl>
                                        <p:attrNameLst>
                                          <p:attrName>ppt_y</p:attrName>
                                        </p:attrNameLst>
                                      </p:cBhvr>
                                      <p:tavLst>
                                        <p:tav tm="0">
                                          <p:val>
                                            <p:strVal val="#ppt_y+0.1"/>
                                          </p:val>
                                        </p:tav>
                                        <p:tav tm="100000">
                                          <p:val>
                                            <p:strVal val="#ppt_y"/>
                                          </p:val>
                                        </p:tav>
                                      </p:tavLst>
                                    </p:anim>
                                    <p:animEffect transition="in" filter="fade">
                                      <p:cBhvr>
                                        <p:cTn id="74" dur="500"/>
                                        <p:tgtEl>
                                          <p:spTgt spid="26"/>
                                        </p:tgtEl>
                                      </p:cBhvr>
                                    </p:animEffect>
                                  </p:childTnLst>
                                </p:cTn>
                              </p:par>
                              <p:par>
                                <p:cTn id="80" presetID="2" presetClass="entr" presetSubtype="4" fill="hold" grpId="0" nodeType="withEffect">
                                  <p:stCondLst>
                                    <p:cond delay="80"/>
                                  </p:stCondLst>
                                  <p:childTnLst>
                                    <p:set>
                                      <p:cBhvr>
                                        <p:cTn id="76" dur="1" fill="hold">
                                          <p:stCondLst>
                                            <p:cond delay="0"/>
                                          </p:stCondLst>
                                        </p:cTn>
                                        <p:tgtEl>
                                          <p:spTgt spid="27"/>
                                        </p:tgtEl>
                                        <p:attrNameLst>
                                          <p:attrName>style.visibility</p:attrName>
                                        </p:attrNameLst>
                                      </p:cBhvr>
                                      <p:to>
                                        <p:strVal val="visible"/>
                                      </p:to>
                                    </p:set>
                                    <p:anim calcmode="lin" valueType="num">
                                      <p:cBhvr additive="base">
                                        <p:cTn id="77" dur="500" fill="hold"/>
                                        <p:tgtEl>
                                          <p:spTgt spid="27"/>
                                        </p:tgtEl>
                                        <p:attrNameLst>
                                          <p:attrName>ppt_x</p:attrName>
                                        </p:attrNameLst>
                                      </p:cBhvr>
                                      <p:tavLst>
                                        <p:tav tm="0">
                                          <p:val>
                                            <p:strVal val="#ppt_x"/>
                                          </p:val>
                                        </p:tav>
                                        <p:tav tm="100000">
                                          <p:val>
                                            <p:strVal val="#ppt_x"/>
                                          </p:val>
                                        </p:tav>
                                      </p:tavLst>
                                    </p:anim>
                                    <p:anim calcmode="lin" valueType="num">
                                      <p:cBhvr additive="base">
                                        <p:cTn id="78" dur="500" fill="hold"/>
                                        <p:tgtEl>
                                          <p:spTgt spid="27"/>
                                        </p:tgtEl>
                                        <p:attrNameLst>
                                          <p:attrName>ppt_y</p:attrName>
                                        </p:attrNameLst>
                                      </p:cBhvr>
                                      <p:tavLst>
                                        <p:tav tm="0">
                                          <p:val>
                                            <p:strVal val="#ppt_y+0.1"/>
                                          </p:val>
                                        </p:tav>
                                        <p:tav tm="100000">
                                          <p:val>
                                            <p:strVal val="#ppt_y"/>
                                          </p:val>
                                        </p:tav>
                                      </p:tavLst>
                                    </p:anim>
                                    <p:animEffect transition="in" filter="fade">
                                      <p:cBhvr>
                                        <p:cTn id="79" dur="500"/>
                                        <p:tgtEl>
                                          <p:spTgt spid="27"/>
                                        </p:tgtEl>
                                      </p:cBhvr>
                                    </p:animEffect>
                                  </p:childTnLst>
                                </p:cTn>
                              </p:par>
                              <p:par>
                                <p:cTn id="85" presetID="2" presetClass="entr" presetSubtype="4" fill="hold" grpId="0" nodeType="withEffect">
                                  <p:stCondLst>
                                    <p:cond delay="180"/>
                                  </p:stCondLst>
                                  <p:childTnLst>
                                    <p:set>
                                      <p:cBhvr>
                                        <p:cTn id="81" dur="1" fill="hold">
                                          <p:stCondLst>
                                            <p:cond delay="0"/>
                                          </p:stCondLst>
                                        </p:cTn>
                                        <p:tgtEl>
                                          <p:spTgt spid="28"/>
                                        </p:tgtEl>
                                        <p:attrNameLst>
                                          <p:attrName>style.visibility</p:attrName>
                                        </p:attrNameLst>
                                      </p:cBhvr>
                                      <p:to>
                                        <p:strVal val="visible"/>
                                      </p:to>
                                    </p:set>
                                    <p:anim calcmode="lin" valueType="num">
                                      <p:cBhvr additive="base">
                                        <p:cTn id="82" dur="500" fill="hold"/>
                                        <p:tgtEl>
                                          <p:spTgt spid="28"/>
                                        </p:tgtEl>
                                        <p:attrNameLst>
                                          <p:attrName>ppt_x</p:attrName>
                                        </p:attrNameLst>
                                      </p:cBhvr>
                                      <p:tavLst>
                                        <p:tav tm="0">
                                          <p:val>
                                            <p:strVal val="#ppt_x"/>
                                          </p:val>
                                        </p:tav>
                                        <p:tav tm="100000">
                                          <p:val>
                                            <p:strVal val="#ppt_x"/>
                                          </p:val>
                                        </p:tav>
                                      </p:tavLst>
                                    </p:anim>
                                    <p:anim calcmode="lin" valueType="num">
                                      <p:cBhvr additive="base">
                                        <p:cTn id="83" dur="500" fill="hold"/>
                                        <p:tgtEl>
                                          <p:spTgt spid="28"/>
                                        </p:tgtEl>
                                        <p:attrNameLst>
                                          <p:attrName>ppt_y</p:attrName>
                                        </p:attrNameLst>
                                      </p:cBhvr>
                                      <p:tavLst>
                                        <p:tav tm="0">
                                          <p:val>
                                            <p:strVal val="#ppt_y+0.1"/>
                                          </p:val>
                                        </p:tav>
                                        <p:tav tm="100000">
                                          <p:val>
                                            <p:strVal val="#ppt_y"/>
                                          </p:val>
                                        </p:tav>
                                      </p:tavLst>
                                    </p:anim>
                                    <p:animEffect transition="in" filter="fade">
                                      <p:cBhvr>
                                        <p:cTn id="84" dur="500"/>
                                        <p:tgtEl>
                                          <p:spTgt spid="28"/>
                                        </p:tgtEl>
                                      </p:cBhvr>
                                    </p:animEffect>
                                  </p:childTnLst>
                                </p:cTn>
                              </p:par>
                              <p:par>
                                <p:cTn id="90" presetID="2" presetClass="entr" presetSubtype="4" fill="hold" grpId="0" nodeType="withEffect">
                                  <p:stCondLst>
                                    <p:cond delay="180"/>
                                  </p:stCondLst>
                                  <p:childTnLst>
                                    <p:set>
                                      <p:cBhvr>
                                        <p:cTn id="86" dur="1" fill="hold">
                                          <p:stCondLst>
                                            <p:cond delay="0"/>
                                          </p:stCondLst>
                                        </p:cTn>
                                        <p:tgtEl>
                                          <p:spTgt spid="29"/>
                                        </p:tgtEl>
                                        <p:attrNameLst>
                                          <p:attrName>style.visibility</p:attrName>
                                        </p:attrNameLst>
                                      </p:cBhvr>
                                      <p:to>
                                        <p:strVal val="visible"/>
                                      </p:to>
                                    </p:set>
                                    <p:anim calcmode="lin" valueType="num">
                                      <p:cBhvr additive="base">
                                        <p:cTn id="87" dur="500" fill="hold"/>
                                        <p:tgtEl>
                                          <p:spTgt spid="29"/>
                                        </p:tgtEl>
                                        <p:attrNameLst>
                                          <p:attrName>ppt_x</p:attrName>
                                        </p:attrNameLst>
                                      </p:cBhvr>
                                      <p:tavLst>
                                        <p:tav tm="0">
                                          <p:val>
                                            <p:strVal val="#ppt_x"/>
                                          </p:val>
                                        </p:tav>
                                        <p:tav tm="100000">
                                          <p:val>
                                            <p:strVal val="#ppt_x"/>
                                          </p:val>
                                        </p:tav>
                                      </p:tavLst>
                                    </p:anim>
                                    <p:anim calcmode="lin" valueType="num">
                                      <p:cBhvr additive="base">
                                        <p:cTn id="88" dur="500" fill="hold"/>
                                        <p:tgtEl>
                                          <p:spTgt spid="29"/>
                                        </p:tgtEl>
                                        <p:attrNameLst>
                                          <p:attrName>ppt_y</p:attrName>
                                        </p:attrNameLst>
                                      </p:cBhvr>
                                      <p:tavLst>
                                        <p:tav tm="0">
                                          <p:val>
                                            <p:strVal val="#ppt_y+0.1"/>
                                          </p:val>
                                        </p:tav>
                                        <p:tav tm="100000">
                                          <p:val>
                                            <p:strVal val="#ppt_y"/>
                                          </p:val>
                                        </p:tav>
                                      </p:tavLst>
                                    </p:anim>
                                    <p:animEffect transition="in" filter="fade">
                                      <p:cBhvr>
                                        <p:cTn id="89" dur="500"/>
                                        <p:tgtEl>
                                          <p:spTgt spid="29"/>
                                        </p:tgtEl>
                                      </p:cBhvr>
                                    </p:animEffect>
                                  </p:childTnLst>
                                </p:cTn>
                              </p:par>
                              <p:par>
                                <p:cTn id="95" presetID="2" presetClass="entr" presetSubtype="4" fill="hold" grpId="0" nodeType="withEffect">
                                  <p:stCondLst>
                                    <p:cond delay="280"/>
                                  </p:stCondLst>
                                  <p:childTnLst>
                                    <p:set>
                                      <p:cBhvr>
                                        <p:cTn id="91" dur="1" fill="hold">
                                          <p:stCondLst>
                                            <p:cond delay="0"/>
                                          </p:stCondLst>
                                        </p:cTn>
                                        <p:tgtEl>
                                          <p:spTgt spid="30"/>
                                        </p:tgtEl>
                                        <p:attrNameLst>
                                          <p:attrName>style.visibility</p:attrName>
                                        </p:attrNameLst>
                                      </p:cBhvr>
                                      <p:to>
                                        <p:strVal val="visible"/>
                                      </p:to>
                                    </p:set>
                                    <p:anim calcmode="lin" valueType="num">
                                      <p:cBhvr additive="base">
                                        <p:cTn id="92" dur="500" fill="hold"/>
                                        <p:tgtEl>
                                          <p:spTgt spid="30"/>
                                        </p:tgtEl>
                                        <p:attrNameLst>
                                          <p:attrName>ppt_x</p:attrName>
                                        </p:attrNameLst>
                                      </p:cBhvr>
                                      <p:tavLst>
                                        <p:tav tm="0">
                                          <p:val>
                                            <p:strVal val="#ppt_x"/>
                                          </p:val>
                                        </p:tav>
                                        <p:tav tm="100000">
                                          <p:val>
                                            <p:strVal val="#ppt_x"/>
                                          </p:val>
                                        </p:tav>
                                      </p:tavLst>
                                    </p:anim>
                                    <p:anim calcmode="lin" valueType="num">
                                      <p:cBhvr additive="base">
                                        <p:cTn id="93" dur="500" fill="hold"/>
                                        <p:tgtEl>
                                          <p:spTgt spid="30"/>
                                        </p:tgtEl>
                                        <p:attrNameLst>
                                          <p:attrName>ppt_y</p:attrName>
                                        </p:attrNameLst>
                                      </p:cBhvr>
                                      <p:tavLst>
                                        <p:tav tm="0">
                                          <p:val>
                                            <p:strVal val="#ppt_y+0.1"/>
                                          </p:val>
                                        </p:tav>
                                        <p:tav tm="100000">
                                          <p:val>
                                            <p:strVal val="#ppt_y"/>
                                          </p:val>
                                        </p:tav>
                                      </p:tavLst>
                                    </p:anim>
                                    <p:animEffect transition="in" filter="fade">
                                      <p:cBhvr>
                                        <p:cTn id="94" dur="500"/>
                                        <p:tgtEl>
                                          <p:spTgt spid="30"/>
                                        </p:tgtEl>
                                      </p:cBhvr>
                                    </p:animEffect>
                                  </p:childTnLst>
                                </p:cTn>
                              </p:par>
                              <p:par>
                                <p:cTn id="100" presetID="2" presetClass="entr" presetSubtype="4" fill="hold" grpId="0" nodeType="withEffect">
                                  <p:stCondLst>
                                    <p:cond delay="280"/>
                                  </p:stCondLst>
                                  <p:childTnLst>
                                    <p:set>
                                      <p:cBhvr>
                                        <p:cTn id="96" dur="1" fill="hold">
                                          <p:stCondLst>
                                            <p:cond delay="0"/>
                                          </p:stCondLst>
                                        </p:cTn>
                                        <p:tgtEl>
                                          <p:spTgt spid="31"/>
                                        </p:tgtEl>
                                        <p:attrNameLst>
                                          <p:attrName>style.visibility</p:attrName>
                                        </p:attrNameLst>
                                      </p:cBhvr>
                                      <p:to>
                                        <p:strVal val="visible"/>
                                      </p:to>
                                    </p:set>
                                    <p:anim calcmode="lin" valueType="num">
                                      <p:cBhvr additive="base">
                                        <p:cTn id="97" dur="500" fill="hold"/>
                                        <p:tgtEl>
                                          <p:spTgt spid="31"/>
                                        </p:tgtEl>
                                        <p:attrNameLst>
                                          <p:attrName>ppt_x</p:attrName>
                                        </p:attrNameLst>
                                      </p:cBhvr>
                                      <p:tavLst>
                                        <p:tav tm="0">
                                          <p:val>
                                            <p:strVal val="#ppt_x"/>
                                          </p:val>
                                        </p:tav>
                                        <p:tav tm="100000">
                                          <p:val>
                                            <p:strVal val="#ppt_x"/>
                                          </p:val>
                                        </p:tav>
                                      </p:tavLst>
                                    </p:anim>
                                    <p:anim calcmode="lin" valueType="num">
                                      <p:cBhvr additive="base">
                                        <p:cTn id="98" dur="500" fill="hold"/>
                                        <p:tgtEl>
                                          <p:spTgt spid="31"/>
                                        </p:tgtEl>
                                        <p:attrNameLst>
                                          <p:attrName>ppt_y</p:attrName>
                                        </p:attrNameLst>
                                      </p:cBhvr>
                                      <p:tavLst>
                                        <p:tav tm="0">
                                          <p:val>
                                            <p:strVal val="#ppt_y+0.1"/>
                                          </p:val>
                                        </p:tav>
                                        <p:tav tm="100000">
                                          <p:val>
                                            <p:strVal val="#ppt_y"/>
                                          </p:val>
                                        </p:tav>
                                      </p:tavLst>
                                    </p:anim>
                                    <p:animEffect transition="in" filter="fade">
                                      <p:cBhvr>
                                        <p:cTn id="99" dur="500"/>
                                        <p:tgtEl>
                                          <p:spTgt spid="31"/>
                                        </p:tgtEl>
                                      </p:cBhvr>
                                    </p:animEffect>
                                  </p:childTnLst>
                                </p:cTn>
                              </p:par>
                            </p:childTnLst>
                          </p:cTn>
                        </p:par>
                      </p:childTnLst>
                    </p:cTn>
                  </p:par>
                  <p:par>
                    <p:cTn id="101" fill="hold">
                      <p:stCondLst>
                        <p:cond delay="indefinite"/>
                      </p:stCondLst>
                      <p:childTnLst>
                        <p:par>
                          <p:cTn id="102" fill="hold">
                            <p:stCondLst>
                              <p:cond delay="0"/>
                            </p:stCondLst>
                            <p:childTnLst>
                              <p:par>
                                <p:cTn id="107" presetID="2" presetClass="entr" presetSubtype="4" fill="hold" grpId="0" nodeType="clickEffect">
                                  <p:stCondLst>
                                    <p:cond delay="0"/>
                                  </p:stCondLst>
                                  <p:childTnLst>
                                    <p:set>
                                      <p:cBhvr>
                                        <p:cTn id="103" dur="1" fill="hold">
                                          <p:stCondLst>
                                            <p:cond delay="0"/>
                                          </p:stCondLst>
                                        </p:cTn>
                                        <p:tgtEl>
                                          <p:spTgt spid="32"/>
                                        </p:tgtEl>
                                        <p:attrNameLst>
                                          <p:attrName>style.visibility</p:attrName>
                                        </p:attrNameLst>
                                      </p:cBhvr>
                                      <p:to>
                                        <p:strVal val="visible"/>
                                      </p:to>
                                    </p:set>
                                    <p:anim calcmode="lin" valueType="num">
                                      <p:cBhvr additive="base">
                                        <p:cTn id="104" dur="500" fill="hold"/>
                                        <p:tgtEl>
                                          <p:spTgt spid="32"/>
                                        </p:tgtEl>
                                        <p:attrNameLst>
                                          <p:attrName>ppt_x</p:attrName>
                                        </p:attrNameLst>
                                      </p:cBhvr>
                                      <p:tavLst>
                                        <p:tav tm="0">
                                          <p:val>
                                            <p:strVal val="#ppt_x"/>
                                          </p:val>
                                        </p:tav>
                                        <p:tav tm="100000">
                                          <p:val>
                                            <p:strVal val="#ppt_x"/>
                                          </p:val>
                                        </p:tav>
                                      </p:tavLst>
                                    </p:anim>
                                    <p:anim calcmode="lin" valueType="num">
                                      <p:cBhvr additive="base">
                                        <p:cTn id="105" dur="500" fill="hold"/>
                                        <p:tgtEl>
                                          <p:spTgt spid="32"/>
                                        </p:tgtEl>
                                        <p:attrNameLst>
                                          <p:attrName>ppt_y</p:attrName>
                                        </p:attrNameLst>
                                      </p:cBhvr>
                                      <p:tavLst>
                                        <p:tav tm="0">
                                          <p:val>
                                            <p:strVal val="#ppt_y+0.1"/>
                                          </p:val>
                                        </p:tav>
                                        <p:tav tm="100000">
                                          <p:val>
                                            <p:strVal val="#ppt_y"/>
                                          </p:val>
                                        </p:tav>
                                      </p:tavLst>
                                    </p:anim>
                                    <p:animEffect transition="in" filter="fade">
                                      <p:cBhvr>
                                        <p:cTn id="106" dur="500"/>
                                        <p:tgtEl>
                                          <p:spTgt spid="32"/>
                                        </p:tgtEl>
                                      </p:cBhvr>
                                    </p:animEffect>
                                  </p:childTnLst>
                                </p:cTn>
                              </p:par>
                              <p:par>
                                <p:cTn id="112" presetID="2" presetClass="entr" presetSubtype="4" fill="hold" grpId="0" nodeType="withEffect">
                                  <p:stCondLst>
                                    <p:cond delay="0"/>
                                  </p:stCondLst>
                                  <p:childTnLst>
                                    <p:set>
                                      <p:cBhvr>
                                        <p:cTn id="108" dur="1" fill="hold">
                                          <p:stCondLst>
                                            <p:cond delay="0"/>
                                          </p:stCondLst>
                                        </p:cTn>
                                        <p:tgtEl>
                                          <p:spTgt spid="33"/>
                                        </p:tgtEl>
                                        <p:attrNameLst>
                                          <p:attrName>style.visibility</p:attrName>
                                        </p:attrNameLst>
                                      </p:cBhvr>
                                      <p:to>
                                        <p:strVal val="visible"/>
                                      </p:to>
                                    </p:set>
                                    <p:anim calcmode="lin" valueType="num">
                                      <p:cBhvr additive="base">
                                        <p:cTn id="109" dur="500" fill="hold"/>
                                        <p:tgtEl>
                                          <p:spTgt spid="33"/>
                                        </p:tgtEl>
                                        <p:attrNameLst>
                                          <p:attrName>ppt_x</p:attrName>
                                        </p:attrNameLst>
                                      </p:cBhvr>
                                      <p:tavLst>
                                        <p:tav tm="0">
                                          <p:val>
                                            <p:strVal val="#ppt_x"/>
                                          </p:val>
                                        </p:tav>
                                        <p:tav tm="100000">
                                          <p:val>
                                            <p:strVal val="#ppt_x"/>
                                          </p:val>
                                        </p:tav>
                                      </p:tavLst>
                                    </p:anim>
                                    <p:anim calcmode="lin" valueType="num">
                                      <p:cBhvr additive="base">
                                        <p:cTn id="110" dur="500" fill="hold"/>
                                        <p:tgtEl>
                                          <p:spTgt spid="33"/>
                                        </p:tgtEl>
                                        <p:attrNameLst>
                                          <p:attrName>ppt_y</p:attrName>
                                        </p:attrNameLst>
                                      </p:cBhvr>
                                      <p:tavLst>
                                        <p:tav tm="0">
                                          <p:val>
                                            <p:strVal val="#ppt_y+0.1"/>
                                          </p:val>
                                        </p:tav>
                                        <p:tav tm="100000">
                                          <p:val>
                                            <p:strVal val="#ppt_y"/>
                                          </p:val>
                                        </p:tav>
                                      </p:tavLst>
                                    </p:anim>
                                    <p:animEffect transition="in" filter="fade">
                                      <p:cBhvr>
                                        <p:cTn id="111" dur="500"/>
                                        <p:tgtEl>
                                          <p:spTgt spid="33"/>
                                        </p:tgtEl>
                                      </p:cBhvr>
                                    </p:animEffect>
                                  </p:childTnLst>
                                </p:cTn>
                              </p:par>
                              <p:par>
                                <p:cTn id="117" presetID="2" presetClass="entr" presetSubtype="4" fill="hold" grpId="0" nodeType="withEffect">
                                  <p:stCondLst>
                                    <p:cond delay="0"/>
                                  </p:stCondLst>
                                  <p:childTnLst>
                                    <p:set>
                                      <p:cBhvr>
                                        <p:cTn id="113" dur="1" fill="hold">
                                          <p:stCondLst>
                                            <p:cond delay="0"/>
                                          </p:stCondLst>
                                        </p:cTn>
                                        <p:tgtEl>
                                          <p:spTgt spid="34"/>
                                        </p:tgtEl>
                                        <p:attrNameLst>
                                          <p:attrName>style.visibility</p:attrName>
                                        </p:attrNameLst>
                                      </p:cBhvr>
                                      <p:to>
                                        <p:strVal val="visible"/>
                                      </p:to>
                                    </p:set>
                                    <p:anim calcmode="lin" valueType="num">
                                      <p:cBhvr additive="base">
                                        <p:cTn id="114" dur="500" fill="hold"/>
                                        <p:tgtEl>
                                          <p:spTgt spid="34"/>
                                        </p:tgtEl>
                                        <p:attrNameLst>
                                          <p:attrName>ppt_x</p:attrName>
                                        </p:attrNameLst>
                                      </p:cBhvr>
                                      <p:tavLst>
                                        <p:tav tm="0">
                                          <p:val>
                                            <p:strVal val="#ppt_x"/>
                                          </p:val>
                                        </p:tav>
                                        <p:tav tm="100000">
                                          <p:val>
                                            <p:strVal val="#ppt_x"/>
                                          </p:val>
                                        </p:tav>
                                      </p:tavLst>
                                    </p:anim>
                                    <p:anim calcmode="lin" valueType="num">
                                      <p:cBhvr additive="base">
                                        <p:cTn id="115" dur="500" fill="hold"/>
                                        <p:tgtEl>
                                          <p:spTgt spid="34"/>
                                        </p:tgtEl>
                                        <p:attrNameLst>
                                          <p:attrName>ppt_y</p:attrName>
                                        </p:attrNameLst>
                                      </p:cBhvr>
                                      <p:tavLst>
                                        <p:tav tm="0">
                                          <p:val>
                                            <p:strVal val="#ppt_y+0.1"/>
                                          </p:val>
                                        </p:tav>
                                        <p:tav tm="100000">
                                          <p:val>
                                            <p:strVal val="#ppt_y"/>
                                          </p:val>
                                        </p:tav>
                                      </p:tavLst>
                                    </p:anim>
                                    <p:animEffect transition="in" filter="fade">
                                      <p:cBhvr>
                                        <p:cTn id="11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k8"/>
          <p:cNvSpPr/>
          <p:nvPr/>
        </p:nvSpPr>
        <p:spPr>
          <a:xfrm>
            <a:off x="457200" y="155448"/>
            <a:ext cx="2143125" cy="22860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spc="60">
                <a:solidFill>
                  <a:srgbClr val="C2410C"/>
                </a:solidFill>
                <a:latin typeface="Segoe UI"/>
              </a:rPr>
              <a:t>BEFORE KAFKA  ·  STEP 2</a:t>
            </a:r>
          </a:p>
        </p:txBody>
      </p:sp>
      <p:sp>
        <p:nvSpPr>
          <p:cNvPr id="10" name="h9"/>
          <p:cNvSpPr txBox="1"/>
          <p:nvPr/>
        </p:nvSpPr>
        <p:spPr>
          <a:xfrm>
            <a:off x="457200" y="420624"/>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Servers Are Clustered</a:t>
            </a:r>
          </a:p>
        </p:txBody>
      </p:sp>
      <p:sp>
        <p:nvSpPr>
          <p:cNvPr id="11" name="sub10"/>
          <p:cNvSpPr txBox="1"/>
          <p:nvPr/>
        </p:nvSpPr>
        <p:spPr>
          <a:xfrm>
            <a:off x="457200" y="932688"/>
            <a:ext cx="8229600" cy="292608"/>
          </a:xfrm>
          <a:prstGeom prst="rect">
            <a:avLst/>
          </a:prstGeom>
          <a:noFill/>
        </p:spPr>
        <p:txBody>
          <a:bodyPr wrap="square" lIns="0" tIns="0" rIns="0" bIns="0" anchor="ctr">
            <a:spAutoFit/>
          </a:bodyPr>
          <a:lstStyle/>
          <a:p>
            <a:pPr algn="l"/>
            <a:r>
              <a:rPr sz="1150" b="0">
                <a:solidFill>
                  <a:srgbClr val="78716C"/>
                </a:solidFill>
                <a:latin typeface="Segoe UI"/>
              </a:rPr>
              <a:t>Two frontend and two backend servers - still wired straight to one metrics server</a:t>
            </a:r>
          </a:p>
        </p:txBody>
      </p:sp>
      <p:sp>
        <p:nvSpPr>
          <p:cNvPr id="12" name="a1u_nd11"/>
          <p:cNvSpPr/>
          <p:nvPr/>
        </p:nvSpPr>
        <p:spPr>
          <a:xfrm>
            <a:off x="457200" y="1371600"/>
            <a:ext cx="1783080" cy="566928"/>
          </a:xfrm>
          <a:prstGeom prst="roundRect">
            <a:avLst>
              <a:gd name="adj" fmla="val 1290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ndt12"/>
          <p:cNvSpPr txBox="1"/>
          <p:nvPr/>
        </p:nvSpPr>
        <p:spPr>
          <a:xfrm>
            <a:off x="502920" y="1371600"/>
            <a:ext cx="1691639" cy="566928"/>
          </a:xfrm>
          <a:prstGeom prst="rect">
            <a:avLst/>
          </a:prstGeom>
          <a:noFill/>
        </p:spPr>
        <p:txBody>
          <a:bodyPr wrap="square" lIns="0" tIns="0" rIns="0" bIns="0" anchor="ctr">
            <a:spAutoFit/>
          </a:bodyPr>
          <a:lstStyle/>
          <a:p>
            <a:pPr algn="ctr"/>
            <a:r>
              <a:rPr sz="950" b="1">
                <a:solidFill>
                  <a:srgbClr val="1C1917"/>
                </a:solidFill>
                <a:latin typeface="Segoe UI"/>
              </a:rPr>
              <a:t>Frontend server 1</a:t>
            </a:r>
          </a:p>
        </p:txBody>
      </p:sp>
      <p:sp>
        <p:nvSpPr>
          <p:cNvPr id="14" name="a1ud90_nd13"/>
          <p:cNvSpPr/>
          <p:nvPr/>
        </p:nvSpPr>
        <p:spPr>
          <a:xfrm>
            <a:off x="2606040" y="1371600"/>
            <a:ext cx="1783080" cy="566928"/>
          </a:xfrm>
          <a:prstGeom prst="roundRect">
            <a:avLst>
              <a:gd name="adj" fmla="val 1290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90_ndt14"/>
          <p:cNvSpPr txBox="1"/>
          <p:nvPr/>
        </p:nvSpPr>
        <p:spPr>
          <a:xfrm>
            <a:off x="2651760" y="1371600"/>
            <a:ext cx="1691639" cy="566928"/>
          </a:xfrm>
          <a:prstGeom prst="rect">
            <a:avLst/>
          </a:prstGeom>
          <a:noFill/>
        </p:spPr>
        <p:txBody>
          <a:bodyPr wrap="square" lIns="0" tIns="0" rIns="0" bIns="0" anchor="ctr">
            <a:spAutoFit/>
          </a:bodyPr>
          <a:lstStyle/>
          <a:p>
            <a:pPr algn="ctr"/>
            <a:r>
              <a:rPr sz="950" b="1">
                <a:solidFill>
                  <a:srgbClr val="1C1917"/>
                </a:solidFill>
                <a:latin typeface="Segoe UI"/>
              </a:rPr>
              <a:t>Frontend server 2</a:t>
            </a:r>
          </a:p>
        </p:txBody>
      </p:sp>
      <p:sp>
        <p:nvSpPr>
          <p:cNvPr id="16" name="a1ud180_nd15"/>
          <p:cNvSpPr/>
          <p:nvPr/>
        </p:nvSpPr>
        <p:spPr>
          <a:xfrm>
            <a:off x="4754880" y="1371600"/>
            <a:ext cx="1783080" cy="566928"/>
          </a:xfrm>
          <a:prstGeom prst="roundRect">
            <a:avLst>
              <a:gd name="adj" fmla="val 1290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180_ndt16"/>
          <p:cNvSpPr txBox="1"/>
          <p:nvPr/>
        </p:nvSpPr>
        <p:spPr>
          <a:xfrm>
            <a:off x="4800600" y="1371600"/>
            <a:ext cx="1691639" cy="566928"/>
          </a:xfrm>
          <a:prstGeom prst="rect">
            <a:avLst/>
          </a:prstGeom>
          <a:noFill/>
        </p:spPr>
        <p:txBody>
          <a:bodyPr wrap="square" lIns="0" tIns="0" rIns="0" bIns="0" anchor="ctr">
            <a:spAutoFit/>
          </a:bodyPr>
          <a:lstStyle/>
          <a:p>
            <a:pPr algn="ctr"/>
            <a:r>
              <a:rPr sz="950" b="1">
                <a:solidFill>
                  <a:srgbClr val="1C1917"/>
                </a:solidFill>
                <a:latin typeface="Segoe UI"/>
              </a:rPr>
              <a:t>Backend server 1</a:t>
            </a:r>
          </a:p>
        </p:txBody>
      </p:sp>
      <p:sp>
        <p:nvSpPr>
          <p:cNvPr id="18" name="a1ud270_nd17"/>
          <p:cNvSpPr/>
          <p:nvPr/>
        </p:nvSpPr>
        <p:spPr>
          <a:xfrm>
            <a:off x="6903720" y="1371600"/>
            <a:ext cx="1783080" cy="566928"/>
          </a:xfrm>
          <a:prstGeom prst="roundRect">
            <a:avLst>
              <a:gd name="adj" fmla="val 1290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270_ndt18"/>
          <p:cNvSpPr txBox="1"/>
          <p:nvPr/>
        </p:nvSpPr>
        <p:spPr>
          <a:xfrm>
            <a:off x="6949440" y="1371600"/>
            <a:ext cx="1691639" cy="566928"/>
          </a:xfrm>
          <a:prstGeom prst="rect">
            <a:avLst/>
          </a:prstGeom>
          <a:noFill/>
        </p:spPr>
        <p:txBody>
          <a:bodyPr wrap="square" lIns="0" tIns="0" rIns="0" bIns="0" anchor="ctr">
            <a:spAutoFit/>
          </a:bodyPr>
          <a:lstStyle/>
          <a:p>
            <a:pPr algn="ctr"/>
            <a:r>
              <a:rPr sz="950" b="1">
                <a:solidFill>
                  <a:srgbClr val="1C1917"/>
                </a:solidFill>
                <a:latin typeface="Segoe UI"/>
              </a:rPr>
              <a:t>Backend server 2</a:t>
            </a:r>
          </a:p>
        </p:txBody>
      </p:sp>
      <p:sp>
        <p:nvSpPr>
          <p:cNvPr id="20" name="a2u_nd19"/>
          <p:cNvSpPr/>
          <p:nvPr/>
        </p:nvSpPr>
        <p:spPr>
          <a:xfrm>
            <a:off x="3520440" y="2788920"/>
            <a:ext cx="2103120" cy="731520"/>
          </a:xfrm>
          <a:prstGeom prst="roundRect">
            <a:avLst>
              <a:gd name="adj" fmla="val 10000"/>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_ndt20"/>
          <p:cNvSpPr txBox="1"/>
          <p:nvPr/>
        </p:nvSpPr>
        <p:spPr>
          <a:xfrm>
            <a:off x="3566160" y="2825496"/>
            <a:ext cx="2011679" cy="347472"/>
          </a:xfrm>
          <a:prstGeom prst="rect">
            <a:avLst/>
          </a:prstGeom>
          <a:noFill/>
        </p:spPr>
        <p:txBody>
          <a:bodyPr wrap="square" lIns="0" tIns="0" rIns="0" bIns="0" anchor="b">
            <a:spAutoFit/>
          </a:bodyPr>
          <a:lstStyle/>
          <a:p>
            <a:pPr algn="ctr"/>
            <a:r>
              <a:rPr sz="1000" b="1">
                <a:solidFill>
                  <a:srgbClr val="1C1917"/>
                </a:solidFill>
                <a:latin typeface="Segoe UI"/>
              </a:rPr>
              <a:t>Metrics server</a:t>
            </a:r>
          </a:p>
        </p:txBody>
      </p:sp>
      <p:sp>
        <p:nvSpPr>
          <p:cNvPr id="22" name="a2u_nds21"/>
          <p:cNvSpPr txBox="1"/>
          <p:nvPr/>
        </p:nvSpPr>
        <p:spPr>
          <a:xfrm>
            <a:off x="3566160" y="3182111"/>
            <a:ext cx="2011679" cy="301752"/>
          </a:xfrm>
          <a:prstGeom prst="rect">
            <a:avLst/>
          </a:prstGeom>
          <a:noFill/>
        </p:spPr>
        <p:txBody>
          <a:bodyPr wrap="square" lIns="0" tIns="0" rIns="0" bIns="0" anchor="t">
            <a:spAutoFit/>
          </a:bodyPr>
          <a:lstStyle/>
          <a:p>
            <a:pPr algn="ctr"/>
            <a:r>
              <a:rPr sz="800" b="0">
                <a:solidFill>
                  <a:srgbClr val="0E7490"/>
                </a:solidFill>
                <a:latin typeface="Segoe UI"/>
              </a:rPr>
              <a:t>dashboard</a:t>
            </a:r>
          </a:p>
        </p:txBody>
      </p:sp>
      <p:cxnSp>
        <p:nvCxnSpPr>
          <p:cNvPr id="23" name="a2f_ar22"/>
          <p:cNvCxnSpPr/>
          <p:nvPr/>
        </p:nvCxnSpPr>
        <p:spPr>
          <a:xfrm>
            <a:off x="1348740" y="1965960"/>
            <a:ext cx="2571292" cy="79552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a2fd100_ar23"/>
          <p:cNvCxnSpPr/>
          <p:nvPr/>
        </p:nvCxnSpPr>
        <p:spPr>
          <a:xfrm>
            <a:off x="3497580" y="1965960"/>
            <a:ext cx="822045" cy="79552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a2fd200_ar24"/>
          <p:cNvCxnSpPr/>
          <p:nvPr/>
        </p:nvCxnSpPr>
        <p:spPr>
          <a:xfrm flipH="1">
            <a:off x="4719218" y="1965960"/>
            <a:ext cx="927202" cy="79552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a2fd300_ar25"/>
          <p:cNvCxnSpPr/>
          <p:nvPr/>
        </p:nvCxnSpPr>
        <p:spPr>
          <a:xfrm flipH="1">
            <a:off x="5118811" y="1965960"/>
            <a:ext cx="2676449" cy="79552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a3u_nb26"/>
          <p:cNvSpPr/>
          <p:nvPr/>
        </p:nvSpPr>
        <p:spPr>
          <a:xfrm>
            <a:off x="457200" y="3749039"/>
            <a:ext cx="8229600" cy="566928"/>
          </a:xfrm>
          <a:prstGeom prst="roundRect">
            <a:avLst>
              <a:gd name="adj" fmla="val 1290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u_nacc27"/>
          <p:cNvSpPr/>
          <p:nvPr/>
        </p:nvSpPr>
        <p:spPr>
          <a:xfrm>
            <a:off x="457200" y="3749039"/>
            <a:ext cx="54864"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3u_nt28"/>
          <p:cNvSpPr txBox="1"/>
          <p:nvPr/>
        </p:nvSpPr>
        <p:spPr>
          <a:xfrm>
            <a:off x="658368" y="3749039"/>
            <a:ext cx="7827264" cy="566928"/>
          </a:xfrm>
          <a:prstGeom prst="rect">
            <a:avLst/>
          </a:prstGeom>
          <a:noFill/>
        </p:spPr>
        <p:txBody>
          <a:bodyPr wrap="square" lIns="0" tIns="0" rIns="0" bIns="0" anchor="ctr">
            <a:spAutoFit/>
          </a:bodyPr>
          <a:lstStyle/>
          <a:p>
            <a:pPr algn="l"/>
            <a:r>
              <a:rPr sz="950" b="1">
                <a:solidFill>
                  <a:srgbClr val="C2410C"/>
                </a:solidFill>
                <a:latin typeface="Segoe UI"/>
              </a:rPr>
              <a:t>i  </a:t>
            </a:r>
            <a:r>
              <a:rPr sz="950" b="0">
                <a:solidFill>
                  <a:srgbClr val="44403C"/>
                </a:solidFill>
                <a:latin typeface="Segoe UI"/>
              </a:rPr>
              <a:t>A single, direct metrics server - however many frontend and backend servers there are.</a:t>
            </a:r>
          </a:p>
        </p:txBody>
      </p:sp>
      <p:sp>
        <p:nvSpPr>
          <p:cNvPr id="30" name="ft2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22</a:t>
            </a:r>
          </a:p>
        </p:txBody>
      </p:sp>
      <p:sp>
        <p:nvSpPr>
          <p:cNvPr id="31" name="ft3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ft3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33" name="ft3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 calcmode="lin" valueType="num">
                                      <p:cBhvr additive="base">
                                        <p:cTn id="6" dur="500" fill="hold"/>
                                        <p:tgtEl>
                                          <p:spTgt spid="12"/>
                                        </p:tgtEl>
                                        <p:attrNameLst>
                                          <p:attrName>ppt_x</p:attrName>
                                        </p:attrNameLst>
                                      </p:cBhvr>
                                      <p:tavLst>
                                        <p:tav tm="0">
                                          <p:val>
                                            <p:strVal val="#ppt_x"/>
                                          </p:val>
                                        </p:tav>
                                        <p:tav tm="100000">
                                          <p:val>
                                            <p:strVal val="#ppt_x"/>
                                          </p:val>
                                        </p:tav>
                                      </p:tavLst>
                                    </p:anim>
                                    <p:anim calcmode="lin" valueType="num">
                                      <p:cBhvr additive="base">
                                        <p:cTn id="7" dur="500" fill="hold"/>
                                        <p:tgtEl>
                                          <p:spTgt spid="12"/>
                                        </p:tgtEl>
                                        <p:attrNameLst>
                                          <p:attrName>ppt_y</p:attrName>
                                        </p:attrNameLst>
                                      </p:cBhvr>
                                      <p:tavLst>
                                        <p:tav tm="0">
                                          <p:val>
                                            <p:strVal val="#ppt_y+0.1"/>
                                          </p:val>
                                        </p:tav>
                                        <p:tav tm="100000">
                                          <p:val>
                                            <p:strVal val="#ppt_y"/>
                                          </p:val>
                                        </p:tav>
                                      </p:tavLst>
                                    </p:anim>
                                    <p:animEffect transition="in" filter="fade">
                                      <p:cBhvr>
                                        <p:cTn id="8" dur="500"/>
                                        <p:tgtEl>
                                          <p:spTgt spid="12"/>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ppt_y+0.1"/>
                                          </p:val>
                                        </p:tav>
                                        <p:tav tm="100000">
                                          <p:val>
                                            <p:strVal val="#ppt_y"/>
                                          </p:val>
                                        </p:tav>
                                      </p:tavLst>
                                    </p:anim>
                                    <p:animEffect transition="in" filter="fade">
                                      <p:cBhvr>
                                        <p:cTn id="13" dur="500"/>
                                        <p:tgtEl>
                                          <p:spTgt spid="13"/>
                                        </p:tgtEl>
                                      </p:cBhvr>
                                    </p:animEffect>
                                  </p:childTnLst>
                                </p:cTn>
                              </p:par>
                              <p:par>
                                <p:cTn id="19" presetID="2" presetClass="entr" presetSubtype="4" fill="hold" grpId="0" nodeType="withEffect">
                                  <p:stCondLst>
                                    <p:cond delay="9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ppt_y+0.1"/>
                                          </p:val>
                                        </p:tav>
                                        <p:tav tm="100000">
                                          <p:val>
                                            <p:strVal val="#ppt_y"/>
                                          </p:val>
                                        </p:tav>
                                      </p:tavLst>
                                    </p:anim>
                                    <p:animEffect transition="in" filter="fade">
                                      <p:cBhvr>
                                        <p:cTn id="18" dur="500"/>
                                        <p:tgtEl>
                                          <p:spTgt spid="14"/>
                                        </p:tgtEl>
                                      </p:cBhvr>
                                    </p:animEffect>
                                  </p:childTnLst>
                                </p:cTn>
                              </p:par>
                              <p:par>
                                <p:cTn id="24" presetID="2" presetClass="entr" presetSubtype="4" fill="hold" grpId="0" nodeType="withEffect">
                                  <p:stCondLst>
                                    <p:cond delay="9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18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ppt_y+0.1"/>
                                          </p:val>
                                        </p:tav>
                                        <p:tav tm="100000">
                                          <p:val>
                                            <p:strVal val="#ppt_y"/>
                                          </p:val>
                                        </p:tav>
                                      </p:tavLst>
                                    </p:anim>
                                    <p:animEffect transition="in" filter="fade">
                                      <p:cBhvr>
                                        <p:cTn id="28" dur="500"/>
                                        <p:tgtEl>
                                          <p:spTgt spid="16"/>
                                        </p:tgtEl>
                                      </p:cBhvr>
                                    </p:animEffect>
                                  </p:childTnLst>
                                </p:cTn>
                              </p:par>
                              <p:par>
                                <p:cTn id="34" presetID="2" presetClass="entr" presetSubtype="4" fill="hold" grpId="0" nodeType="withEffect">
                                  <p:stCondLst>
                                    <p:cond delay="18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27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ppt_y+0.1"/>
                                          </p:val>
                                        </p:tav>
                                        <p:tav tm="100000">
                                          <p:val>
                                            <p:strVal val="#ppt_y"/>
                                          </p:val>
                                        </p:tav>
                                      </p:tavLst>
                                    </p:anim>
                                    <p:animEffect transition="in" filter="fade">
                                      <p:cBhvr>
                                        <p:cTn id="38" dur="500"/>
                                        <p:tgtEl>
                                          <p:spTgt spid="18"/>
                                        </p:tgtEl>
                                      </p:cBhvr>
                                    </p:animEffect>
                                  </p:childTnLst>
                                </p:cTn>
                              </p:par>
                              <p:par>
                                <p:cTn id="44" presetID="2" presetClass="entr" presetSubtype="4" fill="hold" grpId="0" nodeType="withEffect">
                                  <p:stCondLst>
                                    <p:cond delay="270"/>
                                  </p:stCondLst>
                                  <p:childTnLst>
                                    <p:set>
                                      <p:cBhvr>
                                        <p:cTn id="40" dur="1" fill="hold">
                                          <p:stCondLst>
                                            <p:cond delay="0"/>
                                          </p:stCondLst>
                                        </p:cTn>
                                        <p:tgtEl>
                                          <p:spTgt spid="19"/>
                                        </p:tgtEl>
                                        <p:attrNameLst>
                                          <p:attrName>style.visibility</p:attrName>
                                        </p:attrNameLst>
                                      </p:cBhvr>
                                      <p:to>
                                        <p:strVal val="visible"/>
                                      </p:to>
                                    </p:set>
                                    <p:anim calcmode="lin" valueType="num">
                                      <p:cBhvr additive="base">
                                        <p:cTn id="41" dur="500" fill="hold"/>
                                        <p:tgtEl>
                                          <p:spTgt spid="19"/>
                                        </p:tgtEl>
                                        <p:attrNameLst>
                                          <p:attrName>ppt_x</p:attrName>
                                        </p:attrNameLst>
                                      </p:cBhvr>
                                      <p:tavLst>
                                        <p:tav tm="0">
                                          <p:val>
                                            <p:strVal val="#ppt_x"/>
                                          </p:val>
                                        </p:tav>
                                        <p:tav tm="100000">
                                          <p:val>
                                            <p:strVal val="#ppt_x"/>
                                          </p:val>
                                        </p:tav>
                                      </p:tavLst>
                                    </p:anim>
                                    <p:anim calcmode="lin" valueType="num">
                                      <p:cBhvr additive="base">
                                        <p:cTn id="42" dur="500" fill="hold"/>
                                        <p:tgtEl>
                                          <p:spTgt spid="19"/>
                                        </p:tgtEl>
                                        <p:attrNameLst>
                                          <p:attrName>ppt_y</p:attrName>
                                        </p:attrNameLst>
                                      </p:cBhvr>
                                      <p:tavLst>
                                        <p:tav tm="0">
                                          <p:val>
                                            <p:strVal val="#ppt_y+0.1"/>
                                          </p:val>
                                        </p:tav>
                                        <p:tav tm="100000">
                                          <p:val>
                                            <p:strVal val="#ppt_y"/>
                                          </p:val>
                                        </p:tav>
                                      </p:tavLst>
                                    </p:anim>
                                    <p:animEffect transition="in" filter="fade">
                                      <p:cBhvr>
                                        <p:cTn id="43"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51" presetID="2" presetClass="entr" presetSubtype="4" fill="hold" grpId="0" nodeType="clickEffect">
                                  <p:stCondLst>
                                    <p:cond delay="0"/>
                                  </p:stCondLst>
                                  <p:childTnLst>
                                    <p:set>
                                      <p:cBhvr>
                                        <p:cTn id="47" dur="1" fill="hold">
                                          <p:stCondLst>
                                            <p:cond delay="0"/>
                                          </p:stCondLst>
                                        </p:cTn>
                                        <p:tgtEl>
                                          <p:spTgt spid="20"/>
                                        </p:tgtEl>
                                        <p:attrNameLst>
                                          <p:attrName>style.visibility</p:attrName>
                                        </p:attrNameLst>
                                      </p:cBhvr>
                                      <p:to>
                                        <p:strVal val="visible"/>
                                      </p:to>
                                    </p:set>
                                    <p:anim calcmode="lin" valueType="num">
                                      <p:cBhvr additive="base">
                                        <p:cTn id="48" dur="500" fill="hold"/>
                                        <p:tgtEl>
                                          <p:spTgt spid="20"/>
                                        </p:tgtEl>
                                        <p:attrNameLst>
                                          <p:attrName>ppt_x</p:attrName>
                                        </p:attrNameLst>
                                      </p:cBhvr>
                                      <p:tavLst>
                                        <p:tav tm="0">
                                          <p:val>
                                            <p:strVal val="#ppt_x"/>
                                          </p:val>
                                        </p:tav>
                                        <p:tav tm="100000">
                                          <p:val>
                                            <p:strVal val="#ppt_x"/>
                                          </p:val>
                                        </p:tav>
                                      </p:tavLst>
                                    </p:anim>
                                    <p:anim calcmode="lin" valueType="num">
                                      <p:cBhvr additive="base">
                                        <p:cTn id="49" dur="500" fill="hold"/>
                                        <p:tgtEl>
                                          <p:spTgt spid="20"/>
                                        </p:tgtEl>
                                        <p:attrNameLst>
                                          <p:attrName>ppt_y</p:attrName>
                                        </p:attrNameLst>
                                      </p:cBhvr>
                                      <p:tavLst>
                                        <p:tav tm="0">
                                          <p:val>
                                            <p:strVal val="#ppt_y+0.1"/>
                                          </p:val>
                                        </p:tav>
                                        <p:tav tm="100000">
                                          <p:val>
                                            <p:strVal val="#ppt_y"/>
                                          </p:val>
                                        </p:tav>
                                      </p:tavLst>
                                    </p:anim>
                                    <p:animEffect transition="in" filter="fade">
                                      <p:cBhvr>
                                        <p:cTn id="50" dur="500"/>
                                        <p:tgtEl>
                                          <p:spTgt spid="20"/>
                                        </p:tgtEl>
                                      </p:cBhvr>
                                    </p:animEffect>
                                  </p:childTnLst>
                                </p:cTn>
                              </p:par>
                              <p:par>
                                <p:cTn id="56" presetID="2" presetClass="entr" presetSubtype="4"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additive="base">
                                        <p:cTn id="53" dur="500" fill="hold"/>
                                        <p:tgtEl>
                                          <p:spTgt spid="21"/>
                                        </p:tgtEl>
                                        <p:attrNameLst>
                                          <p:attrName>ppt_x</p:attrName>
                                        </p:attrNameLst>
                                      </p:cBhvr>
                                      <p:tavLst>
                                        <p:tav tm="0">
                                          <p:val>
                                            <p:strVal val="#ppt_x"/>
                                          </p:val>
                                        </p:tav>
                                        <p:tav tm="100000">
                                          <p:val>
                                            <p:strVal val="#ppt_x"/>
                                          </p:val>
                                        </p:tav>
                                      </p:tavLst>
                                    </p:anim>
                                    <p:anim calcmode="lin" valueType="num">
                                      <p:cBhvr additive="base">
                                        <p:cTn id="54" dur="500" fill="hold"/>
                                        <p:tgtEl>
                                          <p:spTgt spid="21"/>
                                        </p:tgtEl>
                                        <p:attrNameLst>
                                          <p:attrName>ppt_y</p:attrName>
                                        </p:attrNameLst>
                                      </p:cBhvr>
                                      <p:tavLst>
                                        <p:tav tm="0">
                                          <p:val>
                                            <p:strVal val="#ppt_y+0.1"/>
                                          </p:val>
                                        </p:tav>
                                        <p:tav tm="100000">
                                          <p:val>
                                            <p:strVal val="#ppt_y"/>
                                          </p:val>
                                        </p:tav>
                                      </p:tavLst>
                                    </p:anim>
                                    <p:animEffect transition="in" filter="fade">
                                      <p:cBhvr>
                                        <p:cTn id="55" dur="500"/>
                                        <p:tgtEl>
                                          <p:spTgt spid="21"/>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 calcmode="lin" valueType="num">
                                      <p:cBhvr additive="base">
                                        <p:cTn id="58" dur="500" fill="hold"/>
                                        <p:tgtEl>
                                          <p:spTgt spid="22"/>
                                        </p:tgtEl>
                                        <p:attrNameLst>
                                          <p:attrName>ppt_x</p:attrName>
                                        </p:attrNameLst>
                                      </p:cBhvr>
                                      <p:tavLst>
                                        <p:tav tm="0">
                                          <p:val>
                                            <p:strVal val="#ppt_x"/>
                                          </p:val>
                                        </p:tav>
                                        <p:tav tm="100000">
                                          <p:val>
                                            <p:strVal val="#ppt_x"/>
                                          </p:val>
                                        </p:tav>
                                      </p:tavLst>
                                    </p:anim>
                                    <p:anim calcmode="lin" valueType="num">
                                      <p:cBhvr additive="base">
                                        <p:cTn id="59" dur="500" fill="hold"/>
                                        <p:tgtEl>
                                          <p:spTgt spid="22"/>
                                        </p:tgtEl>
                                        <p:attrNameLst>
                                          <p:attrName>ppt_y</p:attrName>
                                        </p:attrNameLst>
                                      </p:cBhvr>
                                      <p:tavLst>
                                        <p:tav tm="0">
                                          <p:val>
                                            <p:strVal val="#ppt_y+0.1"/>
                                          </p:val>
                                        </p:tav>
                                        <p:tav tm="100000">
                                          <p:val>
                                            <p:strVal val="#ppt_y"/>
                                          </p:val>
                                        </p:tav>
                                      </p:tavLst>
                                    </p:anim>
                                    <p:animEffect transition="in" filter="fade">
                                      <p:cBhvr>
                                        <p:cTn id="60" dur="500"/>
                                        <p:tgtEl>
                                          <p:spTgt spid="22"/>
                                        </p:tgtEl>
                                      </p:cBhvr>
                                    </p:animEffect>
                                  </p:childTnLst>
                                </p:cTn>
                              </p:par>
                              <p:par>
                                <p:cTn id="64"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7" presetID="10" presetClass="entr" presetSubtype="0" fill="hold" grpId="0" nodeType="withEffect">
                                  <p:stCondLst>
                                    <p:cond delay="10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par>
                                <p:cTn id="70" presetID="10" presetClass="entr" presetSubtype="0" fill="hold" grpId="0" nodeType="withEffect">
                                  <p:stCondLst>
                                    <p:cond delay="20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500"/>
                                        <p:tgtEl>
                                          <p:spTgt spid="25"/>
                                        </p:tgtEl>
                                      </p:cBhvr>
                                    </p:animEffect>
                                  </p:childTnLst>
                                </p:cTn>
                              </p:par>
                              <p:par>
                                <p:cTn id="73" presetID="10" presetClass="entr" presetSubtype="0" fill="hold" grpId="0" nodeType="withEffect">
                                  <p:stCondLst>
                                    <p:cond delay="30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500"/>
                                        <p:tgtEl>
                                          <p:spTgt spid="26"/>
                                        </p:tgtEl>
                                      </p:cBhvr>
                                    </p:animEffect>
                                  </p:childTnLst>
                                </p:cTn>
                              </p:par>
                            </p:childTnLst>
                          </p:cTn>
                        </p:par>
                      </p:childTnLst>
                    </p:cTn>
                  </p:par>
                  <p:par>
                    <p:cTn id="74" fill="hold">
                      <p:stCondLst>
                        <p:cond delay="indefinite"/>
                      </p:stCondLst>
                      <p:childTnLst>
                        <p:par>
                          <p:cTn id="75" fill="hold">
                            <p:stCondLst>
                              <p:cond delay="0"/>
                            </p:stCondLst>
                            <p:childTnLst>
                              <p:par>
                                <p:cTn id="80" presetID="2" presetClass="entr" presetSubtype="4" fill="hold" grpId="0" nodeType="clickEffect">
                                  <p:stCondLst>
                                    <p:cond delay="0"/>
                                  </p:stCondLst>
                                  <p:childTnLst>
                                    <p:set>
                                      <p:cBhvr>
                                        <p:cTn id="76" dur="1" fill="hold">
                                          <p:stCondLst>
                                            <p:cond delay="0"/>
                                          </p:stCondLst>
                                        </p:cTn>
                                        <p:tgtEl>
                                          <p:spTgt spid="27"/>
                                        </p:tgtEl>
                                        <p:attrNameLst>
                                          <p:attrName>style.visibility</p:attrName>
                                        </p:attrNameLst>
                                      </p:cBhvr>
                                      <p:to>
                                        <p:strVal val="visible"/>
                                      </p:to>
                                    </p:set>
                                    <p:anim calcmode="lin" valueType="num">
                                      <p:cBhvr additive="base">
                                        <p:cTn id="77" dur="500" fill="hold"/>
                                        <p:tgtEl>
                                          <p:spTgt spid="27"/>
                                        </p:tgtEl>
                                        <p:attrNameLst>
                                          <p:attrName>ppt_x</p:attrName>
                                        </p:attrNameLst>
                                      </p:cBhvr>
                                      <p:tavLst>
                                        <p:tav tm="0">
                                          <p:val>
                                            <p:strVal val="#ppt_x"/>
                                          </p:val>
                                        </p:tav>
                                        <p:tav tm="100000">
                                          <p:val>
                                            <p:strVal val="#ppt_x"/>
                                          </p:val>
                                        </p:tav>
                                      </p:tavLst>
                                    </p:anim>
                                    <p:anim calcmode="lin" valueType="num">
                                      <p:cBhvr additive="base">
                                        <p:cTn id="78" dur="500" fill="hold"/>
                                        <p:tgtEl>
                                          <p:spTgt spid="27"/>
                                        </p:tgtEl>
                                        <p:attrNameLst>
                                          <p:attrName>ppt_y</p:attrName>
                                        </p:attrNameLst>
                                      </p:cBhvr>
                                      <p:tavLst>
                                        <p:tav tm="0">
                                          <p:val>
                                            <p:strVal val="#ppt_y+0.1"/>
                                          </p:val>
                                        </p:tav>
                                        <p:tav tm="100000">
                                          <p:val>
                                            <p:strVal val="#ppt_y"/>
                                          </p:val>
                                        </p:tav>
                                      </p:tavLst>
                                    </p:anim>
                                    <p:animEffect transition="in" filter="fade">
                                      <p:cBhvr>
                                        <p:cTn id="79" dur="500"/>
                                        <p:tgtEl>
                                          <p:spTgt spid="27"/>
                                        </p:tgtEl>
                                      </p:cBhvr>
                                    </p:animEffect>
                                  </p:childTnLst>
                                </p:cTn>
                              </p:par>
                              <p:par>
                                <p:cTn id="85" presetID="2" presetClass="entr" presetSubtype="4"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 calcmode="lin" valueType="num">
                                      <p:cBhvr additive="base">
                                        <p:cTn id="82" dur="500" fill="hold"/>
                                        <p:tgtEl>
                                          <p:spTgt spid="28"/>
                                        </p:tgtEl>
                                        <p:attrNameLst>
                                          <p:attrName>ppt_x</p:attrName>
                                        </p:attrNameLst>
                                      </p:cBhvr>
                                      <p:tavLst>
                                        <p:tav tm="0">
                                          <p:val>
                                            <p:strVal val="#ppt_x"/>
                                          </p:val>
                                        </p:tav>
                                        <p:tav tm="100000">
                                          <p:val>
                                            <p:strVal val="#ppt_x"/>
                                          </p:val>
                                        </p:tav>
                                      </p:tavLst>
                                    </p:anim>
                                    <p:anim calcmode="lin" valueType="num">
                                      <p:cBhvr additive="base">
                                        <p:cTn id="83" dur="500" fill="hold"/>
                                        <p:tgtEl>
                                          <p:spTgt spid="28"/>
                                        </p:tgtEl>
                                        <p:attrNameLst>
                                          <p:attrName>ppt_y</p:attrName>
                                        </p:attrNameLst>
                                      </p:cBhvr>
                                      <p:tavLst>
                                        <p:tav tm="0">
                                          <p:val>
                                            <p:strVal val="#ppt_y+0.1"/>
                                          </p:val>
                                        </p:tav>
                                        <p:tav tm="100000">
                                          <p:val>
                                            <p:strVal val="#ppt_y"/>
                                          </p:val>
                                        </p:tav>
                                      </p:tavLst>
                                    </p:anim>
                                    <p:animEffect transition="in" filter="fade">
                                      <p:cBhvr>
                                        <p:cTn id="84" dur="500"/>
                                        <p:tgtEl>
                                          <p:spTgt spid="28"/>
                                        </p:tgtEl>
                                      </p:cBhvr>
                                    </p:animEffect>
                                  </p:childTnLst>
                                </p:cTn>
                              </p:par>
                              <p:par>
                                <p:cTn id="90" presetID="2" presetClass="entr" presetSubtype="4"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 calcmode="lin" valueType="num">
                                      <p:cBhvr additive="base">
                                        <p:cTn id="87" dur="500" fill="hold"/>
                                        <p:tgtEl>
                                          <p:spTgt spid="29"/>
                                        </p:tgtEl>
                                        <p:attrNameLst>
                                          <p:attrName>ppt_x</p:attrName>
                                        </p:attrNameLst>
                                      </p:cBhvr>
                                      <p:tavLst>
                                        <p:tav tm="0">
                                          <p:val>
                                            <p:strVal val="#ppt_x"/>
                                          </p:val>
                                        </p:tav>
                                        <p:tav tm="100000">
                                          <p:val>
                                            <p:strVal val="#ppt_x"/>
                                          </p:val>
                                        </p:tav>
                                      </p:tavLst>
                                    </p:anim>
                                    <p:anim calcmode="lin" valueType="num">
                                      <p:cBhvr additive="base">
                                        <p:cTn id="88" dur="500" fill="hold"/>
                                        <p:tgtEl>
                                          <p:spTgt spid="29"/>
                                        </p:tgtEl>
                                        <p:attrNameLst>
                                          <p:attrName>ppt_y</p:attrName>
                                        </p:attrNameLst>
                                      </p:cBhvr>
                                      <p:tavLst>
                                        <p:tav tm="0">
                                          <p:val>
                                            <p:strVal val="#ppt_y+0.1"/>
                                          </p:val>
                                        </p:tav>
                                        <p:tav tm="100000">
                                          <p:val>
                                            <p:strVal val="#ppt_y"/>
                                          </p:val>
                                        </p:tav>
                                      </p:tavLst>
                                    </p:anim>
                                    <p:animEffect transition="in" filter="fade">
                                      <p:cBhvr>
                                        <p:cTn id="8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k8"/>
          <p:cNvSpPr/>
          <p:nvPr/>
        </p:nvSpPr>
        <p:spPr>
          <a:xfrm>
            <a:off x="457200" y="155448"/>
            <a:ext cx="2143125" cy="22860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spc="60">
                <a:solidFill>
                  <a:srgbClr val="C2410C"/>
                </a:solidFill>
                <a:latin typeface="Segoe UI"/>
              </a:rPr>
              <a:t>BEFORE KAFKA  ·  STEP 3</a:t>
            </a:r>
          </a:p>
        </p:txBody>
      </p:sp>
      <p:sp>
        <p:nvSpPr>
          <p:cNvPr id="10" name="h9"/>
          <p:cNvSpPr txBox="1"/>
          <p:nvPr/>
        </p:nvSpPr>
        <p:spPr>
          <a:xfrm>
            <a:off x="457200" y="420624"/>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New Services, New Questions</a:t>
            </a:r>
          </a:p>
        </p:txBody>
      </p:sp>
      <p:sp>
        <p:nvSpPr>
          <p:cNvPr id="11" name="sub10"/>
          <p:cNvSpPr txBox="1"/>
          <p:nvPr/>
        </p:nvSpPr>
        <p:spPr>
          <a:xfrm>
            <a:off x="457200" y="932688"/>
            <a:ext cx="8229600" cy="292608"/>
          </a:xfrm>
          <a:prstGeom prst="rect">
            <a:avLst/>
          </a:prstGeom>
          <a:noFill/>
        </p:spPr>
        <p:txBody>
          <a:bodyPr wrap="square" lIns="0" tIns="0" rIns="0" bIns="0" anchor="ctr">
            <a:spAutoFit/>
          </a:bodyPr>
          <a:lstStyle/>
          <a:p>
            <a:pPr algn="l"/>
            <a:r>
              <a:rPr sz="1150" b="0">
                <a:solidFill>
                  <a:srgbClr val="78716C"/>
                </a:solidFill>
                <a:latin typeface="Segoe UI"/>
              </a:rPr>
              <a:t>Chat, mail and payment servers arrive - each publishing metrics directly</a:t>
            </a:r>
          </a:p>
        </p:txBody>
      </p:sp>
      <p:sp>
        <p:nvSpPr>
          <p:cNvPr id="12" name="a1u_nd11"/>
          <p:cNvSpPr/>
          <p:nvPr/>
        </p:nvSpPr>
        <p:spPr>
          <a:xfrm>
            <a:off x="457200" y="1325880"/>
            <a:ext cx="1508760" cy="475488"/>
          </a:xfrm>
          <a:prstGeom prst="roundRect">
            <a:avLst>
              <a:gd name="adj" fmla="val 15384"/>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ndt12"/>
          <p:cNvSpPr txBox="1"/>
          <p:nvPr/>
        </p:nvSpPr>
        <p:spPr>
          <a:xfrm>
            <a:off x="502920" y="1325880"/>
            <a:ext cx="1417319" cy="475488"/>
          </a:xfrm>
          <a:prstGeom prst="rect">
            <a:avLst/>
          </a:prstGeom>
          <a:noFill/>
        </p:spPr>
        <p:txBody>
          <a:bodyPr wrap="square" lIns="0" tIns="0" rIns="0" bIns="0" anchor="ctr">
            <a:spAutoFit/>
          </a:bodyPr>
          <a:lstStyle/>
          <a:p>
            <a:pPr algn="ctr"/>
            <a:r>
              <a:rPr sz="850" b="1">
                <a:solidFill>
                  <a:srgbClr val="1C1917"/>
                </a:solidFill>
                <a:latin typeface="Segoe UI"/>
              </a:rPr>
              <a:t>Frontend server</a:t>
            </a:r>
          </a:p>
        </p:txBody>
      </p:sp>
      <p:sp>
        <p:nvSpPr>
          <p:cNvPr id="14" name="a1ud90_nd13"/>
          <p:cNvSpPr/>
          <p:nvPr/>
        </p:nvSpPr>
        <p:spPr>
          <a:xfrm>
            <a:off x="2137410" y="1325880"/>
            <a:ext cx="1508760" cy="475488"/>
          </a:xfrm>
          <a:prstGeom prst="roundRect">
            <a:avLst>
              <a:gd name="adj" fmla="val 15384"/>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90_ndt14"/>
          <p:cNvSpPr txBox="1"/>
          <p:nvPr/>
        </p:nvSpPr>
        <p:spPr>
          <a:xfrm>
            <a:off x="2183129" y="1325880"/>
            <a:ext cx="1417319" cy="475488"/>
          </a:xfrm>
          <a:prstGeom prst="rect">
            <a:avLst/>
          </a:prstGeom>
          <a:noFill/>
        </p:spPr>
        <p:txBody>
          <a:bodyPr wrap="square" lIns="0" tIns="0" rIns="0" bIns="0" anchor="ctr">
            <a:spAutoFit/>
          </a:bodyPr>
          <a:lstStyle/>
          <a:p>
            <a:pPr algn="ctr"/>
            <a:r>
              <a:rPr sz="850" b="1">
                <a:solidFill>
                  <a:srgbClr val="1C1917"/>
                </a:solidFill>
                <a:latin typeface="Segoe UI"/>
              </a:rPr>
              <a:t>Database server</a:t>
            </a:r>
          </a:p>
        </p:txBody>
      </p:sp>
      <p:sp>
        <p:nvSpPr>
          <p:cNvPr id="16" name="a1ud180_nd15"/>
          <p:cNvSpPr/>
          <p:nvPr/>
        </p:nvSpPr>
        <p:spPr>
          <a:xfrm>
            <a:off x="3817620" y="1325880"/>
            <a:ext cx="1508760" cy="475488"/>
          </a:xfrm>
          <a:prstGeom prst="roundRect">
            <a:avLst>
              <a:gd name="adj" fmla="val 15384"/>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180_ndt16"/>
          <p:cNvSpPr txBox="1"/>
          <p:nvPr/>
        </p:nvSpPr>
        <p:spPr>
          <a:xfrm>
            <a:off x="3863339" y="1325880"/>
            <a:ext cx="1417319" cy="475488"/>
          </a:xfrm>
          <a:prstGeom prst="rect">
            <a:avLst/>
          </a:prstGeom>
          <a:noFill/>
        </p:spPr>
        <p:txBody>
          <a:bodyPr wrap="square" lIns="0" tIns="0" rIns="0" bIns="0" anchor="ctr">
            <a:spAutoFit/>
          </a:bodyPr>
          <a:lstStyle/>
          <a:p>
            <a:pPr algn="ctr"/>
            <a:r>
              <a:rPr sz="850" b="1">
                <a:solidFill>
                  <a:srgbClr val="1C1917"/>
                </a:solidFill>
                <a:latin typeface="Segoe UI"/>
              </a:rPr>
              <a:t>Chat server</a:t>
            </a:r>
          </a:p>
        </p:txBody>
      </p:sp>
      <p:sp>
        <p:nvSpPr>
          <p:cNvPr id="18" name="a1ud270_nd17"/>
          <p:cNvSpPr/>
          <p:nvPr/>
        </p:nvSpPr>
        <p:spPr>
          <a:xfrm>
            <a:off x="5497829" y="1325880"/>
            <a:ext cx="1508760" cy="475488"/>
          </a:xfrm>
          <a:prstGeom prst="roundRect">
            <a:avLst>
              <a:gd name="adj" fmla="val 15384"/>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270_ndt18"/>
          <p:cNvSpPr txBox="1"/>
          <p:nvPr/>
        </p:nvSpPr>
        <p:spPr>
          <a:xfrm>
            <a:off x="5543549" y="1325880"/>
            <a:ext cx="1417319" cy="475488"/>
          </a:xfrm>
          <a:prstGeom prst="rect">
            <a:avLst/>
          </a:prstGeom>
          <a:noFill/>
        </p:spPr>
        <p:txBody>
          <a:bodyPr wrap="square" lIns="0" tIns="0" rIns="0" bIns="0" anchor="ctr">
            <a:spAutoFit/>
          </a:bodyPr>
          <a:lstStyle/>
          <a:p>
            <a:pPr algn="ctr"/>
            <a:r>
              <a:rPr sz="850" b="1">
                <a:solidFill>
                  <a:srgbClr val="1C1917"/>
                </a:solidFill>
                <a:latin typeface="Segoe UI"/>
              </a:rPr>
              <a:t>Mail server</a:t>
            </a:r>
          </a:p>
        </p:txBody>
      </p:sp>
      <p:sp>
        <p:nvSpPr>
          <p:cNvPr id="20" name="a1ud360_nd19"/>
          <p:cNvSpPr/>
          <p:nvPr/>
        </p:nvSpPr>
        <p:spPr>
          <a:xfrm>
            <a:off x="7178040" y="1325880"/>
            <a:ext cx="1508760" cy="475488"/>
          </a:xfrm>
          <a:prstGeom prst="roundRect">
            <a:avLst>
              <a:gd name="adj" fmla="val 15384"/>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360_ndt20"/>
          <p:cNvSpPr txBox="1"/>
          <p:nvPr/>
        </p:nvSpPr>
        <p:spPr>
          <a:xfrm>
            <a:off x="7223759" y="1325880"/>
            <a:ext cx="1417319" cy="475488"/>
          </a:xfrm>
          <a:prstGeom prst="rect">
            <a:avLst/>
          </a:prstGeom>
          <a:noFill/>
        </p:spPr>
        <p:txBody>
          <a:bodyPr wrap="square" lIns="0" tIns="0" rIns="0" bIns="0" anchor="ctr">
            <a:spAutoFit/>
          </a:bodyPr>
          <a:lstStyle/>
          <a:p>
            <a:pPr algn="ctr"/>
            <a:r>
              <a:rPr sz="850" b="1">
                <a:solidFill>
                  <a:srgbClr val="1C1917"/>
                </a:solidFill>
                <a:latin typeface="Segoe UI"/>
              </a:rPr>
              <a:t>Payment server</a:t>
            </a:r>
          </a:p>
        </p:txBody>
      </p:sp>
      <p:sp>
        <p:nvSpPr>
          <p:cNvPr id="22" name="a2u_nd21"/>
          <p:cNvSpPr/>
          <p:nvPr/>
        </p:nvSpPr>
        <p:spPr>
          <a:xfrm>
            <a:off x="3520440" y="2331720"/>
            <a:ext cx="2103120" cy="658368"/>
          </a:xfrm>
          <a:prstGeom prst="roundRect">
            <a:avLst>
              <a:gd name="adj" fmla="val 11111"/>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_ndt22"/>
          <p:cNvSpPr txBox="1"/>
          <p:nvPr/>
        </p:nvSpPr>
        <p:spPr>
          <a:xfrm>
            <a:off x="3566160" y="2331720"/>
            <a:ext cx="2011679" cy="658368"/>
          </a:xfrm>
          <a:prstGeom prst="rect">
            <a:avLst/>
          </a:prstGeom>
          <a:noFill/>
        </p:spPr>
        <p:txBody>
          <a:bodyPr wrap="square" lIns="0" tIns="0" rIns="0" bIns="0" anchor="ctr">
            <a:spAutoFit/>
          </a:bodyPr>
          <a:lstStyle/>
          <a:p>
            <a:pPr algn="ctr"/>
            <a:r>
              <a:rPr sz="1000" b="1">
                <a:solidFill>
                  <a:srgbClr val="1C1917"/>
                </a:solidFill>
                <a:latin typeface="Segoe UI"/>
              </a:rPr>
              <a:t>Metrics server</a:t>
            </a:r>
          </a:p>
        </p:txBody>
      </p:sp>
      <p:cxnSp>
        <p:nvCxnSpPr>
          <p:cNvPr id="24" name="a2f_ar23"/>
          <p:cNvCxnSpPr/>
          <p:nvPr/>
        </p:nvCxnSpPr>
        <p:spPr>
          <a:xfrm>
            <a:off x="1211580" y="1828800"/>
            <a:ext cx="2519172" cy="47548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a2fd80_ar24"/>
          <p:cNvCxnSpPr/>
          <p:nvPr/>
        </p:nvCxnSpPr>
        <p:spPr>
          <a:xfrm>
            <a:off x="2891789" y="1828800"/>
            <a:ext cx="1259587" cy="47548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a2fd160_ar25"/>
          <p:cNvCxnSpPr/>
          <p:nvPr/>
        </p:nvCxnSpPr>
        <p:spPr>
          <a:xfrm>
            <a:off x="4572000" y="1828800"/>
            <a:ext cx="0" cy="47548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a2fd240_ar26"/>
          <p:cNvCxnSpPr/>
          <p:nvPr/>
        </p:nvCxnSpPr>
        <p:spPr>
          <a:xfrm flipH="1">
            <a:off x="4992624" y="1828800"/>
            <a:ext cx="1259585" cy="47548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a2fd320_ar27"/>
          <p:cNvCxnSpPr/>
          <p:nvPr/>
        </p:nvCxnSpPr>
        <p:spPr>
          <a:xfrm flipH="1">
            <a:off x="5413248" y="1828800"/>
            <a:ext cx="2519171" cy="47548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a3u_nb28"/>
          <p:cNvSpPr/>
          <p:nvPr/>
        </p:nvSpPr>
        <p:spPr>
          <a:xfrm>
            <a:off x="457200" y="3246120"/>
            <a:ext cx="2615184" cy="1005840"/>
          </a:xfrm>
          <a:prstGeom prst="roundRect">
            <a:avLst>
              <a:gd name="adj" fmla="val 7272"/>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_nacc29"/>
          <p:cNvSpPr/>
          <p:nvPr/>
        </p:nvSpPr>
        <p:spPr>
          <a:xfrm>
            <a:off x="457200" y="3246120"/>
            <a:ext cx="54864" cy="100584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u_nt30"/>
          <p:cNvSpPr txBox="1"/>
          <p:nvPr/>
        </p:nvSpPr>
        <p:spPr>
          <a:xfrm>
            <a:off x="658368" y="3246120"/>
            <a:ext cx="2212848" cy="1005840"/>
          </a:xfrm>
          <a:prstGeom prst="rect">
            <a:avLst/>
          </a:prstGeom>
          <a:noFill/>
        </p:spPr>
        <p:txBody>
          <a:bodyPr wrap="square" lIns="0" tIns="0" rIns="0" bIns="0" anchor="ctr">
            <a:spAutoFit/>
          </a:bodyPr>
          <a:lstStyle/>
          <a:p>
            <a:pPr algn="l"/>
            <a:r>
              <a:rPr sz="900" b="1">
                <a:solidFill>
                  <a:srgbClr val="A16207"/>
                </a:solidFill>
                <a:latin typeface="Segoe UI"/>
              </a:rPr>
              <a:t>?  </a:t>
            </a:r>
            <a:r>
              <a:rPr sz="900" b="0">
                <a:solidFill>
                  <a:srgbClr val="44403C"/>
                </a:solidFill>
                <a:latin typeface="Segoe UI"/>
              </a:rPr>
              <a:t>Long-term analysis? A dashboard is not built for it.</a:t>
            </a:r>
          </a:p>
        </p:txBody>
      </p:sp>
      <p:sp>
        <p:nvSpPr>
          <p:cNvPr id="32" name="a4u_nb31"/>
          <p:cNvSpPr/>
          <p:nvPr/>
        </p:nvSpPr>
        <p:spPr>
          <a:xfrm>
            <a:off x="3264408" y="3246120"/>
            <a:ext cx="2615184" cy="1005840"/>
          </a:xfrm>
          <a:prstGeom prst="roundRect">
            <a:avLst>
              <a:gd name="adj" fmla="val 7272"/>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4u_nacc32"/>
          <p:cNvSpPr/>
          <p:nvPr/>
        </p:nvSpPr>
        <p:spPr>
          <a:xfrm>
            <a:off x="3264408" y="3246120"/>
            <a:ext cx="54864" cy="100584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4u_nt33"/>
          <p:cNvSpPr txBox="1"/>
          <p:nvPr/>
        </p:nvSpPr>
        <p:spPr>
          <a:xfrm>
            <a:off x="3465576" y="3246120"/>
            <a:ext cx="2212848" cy="1005840"/>
          </a:xfrm>
          <a:prstGeom prst="rect">
            <a:avLst/>
          </a:prstGeom>
          <a:noFill/>
        </p:spPr>
        <p:txBody>
          <a:bodyPr wrap="square" lIns="0" tIns="0" rIns="0" bIns="0" anchor="ctr">
            <a:spAutoFit/>
          </a:bodyPr>
          <a:lstStyle/>
          <a:p>
            <a:pPr algn="l"/>
            <a:r>
              <a:rPr sz="900" b="1">
                <a:solidFill>
                  <a:srgbClr val="A16207"/>
                </a:solidFill>
                <a:latin typeface="Segoe UI"/>
              </a:rPr>
              <a:t>?  </a:t>
            </a:r>
            <a:r>
              <a:rPr sz="900" b="0">
                <a:solidFill>
                  <a:srgbClr val="44403C"/>
                </a:solidFill>
                <a:latin typeface="Segoe UI"/>
              </a:rPr>
              <a:t>Store frontend, database and backend metrics separately?</a:t>
            </a:r>
          </a:p>
        </p:txBody>
      </p:sp>
      <p:sp>
        <p:nvSpPr>
          <p:cNvPr id="35" name="a5u_nb34"/>
          <p:cNvSpPr/>
          <p:nvPr/>
        </p:nvSpPr>
        <p:spPr>
          <a:xfrm>
            <a:off x="6071616" y="3246120"/>
            <a:ext cx="2615184" cy="1005840"/>
          </a:xfrm>
          <a:prstGeom prst="roundRect">
            <a:avLst>
              <a:gd name="adj" fmla="val 7272"/>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5u_nacc35"/>
          <p:cNvSpPr/>
          <p:nvPr/>
        </p:nvSpPr>
        <p:spPr>
          <a:xfrm>
            <a:off x="6071616" y="3246120"/>
            <a:ext cx="54864" cy="100584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5u_nt36"/>
          <p:cNvSpPr txBox="1"/>
          <p:nvPr/>
        </p:nvSpPr>
        <p:spPr>
          <a:xfrm>
            <a:off x="6272783" y="3246120"/>
            <a:ext cx="2212848" cy="1005840"/>
          </a:xfrm>
          <a:prstGeom prst="rect">
            <a:avLst/>
          </a:prstGeom>
          <a:noFill/>
        </p:spPr>
        <p:txBody>
          <a:bodyPr wrap="square" lIns="0" tIns="0" rIns="0" bIns="0" anchor="ctr">
            <a:spAutoFit/>
          </a:bodyPr>
          <a:lstStyle/>
          <a:p>
            <a:pPr algn="l"/>
            <a:r>
              <a:rPr sz="900" b="1">
                <a:solidFill>
                  <a:srgbClr val="A16207"/>
                </a:solidFill>
                <a:latin typeface="Segoe UI"/>
              </a:rPr>
              <a:t>?  </a:t>
            </a:r>
            <a:r>
              <a:rPr sz="900" b="0">
                <a:solidFill>
                  <a:srgbClr val="44403C"/>
                </a:solidFill>
                <a:latin typeface="Segoe UI"/>
              </a:rPr>
              <a:t>Every new service means one more direct connection to build.</a:t>
            </a:r>
          </a:p>
        </p:txBody>
      </p:sp>
      <p:sp>
        <p:nvSpPr>
          <p:cNvPr id="38" name="ft3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23</a:t>
            </a:r>
          </a:p>
        </p:txBody>
      </p:sp>
      <p:sp>
        <p:nvSpPr>
          <p:cNvPr id="39" name="ft3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ft3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1" name="ft4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 calcmode="lin" valueType="num">
                                      <p:cBhvr additive="base">
                                        <p:cTn id="6" dur="500" fill="hold"/>
                                        <p:tgtEl>
                                          <p:spTgt spid="12"/>
                                        </p:tgtEl>
                                        <p:attrNameLst>
                                          <p:attrName>ppt_x</p:attrName>
                                        </p:attrNameLst>
                                      </p:cBhvr>
                                      <p:tavLst>
                                        <p:tav tm="0">
                                          <p:val>
                                            <p:strVal val="#ppt_x"/>
                                          </p:val>
                                        </p:tav>
                                        <p:tav tm="100000">
                                          <p:val>
                                            <p:strVal val="#ppt_x"/>
                                          </p:val>
                                        </p:tav>
                                      </p:tavLst>
                                    </p:anim>
                                    <p:anim calcmode="lin" valueType="num">
                                      <p:cBhvr additive="base">
                                        <p:cTn id="7" dur="500" fill="hold"/>
                                        <p:tgtEl>
                                          <p:spTgt spid="12"/>
                                        </p:tgtEl>
                                        <p:attrNameLst>
                                          <p:attrName>ppt_y</p:attrName>
                                        </p:attrNameLst>
                                      </p:cBhvr>
                                      <p:tavLst>
                                        <p:tav tm="0">
                                          <p:val>
                                            <p:strVal val="#ppt_y+0.1"/>
                                          </p:val>
                                        </p:tav>
                                        <p:tav tm="100000">
                                          <p:val>
                                            <p:strVal val="#ppt_y"/>
                                          </p:val>
                                        </p:tav>
                                      </p:tavLst>
                                    </p:anim>
                                    <p:animEffect transition="in" filter="fade">
                                      <p:cBhvr>
                                        <p:cTn id="8" dur="500"/>
                                        <p:tgtEl>
                                          <p:spTgt spid="12"/>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ppt_y+0.1"/>
                                          </p:val>
                                        </p:tav>
                                        <p:tav tm="100000">
                                          <p:val>
                                            <p:strVal val="#ppt_y"/>
                                          </p:val>
                                        </p:tav>
                                      </p:tavLst>
                                    </p:anim>
                                    <p:animEffect transition="in" filter="fade">
                                      <p:cBhvr>
                                        <p:cTn id="13" dur="500"/>
                                        <p:tgtEl>
                                          <p:spTgt spid="13"/>
                                        </p:tgtEl>
                                      </p:cBhvr>
                                    </p:animEffect>
                                  </p:childTnLst>
                                </p:cTn>
                              </p:par>
                              <p:par>
                                <p:cTn id="19" presetID="2" presetClass="entr" presetSubtype="4" fill="hold" grpId="0" nodeType="withEffect">
                                  <p:stCondLst>
                                    <p:cond delay="9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ppt_y+0.1"/>
                                          </p:val>
                                        </p:tav>
                                        <p:tav tm="100000">
                                          <p:val>
                                            <p:strVal val="#ppt_y"/>
                                          </p:val>
                                        </p:tav>
                                      </p:tavLst>
                                    </p:anim>
                                    <p:animEffect transition="in" filter="fade">
                                      <p:cBhvr>
                                        <p:cTn id="18" dur="500"/>
                                        <p:tgtEl>
                                          <p:spTgt spid="14"/>
                                        </p:tgtEl>
                                      </p:cBhvr>
                                    </p:animEffect>
                                  </p:childTnLst>
                                </p:cTn>
                              </p:par>
                              <p:par>
                                <p:cTn id="24" presetID="2" presetClass="entr" presetSubtype="4" fill="hold" grpId="0" nodeType="withEffect">
                                  <p:stCondLst>
                                    <p:cond delay="9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18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ppt_y+0.1"/>
                                          </p:val>
                                        </p:tav>
                                        <p:tav tm="100000">
                                          <p:val>
                                            <p:strVal val="#ppt_y"/>
                                          </p:val>
                                        </p:tav>
                                      </p:tavLst>
                                    </p:anim>
                                    <p:animEffect transition="in" filter="fade">
                                      <p:cBhvr>
                                        <p:cTn id="28" dur="500"/>
                                        <p:tgtEl>
                                          <p:spTgt spid="16"/>
                                        </p:tgtEl>
                                      </p:cBhvr>
                                    </p:animEffect>
                                  </p:childTnLst>
                                </p:cTn>
                              </p:par>
                              <p:par>
                                <p:cTn id="34" presetID="2" presetClass="entr" presetSubtype="4" fill="hold" grpId="0" nodeType="withEffect">
                                  <p:stCondLst>
                                    <p:cond delay="18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27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ppt_y+0.1"/>
                                          </p:val>
                                        </p:tav>
                                        <p:tav tm="100000">
                                          <p:val>
                                            <p:strVal val="#ppt_y"/>
                                          </p:val>
                                        </p:tav>
                                      </p:tavLst>
                                    </p:anim>
                                    <p:animEffect transition="in" filter="fade">
                                      <p:cBhvr>
                                        <p:cTn id="38" dur="500"/>
                                        <p:tgtEl>
                                          <p:spTgt spid="18"/>
                                        </p:tgtEl>
                                      </p:cBhvr>
                                    </p:animEffect>
                                  </p:childTnLst>
                                </p:cTn>
                              </p:par>
                              <p:par>
                                <p:cTn id="44" presetID="2" presetClass="entr" presetSubtype="4" fill="hold" grpId="0" nodeType="withEffect">
                                  <p:stCondLst>
                                    <p:cond delay="270"/>
                                  </p:stCondLst>
                                  <p:childTnLst>
                                    <p:set>
                                      <p:cBhvr>
                                        <p:cTn id="40" dur="1" fill="hold">
                                          <p:stCondLst>
                                            <p:cond delay="0"/>
                                          </p:stCondLst>
                                        </p:cTn>
                                        <p:tgtEl>
                                          <p:spTgt spid="19"/>
                                        </p:tgtEl>
                                        <p:attrNameLst>
                                          <p:attrName>style.visibility</p:attrName>
                                        </p:attrNameLst>
                                      </p:cBhvr>
                                      <p:to>
                                        <p:strVal val="visible"/>
                                      </p:to>
                                    </p:set>
                                    <p:anim calcmode="lin" valueType="num">
                                      <p:cBhvr additive="base">
                                        <p:cTn id="41" dur="500" fill="hold"/>
                                        <p:tgtEl>
                                          <p:spTgt spid="19"/>
                                        </p:tgtEl>
                                        <p:attrNameLst>
                                          <p:attrName>ppt_x</p:attrName>
                                        </p:attrNameLst>
                                      </p:cBhvr>
                                      <p:tavLst>
                                        <p:tav tm="0">
                                          <p:val>
                                            <p:strVal val="#ppt_x"/>
                                          </p:val>
                                        </p:tav>
                                        <p:tav tm="100000">
                                          <p:val>
                                            <p:strVal val="#ppt_x"/>
                                          </p:val>
                                        </p:tav>
                                      </p:tavLst>
                                    </p:anim>
                                    <p:anim calcmode="lin" valueType="num">
                                      <p:cBhvr additive="base">
                                        <p:cTn id="42" dur="500" fill="hold"/>
                                        <p:tgtEl>
                                          <p:spTgt spid="19"/>
                                        </p:tgtEl>
                                        <p:attrNameLst>
                                          <p:attrName>ppt_y</p:attrName>
                                        </p:attrNameLst>
                                      </p:cBhvr>
                                      <p:tavLst>
                                        <p:tav tm="0">
                                          <p:val>
                                            <p:strVal val="#ppt_y+0.1"/>
                                          </p:val>
                                        </p:tav>
                                        <p:tav tm="100000">
                                          <p:val>
                                            <p:strVal val="#ppt_y"/>
                                          </p:val>
                                        </p:tav>
                                      </p:tavLst>
                                    </p:anim>
                                    <p:animEffect transition="in" filter="fade">
                                      <p:cBhvr>
                                        <p:cTn id="43" dur="500"/>
                                        <p:tgtEl>
                                          <p:spTgt spid="19"/>
                                        </p:tgtEl>
                                      </p:cBhvr>
                                    </p:animEffect>
                                  </p:childTnLst>
                                </p:cTn>
                              </p:par>
                              <p:par>
                                <p:cTn id="49" presetID="2" presetClass="entr" presetSubtype="4" fill="hold" grpId="0" nodeType="withEffect">
                                  <p:stCondLst>
                                    <p:cond delay="360"/>
                                  </p:stCondLst>
                                  <p:childTnLst>
                                    <p:set>
                                      <p:cBhvr>
                                        <p:cTn id="45" dur="1" fill="hold">
                                          <p:stCondLst>
                                            <p:cond delay="0"/>
                                          </p:stCondLst>
                                        </p:cTn>
                                        <p:tgtEl>
                                          <p:spTgt spid="20"/>
                                        </p:tgtEl>
                                        <p:attrNameLst>
                                          <p:attrName>style.visibility</p:attrName>
                                        </p:attrNameLst>
                                      </p:cBhvr>
                                      <p:to>
                                        <p:strVal val="visible"/>
                                      </p:to>
                                    </p:set>
                                    <p:anim calcmode="lin" valueType="num">
                                      <p:cBhvr additive="base">
                                        <p:cTn id="46" dur="500" fill="hold"/>
                                        <p:tgtEl>
                                          <p:spTgt spid="20"/>
                                        </p:tgtEl>
                                        <p:attrNameLst>
                                          <p:attrName>ppt_x</p:attrName>
                                        </p:attrNameLst>
                                      </p:cBhvr>
                                      <p:tavLst>
                                        <p:tav tm="0">
                                          <p:val>
                                            <p:strVal val="#ppt_x"/>
                                          </p:val>
                                        </p:tav>
                                        <p:tav tm="100000">
                                          <p:val>
                                            <p:strVal val="#ppt_x"/>
                                          </p:val>
                                        </p:tav>
                                      </p:tavLst>
                                    </p:anim>
                                    <p:anim calcmode="lin" valueType="num">
                                      <p:cBhvr additive="base">
                                        <p:cTn id="47" dur="500" fill="hold"/>
                                        <p:tgtEl>
                                          <p:spTgt spid="20"/>
                                        </p:tgtEl>
                                        <p:attrNameLst>
                                          <p:attrName>ppt_y</p:attrName>
                                        </p:attrNameLst>
                                      </p:cBhvr>
                                      <p:tavLst>
                                        <p:tav tm="0">
                                          <p:val>
                                            <p:strVal val="#ppt_y+0.1"/>
                                          </p:val>
                                        </p:tav>
                                        <p:tav tm="100000">
                                          <p:val>
                                            <p:strVal val="#ppt_y"/>
                                          </p:val>
                                        </p:tav>
                                      </p:tavLst>
                                    </p:anim>
                                    <p:animEffect transition="in" filter="fade">
                                      <p:cBhvr>
                                        <p:cTn id="48" dur="500"/>
                                        <p:tgtEl>
                                          <p:spTgt spid="20"/>
                                        </p:tgtEl>
                                      </p:cBhvr>
                                    </p:animEffect>
                                  </p:childTnLst>
                                </p:cTn>
                              </p:par>
                              <p:par>
                                <p:cTn id="54" presetID="2" presetClass="entr" presetSubtype="4" fill="hold" grpId="0" nodeType="withEffect">
                                  <p:stCondLst>
                                    <p:cond delay="360"/>
                                  </p:stCondLst>
                                  <p:childTnLst>
                                    <p:set>
                                      <p:cBhvr>
                                        <p:cTn id="50" dur="1" fill="hold">
                                          <p:stCondLst>
                                            <p:cond delay="0"/>
                                          </p:stCondLst>
                                        </p:cTn>
                                        <p:tgtEl>
                                          <p:spTgt spid="21"/>
                                        </p:tgtEl>
                                        <p:attrNameLst>
                                          <p:attrName>style.visibility</p:attrName>
                                        </p:attrNameLst>
                                      </p:cBhvr>
                                      <p:to>
                                        <p:strVal val="visible"/>
                                      </p:to>
                                    </p:set>
                                    <p:anim calcmode="lin" valueType="num">
                                      <p:cBhvr additive="base">
                                        <p:cTn id="51" dur="500" fill="hold"/>
                                        <p:tgtEl>
                                          <p:spTgt spid="21"/>
                                        </p:tgtEl>
                                        <p:attrNameLst>
                                          <p:attrName>ppt_x</p:attrName>
                                        </p:attrNameLst>
                                      </p:cBhvr>
                                      <p:tavLst>
                                        <p:tav tm="0">
                                          <p:val>
                                            <p:strVal val="#ppt_x"/>
                                          </p:val>
                                        </p:tav>
                                        <p:tav tm="100000">
                                          <p:val>
                                            <p:strVal val="#ppt_x"/>
                                          </p:val>
                                        </p:tav>
                                      </p:tavLst>
                                    </p:anim>
                                    <p:anim calcmode="lin" valueType="num">
                                      <p:cBhvr additive="base">
                                        <p:cTn id="52" dur="500" fill="hold"/>
                                        <p:tgtEl>
                                          <p:spTgt spid="21"/>
                                        </p:tgtEl>
                                        <p:attrNameLst>
                                          <p:attrName>ppt_y</p:attrName>
                                        </p:attrNameLst>
                                      </p:cBhvr>
                                      <p:tavLst>
                                        <p:tav tm="0">
                                          <p:val>
                                            <p:strVal val="#ppt_y+0.1"/>
                                          </p:val>
                                        </p:tav>
                                        <p:tav tm="100000">
                                          <p:val>
                                            <p:strVal val="#ppt_y"/>
                                          </p:val>
                                        </p:tav>
                                      </p:tavLst>
                                    </p:anim>
                                    <p:animEffect transition="in" filter="fade">
                                      <p:cBhvr>
                                        <p:cTn id="53" dur="500"/>
                                        <p:tgtEl>
                                          <p:spTgt spid="21"/>
                                        </p:tgtEl>
                                      </p:cBhvr>
                                    </p:animEffect>
                                  </p:childTnLst>
                                </p:cTn>
                              </p:par>
                            </p:childTnLst>
                          </p:cTn>
                        </p:par>
                      </p:childTnLst>
                    </p:cTn>
                  </p:par>
                  <p:par>
                    <p:cTn id="55" fill="hold">
                      <p:stCondLst>
                        <p:cond delay="indefinite"/>
                      </p:stCondLst>
                      <p:childTnLst>
                        <p:par>
                          <p:cTn id="56" fill="hold">
                            <p:stCondLst>
                              <p:cond delay="0"/>
                            </p:stCondLst>
                            <p:childTnLst>
                              <p:par>
                                <p:cTn id="61" presetID="2" presetClass="entr" presetSubtype="4"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 calcmode="lin" valueType="num">
                                      <p:cBhvr additive="base">
                                        <p:cTn id="58" dur="500" fill="hold"/>
                                        <p:tgtEl>
                                          <p:spTgt spid="22"/>
                                        </p:tgtEl>
                                        <p:attrNameLst>
                                          <p:attrName>ppt_x</p:attrName>
                                        </p:attrNameLst>
                                      </p:cBhvr>
                                      <p:tavLst>
                                        <p:tav tm="0">
                                          <p:val>
                                            <p:strVal val="#ppt_x"/>
                                          </p:val>
                                        </p:tav>
                                        <p:tav tm="100000">
                                          <p:val>
                                            <p:strVal val="#ppt_x"/>
                                          </p:val>
                                        </p:tav>
                                      </p:tavLst>
                                    </p:anim>
                                    <p:anim calcmode="lin" valueType="num">
                                      <p:cBhvr additive="base">
                                        <p:cTn id="59" dur="500" fill="hold"/>
                                        <p:tgtEl>
                                          <p:spTgt spid="22"/>
                                        </p:tgtEl>
                                        <p:attrNameLst>
                                          <p:attrName>ppt_y</p:attrName>
                                        </p:attrNameLst>
                                      </p:cBhvr>
                                      <p:tavLst>
                                        <p:tav tm="0">
                                          <p:val>
                                            <p:strVal val="#ppt_y+0.1"/>
                                          </p:val>
                                        </p:tav>
                                        <p:tav tm="100000">
                                          <p:val>
                                            <p:strVal val="#ppt_y"/>
                                          </p:val>
                                        </p:tav>
                                      </p:tavLst>
                                    </p:anim>
                                    <p:animEffect transition="in" filter="fade">
                                      <p:cBhvr>
                                        <p:cTn id="60" dur="500"/>
                                        <p:tgtEl>
                                          <p:spTgt spid="22"/>
                                        </p:tgtEl>
                                      </p:cBhvr>
                                    </p:animEffect>
                                  </p:childTnLst>
                                </p:cTn>
                              </p:par>
                              <p:par>
                                <p:cTn id="66" presetID="2" presetClass="entr" presetSubtype="4"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 calcmode="lin" valueType="num">
                                      <p:cBhvr additive="base">
                                        <p:cTn id="63" dur="500" fill="hold"/>
                                        <p:tgtEl>
                                          <p:spTgt spid="23"/>
                                        </p:tgtEl>
                                        <p:attrNameLst>
                                          <p:attrName>ppt_x</p:attrName>
                                        </p:attrNameLst>
                                      </p:cBhvr>
                                      <p:tavLst>
                                        <p:tav tm="0">
                                          <p:val>
                                            <p:strVal val="#ppt_x"/>
                                          </p:val>
                                        </p:tav>
                                        <p:tav tm="100000">
                                          <p:val>
                                            <p:strVal val="#ppt_x"/>
                                          </p:val>
                                        </p:tav>
                                      </p:tavLst>
                                    </p:anim>
                                    <p:anim calcmode="lin" valueType="num">
                                      <p:cBhvr additive="base">
                                        <p:cTn id="64" dur="500" fill="hold"/>
                                        <p:tgtEl>
                                          <p:spTgt spid="23"/>
                                        </p:tgtEl>
                                        <p:attrNameLst>
                                          <p:attrName>ppt_y</p:attrName>
                                        </p:attrNameLst>
                                      </p:cBhvr>
                                      <p:tavLst>
                                        <p:tav tm="0">
                                          <p:val>
                                            <p:strVal val="#ppt_y+0.1"/>
                                          </p:val>
                                        </p:tav>
                                        <p:tav tm="100000">
                                          <p:val>
                                            <p:strVal val="#ppt_y"/>
                                          </p:val>
                                        </p:tav>
                                      </p:tavLst>
                                    </p:anim>
                                    <p:animEffect transition="in" filter="fade">
                                      <p:cBhvr>
                                        <p:cTn id="65" dur="500"/>
                                        <p:tgtEl>
                                          <p:spTgt spid="23"/>
                                        </p:tgtEl>
                                      </p:cBhvr>
                                    </p:animEffect>
                                  </p:childTnLst>
                                </p:cTn>
                              </p:par>
                              <p:par>
                                <p:cTn id="69"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72" presetID="10" presetClass="entr" presetSubtype="0" fill="hold" grpId="0" nodeType="withEffect">
                                  <p:stCondLst>
                                    <p:cond delay="8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5" presetID="10" presetClass="entr" presetSubtype="0" fill="hold" grpId="0" nodeType="withEffect">
                                  <p:stCondLst>
                                    <p:cond delay="16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8" presetID="10" presetClass="entr" presetSubtype="0" fill="hold" grpId="0" nodeType="withEffect">
                                  <p:stCondLst>
                                    <p:cond delay="24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81" presetID="10" presetClass="entr" presetSubtype="0" fill="hold" grpId="0" nodeType="withEffect">
                                  <p:stCondLst>
                                    <p:cond delay="32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childTnLst>
                          </p:cTn>
                        </p:par>
                      </p:childTnLst>
                    </p:cTn>
                  </p:par>
                  <p:par>
                    <p:cTn id="82" fill="hold">
                      <p:stCondLst>
                        <p:cond delay="indefinite"/>
                      </p:stCondLst>
                      <p:childTnLst>
                        <p:par>
                          <p:cTn id="83" fill="hold">
                            <p:stCondLst>
                              <p:cond delay="0"/>
                            </p:stCondLst>
                            <p:childTnLst>
                              <p:par>
                                <p:cTn id="88" presetID="2" presetClass="entr" presetSubtype="4" fill="hold" grpId="0" nodeType="clickEffect">
                                  <p:stCondLst>
                                    <p:cond delay="0"/>
                                  </p:stCondLst>
                                  <p:childTnLst>
                                    <p:set>
                                      <p:cBhvr>
                                        <p:cTn id="84" dur="1" fill="hold">
                                          <p:stCondLst>
                                            <p:cond delay="0"/>
                                          </p:stCondLst>
                                        </p:cTn>
                                        <p:tgtEl>
                                          <p:spTgt spid="29"/>
                                        </p:tgtEl>
                                        <p:attrNameLst>
                                          <p:attrName>style.visibility</p:attrName>
                                        </p:attrNameLst>
                                      </p:cBhvr>
                                      <p:to>
                                        <p:strVal val="visible"/>
                                      </p:to>
                                    </p:set>
                                    <p:anim calcmode="lin" valueType="num">
                                      <p:cBhvr additive="base">
                                        <p:cTn id="85" dur="500" fill="hold"/>
                                        <p:tgtEl>
                                          <p:spTgt spid="29"/>
                                        </p:tgtEl>
                                        <p:attrNameLst>
                                          <p:attrName>ppt_x</p:attrName>
                                        </p:attrNameLst>
                                      </p:cBhvr>
                                      <p:tavLst>
                                        <p:tav tm="0">
                                          <p:val>
                                            <p:strVal val="#ppt_x"/>
                                          </p:val>
                                        </p:tav>
                                        <p:tav tm="100000">
                                          <p:val>
                                            <p:strVal val="#ppt_x"/>
                                          </p:val>
                                        </p:tav>
                                      </p:tavLst>
                                    </p:anim>
                                    <p:anim calcmode="lin" valueType="num">
                                      <p:cBhvr additive="base">
                                        <p:cTn id="86" dur="500" fill="hold"/>
                                        <p:tgtEl>
                                          <p:spTgt spid="29"/>
                                        </p:tgtEl>
                                        <p:attrNameLst>
                                          <p:attrName>ppt_y</p:attrName>
                                        </p:attrNameLst>
                                      </p:cBhvr>
                                      <p:tavLst>
                                        <p:tav tm="0">
                                          <p:val>
                                            <p:strVal val="#ppt_y+0.1"/>
                                          </p:val>
                                        </p:tav>
                                        <p:tav tm="100000">
                                          <p:val>
                                            <p:strVal val="#ppt_y"/>
                                          </p:val>
                                        </p:tav>
                                      </p:tavLst>
                                    </p:anim>
                                    <p:animEffect transition="in" filter="fade">
                                      <p:cBhvr>
                                        <p:cTn id="87" dur="500"/>
                                        <p:tgtEl>
                                          <p:spTgt spid="29"/>
                                        </p:tgtEl>
                                      </p:cBhvr>
                                    </p:animEffect>
                                  </p:childTnLst>
                                </p:cTn>
                              </p:par>
                              <p:par>
                                <p:cTn id="93" presetID="2" presetClass="entr" presetSubtype="4"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 calcmode="lin" valueType="num">
                                      <p:cBhvr additive="base">
                                        <p:cTn id="90" dur="500" fill="hold"/>
                                        <p:tgtEl>
                                          <p:spTgt spid="30"/>
                                        </p:tgtEl>
                                        <p:attrNameLst>
                                          <p:attrName>ppt_x</p:attrName>
                                        </p:attrNameLst>
                                      </p:cBhvr>
                                      <p:tavLst>
                                        <p:tav tm="0">
                                          <p:val>
                                            <p:strVal val="#ppt_x"/>
                                          </p:val>
                                        </p:tav>
                                        <p:tav tm="100000">
                                          <p:val>
                                            <p:strVal val="#ppt_x"/>
                                          </p:val>
                                        </p:tav>
                                      </p:tavLst>
                                    </p:anim>
                                    <p:anim calcmode="lin" valueType="num">
                                      <p:cBhvr additive="base">
                                        <p:cTn id="91" dur="500" fill="hold"/>
                                        <p:tgtEl>
                                          <p:spTgt spid="30"/>
                                        </p:tgtEl>
                                        <p:attrNameLst>
                                          <p:attrName>ppt_y</p:attrName>
                                        </p:attrNameLst>
                                      </p:cBhvr>
                                      <p:tavLst>
                                        <p:tav tm="0">
                                          <p:val>
                                            <p:strVal val="#ppt_y+0.1"/>
                                          </p:val>
                                        </p:tav>
                                        <p:tav tm="100000">
                                          <p:val>
                                            <p:strVal val="#ppt_y"/>
                                          </p:val>
                                        </p:tav>
                                      </p:tavLst>
                                    </p:anim>
                                    <p:animEffect transition="in" filter="fade">
                                      <p:cBhvr>
                                        <p:cTn id="92" dur="500"/>
                                        <p:tgtEl>
                                          <p:spTgt spid="30"/>
                                        </p:tgtEl>
                                      </p:cBhvr>
                                    </p:animEffect>
                                  </p:childTnLst>
                                </p:cTn>
                              </p:par>
                              <p:par>
                                <p:cTn id="98" presetID="2" presetClass="entr" presetSubtype="4"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 calcmode="lin" valueType="num">
                                      <p:cBhvr additive="base">
                                        <p:cTn id="95" dur="500" fill="hold"/>
                                        <p:tgtEl>
                                          <p:spTgt spid="31"/>
                                        </p:tgtEl>
                                        <p:attrNameLst>
                                          <p:attrName>ppt_x</p:attrName>
                                        </p:attrNameLst>
                                      </p:cBhvr>
                                      <p:tavLst>
                                        <p:tav tm="0">
                                          <p:val>
                                            <p:strVal val="#ppt_x"/>
                                          </p:val>
                                        </p:tav>
                                        <p:tav tm="100000">
                                          <p:val>
                                            <p:strVal val="#ppt_x"/>
                                          </p:val>
                                        </p:tav>
                                      </p:tavLst>
                                    </p:anim>
                                    <p:anim calcmode="lin" valueType="num">
                                      <p:cBhvr additive="base">
                                        <p:cTn id="96" dur="500" fill="hold"/>
                                        <p:tgtEl>
                                          <p:spTgt spid="31"/>
                                        </p:tgtEl>
                                        <p:attrNameLst>
                                          <p:attrName>ppt_y</p:attrName>
                                        </p:attrNameLst>
                                      </p:cBhvr>
                                      <p:tavLst>
                                        <p:tav tm="0">
                                          <p:val>
                                            <p:strVal val="#ppt_y+0.1"/>
                                          </p:val>
                                        </p:tav>
                                        <p:tav tm="100000">
                                          <p:val>
                                            <p:strVal val="#ppt_y"/>
                                          </p:val>
                                        </p:tav>
                                      </p:tavLst>
                                    </p:anim>
                                    <p:animEffect transition="in" filter="fade">
                                      <p:cBhvr>
                                        <p:cTn id="97" dur="500"/>
                                        <p:tgtEl>
                                          <p:spTgt spid="31"/>
                                        </p:tgtEl>
                                      </p:cBhvr>
                                    </p:animEffect>
                                  </p:childTnLst>
                                </p:cTn>
                              </p:par>
                            </p:childTnLst>
                          </p:cTn>
                        </p:par>
                      </p:childTnLst>
                    </p:cTn>
                  </p:par>
                  <p:par>
                    <p:cTn id="99" fill="hold">
                      <p:stCondLst>
                        <p:cond delay="indefinite"/>
                      </p:stCondLst>
                      <p:childTnLst>
                        <p:par>
                          <p:cTn id="100" fill="hold">
                            <p:stCondLst>
                              <p:cond delay="0"/>
                            </p:stCondLst>
                            <p:childTnLst>
                              <p:par>
                                <p:cTn id="105" presetID="2" presetClass="entr" presetSubtype="4" fill="hold" grpId="0" nodeType="clickEffect">
                                  <p:stCondLst>
                                    <p:cond delay="0"/>
                                  </p:stCondLst>
                                  <p:childTnLst>
                                    <p:set>
                                      <p:cBhvr>
                                        <p:cTn id="101" dur="1" fill="hold">
                                          <p:stCondLst>
                                            <p:cond delay="0"/>
                                          </p:stCondLst>
                                        </p:cTn>
                                        <p:tgtEl>
                                          <p:spTgt spid="32"/>
                                        </p:tgtEl>
                                        <p:attrNameLst>
                                          <p:attrName>style.visibility</p:attrName>
                                        </p:attrNameLst>
                                      </p:cBhvr>
                                      <p:to>
                                        <p:strVal val="visible"/>
                                      </p:to>
                                    </p:set>
                                    <p:anim calcmode="lin" valueType="num">
                                      <p:cBhvr additive="base">
                                        <p:cTn id="102" dur="500" fill="hold"/>
                                        <p:tgtEl>
                                          <p:spTgt spid="32"/>
                                        </p:tgtEl>
                                        <p:attrNameLst>
                                          <p:attrName>ppt_x</p:attrName>
                                        </p:attrNameLst>
                                      </p:cBhvr>
                                      <p:tavLst>
                                        <p:tav tm="0">
                                          <p:val>
                                            <p:strVal val="#ppt_x"/>
                                          </p:val>
                                        </p:tav>
                                        <p:tav tm="100000">
                                          <p:val>
                                            <p:strVal val="#ppt_x"/>
                                          </p:val>
                                        </p:tav>
                                      </p:tavLst>
                                    </p:anim>
                                    <p:anim calcmode="lin" valueType="num">
                                      <p:cBhvr additive="base">
                                        <p:cTn id="103" dur="500" fill="hold"/>
                                        <p:tgtEl>
                                          <p:spTgt spid="32"/>
                                        </p:tgtEl>
                                        <p:attrNameLst>
                                          <p:attrName>ppt_y</p:attrName>
                                        </p:attrNameLst>
                                      </p:cBhvr>
                                      <p:tavLst>
                                        <p:tav tm="0">
                                          <p:val>
                                            <p:strVal val="#ppt_y+0.1"/>
                                          </p:val>
                                        </p:tav>
                                        <p:tav tm="100000">
                                          <p:val>
                                            <p:strVal val="#ppt_y"/>
                                          </p:val>
                                        </p:tav>
                                      </p:tavLst>
                                    </p:anim>
                                    <p:animEffect transition="in" filter="fade">
                                      <p:cBhvr>
                                        <p:cTn id="104" dur="500"/>
                                        <p:tgtEl>
                                          <p:spTgt spid="32"/>
                                        </p:tgtEl>
                                      </p:cBhvr>
                                    </p:animEffect>
                                  </p:childTnLst>
                                </p:cTn>
                              </p:par>
                              <p:par>
                                <p:cTn id="110" presetID="2" presetClass="entr" presetSubtype="4" fill="hold" grpId="0" nodeType="withEffect">
                                  <p:stCondLst>
                                    <p:cond delay="0"/>
                                  </p:stCondLst>
                                  <p:childTnLst>
                                    <p:set>
                                      <p:cBhvr>
                                        <p:cTn id="106" dur="1" fill="hold">
                                          <p:stCondLst>
                                            <p:cond delay="0"/>
                                          </p:stCondLst>
                                        </p:cTn>
                                        <p:tgtEl>
                                          <p:spTgt spid="33"/>
                                        </p:tgtEl>
                                        <p:attrNameLst>
                                          <p:attrName>style.visibility</p:attrName>
                                        </p:attrNameLst>
                                      </p:cBhvr>
                                      <p:to>
                                        <p:strVal val="visible"/>
                                      </p:to>
                                    </p:set>
                                    <p:anim calcmode="lin" valueType="num">
                                      <p:cBhvr additive="base">
                                        <p:cTn id="107" dur="500" fill="hold"/>
                                        <p:tgtEl>
                                          <p:spTgt spid="33"/>
                                        </p:tgtEl>
                                        <p:attrNameLst>
                                          <p:attrName>ppt_x</p:attrName>
                                        </p:attrNameLst>
                                      </p:cBhvr>
                                      <p:tavLst>
                                        <p:tav tm="0">
                                          <p:val>
                                            <p:strVal val="#ppt_x"/>
                                          </p:val>
                                        </p:tav>
                                        <p:tav tm="100000">
                                          <p:val>
                                            <p:strVal val="#ppt_x"/>
                                          </p:val>
                                        </p:tav>
                                      </p:tavLst>
                                    </p:anim>
                                    <p:anim calcmode="lin" valueType="num">
                                      <p:cBhvr additive="base">
                                        <p:cTn id="108" dur="500" fill="hold"/>
                                        <p:tgtEl>
                                          <p:spTgt spid="33"/>
                                        </p:tgtEl>
                                        <p:attrNameLst>
                                          <p:attrName>ppt_y</p:attrName>
                                        </p:attrNameLst>
                                      </p:cBhvr>
                                      <p:tavLst>
                                        <p:tav tm="0">
                                          <p:val>
                                            <p:strVal val="#ppt_y+0.1"/>
                                          </p:val>
                                        </p:tav>
                                        <p:tav tm="100000">
                                          <p:val>
                                            <p:strVal val="#ppt_y"/>
                                          </p:val>
                                        </p:tav>
                                      </p:tavLst>
                                    </p:anim>
                                    <p:animEffect transition="in" filter="fade">
                                      <p:cBhvr>
                                        <p:cTn id="109" dur="500"/>
                                        <p:tgtEl>
                                          <p:spTgt spid="33"/>
                                        </p:tgtEl>
                                      </p:cBhvr>
                                    </p:animEffect>
                                  </p:childTnLst>
                                </p:cTn>
                              </p:par>
                              <p:par>
                                <p:cTn id="115" presetID="2" presetClass="entr" presetSubtype="4" fill="hold" grpId="0" nodeType="withEffect">
                                  <p:stCondLst>
                                    <p:cond delay="0"/>
                                  </p:stCondLst>
                                  <p:childTnLst>
                                    <p:set>
                                      <p:cBhvr>
                                        <p:cTn id="111" dur="1" fill="hold">
                                          <p:stCondLst>
                                            <p:cond delay="0"/>
                                          </p:stCondLst>
                                        </p:cTn>
                                        <p:tgtEl>
                                          <p:spTgt spid="34"/>
                                        </p:tgtEl>
                                        <p:attrNameLst>
                                          <p:attrName>style.visibility</p:attrName>
                                        </p:attrNameLst>
                                      </p:cBhvr>
                                      <p:to>
                                        <p:strVal val="visible"/>
                                      </p:to>
                                    </p:set>
                                    <p:anim calcmode="lin" valueType="num">
                                      <p:cBhvr additive="base">
                                        <p:cTn id="112" dur="500" fill="hold"/>
                                        <p:tgtEl>
                                          <p:spTgt spid="34"/>
                                        </p:tgtEl>
                                        <p:attrNameLst>
                                          <p:attrName>ppt_x</p:attrName>
                                        </p:attrNameLst>
                                      </p:cBhvr>
                                      <p:tavLst>
                                        <p:tav tm="0">
                                          <p:val>
                                            <p:strVal val="#ppt_x"/>
                                          </p:val>
                                        </p:tav>
                                        <p:tav tm="100000">
                                          <p:val>
                                            <p:strVal val="#ppt_x"/>
                                          </p:val>
                                        </p:tav>
                                      </p:tavLst>
                                    </p:anim>
                                    <p:anim calcmode="lin" valueType="num">
                                      <p:cBhvr additive="base">
                                        <p:cTn id="113" dur="500" fill="hold"/>
                                        <p:tgtEl>
                                          <p:spTgt spid="34"/>
                                        </p:tgtEl>
                                        <p:attrNameLst>
                                          <p:attrName>ppt_y</p:attrName>
                                        </p:attrNameLst>
                                      </p:cBhvr>
                                      <p:tavLst>
                                        <p:tav tm="0">
                                          <p:val>
                                            <p:strVal val="#ppt_y+0.1"/>
                                          </p:val>
                                        </p:tav>
                                        <p:tav tm="100000">
                                          <p:val>
                                            <p:strVal val="#ppt_y"/>
                                          </p:val>
                                        </p:tav>
                                      </p:tavLst>
                                    </p:anim>
                                    <p:animEffect transition="in" filter="fade">
                                      <p:cBhvr>
                                        <p:cTn id="114" dur="500"/>
                                        <p:tgtEl>
                                          <p:spTgt spid="34"/>
                                        </p:tgtEl>
                                      </p:cBhvr>
                                    </p:animEffect>
                                  </p:childTnLst>
                                </p:cTn>
                              </p:par>
                            </p:childTnLst>
                          </p:cTn>
                        </p:par>
                      </p:childTnLst>
                    </p:cTn>
                  </p:par>
                  <p:par>
                    <p:cTn id="116" fill="hold">
                      <p:stCondLst>
                        <p:cond delay="indefinite"/>
                      </p:stCondLst>
                      <p:childTnLst>
                        <p:par>
                          <p:cTn id="117" fill="hold">
                            <p:stCondLst>
                              <p:cond delay="0"/>
                            </p:stCondLst>
                            <p:childTnLst>
                              <p:par>
                                <p:cTn id="122" presetID="2" presetClass="entr" presetSubtype="4" fill="hold" grpId="0" nodeType="clickEffect">
                                  <p:stCondLst>
                                    <p:cond delay="0"/>
                                  </p:stCondLst>
                                  <p:childTnLst>
                                    <p:set>
                                      <p:cBhvr>
                                        <p:cTn id="118" dur="1" fill="hold">
                                          <p:stCondLst>
                                            <p:cond delay="0"/>
                                          </p:stCondLst>
                                        </p:cTn>
                                        <p:tgtEl>
                                          <p:spTgt spid="35"/>
                                        </p:tgtEl>
                                        <p:attrNameLst>
                                          <p:attrName>style.visibility</p:attrName>
                                        </p:attrNameLst>
                                      </p:cBhvr>
                                      <p:to>
                                        <p:strVal val="visible"/>
                                      </p:to>
                                    </p:set>
                                    <p:anim calcmode="lin" valueType="num">
                                      <p:cBhvr additive="base">
                                        <p:cTn id="119" dur="500" fill="hold"/>
                                        <p:tgtEl>
                                          <p:spTgt spid="35"/>
                                        </p:tgtEl>
                                        <p:attrNameLst>
                                          <p:attrName>ppt_x</p:attrName>
                                        </p:attrNameLst>
                                      </p:cBhvr>
                                      <p:tavLst>
                                        <p:tav tm="0">
                                          <p:val>
                                            <p:strVal val="#ppt_x"/>
                                          </p:val>
                                        </p:tav>
                                        <p:tav tm="100000">
                                          <p:val>
                                            <p:strVal val="#ppt_x"/>
                                          </p:val>
                                        </p:tav>
                                      </p:tavLst>
                                    </p:anim>
                                    <p:anim calcmode="lin" valueType="num">
                                      <p:cBhvr additive="base">
                                        <p:cTn id="120" dur="500" fill="hold"/>
                                        <p:tgtEl>
                                          <p:spTgt spid="35"/>
                                        </p:tgtEl>
                                        <p:attrNameLst>
                                          <p:attrName>ppt_y</p:attrName>
                                        </p:attrNameLst>
                                      </p:cBhvr>
                                      <p:tavLst>
                                        <p:tav tm="0">
                                          <p:val>
                                            <p:strVal val="#ppt_y+0.1"/>
                                          </p:val>
                                        </p:tav>
                                        <p:tav tm="100000">
                                          <p:val>
                                            <p:strVal val="#ppt_y"/>
                                          </p:val>
                                        </p:tav>
                                      </p:tavLst>
                                    </p:anim>
                                    <p:animEffect transition="in" filter="fade">
                                      <p:cBhvr>
                                        <p:cTn id="121" dur="500"/>
                                        <p:tgtEl>
                                          <p:spTgt spid="35"/>
                                        </p:tgtEl>
                                      </p:cBhvr>
                                    </p:animEffect>
                                  </p:childTnLst>
                                </p:cTn>
                              </p:par>
                              <p:par>
                                <p:cTn id="127" presetID="2" presetClass="entr" presetSubtype="4" fill="hold" grpId="0" nodeType="withEffect">
                                  <p:stCondLst>
                                    <p:cond delay="0"/>
                                  </p:stCondLst>
                                  <p:childTnLst>
                                    <p:set>
                                      <p:cBhvr>
                                        <p:cTn id="123" dur="1" fill="hold">
                                          <p:stCondLst>
                                            <p:cond delay="0"/>
                                          </p:stCondLst>
                                        </p:cTn>
                                        <p:tgtEl>
                                          <p:spTgt spid="36"/>
                                        </p:tgtEl>
                                        <p:attrNameLst>
                                          <p:attrName>style.visibility</p:attrName>
                                        </p:attrNameLst>
                                      </p:cBhvr>
                                      <p:to>
                                        <p:strVal val="visible"/>
                                      </p:to>
                                    </p:set>
                                    <p:anim calcmode="lin" valueType="num">
                                      <p:cBhvr additive="base">
                                        <p:cTn id="124" dur="500" fill="hold"/>
                                        <p:tgtEl>
                                          <p:spTgt spid="36"/>
                                        </p:tgtEl>
                                        <p:attrNameLst>
                                          <p:attrName>ppt_x</p:attrName>
                                        </p:attrNameLst>
                                      </p:cBhvr>
                                      <p:tavLst>
                                        <p:tav tm="0">
                                          <p:val>
                                            <p:strVal val="#ppt_x"/>
                                          </p:val>
                                        </p:tav>
                                        <p:tav tm="100000">
                                          <p:val>
                                            <p:strVal val="#ppt_x"/>
                                          </p:val>
                                        </p:tav>
                                      </p:tavLst>
                                    </p:anim>
                                    <p:anim calcmode="lin" valueType="num">
                                      <p:cBhvr additive="base">
                                        <p:cTn id="125" dur="500" fill="hold"/>
                                        <p:tgtEl>
                                          <p:spTgt spid="36"/>
                                        </p:tgtEl>
                                        <p:attrNameLst>
                                          <p:attrName>ppt_y</p:attrName>
                                        </p:attrNameLst>
                                      </p:cBhvr>
                                      <p:tavLst>
                                        <p:tav tm="0">
                                          <p:val>
                                            <p:strVal val="#ppt_y+0.1"/>
                                          </p:val>
                                        </p:tav>
                                        <p:tav tm="100000">
                                          <p:val>
                                            <p:strVal val="#ppt_y"/>
                                          </p:val>
                                        </p:tav>
                                      </p:tavLst>
                                    </p:anim>
                                    <p:animEffect transition="in" filter="fade">
                                      <p:cBhvr>
                                        <p:cTn id="126" dur="500"/>
                                        <p:tgtEl>
                                          <p:spTgt spid="36"/>
                                        </p:tgtEl>
                                      </p:cBhvr>
                                    </p:animEffect>
                                  </p:childTnLst>
                                </p:cTn>
                              </p:par>
                              <p:par>
                                <p:cTn id="132" presetID="2" presetClass="entr" presetSubtype="4" fill="hold" grpId="0" nodeType="withEffect">
                                  <p:stCondLst>
                                    <p:cond delay="0"/>
                                  </p:stCondLst>
                                  <p:childTnLst>
                                    <p:set>
                                      <p:cBhvr>
                                        <p:cTn id="128" dur="1" fill="hold">
                                          <p:stCondLst>
                                            <p:cond delay="0"/>
                                          </p:stCondLst>
                                        </p:cTn>
                                        <p:tgtEl>
                                          <p:spTgt spid="37"/>
                                        </p:tgtEl>
                                        <p:attrNameLst>
                                          <p:attrName>style.visibility</p:attrName>
                                        </p:attrNameLst>
                                      </p:cBhvr>
                                      <p:to>
                                        <p:strVal val="visible"/>
                                      </p:to>
                                    </p:set>
                                    <p:anim calcmode="lin" valueType="num">
                                      <p:cBhvr additive="base">
                                        <p:cTn id="129" dur="500" fill="hold"/>
                                        <p:tgtEl>
                                          <p:spTgt spid="37"/>
                                        </p:tgtEl>
                                        <p:attrNameLst>
                                          <p:attrName>ppt_x</p:attrName>
                                        </p:attrNameLst>
                                      </p:cBhvr>
                                      <p:tavLst>
                                        <p:tav tm="0">
                                          <p:val>
                                            <p:strVal val="#ppt_x"/>
                                          </p:val>
                                        </p:tav>
                                        <p:tav tm="100000">
                                          <p:val>
                                            <p:strVal val="#ppt_x"/>
                                          </p:val>
                                        </p:tav>
                                      </p:tavLst>
                                    </p:anim>
                                    <p:anim calcmode="lin" valueType="num">
                                      <p:cBhvr additive="base">
                                        <p:cTn id="130" dur="500" fill="hold"/>
                                        <p:tgtEl>
                                          <p:spTgt spid="37"/>
                                        </p:tgtEl>
                                        <p:attrNameLst>
                                          <p:attrName>ppt_y</p:attrName>
                                        </p:attrNameLst>
                                      </p:cBhvr>
                                      <p:tavLst>
                                        <p:tav tm="0">
                                          <p:val>
                                            <p:strVal val="#ppt_y+0.1"/>
                                          </p:val>
                                        </p:tav>
                                        <p:tav tm="100000">
                                          <p:val>
                                            <p:strVal val="#ppt_y"/>
                                          </p:val>
                                        </p:tav>
                                      </p:tavLst>
                                    </p:anim>
                                    <p:animEffect transition="in" filter="fade">
                                      <p:cBhvr>
                                        <p:cTn id="13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Arithmetic of Direct Connections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N senders wired directly to M receivers need N x M connections</a:t>
            </a:r>
          </a:p>
        </p:txBody>
      </p:sp>
      <p:sp>
        <p:nvSpPr>
          <p:cNvPr id="11" name="a1u_card10"/>
          <p:cNvSpPr/>
          <p:nvPr/>
        </p:nvSpPr>
        <p:spPr>
          <a:xfrm>
            <a:off x="457200" y="1234440"/>
            <a:ext cx="4023360" cy="2743200"/>
          </a:xfrm>
          <a:prstGeom prst="roundRect">
            <a:avLst>
              <a:gd name="adj" fmla="val 4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50292" cy="27432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44168"/>
            <a:ext cx="3657600" cy="237744"/>
          </a:xfrm>
          <a:prstGeom prst="rect">
            <a:avLst/>
          </a:prstGeom>
          <a:noFill/>
        </p:spPr>
        <p:txBody>
          <a:bodyPr wrap="square" lIns="0" tIns="0" rIns="0" bIns="0" anchor="ctr">
            <a:spAutoFit/>
          </a:bodyPr>
          <a:lstStyle/>
          <a:p>
            <a:pPr algn="l"/>
            <a:r>
              <a:rPr sz="900" b="1">
                <a:solidFill>
                  <a:srgbClr val="E11D48"/>
                </a:solidFill>
                <a:latin typeface="Segoe UI"/>
              </a:rPr>
              <a:t>DIRECT:  5 x 3 = 15 CONNECTIONS</a:t>
            </a:r>
          </a:p>
        </p:txBody>
      </p:sp>
      <p:sp>
        <p:nvSpPr>
          <p:cNvPr id="14" name="a1u_nd13"/>
          <p:cNvSpPr/>
          <p:nvPr/>
        </p:nvSpPr>
        <p:spPr>
          <a:xfrm>
            <a:off x="685800" y="1645920"/>
            <a:ext cx="1005840" cy="329184"/>
          </a:xfrm>
          <a:prstGeom prst="roundRect">
            <a:avLst>
              <a:gd name="adj" fmla="val 22222"/>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_ndt14"/>
          <p:cNvSpPr txBox="1"/>
          <p:nvPr/>
        </p:nvSpPr>
        <p:spPr>
          <a:xfrm>
            <a:off x="731520" y="1645920"/>
            <a:ext cx="914400" cy="329184"/>
          </a:xfrm>
          <a:prstGeom prst="rect">
            <a:avLst/>
          </a:prstGeom>
          <a:noFill/>
        </p:spPr>
        <p:txBody>
          <a:bodyPr wrap="square" lIns="0" tIns="0" rIns="0" bIns="0" anchor="ctr">
            <a:spAutoFit/>
          </a:bodyPr>
          <a:lstStyle/>
          <a:p>
            <a:pPr algn="ctr"/>
            <a:r>
              <a:rPr sz="800" b="1">
                <a:solidFill>
                  <a:srgbClr val="1C1917"/>
                </a:solidFill>
                <a:latin typeface="Segoe UI"/>
              </a:rPr>
              <a:t>Frontend</a:t>
            </a:r>
          </a:p>
        </p:txBody>
      </p:sp>
      <p:sp>
        <p:nvSpPr>
          <p:cNvPr id="16" name="a1ud40_nd15"/>
          <p:cNvSpPr/>
          <p:nvPr/>
        </p:nvSpPr>
        <p:spPr>
          <a:xfrm>
            <a:off x="685800" y="2084832"/>
            <a:ext cx="1005840" cy="329184"/>
          </a:xfrm>
          <a:prstGeom prst="roundRect">
            <a:avLst>
              <a:gd name="adj" fmla="val 22222"/>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40_ndt16"/>
          <p:cNvSpPr txBox="1"/>
          <p:nvPr/>
        </p:nvSpPr>
        <p:spPr>
          <a:xfrm>
            <a:off x="731520" y="2084832"/>
            <a:ext cx="914400" cy="329184"/>
          </a:xfrm>
          <a:prstGeom prst="rect">
            <a:avLst/>
          </a:prstGeom>
          <a:noFill/>
        </p:spPr>
        <p:txBody>
          <a:bodyPr wrap="square" lIns="0" tIns="0" rIns="0" bIns="0" anchor="ctr">
            <a:spAutoFit/>
          </a:bodyPr>
          <a:lstStyle/>
          <a:p>
            <a:pPr algn="ctr"/>
            <a:r>
              <a:rPr sz="800" b="1">
                <a:solidFill>
                  <a:srgbClr val="1C1917"/>
                </a:solidFill>
                <a:latin typeface="Segoe UI"/>
              </a:rPr>
              <a:t>Database</a:t>
            </a:r>
          </a:p>
        </p:txBody>
      </p:sp>
      <p:sp>
        <p:nvSpPr>
          <p:cNvPr id="18" name="a1ud80_nd17"/>
          <p:cNvSpPr/>
          <p:nvPr/>
        </p:nvSpPr>
        <p:spPr>
          <a:xfrm>
            <a:off x="685800" y="2523744"/>
            <a:ext cx="1005840" cy="329184"/>
          </a:xfrm>
          <a:prstGeom prst="roundRect">
            <a:avLst>
              <a:gd name="adj" fmla="val 22222"/>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80_ndt18"/>
          <p:cNvSpPr txBox="1"/>
          <p:nvPr/>
        </p:nvSpPr>
        <p:spPr>
          <a:xfrm>
            <a:off x="731520" y="2523744"/>
            <a:ext cx="914400" cy="329184"/>
          </a:xfrm>
          <a:prstGeom prst="rect">
            <a:avLst/>
          </a:prstGeom>
          <a:noFill/>
        </p:spPr>
        <p:txBody>
          <a:bodyPr wrap="square" lIns="0" tIns="0" rIns="0" bIns="0" anchor="ctr">
            <a:spAutoFit/>
          </a:bodyPr>
          <a:lstStyle/>
          <a:p>
            <a:pPr algn="ctr"/>
            <a:r>
              <a:rPr sz="800" b="1">
                <a:solidFill>
                  <a:srgbClr val="1C1917"/>
                </a:solidFill>
                <a:latin typeface="Segoe UI"/>
              </a:rPr>
              <a:t>Chat</a:t>
            </a:r>
          </a:p>
        </p:txBody>
      </p:sp>
      <p:sp>
        <p:nvSpPr>
          <p:cNvPr id="20" name="a1ud120_nd19"/>
          <p:cNvSpPr/>
          <p:nvPr/>
        </p:nvSpPr>
        <p:spPr>
          <a:xfrm>
            <a:off x="685800" y="2962656"/>
            <a:ext cx="1005840" cy="329184"/>
          </a:xfrm>
          <a:prstGeom prst="roundRect">
            <a:avLst>
              <a:gd name="adj" fmla="val 22222"/>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120_ndt20"/>
          <p:cNvSpPr txBox="1"/>
          <p:nvPr/>
        </p:nvSpPr>
        <p:spPr>
          <a:xfrm>
            <a:off x="731520" y="2962656"/>
            <a:ext cx="914400" cy="329184"/>
          </a:xfrm>
          <a:prstGeom prst="rect">
            <a:avLst/>
          </a:prstGeom>
          <a:noFill/>
        </p:spPr>
        <p:txBody>
          <a:bodyPr wrap="square" lIns="0" tIns="0" rIns="0" bIns="0" anchor="ctr">
            <a:spAutoFit/>
          </a:bodyPr>
          <a:lstStyle/>
          <a:p>
            <a:pPr algn="ctr"/>
            <a:r>
              <a:rPr sz="800" b="1">
                <a:solidFill>
                  <a:srgbClr val="1C1917"/>
                </a:solidFill>
                <a:latin typeface="Segoe UI"/>
              </a:rPr>
              <a:t>Mail</a:t>
            </a:r>
          </a:p>
        </p:txBody>
      </p:sp>
      <p:sp>
        <p:nvSpPr>
          <p:cNvPr id="22" name="a1ud160_nd21"/>
          <p:cNvSpPr/>
          <p:nvPr/>
        </p:nvSpPr>
        <p:spPr>
          <a:xfrm>
            <a:off x="685800" y="3401568"/>
            <a:ext cx="1005840" cy="329184"/>
          </a:xfrm>
          <a:prstGeom prst="roundRect">
            <a:avLst>
              <a:gd name="adj" fmla="val 22222"/>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160_ndt22"/>
          <p:cNvSpPr txBox="1"/>
          <p:nvPr/>
        </p:nvSpPr>
        <p:spPr>
          <a:xfrm>
            <a:off x="731520" y="3401568"/>
            <a:ext cx="914400" cy="329184"/>
          </a:xfrm>
          <a:prstGeom prst="rect">
            <a:avLst/>
          </a:prstGeom>
          <a:noFill/>
        </p:spPr>
        <p:txBody>
          <a:bodyPr wrap="square" lIns="0" tIns="0" rIns="0" bIns="0" anchor="ctr">
            <a:spAutoFit/>
          </a:bodyPr>
          <a:lstStyle/>
          <a:p>
            <a:pPr algn="ctr"/>
            <a:r>
              <a:rPr sz="800" b="1">
                <a:solidFill>
                  <a:srgbClr val="1C1917"/>
                </a:solidFill>
                <a:latin typeface="Segoe UI"/>
              </a:rPr>
              <a:t>Payment</a:t>
            </a:r>
          </a:p>
        </p:txBody>
      </p:sp>
      <p:sp>
        <p:nvSpPr>
          <p:cNvPr id="24" name="a1ud200_nd23"/>
          <p:cNvSpPr/>
          <p:nvPr/>
        </p:nvSpPr>
        <p:spPr>
          <a:xfrm>
            <a:off x="3246120" y="1828800"/>
            <a:ext cx="1051560" cy="365760"/>
          </a:xfrm>
          <a:prstGeom prst="roundRect">
            <a:avLst>
              <a:gd name="adj" fmla="val 20000"/>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ud200_ndt24"/>
          <p:cNvSpPr txBox="1"/>
          <p:nvPr/>
        </p:nvSpPr>
        <p:spPr>
          <a:xfrm>
            <a:off x="3291839" y="1828800"/>
            <a:ext cx="960119" cy="365760"/>
          </a:xfrm>
          <a:prstGeom prst="rect">
            <a:avLst/>
          </a:prstGeom>
          <a:noFill/>
        </p:spPr>
        <p:txBody>
          <a:bodyPr wrap="square" lIns="0" tIns="0" rIns="0" bIns="0" anchor="ctr">
            <a:spAutoFit/>
          </a:bodyPr>
          <a:lstStyle/>
          <a:p>
            <a:pPr algn="ctr"/>
            <a:r>
              <a:rPr sz="800" b="1">
                <a:solidFill>
                  <a:srgbClr val="1C1917"/>
                </a:solidFill>
                <a:latin typeface="Segoe UI"/>
              </a:rPr>
              <a:t>Metrics</a:t>
            </a:r>
          </a:p>
        </p:txBody>
      </p:sp>
      <p:sp>
        <p:nvSpPr>
          <p:cNvPr id="26" name="a1ud240_nd25"/>
          <p:cNvSpPr/>
          <p:nvPr/>
        </p:nvSpPr>
        <p:spPr>
          <a:xfrm>
            <a:off x="3246120" y="2487168"/>
            <a:ext cx="1051560" cy="365760"/>
          </a:xfrm>
          <a:prstGeom prst="roundRect">
            <a:avLst>
              <a:gd name="adj" fmla="val 20000"/>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ud240_ndt26"/>
          <p:cNvSpPr txBox="1"/>
          <p:nvPr/>
        </p:nvSpPr>
        <p:spPr>
          <a:xfrm>
            <a:off x="3291839" y="2487168"/>
            <a:ext cx="960119" cy="365760"/>
          </a:xfrm>
          <a:prstGeom prst="rect">
            <a:avLst/>
          </a:prstGeom>
          <a:noFill/>
        </p:spPr>
        <p:txBody>
          <a:bodyPr wrap="square" lIns="0" tIns="0" rIns="0" bIns="0" anchor="ctr">
            <a:spAutoFit/>
          </a:bodyPr>
          <a:lstStyle/>
          <a:p>
            <a:pPr algn="ctr"/>
            <a:r>
              <a:rPr sz="800" b="1">
                <a:solidFill>
                  <a:srgbClr val="1C1917"/>
                </a:solidFill>
                <a:latin typeface="Segoe UI"/>
              </a:rPr>
              <a:t>Log search</a:t>
            </a:r>
          </a:p>
        </p:txBody>
      </p:sp>
      <p:sp>
        <p:nvSpPr>
          <p:cNvPr id="28" name="a1ud280_nd27"/>
          <p:cNvSpPr/>
          <p:nvPr/>
        </p:nvSpPr>
        <p:spPr>
          <a:xfrm>
            <a:off x="3246120" y="3145536"/>
            <a:ext cx="1051560" cy="365760"/>
          </a:xfrm>
          <a:prstGeom prst="roundRect">
            <a:avLst>
              <a:gd name="adj" fmla="val 20000"/>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ud280_ndt28"/>
          <p:cNvSpPr txBox="1"/>
          <p:nvPr/>
        </p:nvSpPr>
        <p:spPr>
          <a:xfrm>
            <a:off x="3291839" y="3145536"/>
            <a:ext cx="960119" cy="365760"/>
          </a:xfrm>
          <a:prstGeom prst="rect">
            <a:avLst/>
          </a:prstGeom>
          <a:noFill/>
        </p:spPr>
        <p:txBody>
          <a:bodyPr wrap="square" lIns="0" tIns="0" rIns="0" bIns="0" anchor="ctr">
            <a:spAutoFit/>
          </a:bodyPr>
          <a:lstStyle/>
          <a:p>
            <a:pPr algn="ctr"/>
            <a:r>
              <a:rPr sz="800" b="1">
                <a:solidFill>
                  <a:srgbClr val="1C1917"/>
                </a:solidFill>
                <a:latin typeface="Segoe UI"/>
              </a:rPr>
              <a:t>ML / AI</a:t>
            </a:r>
          </a:p>
        </p:txBody>
      </p:sp>
      <p:cxnSp>
        <p:nvCxnSpPr>
          <p:cNvPr id="30" name="a1fd350_wr29"/>
          <p:cNvCxnSpPr/>
          <p:nvPr/>
        </p:nvCxnSpPr>
        <p:spPr>
          <a:xfrm>
            <a:off x="1709928" y="1810512"/>
            <a:ext cx="1517904" cy="201168"/>
          </a:xfrm>
          <a:prstGeom prst="line">
            <a:avLst/>
          </a:prstGeom>
          <a:ln w="12700">
            <a:solidFill>
              <a:srgbClr val="E11D48"/>
            </a:solidFill>
          </a:ln>
        </p:spPr>
        <p:style>
          <a:lnRef idx="2">
            <a:schemeClr val="accent1"/>
          </a:lnRef>
          <a:fillRef idx="0">
            <a:schemeClr val="accent1"/>
          </a:fillRef>
          <a:effectRef idx="1">
            <a:schemeClr val="accent1"/>
          </a:effectRef>
          <a:fontRef idx="minor">
            <a:schemeClr val="tx1"/>
          </a:fontRef>
        </p:style>
      </p:cxnSp>
      <p:cxnSp>
        <p:nvCxnSpPr>
          <p:cNvPr id="31" name="a1fd370_wr30"/>
          <p:cNvCxnSpPr/>
          <p:nvPr/>
        </p:nvCxnSpPr>
        <p:spPr>
          <a:xfrm>
            <a:off x="1709928" y="1810512"/>
            <a:ext cx="1517904" cy="859536"/>
          </a:xfrm>
          <a:prstGeom prst="line">
            <a:avLst/>
          </a:prstGeom>
          <a:ln w="12700">
            <a:solidFill>
              <a:srgbClr val="E11D48"/>
            </a:solidFill>
          </a:ln>
        </p:spPr>
        <p:style>
          <a:lnRef idx="2">
            <a:schemeClr val="accent1"/>
          </a:lnRef>
          <a:fillRef idx="0">
            <a:schemeClr val="accent1"/>
          </a:fillRef>
          <a:effectRef idx="1">
            <a:schemeClr val="accent1"/>
          </a:effectRef>
          <a:fontRef idx="minor">
            <a:schemeClr val="tx1"/>
          </a:fontRef>
        </p:style>
      </p:cxnSp>
      <p:cxnSp>
        <p:nvCxnSpPr>
          <p:cNvPr id="32" name="a1fd390_wr31"/>
          <p:cNvCxnSpPr/>
          <p:nvPr/>
        </p:nvCxnSpPr>
        <p:spPr>
          <a:xfrm>
            <a:off x="1709928" y="1810512"/>
            <a:ext cx="1517904" cy="1517904"/>
          </a:xfrm>
          <a:prstGeom prst="line">
            <a:avLst/>
          </a:prstGeom>
          <a:ln w="12700">
            <a:solidFill>
              <a:srgbClr val="E11D48"/>
            </a:solidFill>
          </a:ln>
        </p:spPr>
        <p:style>
          <a:lnRef idx="2">
            <a:schemeClr val="accent1"/>
          </a:lnRef>
          <a:fillRef idx="0">
            <a:schemeClr val="accent1"/>
          </a:fillRef>
          <a:effectRef idx="1">
            <a:schemeClr val="accent1"/>
          </a:effectRef>
          <a:fontRef idx="minor">
            <a:schemeClr val="tx1"/>
          </a:fontRef>
        </p:style>
      </p:cxnSp>
      <p:cxnSp>
        <p:nvCxnSpPr>
          <p:cNvPr id="33" name="a1fd410_wr32"/>
          <p:cNvCxnSpPr/>
          <p:nvPr/>
        </p:nvCxnSpPr>
        <p:spPr>
          <a:xfrm flipV="1">
            <a:off x="1709928" y="2011680"/>
            <a:ext cx="1517904" cy="237744"/>
          </a:xfrm>
          <a:prstGeom prst="line">
            <a:avLst/>
          </a:prstGeom>
          <a:ln w="12700">
            <a:solidFill>
              <a:srgbClr val="E11D48"/>
            </a:solidFill>
          </a:ln>
        </p:spPr>
        <p:style>
          <a:lnRef idx="2">
            <a:schemeClr val="accent1"/>
          </a:lnRef>
          <a:fillRef idx="0">
            <a:schemeClr val="accent1"/>
          </a:fillRef>
          <a:effectRef idx="1">
            <a:schemeClr val="accent1"/>
          </a:effectRef>
          <a:fontRef idx="minor">
            <a:schemeClr val="tx1"/>
          </a:fontRef>
        </p:style>
      </p:cxnSp>
      <p:cxnSp>
        <p:nvCxnSpPr>
          <p:cNvPr id="34" name="a1fd430_wr33"/>
          <p:cNvCxnSpPr/>
          <p:nvPr/>
        </p:nvCxnSpPr>
        <p:spPr>
          <a:xfrm>
            <a:off x="1709928" y="2249424"/>
            <a:ext cx="1517904" cy="420624"/>
          </a:xfrm>
          <a:prstGeom prst="line">
            <a:avLst/>
          </a:prstGeom>
          <a:ln w="12700">
            <a:solidFill>
              <a:srgbClr val="E11D48"/>
            </a:solidFill>
          </a:ln>
        </p:spPr>
        <p:style>
          <a:lnRef idx="2">
            <a:schemeClr val="accent1"/>
          </a:lnRef>
          <a:fillRef idx="0">
            <a:schemeClr val="accent1"/>
          </a:fillRef>
          <a:effectRef idx="1">
            <a:schemeClr val="accent1"/>
          </a:effectRef>
          <a:fontRef idx="minor">
            <a:schemeClr val="tx1"/>
          </a:fontRef>
        </p:style>
      </p:cxnSp>
      <p:cxnSp>
        <p:nvCxnSpPr>
          <p:cNvPr id="35" name="a1fd450_wr34"/>
          <p:cNvCxnSpPr/>
          <p:nvPr/>
        </p:nvCxnSpPr>
        <p:spPr>
          <a:xfrm>
            <a:off x="1709928" y="2249424"/>
            <a:ext cx="1517904" cy="1078992"/>
          </a:xfrm>
          <a:prstGeom prst="line">
            <a:avLst/>
          </a:prstGeom>
          <a:ln w="12700">
            <a:solidFill>
              <a:srgbClr val="E11D48"/>
            </a:solidFill>
          </a:ln>
        </p:spPr>
        <p:style>
          <a:lnRef idx="2">
            <a:schemeClr val="accent1"/>
          </a:lnRef>
          <a:fillRef idx="0">
            <a:schemeClr val="accent1"/>
          </a:fillRef>
          <a:effectRef idx="1">
            <a:schemeClr val="accent1"/>
          </a:effectRef>
          <a:fontRef idx="minor">
            <a:schemeClr val="tx1"/>
          </a:fontRef>
        </p:style>
      </p:cxnSp>
      <p:cxnSp>
        <p:nvCxnSpPr>
          <p:cNvPr id="36" name="a1fd470_wr35"/>
          <p:cNvCxnSpPr/>
          <p:nvPr/>
        </p:nvCxnSpPr>
        <p:spPr>
          <a:xfrm flipV="1">
            <a:off x="1709928" y="2011680"/>
            <a:ext cx="1517904" cy="676656"/>
          </a:xfrm>
          <a:prstGeom prst="line">
            <a:avLst/>
          </a:prstGeom>
          <a:ln w="12700">
            <a:solidFill>
              <a:srgbClr val="E11D48"/>
            </a:solidFill>
          </a:ln>
        </p:spPr>
        <p:style>
          <a:lnRef idx="2">
            <a:schemeClr val="accent1"/>
          </a:lnRef>
          <a:fillRef idx="0">
            <a:schemeClr val="accent1"/>
          </a:fillRef>
          <a:effectRef idx="1">
            <a:schemeClr val="accent1"/>
          </a:effectRef>
          <a:fontRef idx="minor">
            <a:schemeClr val="tx1"/>
          </a:fontRef>
        </p:style>
      </p:cxnSp>
      <p:cxnSp>
        <p:nvCxnSpPr>
          <p:cNvPr id="37" name="a1fd490_wr36"/>
          <p:cNvCxnSpPr/>
          <p:nvPr/>
        </p:nvCxnSpPr>
        <p:spPr>
          <a:xfrm flipV="1">
            <a:off x="1709928" y="2670048"/>
            <a:ext cx="1517904" cy="18288"/>
          </a:xfrm>
          <a:prstGeom prst="line">
            <a:avLst/>
          </a:prstGeom>
          <a:ln w="12700">
            <a:solidFill>
              <a:srgbClr val="E11D48"/>
            </a:solidFill>
          </a:ln>
        </p:spPr>
        <p:style>
          <a:lnRef idx="2">
            <a:schemeClr val="accent1"/>
          </a:lnRef>
          <a:fillRef idx="0">
            <a:schemeClr val="accent1"/>
          </a:fillRef>
          <a:effectRef idx="1">
            <a:schemeClr val="accent1"/>
          </a:effectRef>
          <a:fontRef idx="minor">
            <a:schemeClr val="tx1"/>
          </a:fontRef>
        </p:style>
      </p:cxnSp>
      <p:cxnSp>
        <p:nvCxnSpPr>
          <p:cNvPr id="38" name="a1fd510_wr37"/>
          <p:cNvCxnSpPr/>
          <p:nvPr/>
        </p:nvCxnSpPr>
        <p:spPr>
          <a:xfrm>
            <a:off x="1709928" y="2688336"/>
            <a:ext cx="1517904" cy="640080"/>
          </a:xfrm>
          <a:prstGeom prst="line">
            <a:avLst/>
          </a:prstGeom>
          <a:ln w="12700">
            <a:solidFill>
              <a:srgbClr val="E11D48"/>
            </a:solidFill>
          </a:ln>
        </p:spPr>
        <p:style>
          <a:lnRef idx="2">
            <a:schemeClr val="accent1"/>
          </a:lnRef>
          <a:fillRef idx="0">
            <a:schemeClr val="accent1"/>
          </a:fillRef>
          <a:effectRef idx="1">
            <a:schemeClr val="accent1"/>
          </a:effectRef>
          <a:fontRef idx="minor">
            <a:schemeClr val="tx1"/>
          </a:fontRef>
        </p:style>
      </p:cxnSp>
      <p:cxnSp>
        <p:nvCxnSpPr>
          <p:cNvPr id="39" name="a1fd530_wr38"/>
          <p:cNvCxnSpPr/>
          <p:nvPr/>
        </p:nvCxnSpPr>
        <p:spPr>
          <a:xfrm flipV="1">
            <a:off x="1709928" y="2011680"/>
            <a:ext cx="1517904" cy="1115568"/>
          </a:xfrm>
          <a:prstGeom prst="line">
            <a:avLst/>
          </a:prstGeom>
          <a:ln w="12700">
            <a:solidFill>
              <a:srgbClr val="E11D48"/>
            </a:solidFill>
          </a:ln>
        </p:spPr>
        <p:style>
          <a:lnRef idx="2">
            <a:schemeClr val="accent1"/>
          </a:lnRef>
          <a:fillRef idx="0">
            <a:schemeClr val="accent1"/>
          </a:fillRef>
          <a:effectRef idx="1">
            <a:schemeClr val="accent1"/>
          </a:effectRef>
          <a:fontRef idx="minor">
            <a:schemeClr val="tx1"/>
          </a:fontRef>
        </p:style>
      </p:cxnSp>
      <p:cxnSp>
        <p:nvCxnSpPr>
          <p:cNvPr id="40" name="a1fd550_wr39"/>
          <p:cNvCxnSpPr/>
          <p:nvPr/>
        </p:nvCxnSpPr>
        <p:spPr>
          <a:xfrm flipV="1">
            <a:off x="1709928" y="2670048"/>
            <a:ext cx="1517904" cy="457200"/>
          </a:xfrm>
          <a:prstGeom prst="line">
            <a:avLst/>
          </a:prstGeom>
          <a:ln w="12700">
            <a:solidFill>
              <a:srgbClr val="E11D48"/>
            </a:solidFill>
          </a:ln>
        </p:spPr>
        <p:style>
          <a:lnRef idx="2">
            <a:schemeClr val="accent1"/>
          </a:lnRef>
          <a:fillRef idx="0">
            <a:schemeClr val="accent1"/>
          </a:fillRef>
          <a:effectRef idx="1">
            <a:schemeClr val="accent1"/>
          </a:effectRef>
          <a:fontRef idx="minor">
            <a:schemeClr val="tx1"/>
          </a:fontRef>
        </p:style>
      </p:cxnSp>
      <p:cxnSp>
        <p:nvCxnSpPr>
          <p:cNvPr id="41" name="a1fd570_wr40"/>
          <p:cNvCxnSpPr/>
          <p:nvPr/>
        </p:nvCxnSpPr>
        <p:spPr>
          <a:xfrm>
            <a:off x="1709928" y="3127248"/>
            <a:ext cx="1517904" cy="201168"/>
          </a:xfrm>
          <a:prstGeom prst="line">
            <a:avLst/>
          </a:prstGeom>
          <a:ln w="12700">
            <a:solidFill>
              <a:srgbClr val="E11D48"/>
            </a:solidFill>
          </a:ln>
        </p:spPr>
        <p:style>
          <a:lnRef idx="2">
            <a:schemeClr val="accent1"/>
          </a:lnRef>
          <a:fillRef idx="0">
            <a:schemeClr val="accent1"/>
          </a:fillRef>
          <a:effectRef idx="1">
            <a:schemeClr val="accent1"/>
          </a:effectRef>
          <a:fontRef idx="minor">
            <a:schemeClr val="tx1"/>
          </a:fontRef>
        </p:style>
      </p:cxnSp>
      <p:cxnSp>
        <p:nvCxnSpPr>
          <p:cNvPr id="42" name="a1fd590_wr41"/>
          <p:cNvCxnSpPr/>
          <p:nvPr/>
        </p:nvCxnSpPr>
        <p:spPr>
          <a:xfrm flipV="1">
            <a:off x="1709928" y="2011680"/>
            <a:ext cx="1517904" cy="1554480"/>
          </a:xfrm>
          <a:prstGeom prst="line">
            <a:avLst/>
          </a:prstGeom>
          <a:ln w="12700">
            <a:solidFill>
              <a:srgbClr val="E11D48"/>
            </a:solidFill>
          </a:ln>
        </p:spPr>
        <p:style>
          <a:lnRef idx="2">
            <a:schemeClr val="accent1"/>
          </a:lnRef>
          <a:fillRef idx="0">
            <a:schemeClr val="accent1"/>
          </a:fillRef>
          <a:effectRef idx="1">
            <a:schemeClr val="accent1"/>
          </a:effectRef>
          <a:fontRef idx="minor">
            <a:schemeClr val="tx1"/>
          </a:fontRef>
        </p:style>
      </p:cxnSp>
      <p:cxnSp>
        <p:nvCxnSpPr>
          <p:cNvPr id="43" name="a1fd610_wr42"/>
          <p:cNvCxnSpPr/>
          <p:nvPr/>
        </p:nvCxnSpPr>
        <p:spPr>
          <a:xfrm flipV="1">
            <a:off x="1709928" y="2670048"/>
            <a:ext cx="1517904" cy="896112"/>
          </a:xfrm>
          <a:prstGeom prst="line">
            <a:avLst/>
          </a:prstGeom>
          <a:ln w="12700">
            <a:solidFill>
              <a:srgbClr val="E11D48"/>
            </a:solidFill>
          </a:ln>
        </p:spPr>
        <p:style>
          <a:lnRef idx="2">
            <a:schemeClr val="accent1"/>
          </a:lnRef>
          <a:fillRef idx="0">
            <a:schemeClr val="accent1"/>
          </a:fillRef>
          <a:effectRef idx="1">
            <a:schemeClr val="accent1"/>
          </a:effectRef>
          <a:fontRef idx="minor">
            <a:schemeClr val="tx1"/>
          </a:fontRef>
        </p:style>
      </p:cxnSp>
      <p:cxnSp>
        <p:nvCxnSpPr>
          <p:cNvPr id="44" name="a1fd630_wr43"/>
          <p:cNvCxnSpPr/>
          <p:nvPr/>
        </p:nvCxnSpPr>
        <p:spPr>
          <a:xfrm flipV="1">
            <a:off x="1709928" y="3328416"/>
            <a:ext cx="1517904" cy="237744"/>
          </a:xfrm>
          <a:prstGeom prst="line">
            <a:avLst/>
          </a:prstGeom>
          <a:ln w="12700">
            <a:solidFill>
              <a:srgbClr val="E11D48"/>
            </a:solidFill>
          </a:ln>
        </p:spPr>
        <p:style>
          <a:lnRef idx="2">
            <a:schemeClr val="accent1"/>
          </a:lnRef>
          <a:fillRef idx="0">
            <a:schemeClr val="accent1"/>
          </a:fillRef>
          <a:effectRef idx="1">
            <a:schemeClr val="accent1"/>
          </a:effectRef>
          <a:fontRef idx="minor">
            <a:schemeClr val="tx1"/>
          </a:fontRef>
        </p:style>
      </p:cxnSp>
      <p:sp>
        <p:nvSpPr>
          <p:cNvPr id="45" name="a2u_card44"/>
          <p:cNvSpPr/>
          <p:nvPr/>
        </p:nvSpPr>
        <p:spPr>
          <a:xfrm>
            <a:off x="4663440" y="1234440"/>
            <a:ext cx="4023360" cy="2743200"/>
          </a:xfrm>
          <a:prstGeom prst="roundRect">
            <a:avLst>
              <a:gd name="adj" fmla="val 4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2u_acc45"/>
          <p:cNvSpPr/>
          <p:nvPr/>
        </p:nvSpPr>
        <p:spPr>
          <a:xfrm>
            <a:off x="4663440" y="1234440"/>
            <a:ext cx="50292" cy="274320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2u_hh46"/>
          <p:cNvSpPr txBox="1"/>
          <p:nvPr/>
        </p:nvSpPr>
        <p:spPr>
          <a:xfrm>
            <a:off x="4864607" y="1344168"/>
            <a:ext cx="3657600" cy="237744"/>
          </a:xfrm>
          <a:prstGeom prst="rect">
            <a:avLst/>
          </a:prstGeom>
          <a:noFill/>
        </p:spPr>
        <p:txBody>
          <a:bodyPr wrap="square" lIns="0" tIns="0" rIns="0" bIns="0" anchor="ctr">
            <a:spAutoFit/>
          </a:bodyPr>
          <a:lstStyle/>
          <a:p>
            <a:pPr algn="l"/>
            <a:r>
              <a:rPr sz="900" b="1">
                <a:solidFill>
                  <a:srgbClr val="15803D"/>
                </a:solidFill>
                <a:latin typeface="Segoe UI"/>
              </a:rPr>
              <a:t>WITH A BROKER:  5 + 3 = 8</a:t>
            </a:r>
          </a:p>
        </p:txBody>
      </p:sp>
      <p:sp>
        <p:nvSpPr>
          <p:cNvPr id="48" name="a2u_nd47"/>
          <p:cNvSpPr/>
          <p:nvPr/>
        </p:nvSpPr>
        <p:spPr>
          <a:xfrm>
            <a:off x="4892040" y="1645920"/>
            <a:ext cx="1005840" cy="329184"/>
          </a:xfrm>
          <a:prstGeom prst="roundRect">
            <a:avLst>
              <a:gd name="adj" fmla="val 22222"/>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2u_ndt48"/>
          <p:cNvSpPr txBox="1"/>
          <p:nvPr/>
        </p:nvSpPr>
        <p:spPr>
          <a:xfrm>
            <a:off x="4937759" y="1645920"/>
            <a:ext cx="914400" cy="329184"/>
          </a:xfrm>
          <a:prstGeom prst="rect">
            <a:avLst/>
          </a:prstGeom>
          <a:noFill/>
        </p:spPr>
        <p:txBody>
          <a:bodyPr wrap="square" lIns="0" tIns="0" rIns="0" bIns="0" anchor="ctr">
            <a:spAutoFit/>
          </a:bodyPr>
          <a:lstStyle/>
          <a:p>
            <a:pPr algn="ctr"/>
            <a:r>
              <a:rPr sz="800" b="1">
                <a:solidFill>
                  <a:srgbClr val="1C1917"/>
                </a:solidFill>
                <a:latin typeface="Segoe UI"/>
              </a:rPr>
              <a:t>Frontend</a:t>
            </a:r>
          </a:p>
        </p:txBody>
      </p:sp>
      <p:sp>
        <p:nvSpPr>
          <p:cNvPr id="50" name="a2ud40_nd49"/>
          <p:cNvSpPr/>
          <p:nvPr/>
        </p:nvSpPr>
        <p:spPr>
          <a:xfrm>
            <a:off x="4892040" y="2084832"/>
            <a:ext cx="1005840" cy="329184"/>
          </a:xfrm>
          <a:prstGeom prst="roundRect">
            <a:avLst>
              <a:gd name="adj" fmla="val 22222"/>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2ud40_ndt50"/>
          <p:cNvSpPr txBox="1"/>
          <p:nvPr/>
        </p:nvSpPr>
        <p:spPr>
          <a:xfrm>
            <a:off x="4937759" y="2084832"/>
            <a:ext cx="914400" cy="329184"/>
          </a:xfrm>
          <a:prstGeom prst="rect">
            <a:avLst/>
          </a:prstGeom>
          <a:noFill/>
        </p:spPr>
        <p:txBody>
          <a:bodyPr wrap="square" lIns="0" tIns="0" rIns="0" bIns="0" anchor="ctr">
            <a:spAutoFit/>
          </a:bodyPr>
          <a:lstStyle/>
          <a:p>
            <a:pPr algn="ctr"/>
            <a:r>
              <a:rPr sz="800" b="1">
                <a:solidFill>
                  <a:srgbClr val="1C1917"/>
                </a:solidFill>
                <a:latin typeface="Segoe UI"/>
              </a:rPr>
              <a:t>Database</a:t>
            </a:r>
          </a:p>
        </p:txBody>
      </p:sp>
      <p:sp>
        <p:nvSpPr>
          <p:cNvPr id="52" name="a2ud80_nd51"/>
          <p:cNvSpPr/>
          <p:nvPr/>
        </p:nvSpPr>
        <p:spPr>
          <a:xfrm>
            <a:off x="4892040" y="2523744"/>
            <a:ext cx="1005840" cy="329184"/>
          </a:xfrm>
          <a:prstGeom prst="roundRect">
            <a:avLst>
              <a:gd name="adj" fmla="val 22222"/>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2ud80_ndt52"/>
          <p:cNvSpPr txBox="1"/>
          <p:nvPr/>
        </p:nvSpPr>
        <p:spPr>
          <a:xfrm>
            <a:off x="4937759" y="2523744"/>
            <a:ext cx="914400" cy="329184"/>
          </a:xfrm>
          <a:prstGeom prst="rect">
            <a:avLst/>
          </a:prstGeom>
          <a:noFill/>
        </p:spPr>
        <p:txBody>
          <a:bodyPr wrap="square" lIns="0" tIns="0" rIns="0" bIns="0" anchor="ctr">
            <a:spAutoFit/>
          </a:bodyPr>
          <a:lstStyle/>
          <a:p>
            <a:pPr algn="ctr"/>
            <a:r>
              <a:rPr sz="800" b="1">
                <a:solidFill>
                  <a:srgbClr val="1C1917"/>
                </a:solidFill>
                <a:latin typeface="Segoe UI"/>
              </a:rPr>
              <a:t>Chat</a:t>
            </a:r>
          </a:p>
        </p:txBody>
      </p:sp>
      <p:sp>
        <p:nvSpPr>
          <p:cNvPr id="54" name="a2ud120_nd53"/>
          <p:cNvSpPr/>
          <p:nvPr/>
        </p:nvSpPr>
        <p:spPr>
          <a:xfrm>
            <a:off x="4892040" y="2962656"/>
            <a:ext cx="1005840" cy="329184"/>
          </a:xfrm>
          <a:prstGeom prst="roundRect">
            <a:avLst>
              <a:gd name="adj" fmla="val 22222"/>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2ud120_ndt54"/>
          <p:cNvSpPr txBox="1"/>
          <p:nvPr/>
        </p:nvSpPr>
        <p:spPr>
          <a:xfrm>
            <a:off x="4937759" y="2962656"/>
            <a:ext cx="914400" cy="329184"/>
          </a:xfrm>
          <a:prstGeom prst="rect">
            <a:avLst/>
          </a:prstGeom>
          <a:noFill/>
        </p:spPr>
        <p:txBody>
          <a:bodyPr wrap="square" lIns="0" tIns="0" rIns="0" bIns="0" anchor="ctr">
            <a:spAutoFit/>
          </a:bodyPr>
          <a:lstStyle/>
          <a:p>
            <a:pPr algn="ctr"/>
            <a:r>
              <a:rPr sz="800" b="1">
                <a:solidFill>
                  <a:srgbClr val="1C1917"/>
                </a:solidFill>
                <a:latin typeface="Segoe UI"/>
              </a:rPr>
              <a:t>Mail</a:t>
            </a:r>
          </a:p>
        </p:txBody>
      </p:sp>
      <p:sp>
        <p:nvSpPr>
          <p:cNvPr id="56" name="a2ud160_nd55"/>
          <p:cNvSpPr/>
          <p:nvPr/>
        </p:nvSpPr>
        <p:spPr>
          <a:xfrm>
            <a:off x="4892040" y="3401568"/>
            <a:ext cx="1005840" cy="329184"/>
          </a:xfrm>
          <a:prstGeom prst="roundRect">
            <a:avLst>
              <a:gd name="adj" fmla="val 22222"/>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a2ud160_ndt56"/>
          <p:cNvSpPr txBox="1"/>
          <p:nvPr/>
        </p:nvSpPr>
        <p:spPr>
          <a:xfrm>
            <a:off x="4937759" y="3401568"/>
            <a:ext cx="914400" cy="329184"/>
          </a:xfrm>
          <a:prstGeom prst="rect">
            <a:avLst/>
          </a:prstGeom>
          <a:noFill/>
        </p:spPr>
        <p:txBody>
          <a:bodyPr wrap="square" lIns="0" tIns="0" rIns="0" bIns="0" anchor="ctr">
            <a:spAutoFit/>
          </a:bodyPr>
          <a:lstStyle/>
          <a:p>
            <a:pPr algn="ctr"/>
            <a:r>
              <a:rPr sz="800" b="1">
                <a:solidFill>
                  <a:srgbClr val="1C1917"/>
                </a:solidFill>
                <a:latin typeface="Segoe UI"/>
              </a:rPr>
              <a:t>Payment</a:t>
            </a:r>
          </a:p>
        </p:txBody>
      </p:sp>
      <p:sp>
        <p:nvSpPr>
          <p:cNvPr id="58" name="a2ud200_nd57"/>
          <p:cNvSpPr/>
          <p:nvPr/>
        </p:nvSpPr>
        <p:spPr>
          <a:xfrm>
            <a:off x="7452359" y="1828800"/>
            <a:ext cx="1051560" cy="365760"/>
          </a:xfrm>
          <a:prstGeom prst="roundRect">
            <a:avLst>
              <a:gd name="adj" fmla="val 20000"/>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2ud200_ndt58"/>
          <p:cNvSpPr txBox="1"/>
          <p:nvPr/>
        </p:nvSpPr>
        <p:spPr>
          <a:xfrm>
            <a:off x="7498079" y="1828800"/>
            <a:ext cx="960119" cy="365760"/>
          </a:xfrm>
          <a:prstGeom prst="rect">
            <a:avLst/>
          </a:prstGeom>
          <a:noFill/>
        </p:spPr>
        <p:txBody>
          <a:bodyPr wrap="square" lIns="0" tIns="0" rIns="0" bIns="0" anchor="ctr">
            <a:spAutoFit/>
          </a:bodyPr>
          <a:lstStyle/>
          <a:p>
            <a:pPr algn="ctr"/>
            <a:r>
              <a:rPr sz="800" b="1">
                <a:solidFill>
                  <a:srgbClr val="1C1917"/>
                </a:solidFill>
                <a:latin typeface="Segoe UI"/>
              </a:rPr>
              <a:t>Metrics</a:t>
            </a:r>
          </a:p>
        </p:txBody>
      </p:sp>
      <p:sp>
        <p:nvSpPr>
          <p:cNvPr id="60" name="a2ud240_nd59"/>
          <p:cNvSpPr/>
          <p:nvPr/>
        </p:nvSpPr>
        <p:spPr>
          <a:xfrm>
            <a:off x="7452359" y="2487168"/>
            <a:ext cx="1051560" cy="365760"/>
          </a:xfrm>
          <a:prstGeom prst="roundRect">
            <a:avLst>
              <a:gd name="adj" fmla="val 20000"/>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a2ud240_ndt60"/>
          <p:cNvSpPr txBox="1"/>
          <p:nvPr/>
        </p:nvSpPr>
        <p:spPr>
          <a:xfrm>
            <a:off x="7498079" y="2487168"/>
            <a:ext cx="960119" cy="365760"/>
          </a:xfrm>
          <a:prstGeom prst="rect">
            <a:avLst/>
          </a:prstGeom>
          <a:noFill/>
        </p:spPr>
        <p:txBody>
          <a:bodyPr wrap="square" lIns="0" tIns="0" rIns="0" bIns="0" anchor="ctr">
            <a:spAutoFit/>
          </a:bodyPr>
          <a:lstStyle/>
          <a:p>
            <a:pPr algn="ctr"/>
            <a:r>
              <a:rPr sz="800" b="1">
                <a:solidFill>
                  <a:srgbClr val="1C1917"/>
                </a:solidFill>
                <a:latin typeface="Segoe UI"/>
              </a:rPr>
              <a:t>Log search</a:t>
            </a:r>
          </a:p>
        </p:txBody>
      </p:sp>
      <p:sp>
        <p:nvSpPr>
          <p:cNvPr id="62" name="a2ud280_nd61"/>
          <p:cNvSpPr/>
          <p:nvPr/>
        </p:nvSpPr>
        <p:spPr>
          <a:xfrm>
            <a:off x="7452359" y="3145536"/>
            <a:ext cx="1051560" cy="365760"/>
          </a:xfrm>
          <a:prstGeom prst="roundRect">
            <a:avLst>
              <a:gd name="adj" fmla="val 20000"/>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a2ud280_ndt62"/>
          <p:cNvSpPr txBox="1"/>
          <p:nvPr/>
        </p:nvSpPr>
        <p:spPr>
          <a:xfrm>
            <a:off x="7498079" y="3145536"/>
            <a:ext cx="960119" cy="365760"/>
          </a:xfrm>
          <a:prstGeom prst="rect">
            <a:avLst/>
          </a:prstGeom>
          <a:noFill/>
        </p:spPr>
        <p:txBody>
          <a:bodyPr wrap="square" lIns="0" tIns="0" rIns="0" bIns="0" anchor="ctr">
            <a:spAutoFit/>
          </a:bodyPr>
          <a:lstStyle/>
          <a:p>
            <a:pPr algn="ctr"/>
            <a:r>
              <a:rPr sz="800" b="1">
                <a:solidFill>
                  <a:srgbClr val="1C1917"/>
                </a:solidFill>
                <a:latin typeface="Segoe UI"/>
              </a:rPr>
              <a:t>ML / AI</a:t>
            </a:r>
          </a:p>
        </p:txBody>
      </p:sp>
      <p:sp>
        <p:nvSpPr>
          <p:cNvPr id="64" name="a2ud300_nd63"/>
          <p:cNvSpPr/>
          <p:nvPr/>
        </p:nvSpPr>
        <p:spPr>
          <a:xfrm>
            <a:off x="6327648" y="2331720"/>
            <a:ext cx="731520" cy="502920"/>
          </a:xfrm>
          <a:prstGeom prst="roundRect">
            <a:avLst>
              <a:gd name="adj" fmla="val 14545"/>
            </a:avLst>
          </a:prstGeom>
          <a:solidFill>
            <a:srgbClr val="F7F6F3"/>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a2ud300_ndt64"/>
          <p:cNvSpPr txBox="1"/>
          <p:nvPr/>
        </p:nvSpPr>
        <p:spPr>
          <a:xfrm>
            <a:off x="6373368" y="2331720"/>
            <a:ext cx="640080" cy="502920"/>
          </a:xfrm>
          <a:prstGeom prst="rect">
            <a:avLst/>
          </a:prstGeom>
          <a:noFill/>
        </p:spPr>
        <p:txBody>
          <a:bodyPr wrap="square" lIns="0" tIns="0" rIns="0" bIns="0" anchor="ctr">
            <a:spAutoFit/>
          </a:bodyPr>
          <a:lstStyle/>
          <a:p>
            <a:pPr algn="ctr"/>
            <a:r>
              <a:rPr sz="850" b="1">
                <a:solidFill>
                  <a:srgbClr val="1C1917"/>
                </a:solidFill>
                <a:latin typeface="Segoe UI"/>
              </a:rPr>
              <a:t>Broker</a:t>
            </a:r>
          </a:p>
        </p:txBody>
      </p:sp>
      <p:cxnSp>
        <p:nvCxnSpPr>
          <p:cNvPr id="66" name="a2fd350_wr65"/>
          <p:cNvCxnSpPr/>
          <p:nvPr/>
        </p:nvCxnSpPr>
        <p:spPr>
          <a:xfrm>
            <a:off x="5916168" y="1810512"/>
            <a:ext cx="393191" cy="777240"/>
          </a:xfrm>
          <a:prstGeom prst="line">
            <a:avLst/>
          </a:prstGeom>
          <a:ln w="12700">
            <a:solidFill>
              <a:srgbClr val="15803D"/>
            </a:solidFill>
          </a:ln>
        </p:spPr>
        <p:style>
          <a:lnRef idx="2">
            <a:schemeClr val="accent1"/>
          </a:lnRef>
          <a:fillRef idx="0">
            <a:schemeClr val="accent1"/>
          </a:fillRef>
          <a:effectRef idx="1">
            <a:schemeClr val="accent1"/>
          </a:effectRef>
          <a:fontRef idx="minor">
            <a:schemeClr val="tx1"/>
          </a:fontRef>
        </p:style>
      </p:cxnSp>
      <p:cxnSp>
        <p:nvCxnSpPr>
          <p:cNvPr id="67" name="a2fd380_wr66"/>
          <p:cNvCxnSpPr/>
          <p:nvPr/>
        </p:nvCxnSpPr>
        <p:spPr>
          <a:xfrm>
            <a:off x="5916168" y="2249424"/>
            <a:ext cx="393191" cy="338328"/>
          </a:xfrm>
          <a:prstGeom prst="line">
            <a:avLst/>
          </a:prstGeom>
          <a:ln w="12700">
            <a:solidFill>
              <a:srgbClr val="15803D"/>
            </a:solidFill>
          </a:ln>
        </p:spPr>
        <p:style>
          <a:lnRef idx="2">
            <a:schemeClr val="accent1"/>
          </a:lnRef>
          <a:fillRef idx="0">
            <a:schemeClr val="accent1"/>
          </a:fillRef>
          <a:effectRef idx="1">
            <a:schemeClr val="accent1"/>
          </a:effectRef>
          <a:fontRef idx="minor">
            <a:schemeClr val="tx1"/>
          </a:fontRef>
        </p:style>
      </p:cxnSp>
      <p:cxnSp>
        <p:nvCxnSpPr>
          <p:cNvPr id="68" name="a2fd410_wr67"/>
          <p:cNvCxnSpPr/>
          <p:nvPr/>
        </p:nvCxnSpPr>
        <p:spPr>
          <a:xfrm flipV="1">
            <a:off x="5916168" y="2587752"/>
            <a:ext cx="393191" cy="100584"/>
          </a:xfrm>
          <a:prstGeom prst="line">
            <a:avLst/>
          </a:prstGeom>
          <a:ln w="12700">
            <a:solidFill>
              <a:srgbClr val="15803D"/>
            </a:solidFill>
          </a:ln>
        </p:spPr>
        <p:style>
          <a:lnRef idx="2">
            <a:schemeClr val="accent1"/>
          </a:lnRef>
          <a:fillRef idx="0">
            <a:schemeClr val="accent1"/>
          </a:fillRef>
          <a:effectRef idx="1">
            <a:schemeClr val="accent1"/>
          </a:effectRef>
          <a:fontRef idx="minor">
            <a:schemeClr val="tx1"/>
          </a:fontRef>
        </p:style>
      </p:cxnSp>
      <p:cxnSp>
        <p:nvCxnSpPr>
          <p:cNvPr id="69" name="a2fd440_wr68"/>
          <p:cNvCxnSpPr/>
          <p:nvPr/>
        </p:nvCxnSpPr>
        <p:spPr>
          <a:xfrm flipV="1">
            <a:off x="5916168" y="2587752"/>
            <a:ext cx="393191" cy="539496"/>
          </a:xfrm>
          <a:prstGeom prst="line">
            <a:avLst/>
          </a:prstGeom>
          <a:ln w="12700">
            <a:solidFill>
              <a:srgbClr val="15803D"/>
            </a:solidFill>
          </a:ln>
        </p:spPr>
        <p:style>
          <a:lnRef idx="2">
            <a:schemeClr val="accent1"/>
          </a:lnRef>
          <a:fillRef idx="0">
            <a:schemeClr val="accent1"/>
          </a:fillRef>
          <a:effectRef idx="1">
            <a:schemeClr val="accent1"/>
          </a:effectRef>
          <a:fontRef idx="minor">
            <a:schemeClr val="tx1"/>
          </a:fontRef>
        </p:style>
      </p:cxnSp>
      <p:cxnSp>
        <p:nvCxnSpPr>
          <p:cNvPr id="70" name="a2fd470_wr69"/>
          <p:cNvCxnSpPr/>
          <p:nvPr/>
        </p:nvCxnSpPr>
        <p:spPr>
          <a:xfrm flipV="1">
            <a:off x="5916168" y="2587752"/>
            <a:ext cx="393191" cy="978408"/>
          </a:xfrm>
          <a:prstGeom prst="line">
            <a:avLst/>
          </a:prstGeom>
          <a:ln w="12700">
            <a:solidFill>
              <a:srgbClr val="15803D"/>
            </a:solidFill>
          </a:ln>
        </p:spPr>
        <p:style>
          <a:lnRef idx="2">
            <a:schemeClr val="accent1"/>
          </a:lnRef>
          <a:fillRef idx="0">
            <a:schemeClr val="accent1"/>
          </a:fillRef>
          <a:effectRef idx="1">
            <a:schemeClr val="accent1"/>
          </a:effectRef>
          <a:fontRef idx="minor">
            <a:schemeClr val="tx1"/>
          </a:fontRef>
        </p:style>
      </p:cxnSp>
      <p:cxnSp>
        <p:nvCxnSpPr>
          <p:cNvPr id="71" name="a2fd550_wr70"/>
          <p:cNvCxnSpPr/>
          <p:nvPr/>
        </p:nvCxnSpPr>
        <p:spPr>
          <a:xfrm flipV="1">
            <a:off x="7077456" y="2011680"/>
            <a:ext cx="356615" cy="576072"/>
          </a:xfrm>
          <a:prstGeom prst="line">
            <a:avLst/>
          </a:prstGeom>
          <a:ln w="12700">
            <a:solidFill>
              <a:srgbClr val="15803D"/>
            </a:solidFill>
          </a:ln>
        </p:spPr>
        <p:style>
          <a:lnRef idx="2">
            <a:schemeClr val="accent1"/>
          </a:lnRef>
          <a:fillRef idx="0">
            <a:schemeClr val="accent1"/>
          </a:fillRef>
          <a:effectRef idx="1">
            <a:schemeClr val="accent1"/>
          </a:effectRef>
          <a:fontRef idx="minor">
            <a:schemeClr val="tx1"/>
          </a:fontRef>
        </p:style>
      </p:cxnSp>
      <p:cxnSp>
        <p:nvCxnSpPr>
          <p:cNvPr id="72" name="a2fd580_wr71"/>
          <p:cNvCxnSpPr/>
          <p:nvPr/>
        </p:nvCxnSpPr>
        <p:spPr>
          <a:xfrm>
            <a:off x="7077456" y="2587752"/>
            <a:ext cx="356615" cy="82296"/>
          </a:xfrm>
          <a:prstGeom prst="line">
            <a:avLst/>
          </a:prstGeom>
          <a:ln w="12700">
            <a:solidFill>
              <a:srgbClr val="15803D"/>
            </a:solidFill>
          </a:ln>
        </p:spPr>
        <p:style>
          <a:lnRef idx="2">
            <a:schemeClr val="accent1"/>
          </a:lnRef>
          <a:fillRef idx="0">
            <a:schemeClr val="accent1"/>
          </a:fillRef>
          <a:effectRef idx="1">
            <a:schemeClr val="accent1"/>
          </a:effectRef>
          <a:fontRef idx="minor">
            <a:schemeClr val="tx1"/>
          </a:fontRef>
        </p:style>
      </p:cxnSp>
      <p:cxnSp>
        <p:nvCxnSpPr>
          <p:cNvPr id="73" name="a2fd610_wr72"/>
          <p:cNvCxnSpPr/>
          <p:nvPr/>
        </p:nvCxnSpPr>
        <p:spPr>
          <a:xfrm>
            <a:off x="7077456" y="2587752"/>
            <a:ext cx="356615" cy="740664"/>
          </a:xfrm>
          <a:prstGeom prst="line">
            <a:avLst/>
          </a:prstGeom>
          <a:ln w="12700">
            <a:solidFill>
              <a:srgbClr val="15803D"/>
            </a:solidFill>
          </a:ln>
        </p:spPr>
        <p:style>
          <a:lnRef idx="2">
            <a:schemeClr val="accent1"/>
          </a:lnRef>
          <a:fillRef idx="0">
            <a:schemeClr val="accent1"/>
          </a:fillRef>
          <a:effectRef idx="1">
            <a:schemeClr val="accent1"/>
          </a:effectRef>
          <a:fontRef idx="minor">
            <a:schemeClr val="tx1"/>
          </a:fontRef>
        </p:style>
      </p:cxnSp>
      <p:sp>
        <p:nvSpPr>
          <p:cNvPr id="74" name="a3u_nb73"/>
          <p:cNvSpPr/>
          <p:nvPr/>
        </p:nvSpPr>
        <p:spPr>
          <a:xfrm>
            <a:off x="457200" y="4087368"/>
            <a:ext cx="8229600" cy="502920"/>
          </a:xfrm>
          <a:prstGeom prst="roundRect">
            <a:avLst>
              <a:gd name="adj" fmla="val 14545"/>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a3u_nacc74"/>
          <p:cNvSpPr/>
          <p:nvPr/>
        </p:nvSpPr>
        <p:spPr>
          <a:xfrm>
            <a:off x="457200" y="4087368"/>
            <a:ext cx="54864" cy="5029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a3u_nt75"/>
          <p:cNvSpPr txBox="1"/>
          <p:nvPr/>
        </p:nvSpPr>
        <p:spPr>
          <a:xfrm>
            <a:off x="658368" y="4087368"/>
            <a:ext cx="7827264" cy="502920"/>
          </a:xfrm>
          <a:prstGeom prst="rect">
            <a:avLst/>
          </a:prstGeom>
          <a:noFill/>
        </p:spPr>
        <p:txBody>
          <a:bodyPr wrap="square" lIns="0" tIns="0" rIns="0" bIns="0" anchor="ctr">
            <a:spAutoFit/>
          </a:bodyPr>
          <a:lstStyle/>
          <a:p>
            <a:pPr algn="l"/>
            <a:r>
              <a:rPr sz="950" b="1">
                <a:solidFill>
                  <a:srgbClr val="C2410C"/>
                </a:solidFill>
                <a:latin typeface="Segoe UI"/>
              </a:rPr>
              <a:t>MATH  </a:t>
            </a:r>
            <a:r>
              <a:rPr sz="950" b="0">
                <a:solidFill>
                  <a:srgbClr val="44403C"/>
                </a:solidFill>
                <a:latin typeface="Segoe UI"/>
              </a:rPr>
              <a:t>Grow to 6 senders and 4 receivers: 24 direct connections, or just 10 through a broker.</a:t>
            </a:r>
          </a:p>
        </p:txBody>
      </p:sp>
      <p:sp>
        <p:nvSpPr>
          <p:cNvPr id="77" name="ft76"/>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24</a:t>
            </a:r>
          </a:p>
        </p:txBody>
      </p:sp>
      <p:sp>
        <p:nvSpPr>
          <p:cNvPr id="78" name="ft77"/>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ft78"/>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80" name="ft79"/>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4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4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8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8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12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12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16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16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20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20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24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par>
                                <p:cTn id="89" presetID="2" presetClass="entr" presetSubtype="4" fill="hold" grpId="0" nodeType="withEffect">
                                  <p:stCondLst>
                                    <p:cond delay="24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28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28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1"/>
                                          </p:val>
                                        </p:tav>
                                        <p:tav tm="100000">
                                          <p:val>
                                            <p:strVal val="#ppt_y"/>
                                          </p:val>
                                        </p:tav>
                                      </p:tavLst>
                                    </p:anim>
                                    <p:animEffect transition="in" filter="fade">
                                      <p:cBhvr>
                                        <p:cTn id="98" dur="500"/>
                                        <p:tgtEl>
                                          <p:spTgt spid="29"/>
                                        </p:tgtEl>
                                      </p:cBhvr>
                                    </p:animEffect>
                                  </p:childTnLst>
                                </p:cTn>
                              </p:par>
                              <p:par>
                                <p:cTn id="102" presetID="10" presetClass="entr" presetSubtype="0" fill="hold" grpId="0" nodeType="withEffect">
                                  <p:stCondLst>
                                    <p:cond delay="350"/>
                                  </p:stCondLst>
                                  <p:childTnLst>
                                    <p:set>
                                      <p:cBhvr>
                                        <p:cTn id="100" dur="1" fill="hold">
                                          <p:stCondLst>
                                            <p:cond delay="0"/>
                                          </p:stCondLst>
                                        </p:cTn>
                                        <p:tgtEl>
                                          <p:spTgt spid="30"/>
                                        </p:tgtEl>
                                        <p:attrNameLst>
                                          <p:attrName>style.visibility</p:attrName>
                                        </p:attrNameLst>
                                      </p:cBhvr>
                                      <p:to>
                                        <p:strVal val="visible"/>
                                      </p:to>
                                    </p:set>
                                    <p:animEffect transition="in" filter="fade">
                                      <p:cBhvr>
                                        <p:cTn id="101" dur="500"/>
                                        <p:tgtEl>
                                          <p:spTgt spid="30"/>
                                        </p:tgtEl>
                                      </p:cBhvr>
                                    </p:animEffect>
                                  </p:childTnLst>
                                </p:cTn>
                              </p:par>
                              <p:par>
                                <p:cTn id="105" presetID="10" presetClass="entr" presetSubtype="0" fill="hold" grpId="0" nodeType="withEffect">
                                  <p:stCondLst>
                                    <p:cond delay="37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4" dur="500"/>
                                        <p:tgtEl>
                                          <p:spTgt spid="31"/>
                                        </p:tgtEl>
                                      </p:cBhvr>
                                    </p:animEffect>
                                  </p:childTnLst>
                                </p:cTn>
                              </p:par>
                              <p:par>
                                <p:cTn id="108" presetID="10" presetClass="entr" presetSubtype="0" fill="hold" grpId="0" nodeType="withEffect">
                                  <p:stCondLst>
                                    <p:cond delay="390"/>
                                  </p:stCondLst>
                                  <p:childTnLst>
                                    <p:set>
                                      <p:cBhvr>
                                        <p:cTn id="106" dur="1" fill="hold">
                                          <p:stCondLst>
                                            <p:cond delay="0"/>
                                          </p:stCondLst>
                                        </p:cTn>
                                        <p:tgtEl>
                                          <p:spTgt spid="32"/>
                                        </p:tgtEl>
                                        <p:attrNameLst>
                                          <p:attrName>style.visibility</p:attrName>
                                        </p:attrNameLst>
                                      </p:cBhvr>
                                      <p:to>
                                        <p:strVal val="visible"/>
                                      </p:to>
                                    </p:set>
                                    <p:animEffect transition="in" filter="fade">
                                      <p:cBhvr>
                                        <p:cTn id="107" dur="500"/>
                                        <p:tgtEl>
                                          <p:spTgt spid="32"/>
                                        </p:tgtEl>
                                      </p:cBhvr>
                                    </p:animEffect>
                                  </p:childTnLst>
                                </p:cTn>
                              </p:par>
                              <p:par>
                                <p:cTn id="111" presetID="10" presetClass="entr" presetSubtype="0" fill="hold" grpId="0" nodeType="withEffect">
                                  <p:stCondLst>
                                    <p:cond delay="410"/>
                                  </p:stCondLst>
                                  <p:childTnLst>
                                    <p:set>
                                      <p:cBhvr>
                                        <p:cTn id="109" dur="1" fill="hold">
                                          <p:stCondLst>
                                            <p:cond delay="0"/>
                                          </p:stCondLst>
                                        </p:cTn>
                                        <p:tgtEl>
                                          <p:spTgt spid="33"/>
                                        </p:tgtEl>
                                        <p:attrNameLst>
                                          <p:attrName>style.visibility</p:attrName>
                                        </p:attrNameLst>
                                      </p:cBhvr>
                                      <p:to>
                                        <p:strVal val="visible"/>
                                      </p:to>
                                    </p:set>
                                    <p:animEffect transition="in" filter="fade">
                                      <p:cBhvr>
                                        <p:cTn id="110" dur="500"/>
                                        <p:tgtEl>
                                          <p:spTgt spid="33"/>
                                        </p:tgtEl>
                                      </p:cBhvr>
                                    </p:animEffect>
                                  </p:childTnLst>
                                </p:cTn>
                              </p:par>
                              <p:par>
                                <p:cTn id="114" presetID="10" presetClass="entr" presetSubtype="0" fill="hold" grpId="0" nodeType="withEffect">
                                  <p:stCondLst>
                                    <p:cond delay="430"/>
                                  </p:stCondLst>
                                  <p:childTnLst>
                                    <p:set>
                                      <p:cBhvr>
                                        <p:cTn id="112" dur="1" fill="hold">
                                          <p:stCondLst>
                                            <p:cond delay="0"/>
                                          </p:stCondLst>
                                        </p:cTn>
                                        <p:tgtEl>
                                          <p:spTgt spid="34"/>
                                        </p:tgtEl>
                                        <p:attrNameLst>
                                          <p:attrName>style.visibility</p:attrName>
                                        </p:attrNameLst>
                                      </p:cBhvr>
                                      <p:to>
                                        <p:strVal val="visible"/>
                                      </p:to>
                                    </p:set>
                                    <p:animEffect transition="in" filter="fade">
                                      <p:cBhvr>
                                        <p:cTn id="113" dur="500"/>
                                        <p:tgtEl>
                                          <p:spTgt spid="34"/>
                                        </p:tgtEl>
                                      </p:cBhvr>
                                    </p:animEffect>
                                  </p:childTnLst>
                                </p:cTn>
                              </p:par>
                              <p:par>
                                <p:cTn id="117" presetID="10" presetClass="entr" presetSubtype="0" fill="hold" grpId="0" nodeType="withEffect">
                                  <p:stCondLst>
                                    <p:cond delay="450"/>
                                  </p:stCondLst>
                                  <p:childTnLst>
                                    <p:set>
                                      <p:cBhvr>
                                        <p:cTn id="115" dur="1" fill="hold">
                                          <p:stCondLst>
                                            <p:cond delay="0"/>
                                          </p:stCondLst>
                                        </p:cTn>
                                        <p:tgtEl>
                                          <p:spTgt spid="35"/>
                                        </p:tgtEl>
                                        <p:attrNameLst>
                                          <p:attrName>style.visibility</p:attrName>
                                        </p:attrNameLst>
                                      </p:cBhvr>
                                      <p:to>
                                        <p:strVal val="visible"/>
                                      </p:to>
                                    </p:set>
                                    <p:animEffect transition="in" filter="fade">
                                      <p:cBhvr>
                                        <p:cTn id="116" dur="500"/>
                                        <p:tgtEl>
                                          <p:spTgt spid="35"/>
                                        </p:tgtEl>
                                      </p:cBhvr>
                                    </p:animEffect>
                                  </p:childTnLst>
                                </p:cTn>
                              </p:par>
                              <p:par>
                                <p:cTn id="120" presetID="10" presetClass="entr" presetSubtype="0" fill="hold" grpId="0" nodeType="withEffect">
                                  <p:stCondLst>
                                    <p:cond delay="470"/>
                                  </p:stCondLst>
                                  <p:childTnLst>
                                    <p:set>
                                      <p:cBhvr>
                                        <p:cTn id="118" dur="1" fill="hold">
                                          <p:stCondLst>
                                            <p:cond delay="0"/>
                                          </p:stCondLst>
                                        </p:cTn>
                                        <p:tgtEl>
                                          <p:spTgt spid="36"/>
                                        </p:tgtEl>
                                        <p:attrNameLst>
                                          <p:attrName>style.visibility</p:attrName>
                                        </p:attrNameLst>
                                      </p:cBhvr>
                                      <p:to>
                                        <p:strVal val="visible"/>
                                      </p:to>
                                    </p:set>
                                    <p:animEffect transition="in" filter="fade">
                                      <p:cBhvr>
                                        <p:cTn id="119" dur="500"/>
                                        <p:tgtEl>
                                          <p:spTgt spid="36"/>
                                        </p:tgtEl>
                                      </p:cBhvr>
                                    </p:animEffect>
                                  </p:childTnLst>
                                </p:cTn>
                              </p:par>
                              <p:par>
                                <p:cTn id="123" presetID="10" presetClass="entr" presetSubtype="0" fill="hold" grpId="0" nodeType="withEffect">
                                  <p:stCondLst>
                                    <p:cond delay="490"/>
                                  </p:stCondLst>
                                  <p:childTnLst>
                                    <p:set>
                                      <p:cBhvr>
                                        <p:cTn id="121" dur="1" fill="hold">
                                          <p:stCondLst>
                                            <p:cond delay="0"/>
                                          </p:stCondLst>
                                        </p:cTn>
                                        <p:tgtEl>
                                          <p:spTgt spid="37"/>
                                        </p:tgtEl>
                                        <p:attrNameLst>
                                          <p:attrName>style.visibility</p:attrName>
                                        </p:attrNameLst>
                                      </p:cBhvr>
                                      <p:to>
                                        <p:strVal val="visible"/>
                                      </p:to>
                                    </p:set>
                                    <p:animEffect transition="in" filter="fade">
                                      <p:cBhvr>
                                        <p:cTn id="122" dur="500"/>
                                        <p:tgtEl>
                                          <p:spTgt spid="37"/>
                                        </p:tgtEl>
                                      </p:cBhvr>
                                    </p:animEffect>
                                  </p:childTnLst>
                                </p:cTn>
                              </p:par>
                              <p:par>
                                <p:cTn id="126" presetID="10" presetClass="entr" presetSubtype="0" fill="hold" grpId="0" nodeType="withEffect">
                                  <p:stCondLst>
                                    <p:cond delay="510"/>
                                  </p:stCondLst>
                                  <p:childTnLst>
                                    <p:set>
                                      <p:cBhvr>
                                        <p:cTn id="124" dur="1" fill="hold">
                                          <p:stCondLst>
                                            <p:cond delay="0"/>
                                          </p:stCondLst>
                                        </p:cTn>
                                        <p:tgtEl>
                                          <p:spTgt spid="38"/>
                                        </p:tgtEl>
                                        <p:attrNameLst>
                                          <p:attrName>style.visibility</p:attrName>
                                        </p:attrNameLst>
                                      </p:cBhvr>
                                      <p:to>
                                        <p:strVal val="visible"/>
                                      </p:to>
                                    </p:set>
                                    <p:animEffect transition="in" filter="fade">
                                      <p:cBhvr>
                                        <p:cTn id="125" dur="500"/>
                                        <p:tgtEl>
                                          <p:spTgt spid="38"/>
                                        </p:tgtEl>
                                      </p:cBhvr>
                                    </p:animEffect>
                                  </p:childTnLst>
                                </p:cTn>
                              </p:par>
                              <p:par>
                                <p:cTn id="129" presetID="10" presetClass="entr" presetSubtype="0" fill="hold" grpId="0" nodeType="withEffect">
                                  <p:stCondLst>
                                    <p:cond delay="530"/>
                                  </p:stCondLst>
                                  <p:childTnLst>
                                    <p:set>
                                      <p:cBhvr>
                                        <p:cTn id="127" dur="1" fill="hold">
                                          <p:stCondLst>
                                            <p:cond delay="0"/>
                                          </p:stCondLst>
                                        </p:cTn>
                                        <p:tgtEl>
                                          <p:spTgt spid="39"/>
                                        </p:tgtEl>
                                        <p:attrNameLst>
                                          <p:attrName>style.visibility</p:attrName>
                                        </p:attrNameLst>
                                      </p:cBhvr>
                                      <p:to>
                                        <p:strVal val="visible"/>
                                      </p:to>
                                    </p:set>
                                    <p:animEffect transition="in" filter="fade">
                                      <p:cBhvr>
                                        <p:cTn id="128" dur="500"/>
                                        <p:tgtEl>
                                          <p:spTgt spid="39"/>
                                        </p:tgtEl>
                                      </p:cBhvr>
                                    </p:animEffect>
                                  </p:childTnLst>
                                </p:cTn>
                              </p:par>
                              <p:par>
                                <p:cTn id="132" presetID="10" presetClass="entr" presetSubtype="0" fill="hold" grpId="0" nodeType="withEffect">
                                  <p:stCondLst>
                                    <p:cond delay="55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31" dur="500"/>
                                        <p:tgtEl>
                                          <p:spTgt spid="40"/>
                                        </p:tgtEl>
                                      </p:cBhvr>
                                    </p:animEffect>
                                  </p:childTnLst>
                                </p:cTn>
                              </p:par>
                              <p:par>
                                <p:cTn id="135" presetID="10" presetClass="entr" presetSubtype="0" fill="hold" grpId="0" nodeType="withEffect">
                                  <p:stCondLst>
                                    <p:cond delay="570"/>
                                  </p:stCondLst>
                                  <p:childTnLst>
                                    <p:set>
                                      <p:cBhvr>
                                        <p:cTn id="133" dur="1" fill="hold">
                                          <p:stCondLst>
                                            <p:cond delay="0"/>
                                          </p:stCondLst>
                                        </p:cTn>
                                        <p:tgtEl>
                                          <p:spTgt spid="41"/>
                                        </p:tgtEl>
                                        <p:attrNameLst>
                                          <p:attrName>style.visibility</p:attrName>
                                        </p:attrNameLst>
                                      </p:cBhvr>
                                      <p:to>
                                        <p:strVal val="visible"/>
                                      </p:to>
                                    </p:set>
                                    <p:animEffect transition="in" filter="fade">
                                      <p:cBhvr>
                                        <p:cTn id="134" dur="500"/>
                                        <p:tgtEl>
                                          <p:spTgt spid="41"/>
                                        </p:tgtEl>
                                      </p:cBhvr>
                                    </p:animEffect>
                                  </p:childTnLst>
                                </p:cTn>
                              </p:par>
                              <p:par>
                                <p:cTn id="138" presetID="10" presetClass="entr" presetSubtype="0" fill="hold" grpId="0" nodeType="withEffect">
                                  <p:stCondLst>
                                    <p:cond delay="590"/>
                                  </p:stCondLst>
                                  <p:childTnLst>
                                    <p:set>
                                      <p:cBhvr>
                                        <p:cTn id="136" dur="1" fill="hold">
                                          <p:stCondLst>
                                            <p:cond delay="0"/>
                                          </p:stCondLst>
                                        </p:cTn>
                                        <p:tgtEl>
                                          <p:spTgt spid="42"/>
                                        </p:tgtEl>
                                        <p:attrNameLst>
                                          <p:attrName>style.visibility</p:attrName>
                                        </p:attrNameLst>
                                      </p:cBhvr>
                                      <p:to>
                                        <p:strVal val="visible"/>
                                      </p:to>
                                    </p:set>
                                    <p:animEffect transition="in" filter="fade">
                                      <p:cBhvr>
                                        <p:cTn id="137" dur="500"/>
                                        <p:tgtEl>
                                          <p:spTgt spid="42"/>
                                        </p:tgtEl>
                                      </p:cBhvr>
                                    </p:animEffect>
                                  </p:childTnLst>
                                </p:cTn>
                              </p:par>
                              <p:par>
                                <p:cTn id="141" presetID="10" presetClass="entr" presetSubtype="0" fill="hold" grpId="0" nodeType="withEffect">
                                  <p:stCondLst>
                                    <p:cond delay="610"/>
                                  </p:stCondLst>
                                  <p:childTnLst>
                                    <p:set>
                                      <p:cBhvr>
                                        <p:cTn id="139" dur="1" fill="hold">
                                          <p:stCondLst>
                                            <p:cond delay="0"/>
                                          </p:stCondLst>
                                        </p:cTn>
                                        <p:tgtEl>
                                          <p:spTgt spid="43"/>
                                        </p:tgtEl>
                                        <p:attrNameLst>
                                          <p:attrName>style.visibility</p:attrName>
                                        </p:attrNameLst>
                                      </p:cBhvr>
                                      <p:to>
                                        <p:strVal val="visible"/>
                                      </p:to>
                                    </p:set>
                                    <p:animEffect transition="in" filter="fade">
                                      <p:cBhvr>
                                        <p:cTn id="140" dur="500"/>
                                        <p:tgtEl>
                                          <p:spTgt spid="43"/>
                                        </p:tgtEl>
                                      </p:cBhvr>
                                    </p:animEffect>
                                  </p:childTnLst>
                                </p:cTn>
                              </p:par>
                              <p:par>
                                <p:cTn id="144" presetID="10" presetClass="entr" presetSubtype="0" fill="hold" grpId="0" nodeType="withEffect">
                                  <p:stCondLst>
                                    <p:cond delay="630"/>
                                  </p:stCondLst>
                                  <p:childTnLst>
                                    <p:set>
                                      <p:cBhvr>
                                        <p:cTn id="142" dur="1" fill="hold">
                                          <p:stCondLst>
                                            <p:cond delay="0"/>
                                          </p:stCondLst>
                                        </p:cTn>
                                        <p:tgtEl>
                                          <p:spTgt spid="44"/>
                                        </p:tgtEl>
                                        <p:attrNameLst>
                                          <p:attrName>style.visibility</p:attrName>
                                        </p:attrNameLst>
                                      </p:cBhvr>
                                      <p:to>
                                        <p:strVal val="visible"/>
                                      </p:to>
                                    </p:set>
                                    <p:animEffect transition="in" filter="fade">
                                      <p:cBhvr>
                                        <p:cTn id="143" dur="500"/>
                                        <p:tgtEl>
                                          <p:spTgt spid="44"/>
                                        </p:tgtEl>
                                      </p:cBhvr>
                                    </p:animEffect>
                                  </p:childTnLst>
                                </p:cTn>
                              </p:par>
                            </p:childTnLst>
                          </p:cTn>
                        </p:par>
                      </p:childTnLst>
                    </p:cTn>
                  </p:par>
                  <p:par>
                    <p:cTn id="145" fill="hold">
                      <p:stCondLst>
                        <p:cond delay="indefinite"/>
                      </p:stCondLst>
                      <p:childTnLst>
                        <p:par>
                          <p:cTn id="146" fill="hold">
                            <p:stCondLst>
                              <p:cond delay="0"/>
                            </p:stCondLst>
                            <p:childTnLst>
                              <p:par>
                                <p:cTn id="151" presetID="2" presetClass="entr" presetSubtype="4" fill="hold" grpId="0" nodeType="clickEffect">
                                  <p:stCondLst>
                                    <p:cond delay="0"/>
                                  </p:stCondLst>
                                  <p:childTnLst>
                                    <p:set>
                                      <p:cBhvr>
                                        <p:cTn id="147" dur="1" fill="hold">
                                          <p:stCondLst>
                                            <p:cond delay="0"/>
                                          </p:stCondLst>
                                        </p:cTn>
                                        <p:tgtEl>
                                          <p:spTgt spid="45"/>
                                        </p:tgtEl>
                                        <p:attrNameLst>
                                          <p:attrName>style.visibility</p:attrName>
                                        </p:attrNameLst>
                                      </p:cBhvr>
                                      <p:to>
                                        <p:strVal val="visible"/>
                                      </p:to>
                                    </p:set>
                                    <p:anim calcmode="lin" valueType="num">
                                      <p:cBhvr additive="base">
                                        <p:cTn id="148" dur="500" fill="hold"/>
                                        <p:tgtEl>
                                          <p:spTgt spid="45"/>
                                        </p:tgtEl>
                                        <p:attrNameLst>
                                          <p:attrName>ppt_x</p:attrName>
                                        </p:attrNameLst>
                                      </p:cBhvr>
                                      <p:tavLst>
                                        <p:tav tm="0">
                                          <p:val>
                                            <p:strVal val="#ppt_x"/>
                                          </p:val>
                                        </p:tav>
                                        <p:tav tm="100000">
                                          <p:val>
                                            <p:strVal val="#ppt_x"/>
                                          </p:val>
                                        </p:tav>
                                      </p:tavLst>
                                    </p:anim>
                                    <p:anim calcmode="lin" valueType="num">
                                      <p:cBhvr additive="base">
                                        <p:cTn id="149" dur="500" fill="hold"/>
                                        <p:tgtEl>
                                          <p:spTgt spid="45"/>
                                        </p:tgtEl>
                                        <p:attrNameLst>
                                          <p:attrName>ppt_y</p:attrName>
                                        </p:attrNameLst>
                                      </p:cBhvr>
                                      <p:tavLst>
                                        <p:tav tm="0">
                                          <p:val>
                                            <p:strVal val="#ppt_y+0.1"/>
                                          </p:val>
                                        </p:tav>
                                        <p:tav tm="100000">
                                          <p:val>
                                            <p:strVal val="#ppt_y"/>
                                          </p:val>
                                        </p:tav>
                                      </p:tavLst>
                                    </p:anim>
                                    <p:animEffect transition="in" filter="fade">
                                      <p:cBhvr>
                                        <p:cTn id="150" dur="500"/>
                                        <p:tgtEl>
                                          <p:spTgt spid="45"/>
                                        </p:tgtEl>
                                      </p:cBhvr>
                                    </p:animEffect>
                                  </p:childTnLst>
                                </p:cTn>
                              </p:par>
                              <p:par>
                                <p:cTn id="156" presetID="2" presetClass="entr" presetSubtype="4" fill="hold" grpId="0" nodeType="withEffect">
                                  <p:stCondLst>
                                    <p:cond delay="0"/>
                                  </p:stCondLst>
                                  <p:childTnLst>
                                    <p:set>
                                      <p:cBhvr>
                                        <p:cTn id="152" dur="1" fill="hold">
                                          <p:stCondLst>
                                            <p:cond delay="0"/>
                                          </p:stCondLst>
                                        </p:cTn>
                                        <p:tgtEl>
                                          <p:spTgt spid="46"/>
                                        </p:tgtEl>
                                        <p:attrNameLst>
                                          <p:attrName>style.visibility</p:attrName>
                                        </p:attrNameLst>
                                      </p:cBhvr>
                                      <p:to>
                                        <p:strVal val="visible"/>
                                      </p:to>
                                    </p:set>
                                    <p:anim calcmode="lin" valueType="num">
                                      <p:cBhvr additive="base">
                                        <p:cTn id="153" dur="500" fill="hold"/>
                                        <p:tgtEl>
                                          <p:spTgt spid="46"/>
                                        </p:tgtEl>
                                        <p:attrNameLst>
                                          <p:attrName>ppt_x</p:attrName>
                                        </p:attrNameLst>
                                      </p:cBhvr>
                                      <p:tavLst>
                                        <p:tav tm="0">
                                          <p:val>
                                            <p:strVal val="#ppt_x"/>
                                          </p:val>
                                        </p:tav>
                                        <p:tav tm="100000">
                                          <p:val>
                                            <p:strVal val="#ppt_x"/>
                                          </p:val>
                                        </p:tav>
                                      </p:tavLst>
                                    </p:anim>
                                    <p:anim calcmode="lin" valueType="num">
                                      <p:cBhvr additive="base">
                                        <p:cTn id="154" dur="500" fill="hold"/>
                                        <p:tgtEl>
                                          <p:spTgt spid="46"/>
                                        </p:tgtEl>
                                        <p:attrNameLst>
                                          <p:attrName>ppt_y</p:attrName>
                                        </p:attrNameLst>
                                      </p:cBhvr>
                                      <p:tavLst>
                                        <p:tav tm="0">
                                          <p:val>
                                            <p:strVal val="#ppt_y+0.1"/>
                                          </p:val>
                                        </p:tav>
                                        <p:tav tm="100000">
                                          <p:val>
                                            <p:strVal val="#ppt_y"/>
                                          </p:val>
                                        </p:tav>
                                      </p:tavLst>
                                    </p:anim>
                                    <p:animEffect transition="in" filter="fade">
                                      <p:cBhvr>
                                        <p:cTn id="155" dur="500"/>
                                        <p:tgtEl>
                                          <p:spTgt spid="46"/>
                                        </p:tgtEl>
                                      </p:cBhvr>
                                    </p:animEffect>
                                  </p:childTnLst>
                                </p:cTn>
                              </p:par>
                              <p:par>
                                <p:cTn id="161" presetID="2" presetClass="entr" presetSubtype="4" fill="hold" grpId="0" nodeType="withEffect">
                                  <p:stCondLst>
                                    <p:cond delay="0"/>
                                  </p:stCondLst>
                                  <p:childTnLst>
                                    <p:set>
                                      <p:cBhvr>
                                        <p:cTn id="157" dur="1" fill="hold">
                                          <p:stCondLst>
                                            <p:cond delay="0"/>
                                          </p:stCondLst>
                                        </p:cTn>
                                        <p:tgtEl>
                                          <p:spTgt spid="47"/>
                                        </p:tgtEl>
                                        <p:attrNameLst>
                                          <p:attrName>style.visibility</p:attrName>
                                        </p:attrNameLst>
                                      </p:cBhvr>
                                      <p:to>
                                        <p:strVal val="visible"/>
                                      </p:to>
                                    </p:set>
                                    <p:anim calcmode="lin" valueType="num">
                                      <p:cBhvr additive="base">
                                        <p:cTn id="158" dur="500" fill="hold"/>
                                        <p:tgtEl>
                                          <p:spTgt spid="47"/>
                                        </p:tgtEl>
                                        <p:attrNameLst>
                                          <p:attrName>ppt_x</p:attrName>
                                        </p:attrNameLst>
                                      </p:cBhvr>
                                      <p:tavLst>
                                        <p:tav tm="0">
                                          <p:val>
                                            <p:strVal val="#ppt_x"/>
                                          </p:val>
                                        </p:tav>
                                        <p:tav tm="100000">
                                          <p:val>
                                            <p:strVal val="#ppt_x"/>
                                          </p:val>
                                        </p:tav>
                                      </p:tavLst>
                                    </p:anim>
                                    <p:anim calcmode="lin" valueType="num">
                                      <p:cBhvr additive="base">
                                        <p:cTn id="159" dur="500" fill="hold"/>
                                        <p:tgtEl>
                                          <p:spTgt spid="47"/>
                                        </p:tgtEl>
                                        <p:attrNameLst>
                                          <p:attrName>ppt_y</p:attrName>
                                        </p:attrNameLst>
                                      </p:cBhvr>
                                      <p:tavLst>
                                        <p:tav tm="0">
                                          <p:val>
                                            <p:strVal val="#ppt_y+0.1"/>
                                          </p:val>
                                        </p:tav>
                                        <p:tav tm="100000">
                                          <p:val>
                                            <p:strVal val="#ppt_y"/>
                                          </p:val>
                                        </p:tav>
                                      </p:tavLst>
                                    </p:anim>
                                    <p:animEffect transition="in" filter="fade">
                                      <p:cBhvr>
                                        <p:cTn id="160" dur="500"/>
                                        <p:tgtEl>
                                          <p:spTgt spid="47"/>
                                        </p:tgtEl>
                                      </p:cBhvr>
                                    </p:animEffect>
                                  </p:childTnLst>
                                </p:cTn>
                              </p:par>
                              <p:par>
                                <p:cTn id="166" presetID="2" presetClass="entr" presetSubtype="4" fill="hold" grpId="0" nodeType="withEffect">
                                  <p:stCondLst>
                                    <p:cond delay="0"/>
                                  </p:stCondLst>
                                  <p:childTnLst>
                                    <p:set>
                                      <p:cBhvr>
                                        <p:cTn id="162" dur="1" fill="hold">
                                          <p:stCondLst>
                                            <p:cond delay="0"/>
                                          </p:stCondLst>
                                        </p:cTn>
                                        <p:tgtEl>
                                          <p:spTgt spid="48"/>
                                        </p:tgtEl>
                                        <p:attrNameLst>
                                          <p:attrName>style.visibility</p:attrName>
                                        </p:attrNameLst>
                                      </p:cBhvr>
                                      <p:to>
                                        <p:strVal val="visible"/>
                                      </p:to>
                                    </p:set>
                                    <p:anim calcmode="lin" valueType="num">
                                      <p:cBhvr additive="base">
                                        <p:cTn id="163" dur="500" fill="hold"/>
                                        <p:tgtEl>
                                          <p:spTgt spid="48"/>
                                        </p:tgtEl>
                                        <p:attrNameLst>
                                          <p:attrName>ppt_x</p:attrName>
                                        </p:attrNameLst>
                                      </p:cBhvr>
                                      <p:tavLst>
                                        <p:tav tm="0">
                                          <p:val>
                                            <p:strVal val="#ppt_x"/>
                                          </p:val>
                                        </p:tav>
                                        <p:tav tm="100000">
                                          <p:val>
                                            <p:strVal val="#ppt_x"/>
                                          </p:val>
                                        </p:tav>
                                      </p:tavLst>
                                    </p:anim>
                                    <p:anim calcmode="lin" valueType="num">
                                      <p:cBhvr additive="base">
                                        <p:cTn id="164" dur="500" fill="hold"/>
                                        <p:tgtEl>
                                          <p:spTgt spid="48"/>
                                        </p:tgtEl>
                                        <p:attrNameLst>
                                          <p:attrName>ppt_y</p:attrName>
                                        </p:attrNameLst>
                                      </p:cBhvr>
                                      <p:tavLst>
                                        <p:tav tm="0">
                                          <p:val>
                                            <p:strVal val="#ppt_y+0.1"/>
                                          </p:val>
                                        </p:tav>
                                        <p:tav tm="100000">
                                          <p:val>
                                            <p:strVal val="#ppt_y"/>
                                          </p:val>
                                        </p:tav>
                                      </p:tavLst>
                                    </p:anim>
                                    <p:animEffect transition="in" filter="fade">
                                      <p:cBhvr>
                                        <p:cTn id="165" dur="500"/>
                                        <p:tgtEl>
                                          <p:spTgt spid="48"/>
                                        </p:tgtEl>
                                      </p:cBhvr>
                                    </p:animEffect>
                                  </p:childTnLst>
                                </p:cTn>
                              </p:par>
                              <p:par>
                                <p:cTn id="171" presetID="2" presetClass="entr" presetSubtype="4" fill="hold" grpId="0" nodeType="withEffect">
                                  <p:stCondLst>
                                    <p:cond delay="0"/>
                                  </p:stCondLst>
                                  <p:childTnLst>
                                    <p:set>
                                      <p:cBhvr>
                                        <p:cTn id="167" dur="1" fill="hold">
                                          <p:stCondLst>
                                            <p:cond delay="0"/>
                                          </p:stCondLst>
                                        </p:cTn>
                                        <p:tgtEl>
                                          <p:spTgt spid="49"/>
                                        </p:tgtEl>
                                        <p:attrNameLst>
                                          <p:attrName>style.visibility</p:attrName>
                                        </p:attrNameLst>
                                      </p:cBhvr>
                                      <p:to>
                                        <p:strVal val="visible"/>
                                      </p:to>
                                    </p:set>
                                    <p:anim calcmode="lin" valueType="num">
                                      <p:cBhvr additive="base">
                                        <p:cTn id="168" dur="500" fill="hold"/>
                                        <p:tgtEl>
                                          <p:spTgt spid="49"/>
                                        </p:tgtEl>
                                        <p:attrNameLst>
                                          <p:attrName>ppt_x</p:attrName>
                                        </p:attrNameLst>
                                      </p:cBhvr>
                                      <p:tavLst>
                                        <p:tav tm="0">
                                          <p:val>
                                            <p:strVal val="#ppt_x"/>
                                          </p:val>
                                        </p:tav>
                                        <p:tav tm="100000">
                                          <p:val>
                                            <p:strVal val="#ppt_x"/>
                                          </p:val>
                                        </p:tav>
                                      </p:tavLst>
                                    </p:anim>
                                    <p:anim calcmode="lin" valueType="num">
                                      <p:cBhvr additive="base">
                                        <p:cTn id="169" dur="500" fill="hold"/>
                                        <p:tgtEl>
                                          <p:spTgt spid="49"/>
                                        </p:tgtEl>
                                        <p:attrNameLst>
                                          <p:attrName>ppt_y</p:attrName>
                                        </p:attrNameLst>
                                      </p:cBhvr>
                                      <p:tavLst>
                                        <p:tav tm="0">
                                          <p:val>
                                            <p:strVal val="#ppt_y+0.1"/>
                                          </p:val>
                                        </p:tav>
                                        <p:tav tm="100000">
                                          <p:val>
                                            <p:strVal val="#ppt_y"/>
                                          </p:val>
                                        </p:tav>
                                      </p:tavLst>
                                    </p:anim>
                                    <p:animEffect transition="in" filter="fade">
                                      <p:cBhvr>
                                        <p:cTn id="170" dur="500"/>
                                        <p:tgtEl>
                                          <p:spTgt spid="49"/>
                                        </p:tgtEl>
                                      </p:cBhvr>
                                    </p:animEffect>
                                  </p:childTnLst>
                                </p:cTn>
                              </p:par>
                              <p:par>
                                <p:cTn id="176" presetID="2" presetClass="entr" presetSubtype="4" fill="hold" grpId="0" nodeType="withEffect">
                                  <p:stCondLst>
                                    <p:cond delay="40"/>
                                  </p:stCondLst>
                                  <p:childTnLst>
                                    <p:set>
                                      <p:cBhvr>
                                        <p:cTn id="172" dur="1" fill="hold">
                                          <p:stCondLst>
                                            <p:cond delay="0"/>
                                          </p:stCondLst>
                                        </p:cTn>
                                        <p:tgtEl>
                                          <p:spTgt spid="50"/>
                                        </p:tgtEl>
                                        <p:attrNameLst>
                                          <p:attrName>style.visibility</p:attrName>
                                        </p:attrNameLst>
                                      </p:cBhvr>
                                      <p:to>
                                        <p:strVal val="visible"/>
                                      </p:to>
                                    </p:set>
                                    <p:anim calcmode="lin" valueType="num">
                                      <p:cBhvr additive="base">
                                        <p:cTn id="173" dur="500" fill="hold"/>
                                        <p:tgtEl>
                                          <p:spTgt spid="50"/>
                                        </p:tgtEl>
                                        <p:attrNameLst>
                                          <p:attrName>ppt_x</p:attrName>
                                        </p:attrNameLst>
                                      </p:cBhvr>
                                      <p:tavLst>
                                        <p:tav tm="0">
                                          <p:val>
                                            <p:strVal val="#ppt_x"/>
                                          </p:val>
                                        </p:tav>
                                        <p:tav tm="100000">
                                          <p:val>
                                            <p:strVal val="#ppt_x"/>
                                          </p:val>
                                        </p:tav>
                                      </p:tavLst>
                                    </p:anim>
                                    <p:anim calcmode="lin" valueType="num">
                                      <p:cBhvr additive="base">
                                        <p:cTn id="174" dur="500" fill="hold"/>
                                        <p:tgtEl>
                                          <p:spTgt spid="50"/>
                                        </p:tgtEl>
                                        <p:attrNameLst>
                                          <p:attrName>ppt_y</p:attrName>
                                        </p:attrNameLst>
                                      </p:cBhvr>
                                      <p:tavLst>
                                        <p:tav tm="0">
                                          <p:val>
                                            <p:strVal val="#ppt_y+0.1"/>
                                          </p:val>
                                        </p:tav>
                                        <p:tav tm="100000">
                                          <p:val>
                                            <p:strVal val="#ppt_y"/>
                                          </p:val>
                                        </p:tav>
                                      </p:tavLst>
                                    </p:anim>
                                    <p:animEffect transition="in" filter="fade">
                                      <p:cBhvr>
                                        <p:cTn id="175" dur="500"/>
                                        <p:tgtEl>
                                          <p:spTgt spid="50"/>
                                        </p:tgtEl>
                                      </p:cBhvr>
                                    </p:animEffect>
                                  </p:childTnLst>
                                </p:cTn>
                              </p:par>
                              <p:par>
                                <p:cTn id="181" presetID="2" presetClass="entr" presetSubtype="4" fill="hold" grpId="0" nodeType="withEffect">
                                  <p:stCondLst>
                                    <p:cond delay="40"/>
                                  </p:stCondLst>
                                  <p:childTnLst>
                                    <p:set>
                                      <p:cBhvr>
                                        <p:cTn id="177" dur="1" fill="hold">
                                          <p:stCondLst>
                                            <p:cond delay="0"/>
                                          </p:stCondLst>
                                        </p:cTn>
                                        <p:tgtEl>
                                          <p:spTgt spid="51"/>
                                        </p:tgtEl>
                                        <p:attrNameLst>
                                          <p:attrName>style.visibility</p:attrName>
                                        </p:attrNameLst>
                                      </p:cBhvr>
                                      <p:to>
                                        <p:strVal val="visible"/>
                                      </p:to>
                                    </p:set>
                                    <p:anim calcmode="lin" valueType="num">
                                      <p:cBhvr additive="base">
                                        <p:cTn id="178" dur="500" fill="hold"/>
                                        <p:tgtEl>
                                          <p:spTgt spid="51"/>
                                        </p:tgtEl>
                                        <p:attrNameLst>
                                          <p:attrName>ppt_x</p:attrName>
                                        </p:attrNameLst>
                                      </p:cBhvr>
                                      <p:tavLst>
                                        <p:tav tm="0">
                                          <p:val>
                                            <p:strVal val="#ppt_x"/>
                                          </p:val>
                                        </p:tav>
                                        <p:tav tm="100000">
                                          <p:val>
                                            <p:strVal val="#ppt_x"/>
                                          </p:val>
                                        </p:tav>
                                      </p:tavLst>
                                    </p:anim>
                                    <p:anim calcmode="lin" valueType="num">
                                      <p:cBhvr additive="base">
                                        <p:cTn id="179" dur="500" fill="hold"/>
                                        <p:tgtEl>
                                          <p:spTgt spid="51"/>
                                        </p:tgtEl>
                                        <p:attrNameLst>
                                          <p:attrName>ppt_y</p:attrName>
                                        </p:attrNameLst>
                                      </p:cBhvr>
                                      <p:tavLst>
                                        <p:tav tm="0">
                                          <p:val>
                                            <p:strVal val="#ppt_y+0.1"/>
                                          </p:val>
                                        </p:tav>
                                        <p:tav tm="100000">
                                          <p:val>
                                            <p:strVal val="#ppt_y"/>
                                          </p:val>
                                        </p:tav>
                                      </p:tavLst>
                                    </p:anim>
                                    <p:animEffect transition="in" filter="fade">
                                      <p:cBhvr>
                                        <p:cTn id="180" dur="500"/>
                                        <p:tgtEl>
                                          <p:spTgt spid="51"/>
                                        </p:tgtEl>
                                      </p:cBhvr>
                                    </p:animEffect>
                                  </p:childTnLst>
                                </p:cTn>
                              </p:par>
                              <p:par>
                                <p:cTn id="186" presetID="2" presetClass="entr" presetSubtype="4" fill="hold" grpId="0" nodeType="withEffect">
                                  <p:stCondLst>
                                    <p:cond delay="80"/>
                                  </p:stCondLst>
                                  <p:childTnLst>
                                    <p:set>
                                      <p:cBhvr>
                                        <p:cTn id="182" dur="1" fill="hold">
                                          <p:stCondLst>
                                            <p:cond delay="0"/>
                                          </p:stCondLst>
                                        </p:cTn>
                                        <p:tgtEl>
                                          <p:spTgt spid="52"/>
                                        </p:tgtEl>
                                        <p:attrNameLst>
                                          <p:attrName>style.visibility</p:attrName>
                                        </p:attrNameLst>
                                      </p:cBhvr>
                                      <p:to>
                                        <p:strVal val="visible"/>
                                      </p:to>
                                    </p:set>
                                    <p:anim calcmode="lin" valueType="num">
                                      <p:cBhvr additive="base">
                                        <p:cTn id="183" dur="500" fill="hold"/>
                                        <p:tgtEl>
                                          <p:spTgt spid="52"/>
                                        </p:tgtEl>
                                        <p:attrNameLst>
                                          <p:attrName>ppt_x</p:attrName>
                                        </p:attrNameLst>
                                      </p:cBhvr>
                                      <p:tavLst>
                                        <p:tav tm="0">
                                          <p:val>
                                            <p:strVal val="#ppt_x"/>
                                          </p:val>
                                        </p:tav>
                                        <p:tav tm="100000">
                                          <p:val>
                                            <p:strVal val="#ppt_x"/>
                                          </p:val>
                                        </p:tav>
                                      </p:tavLst>
                                    </p:anim>
                                    <p:anim calcmode="lin" valueType="num">
                                      <p:cBhvr additive="base">
                                        <p:cTn id="184" dur="500" fill="hold"/>
                                        <p:tgtEl>
                                          <p:spTgt spid="52"/>
                                        </p:tgtEl>
                                        <p:attrNameLst>
                                          <p:attrName>ppt_y</p:attrName>
                                        </p:attrNameLst>
                                      </p:cBhvr>
                                      <p:tavLst>
                                        <p:tav tm="0">
                                          <p:val>
                                            <p:strVal val="#ppt_y+0.1"/>
                                          </p:val>
                                        </p:tav>
                                        <p:tav tm="100000">
                                          <p:val>
                                            <p:strVal val="#ppt_y"/>
                                          </p:val>
                                        </p:tav>
                                      </p:tavLst>
                                    </p:anim>
                                    <p:animEffect transition="in" filter="fade">
                                      <p:cBhvr>
                                        <p:cTn id="185" dur="500"/>
                                        <p:tgtEl>
                                          <p:spTgt spid="52"/>
                                        </p:tgtEl>
                                      </p:cBhvr>
                                    </p:animEffect>
                                  </p:childTnLst>
                                </p:cTn>
                              </p:par>
                              <p:par>
                                <p:cTn id="191" presetID="2" presetClass="entr" presetSubtype="4" fill="hold" grpId="0" nodeType="withEffect">
                                  <p:stCondLst>
                                    <p:cond delay="80"/>
                                  </p:stCondLst>
                                  <p:childTnLst>
                                    <p:set>
                                      <p:cBhvr>
                                        <p:cTn id="187" dur="1" fill="hold">
                                          <p:stCondLst>
                                            <p:cond delay="0"/>
                                          </p:stCondLst>
                                        </p:cTn>
                                        <p:tgtEl>
                                          <p:spTgt spid="53"/>
                                        </p:tgtEl>
                                        <p:attrNameLst>
                                          <p:attrName>style.visibility</p:attrName>
                                        </p:attrNameLst>
                                      </p:cBhvr>
                                      <p:to>
                                        <p:strVal val="visible"/>
                                      </p:to>
                                    </p:set>
                                    <p:anim calcmode="lin" valueType="num">
                                      <p:cBhvr additive="base">
                                        <p:cTn id="188" dur="500" fill="hold"/>
                                        <p:tgtEl>
                                          <p:spTgt spid="53"/>
                                        </p:tgtEl>
                                        <p:attrNameLst>
                                          <p:attrName>ppt_x</p:attrName>
                                        </p:attrNameLst>
                                      </p:cBhvr>
                                      <p:tavLst>
                                        <p:tav tm="0">
                                          <p:val>
                                            <p:strVal val="#ppt_x"/>
                                          </p:val>
                                        </p:tav>
                                        <p:tav tm="100000">
                                          <p:val>
                                            <p:strVal val="#ppt_x"/>
                                          </p:val>
                                        </p:tav>
                                      </p:tavLst>
                                    </p:anim>
                                    <p:anim calcmode="lin" valueType="num">
                                      <p:cBhvr additive="base">
                                        <p:cTn id="189" dur="500" fill="hold"/>
                                        <p:tgtEl>
                                          <p:spTgt spid="53"/>
                                        </p:tgtEl>
                                        <p:attrNameLst>
                                          <p:attrName>ppt_y</p:attrName>
                                        </p:attrNameLst>
                                      </p:cBhvr>
                                      <p:tavLst>
                                        <p:tav tm="0">
                                          <p:val>
                                            <p:strVal val="#ppt_y+0.1"/>
                                          </p:val>
                                        </p:tav>
                                        <p:tav tm="100000">
                                          <p:val>
                                            <p:strVal val="#ppt_y"/>
                                          </p:val>
                                        </p:tav>
                                      </p:tavLst>
                                    </p:anim>
                                    <p:animEffect transition="in" filter="fade">
                                      <p:cBhvr>
                                        <p:cTn id="190" dur="500"/>
                                        <p:tgtEl>
                                          <p:spTgt spid="53"/>
                                        </p:tgtEl>
                                      </p:cBhvr>
                                    </p:animEffect>
                                  </p:childTnLst>
                                </p:cTn>
                              </p:par>
                              <p:par>
                                <p:cTn id="196" presetID="2" presetClass="entr" presetSubtype="4" fill="hold" grpId="0" nodeType="withEffect">
                                  <p:stCondLst>
                                    <p:cond delay="120"/>
                                  </p:stCondLst>
                                  <p:childTnLst>
                                    <p:set>
                                      <p:cBhvr>
                                        <p:cTn id="192" dur="1" fill="hold">
                                          <p:stCondLst>
                                            <p:cond delay="0"/>
                                          </p:stCondLst>
                                        </p:cTn>
                                        <p:tgtEl>
                                          <p:spTgt spid="54"/>
                                        </p:tgtEl>
                                        <p:attrNameLst>
                                          <p:attrName>style.visibility</p:attrName>
                                        </p:attrNameLst>
                                      </p:cBhvr>
                                      <p:to>
                                        <p:strVal val="visible"/>
                                      </p:to>
                                    </p:set>
                                    <p:anim calcmode="lin" valueType="num">
                                      <p:cBhvr additive="base">
                                        <p:cTn id="193" dur="500" fill="hold"/>
                                        <p:tgtEl>
                                          <p:spTgt spid="54"/>
                                        </p:tgtEl>
                                        <p:attrNameLst>
                                          <p:attrName>ppt_x</p:attrName>
                                        </p:attrNameLst>
                                      </p:cBhvr>
                                      <p:tavLst>
                                        <p:tav tm="0">
                                          <p:val>
                                            <p:strVal val="#ppt_x"/>
                                          </p:val>
                                        </p:tav>
                                        <p:tav tm="100000">
                                          <p:val>
                                            <p:strVal val="#ppt_x"/>
                                          </p:val>
                                        </p:tav>
                                      </p:tavLst>
                                    </p:anim>
                                    <p:anim calcmode="lin" valueType="num">
                                      <p:cBhvr additive="base">
                                        <p:cTn id="194" dur="500" fill="hold"/>
                                        <p:tgtEl>
                                          <p:spTgt spid="54"/>
                                        </p:tgtEl>
                                        <p:attrNameLst>
                                          <p:attrName>ppt_y</p:attrName>
                                        </p:attrNameLst>
                                      </p:cBhvr>
                                      <p:tavLst>
                                        <p:tav tm="0">
                                          <p:val>
                                            <p:strVal val="#ppt_y+0.1"/>
                                          </p:val>
                                        </p:tav>
                                        <p:tav tm="100000">
                                          <p:val>
                                            <p:strVal val="#ppt_y"/>
                                          </p:val>
                                        </p:tav>
                                      </p:tavLst>
                                    </p:anim>
                                    <p:animEffect transition="in" filter="fade">
                                      <p:cBhvr>
                                        <p:cTn id="195" dur="500"/>
                                        <p:tgtEl>
                                          <p:spTgt spid="54"/>
                                        </p:tgtEl>
                                      </p:cBhvr>
                                    </p:animEffect>
                                  </p:childTnLst>
                                </p:cTn>
                              </p:par>
                              <p:par>
                                <p:cTn id="201" presetID="2" presetClass="entr" presetSubtype="4" fill="hold" grpId="0" nodeType="withEffect">
                                  <p:stCondLst>
                                    <p:cond delay="120"/>
                                  </p:stCondLst>
                                  <p:childTnLst>
                                    <p:set>
                                      <p:cBhvr>
                                        <p:cTn id="197" dur="1" fill="hold">
                                          <p:stCondLst>
                                            <p:cond delay="0"/>
                                          </p:stCondLst>
                                        </p:cTn>
                                        <p:tgtEl>
                                          <p:spTgt spid="55"/>
                                        </p:tgtEl>
                                        <p:attrNameLst>
                                          <p:attrName>style.visibility</p:attrName>
                                        </p:attrNameLst>
                                      </p:cBhvr>
                                      <p:to>
                                        <p:strVal val="visible"/>
                                      </p:to>
                                    </p:set>
                                    <p:anim calcmode="lin" valueType="num">
                                      <p:cBhvr additive="base">
                                        <p:cTn id="198" dur="500" fill="hold"/>
                                        <p:tgtEl>
                                          <p:spTgt spid="55"/>
                                        </p:tgtEl>
                                        <p:attrNameLst>
                                          <p:attrName>ppt_x</p:attrName>
                                        </p:attrNameLst>
                                      </p:cBhvr>
                                      <p:tavLst>
                                        <p:tav tm="0">
                                          <p:val>
                                            <p:strVal val="#ppt_x"/>
                                          </p:val>
                                        </p:tav>
                                        <p:tav tm="100000">
                                          <p:val>
                                            <p:strVal val="#ppt_x"/>
                                          </p:val>
                                        </p:tav>
                                      </p:tavLst>
                                    </p:anim>
                                    <p:anim calcmode="lin" valueType="num">
                                      <p:cBhvr additive="base">
                                        <p:cTn id="199" dur="500" fill="hold"/>
                                        <p:tgtEl>
                                          <p:spTgt spid="55"/>
                                        </p:tgtEl>
                                        <p:attrNameLst>
                                          <p:attrName>ppt_y</p:attrName>
                                        </p:attrNameLst>
                                      </p:cBhvr>
                                      <p:tavLst>
                                        <p:tav tm="0">
                                          <p:val>
                                            <p:strVal val="#ppt_y+0.1"/>
                                          </p:val>
                                        </p:tav>
                                        <p:tav tm="100000">
                                          <p:val>
                                            <p:strVal val="#ppt_y"/>
                                          </p:val>
                                        </p:tav>
                                      </p:tavLst>
                                    </p:anim>
                                    <p:animEffect transition="in" filter="fade">
                                      <p:cBhvr>
                                        <p:cTn id="200" dur="500"/>
                                        <p:tgtEl>
                                          <p:spTgt spid="55"/>
                                        </p:tgtEl>
                                      </p:cBhvr>
                                    </p:animEffect>
                                  </p:childTnLst>
                                </p:cTn>
                              </p:par>
                              <p:par>
                                <p:cTn id="206" presetID="2" presetClass="entr" presetSubtype="4" fill="hold" grpId="0" nodeType="withEffect">
                                  <p:stCondLst>
                                    <p:cond delay="160"/>
                                  </p:stCondLst>
                                  <p:childTnLst>
                                    <p:set>
                                      <p:cBhvr>
                                        <p:cTn id="202" dur="1" fill="hold">
                                          <p:stCondLst>
                                            <p:cond delay="0"/>
                                          </p:stCondLst>
                                        </p:cTn>
                                        <p:tgtEl>
                                          <p:spTgt spid="56"/>
                                        </p:tgtEl>
                                        <p:attrNameLst>
                                          <p:attrName>style.visibility</p:attrName>
                                        </p:attrNameLst>
                                      </p:cBhvr>
                                      <p:to>
                                        <p:strVal val="visible"/>
                                      </p:to>
                                    </p:set>
                                    <p:anim calcmode="lin" valueType="num">
                                      <p:cBhvr additive="base">
                                        <p:cTn id="203" dur="500" fill="hold"/>
                                        <p:tgtEl>
                                          <p:spTgt spid="56"/>
                                        </p:tgtEl>
                                        <p:attrNameLst>
                                          <p:attrName>ppt_x</p:attrName>
                                        </p:attrNameLst>
                                      </p:cBhvr>
                                      <p:tavLst>
                                        <p:tav tm="0">
                                          <p:val>
                                            <p:strVal val="#ppt_x"/>
                                          </p:val>
                                        </p:tav>
                                        <p:tav tm="100000">
                                          <p:val>
                                            <p:strVal val="#ppt_x"/>
                                          </p:val>
                                        </p:tav>
                                      </p:tavLst>
                                    </p:anim>
                                    <p:anim calcmode="lin" valueType="num">
                                      <p:cBhvr additive="base">
                                        <p:cTn id="204" dur="500" fill="hold"/>
                                        <p:tgtEl>
                                          <p:spTgt spid="56"/>
                                        </p:tgtEl>
                                        <p:attrNameLst>
                                          <p:attrName>ppt_y</p:attrName>
                                        </p:attrNameLst>
                                      </p:cBhvr>
                                      <p:tavLst>
                                        <p:tav tm="0">
                                          <p:val>
                                            <p:strVal val="#ppt_y+0.1"/>
                                          </p:val>
                                        </p:tav>
                                        <p:tav tm="100000">
                                          <p:val>
                                            <p:strVal val="#ppt_y"/>
                                          </p:val>
                                        </p:tav>
                                      </p:tavLst>
                                    </p:anim>
                                    <p:animEffect transition="in" filter="fade">
                                      <p:cBhvr>
                                        <p:cTn id="205" dur="500"/>
                                        <p:tgtEl>
                                          <p:spTgt spid="56"/>
                                        </p:tgtEl>
                                      </p:cBhvr>
                                    </p:animEffect>
                                  </p:childTnLst>
                                </p:cTn>
                              </p:par>
                              <p:par>
                                <p:cTn id="211" presetID="2" presetClass="entr" presetSubtype="4" fill="hold" grpId="0" nodeType="withEffect">
                                  <p:stCondLst>
                                    <p:cond delay="160"/>
                                  </p:stCondLst>
                                  <p:childTnLst>
                                    <p:set>
                                      <p:cBhvr>
                                        <p:cTn id="207" dur="1" fill="hold">
                                          <p:stCondLst>
                                            <p:cond delay="0"/>
                                          </p:stCondLst>
                                        </p:cTn>
                                        <p:tgtEl>
                                          <p:spTgt spid="57"/>
                                        </p:tgtEl>
                                        <p:attrNameLst>
                                          <p:attrName>style.visibility</p:attrName>
                                        </p:attrNameLst>
                                      </p:cBhvr>
                                      <p:to>
                                        <p:strVal val="visible"/>
                                      </p:to>
                                    </p:set>
                                    <p:anim calcmode="lin" valueType="num">
                                      <p:cBhvr additive="base">
                                        <p:cTn id="208" dur="500" fill="hold"/>
                                        <p:tgtEl>
                                          <p:spTgt spid="57"/>
                                        </p:tgtEl>
                                        <p:attrNameLst>
                                          <p:attrName>ppt_x</p:attrName>
                                        </p:attrNameLst>
                                      </p:cBhvr>
                                      <p:tavLst>
                                        <p:tav tm="0">
                                          <p:val>
                                            <p:strVal val="#ppt_x"/>
                                          </p:val>
                                        </p:tav>
                                        <p:tav tm="100000">
                                          <p:val>
                                            <p:strVal val="#ppt_x"/>
                                          </p:val>
                                        </p:tav>
                                      </p:tavLst>
                                    </p:anim>
                                    <p:anim calcmode="lin" valueType="num">
                                      <p:cBhvr additive="base">
                                        <p:cTn id="209" dur="500" fill="hold"/>
                                        <p:tgtEl>
                                          <p:spTgt spid="57"/>
                                        </p:tgtEl>
                                        <p:attrNameLst>
                                          <p:attrName>ppt_y</p:attrName>
                                        </p:attrNameLst>
                                      </p:cBhvr>
                                      <p:tavLst>
                                        <p:tav tm="0">
                                          <p:val>
                                            <p:strVal val="#ppt_y+0.1"/>
                                          </p:val>
                                        </p:tav>
                                        <p:tav tm="100000">
                                          <p:val>
                                            <p:strVal val="#ppt_y"/>
                                          </p:val>
                                        </p:tav>
                                      </p:tavLst>
                                    </p:anim>
                                    <p:animEffect transition="in" filter="fade">
                                      <p:cBhvr>
                                        <p:cTn id="210" dur="500"/>
                                        <p:tgtEl>
                                          <p:spTgt spid="57"/>
                                        </p:tgtEl>
                                      </p:cBhvr>
                                    </p:animEffect>
                                  </p:childTnLst>
                                </p:cTn>
                              </p:par>
                              <p:par>
                                <p:cTn id="216" presetID="2" presetClass="entr" presetSubtype="4" fill="hold" grpId="0" nodeType="withEffect">
                                  <p:stCondLst>
                                    <p:cond delay="200"/>
                                  </p:stCondLst>
                                  <p:childTnLst>
                                    <p:set>
                                      <p:cBhvr>
                                        <p:cTn id="212" dur="1" fill="hold">
                                          <p:stCondLst>
                                            <p:cond delay="0"/>
                                          </p:stCondLst>
                                        </p:cTn>
                                        <p:tgtEl>
                                          <p:spTgt spid="58"/>
                                        </p:tgtEl>
                                        <p:attrNameLst>
                                          <p:attrName>style.visibility</p:attrName>
                                        </p:attrNameLst>
                                      </p:cBhvr>
                                      <p:to>
                                        <p:strVal val="visible"/>
                                      </p:to>
                                    </p:set>
                                    <p:anim calcmode="lin" valueType="num">
                                      <p:cBhvr additive="base">
                                        <p:cTn id="213" dur="500" fill="hold"/>
                                        <p:tgtEl>
                                          <p:spTgt spid="58"/>
                                        </p:tgtEl>
                                        <p:attrNameLst>
                                          <p:attrName>ppt_x</p:attrName>
                                        </p:attrNameLst>
                                      </p:cBhvr>
                                      <p:tavLst>
                                        <p:tav tm="0">
                                          <p:val>
                                            <p:strVal val="#ppt_x"/>
                                          </p:val>
                                        </p:tav>
                                        <p:tav tm="100000">
                                          <p:val>
                                            <p:strVal val="#ppt_x"/>
                                          </p:val>
                                        </p:tav>
                                      </p:tavLst>
                                    </p:anim>
                                    <p:anim calcmode="lin" valueType="num">
                                      <p:cBhvr additive="base">
                                        <p:cTn id="214" dur="500" fill="hold"/>
                                        <p:tgtEl>
                                          <p:spTgt spid="58"/>
                                        </p:tgtEl>
                                        <p:attrNameLst>
                                          <p:attrName>ppt_y</p:attrName>
                                        </p:attrNameLst>
                                      </p:cBhvr>
                                      <p:tavLst>
                                        <p:tav tm="0">
                                          <p:val>
                                            <p:strVal val="#ppt_y+0.1"/>
                                          </p:val>
                                        </p:tav>
                                        <p:tav tm="100000">
                                          <p:val>
                                            <p:strVal val="#ppt_y"/>
                                          </p:val>
                                        </p:tav>
                                      </p:tavLst>
                                    </p:anim>
                                    <p:animEffect transition="in" filter="fade">
                                      <p:cBhvr>
                                        <p:cTn id="215" dur="500"/>
                                        <p:tgtEl>
                                          <p:spTgt spid="58"/>
                                        </p:tgtEl>
                                      </p:cBhvr>
                                    </p:animEffect>
                                  </p:childTnLst>
                                </p:cTn>
                              </p:par>
                              <p:par>
                                <p:cTn id="221" presetID="2" presetClass="entr" presetSubtype="4" fill="hold" grpId="0" nodeType="withEffect">
                                  <p:stCondLst>
                                    <p:cond delay="200"/>
                                  </p:stCondLst>
                                  <p:childTnLst>
                                    <p:set>
                                      <p:cBhvr>
                                        <p:cTn id="217" dur="1" fill="hold">
                                          <p:stCondLst>
                                            <p:cond delay="0"/>
                                          </p:stCondLst>
                                        </p:cTn>
                                        <p:tgtEl>
                                          <p:spTgt spid="59"/>
                                        </p:tgtEl>
                                        <p:attrNameLst>
                                          <p:attrName>style.visibility</p:attrName>
                                        </p:attrNameLst>
                                      </p:cBhvr>
                                      <p:to>
                                        <p:strVal val="visible"/>
                                      </p:to>
                                    </p:set>
                                    <p:anim calcmode="lin" valueType="num">
                                      <p:cBhvr additive="base">
                                        <p:cTn id="218" dur="500" fill="hold"/>
                                        <p:tgtEl>
                                          <p:spTgt spid="59"/>
                                        </p:tgtEl>
                                        <p:attrNameLst>
                                          <p:attrName>ppt_x</p:attrName>
                                        </p:attrNameLst>
                                      </p:cBhvr>
                                      <p:tavLst>
                                        <p:tav tm="0">
                                          <p:val>
                                            <p:strVal val="#ppt_x"/>
                                          </p:val>
                                        </p:tav>
                                        <p:tav tm="100000">
                                          <p:val>
                                            <p:strVal val="#ppt_x"/>
                                          </p:val>
                                        </p:tav>
                                      </p:tavLst>
                                    </p:anim>
                                    <p:anim calcmode="lin" valueType="num">
                                      <p:cBhvr additive="base">
                                        <p:cTn id="219" dur="500" fill="hold"/>
                                        <p:tgtEl>
                                          <p:spTgt spid="59"/>
                                        </p:tgtEl>
                                        <p:attrNameLst>
                                          <p:attrName>ppt_y</p:attrName>
                                        </p:attrNameLst>
                                      </p:cBhvr>
                                      <p:tavLst>
                                        <p:tav tm="0">
                                          <p:val>
                                            <p:strVal val="#ppt_y+0.1"/>
                                          </p:val>
                                        </p:tav>
                                        <p:tav tm="100000">
                                          <p:val>
                                            <p:strVal val="#ppt_y"/>
                                          </p:val>
                                        </p:tav>
                                      </p:tavLst>
                                    </p:anim>
                                    <p:animEffect transition="in" filter="fade">
                                      <p:cBhvr>
                                        <p:cTn id="220" dur="500"/>
                                        <p:tgtEl>
                                          <p:spTgt spid="59"/>
                                        </p:tgtEl>
                                      </p:cBhvr>
                                    </p:animEffect>
                                  </p:childTnLst>
                                </p:cTn>
                              </p:par>
                              <p:par>
                                <p:cTn id="226" presetID="2" presetClass="entr" presetSubtype="4" fill="hold" grpId="0" nodeType="withEffect">
                                  <p:stCondLst>
                                    <p:cond delay="240"/>
                                  </p:stCondLst>
                                  <p:childTnLst>
                                    <p:set>
                                      <p:cBhvr>
                                        <p:cTn id="222" dur="1" fill="hold">
                                          <p:stCondLst>
                                            <p:cond delay="0"/>
                                          </p:stCondLst>
                                        </p:cTn>
                                        <p:tgtEl>
                                          <p:spTgt spid="60"/>
                                        </p:tgtEl>
                                        <p:attrNameLst>
                                          <p:attrName>style.visibility</p:attrName>
                                        </p:attrNameLst>
                                      </p:cBhvr>
                                      <p:to>
                                        <p:strVal val="visible"/>
                                      </p:to>
                                    </p:set>
                                    <p:anim calcmode="lin" valueType="num">
                                      <p:cBhvr additive="base">
                                        <p:cTn id="223" dur="500" fill="hold"/>
                                        <p:tgtEl>
                                          <p:spTgt spid="60"/>
                                        </p:tgtEl>
                                        <p:attrNameLst>
                                          <p:attrName>ppt_x</p:attrName>
                                        </p:attrNameLst>
                                      </p:cBhvr>
                                      <p:tavLst>
                                        <p:tav tm="0">
                                          <p:val>
                                            <p:strVal val="#ppt_x"/>
                                          </p:val>
                                        </p:tav>
                                        <p:tav tm="100000">
                                          <p:val>
                                            <p:strVal val="#ppt_x"/>
                                          </p:val>
                                        </p:tav>
                                      </p:tavLst>
                                    </p:anim>
                                    <p:anim calcmode="lin" valueType="num">
                                      <p:cBhvr additive="base">
                                        <p:cTn id="224" dur="500" fill="hold"/>
                                        <p:tgtEl>
                                          <p:spTgt spid="60"/>
                                        </p:tgtEl>
                                        <p:attrNameLst>
                                          <p:attrName>ppt_y</p:attrName>
                                        </p:attrNameLst>
                                      </p:cBhvr>
                                      <p:tavLst>
                                        <p:tav tm="0">
                                          <p:val>
                                            <p:strVal val="#ppt_y+0.1"/>
                                          </p:val>
                                        </p:tav>
                                        <p:tav tm="100000">
                                          <p:val>
                                            <p:strVal val="#ppt_y"/>
                                          </p:val>
                                        </p:tav>
                                      </p:tavLst>
                                    </p:anim>
                                    <p:animEffect transition="in" filter="fade">
                                      <p:cBhvr>
                                        <p:cTn id="225" dur="500"/>
                                        <p:tgtEl>
                                          <p:spTgt spid="60"/>
                                        </p:tgtEl>
                                      </p:cBhvr>
                                    </p:animEffect>
                                  </p:childTnLst>
                                </p:cTn>
                              </p:par>
                              <p:par>
                                <p:cTn id="231" presetID="2" presetClass="entr" presetSubtype="4" fill="hold" grpId="0" nodeType="withEffect">
                                  <p:stCondLst>
                                    <p:cond delay="240"/>
                                  </p:stCondLst>
                                  <p:childTnLst>
                                    <p:set>
                                      <p:cBhvr>
                                        <p:cTn id="227" dur="1" fill="hold">
                                          <p:stCondLst>
                                            <p:cond delay="0"/>
                                          </p:stCondLst>
                                        </p:cTn>
                                        <p:tgtEl>
                                          <p:spTgt spid="61"/>
                                        </p:tgtEl>
                                        <p:attrNameLst>
                                          <p:attrName>style.visibility</p:attrName>
                                        </p:attrNameLst>
                                      </p:cBhvr>
                                      <p:to>
                                        <p:strVal val="visible"/>
                                      </p:to>
                                    </p:set>
                                    <p:anim calcmode="lin" valueType="num">
                                      <p:cBhvr additive="base">
                                        <p:cTn id="228" dur="500" fill="hold"/>
                                        <p:tgtEl>
                                          <p:spTgt spid="61"/>
                                        </p:tgtEl>
                                        <p:attrNameLst>
                                          <p:attrName>ppt_x</p:attrName>
                                        </p:attrNameLst>
                                      </p:cBhvr>
                                      <p:tavLst>
                                        <p:tav tm="0">
                                          <p:val>
                                            <p:strVal val="#ppt_x"/>
                                          </p:val>
                                        </p:tav>
                                        <p:tav tm="100000">
                                          <p:val>
                                            <p:strVal val="#ppt_x"/>
                                          </p:val>
                                        </p:tav>
                                      </p:tavLst>
                                    </p:anim>
                                    <p:anim calcmode="lin" valueType="num">
                                      <p:cBhvr additive="base">
                                        <p:cTn id="229" dur="500" fill="hold"/>
                                        <p:tgtEl>
                                          <p:spTgt spid="61"/>
                                        </p:tgtEl>
                                        <p:attrNameLst>
                                          <p:attrName>ppt_y</p:attrName>
                                        </p:attrNameLst>
                                      </p:cBhvr>
                                      <p:tavLst>
                                        <p:tav tm="0">
                                          <p:val>
                                            <p:strVal val="#ppt_y+0.1"/>
                                          </p:val>
                                        </p:tav>
                                        <p:tav tm="100000">
                                          <p:val>
                                            <p:strVal val="#ppt_y"/>
                                          </p:val>
                                        </p:tav>
                                      </p:tavLst>
                                    </p:anim>
                                    <p:animEffect transition="in" filter="fade">
                                      <p:cBhvr>
                                        <p:cTn id="230" dur="500"/>
                                        <p:tgtEl>
                                          <p:spTgt spid="61"/>
                                        </p:tgtEl>
                                      </p:cBhvr>
                                    </p:animEffect>
                                  </p:childTnLst>
                                </p:cTn>
                              </p:par>
                              <p:par>
                                <p:cTn id="236" presetID="2" presetClass="entr" presetSubtype="4" fill="hold" grpId="0" nodeType="withEffect">
                                  <p:stCondLst>
                                    <p:cond delay="280"/>
                                  </p:stCondLst>
                                  <p:childTnLst>
                                    <p:set>
                                      <p:cBhvr>
                                        <p:cTn id="232" dur="1" fill="hold">
                                          <p:stCondLst>
                                            <p:cond delay="0"/>
                                          </p:stCondLst>
                                        </p:cTn>
                                        <p:tgtEl>
                                          <p:spTgt spid="62"/>
                                        </p:tgtEl>
                                        <p:attrNameLst>
                                          <p:attrName>style.visibility</p:attrName>
                                        </p:attrNameLst>
                                      </p:cBhvr>
                                      <p:to>
                                        <p:strVal val="visible"/>
                                      </p:to>
                                    </p:set>
                                    <p:anim calcmode="lin" valueType="num">
                                      <p:cBhvr additive="base">
                                        <p:cTn id="233" dur="500" fill="hold"/>
                                        <p:tgtEl>
                                          <p:spTgt spid="62"/>
                                        </p:tgtEl>
                                        <p:attrNameLst>
                                          <p:attrName>ppt_x</p:attrName>
                                        </p:attrNameLst>
                                      </p:cBhvr>
                                      <p:tavLst>
                                        <p:tav tm="0">
                                          <p:val>
                                            <p:strVal val="#ppt_x"/>
                                          </p:val>
                                        </p:tav>
                                        <p:tav tm="100000">
                                          <p:val>
                                            <p:strVal val="#ppt_x"/>
                                          </p:val>
                                        </p:tav>
                                      </p:tavLst>
                                    </p:anim>
                                    <p:anim calcmode="lin" valueType="num">
                                      <p:cBhvr additive="base">
                                        <p:cTn id="234" dur="500" fill="hold"/>
                                        <p:tgtEl>
                                          <p:spTgt spid="62"/>
                                        </p:tgtEl>
                                        <p:attrNameLst>
                                          <p:attrName>ppt_y</p:attrName>
                                        </p:attrNameLst>
                                      </p:cBhvr>
                                      <p:tavLst>
                                        <p:tav tm="0">
                                          <p:val>
                                            <p:strVal val="#ppt_y+0.1"/>
                                          </p:val>
                                        </p:tav>
                                        <p:tav tm="100000">
                                          <p:val>
                                            <p:strVal val="#ppt_y"/>
                                          </p:val>
                                        </p:tav>
                                      </p:tavLst>
                                    </p:anim>
                                    <p:animEffect transition="in" filter="fade">
                                      <p:cBhvr>
                                        <p:cTn id="235" dur="500"/>
                                        <p:tgtEl>
                                          <p:spTgt spid="62"/>
                                        </p:tgtEl>
                                      </p:cBhvr>
                                    </p:animEffect>
                                  </p:childTnLst>
                                </p:cTn>
                              </p:par>
                              <p:par>
                                <p:cTn id="241" presetID="2" presetClass="entr" presetSubtype="4" fill="hold" grpId="0" nodeType="withEffect">
                                  <p:stCondLst>
                                    <p:cond delay="280"/>
                                  </p:stCondLst>
                                  <p:childTnLst>
                                    <p:set>
                                      <p:cBhvr>
                                        <p:cTn id="237" dur="1" fill="hold">
                                          <p:stCondLst>
                                            <p:cond delay="0"/>
                                          </p:stCondLst>
                                        </p:cTn>
                                        <p:tgtEl>
                                          <p:spTgt spid="63"/>
                                        </p:tgtEl>
                                        <p:attrNameLst>
                                          <p:attrName>style.visibility</p:attrName>
                                        </p:attrNameLst>
                                      </p:cBhvr>
                                      <p:to>
                                        <p:strVal val="visible"/>
                                      </p:to>
                                    </p:set>
                                    <p:anim calcmode="lin" valueType="num">
                                      <p:cBhvr additive="base">
                                        <p:cTn id="238" dur="500" fill="hold"/>
                                        <p:tgtEl>
                                          <p:spTgt spid="63"/>
                                        </p:tgtEl>
                                        <p:attrNameLst>
                                          <p:attrName>ppt_x</p:attrName>
                                        </p:attrNameLst>
                                      </p:cBhvr>
                                      <p:tavLst>
                                        <p:tav tm="0">
                                          <p:val>
                                            <p:strVal val="#ppt_x"/>
                                          </p:val>
                                        </p:tav>
                                        <p:tav tm="100000">
                                          <p:val>
                                            <p:strVal val="#ppt_x"/>
                                          </p:val>
                                        </p:tav>
                                      </p:tavLst>
                                    </p:anim>
                                    <p:anim calcmode="lin" valueType="num">
                                      <p:cBhvr additive="base">
                                        <p:cTn id="239" dur="500" fill="hold"/>
                                        <p:tgtEl>
                                          <p:spTgt spid="63"/>
                                        </p:tgtEl>
                                        <p:attrNameLst>
                                          <p:attrName>ppt_y</p:attrName>
                                        </p:attrNameLst>
                                      </p:cBhvr>
                                      <p:tavLst>
                                        <p:tav tm="0">
                                          <p:val>
                                            <p:strVal val="#ppt_y+0.1"/>
                                          </p:val>
                                        </p:tav>
                                        <p:tav tm="100000">
                                          <p:val>
                                            <p:strVal val="#ppt_y"/>
                                          </p:val>
                                        </p:tav>
                                      </p:tavLst>
                                    </p:anim>
                                    <p:animEffect transition="in" filter="fade">
                                      <p:cBhvr>
                                        <p:cTn id="240" dur="500"/>
                                        <p:tgtEl>
                                          <p:spTgt spid="63"/>
                                        </p:tgtEl>
                                      </p:cBhvr>
                                    </p:animEffect>
                                  </p:childTnLst>
                                </p:cTn>
                              </p:par>
                              <p:par>
                                <p:cTn id="246" presetID="2" presetClass="entr" presetSubtype="4" fill="hold" grpId="0" nodeType="withEffect">
                                  <p:stCondLst>
                                    <p:cond delay="300"/>
                                  </p:stCondLst>
                                  <p:childTnLst>
                                    <p:set>
                                      <p:cBhvr>
                                        <p:cTn id="242" dur="1" fill="hold">
                                          <p:stCondLst>
                                            <p:cond delay="0"/>
                                          </p:stCondLst>
                                        </p:cTn>
                                        <p:tgtEl>
                                          <p:spTgt spid="64"/>
                                        </p:tgtEl>
                                        <p:attrNameLst>
                                          <p:attrName>style.visibility</p:attrName>
                                        </p:attrNameLst>
                                      </p:cBhvr>
                                      <p:to>
                                        <p:strVal val="visible"/>
                                      </p:to>
                                    </p:set>
                                    <p:anim calcmode="lin" valueType="num">
                                      <p:cBhvr additive="base">
                                        <p:cTn id="243" dur="500" fill="hold"/>
                                        <p:tgtEl>
                                          <p:spTgt spid="64"/>
                                        </p:tgtEl>
                                        <p:attrNameLst>
                                          <p:attrName>ppt_x</p:attrName>
                                        </p:attrNameLst>
                                      </p:cBhvr>
                                      <p:tavLst>
                                        <p:tav tm="0">
                                          <p:val>
                                            <p:strVal val="#ppt_x"/>
                                          </p:val>
                                        </p:tav>
                                        <p:tav tm="100000">
                                          <p:val>
                                            <p:strVal val="#ppt_x"/>
                                          </p:val>
                                        </p:tav>
                                      </p:tavLst>
                                    </p:anim>
                                    <p:anim calcmode="lin" valueType="num">
                                      <p:cBhvr additive="base">
                                        <p:cTn id="244" dur="500" fill="hold"/>
                                        <p:tgtEl>
                                          <p:spTgt spid="64"/>
                                        </p:tgtEl>
                                        <p:attrNameLst>
                                          <p:attrName>ppt_y</p:attrName>
                                        </p:attrNameLst>
                                      </p:cBhvr>
                                      <p:tavLst>
                                        <p:tav tm="0">
                                          <p:val>
                                            <p:strVal val="#ppt_y+0.1"/>
                                          </p:val>
                                        </p:tav>
                                        <p:tav tm="100000">
                                          <p:val>
                                            <p:strVal val="#ppt_y"/>
                                          </p:val>
                                        </p:tav>
                                      </p:tavLst>
                                    </p:anim>
                                    <p:animEffect transition="in" filter="fade">
                                      <p:cBhvr>
                                        <p:cTn id="245" dur="500"/>
                                        <p:tgtEl>
                                          <p:spTgt spid="64"/>
                                        </p:tgtEl>
                                      </p:cBhvr>
                                    </p:animEffect>
                                  </p:childTnLst>
                                </p:cTn>
                              </p:par>
                              <p:par>
                                <p:cTn id="251" presetID="2" presetClass="entr" presetSubtype="4" fill="hold" grpId="0" nodeType="withEffect">
                                  <p:stCondLst>
                                    <p:cond delay="300"/>
                                  </p:stCondLst>
                                  <p:childTnLst>
                                    <p:set>
                                      <p:cBhvr>
                                        <p:cTn id="247" dur="1" fill="hold">
                                          <p:stCondLst>
                                            <p:cond delay="0"/>
                                          </p:stCondLst>
                                        </p:cTn>
                                        <p:tgtEl>
                                          <p:spTgt spid="65"/>
                                        </p:tgtEl>
                                        <p:attrNameLst>
                                          <p:attrName>style.visibility</p:attrName>
                                        </p:attrNameLst>
                                      </p:cBhvr>
                                      <p:to>
                                        <p:strVal val="visible"/>
                                      </p:to>
                                    </p:set>
                                    <p:anim calcmode="lin" valueType="num">
                                      <p:cBhvr additive="base">
                                        <p:cTn id="248" dur="500" fill="hold"/>
                                        <p:tgtEl>
                                          <p:spTgt spid="65"/>
                                        </p:tgtEl>
                                        <p:attrNameLst>
                                          <p:attrName>ppt_x</p:attrName>
                                        </p:attrNameLst>
                                      </p:cBhvr>
                                      <p:tavLst>
                                        <p:tav tm="0">
                                          <p:val>
                                            <p:strVal val="#ppt_x"/>
                                          </p:val>
                                        </p:tav>
                                        <p:tav tm="100000">
                                          <p:val>
                                            <p:strVal val="#ppt_x"/>
                                          </p:val>
                                        </p:tav>
                                      </p:tavLst>
                                    </p:anim>
                                    <p:anim calcmode="lin" valueType="num">
                                      <p:cBhvr additive="base">
                                        <p:cTn id="249" dur="500" fill="hold"/>
                                        <p:tgtEl>
                                          <p:spTgt spid="65"/>
                                        </p:tgtEl>
                                        <p:attrNameLst>
                                          <p:attrName>ppt_y</p:attrName>
                                        </p:attrNameLst>
                                      </p:cBhvr>
                                      <p:tavLst>
                                        <p:tav tm="0">
                                          <p:val>
                                            <p:strVal val="#ppt_y+0.1"/>
                                          </p:val>
                                        </p:tav>
                                        <p:tav tm="100000">
                                          <p:val>
                                            <p:strVal val="#ppt_y"/>
                                          </p:val>
                                        </p:tav>
                                      </p:tavLst>
                                    </p:anim>
                                    <p:animEffect transition="in" filter="fade">
                                      <p:cBhvr>
                                        <p:cTn id="250" dur="500"/>
                                        <p:tgtEl>
                                          <p:spTgt spid="65"/>
                                        </p:tgtEl>
                                      </p:cBhvr>
                                    </p:animEffect>
                                  </p:childTnLst>
                                </p:cTn>
                              </p:par>
                              <p:par>
                                <p:cTn id="254" presetID="10" presetClass="entr" presetSubtype="0" fill="hold" grpId="0" nodeType="withEffect">
                                  <p:stCondLst>
                                    <p:cond delay="350"/>
                                  </p:stCondLst>
                                  <p:childTnLst>
                                    <p:set>
                                      <p:cBhvr>
                                        <p:cTn id="252" dur="1" fill="hold">
                                          <p:stCondLst>
                                            <p:cond delay="0"/>
                                          </p:stCondLst>
                                        </p:cTn>
                                        <p:tgtEl>
                                          <p:spTgt spid="66"/>
                                        </p:tgtEl>
                                        <p:attrNameLst>
                                          <p:attrName>style.visibility</p:attrName>
                                        </p:attrNameLst>
                                      </p:cBhvr>
                                      <p:to>
                                        <p:strVal val="visible"/>
                                      </p:to>
                                    </p:set>
                                    <p:animEffect transition="in" filter="fade">
                                      <p:cBhvr>
                                        <p:cTn id="253" dur="500"/>
                                        <p:tgtEl>
                                          <p:spTgt spid="66"/>
                                        </p:tgtEl>
                                      </p:cBhvr>
                                    </p:animEffect>
                                  </p:childTnLst>
                                </p:cTn>
                              </p:par>
                              <p:par>
                                <p:cTn id="257" presetID="10" presetClass="entr" presetSubtype="0" fill="hold" grpId="0" nodeType="withEffect">
                                  <p:stCondLst>
                                    <p:cond delay="380"/>
                                  </p:stCondLst>
                                  <p:childTnLst>
                                    <p:set>
                                      <p:cBhvr>
                                        <p:cTn id="255" dur="1" fill="hold">
                                          <p:stCondLst>
                                            <p:cond delay="0"/>
                                          </p:stCondLst>
                                        </p:cTn>
                                        <p:tgtEl>
                                          <p:spTgt spid="67"/>
                                        </p:tgtEl>
                                        <p:attrNameLst>
                                          <p:attrName>style.visibility</p:attrName>
                                        </p:attrNameLst>
                                      </p:cBhvr>
                                      <p:to>
                                        <p:strVal val="visible"/>
                                      </p:to>
                                    </p:set>
                                    <p:animEffect transition="in" filter="fade">
                                      <p:cBhvr>
                                        <p:cTn id="256" dur="500"/>
                                        <p:tgtEl>
                                          <p:spTgt spid="67"/>
                                        </p:tgtEl>
                                      </p:cBhvr>
                                    </p:animEffect>
                                  </p:childTnLst>
                                </p:cTn>
                              </p:par>
                              <p:par>
                                <p:cTn id="260" presetID="10" presetClass="entr" presetSubtype="0" fill="hold" grpId="0" nodeType="withEffect">
                                  <p:stCondLst>
                                    <p:cond delay="410"/>
                                  </p:stCondLst>
                                  <p:childTnLst>
                                    <p:set>
                                      <p:cBhvr>
                                        <p:cTn id="258" dur="1" fill="hold">
                                          <p:stCondLst>
                                            <p:cond delay="0"/>
                                          </p:stCondLst>
                                        </p:cTn>
                                        <p:tgtEl>
                                          <p:spTgt spid="68"/>
                                        </p:tgtEl>
                                        <p:attrNameLst>
                                          <p:attrName>style.visibility</p:attrName>
                                        </p:attrNameLst>
                                      </p:cBhvr>
                                      <p:to>
                                        <p:strVal val="visible"/>
                                      </p:to>
                                    </p:set>
                                    <p:animEffect transition="in" filter="fade">
                                      <p:cBhvr>
                                        <p:cTn id="259" dur="500"/>
                                        <p:tgtEl>
                                          <p:spTgt spid="68"/>
                                        </p:tgtEl>
                                      </p:cBhvr>
                                    </p:animEffect>
                                  </p:childTnLst>
                                </p:cTn>
                              </p:par>
                              <p:par>
                                <p:cTn id="263" presetID="10" presetClass="entr" presetSubtype="0" fill="hold" grpId="0" nodeType="withEffect">
                                  <p:stCondLst>
                                    <p:cond delay="440"/>
                                  </p:stCondLst>
                                  <p:childTnLst>
                                    <p:set>
                                      <p:cBhvr>
                                        <p:cTn id="261" dur="1" fill="hold">
                                          <p:stCondLst>
                                            <p:cond delay="0"/>
                                          </p:stCondLst>
                                        </p:cTn>
                                        <p:tgtEl>
                                          <p:spTgt spid="69"/>
                                        </p:tgtEl>
                                        <p:attrNameLst>
                                          <p:attrName>style.visibility</p:attrName>
                                        </p:attrNameLst>
                                      </p:cBhvr>
                                      <p:to>
                                        <p:strVal val="visible"/>
                                      </p:to>
                                    </p:set>
                                    <p:animEffect transition="in" filter="fade">
                                      <p:cBhvr>
                                        <p:cTn id="262" dur="500"/>
                                        <p:tgtEl>
                                          <p:spTgt spid="69"/>
                                        </p:tgtEl>
                                      </p:cBhvr>
                                    </p:animEffect>
                                  </p:childTnLst>
                                </p:cTn>
                              </p:par>
                              <p:par>
                                <p:cTn id="266" presetID="10" presetClass="entr" presetSubtype="0" fill="hold" grpId="0" nodeType="withEffect">
                                  <p:stCondLst>
                                    <p:cond delay="470"/>
                                  </p:stCondLst>
                                  <p:childTnLst>
                                    <p:set>
                                      <p:cBhvr>
                                        <p:cTn id="264" dur="1" fill="hold">
                                          <p:stCondLst>
                                            <p:cond delay="0"/>
                                          </p:stCondLst>
                                        </p:cTn>
                                        <p:tgtEl>
                                          <p:spTgt spid="70"/>
                                        </p:tgtEl>
                                        <p:attrNameLst>
                                          <p:attrName>style.visibility</p:attrName>
                                        </p:attrNameLst>
                                      </p:cBhvr>
                                      <p:to>
                                        <p:strVal val="visible"/>
                                      </p:to>
                                    </p:set>
                                    <p:animEffect transition="in" filter="fade">
                                      <p:cBhvr>
                                        <p:cTn id="265" dur="500"/>
                                        <p:tgtEl>
                                          <p:spTgt spid="70"/>
                                        </p:tgtEl>
                                      </p:cBhvr>
                                    </p:animEffect>
                                  </p:childTnLst>
                                </p:cTn>
                              </p:par>
                              <p:par>
                                <p:cTn id="269" presetID="10" presetClass="entr" presetSubtype="0" fill="hold" grpId="0" nodeType="withEffect">
                                  <p:stCondLst>
                                    <p:cond delay="550"/>
                                  </p:stCondLst>
                                  <p:childTnLst>
                                    <p:set>
                                      <p:cBhvr>
                                        <p:cTn id="267" dur="1" fill="hold">
                                          <p:stCondLst>
                                            <p:cond delay="0"/>
                                          </p:stCondLst>
                                        </p:cTn>
                                        <p:tgtEl>
                                          <p:spTgt spid="71"/>
                                        </p:tgtEl>
                                        <p:attrNameLst>
                                          <p:attrName>style.visibility</p:attrName>
                                        </p:attrNameLst>
                                      </p:cBhvr>
                                      <p:to>
                                        <p:strVal val="visible"/>
                                      </p:to>
                                    </p:set>
                                    <p:animEffect transition="in" filter="fade">
                                      <p:cBhvr>
                                        <p:cTn id="268" dur="500"/>
                                        <p:tgtEl>
                                          <p:spTgt spid="71"/>
                                        </p:tgtEl>
                                      </p:cBhvr>
                                    </p:animEffect>
                                  </p:childTnLst>
                                </p:cTn>
                              </p:par>
                              <p:par>
                                <p:cTn id="272" presetID="10" presetClass="entr" presetSubtype="0" fill="hold" grpId="0" nodeType="withEffect">
                                  <p:stCondLst>
                                    <p:cond delay="580"/>
                                  </p:stCondLst>
                                  <p:childTnLst>
                                    <p:set>
                                      <p:cBhvr>
                                        <p:cTn id="270" dur="1" fill="hold">
                                          <p:stCondLst>
                                            <p:cond delay="0"/>
                                          </p:stCondLst>
                                        </p:cTn>
                                        <p:tgtEl>
                                          <p:spTgt spid="72"/>
                                        </p:tgtEl>
                                        <p:attrNameLst>
                                          <p:attrName>style.visibility</p:attrName>
                                        </p:attrNameLst>
                                      </p:cBhvr>
                                      <p:to>
                                        <p:strVal val="visible"/>
                                      </p:to>
                                    </p:set>
                                    <p:animEffect transition="in" filter="fade">
                                      <p:cBhvr>
                                        <p:cTn id="271" dur="500"/>
                                        <p:tgtEl>
                                          <p:spTgt spid="72"/>
                                        </p:tgtEl>
                                      </p:cBhvr>
                                    </p:animEffect>
                                  </p:childTnLst>
                                </p:cTn>
                              </p:par>
                              <p:par>
                                <p:cTn id="275" presetID="10" presetClass="entr" presetSubtype="0" fill="hold" grpId="0" nodeType="withEffect">
                                  <p:stCondLst>
                                    <p:cond delay="610"/>
                                  </p:stCondLst>
                                  <p:childTnLst>
                                    <p:set>
                                      <p:cBhvr>
                                        <p:cTn id="273" dur="1" fill="hold">
                                          <p:stCondLst>
                                            <p:cond delay="0"/>
                                          </p:stCondLst>
                                        </p:cTn>
                                        <p:tgtEl>
                                          <p:spTgt spid="73"/>
                                        </p:tgtEl>
                                        <p:attrNameLst>
                                          <p:attrName>style.visibility</p:attrName>
                                        </p:attrNameLst>
                                      </p:cBhvr>
                                      <p:to>
                                        <p:strVal val="visible"/>
                                      </p:to>
                                    </p:set>
                                    <p:animEffect transition="in" filter="fade">
                                      <p:cBhvr>
                                        <p:cTn id="274" dur="500"/>
                                        <p:tgtEl>
                                          <p:spTgt spid="73"/>
                                        </p:tgtEl>
                                      </p:cBhvr>
                                    </p:animEffect>
                                  </p:childTnLst>
                                </p:cTn>
                              </p:par>
                            </p:childTnLst>
                          </p:cTn>
                        </p:par>
                      </p:childTnLst>
                    </p:cTn>
                  </p:par>
                  <p:par>
                    <p:cTn id="276" fill="hold">
                      <p:stCondLst>
                        <p:cond delay="indefinite"/>
                      </p:stCondLst>
                      <p:childTnLst>
                        <p:par>
                          <p:cTn id="277" fill="hold">
                            <p:stCondLst>
                              <p:cond delay="0"/>
                            </p:stCondLst>
                            <p:childTnLst>
                              <p:par>
                                <p:cTn id="282" presetID="2" presetClass="entr" presetSubtype="4" fill="hold" grpId="0" nodeType="clickEffect">
                                  <p:stCondLst>
                                    <p:cond delay="0"/>
                                  </p:stCondLst>
                                  <p:childTnLst>
                                    <p:set>
                                      <p:cBhvr>
                                        <p:cTn id="278" dur="1" fill="hold">
                                          <p:stCondLst>
                                            <p:cond delay="0"/>
                                          </p:stCondLst>
                                        </p:cTn>
                                        <p:tgtEl>
                                          <p:spTgt spid="74"/>
                                        </p:tgtEl>
                                        <p:attrNameLst>
                                          <p:attrName>style.visibility</p:attrName>
                                        </p:attrNameLst>
                                      </p:cBhvr>
                                      <p:to>
                                        <p:strVal val="visible"/>
                                      </p:to>
                                    </p:set>
                                    <p:anim calcmode="lin" valueType="num">
                                      <p:cBhvr additive="base">
                                        <p:cTn id="279" dur="500" fill="hold"/>
                                        <p:tgtEl>
                                          <p:spTgt spid="74"/>
                                        </p:tgtEl>
                                        <p:attrNameLst>
                                          <p:attrName>ppt_x</p:attrName>
                                        </p:attrNameLst>
                                      </p:cBhvr>
                                      <p:tavLst>
                                        <p:tav tm="0">
                                          <p:val>
                                            <p:strVal val="#ppt_x"/>
                                          </p:val>
                                        </p:tav>
                                        <p:tav tm="100000">
                                          <p:val>
                                            <p:strVal val="#ppt_x"/>
                                          </p:val>
                                        </p:tav>
                                      </p:tavLst>
                                    </p:anim>
                                    <p:anim calcmode="lin" valueType="num">
                                      <p:cBhvr additive="base">
                                        <p:cTn id="280" dur="500" fill="hold"/>
                                        <p:tgtEl>
                                          <p:spTgt spid="74"/>
                                        </p:tgtEl>
                                        <p:attrNameLst>
                                          <p:attrName>ppt_y</p:attrName>
                                        </p:attrNameLst>
                                      </p:cBhvr>
                                      <p:tavLst>
                                        <p:tav tm="0">
                                          <p:val>
                                            <p:strVal val="#ppt_y+0.1"/>
                                          </p:val>
                                        </p:tav>
                                        <p:tav tm="100000">
                                          <p:val>
                                            <p:strVal val="#ppt_y"/>
                                          </p:val>
                                        </p:tav>
                                      </p:tavLst>
                                    </p:anim>
                                    <p:animEffect transition="in" filter="fade">
                                      <p:cBhvr>
                                        <p:cTn id="281" dur="500"/>
                                        <p:tgtEl>
                                          <p:spTgt spid="74"/>
                                        </p:tgtEl>
                                      </p:cBhvr>
                                    </p:animEffect>
                                  </p:childTnLst>
                                </p:cTn>
                              </p:par>
                              <p:par>
                                <p:cTn id="287" presetID="2" presetClass="entr" presetSubtype="4" fill="hold" grpId="0" nodeType="withEffect">
                                  <p:stCondLst>
                                    <p:cond delay="0"/>
                                  </p:stCondLst>
                                  <p:childTnLst>
                                    <p:set>
                                      <p:cBhvr>
                                        <p:cTn id="283" dur="1" fill="hold">
                                          <p:stCondLst>
                                            <p:cond delay="0"/>
                                          </p:stCondLst>
                                        </p:cTn>
                                        <p:tgtEl>
                                          <p:spTgt spid="75"/>
                                        </p:tgtEl>
                                        <p:attrNameLst>
                                          <p:attrName>style.visibility</p:attrName>
                                        </p:attrNameLst>
                                      </p:cBhvr>
                                      <p:to>
                                        <p:strVal val="visible"/>
                                      </p:to>
                                    </p:set>
                                    <p:anim calcmode="lin" valueType="num">
                                      <p:cBhvr additive="base">
                                        <p:cTn id="284" dur="500" fill="hold"/>
                                        <p:tgtEl>
                                          <p:spTgt spid="75"/>
                                        </p:tgtEl>
                                        <p:attrNameLst>
                                          <p:attrName>ppt_x</p:attrName>
                                        </p:attrNameLst>
                                      </p:cBhvr>
                                      <p:tavLst>
                                        <p:tav tm="0">
                                          <p:val>
                                            <p:strVal val="#ppt_x"/>
                                          </p:val>
                                        </p:tav>
                                        <p:tav tm="100000">
                                          <p:val>
                                            <p:strVal val="#ppt_x"/>
                                          </p:val>
                                        </p:tav>
                                      </p:tavLst>
                                    </p:anim>
                                    <p:anim calcmode="lin" valueType="num">
                                      <p:cBhvr additive="base">
                                        <p:cTn id="285" dur="500" fill="hold"/>
                                        <p:tgtEl>
                                          <p:spTgt spid="75"/>
                                        </p:tgtEl>
                                        <p:attrNameLst>
                                          <p:attrName>ppt_y</p:attrName>
                                        </p:attrNameLst>
                                      </p:cBhvr>
                                      <p:tavLst>
                                        <p:tav tm="0">
                                          <p:val>
                                            <p:strVal val="#ppt_y+0.1"/>
                                          </p:val>
                                        </p:tav>
                                        <p:tav tm="100000">
                                          <p:val>
                                            <p:strVal val="#ppt_y"/>
                                          </p:val>
                                        </p:tav>
                                      </p:tavLst>
                                    </p:anim>
                                    <p:animEffect transition="in" filter="fade">
                                      <p:cBhvr>
                                        <p:cTn id="286" dur="500"/>
                                        <p:tgtEl>
                                          <p:spTgt spid="75"/>
                                        </p:tgtEl>
                                      </p:cBhvr>
                                    </p:animEffect>
                                  </p:childTnLst>
                                </p:cTn>
                              </p:par>
                              <p:par>
                                <p:cTn id="292" presetID="2" presetClass="entr" presetSubtype="4" fill="hold" grpId="0" nodeType="withEffect">
                                  <p:stCondLst>
                                    <p:cond delay="0"/>
                                  </p:stCondLst>
                                  <p:childTnLst>
                                    <p:set>
                                      <p:cBhvr>
                                        <p:cTn id="288" dur="1" fill="hold">
                                          <p:stCondLst>
                                            <p:cond delay="0"/>
                                          </p:stCondLst>
                                        </p:cTn>
                                        <p:tgtEl>
                                          <p:spTgt spid="76"/>
                                        </p:tgtEl>
                                        <p:attrNameLst>
                                          <p:attrName>style.visibility</p:attrName>
                                        </p:attrNameLst>
                                      </p:cBhvr>
                                      <p:to>
                                        <p:strVal val="visible"/>
                                      </p:to>
                                    </p:set>
                                    <p:anim calcmode="lin" valueType="num">
                                      <p:cBhvr additive="base">
                                        <p:cTn id="289" dur="500" fill="hold"/>
                                        <p:tgtEl>
                                          <p:spTgt spid="76"/>
                                        </p:tgtEl>
                                        <p:attrNameLst>
                                          <p:attrName>ppt_x</p:attrName>
                                        </p:attrNameLst>
                                      </p:cBhvr>
                                      <p:tavLst>
                                        <p:tav tm="0">
                                          <p:val>
                                            <p:strVal val="#ppt_x"/>
                                          </p:val>
                                        </p:tav>
                                        <p:tav tm="100000">
                                          <p:val>
                                            <p:strVal val="#ppt_x"/>
                                          </p:val>
                                        </p:tav>
                                      </p:tavLst>
                                    </p:anim>
                                    <p:anim calcmode="lin" valueType="num">
                                      <p:cBhvr additive="base">
                                        <p:cTn id="290" dur="500" fill="hold"/>
                                        <p:tgtEl>
                                          <p:spTgt spid="76"/>
                                        </p:tgtEl>
                                        <p:attrNameLst>
                                          <p:attrName>ppt_y</p:attrName>
                                        </p:attrNameLst>
                                      </p:cBhvr>
                                      <p:tavLst>
                                        <p:tav tm="0">
                                          <p:val>
                                            <p:strVal val="#ppt_y+0.1"/>
                                          </p:val>
                                        </p:tav>
                                        <p:tav tm="100000">
                                          <p:val>
                                            <p:strVal val="#ppt_y"/>
                                          </p:val>
                                        </p:tav>
                                      </p:tavLst>
                                    </p:anim>
                                    <p:animEffect transition="in" filter="fade">
                                      <p:cBhvr>
                                        <p:cTn id="291"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k8"/>
          <p:cNvSpPr/>
          <p:nvPr/>
        </p:nvSpPr>
        <p:spPr>
          <a:xfrm>
            <a:off x="457200" y="155448"/>
            <a:ext cx="2143125" cy="22860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spc="60">
                <a:solidFill>
                  <a:srgbClr val="C2410C"/>
                </a:solidFill>
                <a:latin typeface="Segoe UI"/>
              </a:rPr>
              <a:t>BEFORE KAFKA  ·  STEP 4</a:t>
            </a:r>
          </a:p>
        </p:txBody>
      </p:sp>
      <p:sp>
        <p:nvSpPr>
          <p:cNvPr id="10" name="h9"/>
          <p:cNvSpPr txBox="1"/>
          <p:nvPr/>
        </p:nvSpPr>
        <p:spPr>
          <a:xfrm>
            <a:off x="457200" y="420624"/>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Loosely Coupled: Introduce a Pub/Sub System</a:t>
            </a:r>
          </a:p>
        </p:txBody>
      </p:sp>
      <p:sp>
        <p:nvSpPr>
          <p:cNvPr id="11" name="sub10"/>
          <p:cNvSpPr txBox="1"/>
          <p:nvPr/>
        </p:nvSpPr>
        <p:spPr>
          <a:xfrm>
            <a:off x="457200" y="932688"/>
            <a:ext cx="8229600" cy="292608"/>
          </a:xfrm>
          <a:prstGeom prst="rect">
            <a:avLst/>
          </a:prstGeom>
          <a:noFill/>
        </p:spPr>
        <p:txBody>
          <a:bodyPr wrap="square" lIns="0" tIns="0" rIns="0" bIns="0" anchor="ctr">
            <a:spAutoFit/>
          </a:bodyPr>
          <a:lstStyle/>
          <a:p>
            <a:pPr algn="l"/>
            <a:r>
              <a:rPr sz="1150" b="0">
                <a:solidFill>
                  <a:srgbClr val="78716C"/>
                </a:solidFill>
                <a:latin typeface="Segoe UI"/>
              </a:rPr>
              <a:t>Publishers send to a pub/sub system; the metrics server subscribes to it</a:t>
            </a:r>
          </a:p>
        </p:txBody>
      </p:sp>
      <p:sp>
        <p:nvSpPr>
          <p:cNvPr id="12" name="a1u_nd11"/>
          <p:cNvSpPr/>
          <p:nvPr/>
        </p:nvSpPr>
        <p:spPr>
          <a:xfrm>
            <a:off x="457200" y="1325880"/>
            <a:ext cx="1508760" cy="475488"/>
          </a:xfrm>
          <a:prstGeom prst="roundRect">
            <a:avLst>
              <a:gd name="adj" fmla="val 15384"/>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ndt12"/>
          <p:cNvSpPr txBox="1"/>
          <p:nvPr/>
        </p:nvSpPr>
        <p:spPr>
          <a:xfrm>
            <a:off x="502920" y="1325880"/>
            <a:ext cx="1417319" cy="475488"/>
          </a:xfrm>
          <a:prstGeom prst="rect">
            <a:avLst/>
          </a:prstGeom>
          <a:noFill/>
        </p:spPr>
        <p:txBody>
          <a:bodyPr wrap="square" lIns="0" tIns="0" rIns="0" bIns="0" anchor="ctr">
            <a:spAutoFit/>
          </a:bodyPr>
          <a:lstStyle/>
          <a:p>
            <a:pPr algn="ctr"/>
            <a:r>
              <a:rPr sz="850" b="1">
                <a:solidFill>
                  <a:srgbClr val="1C1917"/>
                </a:solidFill>
                <a:latin typeface="Segoe UI"/>
              </a:rPr>
              <a:t>Frontend server</a:t>
            </a:r>
          </a:p>
        </p:txBody>
      </p:sp>
      <p:sp>
        <p:nvSpPr>
          <p:cNvPr id="14" name="a1ud90_nd13"/>
          <p:cNvSpPr/>
          <p:nvPr/>
        </p:nvSpPr>
        <p:spPr>
          <a:xfrm>
            <a:off x="2137410" y="1325880"/>
            <a:ext cx="1508760" cy="475488"/>
          </a:xfrm>
          <a:prstGeom prst="roundRect">
            <a:avLst>
              <a:gd name="adj" fmla="val 15384"/>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90_ndt14"/>
          <p:cNvSpPr txBox="1"/>
          <p:nvPr/>
        </p:nvSpPr>
        <p:spPr>
          <a:xfrm>
            <a:off x="2183129" y="1325880"/>
            <a:ext cx="1417319" cy="475488"/>
          </a:xfrm>
          <a:prstGeom prst="rect">
            <a:avLst/>
          </a:prstGeom>
          <a:noFill/>
        </p:spPr>
        <p:txBody>
          <a:bodyPr wrap="square" lIns="0" tIns="0" rIns="0" bIns="0" anchor="ctr">
            <a:spAutoFit/>
          </a:bodyPr>
          <a:lstStyle/>
          <a:p>
            <a:pPr algn="ctr"/>
            <a:r>
              <a:rPr sz="850" b="1">
                <a:solidFill>
                  <a:srgbClr val="1C1917"/>
                </a:solidFill>
                <a:latin typeface="Segoe UI"/>
              </a:rPr>
              <a:t>Database server</a:t>
            </a:r>
          </a:p>
        </p:txBody>
      </p:sp>
      <p:sp>
        <p:nvSpPr>
          <p:cNvPr id="16" name="a1ud180_nd15"/>
          <p:cNvSpPr/>
          <p:nvPr/>
        </p:nvSpPr>
        <p:spPr>
          <a:xfrm>
            <a:off x="3817620" y="1325880"/>
            <a:ext cx="1508760" cy="475488"/>
          </a:xfrm>
          <a:prstGeom prst="roundRect">
            <a:avLst>
              <a:gd name="adj" fmla="val 15384"/>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180_ndt16"/>
          <p:cNvSpPr txBox="1"/>
          <p:nvPr/>
        </p:nvSpPr>
        <p:spPr>
          <a:xfrm>
            <a:off x="3863339" y="1325880"/>
            <a:ext cx="1417319" cy="475488"/>
          </a:xfrm>
          <a:prstGeom prst="rect">
            <a:avLst/>
          </a:prstGeom>
          <a:noFill/>
        </p:spPr>
        <p:txBody>
          <a:bodyPr wrap="square" lIns="0" tIns="0" rIns="0" bIns="0" anchor="ctr">
            <a:spAutoFit/>
          </a:bodyPr>
          <a:lstStyle/>
          <a:p>
            <a:pPr algn="ctr"/>
            <a:r>
              <a:rPr sz="850" b="1">
                <a:solidFill>
                  <a:srgbClr val="1C1917"/>
                </a:solidFill>
                <a:latin typeface="Segoe UI"/>
              </a:rPr>
              <a:t>Chat server</a:t>
            </a:r>
          </a:p>
        </p:txBody>
      </p:sp>
      <p:sp>
        <p:nvSpPr>
          <p:cNvPr id="18" name="a1ud270_nd17"/>
          <p:cNvSpPr/>
          <p:nvPr/>
        </p:nvSpPr>
        <p:spPr>
          <a:xfrm>
            <a:off x="5497829" y="1325880"/>
            <a:ext cx="1508760" cy="475488"/>
          </a:xfrm>
          <a:prstGeom prst="roundRect">
            <a:avLst>
              <a:gd name="adj" fmla="val 15384"/>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270_ndt18"/>
          <p:cNvSpPr txBox="1"/>
          <p:nvPr/>
        </p:nvSpPr>
        <p:spPr>
          <a:xfrm>
            <a:off x="5543549" y="1325880"/>
            <a:ext cx="1417319" cy="475488"/>
          </a:xfrm>
          <a:prstGeom prst="rect">
            <a:avLst/>
          </a:prstGeom>
          <a:noFill/>
        </p:spPr>
        <p:txBody>
          <a:bodyPr wrap="square" lIns="0" tIns="0" rIns="0" bIns="0" anchor="ctr">
            <a:spAutoFit/>
          </a:bodyPr>
          <a:lstStyle/>
          <a:p>
            <a:pPr algn="ctr"/>
            <a:r>
              <a:rPr sz="850" b="1">
                <a:solidFill>
                  <a:srgbClr val="1C1917"/>
                </a:solidFill>
                <a:latin typeface="Segoe UI"/>
              </a:rPr>
              <a:t>Mail server</a:t>
            </a:r>
          </a:p>
        </p:txBody>
      </p:sp>
      <p:sp>
        <p:nvSpPr>
          <p:cNvPr id="20" name="a1ud360_nd19"/>
          <p:cNvSpPr/>
          <p:nvPr/>
        </p:nvSpPr>
        <p:spPr>
          <a:xfrm>
            <a:off x="7178040" y="1325880"/>
            <a:ext cx="1508760" cy="475488"/>
          </a:xfrm>
          <a:prstGeom prst="roundRect">
            <a:avLst>
              <a:gd name="adj" fmla="val 15384"/>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360_ndt20"/>
          <p:cNvSpPr txBox="1"/>
          <p:nvPr/>
        </p:nvSpPr>
        <p:spPr>
          <a:xfrm>
            <a:off x="7223759" y="1325880"/>
            <a:ext cx="1417319" cy="475488"/>
          </a:xfrm>
          <a:prstGeom prst="rect">
            <a:avLst/>
          </a:prstGeom>
          <a:noFill/>
        </p:spPr>
        <p:txBody>
          <a:bodyPr wrap="square" lIns="0" tIns="0" rIns="0" bIns="0" anchor="ctr">
            <a:spAutoFit/>
          </a:bodyPr>
          <a:lstStyle/>
          <a:p>
            <a:pPr algn="ctr"/>
            <a:r>
              <a:rPr sz="850" b="1">
                <a:solidFill>
                  <a:srgbClr val="1C1917"/>
                </a:solidFill>
                <a:latin typeface="Segoe UI"/>
              </a:rPr>
              <a:t>Payment server</a:t>
            </a:r>
          </a:p>
        </p:txBody>
      </p:sp>
      <p:sp>
        <p:nvSpPr>
          <p:cNvPr id="22" name="a2u_nd21"/>
          <p:cNvSpPr/>
          <p:nvPr/>
        </p:nvSpPr>
        <p:spPr>
          <a:xfrm>
            <a:off x="3291840" y="2240280"/>
            <a:ext cx="2560320" cy="713232"/>
          </a:xfrm>
          <a:prstGeom prst="roundRect">
            <a:avLst>
              <a:gd name="adj" fmla="val 10256"/>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_ndt22"/>
          <p:cNvSpPr txBox="1"/>
          <p:nvPr/>
        </p:nvSpPr>
        <p:spPr>
          <a:xfrm>
            <a:off x="3337560" y="2276856"/>
            <a:ext cx="2468879" cy="338328"/>
          </a:xfrm>
          <a:prstGeom prst="rect">
            <a:avLst/>
          </a:prstGeom>
          <a:noFill/>
        </p:spPr>
        <p:txBody>
          <a:bodyPr wrap="square" lIns="0" tIns="0" rIns="0" bIns="0" anchor="b">
            <a:spAutoFit/>
          </a:bodyPr>
          <a:lstStyle/>
          <a:p>
            <a:pPr algn="ctr"/>
            <a:r>
              <a:rPr sz="1100" b="1">
                <a:solidFill>
                  <a:srgbClr val="1C1917"/>
                </a:solidFill>
                <a:latin typeface="Segoe UI"/>
              </a:rPr>
              <a:t>Metrics pub/sub</a:t>
            </a:r>
          </a:p>
        </p:txBody>
      </p:sp>
      <p:sp>
        <p:nvSpPr>
          <p:cNvPr id="24" name="a2u_nds23"/>
          <p:cNvSpPr txBox="1"/>
          <p:nvPr/>
        </p:nvSpPr>
        <p:spPr>
          <a:xfrm>
            <a:off x="3337560" y="2624328"/>
            <a:ext cx="2468879" cy="292608"/>
          </a:xfrm>
          <a:prstGeom prst="rect">
            <a:avLst/>
          </a:prstGeom>
          <a:noFill/>
        </p:spPr>
        <p:txBody>
          <a:bodyPr wrap="square" lIns="0" tIns="0" rIns="0" bIns="0" anchor="t">
            <a:spAutoFit/>
          </a:bodyPr>
          <a:lstStyle/>
          <a:p>
            <a:pPr algn="ctr"/>
            <a:r>
              <a:rPr sz="850" b="0">
                <a:solidFill>
                  <a:srgbClr val="0E7490"/>
                </a:solidFill>
                <a:latin typeface="Segoe UI"/>
              </a:rPr>
              <a:t>stores messages in a queue</a:t>
            </a:r>
          </a:p>
        </p:txBody>
      </p:sp>
      <p:cxnSp>
        <p:nvCxnSpPr>
          <p:cNvPr id="25" name="a2f_ar24"/>
          <p:cNvCxnSpPr/>
          <p:nvPr/>
        </p:nvCxnSpPr>
        <p:spPr>
          <a:xfrm>
            <a:off x="1211580" y="1828800"/>
            <a:ext cx="2400300" cy="38404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a2fd80_ar25"/>
          <p:cNvCxnSpPr/>
          <p:nvPr/>
        </p:nvCxnSpPr>
        <p:spPr>
          <a:xfrm>
            <a:off x="2891789" y="1828800"/>
            <a:ext cx="1195579" cy="38404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a2fd160_ar26"/>
          <p:cNvCxnSpPr/>
          <p:nvPr/>
        </p:nvCxnSpPr>
        <p:spPr>
          <a:xfrm flipH="1">
            <a:off x="4562856" y="1828800"/>
            <a:ext cx="9144" cy="38404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a2fd240_ar27"/>
          <p:cNvCxnSpPr/>
          <p:nvPr/>
        </p:nvCxnSpPr>
        <p:spPr>
          <a:xfrm flipH="1">
            <a:off x="5038344" y="1828800"/>
            <a:ext cx="1213865" cy="38404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a2fd320_ar28"/>
          <p:cNvCxnSpPr/>
          <p:nvPr/>
        </p:nvCxnSpPr>
        <p:spPr>
          <a:xfrm flipH="1">
            <a:off x="5513832" y="1828800"/>
            <a:ext cx="2418587" cy="38404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a3u_nd29"/>
          <p:cNvSpPr/>
          <p:nvPr/>
        </p:nvSpPr>
        <p:spPr>
          <a:xfrm>
            <a:off x="3520440" y="3291840"/>
            <a:ext cx="2103120" cy="530352"/>
          </a:xfrm>
          <a:prstGeom prst="roundRect">
            <a:avLst>
              <a:gd name="adj" fmla="val 13793"/>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u_ndt30"/>
          <p:cNvSpPr txBox="1"/>
          <p:nvPr/>
        </p:nvSpPr>
        <p:spPr>
          <a:xfrm>
            <a:off x="3566160" y="3291840"/>
            <a:ext cx="2011679" cy="530352"/>
          </a:xfrm>
          <a:prstGeom prst="rect">
            <a:avLst/>
          </a:prstGeom>
          <a:noFill/>
        </p:spPr>
        <p:txBody>
          <a:bodyPr wrap="square" lIns="0" tIns="0" rIns="0" bIns="0" anchor="ctr">
            <a:spAutoFit/>
          </a:bodyPr>
          <a:lstStyle/>
          <a:p>
            <a:pPr algn="ctr"/>
            <a:r>
              <a:rPr sz="1000" b="1">
                <a:solidFill>
                  <a:srgbClr val="1C1917"/>
                </a:solidFill>
                <a:latin typeface="Segoe UI"/>
              </a:rPr>
              <a:t>Metrics server</a:t>
            </a:r>
          </a:p>
        </p:txBody>
      </p:sp>
      <p:cxnSp>
        <p:nvCxnSpPr>
          <p:cNvPr id="32" name="a3u_ar31"/>
          <p:cNvCxnSpPr/>
          <p:nvPr/>
        </p:nvCxnSpPr>
        <p:spPr>
          <a:xfrm>
            <a:off x="4572000" y="2971800"/>
            <a:ext cx="0" cy="292608"/>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a3fd200_lb32"/>
          <p:cNvSpPr txBox="1"/>
          <p:nvPr/>
        </p:nvSpPr>
        <p:spPr>
          <a:xfrm>
            <a:off x="457200" y="2331720"/>
            <a:ext cx="2697480" cy="457200"/>
          </a:xfrm>
          <a:prstGeom prst="rect">
            <a:avLst/>
          </a:prstGeom>
          <a:noFill/>
        </p:spPr>
        <p:txBody>
          <a:bodyPr wrap="square" lIns="0" tIns="0" rIns="0" bIns="0" anchor="ctr">
            <a:spAutoFit/>
          </a:bodyPr>
          <a:lstStyle/>
          <a:p>
            <a:pPr algn="ctr"/>
            <a:r>
              <a:rPr sz="850" b="0">
                <a:solidFill>
                  <a:srgbClr val="44403C"/>
                </a:solidFill>
                <a:latin typeface="Segoe UI"/>
              </a:rPr>
              <a:t>publishers no longer know the metrics server</a:t>
            </a:r>
          </a:p>
        </p:txBody>
      </p:sp>
      <p:sp>
        <p:nvSpPr>
          <p:cNvPr id="34" name="a3fd300_lb33"/>
          <p:cNvSpPr txBox="1"/>
          <p:nvPr/>
        </p:nvSpPr>
        <p:spPr>
          <a:xfrm>
            <a:off x="5989320" y="2331720"/>
            <a:ext cx="2697480" cy="457200"/>
          </a:xfrm>
          <a:prstGeom prst="rect">
            <a:avLst/>
          </a:prstGeom>
          <a:noFill/>
        </p:spPr>
        <p:txBody>
          <a:bodyPr wrap="square" lIns="0" tIns="0" rIns="0" bIns="0" anchor="ctr">
            <a:spAutoFit/>
          </a:bodyPr>
          <a:lstStyle/>
          <a:p>
            <a:pPr algn="ctr"/>
            <a:r>
              <a:rPr sz="850" b="0">
                <a:solidFill>
                  <a:srgbClr val="44403C"/>
                </a:solidFill>
                <a:latin typeface="Segoe UI"/>
              </a:rPr>
              <a:t>the metrics server can change without touching any publisher</a:t>
            </a:r>
          </a:p>
        </p:txBody>
      </p:sp>
      <p:sp>
        <p:nvSpPr>
          <p:cNvPr id="35" name="a4u_nb34"/>
          <p:cNvSpPr/>
          <p:nvPr/>
        </p:nvSpPr>
        <p:spPr>
          <a:xfrm>
            <a:off x="457200" y="3977639"/>
            <a:ext cx="8229600" cy="548640"/>
          </a:xfrm>
          <a:prstGeom prst="roundRect">
            <a:avLst>
              <a:gd name="adj" fmla="val 1333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4u_nacc35"/>
          <p:cNvSpPr/>
          <p:nvPr/>
        </p:nvSpPr>
        <p:spPr>
          <a:xfrm>
            <a:off x="457200" y="3977639"/>
            <a:ext cx="54864" cy="54864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4u_nt36"/>
          <p:cNvSpPr txBox="1"/>
          <p:nvPr/>
        </p:nvSpPr>
        <p:spPr>
          <a:xfrm>
            <a:off x="658368" y="3977639"/>
            <a:ext cx="7827264" cy="548640"/>
          </a:xfrm>
          <a:prstGeom prst="rect">
            <a:avLst/>
          </a:prstGeom>
          <a:noFill/>
        </p:spPr>
        <p:txBody>
          <a:bodyPr wrap="square" lIns="0" tIns="0" rIns="0" bIns="0" anchor="ctr">
            <a:spAutoFit/>
          </a:bodyPr>
          <a:lstStyle/>
          <a:p>
            <a:pPr algn="l"/>
            <a:r>
              <a:rPr sz="900" b="1">
                <a:solidFill>
                  <a:srgbClr val="0E7490"/>
                </a:solidFill>
                <a:latin typeface="Segoe UI"/>
              </a:rPr>
              <a:t>QUEUE  </a:t>
            </a:r>
            <a:r>
              <a:rPr sz="900" b="0">
                <a:solidFill>
                  <a:srgbClr val="44403C"/>
                </a:solidFill>
                <a:latin typeface="Segoe UI"/>
              </a:rPr>
              <a:t>Every pub/sub system stores messages in a QUEUE - its basic storage model. So far there is only ONE queue system: metrics.</a:t>
            </a:r>
          </a:p>
        </p:txBody>
      </p:sp>
      <p:sp>
        <p:nvSpPr>
          <p:cNvPr id="38" name="ft3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25</a:t>
            </a:r>
          </a:p>
        </p:txBody>
      </p:sp>
      <p:sp>
        <p:nvSpPr>
          <p:cNvPr id="39" name="ft3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ft3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1" name="ft4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 calcmode="lin" valueType="num">
                                      <p:cBhvr additive="base">
                                        <p:cTn id="6" dur="500" fill="hold"/>
                                        <p:tgtEl>
                                          <p:spTgt spid="12"/>
                                        </p:tgtEl>
                                        <p:attrNameLst>
                                          <p:attrName>ppt_x</p:attrName>
                                        </p:attrNameLst>
                                      </p:cBhvr>
                                      <p:tavLst>
                                        <p:tav tm="0">
                                          <p:val>
                                            <p:strVal val="#ppt_x"/>
                                          </p:val>
                                        </p:tav>
                                        <p:tav tm="100000">
                                          <p:val>
                                            <p:strVal val="#ppt_x"/>
                                          </p:val>
                                        </p:tav>
                                      </p:tavLst>
                                    </p:anim>
                                    <p:anim calcmode="lin" valueType="num">
                                      <p:cBhvr additive="base">
                                        <p:cTn id="7" dur="500" fill="hold"/>
                                        <p:tgtEl>
                                          <p:spTgt spid="12"/>
                                        </p:tgtEl>
                                        <p:attrNameLst>
                                          <p:attrName>ppt_y</p:attrName>
                                        </p:attrNameLst>
                                      </p:cBhvr>
                                      <p:tavLst>
                                        <p:tav tm="0">
                                          <p:val>
                                            <p:strVal val="#ppt_y+0.1"/>
                                          </p:val>
                                        </p:tav>
                                        <p:tav tm="100000">
                                          <p:val>
                                            <p:strVal val="#ppt_y"/>
                                          </p:val>
                                        </p:tav>
                                      </p:tavLst>
                                    </p:anim>
                                    <p:animEffect transition="in" filter="fade">
                                      <p:cBhvr>
                                        <p:cTn id="8" dur="500"/>
                                        <p:tgtEl>
                                          <p:spTgt spid="12"/>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ppt_y+0.1"/>
                                          </p:val>
                                        </p:tav>
                                        <p:tav tm="100000">
                                          <p:val>
                                            <p:strVal val="#ppt_y"/>
                                          </p:val>
                                        </p:tav>
                                      </p:tavLst>
                                    </p:anim>
                                    <p:animEffect transition="in" filter="fade">
                                      <p:cBhvr>
                                        <p:cTn id="13" dur="500"/>
                                        <p:tgtEl>
                                          <p:spTgt spid="13"/>
                                        </p:tgtEl>
                                      </p:cBhvr>
                                    </p:animEffect>
                                  </p:childTnLst>
                                </p:cTn>
                              </p:par>
                              <p:par>
                                <p:cTn id="19" presetID="2" presetClass="entr" presetSubtype="4" fill="hold" grpId="0" nodeType="withEffect">
                                  <p:stCondLst>
                                    <p:cond delay="9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ppt_y+0.1"/>
                                          </p:val>
                                        </p:tav>
                                        <p:tav tm="100000">
                                          <p:val>
                                            <p:strVal val="#ppt_y"/>
                                          </p:val>
                                        </p:tav>
                                      </p:tavLst>
                                    </p:anim>
                                    <p:animEffect transition="in" filter="fade">
                                      <p:cBhvr>
                                        <p:cTn id="18" dur="500"/>
                                        <p:tgtEl>
                                          <p:spTgt spid="14"/>
                                        </p:tgtEl>
                                      </p:cBhvr>
                                    </p:animEffect>
                                  </p:childTnLst>
                                </p:cTn>
                              </p:par>
                              <p:par>
                                <p:cTn id="24" presetID="2" presetClass="entr" presetSubtype="4" fill="hold" grpId="0" nodeType="withEffect">
                                  <p:stCondLst>
                                    <p:cond delay="9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18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ppt_y+0.1"/>
                                          </p:val>
                                        </p:tav>
                                        <p:tav tm="100000">
                                          <p:val>
                                            <p:strVal val="#ppt_y"/>
                                          </p:val>
                                        </p:tav>
                                      </p:tavLst>
                                    </p:anim>
                                    <p:animEffect transition="in" filter="fade">
                                      <p:cBhvr>
                                        <p:cTn id="28" dur="500"/>
                                        <p:tgtEl>
                                          <p:spTgt spid="16"/>
                                        </p:tgtEl>
                                      </p:cBhvr>
                                    </p:animEffect>
                                  </p:childTnLst>
                                </p:cTn>
                              </p:par>
                              <p:par>
                                <p:cTn id="34" presetID="2" presetClass="entr" presetSubtype="4" fill="hold" grpId="0" nodeType="withEffect">
                                  <p:stCondLst>
                                    <p:cond delay="18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27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ppt_y+0.1"/>
                                          </p:val>
                                        </p:tav>
                                        <p:tav tm="100000">
                                          <p:val>
                                            <p:strVal val="#ppt_y"/>
                                          </p:val>
                                        </p:tav>
                                      </p:tavLst>
                                    </p:anim>
                                    <p:animEffect transition="in" filter="fade">
                                      <p:cBhvr>
                                        <p:cTn id="38" dur="500"/>
                                        <p:tgtEl>
                                          <p:spTgt spid="18"/>
                                        </p:tgtEl>
                                      </p:cBhvr>
                                    </p:animEffect>
                                  </p:childTnLst>
                                </p:cTn>
                              </p:par>
                              <p:par>
                                <p:cTn id="44" presetID="2" presetClass="entr" presetSubtype="4" fill="hold" grpId="0" nodeType="withEffect">
                                  <p:stCondLst>
                                    <p:cond delay="270"/>
                                  </p:stCondLst>
                                  <p:childTnLst>
                                    <p:set>
                                      <p:cBhvr>
                                        <p:cTn id="40" dur="1" fill="hold">
                                          <p:stCondLst>
                                            <p:cond delay="0"/>
                                          </p:stCondLst>
                                        </p:cTn>
                                        <p:tgtEl>
                                          <p:spTgt spid="19"/>
                                        </p:tgtEl>
                                        <p:attrNameLst>
                                          <p:attrName>style.visibility</p:attrName>
                                        </p:attrNameLst>
                                      </p:cBhvr>
                                      <p:to>
                                        <p:strVal val="visible"/>
                                      </p:to>
                                    </p:set>
                                    <p:anim calcmode="lin" valueType="num">
                                      <p:cBhvr additive="base">
                                        <p:cTn id="41" dur="500" fill="hold"/>
                                        <p:tgtEl>
                                          <p:spTgt spid="19"/>
                                        </p:tgtEl>
                                        <p:attrNameLst>
                                          <p:attrName>ppt_x</p:attrName>
                                        </p:attrNameLst>
                                      </p:cBhvr>
                                      <p:tavLst>
                                        <p:tav tm="0">
                                          <p:val>
                                            <p:strVal val="#ppt_x"/>
                                          </p:val>
                                        </p:tav>
                                        <p:tav tm="100000">
                                          <p:val>
                                            <p:strVal val="#ppt_x"/>
                                          </p:val>
                                        </p:tav>
                                      </p:tavLst>
                                    </p:anim>
                                    <p:anim calcmode="lin" valueType="num">
                                      <p:cBhvr additive="base">
                                        <p:cTn id="42" dur="500" fill="hold"/>
                                        <p:tgtEl>
                                          <p:spTgt spid="19"/>
                                        </p:tgtEl>
                                        <p:attrNameLst>
                                          <p:attrName>ppt_y</p:attrName>
                                        </p:attrNameLst>
                                      </p:cBhvr>
                                      <p:tavLst>
                                        <p:tav tm="0">
                                          <p:val>
                                            <p:strVal val="#ppt_y+0.1"/>
                                          </p:val>
                                        </p:tav>
                                        <p:tav tm="100000">
                                          <p:val>
                                            <p:strVal val="#ppt_y"/>
                                          </p:val>
                                        </p:tav>
                                      </p:tavLst>
                                    </p:anim>
                                    <p:animEffect transition="in" filter="fade">
                                      <p:cBhvr>
                                        <p:cTn id="43" dur="500"/>
                                        <p:tgtEl>
                                          <p:spTgt spid="19"/>
                                        </p:tgtEl>
                                      </p:cBhvr>
                                    </p:animEffect>
                                  </p:childTnLst>
                                </p:cTn>
                              </p:par>
                              <p:par>
                                <p:cTn id="49" presetID="2" presetClass="entr" presetSubtype="4" fill="hold" grpId="0" nodeType="withEffect">
                                  <p:stCondLst>
                                    <p:cond delay="360"/>
                                  </p:stCondLst>
                                  <p:childTnLst>
                                    <p:set>
                                      <p:cBhvr>
                                        <p:cTn id="45" dur="1" fill="hold">
                                          <p:stCondLst>
                                            <p:cond delay="0"/>
                                          </p:stCondLst>
                                        </p:cTn>
                                        <p:tgtEl>
                                          <p:spTgt spid="20"/>
                                        </p:tgtEl>
                                        <p:attrNameLst>
                                          <p:attrName>style.visibility</p:attrName>
                                        </p:attrNameLst>
                                      </p:cBhvr>
                                      <p:to>
                                        <p:strVal val="visible"/>
                                      </p:to>
                                    </p:set>
                                    <p:anim calcmode="lin" valueType="num">
                                      <p:cBhvr additive="base">
                                        <p:cTn id="46" dur="500" fill="hold"/>
                                        <p:tgtEl>
                                          <p:spTgt spid="20"/>
                                        </p:tgtEl>
                                        <p:attrNameLst>
                                          <p:attrName>ppt_x</p:attrName>
                                        </p:attrNameLst>
                                      </p:cBhvr>
                                      <p:tavLst>
                                        <p:tav tm="0">
                                          <p:val>
                                            <p:strVal val="#ppt_x"/>
                                          </p:val>
                                        </p:tav>
                                        <p:tav tm="100000">
                                          <p:val>
                                            <p:strVal val="#ppt_x"/>
                                          </p:val>
                                        </p:tav>
                                      </p:tavLst>
                                    </p:anim>
                                    <p:anim calcmode="lin" valueType="num">
                                      <p:cBhvr additive="base">
                                        <p:cTn id="47" dur="500" fill="hold"/>
                                        <p:tgtEl>
                                          <p:spTgt spid="20"/>
                                        </p:tgtEl>
                                        <p:attrNameLst>
                                          <p:attrName>ppt_y</p:attrName>
                                        </p:attrNameLst>
                                      </p:cBhvr>
                                      <p:tavLst>
                                        <p:tav tm="0">
                                          <p:val>
                                            <p:strVal val="#ppt_y+0.1"/>
                                          </p:val>
                                        </p:tav>
                                        <p:tav tm="100000">
                                          <p:val>
                                            <p:strVal val="#ppt_y"/>
                                          </p:val>
                                        </p:tav>
                                      </p:tavLst>
                                    </p:anim>
                                    <p:animEffect transition="in" filter="fade">
                                      <p:cBhvr>
                                        <p:cTn id="48" dur="500"/>
                                        <p:tgtEl>
                                          <p:spTgt spid="20"/>
                                        </p:tgtEl>
                                      </p:cBhvr>
                                    </p:animEffect>
                                  </p:childTnLst>
                                </p:cTn>
                              </p:par>
                              <p:par>
                                <p:cTn id="54" presetID="2" presetClass="entr" presetSubtype="4" fill="hold" grpId="0" nodeType="withEffect">
                                  <p:stCondLst>
                                    <p:cond delay="360"/>
                                  </p:stCondLst>
                                  <p:childTnLst>
                                    <p:set>
                                      <p:cBhvr>
                                        <p:cTn id="50" dur="1" fill="hold">
                                          <p:stCondLst>
                                            <p:cond delay="0"/>
                                          </p:stCondLst>
                                        </p:cTn>
                                        <p:tgtEl>
                                          <p:spTgt spid="21"/>
                                        </p:tgtEl>
                                        <p:attrNameLst>
                                          <p:attrName>style.visibility</p:attrName>
                                        </p:attrNameLst>
                                      </p:cBhvr>
                                      <p:to>
                                        <p:strVal val="visible"/>
                                      </p:to>
                                    </p:set>
                                    <p:anim calcmode="lin" valueType="num">
                                      <p:cBhvr additive="base">
                                        <p:cTn id="51" dur="500" fill="hold"/>
                                        <p:tgtEl>
                                          <p:spTgt spid="21"/>
                                        </p:tgtEl>
                                        <p:attrNameLst>
                                          <p:attrName>ppt_x</p:attrName>
                                        </p:attrNameLst>
                                      </p:cBhvr>
                                      <p:tavLst>
                                        <p:tav tm="0">
                                          <p:val>
                                            <p:strVal val="#ppt_x"/>
                                          </p:val>
                                        </p:tav>
                                        <p:tav tm="100000">
                                          <p:val>
                                            <p:strVal val="#ppt_x"/>
                                          </p:val>
                                        </p:tav>
                                      </p:tavLst>
                                    </p:anim>
                                    <p:anim calcmode="lin" valueType="num">
                                      <p:cBhvr additive="base">
                                        <p:cTn id="52" dur="500" fill="hold"/>
                                        <p:tgtEl>
                                          <p:spTgt spid="21"/>
                                        </p:tgtEl>
                                        <p:attrNameLst>
                                          <p:attrName>ppt_y</p:attrName>
                                        </p:attrNameLst>
                                      </p:cBhvr>
                                      <p:tavLst>
                                        <p:tav tm="0">
                                          <p:val>
                                            <p:strVal val="#ppt_y+0.1"/>
                                          </p:val>
                                        </p:tav>
                                        <p:tav tm="100000">
                                          <p:val>
                                            <p:strVal val="#ppt_y"/>
                                          </p:val>
                                        </p:tav>
                                      </p:tavLst>
                                    </p:anim>
                                    <p:animEffect transition="in" filter="fade">
                                      <p:cBhvr>
                                        <p:cTn id="53" dur="500"/>
                                        <p:tgtEl>
                                          <p:spTgt spid="21"/>
                                        </p:tgtEl>
                                      </p:cBhvr>
                                    </p:animEffect>
                                  </p:childTnLst>
                                </p:cTn>
                              </p:par>
                            </p:childTnLst>
                          </p:cTn>
                        </p:par>
                      </p:childTnLst>
                    </p:cTn>
                  </p:par>
                  <p:par>
                    <p:cTn id="55" fill="hold">
                      <p:stCondLst>
                        <p:cond delay="indefinite"/>
                      </p:stCondLst>
                      <p:childTnLst>
                        <p:par>
                          <p:cTn id="56" fill="hold">
                            <p:stCondLst>
                              <p:cond delay="0"/>
                            </p:stCondLst>
                            <p:childTnLst>
                              <p:par>
                                <p:cTn id="61" presetID="2" presetClass="entr" presetSubtype="4"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 calcmode="lin" valueType="num">
                                      <p:cBhvr additive="base">
                                        <p:cTn id="58" dur="500" fill="hold"/>
                                        <p:tgtEl>
                                          <p:spTgt spid="22"/>
                                        </p:tgtEl>
                                        <p:attrNameLst>
                                          <p:attrName>ppt_x</p:attrName>
                                        </p:attrNameLst>
                                      </p:cBhvr>
                                      <p:tavLst>
                                        <p:tav tm="0">
                                          <p:val>
                                            <p:strVal val="#ppt_x"/>
                                          </p:val>
                                        </p:tav>
                                        <p:tav tm="100000">
                                          <p:val>
                                            <p:strVal val="#ppt_x"/>
                                          </p:val>
                                        </p:tav>
                                      </p:tavLst>
                                    </p:anim>
                                    <p:anim calcmode="lin" valueType="num">
                                      <p:cBhvr additive="base">
                                        <p:cTn id="59" dur="500" fill="hold"/>
                                        <p:tgtEl>
                                          <p:spTgt spid="22"/>
                                        </p:tgtEl>
                                        <p:attrNameLst>
                                          <p:attrName>ppt_y</p:attrName>
                                        </p:attrNameLst>
                                      </p:cBhvr>
                                      <p:tavLst>
                                        <p:tav tm="0">
                                          <p:val>
                                            <p:strVal val="#ppt_y+0.1"/>
                                          </p:val>
                                        </p:tav>
                                        <p:tav tm="100000">
                                          <p:val>
                                            <p:strVal val="#ppt_y"/>
                                          </p:val>
                                        </p:tav>
                                      </p:tavLst>
                                    </p:anim>
                                    <p:animEffect transition="in" filter="fade">
                                      <p:cBhvr>
                                        <p:cTn id="60" dur="500"/>
                                        <p:tgtEl>
                                          <p:spTgt spid="22"/>
                                        </p:tgtEl>
                                      </p:cBhvr>
                                    </p:animEffect>
                                  </p:childTnLst>
                                </p:cTn>
                              </p:par>
                              <p:par>
                                <p:cTn id="66" presetID="2" presetClass="entr" presetSubtype="4"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 calcmode="lin" valueType="num">
                                      <p:cBhvr additive="base">
                                        <p:cTn id="63" dur="500" fill="hold"/>
                                        <p:tgtEl>
                                          <p:spTgt spid="23"/>
                                        </p:tgtEl>
                                        <p:attrNameLst>
                                          <p:attrName>ppt_x</p:attrName>
                                        </p:attrNameLst>
                                      </p:cBhvr>
                                      <p:tavLst>
                                        <p:tav tm="0">
                                          <p:val>
                                            <p:strVal val="#ppt_x"/>
                                          </p:val>
                                        </p:tav>
                                        <p:tav tm="100000">
                                          <p:val>
                                            <p:strVal val="#ppt_x"/>
                                          </p:val>
                                        </p:tav>
                                      </p:tavLst>
                                    </p:anim>
                                    <p:anim calcmode="lin" valueType="num">
                                      <p:cBhvr additive="base">
                                        <p:cTn id="64" dur="500" fill="hold"/>
                                        <p:tgtEl>
                                          <p:spTgt spid="23"/>
                                        </p:tgtEl>
                                        <p:attrNameLst>
                                          <p:attrName>ppt_y</p:attrName>
                                        </p:attrNameLst>
                                      </p:cBhvr>
                                      <p:tavLst>
                                        <p:tav tm="0">
                                          <p:val>
                                            <p:strVal val="#ppt_y+0.1"/>
                                          </p:val>
                                        </p:tav>
                                        <p:tav tm="100000">
                                          <p:val>
                                            <p:strVal val="#ppt_y"/>
                                          </p:val>
                                        </p:tav>
                                      </p:tavLst>
                                    </p:anim>
                                    <p:animEffect transition="in" filter="fade">
                                      <p:cBhvr>
                                        <p:cTn id="65" dur="500"/>
                                        <p:tgtEl>
                                          <p:spTgt spid="23"/>
                                        </p:tgtEl>
                                      </p:cBhvr>
                                    </p:animEffect>
                                  </p:childTnLst>
                                </p:cTn>
                              </p:par>
                              <p:par>
                                <p:cTn id="71" presetID="2" presetClass="entr" presetSubtype="4"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 calcmode="lin" valueType="num">
                                      <p:cBhvr additive="base">
                                        <p:cTn id="68" dur="500" fill="hold"/>
                                        <p:tgtEl>
                                          <p:spTgt spid="24"/>
                                        </p:tgtEl>
                                        <p:attrNameLst>
                                          <p:attrName>ppt_x</p:attrName>
                                        </p:attrNameLst>
                                      </p:cBhvr>
                                      <p:tavLst>
                                        <p:tav tm="0">
                                          <p:val>
                                            <p:strVal val="#ppt_x"/>
                                          </p:val>
                                        </p:tav>
                                        <p:tav tm="100000">
                                          <p:val>
                                            <p:strVal val="#ppt_x"/>
                                          </p:val>
                                        </p:tav>
                                      </p:tavLst>
                                    </p:anim>
                                    <p:anim calcmode="lin" valueType="num">
                                      <p:cBhvr additive="base">
                                        <p:cTn id="69" dur="500" fill="hold"/>
                                        <p:tgtEl>
                                          <p:spTgt spid="24"/>
                                        </p:tgtEl>
                                        <p:attrNameLst>
                                          <p:attrName>ppt_y</p:attrName>
                                        </p:attrNameLst>
                                      </p:cBhvr>
                                      <p:tavLst>
                                        <p:tav tm="0">
                                          <p:val>
                                            <p:strVal val="#ppt_y+0.1"/>
                                          </p:val>
                                        </p:tav>
                                        <p:tav tm="100000">
                                          <p:val>
                                            <p:strVal val="#ppt_y"/>
                                          </p:val>
                                        </p:tav>
                                      </p:tavLst>
                                    </p:anim>
                                    <p:animEffect transition="in" filter="fade">
                                      <p:cBhvr>
                                        <p:cTn id="70" dur="500"/>
                                        <p:tgtEl>
                                          <p:spTgt spid="24"/>
                                        </p:tgtEl>
                                      </p:cBhvr>
                                    </p:animEffect>
                                  </p:childTnLst>
                                </p:cTn>
                              </p:par>
                              <p:par>
                                <p:cTn id="74" presetID="10"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7" presetID="10" presetClass="entr" presetSubtype="0" fill="hold" grpId="0" nodeType="withEffect">
                                  <p:stCondLst>
                                    <p:cond delay="8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80" presetID="10" presetClass="entr" presetSubtype="0" fill="hold" grpId="0" nodeType="withEffect">
                                  <p:stCondLst>
                                    <p:cond delay="16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3" presetID="10" presetClass="entr" presetSubtype="0" fill="hold" grpId="0" nodeType="withEffect">
                                  <p:stCondLst>
                                    <p:cond delay="24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par>
                                <p:cTn id="86" presetID="10" presetClass="entr" presetSubtype="0" fill="hold" grpId="0" nodeType="withEffect">
                                  <p:stCondLst>
                                    <p:cond delay="32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childTnLst>
                          </p:cTn>
                        </p:par>
                      </p:childTnLst>
                    </p:cTn>
                  </p:par>
                  <p:par>
                    <p:cTn id="87" fill="hold">
                      <p:stCondLst>
                        <p:cond delay="indefinite"/>
                      </p:stCondLst>
                      <p:childTnLst>
                        <p:par>
                          <p:cTn id="88" fill="hold">
                            <p:stCondLst>
                              <p:cond delay="0"/>
                            </p:stCondLst>
                            <p:childTnLst>
                              <p:par>
                                <p:cTn id="93" presetID="2" presetClass="entr" presetSubtype="4" fill="hold" grpId="0" nodeType="clickEffect">
                                  <p:stCondLst>
                                    <p:cond delay="0"/>
                                  </p:stCondLst>
                                  <p:childTnLst>
                                    <p:set>
                                      <p:cBhvr>
                                        <p:cTn id="89" dur="1" fill="hold">
                                          <p:stCondLst>
                                            <p:cond delay="0"/>
                                          </p:stCondLst>
                                        </p:cTn>
                                        <p:tgtEl>
                                          <p:spTgt spid="30"/>
                                        </p:tgtEl>
                                        <p:attrNameLst>
                                          <p:attrName>style.visibility</p:attrName>
                                        </p:attrNameLst>
                                      </p:cBhvr>
                                      <p:to>
                                        <p:strVal val="visible"/>
                                      </p:to>
                                    </p:set>
                                    <p:anim calcmode="lin" valueType="num">
                                      <p:cBhvr additive="base">
                                        <p:cTn id="90" dur="500" fill="hold"/>
                                        <p:tgtEl>
                                          <p:spTgt spid="30"/>
                                        </p:tgtEl>
                                        <p:attrNameLst>
                                          <p:attrName>ppt_x</p:attrName>
                                        </p:attrNameLst>
                                      </p:cBhvr>
                                      <p:tavLst>
                                        <p:tav tm="0">
                                          <p:val>
                                            <p:strVal val="#ppt_x"/>
                                          </p:val>
                                        </p:tav>
                                        <p:tav tm="100000">
                                          <p:val>
                                            <p:strVal val="#ppt_x"/>
                                          </p:val>
                                        </p:tav>
                                      </p:tavLst>
                                    </p:anim>
                                    <p:anim calcmode="lin" valueType="num">
                                      <p:cBhvr additive="base">
                                        <p:cTn id="91" dur="500" fill="hold"/>
                                        <p:tgtEl>
                                          <p:spTgt spid="30"/>
                                        </p:tgtEl>
                                        <p:attrNameLst>
                                          <p:attrName>ppt_y</p:attrName>
                                        </p:attrNameLst>
                                      </p:cBhvr>
                                      <p:tavLst>
                                        <p:tav tm="0">
                                          <p:val>
                                            <p:strVal val="#ppt_y+0.1"/>
                                          </p:val>
                                        </p:tav>
                                        <p:tav tm="100000">
                                          <p:val>
                                            <p:strVal val="#ppt_y"/>
                                          </p:val>
                                        </p:tav>
                                      </p:tavLst>
                                    </p:anim>
                                    <p:animEffect transition="in" filter="fade">
                                      <p:cBhvr>
                                        <p:cTn id="92" dur="500"/>
                                        <p:tgtEl>
                                          <p:spTgt spid="30"/>
                                        </p:tgtEl>
                                      </p:cBhvr>
                                    </p:animEffect>
                                  </p:childTnLst>
                                </p:cTn>
                              </p:par>
                              <p:par>
                                <p:cTn id="98" presetID="2" presetClass="entr" presetSubtype="4"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 calcmode="lin" valueType="num">
                                      <p:cBhvr additive="base">
                                        <p:cTn id="95" dur="500" fill="hold"/>
                                        <p:tgtEl>
                                          <p:spTgt spid="31"/>
                                        </p:tgtEl>
                                        <p:attrNameLst>
                                          <p:attrName>ppt_x</p:attrName>
                                        </p:attrNameLst>
                                      </p:cBhvr>
                                      <p:tavLst>
                                        <p:tav tm="0">
                                          <p:val>
                                            <p:strVal val="#ppt_x"/>
                                          </p:val>
                                        </p:tav>
                                        <p:tav tm="100000">
                                          <p:val>
                                            <p:strVal val="#ppt_x"/>
                                          </p:val>
                                        </p:tav>
                                      </p:tavLst>
                                    </p:anim>
                                    <p:anim calcmode="lin" valueType="num">
                                      <p:cBhvr additive="base">
                                        <p:cTn id="96" dur="500" fill="hold"/>
                                        <p:tgtEl>
                                          <p:spTgt spid="31"/>
                                        </p:tgtEl>
                                        <p:attrNameLst>
                                          <p:attrName>ppt_y</p:attrName>
                                        </p:attrNameLst>
                                      </p:cBhvr>
                                      <p:tavLst>
                                        <p:tav tm="0">
                                          <p:val>
                                            <p:strVal val="#ppt_y+0.1"/>
                                          </p:val>
                                        </p:tav>
                                        <p:tav tm="100000">
                                          <p:val>
                                            <p:strVal val="#ppt_y"/>
                                          </p:val>
                                        </p:tav>
                                      </p:tavLst>
                                    </p:anim>
                                    <p:animEffect transition="in" filter="fade">
                                      <p:cBhvr>
                                        <p:cTn id="97" dur="500"/>
                                        <p:tgtEl>
                                          <p:spTgt spid="31"/>
                                        </p:tgtEl>
                                      </p:cBhvr>
                                    </p:animEffect>
                                  </p:childTnLst>
                                </p:cTn>
                              </p:par>
                              <p:par>
                                <p:cTn id="103" presetID="2" presetClass="entr" presetSubtype="4" fill="hold" grpId="0" nodeType="withEffect">
                                  <p:stCondLst>
                                    <p:cond delay="0"/>
                                  </p:stCondLst>
                                  <p:childTnLst>
                                    <p:set>
                                      <p:cBhvr>
                                        <p:cTn id="99" dur="1" fill="hold">
                                          <p:stCondLst>
                                            <p:cond delay="0"/>
                                          </p:stCondLst>
                                        </p:cTn>
                                        <p:tgtEl>
                                          <p:spTgt spid="32"/>
                                        </p:tgtEl>
                                        <p:attrNameLst>
                                          <p:attrName>style.visibility</p:attrName>
                                        </p:attrNameLst>
                                      </p:cBhvr>
                                      <p:to>
                                        <p:strVal val="visible"/>
                                      </p:to>
                                    </p:set>
                                    <p:anim calcmode="lin" valueType="num">
                                      <p:cBhvr additive="base">
                                        <p:cTn id="100" dur="500" fill="hold"/>
                                        <p:tgtEl>
                                          <p:spTgt spid="32"/>
                                        </p:tgtEl>
                                        <p:attrNameLst>
                                          <p:attrName>ppt_x</p:attrName>
                                        </p:attrNameLst>
                                      </p:cBhvr>
                                      <p:tavLst>
                                        <p:tav tm="0">
                                          <p:val>
                                            <p:strVal val="#ppt_x"/>
                                          </p:val>
                                        </p:tav>
                                        <p:tav tm="100000">
                                          <p:val>
                                            <p:strVal val="#ppt_x"/>
                                          </p:val>
                                        </p:tav>
                                      </p:tavLst>
                                    </p:anim>
                                    <p:anim calcmode="lin" valueType="num">
                                      <p:cBhvr additive="base">
                                        <p:cTn id="101" dur="500" fill="hold"/>
                                        <p:tgtEl>
                                          <p:spTgt spid="32"/>
                                        </p:tgtEl>
                                        <p:attrNameLst>
                                          <p:attrName>ppt_y</p:attrName>
                                        </p:attrNameLst>
                                      </p:cBhvr>
                                      <p:tavLst>
                                        <p:tav tm="0">
                                          <p:val>
                                            <p:strVal val="#ppt_y+0.1"/>
                                          </p:val>
                                        </p:tav>
                                        <p:tav tm="100000">
                                          <p:val>
                                            <p:strVal val="#ppt_y"/>
                                          </p:val>
                                        </p:tav>
                                      </p:tavLst>
                                    </p:anim>
                                    <p:animEffect transition="in" filter="fade">
                                      <p:cBhvr>
                                        <p:cTn id="102" dur="500"/>
                                        <p:tgtEl>
                                          <p:spTgt spid="32"/>
                                        </p:tgtEl>
                                      </p:cBhvr>
                                    </p:animEffect>
                                  </p:childTnLst>
                                </p:cTn>
                              </p:par>
                              <p:par>
                                <p:cTn id="106" presetID="10" presetClass="entr" presetSubtype="0" fill="hold" grpId="0" nodeType="withEffect">
                                  <p:stCondLst>
                                    <p:cond delay="200"/>
                                  </p:stCondLst>
                                  <p:childTnLst>
                                    <p:set>
                                      <p:cBhvr>
                                        <p:cTn id="104" dur="1" fill="hold">
                                          <p:stCondLst>
                                            <p:cond delay="0"/>
                                          </p:stCondLst>
                                        </p:cTn>
                                        <p:tgtEl>
                                          <p:spTgt spid="33"/>
                                        </p:tgtEl>
                                        <p:attrNameLst>
                                          <p:attrName>style.visibility</p:attrName>
                                        </p:attrNameLst>
                                      </p:cBhvr>
                                      <p:to>
                                        <p:strVal val="visible"/>
                                      </p:to>
                                    </p:set>
                                    <p:animEffect transition="in" filter="fade">
                                      <p:cBhvr>
                                        <p:cTn id="105" dur="500"/>
                                        <p:tgtEl>
                                          <p:spTgt spid="33"/>
                                        </p:tgtEl>
                                      </p:cBhvr>
                                    </p:animEffect>
                                  </p:childTnLst>
                                </p:cTn>
                              </p:par>
                              <p:par>
                                <p:cTn id="109" presetID="10" presetClass="entr" presetSubtype="0" fill="hold" grpId="0" nodeType="withEffect">
                                  <p:stCondLst>
                                    <p:cond delay="300"/>
                                  </p:stCondLst>
                                  <p:childTnLst>
                                    <p:set>
                                      <p:cBhvr>
                                        <p:cTn id="107" dur="1" fill="hold">
                                          <p:stCondLst>
                                            <p:cond delay="0"/>
                                          </p:stCondLst>
                                        </p:cTn>
                                        <p:tgtEl>
                                          <p:spTgt spid="34"/>
                                        </p:tgtEl>
                                        <p:attrNameLst>
                                          <p:attrName>style.visibility</p:attrName>
                                        </p:attrNameLst>
                                      </p:cBhvr>
                                      <p:to>
                                        <p:strVal val="visible"/>
                                      </p:to>
                                    </p:set>
                                    <p:animEffect transition="in" filter="fade">
                                      <p:cBhvr>
                                        <p:cTn id="108" dur="500"/>
                                        <p:tgtEl>
                                          <p:spTgt spid="34"/>
                                        </p:tgtEl>
                                      </p:cBhvr>
                                    </p:animEffect>
                                  </p:childTnLst>
                                </p:cTn>
                              </p:par>
                            </p:childTnLst>
                          </p:cTn>
                        </p:par>
                      </p:childTnLst>
                    </p:cTn>
                  </p:par>
                  <p:par>
                    <p:cTn id="110" fill="hold">
                      <p:stCondLst>
                        <p:cond delay="indefinite"/>
                      </p:stCondLst>
                      <p:childTnLst>
                        <p:par>
                          <p:cTn id="111" fill="hold">
                            <p:stCondLst>
                              <p:cond delay="0"/>
                            </p:stCondLst>
                            <p:childTnLst>
                              <p:par>
                                <p:cTn id="116" presetID="2" presetClass="entr" presetSubtype="4" fill="hold" grpId="0" nodeType="clickEffect">
                                  <p:stCondLst>
                                    <p:cond delay="0"/>
                                  </p:stCondLst>
                                  <p:childTnLst>
                                    <p:set>
                                      <p:cBhvr>
                                        <p:cTn id="112" dur="1" fill="hold">
                                          <p:stCondLst>
                                            <p:cond delay="0"/>
                                          </p:stCondLst>
                                        </p:cTn>
                                        <p:tgtEl>
                                          <p:spTgt spid="35"/>
                                        </p:tgtEl>
                                        <p:attrNameLst>
                                          <p:attrName>style.visibility</p:attrName>
                                        </p:attrNameLst>
                                      </p:cBhvr>
                                      <p:to>
                                        <p:strVal val="visible"/>
                                      </p:to>
                                    </p:set>
                                    <p:anim calcmode="lin" valueType="num">
                                      <p:cBhvr additive="base">
                                        <p:cTn id="113" dur="500" fill="hold"/>
                                        <p:tgtEl>
                                          <p:spTgt spid="35"/>
                                        </p:tgtEl>
                                        <p:attrNameLst>
                                          <p:attrName>ppt_x</p:attrName>
                                        </p:attrNameLst>
                                      </p:cBhvr>
                                      <p:tavLst>
                                        <p:tav tm="0">
                                          <p:val>
                                            <p:strVal val="#ppt_x"/>
                                          </p:val>
                                        </p:tav>
                                        <p:tav tm="100000">
                                          <p:val>
                                            <p:strVal val="#ppt_x"/>
                                          </p:val>
                                        </p:tav>
                                      </p:tavLst>
                                    </p:anim>
                                    <p:anim calcmode="lin" valueType="num">
                                      <p:cBhvr additive="base">
                                        <p:cTn id="114" dur="500" fill="hold"/>
                                        <p:tgtEl>
                                          <p:spTgt spid="35"/>
                                        </p:tgtEl>
                                        <p:attrNameLst>
                                          <p:attrName>ppt_y</p:attrName>
                                        </p:attrNameLst>
                                      </p:cBhvr>
                                      <p:tavLst>
                                        <p:tav tm="0">
                                          <p:val>
                                            <p:strVal val="#ppt_y+0.1"/>
                                          </p:val>
                                        </p:tav>
                                        <p:tav tm="100000">
                                          <p:val>
                                            <p:strVal val="#ppt_y"/>
                                          </p:val>
                                        </p:tav>
                                      </p:tavLst>
                                    </p:anim>
                                    <p:animEffect transition="in" filter="fade">
                                      <p:cBhvr>
                                        <p:cTn id="115" dur="500"/>
                                        <p:tgtEl>
                                          <p:spTgt spid="35"/>
                                        </p:tgtEl>
                                      </p:cBhvr>
                                    </p:animEffect>
                                  </p:childTnLst>
                                </p:cTn>
                              </p:par>
                              <p:par>
                                <p:cTn id="121" presetID="2" presetClass="entr" presetSubtype="4" fill="hold" grpId="0" nodeType="withEffect">
                                  <p:stCondLst>
                                    <p:cond delay="0"/>
                                  </p:stCondLst>
                                  <p:childTnLst>
                                    <p:set>
                                      <p:cBhvr>
                                        <p:cTn id="117" dur="1" fill="hold">
                                          <p:stCondLst>
                                            <p:cond delay="0"/>
                                          </p:stCondLst>
                                        </p:cTn>
                                        <p:tgtEl>
                                          <p:spTgt spid="36"/>
                                        </p:tgtEl>
                                        <p:attrNameLst>
                                          <p:attrName>style.visibility</p:attrName>
                                        </p:attrNameLst>
                                      </p:cBhvr>
                                      <p:to>
                                        <p:strVal val="visible"/>
                                      </p:to>
                                    </p:set>
                                    <p:anim calcmode="lin" valueType="num">
                                      <p:cBhvr additive="base">
                                        <p:cTn id="118" dur="500" fill="hold"/>
                                        <p:tgtEl>
                                          <p:spTgt spid="36"/>
                                        </p:tgtEl>
                                        <p:attrNameLst>
                                          <p:attrName>ppt_x</p:attrName>
                                        </p:attrNameLst>
                                      </p:cBhvr>
                                      <p:tavLst>
                                        <p:tav tm="0">
                                          <p:val>
                                            <p:strVal val="#ppt_x"/>
                                          </p:val>
                                        </p:tav>
                                        <p:tav tm="100000">
                                          <p:val>
                                            <p:strVal val="#ppt_x"/>
                                          </p:val>
                                        </p:tav>
                                      </p:tavLst>
                                    </p:anim>
                                    <p:anim calcmode="lin" valueType="num">
                                      <p:cBhvr additive="base">
                                        <p:cTn id="119" dur="500" fill="hold"/>
                                        <p:tgtEl>
                                          <p:spTgt spid="36"/>
                                        </p:tgtEl>
                                        <p:attrNameLst>
                                          <p:attrName>ppt_y</p:attrName>
                                        </p:attrNameLst>
                                      </p:cBhvr>
                                      <p:tavLst>
                                        <p:tav tm="0">
                                          <p:val>
                                            <p:strVal val="#ppt_y+0.1"/>
                                          </p:val>
                                        </p:tav>
                                        <p:tav tm="100000">
                                          <p:val>
                                            <p:strVal val="#ppt_y"/>
                                          </p:val>
                                        </p:tav>
                                      </p:tavLst>
                                    </p:anim>
                                    <p:animEffect transition="in" filter="fade">
                                      <p:cBhvr>
                                        <p:cTn id="120" dur="500"/>
                                        <p:tgtEl>
                                          <p:spTgt spid="36"/>
                                        </p:tgtEl>
                                      </p:cBhvr>
                                    </p:animEffect>
                                  </p:childTnLst>
                                </p:cTn>
                              </p:par>
                              <p:par>
                                <p:cTn id="126" presetID="2" presetClass="entr" presetSubtype="4" fill="hold" grpId="0" nodeType="withEffect">
                                  <p:stCondLst>
                                    <p:cond delay="0"/>
                                  </p:stCondLst>
                                  <p:childTnLst>
                                    <p:set>
                                      <p:cBhvr>
                                        <p:cTn id="122" dur="1" fill="hold">
                                          <p:stCondLst>
                                            <p:cond delay="0"/>
                                          </p:stCondLst>
                                        </p:cTn>
                                        <p:tgtEl>
                                          <p:spTgt spid="37"/>
                                        </p:tgtEl>
                                        <p:attrNameLst>
                                          <p:attrName>style.visibility</p:attrName>
                                        </p:attrNameLst>
                                      </p:cBhvr>
                                      <p:to>
                                        <p:strVal val="visible"/>
                                      </p:to>
                                    </p:set>
                                    <p:anim calcmode="lin" valueType="num">
                                      <p:cBhvr additive="base">
                                        <p:cTn id="123" dur="500" fill="hold"/>
                                        <p:tgtEl>
                                          <p:spTgt spid="37"/>
                                        </p:tgtEl>
                                        <p:attrNameLst>
                                          <p:attrName>ppt_x</p:attrName>
                                        </p:attrNameLst>
                                      </p:cBhvr>
                                      <p:tavLst>
                                        <p:tav tm="0">
                                          <p:val>
                                            <p:strVal val="#ppt_x"/>
                                          </p:val>
                                        </p:tav>
                                        <p:tav tm="100000">
                                          <p:val>
                                            <p:strVal val="#ppt_x"/>
                                          </p:val>
                                        </p:tav>
                                      </p:tavLst>
                                    </p:anim>
                                    <p:anim calcmode="lin" valueType="num">
                                      <p:cBhvr additive="base">
                                        <p:cTn id="124" dur="500" fill="hold"/>
                                        <p:tgtEl>
                                          <p:spTgt spid="37"/>
                                        </p:tgtEl>
                                        <p:attrNameLst>
                                          <p:attrName>ppt_y</p:attrName>
                                        </p:attrNameLst>
                                      </p:cBhvr>
                                      <p:tavLst>
                                        <p:tav tm="0">
                                          <p:val>
                                            <p:strVal val="#ppt_y+0.1"/>
                                          </p:val>
                                        </p:tav>
                                        <p:tav tm="100000">
                                          <p:val>
                                            <p:strVal val="#ppt_y"/>
                                          </p:val>
                                        </p:tav>
                                      </p:tavLst>
                                    </p:anim>
                                    <p:animEffect transition="in" filter="fade">
                                      <p:cBhvr>
                                        <p:cTn id="12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k8"/>
          <p:cNvSpPr/>
          <p:nvPr/>
        </p:nvSpPr>
        <p:spPr>
          <a:xfrm>
            <a:off x="457200" y="155448"/>
            <a:ext cx="2143125" cy="22860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spc="60">
                <a:solidFill>
                  <a:srgbClr val="C2410C"/>
                </a:solidFill>
                <a:latin typeface="Segoe UI"/>
              </a:rPr>
              <a:t>BEFORE KAFKA  ·  STEP 5</a:t>
            </a:r>
          </a:p>
        </p:txBody>
      </p:sp>
      <p:sp>
        <p:nvSpPr>
          <p:cNvPr id="10" name="h9"/>
          <p:cNvSpPr txBox="1"/>
          <p:nvPr/>
        </p:nvSpPr>
        <p:spPr>
          <a:xfrm>
            <a:off x="457200" y="420624"/>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Everyone Builds Their Own</a:t>
            </a:r>
          </a:p>
        </p:txBody>
      </p:sp>
      <p:sp>
        <p:nvSpPr>
          <p:cNvPr id="11" name="sub10"/>
          <p:cNvSpPr txBox="1"/>
          <p:nvPr/>
        </p:nvSpPr>
        <p:spPr>
          <a:xfrm>
            <a:off x="457200" y="932688"/>
            <a:ext cx="8229600" cy="292608"/>
          </a:xfrm>
          <a:prstGeom prst="rect">
            <a:avLst/>
          </a:prstGeom>
          <a:noFill/>
        </p:spPr>
        <p:txBody>
          <a:bodyPr wrap="square" lIns="0" tIns="0" rIns="0" bIns="0" anchor="ctr">
            <a:spAutoFit/>
          </a:bodyPr>
          <a:lstStyle/>
          <a:p>
            <a:pPr algn="l"/>
            <a:r>
              <a:rPr sz="1150" b="0">
                <a:solidFill>
                  <a:srgbClr val="78716C"/>
                </a:solidFill>
                <a:latin typeface="Segoe UI"/>
              </a:rPr>
              <a:t>Colleagues solve similar problems for logs and user tracking - each with a new pub/sub</a:t>
            </a:r>
          </a:p>
        </p:txBody>
      </p:sp>
      <p:sp>
        <p:nvSpPr>
          <p:cNvPr id="12" name="a1u_nd11"/>
          <p:cNvSpPr/>
          <p:nvPr/>
        </p:nvSpPr>
        <p:spPr>
          <a:xfrm>
            <a:off x="457200" y="1325880"/>
            <a:ext cx="1508760" cy="420624"/>
          </a:xfrm>
          <a:prstGeom prst="roundRect">
            <a:avLst>
              <a:gd name="adj" fmla="val 1739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ndt12"/>
          <p:cNvSpPr txBox="1"/>
          <p:nvPr/>
        </p:nvSpPr>
        <p:spPr>
          <a:xfrm>
            <a:off x="502920" y="1325880"/>
            <a:ext cx="1417319" cy="420624"/>
          </a:xfrm>
          <a:prstGeom prst="rect">
            <a:avLst/>
          </a:prstGeom>
          <a:noFill/>
        </p:spPr>
        <p:txBody>
          <a:bodyPr wrap="square" lIns="0" tIns="0" rIns="0" bIns="0" anchor="ctr">
            <a:spAutoFit/>
          </a:bodyPr>
          <a:lstStyle/>
          <a:p>
            <a:pPr algn="ctr"/>
            <a:r>
              <a:rPr sz="850" b="1">
                <a:solidFill>
                  <a:srgbClr val="1C1917"/>
                </a:solidFill>
                <a:latin typeface="Segoe UI"/>
              </a:rPr>
              <a:t>Frontend server</a:t>
            </a:r>
          </a:p>
        </p:txBody>
      </p:sp>
      <p:sp>
        <p:nvSpPr>
          <p:cNvPr id="14" name="a1ud90_nd13"/>
          <p:cNvSpPr/>
          <p:nvPr/>
        </p:nvSpPr>
        <p:spPr>
          <a:xfrm>
            <a:off x="2137410" y="1325880"/>
            <a:ext cx="1508760" cy="420624"/>
          </a:xfrm>
          <a:prstGeom prst="roundRect">
            <a:avLst>
              <a:gd name="adj" fmla="val 1739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90_ndt14"/>
          <p:cNvSpPr txBox="1"/>
          <p:nvPr/>
        </p:nvSpPr>
        <p:spPr>
          <a:xfrm>
            <a:off x="2183129" y="1325880"/>
            <a:ext cx="1417319" cy="420624"/>
          </a:xfrm>
          <a:prstGeom prst="rect">
            <a:avLst/>
          </a:prstGeom>
          <a:noFill/>
        </p:spPr>
        <p:txBody>
          <a:bodyPr wrap="square" lIns="0" tIns="0" rIns="0" bIns="0" anchor="ctr">
            <a:spAutoFit/>
          </a:bodyPr>
          <a:lstStyle/>
          <a:p>
            <a:pPr algn="ctr"/>
            <a:r>
              <a:rPr sz="850" b="1">
                <a:solidFill>
                  <a:srgbClr val="1C1917"/>
                </a:solidFill>
                <a:latin typeface="Segoe UI"/>
              </a:rPr>
              <a:t>Database server</a:t>
            </a:r>
          </a:p>
        </p:txBody>
      </p:sp>
      <p:sp>
        <p:nvSpPr>
          <p:cNvPr id="16" name="a1ud180_nd15"/>
          <p:cNvSpPr/>
          <p:nvPr/>
        </p:nvSpPr>
        <p:spPr>
          <a:xfrm>
            <a:off x="3817620" y="1325880"/>
            <a:ext cx="1508760" cy="420624"/>
          </a:xfrm>
          <a:prstGeom prst="roundRect">
            <a:avLst>
              <a:gd name="adj" fmla="val 1739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180_ndt16"/>
          <p:cNvSpPr txBox="1"/>
          <p:nvPr/>
        </p:nvSpPr>
        <p:spPr>
          <a:xfrm>
            <a:off x="3863339" y="1325880"/>
            <a:ext cx="1417319" cy="420624"/>
          </a:xfrm>
          <a:prstGeom prst="rect">
            <a:avLst/>
          </a:prstGeom>
          <a:noFill/>
        </p:spPr>
        <p:txBody>
          <a:bodyPr wrap="square" lIns="0" tIns="0" rIns="0" bIns="0" anchor="ctr">
            <a:spAutoFit/>
          </a:bodyPr>
          <a:lstStyle/>
          <a:p>
            <a:pPr algn="ctr"/>
            <a:r>
              <a:rPr sz="850" b="1">
                <a:solidFill>
                  <a:srgbClr val="1C1917"/>
                </a:solidFill>
                <a:latin typeface="Segoe UI"/>
              </a:rPr>
              <a:t>Chat server</a:t>
            </a:r>
          </a:p>
        </p:txBody>
      </p:sp>
      <p:sp>
        <p:nvSpPr>
          <p:cNvPr id="18" name="a1ud270_nd17"/>
          <p:cNvSpPr/>
          <p:nvPr/>
        </p:nvSpPr>
        <p:spPr>
          <a:xfrm>
            <a:off x="5497829" y="1325880"/>
            <a:ext cx="1508760" cy="420624"/>
          </a:xfrm>
          <a:prstGeom prst="roundRect">
            <a:avLst>
              <a:gd name="adj" fmla="val 1739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270_ndt18"/>
          <p:cNvSpPr txBox="1"/>
          <p:nvPr/>
        </p:nvSpPr>
        <p:spPr>
          <a:xfrm>
            <a:off x="5543549" y="1325880"/>
            <a:ext cx="1417319" cy="420624"/>
          </a:xfrm>
          <a:prstGeom prst="rect">
            <a:avLst/>
          </a:prstGeom>
          <a:noFill/>
        </p:spPr>
        <p:txBody>
          <a:bodyPr wrap="square" lIns="0" tIns="0" rIns="0" bIns="0" anchor="ctr">
            <a:spAutoFit/>
          </a:bodyPr>
          <a:lstStyle/>
          <a:p>
            <a:pPr algn="ctr"/>
            <a:r>
              <a:rPr sz="850" b="1">
                <a:solidFill>
                  <a:srgbClr val="1C1917"/>
                </a:solidFill>
                <a:latin typeface="Segoe UI"/>
              </a:rPr>
              <a:t>Mail server</a:t>
            </a:r>
          </a:p>
        </p:txBody>
      </p:sp>
      <p:sp>
        <p:nvSpPr>
          <p:cNvPr id="20" name="a1ud360_nd19"/>
          <p:cNvSpPr/>
          <p:nvPr/>
        </p:nvSpPr>
        <p:spPr>
          <a:xfrm>
            <a:off x="7178040" y="1325880"/>
            <a:ext cx="1508760" cy="420624"/>
          </a:xfrm>
          <a:prstGeom prst="roundRect">
            <a:avLst>
              <a:gd name="adj" fmla="val 1739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360_ndt20"/>
          <p:cNvSpPr txBox="1"/>
          <p:nvPr/>
        </p:nvSpPr>
        <p:spPr>
          <a:xfrm>
            <a:off x="7223759" y="1325880"/>
            <a:ext cx="1417319" cy="420624"/>
          </a:xfrm>
          <a:prstGeom prst="rect">
            <a:avLst/>
          </a:prstGeom>
          <a:noFill/>
        </p:spPr>
        <p:txBody>
          <a:bodyPr wrap="square" lIns="0" tIns="0" rIns="0" bIns="0" anchor="ctr">
            <a:spAutoFit/>
          </a:bodyPr>
          <a:lstStyle/>
          <a:p>
            <a:pPr algn="ctr"/>
            <a:r>
              <a:rPr sz="850" b="1">
                <a:solidFill>
                  <a:srgbClr val="1C1917"/>
                </a:solidFill>
                <a:latin typeface="Segoe UI"/>
              </a:rPr>
              <a:t>Payment server</a:t>
            </a:r>
          </a:p>
        </p:txBody>
      </p:sp>
      <p:cxnSp>
        <p:nvCxnSpPr>
          <p:cNvPr id="22" name="a2f_wr21"/>
          <p:cNvCxnSpPr/>
          <p:nvPr/>
        </p:nvCxnSpPr>
        <p:spPr>
          <a:xfrm>
            <a:off x="1211580" y="1746504"/>
            <a:ext cx="0" cy="155448"/>
          </a:xfrm>
          <a:prstGeom prst="line">
            <a:avLst/>
          </a:prstGeom>
          <a:ln w="12700">
            <a:solidFill>
              <a:srgbClr val="78716C"/>
            </a:solidFill>
          </a:ln>
        </p:spPr>
        <p:style>
          <a:lnRef idx="2">
            <a:schemeClr val="accent1"/>
          </a:lnRef>
          <a:fillRef idx="0">
            <a:schemeClr val="accent1"/>
          </a:fillRef>
          <a:effectRef idx="1">
            <a:schemeClr val="accent1"/>
          </a:effectRef>
          <a:fontRef idx="minor">
            <a:schemeClr val="tx1"/>
          </a:fontRef>
        </p:style>
      </p:cxnSp>
      <p:cxnSp>
        <p:nvCxnSpPr>
          <p:cNvPr id="23" name="a2f_wr22"/>
          <p:cNvCxnSpPr/>
          <p:nvPr/>
        </p:nvCxnSpPr>
        <p:spPr>
          <a:xfrm>
            <a:off x="2891789" y="1746504"/>
            <a:ext cx="0" cy="155448"/>
          </a:xfrm>
          <a:prstGeom prst="line">
            <a:avLst/>
          </a:prstGeom>
          <a:ln w="12700">
            <a:solidFill>
              <a:srgbClr val="78716C"/>
            </a:solidFill>
          </a:ln>
        </p:spPr>
        <p:style>
          <a:lnRef idx="2">
            <a:schemeClr val="accent1"/>
          </a:lnRef>
          <a:fillRef idx="0">
            <a:schemeClr val="accent1"/>
          </a:fillRef>
          <a:effectRef idx="1">
            <a:schemeClr val="accent1"/>
          </a:effectRef>
          <a:fontRef idx="minor">
            <a:schemeClr val="tx1"/>
          </a:fontRef>
        </p:style>
      </p:cxnSp>
      <p:cxnSp>
        <p:nvCxnSpPr>
          <p:cNvPr id="24" name="a2f_wr23"/>
          <p:cNvCxnSpPr/>
          <p:nvPr/>
        </p:nvCxnSpPr>
        <p:spPr>
          <a:xfrm>
            <a:off x="4572000" y="1746504"/>
            <a:ext cx="0" cy="155448"/>
          </a:xfrm>
          <a:prstGeom prst="line">
            <a:avLst/>
          </a:prstGeom>
          <a:ln w="12700">
            <a:solidFill>
              <a:srgbClr val="78716C"/>
            </a:solidFill>
          </a:ln>
        </p:spPr>
        <p:style>
          <a:lnRef idx="2">
            <a:schemeClr val="accent1"/>
          </a:lnRef>
          <a:fillRef idx="0">
            <a:schemeClr val="accent1"/>
          </a:fillRef>
          <a:effectRef idx="1">
            <a:schemeClr val="accent1"/>
          </a:effectRef>
          <a:fontRef idx="minor">
            <a:schemeClr val="tx1"/>
          </a:fontRef>
        </p:style>
      </p:cxnSp>
      <p:cxnSp>
        <p:nvCxnSpPr>
          <p:cNvPr id="25" name="a2f_wr24"/>
          <p:cNvCxnSpPr/>
          <p:nvPr/>
        </p:nvCxnSpPr>
        <p:spPr>
          <a:xfrm>
            <a:off x="6252209" y="1746504"/>
            <a:ext cx="0" cy="155448"/>
          </a:xfrm>
          <a:prstGeom prst="line">
            <a:avLst/>
          </a:prstGeom>
          <a:ln w="12700">
            <a:solidFill>
              <a:srgbClr val="78716C"/>
            </a:solidFill>
          </a:ln>
        </p:spPr>
        <p:style>
          <a:lnRef idx="2">
            <a:schemeClr val="accent1"/>
          </a:lnRef>
          <a:fillRef idx="0">
            <a:schemeClr val="accent1"/>
          </a:fillRef>
          <a:effectRef idx="1">
            <a:schemeClr val="accent1"/>
          </a:effectRef>
          <a:fontRef idx="minor">
            <a:schemeClr val="tx1"/>
          </a:fontRef>
        </p:style>
      </p:cxnSp>
      <p:cxnSp>
        <p:nvCxnSpPr>
          <p:cNvPr id="26" name="a2f_wr25"/>
          <p:cNvCxnSpPr/>
          <p:nvPr/>
        </p:nvCxnSpPr>
        <p:spPr>
          <a:xfrm>
            <a:off x="7932419" y="1746504"/>
            <a:ext cx="0" cy="155448"/>
          </a:xfrm>
          <a:prstGeom prst="line">
            <a:avLst/>
          </a:prstGeom>
          <a:ln w="12700">
            <a:solidFill>
              <a:srgbClr val="78716C"/>
            </a:solidFill>
          </a:ln>
        </p:spPr>
        <p:style>
          <a:lnRef idx="2">
            <a:schemeClr val="accent1"/>
          </a:lnRef>
          <a:fillRef idx="0">
            <a:schemeClr val="accent1"/>
          </a:fillRef>
          <a:effectRef idx="1">
            <a:schemeClr val="accent1"/>
          </a:effectRef>
          <a:fontRef idx="minor">
            <a:schemeClr val="tx1"/>
          </a:fontRef>
        </p:style>
      </p:cxnSp>
      <p:cxnSp>
        <p:nvCxnSpPr>
          <p:cNvPr id="27" name="a2f_wr26"/>
          <p:cNvCxnSpPr/>
          <p:nvPr/>
        </p:nvCxnSpPr>
        <p:spPr>
          <a:xfrm>
            <a:off x="1211580" y="1901952"/>
            <a:ext cx="6720839" cy="0"/>
          </a:xfrm>
          <a:prstGeom prst="line">
            <a:avLst/>
          </a:prstGeom>
          <a:ln w="12700">
            <a:solidFill>
              <a:srgbClr val="78716C"/>
            </a:solidFill>
          </a:ln>
        </p:spPr>
        <p:style>
          <a:lnRef idx="2">
            <a:schemeClr val="accent1"/>
          </a:lnRef>
          <a:fillRef idx="0">
            <a:schemeClr val="accent1"/>
          </a:fillRef>
          <a:effectRef idx="1">
            <a:schemeClr val="accent1"/>
          </a:effectRef>
          <a:fontRef idx="minor">
            <a:schemeClr val="tx1"/>
          </a:fontRef>
        </p:style>
      </p:cxnSp>
      <p:cxnSp>
        <p:nvCxnSpPr>
          <p:cNvPr id="28" name="a2u_ar27"/>
          <p:cNvCxnSpPr/>
          <p:nvPr/>
        </p:nvCxnSpPr>
        <p:spPr>
          <a:xfrm>
            <a:off x="1737360" y="1901952"/>
            <a:ext cx="0" cy="201168"/>
          </a:xfrm>
          <a:prstGeom prst="line">
            <a:avLst/>
          </a:prstGeom>
          <a:ln w="15875">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a2u_nd28"/>
          <p:cNvSpPr/>
          <p:nvPr/>
        </p:nvSpPr>
        <p:spPr>
          <a:xfrm>
            <a:off x="731520" y="2121408"/>
            <a:ext cx="2011680" cy="530352"/>
          </a:xfrm>
          <a:prstGeom prst="roundRect">
            <a:avLst>
              <a:gd name="adj" fmla="val 13793"/>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u_ndt29"/>
          <p:cNvSpPr txBox="1"/>
          <p:nvPr/>
        </p:nvSpPr>
        <p:spPr>
          <a:xfrm>
            <a:off x="777240" y="2121408"/>
            <a:ext cx="1920240" cy="530352"/>
          </a:xfrm>
          <a:prstGeom prst="rect">
            <a:avLst/>
          </a:prstGeom>
          <a:noFill/>
        </p:spPr>
        <p:txBody>
          <a:bodyPr wrap="square" lIns="0" tIns="0" rIns="0" bIns="0" anchor="ctr">
            <a:spAutoFit/>
          </a:bodyPr>
          <a:lstStyle/>
          <a:p>
            <a:pPr algn="ctr"/>
            <a:r>
              <a:rPr sz="950" b="1">
                <a:solidFill>
                  <a:srgbClr val="1C1917"/>
                </a:solidFill>
                <a:latin typeface="Segoe UI"/>
              </a:rPr>
              <a:t>Metrics pub/sub</a:t>
            </a:r>
          </a:p>
        </p:txBody>
      </p:sp>
      <p:sp>
        <p:nvSpPr>
          <p:cNvPr id="31" name="a2ud150_nd30"/>
          <p:cNvSpPr/>
          <p:nvPr/>
        </p:nvSpPr>
        <p:spPr>
          <a:xfrm>
            <a:off x="731520" y="2971800"/>
            <a:ext cx="2011680" cy="502920"/>
          </a:xfrm>
          <a:prstGeom prst="roundRect">
            <a:avLst>
              <a:gd name="adj" fmla="val 14545"/>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ud150_ndt31"/>
          <p:cNvSpPr txBox="1"/>
          <p:nvPr/>
        </p:nvSpPr>
        <p:spPr>
          <a:xfrm>
            <a:off x="777240" y="2971800"/>
            <a:ext cx="1920240" cy="502920"/>
          </a:xfrm>
          <a:prstGeom prst="rect">
            <a:avLst/>
          </a:prstGeom>
          <a:noFill/>
        </p:spPr>
        <p:txBody>
          <a:bodyPr wrap="square" lIns="0" tIns="0" rIns="0" bIns="0" anchor="ctr">
            <a:spAutoFit/>
          </a:bodyPr>
          <a:lstStyle/>
          <a:p>
            <a:pPr algn="ctr"/>
            <a:r>
              <a:rPr sz="850" b="1">
                <a:solidFill>
                  <a:srgbClr val="1C1917"/>
                </a:solidFill>
                <a:latin typeface="Segoe UI"/>
              </a:rPr>
              <a:t>Metrics server</a:t>
            </a:r>
          </a:p>
        </p:txBody>
      </p:sp>
      <p:cxnSp>
        <p:nvCxnSpPr>
          <p:cNvPr id="33" name="a2ud150_ar32"/>
          <p:cNvCxnSpPr/>
          <p:nvPr/>
        </p:nvCxnSpPr>
        <p:spPr>
          <a:xfrm>
            <a:off x="1737360" y="2670048"/>
            <a:ext cx="0" cy="283464"/>
          </a:xfrm>
          <a:prstGeom prst="line">
            <a:avLst/>
          </a:prstGeom>
          <a:ln w="1270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a3u_ar33"/>
          <p:cNvCxnSpPr/>
          <p:nvPr/>
        </p:nvCxnSpPr>
        <p:spPr>
          <a:xfrm>
            <a:off x="4572000" y="1901952"/>
            <a:ext cx="0" cy="201168"/>
          </a:xfrm>
          <a:prstGeom prst="line">
            <a:avLst/>
          </a:prstGeom>
          <a:ln w="15875">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a3u_nd34"/>
          <p:cNvSpPr/>
          <p:nvPr/>
        </p:nvSpPr>
        <p:spPr>
          <a:xfrm>
            <a:off x="3566160" y="2121408"/>
            <a:ext cx="2011680" cy="530352"/>
          </a:xfrm>
          <a:prstGeom prst="roundRect">
            <a:avLst>
              <a:gd name="adj" fmla="val 13793"/>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3u_ndt35"/>
          <p:cNvSpPr txBox="1"/>
          <p:nvPr/>
        </p:nvSpPr>
        <p:spPr>
          <a:xfrm>
            <a:off x="3611879" y="2121408"/>
            <a:ext cx="1920240" cy="530352"/>
          </a:xfrm>
          <a:prstGeom prst="rect">
            <a:avLst/>
          </a:prstGeom>
          <a:noFill/>
        </p:spPr>
        <p:txBody>
          <a:bodyPr wrap="square" lIns="0" tIns="0" rIns="0" bIns="0" anchor="ctr">
            <a:spAutoFit/>
          </a:bodyPr>
          <a:lstStyle/>
          <a:p>
            <a:pPr algn="ctr"/>
            <a:r>
              <a:rPr sz="950" b="1">
                <a:solidFill>
                  <a:srgbClr val="1C1917"/>
                </a:solidFill>
                <a:latin typeface="Segoe UI"/>
              </a:rPr>
              <a:t>Logging pub/sub</a:t>
            </a:r>
          </a:p>
        </p:txBody>
      </p:sp>
      <p:sp>
        <p:nvSpPr>
          <p:cNvPr id="37" name="a3ud150_nd36"/>
          <p:cNvSpPr/>
          <p:nvPr/>
        </p:nvSpPr>
        <p:spPr>
          <a:xfrm>
            <a:off x="3246120" y="2971800"/>
            <a:ext cx="1280160" cy="502920"/>
          </a:xfrm>
          <a:prstGeom prst="roundRect">
            <a:avLst>
              <a:gd name="adj" fmla="val 14545"/>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3ud150_ndt37"/>
          <p:cNvSpPr txBox="1"/>
          <p:nvPr/>
        </p:nvSpPr>
        <p:spPr>
          <a:xfrm>
            <a:off x="3291839" y="2971800"/>
            <a:ext cx="1188719" cy="502920"/>
          </a:xfrm>
          <a:prstGeom prst="rect">
            <a:avLst/>
          </a:prstGeom>
          <a:noFill/>
        </p:spPr>
        <p:txBody>
          <a:bodyPr wrap="square" lIns="0" tIns="0" rIns="0" bIns="0" anchor="ctr">
            <a:spAutoFit/>
          </a:bodyPr>
          <a:lstStyle/>
          <a:p>
            <a:pPr algn="ctr"/>
            <a:r>
              <a:rPr sz="850" b="1">
                <a:solidFill>
                  <a:srgbClr val="1C1917"/>
                </a:solidFill>
                <a:latin typeface="Segoe UI"/>
              </a:rPr>
              <a:t>Security analysis</a:t>
            </a:r>
          </a:p>
        </p:txBody>
      </p:sp>
      <p:cxnSp>
        <p:nvCxnSpPr>
          <p:cNvPr id="39" name="a3ud150_ar38"/>
          <p:cNvCxnSpPr/>
          <p:nvPr/>
        </p:nvCxnSpPr>
        <p:spPr>
          <a:xfrm flipH="1">
            <a:off x="3886200" y="2670048"/>
            <a:ext cx="685800" cy="283464"/>
          </a:xfrm>
          <a:prstGeom prst="line">
            <a:avLst/>
          </a:prstGeom>
          <a:ln w="1270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a3ud150_nd39"/>
          <p:cNvSpPr/>
          <p:nvPr/>
        </p:nvSpPr>
        <p:spPr>
          <a:xfrm>
            <a:off x="4617720" y="2971800"/>
            <a:ext cx="1280160" cy="502920"/>
          </a:xfrm>
          <a:prstGeom prst="roundRect">
            <a:avLst>
              <a:gd name="adj" fmla="val 14545"/>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3ud150_ndt40"/>
          <p:cNvSpPr txBox="1"/>
          <p:nvPr/>
        </p:nvSpPr>
        <p:spPr>
          <a:xfrm>
            <a:off x="4663440" y="2971800"/>
            <a:ext cx="1188719" cy="502920"/>
          </a:xfrm>
          <a:prstGeom prst="rect">
            <a:avLst/>
          </a:prstGeom>
          <a:noFill/>
        </p:spPr>
        <p:txBody>
          <a:bodyPr wrap="square" lIns="0" tIns="0" rIns="0" bIns="0" anchor="ctr">
            <a:spAutoFit/>
          </a:bodyPr>
          <a:lstStyle/>
          <a:p>
            <a:pPr algn="ctr"/>
            <a:r>
              <a:rPr sz="850" b="1">
                <a:solidFill>
                  <a:srgbClr val="1C1917"/>
                </a:solidFill>
                <a:latin typeface="Segoe UI"/>
              </a:rPr>
              <a:t>Log search</a:t>
            </a:r>
          </a:p>
        </p:txBody>
      </p:sp>
      <p:cxnSp>
        <p:nvCxnSpPr>
          <p:cNvPr id="42" name="a3ud150_ar41"/>
          <p:cNvCxnSpPr/>
          <p:nvPr/>
        </p:nvCxnSpPr>
        <p:spPr>
          <a:xfrm>
            <a:off x="4572000" y="2670048"/>
            <a:ext cx="685800" cy="283464"/>
          </a:xfrm>
          <a:prstGeom prst="line">
            <a:avLst/>
          </a:prstGeom>
          <a:ln w="1270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a4u_ar42"/>
          <p:cNvCxnSpPr/>
          <p:nvPr/>
        </p:nvCxnSpPr>
        <p:spPr>
          <a:xfrm>
            <a:off x="7406640" y="1901952"/>
            <a:ext cx="0" cy="201168"/>
          </a:xfrm>
          <a:prstGeom prst="line">
            <a:avLst/>
          </a:prstGeom>
          <a:ln w="15875">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a4u_nd43"/>
          <p:cNvSpPr/>
          <p:nvPr/>
        </p:nvSpPr>
        <p:spPr>
          <a:xfrm>
            <a:off x="6400800" y="2121408"/>
            <a:ext cx="2011680" cy="530352"/>
          </a:xfrm>
          <a:prstGeom prst="roundRect">
            <a:avLst>
              <a:gd name="adj" fmla="val 13793"/>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4u_ndt44"/>
          <p:cNvSpPr txBox="1"/>
          <p:nvPr/>
        </p:nvSpPr>
        <p:spPr>
          <a:xfrm>
            <a:off x="6446520" y="2121408"/>
            <a:ext cx="1920240" cy="530352"/>
          </a:xfrm>
          <a:prstGeom prst="rect">
            <a:avLst/>
          </a:prstGeom>
          <a:noFill/>
        </p:spPr>
        <p:txBody>
          <a:bodyPr wrap="square" lIns="0" tIns="0" rIns="0" bIns="0" anchor="ctr">
            <a:spAutoFit/>
          </a:bodyPr>
          <a:lstStyle/>
          <a:p>
            <a:pPr algn="ctr"/>
            <a:r>
              <a:rPr sz="950" b="1">
                <a:solidFill>
                  <a:srgbClr val="1C1917"/>
                </a:solidFill>
                <a:latin typeface="Segoe UI"/>
              </a:rPr>
              <a:t>Tracking pub/sub</a:t>
            </a:r>
          </a:p>
        </p:txBody>
      </p:sp>
      <p:sp>
        <p:nvSpPr>
          <p:cNvPr id="46" name="a4ud150_nd45"/>
          <p:cNvSpPr/>
          <p:nvPr/>
        </p:nvSpPr>
        <p:spPr>
          <a:xfrm>
            <a:off x="6035040" y="2971800"/>
            <a:ext cx="1280160" cy="502920"/>
          </a:xfrm>
          <a:prstGeom prst="roundRect">
            <a:avLst>
              <a:gd name="adj" fmla="val 14545"/>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4ud150_ndt46"/>
          <p:cNvSpPr txBox="1"/>
          <p:nvPr/>
        </p:nvSpPr>
        <p:spPr>
          <a:xfrm>
            <a:off x="6080759" y="2971800"/>
            <a:ext cx="1188719" cy="502920"/>
          </a:xfrm>
          <a:prstGeom prst="rect">
            <a:avLst/>
          </a:prstGeom>
          <a:noFill/>
        </p:spPr>
        <p:txBody>
          <a:bodyPr wrap="square" lIns="0" tIns="0" rIns="0" bIns="0" anchor="ctr">
            <a:spAutoFit/>
          </a:bodyPr>
          <a:lstStyle/>
          <a:p>
            <a:pPr algn="ctr"/>
            <a:r>
              <a:rPr sz="850" b="1">
                <a:solidFill>
                  <a:srgbClr val="1C1917"/>
                </a:solidFill>
                <a:latin typeface="Segoe UI"/>
              </a:rPr>
              <a:t>ML &amp; AI server</a:t>
            </a:r>
          </a:p>
        </p:txBody>
      </p:sp>
      <p:cxnSp>
        <p:nvCxnSpPr>
          <p:cNvPr id="48" name="a4ud150_ar47"/>
          <p:cNvCxnSpPr/>
          <p:nvPr/>
        </p:nvCxnSpPr>
        <p:spPr>
          <a:xfrm flipH="1">
            <a:off x="6675120" y="2670048"/>
            <a:ext cx="731520" cy="283464"/>
          </a:xfrm>
          <a:prstGeom prst="line">
            <a:avLst/>
          </a:prstGeom>
          <a:ln w="127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a4ud150_nd48"/>
          <p:cNvSpPr/>
          <p:nvPr/>
        </p:nvSpPr>
        <p:spPr>
          <a:xfrm>
            <a:off x="7406640" y="2971800"/>
            <a:ext cx="1280160" cy="502920"/>
          </a:xfrm>
          <a:prstGeom prst="roundRect">
            <a:avLst>
              <a:gd name="adj" fmla="val 14545"/>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4ud150_ndt49"/>
          <p:cNvSpPr txBox="1"/>
          <p:nvPr/>
        </p:nvSpPr>
        <p:spPr>
          <a:xfrm>
            <a:off x="7452360" y="2971800"/>
            <a:ext cx="1188719" cy="502920"/>
          </a:xfrm>
          <a:prstGeom prst="rect">
            <a:avLst/>
          </a:prstGeom>
          <a:noFill/>
        </p:spPr>
        <p:txBody>
          <a:bodyPr wrap="square" lIns="0" tIns="0" rIns="0" bIns="0" anchor="ctr">
            <a:spAutoFit/>
          </a:bodyPr>
          <a:lstStyle/>
          <a:p>
            <a:pPr algn="ctr"/>
            <a:r>
              <a:rPr sz="850" b="1">
                <a:solidFill>
                  <a:srgbClr val="1C1917"/>
                </a:solidFill>
                <a:latin typeface="Segoe UI"/>
              </a:rPr>
              <a:t>Management reports</a:t>
            </a:r>
          </a:p>
        </p:txBody>
      </p:sp>
      <p:cxnSp>
        <p:nvCxnSpPr>
          <p:cNvPr id="51" name="a4ud150_ar50"/>
          <p:cNvCxnSpPr/>
          <p:nvPr/>
        </p:nvCxnSpPr>
        <p:spPr>
          <a:xfrm>
            <a:off x="7406640" y="2670048"/>
            <a:ext cx="640079" cy="283464"/>
          </a:xfrm>
          <a:prstGeom prst="line">
            <a:avLst/>
          </a:prstGeom>
          <a:ln w="127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a5u_nb51"/>
          <p:cNvSpPr/>
          <p:nvPr/>
        </p:nvSpPr>
        <p:spPr>
          <a:xfrm>
            <a:off x="457200" y="3703320"/>
            <a:ext cx="8229600" cy="658368"/>
          </a:xfrm>
          <a:prstGeom prst="roundRect">
            <a:avLst>
              <a:gd name="adj" fmla="val 11111"/>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5u_nacc52"/>
          <p:cNvSpPr/>
          <p:nvPr/>
        </p:nvSpPr>
        <p:spPr>
          <a:xfrm>
            <a:off x="457200" y="3703320"/>
            <a:ext cx="54864" cy="65836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5u_nt53"/>
          <p:cNvSpPr txBox="1"/>
          <p:nvPr/>
        </p:nvSpPr>
        <p:spPr>
          <a:xfrm>
            <a:off x="658368" y="3703320"/>
            <a:ext cx="7827264" cy="658368"/>
          </a:xfrm>
          <a:prstGeom prst="rect">
            <a:avLst/>
          </a:prstGeom>
          <a:noFill/>
        </p:spPr>
        <p:txBody>
          <a:bodyPr wrap="square" lIns="0" tIns="0" rIns="0" bIns="0" anchor="ctr">
            <a:spAutoFit/>
          </a:bodyPr>
          <a:lstStyle/>
          <a:p>
            <a:pPr algn="l"/>
            <a:r>
              <a:rPr sz="900" b="1">
                <a:solidFill>
                  <a:srgbClr val="C2410C"/>
                </a:solidFill>
                <a:latin typeface="Segoe UI"/>
              </a:rPr>
              <a:t>i  </a:t>
            </a:r>
            <a:r>
              <a:rPr sz="900" b="0">
                <a:solidFill>
                  <a:srgbClr val="44403C"/>
                </a:solidFill>
                <a:latin typeface="Segoe UI"/>
              </a:rPr>
              <a:t>One colleague handles log messages; another tracks user behaviour on the website for the machine-learning team and for management reports. Each builds a pub/sub of their own.</a:t>
            </a:r>
          </a:p>
        </p:txBody>
      </p:sp>
      <p:sp>
        <p:nvSpPr>
          <p:cNvPr id="55" name="ft5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26</a:t>
            </a:r>
          </a:p>
        </p:txBody>
      </p:sp>
      <p:sp>
        <p:nvSpPr>
          <p:cNvPr id="56" name="ft5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ft5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58" name="ft5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 calcmode="lin" valueType="num">
                                      <p:cBhvr additive="base">
                                        <p:cTn id="6" dur="500" fill="hold"/>
                                        <p:tgtEl>
                                          <p:spTgt spid="12"/>
                                        </p:tgtEl>
                                        <p:attrNameLst>
                                          <p:attrName>ppt_x</p:attrName>
                                        </p:attrNameLst>
                                      </p:cBhvr>
                                      <p:tavLst>
                                        <p:tav tm="0">
                                          <p:val>
                                            <p:strVal val="#ppt_x"/>
                                          </p:val>
                                        </p:tav>
                                        <p:tav tm="100000">
                                          <p:val>
                                            <p:strVal val="#ppt_x"/>
                                          </p:val>
                                        </p:tav>
                                      </p:tavLst>
                                    </p:anim>
                                    <p:anim calcmode="lin" valueType="num">
                                      <p:cBhvr additive="base">
                                        <p:cTn id="7" dur="500" fill="hold"/>
                                        <p:tgtEl>
                                          <p:spTgt spid="12"/>
                                        </p:tgtEl>
                                        <p:attrNameLst>
                                          <p:attrName>ppt_y</p:attrName>
                                        </p:attrNameLst>
                                      </p:cBhvr>
                                      <p:tavLst>
                                        <p:tav tm="0">
                                          <p:val>
                                            <p:strVal val="#ppt_y+0.1"/>
                                          </p:val>
                                        </p:tav>
                                        <p:tav tm="100000">
                                          <p:val>
                                            <p:strVal val="#ppt_y"/>
                                          </p:val>
                                        </p:tav>
                                      </p:tavLst>
                                    </p:anim>
                                    <p:animEffect transition="in" filter="fade">
                                      <p:cBhvr>
                                        <p:cTn id="8" dur="500"/>
                                        <p:tgtEl>
                                          <p:spTgt spid="12"/>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ppt_y+0.1"/>
                                          </p:val>
                                        </p:tav>
                                        <p:tav tm="100000">
                                          <p:val>
                                            <p:strVal val="#ppt_y"/>
                                          </p:val>
                                        </p:tav>
                                      </p:tavLst>
                                    </p:anim>
                                    <p:animEffect transition="in" filter="fade">
                                      <p:cBhvr>
                                        <p:cTn id="13" dur="500"/>
                                        <p:tgtEl>
                                          <p:spTgt spid="13"/>
                                        </p:tgtEl>
                                      </p:cBhvr>
                                    </p:animEffect>
                                  </p:childTnLst>
                                </p:cTn>
                              </p:par>
                              <p:par>
                                <p:cTn id="19" presetID="2" presetClass="entr" presetSubtype="4" fill="hold" grpId="0" nodeType="withEffect">
                                  <p:stCondLst>
                                    <p:cond delay="9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ppt_y+0.1"/>
                                          </p:val>
                                        </p:tav>
                                        <p:tav tm="100000">
                                          <p:val>
                                            <p:strVal val="#ppt_y"/>
                                          </p:val>
                                        </p:tav>
                                      </p:tavLst>
                                    </p:anim>
                                    <p:animEffect transition="in" filter="fade">
                                      <p:cBhvr>
                                        <p:cTn id="18" dur="500"/>
                                        <p:tgtEl>
                                          <p:spTgt spid="14"/>
                                        </p:tgtEl>
                                      </p:cBhvr>
                                    </p:animEffect>
                                  </p:childTnLst>
                                </p:cTn>
                              </p:par>
                              <p:par>
                                <p:cTn id="24" presetID="2" presetClass="entr" presetSubtype="4" fill="hold" grpId="0" nodeType="withEffect">
                                  <p:stCondLst>
                                    <p:cond delay="9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18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ppt_y+0.1"/>
                                          </p:val>
                                        </p:tav>
                                        <p:tav tm="100000">
                                          <p:val>
                                            <p:strVal val="#ppt_y"/>
                                          </p:val>
                                        </p:tav>
                                      </p:tavLst>
                                    </p:anim>
                                    <p:animEffect transition="in" filter="fade">
                                      <p:cBhvr>
                                        <p:cTn id="28" dur="500"/>
                                        <p:tgtEl>
                                          <p:spTgt spid="16"/>
                                        </p:tgtEl>
                                      </p:cBhvr>
                                    </p:animEffect>
                                  </p:childTnLst>
                                </p:cTn>
                              </p:par>
                              <p:par>
                                <p:cTn id="34" presetID="2" presetClass="entr" presetSubtype="4" fill="hold" grpId="0" nodeType="withEffect">
                                  <p:stCondLst>
                                    <p:cond delay="18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27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ppt_y+0.1"/>
                                          </p:val>
                                        </p:tav>
                                        <p:tav tm="100000">
                                          <p:val>
                                            <p:strVal val="#ppt_y"/>
                                          </p:val>
                                        </p:tav>
                                      </p:tavLst>
                                    </p:anim>
                                    <p:animEffect transition="in" filter="fade">
                                      <p:cBhvr>
                                        <p:cTn id="38" dur="500"/>
                                        <p:tgtEl>
                                          <p:spTgt spid="18"/>
                                        </p:tgtEl>
                                      </p:cBhvr>
                                    </p:animEffect>
                                  </p:childTnLst>
                                </p:cTn>
                              </p:par>
                              <p:par>
                                <p:cTn id="44" presetID="2" presetClass="entr" presetSubtype="4" fill="hold" grpId="0" nodeType="withEffect">
                                  <p:stCondLst>
                                    <p:cond delay="270"/>
                                  </p:stCondLst>
                                  <p:childTnLst>
                                    <p:set>
                                      <p:cBhvr>
                                        <p:cTn id="40" dur="1" fill="hold">
                                          <p:stCondLst>
                                            <p:cond delay="0"/>
                                          </p:stCondLst>
                                        </p:cTn>
                                        <p:tgtEl>
                                          <p:spTgt spid="19"/>
                                        </p:tgtEl>
                                        <p:attrNameLst>
                                          <p:attrName>style.visibility</p:attrName>
                                        </p:attrNameLst>
                                      </p:cBhvr>
                                      <p:to>
                                        <p:strVal val="visible"/>
                                      </p:to>
                                    </p:set>
                                    <p:anim calcmode="lin" valueType="num">
                                      <p:cBhvr additive="base">
                                        <p:cTn id="41" dur="500" fill="hold"/>
                                        <p:tgtEl>
                                          <p:spTgt spid="19"/>
                                        </p:tgtEl>
                                        <p:attrNameLst>
                                          <p:attrName>ppt_x</p:attrName>
                                        </p:attrNameLst>
                                      </p:cBhvr>
                                      <p:tavLst>
                                        <p:tav tm="0">
                                          <p:val>
                                            <p:strVal val="#ppt_x"/>
                                          </p:val>
                                        </p:tav>
                                        <p:tav tm="100000">
                                          <p:val>
                                            <p:strVal val="#ppt_x"/>
                                          </p:val>
                                        </p:tav>
                                      </p:tavLst>
                                    </p:anim>
                                    <p:anim calcmode="lin" valueType="num">
                                      <p:cBhvr additive="base">
                                        <p:cTn id="42" dur="500" fill="hold"/>
                                        <p:tgtEl>
                                          <p:spTgt spid="19"/>
                                        </p:tgtEl>
                                        <p:attrNameLst>
                                          <p:attrName>ppt_y</p:attrName>
                                        </p:attrNameLst>
                                      </p:cBhvr>
                                      <p:tavLst>
                                        <p:tav tm="0">
                                          <p:val>
                                            <p:strVal val="#ppt_y+0.1"/>
                                          </p:val>
                                        </p:tav>
                                        <p:tav tm="100000">
                                          <p:val>
                                            <p:strVal val="#ppt_y"/>
                                          </p:val>
                                        </p:tav>
                                      </p:tavLst>
                                    </p:anim>
                                    <p:animEffect transition="in" filter="fade">
                                      <p:cBhvr>
                                        <p:cTn id="43" dur="500"/>
                                        <p:tgtEl>
                                          <p:spTgt spid="19"/>
                                        </p:tgtEl>
                                      </p:cBhvr>
                                    </p:animEffect>
                                  </p:childTnLst>
                                </p:cTn>
                              </p:par>
                              <p:par>
                                <p:cTn id="49" presetID="2" presetClass="entr" presetSubtype="4" fill="hold" grpId="0" nodeType="withEffect">
                                  <p:stCondLst>
                                    <p:cond delay="360"/>
                                  </p:stCondLst>
                                  <p:childTnLst>
                                    <p:set>
                                      <p:cBhvr>
                                        <p:cTn id="45" dur="1" fill="hold">
                                          <p:stCondLst>
                                            <p:cond delay="0"/>
                                          </p:stCondLst>
                                        </p:cTn>
                                        <p:tgtEl>
                                          <p:spTgt spid="20"/>
                                        </p:tgtEl>
                                        <p:attrNameLst>
                                          <p:attrName>style.visibility</p:attrName>
                                        </p:attrNameLst>
                                      </p:cBhvr>
                                      <p:to>
                                        <p:strVal val="visible"/>
                                      </p:to>
                                    </p:set>
                                    <p:anim calcmode="lin" valueType="num">
                                      <p:cBhvr additive="base">
                                        <p:cTn id="46" dur="500" fill="hold"/>
                                        <p:tgtEl>
                                          <p:spTgt spid="20"/>
                                        </p:tgtEl>
                                        <p:attrNameLst>
                                          <p:attrName>ppt_x</p:attrName>
                                        </p:attrNameLst>
                                      </p:cBhvr>
                                      <p:tavLst>
                                        <p:tav tm="0">
                                          <p:val>
                                            <p:strVal val="#ppt_x"/>
                                          </p:val>
                                        </p:tav>
                                        <p:tav tm="100000">
                                          <p:val>
                                            <p:strVal val="#ppt_x"/>
                                          </p:val>
                                        </p:tav>
                                      </p:tavLst>
                                    </p:anim>
                                    <p:anim calcmode="lin" valueType="num">
                                      <p:cBhvr additive="base">
                                        <p:cTn id="47" dur="500" fill="hold"/>
                                        <p:tgtEl>
                                          <p:spTgt spid="20"/>
                                        </p:tgtEl>
                                        <p:attrNameLst>
                                          <p:attrName>ppt_y</p:attrName>
                                        </p:attrNameLst>
                                      </p:cBhvr>
                                      <p:tavLst>
                                        <p:tav tm="0">
                                          <p:val>
                                            <p:strVal val="#ppt_y+0.1"/>
                                          </p:val>
                                        </p:tav>
                                        <p:tav tm="100000">
                                          <p:val>
                                            <p:strVal val="#ppt_y"/>
                                          </p:val>
                                        </p:tav>
                                      </p:tavLst>
                                    </p:anim>
                                    <p:animEffect transition="in" filter="fade">
                                      <p:cBhvr>
                                        <p:cTn id="48" dur="500"/>
                                        <p:tgtEl>
                                          <p:spTgt spid="20"/>
                                        </p:tgtEl>
                                      </p:cBhvr>
                                    </p:animEffect>
                                  </p:childTnLst>
                                </p:cTn>
                              </p:par>
                              <p:par>
                                <p:cTn id="54" presetID="2" presetClass="entr" presetSubtype="4" fill="hold" grpId="0" nodeType="withEffect">
                                  <p:stCondLst>
                                    <p:cond delay="360"/>
                                  </p:stCondLst>
                                  <p:childTnLst>
                                    <p:set>
                                      <p:cBhvr>
                                        <p:cTn id="50" dur="1" fill="hold">
                                          <p:stCondLst>
                                            <p:cond delay="0"/>
                                          </p:stCondLst>
                                        </p:cTn>
                                        <p:tgtEl>
                                          <p:spTgt spid="21"/>
                                        </p:tgtEl>
                                        <p:attrNameLst>
                                          <p:attrName>style.visibility</p:attrName>
                                        </p:attrNameLst>
                                      </p:cBhvr>
                                      <p:to>
                                        <p:strVal val="visible"/>
                                      </p:to>
                                    </p:set>
                                    <p:anim calcmode="lin" valueType="num">
                                      <p:cBhvr additive="base">
                                        <p:cTn id="51" dur="500" fill="hold"/>
                                        <p:tgtEl>
                                          <p:spTgt spid="21"/>
                                        </p:tgtEl>
                                        <p:attrNameLst>
                                          <p:attrName>ppt_x</p:attrName>
                                        </p:attrNameLst>
                                      </p:cBhvr>
                                      <p:tavLst>
                                        <p:tav tm="0">
                                          <p:val>
                                            <p:strVal val="#ppt_x"/>
                                          </p:val>
                                        </p:tav>
                                        <p:tav tm="100000">
                                          <p:val>
                                            <p:strVal val="#ppt_x"/>
                                          </p:val>
                                        </p:tav>
                                      </p:tavLst>
                                    </p:anim>
                                    <p:anim calcmode="lin" valueType="num">
                                      <p:cBhvr additive="base">
                                        <p:cTn id="52" dur="500" fill="hold"/>
                                        <p:tgtEl>
                                          <p:spTgt spid="21"/>
                                        </p:tgtEl>
                                        <p:attrNameLst>
                                          <p:attrName>ppt_y</p:attrName>
                                        </p:attrNameLst>
                                      </p:cBhvr>
                                      <p:tavLst>
                                        <p:tav tm="0">
                                          <p:val>
                                            <p:strVal val="#ppt_y+0.1"/>
                                          </p:val>
                                        </p:tav>
                                        <p:tav tm="100000">
                                          <p:val>
                                            <p:strVal val="#ppt_y"/>
                                          </p:val>
                                        </p:tav>
                                      </p:tavLst>
                                    </p:anim>
                                    <p:animEffect transition="in" filter="fade">
                                      <p:cBhvr>
                                        <p:cTn id="53" dur="500"/>
                                        <p:tgtEl>
                                          <p:spTgt spid="21"/>
                                        </p:tgtEl>
                                      </p:cBhvr>
                                    </p:animEffect>
                                  </p:childTnLst>
                                </p:cTn>
                              </p:par>
                            </p:childTnLst>
                          </p:cTn>
                        </p:par>
                      </p:childTnLst>
                    </p:cTn>
                  </p:par>
                  <p:par>
                    <p:cTn id="55" fill="hold">
                      <p:stCondLst>
                        <p:cond delay="indefinite"/>
                      </p:stCondLst>
                      <p:childTnLst>
                        <p:par>
                          <p:cTn id="56" fill="hold">
                            <p:stCondLst>
                              <p:cond delay="0"/>
                            </p:stCondLst>
                            <p:childTnLst>
                              <p:par>
                                <p:cTn id="59"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62"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5"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8"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71"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4"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9" presetID="2" presetClass="entr" presetSubtype="4"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 calcmode="lin" valueType="num">
                                      <p:cBhvr additive="base">
                                        <p:cTn id="76" dur="500" fill="hold"/>
                                        <p:tgtEl>
                                          <p:spTgt spid="28"/>
                                        </p:tgtEl>
                                        <p:attrNameLst>
                                          <p:attrName>ppt_x</p:attrName>
                                        </p:attrNameLst>
                                      </p:cBhvr>
                                      <p:tavLst>
                                        <p:tav tm="0">
                                          <p:val>
                                            <p:strVal val="#ppt_x"/>
                                          </p:val>
                                        </p:tav>
                                        <p:tav tm="100000">
                                          <p:val>
                                            <p:strVal val="#ppt_x"/>
                                          </p:val>
                                        </p:tav>
                                      </p:tavLst>
                                    </p:anim>
                                    <p:anim calcmode="lin" valueType="num">
                                      <p:cBhvr additive="base">
                                        <p:cTn id="77" dur="500" fill="hold"/>
                                        <p:tgtEl>
                                          <p:spTgt spid="28"/>
                                        </p:tgtEl>
                                        <p:attrNameLst>
                                          <p:attrName>ppt_y</p:attrName>
                                        </p:attrNameLst>
                                      </p:cBhvr>
                                      <p:tavLst>
                                        <p:tav tm="0">
                                          <p:val>
                                            <p:strVal val="#ppt_y+0.1"/>
                                          </p:val>
                                        </p:tav>
                                        <p:tav tm="100000">
                                          <p:val>
                                            <p:strVal val="#ppt_y"/>
                                          </p:val>
                                        </p:tav>
                                      </p:tavLst>
                                    </p:anim>
                                    <p:animEffect transition="in" filter="fade">
                                      <p:cBhvr>
                                        <p:cTn id="78" dur="500"/>
                                        <p:tgtEl>
                                          <p:spTgt spid="28"/>
                                        </p:tgtEl>
                                      </p:cBhvr>
                                    </p:animEffect>
                                  </p:childTnLst>
                                </p:cTn>
                              </p:par>
                              <p:par>
                                <p:cTn id="84" presetID="2" presetClass="entr" presetSubtype="4"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 calcmode="lin" valueType="num">
                                      <p:cBhvr additive="base">
                                        <p:cTn id="81" dur="500" fill="hold"/>
                                        <p:tgtEl>
                                          <p:spTgt spid="29"/>
                                        </p:tgtEl>
                                        <p:attrNameLst>
                                          <p:attrName>ppt_x</p:attrName>
                                        </p:attrNameLst>
                                      </p:cBhvr>
                                      <p:tavLst>
                                        <p:tav tm="0">
                                          <p:val>
                                            <p:strVal val="#ppt_x"/>
                                          </p:val>
                                        </p:tav>
                                        <p:tav tm="100000">
                                          <p:val>
                                            <p:strVal val="#ppt_x"/>
                                          </p:val>
                                        </p:tav>
                                      </p:tavLst>
                                    </p:anim>
                                    <p:anim calcmode="lin" valueType="num">
                                      <p:cBhvr additive="base">
                                        <p:cTn id="82" dur="500" fill="hold"/>
                                        <p:tgtEl>
                                          <p:spTgt spid="29"/>
                                        </p:tgtEl>
                                        <p:attrNameLst>
                                          <p:attrName>ppt_y</p:attrName>
                                        </p:attrNameLst>
                                      </p:cBhvr>
                                      <p:tavLst>
                                        <p:tav tm="0">
                                          <p:val>
                                            <p:strVal val="#ppt_y+0.1"/>
                                          </p:val>
                                        </p:tav>
                                        <p:tav tm="100000">
                                          <p:val>
                                            <p:strVal val="#ppt_y"/>
                                          </p:val>
                                        </p:tav>
                                      </p:tavLst>
                                    </p:anim>
                                    <p:animEffect transition="in" filter="fade">
                                      <p:cBhvr>
                                        <p:cTn id="83" dur="500"/>
                                        <p:tgtEl>
                                          <p:spTgt spid="29"/>
                                        </p:tgtEl>
                                      </p:cBhvr>
                                    </p:animEffect>
                                  </p:childTnLst>
                                </p:cTn>
                              </p:par>
                              <p:par>
                                <p:cTn id="89" presetID="2" presetClass="entr" presetSubtype="4"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 calcmode="lin" valueType="num">
                                      <p:cBhvr additive="base">
                                        <p:cTn id="86" dur="500" fill="hold"/>
                                        <p:tgtEl>
                                          <p:spTgt spid="30"/>
                                        </p:tgtEl>
                                        <p:attrNameLst>
                                          <p:attrName>ppt_x</p:attrName>
                                        </p:attrNameLst>
                                      </p:cBhvr>
                                      <p:tavLst>
                                        <p:tav tm="0">
                                          <p:val>
                                            <p:strVal val="#ppt_x"/>
                                          </p:val>
                                        </p:tav>
                                        <p:tav tm="100000">
                                          <p:val>
                                            <p:strVal val="#ppt_x"/>
                                          </p:val>
                                        </p:tav>
                                      </p:tavLst>
                                    </p:anim>
                                    <p:anim calcmode="lin" valueType="num">
                                      <p:cBhvr additive="base">
                                        <p:cTn id="87" dur="500" fill="hold"/>
                                        <p:tgtEl>
                                          <p:spTgt spid="30"/>
                                        </p:tgtEl>
                                        <p:attrNameLst>
                                          <p:attrName>ppt_y</p:attrName>
                                        </p:attrNameLst>
                                      </p:cBhvr>
                                      <p:tavLst>
                                        <p:tav tm="0">
                                          <p:val>
                                            <p:strVal val="#ppt_y+0.1"/>
                                          </p:val>
                                        </p:tav>
                                        <p:tav tm="100000">
                                          <p:val>
                                            <p:strVal val="#ppt_y"/>
                                          </p:val>
                                        </p:tav>
                                      </p:tavLst>
                                    </p:anim>
                                    <p:animEffect transition="in" filter="fade">
                                      <p:cBhvr>
                                        <p:cTn id="88" dur="500"/>
                                        <p:tgtEl>
                                          <p:spTgt spid="30"/>
                                        </p:tgtEl>
                                      </p:cBhvr>
                                    </p:animEffect>
                                  </p:childTnLst>
                                </p:cTn>
                              </p:par>
                              <p:par>
                                <p:cTn id="94" presetID="2" presetClass="entr" presetSubtype="4" fill="hold" grpId="0" nodeType="withEffect">
                                  <p:stCondLst>
                                    <p:cond delay="150"/>
                                  </p:stCondLst>
                                  <p:childTnLst>
                                    <p:set>
                                      <p:cBhvr>
                                        <p:cTn id="90" dur="1" fill="hold">
                                          <p:stCondLst>
                                            <p:cond delay="0"/>
                                          </p:stCondLst>
                                        </p:cTn>
                                        <p:tgtEl>
                                          <p:spTgt spid="31"/>
                                        </p:tgtEl>
                                        <p:attrNameLst>
                                          <p:attrName>style.visibility</p:attrName>
                                        </p:attrNameLst>
                                      </p:cBhvr>
                                      <p:to>
                                        <p:strVal val="visible"/>
                                      </p:to>
                                    </p:set>
                                    <p:anim calcmode="lin" valueType="num">
                                      <p:cBhvr additive="base">
                                        <p:cTn id="91" dur="500" fill="hold"/>
                                        <p:tgtEl>
                                          <p:spTgt spid="31"/>
                                        </p:tgtEl>
                                        <p:attrNameLst>
                                          <p:attrName>ppt_x</p:attrName>
                                        </p:attrNameLst>
                                      </p:cBhvr>
                                      <p:tavLst>
                                        <p:tav tm="0">
                                          <p:val>
                                            <p:strVal val="#ppt_x"/>
                                          </p:val>
                                        </p:tav>
                                        <p:tav tm="100000">
                                          <p:val>
                                            <p:strVal val="#ppt_x"/>
                                          </p:val>
                                        </p:tav>
                                      </p:tavLst>
                                    </p:anim>
                                    <p:anim calcmode="lin" valueType="num">
                                      <p:cBhvr additive="base">
                                        <p:cTn id="92" dur="500" fill="hold"/>
                                        <p:tgtEl>
                                          <p:spTgt spid="31"/>
                                        </p:tgtEl>
                                        <p:attrNameLst>
                                          <p:attrName>ppt_y</p:attrName>
                                        </p:attrNameLst>
                                      </p:cBhvr>
                                      <p:tavLst>
                                        <p:tav tm="0">
                                          <p:val>
                                            <p:strVal val="#ppt_y+0.1"/>
                                          </p:val>
                                        </p:tav>
                                        <p:tav tm="100000">
                                          <p:val>
                                            <p:strVal val="#ppt_y"/>
                                          </p:val>
                                        </p:tav>
                                      </p:tavLst>
                                    </p:anim>
                                    <p:animEffect transition="in" filter="fade">
                                      <p:cBhvr>
                                        <p:cTn id="93" dur="500"/>
                                        <p:tgtEl>
                                          <p:spTgt spid="31"/>
                                        </p:tgtEl>
                                      </p:cBhvr>
                                    </p:animEffect>
                                  </p:childTnLst>
                                </p:cTn>
                              </p:par>
                              <p:par>
                                <p:cTn id="99" presetID="2" presetClass="entr" presetSubtype="4" fill="hold" grpId="0" nodeType="withEffect">
                                  <p:stCondLst>
                                    <p:cond delay="150"/>
                                  </p:stCondLst>
                                  <p:childTnLst>
                                    <p:set>
                                      <p:cBhvr>
                                        <p:cTn id="95" dur="1" fill="hold">
                                          <p:stCondLst>
                                            <p:cond delay="0"/>
                                          </p:stCondLst>
                                        </p:cTn>
                                        <p:tgtEl>
                                          <p:spTgt spid="32"/>
                                        </p:tgtEl>
                                        <p:attrNameLst>
                                          <p:attrName>style.visibility</p:attrName>
                                        </p:attrNameLst>
                                      </p:cBhvr>
                                      <p:to>
                                        <p:strVal val="visible"/>
                                      </p:to>
                                    </p:set>
                                    <p:anim calcmode="lin" valueType="num">
                                      <p:cBhvr additive="base">
                                        <p:cTn id="96" dur="500" fill="hold"/>
                                        <p:tgtEl>
                                          <p:spTgt spid="32"/>
                                        </p:tgtEl>
                                        <p:attrNameLst>
                                          <p:attrName>ppt_x</p:attrName>
                                        </p:attrNameLst>
                                      </p:cBhvr>
                                      <p:tavLst>
                                        <p:tav tm="0">
                                          <p:val>
                                            <p:strVal val="#ppt_x"/>
                                          </p:val>
                                        </p:tav>
                                        <p:tav tm="100000">
                                          <p:val>
                                            <p:strVal val="#ppt_x"/>
                                          </p:val>
                                        </p:tav>
                                      </p:tavLst>
                                    </p:anim>
                                    <p:anim calcmode="lin" valueType="num">
                                      <p:cBhvr additive="base">
                                        <p:cTn id="97" dur="500" fill="hold"/>
                                        <p:tgtEl>
                                          <p:spTgt spid="32"/>
                                        </p:tgtEl>
                                        <p:attrNameLst>
                                          <p:attrName>ppt_y</p:attrName>
                                        </p:attrNameLst>
                                      </p:cBhvr>
                                      <p:tavLst>
                                        <p:tav tm="0">
                                          <p:val>
                                            <p:strVal val="#ppt_y+0.1"/>
                                          </p:val>
                                        </p:tav>
                                        <p:tav tm="100000">
                                          <p:val>
                                            <p:strVal val="#ppt_y"/>
                                          </p:val>
                                        </p:tav>
                                      </p:tavLst>
                                    </p:anim>
                                    <p:animEffect transition="in" filter="fade">
                                      <p:cBhvr>
                                        <p:cTn id="98" dur="500"/>
                                        <p:tgtEl>
                                          <p:spTgt spid="32"/>
                                        </p:tgtEl>
                                      </p:cBhvr>
                                    </p:animEffect>
                                  </p:childTnLst>
                                </p:cTn>
                              </p:par>
                              <p:par>
                                <p:cTn id="104" presetID="2" presetClass="entr" presetSubtype="4" fill="hold" grpId="0" nodeType="withEffect">
                                  <p:stCondLst>
                                    <p:cond delay="150"/>
                                  </p:stCondLst>
                                  <p:childTnLst>
                                    <p:set>
                                      <p:cBhvr>
                                        <p:cTn id="100" dur="1" fill="hold">
                                          <p:stCondLst>
                                            <p:cond delay="0"/>
                                          </p:stCondLst>
                                        </p:cTn>
                                        <p:tgtEl>
                                          <p:spTgt spid="33"/>
                                        </p:tgtEl>
                                        <p:attrNameLst>
                                          <p:attrName>style.visibility</p:attrName>
                                        </p:attrNameLst>
                                      </p:cBhvr>
                                      <p:to>
                                        <p:strVal val="visible"/>
                                      </p:to>
                                    </p:set>
                                    <p:anim calcmode="lin" valueType="num">
                                      <p:cBhvr additive="base">
                                        <p:cTn id="101" dur="500" fill="hold"/>
                                        <p:tgtEl>
                                          <p:spTgt spid="33"/>
                                        </p:tgtEl>
                                        <p:attrNameLst>
                                          <p:attrName>ppt_x</p:attrName>
                                        </p:attrNameLst>
                                      </p:cBhvr>
                                      <p:tavLst>
                                        <p:tav tm="0">
                                          <p:val>
                                            <p:strVal val="#ppt_x"/>
                                          </p:val>
                                        </p:tav>
                                        <p:tav tm="100000">
                                          <p:val>
                                            <p:strVal val="#ppt_x"/>
                                          </p:val>
                                        </p:tav>
                                      </p:tavLst>
                                    </p:anim>
                                    <p:anim calcmode="lin" valueType="num">
                                      <p:cBhvr additive="base">
                                        <p:cTn id="102" dur="500" fill="hold"/>
                                        <p:tgtEl>
                                          <p:spTgt spid="33"/>
                                        </p:tgtEl>
                                        <p:attrNameLst>
                                          <p:attrName>ppt_y</p:attrName>
                                        </p:attrNameLst>
                                      </p:cBhvr>
                                      <p:tavLst>
                                        <p:tav tm="0">
                                          <p:val>
                                            <p:strVal val="#ppt_y+0.1"/>
                                          </p:val>
                                        </p:tav>
                                        <p:tav tm="100000">
                                          <p:val>
                                            <p:strVal val="#ppt_y"/>
                                          </p:val>
                                        </p:tav>
                                      </p:tavLst>
                                    </p:anim>
                                    <p:animEffect transition="in" filter="fade">
                                      <p:cBhvr>
                                        <p:cTn id="103" dur="500"/>
                                        <p:tgtEl>
                                          <p:spTgt spid="33"/>
                                        </p:tgtEl>
                                      </p:cBhvr>
                                    </p:animEffect>
                                  </p:childTnLst>
                                </p:cTn>
                              </p:par>
                            </p:childTnLst>
                          </p:cTn>
                        </p:par>
                      </p:childTnLst>
                    </p:cTn>
                  </p:par>
                  <p:par>
                    <p:cTn id="105" fill="hold">
                      <p:stCondLst>
                        <p:cond delay="indefinite"/>
                      </p:stCondLst>
                      <p:childTnLst>
                        <p:par>
                          <p:cTn id="106" fill="hold">
                            <p:stCondLst>
                              <p:cond delay="0"/>
                            </p:stCondLst>
                            <p:childTnLst>
                              <p:par>
                                <p:cTn id="111" presetID="2" presetClass="entr" presetSubtype="4" fill="hold" grpId="0" nodeType="clickEffect">
                                  <p:stCondLst>
                                    <p:cond delay="0"/>
                                  </p:stCondLst>
                                  <p:childTnLst>
                                    <p:set>
                                      <p:cBhvr>
                                        <p:cTn id="107" dur="1" fill="hold">
                                          <p:stCondLst>
                                            <p:cond delay="0"/>
                                          </p:stCondLst>
                                        </p:cTn>
                                        <p:tgtEl>
                                          <p:spTgt spid="34"/>
                                        </p:tgtEl>
                                        <p:attrNameLst>
                                          <p:attrName>style.visibility</p:attrName>
                                        </p:attrNameLst>
                                      </p:cBhvr>
                                      <p:to>
                                        <p:strVal val="visible"/>
                                      </p:to>
                                    </p:set>
                                    <p:anim calcmode="lin" valueType="num">
                                      <p:cBhvr additive="base">
                                        <p:cTn id="108" dur="500" fill="hold"/>
                                        <p:tgtEl>
                                          <p:spTgt spid="34"/>
                                        </p:tgtEl>
                                        <p:attrNameLst>
                                          <p:attrName>ppt_x</p:attrName>
                                        </p:attrNameLst>
                                      </p:cBhvr>
                                      <p:tavLst>
                                        <p:tav tm="0">
                                          <p:val>
                                            <p:strVal val="#ppt_x"/>
                                          </p:val>
                                        </p:tav>
                                        <p:tav tm="100000">
                                          <p:val>
                                            <p:strVal val="#ppt_x"/>
                                          </p:val>
                                        </p:tav>
                                      </p:tavLst>
                                    </p:anim>
                                    <p:anim calcmode="lin" valueType="num">
                                      <p:cBhvr additive="base">
                                        <p:cTn id="109" dur="500" fill="hold"/>
                                        <p:tgtEl>
                                          <p:spTgt spid="34"/>
                                        </p:tgtEl>
                                        <p:attrNameLst>
                                          <p:attrName>ppt_y</p:attrName>
                                        </p:attrNameLst>
                                      </p:cBhvr>
                                      <p:tavLst>
                                        <p:tav tm="0">
                                          <p:val>
                                            <p:strVal val="#ppt_y+0.1"/>
                                          </p:val>
                                        </p:tav>
                                        <p:tav tm="100000">
                                          <p:val>
                                            <p:strVal val="#ppt_y"/>
                                          </p:val>
                                        </p:tav>
                                      </p:tavLst>
                                    </p:anim>
                                    <p:animEffect transition="in" filter="fade">
                                      <p:cBhvr>
                                        <p:cTn id="110" dur="500"/>
                                        <p:tgtEl>
                                          <p:spTgt spid="34"/>
                                        </p:tgtEl>
                                      </p:cBhvr>
                                    </p:animEffect>
                                  </p:childTnLst>
                                </p:cTn>
                              </p:par>
                              <p:par>
                                <p:cTn id="116" presetID="2" presetClass="entr" presetSubtype="4" fill="hold" grpId="0" nodeType="withEffect">
                                  <p:stCondLst>
                                    <p:cond delay="0"/>
                                  </p:stCondLst>
                                  <p:childTnLst>
                                    <p:set>
                                      <p:cBhvr>
                                        <p:cTn id="112" dur="1" fill="hold">
                                          <p:stCondLst>
                                            <p:cond delay="0"/>
                                          </p:stCondLst>
                                        </p:cTn>
                                        <p:tgtEl>
                                          <p:spTgt spid="35"/>
                                        </p:tgtEl>
                                        <p:attrNameLst>
                                          <p:attrName>style.visibility</p:attrName>
                                        </p:attrNameLst>
                                      </p:cBhvr>
                                      <p:to>
                                        <p:strVal val="visible"/>
                                      </p:to>
                                    </p:set>
                                    <p:anim calcmode="lin" valueType="num">
                                      <p:cBhvr additive="base">
                                        <p:cTn id="113" dur="500" fill="hold"/>
                                        <p:tgtEl>
                                          <p:spTgt spid="35"/>
                                        </p:tgtEl>
                                        <p:attrNameLst>
                                          <p:attrName>ppt_x</p:attrName>
                                        </p:attrNameLst>
                                      </p:cBhvr>
                                      <p:tavLst>
                                        <p:tav tm="0">
                                          <p:val>
                                            <p:strVal val="#ppt_x"/>
                                          </p:val>
                                        </p:tav>
                                        <p:tav tm="100000">
                                          <p:val>
                                            <p:strVal val="#ppt_x"/>
                                          </p:val>
                                        </p:tav>
                                      </p:tavLst>
                                    </p:anim>
                                    <p:anim calcmode="lin" valueType="num">
                                      <p:cBhvr additive="base">
                                        <p:cTn id="114" dur="500" fill="hold"/>
                                        <p:tgtEl>
                                          <p:spTgt spid="35"/>
                                        </p:tgtEl>
                                        <p:attrNameLst>
                                          <p:attrName>ppt_y</p:attrName>
                                        </p:attrNameLst>
                                      </p:cBhvr>
                                      <p:tavLst>
                                        <p:tav tm="0">
                                          <p:val>
                                            <p:strVal val="#ppt_y+0.1"/>
                                          </p:val>
                                        </p:tav>
                                        <p:tav tm="100000">
                                          <p:val>
                                            <p:strVal val="#ppt_y"/>
                                          </p:val>
                                        </p:tav>
                                      </p:tavLst>
                                    </p:anim>
                                    <p:animEffect transition="in" filter="fade">
                                      <p:cBhvr>
                                        <p:cTn id="115" dur="500"/>
                                        <p:tgtEl>
                                          <p:spTgt spid="35"/>
                                        </p:tgtEl>
                                      </p:cBhvr>
                                    </p:animEffect>
                                  </p:childTnLst>
                                </p:cTn>
                              </p:par>
                              <p:par>
                                <p:cTn id="121" presetID="2" presetClass="entr" presetSubtype="4" fill="hold" grpId="0" nodeType="withEffect">
                                  <p:stCondLst>
                                    <p:cond delay="0"/>
                                  </p:stCondLst>
                                  <p:childTnLst>
                                    <p:set>
                                      <p:cBhvr>
                                        <p:cTn id="117" dur="1" fill="hold">
                                          <p:stCondLst>
                                            <p:cond delay="0"/>
                                          </p:stCondLst>
                                        </p:cTn>
                                        <p:tgtEl>
                                          <p:spTgt spid="36"/>
                                        </p:tgtEl>
                                        <p:attrNameLst>
                                          <p:attrName>style.visibility</p:attrName>
                                        </p:attrNameLst>
                                      </p:cBhvr>
                                      <p:to>
                                        <p:strVal val="visible"/>
                                      </p:to>
                                    </p:set>
                                    <p:anim calcmode="lin" valueType="num">
                                      <p:cBhvr additive="base">
                                        <p:cTn id="118" dur="500" fill="hold"/>
                                        <p:tgtEl>
                                          <p:spTgt spid="36"/>
                                        </p:tgtEl>
                                        <p:attrNameLst>
                                          <p:attrName>ppt_x</p:attrName>
                                        </p:attrNameLst>
                                      </p:cBhvr>
                                      <p:tavLst>
                                        <p:tav tm="0">
                                          <p:val>
                                            <p:strVal val="#ppt_x"/>
                                          </p:val>
                                        </p:tav>
                                        <p:tav tm="100000">
                                          <p:val>
                                            <p:strVal val="#ppt_x"/>
                                          </p:val>
                                        </p:tav>
                                      </p:tavLst>
                                    </p:anim>
                                    <p:anim calcmode="lin" valueType="num">
                                      <p:cBhvr additive="base">
                                        <p:cTn id="119" dur="500" fill="hold"/>
                                        <p:tgtEl>
                                          <p:spTgt spid="36"/>
                                        </p:tgtEl>
                                        <p:attrNameLst>
                                          <p:attrName>ppt_y</p:attrName>
                                        </p:attrNameLst>
                                      </p:cBhvr>
                                      <p:tavLst>
                                        <p:tav tm="0">
                                          <p:val>
                                            <p:strVal val="#ppt_y+0.1"/>
                                          </p:val>
                                        </p:tav>
                                        <p:tav tm="100000">
                                          <p:val>
                                            <p:strVal val="#ppt_y"/>
                                          </p:val>
                                        </p:tav>
                                      </p:tavLst>
                                    </p:anim>
                                    <p:animEffect transition="in" filter="fade">
                                      <p:cBhvr>
                                        <p:cTn id="120" dur="500"/>
                                        <p:tgtEl>
                                          <p:spTgt spid="36"/>
                                        </p:tgtEl>
                                      </p:cBhvr>
                                    </p:animEffect>
                                  </p:childTnLst>
                                </p:cTn>
                              </p:par>
                              <p:par>
                                <p:cTn id="126" presetID="2" presetClass="entr" presetSubtype="4" fill="hold" grpId="0" nodeType="withEffect">
                                  <p:stCondLst>
                                    <p:cond delay="150"/>
                                  </p:stCondLst>
                                  <p:childTnLst>
                                    <p:set>
                                      <p:cBhvr>
                                        <p:cTn id="122" dur="1" fill="hold">
                                          <p:stCondLst>
                                            <p:cond delay="0"/>
                                          </p:stCondLst>
                                        </p:cTn>
                                        <p:tgtEl>
                                          <p:spTgt spid="37"/>
                                        </p:tgtEl>
                                        <p:attrNameLst>
                                          <p:attrName>style.visibility</p:attrName>
                                        </p:attrNameLst>
                                      </p:cBhvr>
                                      <p:to>
                                        <p:strVal val="visible"/>
                                      </p:to>
                                    </p:set>
                                    <p:anim calcmode="lin" valueType="num">
                                      <p:cBhvr additive="base">
                                        <p:cTn id="123" dur="500" fill="hold"/>
                                        <p:tgtEl>
                                          <p:spTgt spid="37"/>
                                        </p:tgtEl>
                                        <p:attrNameLst>
                                          <p:attrName>ppt_x</p:attrName>
                                        </p:attrNameLst>
                                      </p:cBhvr>
                                      <p:tavLst>
                                        <p:tav tm="0">
                                          <p:val>
                                            <p:strVal val="#ppt_x"/>
                                          </p:val>
                                        </p:tav>
                                        <p:tav tm="100000">
                                          <p:val>
                                            <p:strVal val="#ppt_x"/>
                                          </p:val>
                                        </p:tav>
                                      </p:tavLst>
                                    </p:anim>
                                    <p:anim calcmode="lin" valueType="num">
                                      <p:cBhvr additive="base">
                                        <p:cTn id="124" dur="500" fill="hold"/>
                                        <p:tgtEl>
                                          <p:spTgt spid="37"/>
                                        </p:tgtEl>
                                        <p:attrNameLst>
                                          <p:attrName>ppt_y</p:attrName>
                                        </p:attrNameLst>
                                      </p:cBhvr>
                                      <p:tavLst>
                                        <p:tav tm="0">
                                          <p:val>
                                            <p:strVal val="#ppt_y+0.1"/>
                                          </p:val>
                                        </p:tav>
                                        <p:tav tm="100000">
                                          <p:val>
                                            <p:strVal val="#ppt_y"/>
                                          </p:val>
                                        </p:tav>
                                      </p:tavLst>
                                    </p:anim>
                                    <p:animEffect transition="in" filter="fade">
                                      <p:cBhvr>
                                        <p:cTn id="125" dur="500"/>
                                        <p:tgtEl>
                                          <p:spTgt spid="37"/>
                                        </p:tgtEl>
                                      </p:cBhvr>
                                    </p:animEffect>
                                  </p:childTnLst>
                                </p:cTn>
                              </p:par>
                              <p:par>
                                <p:cTn id="131" presetID="2" presetClass="entr" presetSubtype="4" fill="hold" grpId="0" nodeType="withEffect">
                                  <p:stCondLst>
                                    <p:cond delay="150"/>
                                  </p:stCondLst>
                                  <p:childTnLst>
                                    <p:set>
                                      <p:cBhvr>
                                        <p:cTn id="127" dur="1" fill="hold">
                                          <p:stCondLst>
                                            <p:cond delay="0"/>
                                          </p:stCondLst>
                                        </p:cTn>
                                        <p:tgtEl>
                                          <p:spTgt spid="38"/>
                                        </p:tgtEl>
                                        <p:attrNameLst>
                                          <p:attrName>style.visibility</p:attrName>
                                        </p:attrNameLst>
                                      </p:cBhvr>
                                      <p:to>
                                        <p:strVal val="visible"/>
                                      </p:to>
                                    </p:set>
                                    <p:anim calcmode="lin" valueType="num">
                                      <p:cBhvr additive="base">
                                        <p:cTn id="128" dur="500" fill="hold"/>
                                        <p:tgtEl>
                                          <p:spTgt spid="38"/>
                                        </p:tgtEl>
                                        <p:attrNameLst>
                                          <p:attrName>ppt_x</p:attrName>
                                        </p:attrNameLst>
                                      </p:cBhvr>
                                      <p:tavLst>
                                        <p:tav tm="0">
                                          <p:val>
                                            <p:strVal val="#ppt_x"/>
                                          </p:val>
                                        </p:tav>
                                        <p:tav tm="100000">
                                          <p:val>
                                            <p:strVal val="#ppt_x"/>
                                          </p:val>
                                        </p:tav>
                                      </p:tavLst>
                                    </p:anim>
                                    <p:anim calcmode="lin" valueType="num">
                                      <p:cBhvr additive="base">
                                        <p:cTn id="129" dur="500" fill="hold"/>
                                        <p:tgtEl>
                                          <p:spTgt spid="38"/>
                                        </p:tgtEl>
                                        <p:attrNameLst>
                                          <p:attrName>ppt_y</p:attrName>
                                        </p:attrNameLst>
                                      </p:cBhvr>
                                      <p:tavLst>
                                        <p:tav tm="0">
                                          <p:val>
                                            <p:strVal val="#ppt_y+0.1"/>
                                          </p:val>
                                        </p:tav>
                                        <p:tav tm="100000">
                                          <p:val>
                                            <p:strVal val="#ppt_y"/>
                                          </p:val>
                                        </p:tav>
                                      </p:tavLst>
                                    </p:anim>
                                    <p:animEffect transition="in" filter="fade">
                                      <p:cBhvr>
                                        <p:cTn id="130" dur="500"/>
                                        <p:tgtEl>
                                          <p:spTgt spid="38"/>
                                        </p:tgtEl>
                                      </p:cBhvr>
                                    </p:animEffect>
                                  </p:childTnLst>
                                </p:cTn>
                              </p:par>
                              <p:par>
                                <p:cTn id="136" presetID="2" presetClass="entr" presetSubtype="4" fill="hold" grpId="0" nodeType="withEffect">
                                  <p:stCondLst>
                                    <p:cond delay="150"/>
                                  </p:stCondLst>
                                  <p:childTnLst>
                                    <p:set>
                                      <p:cBhvr>
                                        <p:cTn id="132" dur="1" fill="hold">
                                          <p:stCondLst>
                                            <p:cond delay="0"/>
                                          </p:stCondLst>
                                        </p:cTn>
                                        <p:tgtEl>
                                          <p:spTgt spid="39"/>
                                        </p:tgtEl>
                                        <p:attrNameLst>
                                          <p:attrName>style.visibility</p:attrName>
                                        </p:attrNameLst>
                                      </p:cBhvr>
                                      <p:to>
                                        <p:strVal val="visible"/>
                                      </p:to>
                                    </p:set>
                                    <p:anim calcmode="lin" valueType="num">
                                      <p:cBhvr additive="base">
                                        <p:cTn id="133" dur="500" fill="hold"/>
                                        <p:tgtEl>
                                          <p:spTgt spid="39"/>
                                        </p:tgtEl>
                                        <p:attrNameLst>
                                          <p:attrName>ppt_x</p:attrName>
                                        </p:attrNameLst>
                                      </p:cBhvr>
                                      <p:tavLst>
                                        <p:tav tm="0">
                                          <p:val>
                                            <p:strVal val="#ppt_x"/>
                                          </p:val>
                                        </p:tav>
                                        <p:tav tm="100000">
                                          <p:val>
                                            <p:strVal val="#ppt_x"/>
                                          </p:val>
                                        </p:tav>
                                      </p:tavLst>
                                    </p:anim>
                                    <p:anim calcmode="lin" valueType="num">
                                      <p:cBhvr additive="base">
                                        <p:cTn id="134" dur="500" fill="hold"/>
                                        <p:tgtEl>
                                          <p:spTgt spid="39"/>
                                        </p:tgtEl>
                                        <p:attrNameLst>
                                          <p:attrName>ppt_y</p:attrName>
                                        </p:attrNameLst>
                                      </p:cBhvr>
                                      <p:tavLst>
                                        <p:tav tm="0">
                                          <p:val>
                                            <p:strVal val="#ppt_y+0.1"/>
                                          </p:val>
                                        </p:tav>
                                        <p:tav tm="100000">
                                          <p:val>
                                            <p:strVal val="#ppt_y"/>
                                          </p:val>
                                        </p:tav>
                                      </p:tavLst>
                                    </p:anim>
                                    <p:animEffect transition="in" filter="fade">
                                      <p:cBhvr>
                                        <p:cTn id="135" dur="500"/>
                                        <p:tgtEl>
                                          <p:spTgt spid="39"/>
                                        </p:tgtEl>
                                      </p:cBhvr>
                                    </p:animEffect>
                                  </p:childTnLst>
                                </p:cTn>
                              </p:par>
                              <p:par>
                                <p:cTn id="141" presetID="2" presetClass="entr" presetSubtype="4" fill="hold" grpId="0" nodeType="withEffect">
                                  <p:stCondLst>
                                    <p:cond delay="150"/>
                                  </p:stCondLst>
                                  <p:childTnLst>
                                    <p:set>
                                      <p:cBhvr>
                                        <p:cTn id="137" dur="1" fill="hold">
                                          <p:stCondLst>
                                            <p:cond delay="0"/>
                                          </p:stCondLst>
                                        </p:cTn>
                                        <p:tgtEl>
                                          <p:spTgt spid="40"/>
                                        </p:tgtEl>
                                        <p:attrNameLst>
                                          <p:attrName>style.visibility</p:attrName>
                                        </p:attrNameLst>
                                      </p:cBhvr>
                                      <p:to>
                                        <p:strVal val="visible"/>
                                      </p:to>
                                    </p:set>
                                    <p:anim calcmode="lin" valueType="num">
                                      <p:cBhvr additive="base">
                                        <p:cTn id="138" dur="500" fill="hold"/>
                                        <p:tgtEl>
                                          <p:spTgt spid="40"/>
                                        </p:tgtEl>
                                        <p:attrNameLst>
                                          <p:attrName>ppt_x</p:attrName>
                                        </p:attrNameLst>
                                      </p:cBhvr>
                                      <p:tavLst>
                                        <p:tav tm="0">
                                          <p:val>
                                            <p:strVal val="#ppt_x"/>
                                          </p:val>
                                        </p:tav>
                                        <p:tav tm="100000">
                                          <p:val>
                                            <p:strVal val="#ppt_x"/>
                                          </p:val>
                                        </p:tav>
                                      </p:tavLst>
                                    </p:anim>
                                    <p:anim calcmode="lin" valueType="num">
                                      <p:cBhvr additive="base">
                                        <p:cTn id="139" dur="500" fill="hold"/>
                                        <p:tgtEl>
                                          <p:spTgt spid="40"/>
                                        </p:tgtEl>
                                        <p:attrNameLst>
                                          <p:attrName>ppt_y</p:attrName>
                                        </p:attrNameLst>
                                      </p:cBhvr>
                                      <p:tavLst>
                                        <p:tav tm="0">
                                          <p:val>
                                            <p:strVal val="#ppt_y+0.1"/>
                                          </p:val>
                                        </p:tav>
                                        <p:tav tm="100000">
                                          <p:val>
                                            <p:strVal val="#ppt_y"/>
                                          </p:val>
                                        </p:tav>
                                      </p:tavLst>
                                    </p:anim>
                                    <p:animEffect transition="in" filter="fade">
                                      <p:cBhvr>
                                        <p:cTn id="140" dur="500"/>
                                        <p:tgtEl>
                                          <p:spTgt spid="40"/>
                                        </p:tgtEl>
                                      </p:cBhvr>
                                    </p:animEffect>
                                  </p:childTnLst>
                                </p:cTn>
                              </p:par>
                              <p:par>
                                <p:cTn id="146" presetID="2" presetClass="entr" presetSubtype="4" fill="hold" grpId="0" nodeType="withEffect">
                                  <p:stCondLst>
                                    <p:cond delay="150"/>
                                  </p:stCondLst>
                                  <p:childTnLst>
                                    <p:set>
                                      <p:cBhvr>
                                        <p:cTn id="142" dur="1" fill="hold">
                                          <p:stCondLst>
                                            <p:cond delay="0"/>
                                          </p:stCondLst>
                                        </p:cTn>
                                        <p:tgtEl>
                                          <p:spTgt spid="41"/>
                                        </p:tgtEl>
                                        <p:attrNameLst>
                                          <p:attrName>style.visibility</p:attrName>
                                        </p:attrNameLst>
                                      </p:cBhvr>
                                      <p:to>
                                        <p:strVal val="visible"/>
                                      </p:to>
                                    </p:set>
                                    <p:anim calcmode="lin" valueType="num">
                                      <p:cBhvr additive="base">
                                        <p:cTn id="143" dur="500" fill="hold"/>
                                        <p:tgtEl>
                                          <p:spTgt spid="41"/>
                                        </p:tgtEl>
                                        <p:attrNameLst>
                                          <p:attrName>ppt_x</p:attrName>
                                        </p:attrNameLst>
                                      </p:cBhvr>
                                      <p:tavLst>
                                        <p:tav tm="0">
                                          <p:val>
                                            <p:strVal val="#ppt_x"/>
                                          </p:val>
                                        </p:tav>
                                        <p:tav tm="100000">
                                          <p:val>
                                            <p:strVal val="#ppt_x"/>
                                          </p:val>
                                        </p:tav>
                                      </p:tavLst>
                                    </p:anim>
                                    <p:anim calcmode="lin" valueType="num">
                                      <p:cBhvr additive="base">
                                        <p:cTn id="144" dur="500" fill="hold"/>
                                        <p:tgtEl>
                                          <p:spTgt spid="41"/>
                                        </p:tgtEl>
                                        <p:attrNameLst>
                                          <p:attrName>ppt_y</p:attrName>
                                        </p:attrNameLst>
                                      </p:cBhvr>
                                      <p:tavLst>
                                        <p:tav tm="0">
                                          <p:val>
                                            <p:strVal val="#ppt_y+0.1"/>
                                          </p:val>
                                        </p:tav>
                                        <p:tav tm="100000">
                                          <p:val>
                                            <p:strVal val="#ppt_y"/>
                                          </p:val>
                                        </p:tav>
                                      </p:tavLst>
                                    </p:anim>
                                    <p:animEffect transition="in" filter="fade">
                                      <p:cBhvr>
                                        <p:cTn id="145" dur="500"/>
                                        <p:tgtEl>
                                          <p:spTgt spid="41"/>
                                        </p:tgtEl>
                                      </p:cBhvr>
                                    </p:animEffect>
                                  </p:childTnLst>
                                </p:cTn>
                              </p:par>
                              <p:par>
                                <p:cTn id="151" presetID="2" presetClass="entr" presetSubtype="4" fill="hold" grpId="0" nodeType="withEffect">
                                  <p:stCondLst>
                                    <p:cond delay="150"/>
                                  </p:stCondLst>
                                  <p:childTnLst>
                                    <p:set>
                                      <p:cBhvr>
                                        <p:cTn id="147" dur="1" fill="hold">
                                          <p:stCondLst>
                                            <p:cond delay="0"/>
                                          </p:stCondLst>
                                        </p:cTn>
                                        <p:tgtEl>
                                          <p:spTgt spid="42"/>
                                        </p:tgtEl>
                                        <p:attrNameLst>
                                          <p:attrName>style.visibility</p:attrName>
                                        </p:attrNameLst>
                                      </p:cBhvr>
                                      <p:to>
                                        <p:strVal val="visible"/>
                                      </p:to>
                                    </p:set>
                                    <p:anim calcmode="lin" valueType="num">
                                      <p:cBhvr additive="base">
                                        <p:cTn id="148" dur="500" fill="hold"/>
                                        <p:tgtEl>
                                          <p:spTgt spid="42"/>
                                        </p:tgtEl>
                                        <p:attrNameLst>
                                          <p:attrName>ppt_x</p:attrName>
                                        </p:attrNameLst>
                                      </p:cBhvr>
                                      <p:tavLst>
                                        <p:tav tm="0">
                                          <p:val>
                                            <p:strVal val="#ppt_x"/>
                                          </p:val>
                                        </p:tav>
                                        <p:tav tm="100000">
                                          <p:val>
                                            <p:strVal val="#ppt_x"/>
                                          </p:val>
                                        </p:tav>
                                      </p:tavLst>
                                    </p:anim>
                                    <p:anim calcmode="lin" valueType="num">
                                      <p:cBhvr additive="base">
                                        <p:cTn id="149" dur="500" fill="hold"/>
                                        <p:tgtEl>
                                          <p:spTgt spid="42"/>
                                        </p:tgtEl>
                                        <p:attrNameLst>
                                          <p:attrName>ppt_y</p:attrName>
                                        </p:attrNameLst>
                                      </p:cBhvr>
                                      <p:tavLst>
                                        <p:tav tm="0">
                                          <p:val>
                                            <p:strVal val="#ppt_y+0.1"/>
                                          </p:val>
                                        </p:tav>
                                        <p:tav tm="100000">
                                          <p:val>
                                            <p:strVal val="#ppt_y"/>
                                          </p:val>
                                        </p:tav>
                                      </p:tavLst>
                                    </p:anim>
                                    <p:animEffect transition="in" filter="fade">
                                      <p:cBhvr>
                                        <p:cTn id="150" dur="500"/>
                                        <p:tgtEl>
                                          <p:spTgt spid="42"/>
                                        </p:tgtEl>
                                      </p:cBhvr>
                                    </p:animEffect>
                                  </p:childTnLst>
                                </p:cTn>
                              </p:par>
                            </p:childTnLst>
                          </p:cTn>
                        </p:par>
                      </p:childTnLst>
                    </p:cTn>
                  </p:par>
                  <p:par>
                    <p:cTn id="152" fill="hold">
                      <p:stCondLst>
                        <p:cond delay="indefinite"/>
                      </p:stCondLst>
                      <p:childTnLst>
                        <p:par>
                          <p:cTn id="153" fill="hold">
                            <p:stCondLst>
                              <p:cond delay="0"/>
                            </p:stCondLst>
                            <p:childTnLst>
                              <p:par>
                                <p:cTn id="158" presetID="2" presetClass="entr" presetSubtype="4" fill="hold" grpId="0" nodeType="clickEffect">
                                  <p:stCondLst>
                                    <p:cond delay="0"/>
                                  </p:stCondLst>
                                  <p:childTnLst>
                                    <p:set>
                                      <p:cBhvr>
                                        <p:cTn id="154" dur="1" fill="hold">
                                          <p:stCondLst>
                                            <p:cond delay="0"/>
                                          </p:stCondLst>
                                        </p:cTn>
                                        <p:tgtEl>
                                          <p:spTgt spid="43"/>
                                        </p:tgtEl>
                                        <p:attrNameLst>
                                          <p:attrName>style.visibility</p:attrName>
                                        </p:attrNameLst>
                                      </p:cBhvr>
                                      <p:to>
                                        <p:strVal val="visible"/>
                                      </p:to>
                                    </p:set>
                                    <p:anim calcmode="lin" valueType="num">
                                      <p:cBhvr additive="base">
                                        <p:cTn id="155" dur="500" fill="hold"/>
                                        <p:tgtEl>
                                          <p:spTgt spid="43"/>
                                        </p:tgtEl>
                                        <p:attrNameLst>
                                          <p:attrName>ppt_x</p:attrName>
                                        </p:attrNameLst>
                                      </p:cBhvr>
                                      <p:tavLst>
                                        <p:tav tm="0">
                                          <p:val>
                                            <p:strVal val="#ppt_x"/>
                                          </p:val>
                                        </p:tav>
                                        <p:tav tm="100000">
                                          <p:val>
                                            <p:strVal val="#ppt_x"/>
                                          </p:val>
                                        </p:tav>
                                      </p:tavLst>
                                    </p:anim>
                                    <p:anim calcmode="lin" valueType="num">
                                      <p:cBhvr additive="base">
                                        <p:cTn id="156" dur="500" fill="hold"/>
                                        <p:tgtEl>
                                          <p:spTgt spid="43"/>
                                        </p:tgtEl>
                                        <p:attrNameLst>
                                          <p:attrName>ppt_y</p:attrName>
                                        </p:attrNameLst>
                                      </p:cBhvr>
                                      <p:tavLst>
                                        <p:tav tm="0">
                                          <p:val>
                                            <p:strVal val="#ppt_y+0.1"/>
                                          </p:val>
                                        </p:tav>
                                        <p:tav tm="100000">
                                          <p:val>
                                            <p:strVal val="#ppt_y"/>
                                          </p:val>
                                        </p:tav>
                                      </p:tavLst>
                                    </p:anim>
                                    <p:animEffect transition="in" filter="fade">
                                      <p:cBhvr>
                                        <p:cTn id="157" dur="500"/>
                                        <p:tgtEl>
                                          <p:spTgt spid="43"/>
                                        </p:tgtEl>
                                      </p:cBhvr>
                                    </p:animEffect>
                                  </p:childTnLst>
                                </p:cTn>
                              </p:par>
                              <p:par>
                                <p:cTn id="163" presetID="2" presetClass="entr" presetSubtype="4" fill="hold" grpId="0" nodeType="withEffect">
                                  <p:stCondLst>
                                    <p:cond delay="0"/>
                                  </p:stCondLst>
                                  <p:childTnLst>
                                    <p:set>
                                      <p:cBhvr>
                                        <p:cTn id="159" dur="1" fill="hold">
                                          <p:stCondLst>
                                            <p:cond delay="0"/>
                                          </p:stCondLst>
                                        </p:cTn>
                                        <p:tgtEl>
                                          <p:spTgt spid="44"/>
                                        </p:tgtEl>
                                        <p:attrNameLst>
                                          <p:attrName>style.visibility</p:attrName>
                                        </p:attrNameLst>
                                      </p:cBhvr>
                                      <p:to>
                                        <p:strVal val="visible"/>
                                      </p:to>
                                    </p:set>
                                    <p:anim calcmode="lin" valueType="num">
                                      <p:cBhvr additive="base">
                                        <p:cTn id="160" dur="500" fill="hold"/>
                                        <p:tgtEl>
                                          <p:spTgt spid="44"/>
                                        </p:tgtEl>
                                        <p:attrNameLst>
                                          <p:attrName>ppt_x</p:attrName>
                                        </p:attrNameLst>
                                      </p:cBhvr>
                                      <p:tavLst>
                                        <p:tav tm="0">
                                          <p:val>
                                            <p:strVal val="#ppt_x"/>
                                          </p:val>
                                        </p:tav>
                                        <p:tav tm="100000">
                                          <p:val>
                                            <p:strVal val="#ppt_x"/>
                                          </p:val>
                                        </p:tav>
                                      </p:tavLst>
                                    </p:anim>
                                    <p:anim calcmode="lin" valueType="num">
                                      <p:cBhvr additive="base">
                                        <p:cTn id="161" dur="500" fill="hold"/>
                                        <p:tgtEl>
                                          <p:spTgt spid="44"/>
                                        </p:tgtEl>
                                        <p:attrNameLst>
                                          <p:attrName>ppt_y</p:attrName>
                                        </p:attrNameLst>
                                      </p:cBhvr>
                                      <p:tavLst>
                                        <p:tav tm="0">
                                          <p:val>
                                            <p:strVal val="#ppt_y+0.1"/>
                                          </p:val>
                                        </p:tav>
                                        <p:tav tm="100000">
                                          <p:val>
                                            <p:strVal val="#ppt_y"/>
                                          </p:val>
                                        </p:tav>
                                      </p:tavLst>
                                    </p:anim>
                                    <p:animEffect transition="in" filter="fade">
                                      <p:cBhvr>
                                        <p:cTn id="162" dur="500"/>
                                        <p:tgtEl>
                                          <p:spTgt spid="44"/>
                                        </p:tgtEl>
                                      </p:cBhvr>
                                    </p:animEffect>
                                  </p:childTnLst>
                                </p:cTn>
                              </p:par>
                              <p:par>
                                <p:cTn id="168" presetID="2" presetClass="entr" presetSubtype="4" fill="hold" grpId="0" nodeType="withEffect">
                                  <p:stCondLst>
                                    <p:cond delay="0"/>
                                  </p:stCondLst>
                                  <p:childTnLst>
                                    <p:set>
                                      <p:cBhvr>
                                        <p:cTn id="164" dur="1" fill="hold">
                                          <p:stCondLst>
                                            <p:cond delay="0"/>
                                          </p:stCondLst>
                                        </p:cTn>
                                        <p:tgtEl>
                                          <p:spTgt spid="45"/>
                                        </p:tgtEl>
                                        <p:attrNameLst>
                                          <p:attrName>style.visibility</p:attrName>
                                        </p:attrNameLst>
                                      </p:cBhvr>
                                      <p:to>
                                        <p:strVal val="visible"/>
                                      </p:to>
                                    </p:set>
                                    <p:anim calcmode="lin" valueType="num">
                                      <p:cBhvr additive="base">
                                        <p:cTn id="165" dur="500" fill="hold"/>
                                        <p:tgtEl>
                                          <p:spTgt spid="45"/>
                                        </p:tgtEl>
                                        <p:attrNameLst>
                                          <p:attrName>ppt_x</p:attrName>
                                        </p:attrNameLst>
                                      </p:cBhvr>
                                      <p:tavLst>
                                        <p:tav tm="0">
                                          <p:val>
                                            <p:strVal val="#ppt_x"/>
                                          </p:val>
                                        </p:tav>
                                        <p:tav tm="100000">
                                          <p:val>
                                            <p:strVal val="#ppt_x"/>
                                          </p:val>
                                        </p:tav>
                                      </p:tavLst>
                                    </p:anim>
                                    <p:anim calcmode="lin" valueType="num">
                                      <p:cBhvr additive="base">
                                        <p:cTn id="166" dur="500" fill="hold"/>
                                        <p:tgtEl>
                                          <p:spTgt spid="45"/>
                                        </p:tgtEl>
                                        <p:attrNameLst>
                                          <p:attrName>ppt_y</p:attrName>
                                        </p:attrNameLst>
                                      </p:cBhvr>
                                      <p:tavLst>
                                        <p:tav tm="0">
                                          <p:val>
                                            <p:strVal val="#ppt_y+0.1"/>
                                          </p:val>
                                        </p:tav>
                                        <p:tav tm="100000">
                                          <p:val>
                                            <p:strVal val="#ppt_y"/>
                                          </p:val>
                                        </p:tav>
                                      </p:tavLst>
                                    </p:anim>
                                    <p:animEffect transition="in" filter="fade">
                                      <p:cBhvr>
                                        <p:cTn id="167" dur="500"/>
                                        <p:tgtEl>
                                          <p:spTgt spid="45"/>
                                        </p:tgtEl>
                                      </p:cBhvr>
                                    </p:animEffect>
                                  </p:childTnLst>
                                </p:cTn>
                              </p:par>
                              <p:par>
                                <p:cTn id="173" presetID="2" presetClass="entr" presetSubtype="4" fill="hold" grpId="0" nodeType="withEffect">
                                  <p:stCondLst>
                                    <p:cond delay="150"/>
                                  </p:stCondLst>
                                  <p:childTnLst>
                                    <p:set>
                                      <p:cBhvr>
                                        <p:cTn id="169" dur="1" fill="hold">
                                          <p:stCondLst>
                                            <p:cond delay="0"/>
                                          </p:stCondLst>
                                        </p:cTn>
                                        <p:tgtEl>
                                          <p:spTgt spid="46"/>
                                        </p:tgtEl>
                                        <p:attrNameLst>
                                          <p:attrName>style.visibility</p:attrName>
                                        </p:attrNameLst>
                                      </p:cBhvr>
                                      <p:to>
                                        <p:strVal val="visible"/>
                                      </p:to>
                                    </p:set>
                                    <p:anim calcmode="lin" valueType="num">
                                      <p:cBhvr additive="base">
                                        <p:cTn id="170" dur="500" fill="hold"/>
                                        <p:tgtEl>
                                          <p:spTgt spid="46"/>
                                        </p:tgtEl>
                                        <p:attrNameLst>
                                          <p:attrName>ppt_x</p:attrName>
                                        </p:attrNameLst>
                                      </p:cBhvr>
                                      <p:tavLst>
                                        <p:tav tm="0">
                                          <p:val>
                                            <p:strVal val="#ppt_x"/>
                                          </p:val>
                                        </p:tav>
                                        <p:tav tm="100000">
                                          <p:val>
                                            <p:strVal val="#ppt_x"/>
                                          </p:val>
                                        </p:tav>
                                      </p:tavLst>
                                    </p:anim>
                                    <p:anim calcmode="lin" valueType="num">
                                      <p:cBhvr additive="base">
                                        <p:cTn id="171" dur="500" fill="hold"/>
                                        <p:tgtEl>
                                          <p:spTgt spid="46"/>
                                        </p:tgtEl>
                                        <p:attrNameLst>
                                          <p:attrName>ppt_y</p:attrName>
                                        </p:attrNameLst>
                                      </p:cBhvr>
                                      <p:tavLst>
                                        <p:tav tm="0">
                                          <p:val>
                                            <p:strVal val="#ppt_y+0.1"/>
                                          </p:val>
                                        </p:tav>
                                        <p:tav tm="100000">
                                          <p:val>
                                            <p:strVal val="#ppt_y"/>
                                          </p:val>
                                        </p:tav>
                                      </p:tavLst>
                                    </p:anim>
                                    <p:animEffect transition="in" filter="fade">
                                      <p:cBhvr>
                                        <p:cTn id="172" dur="500"/>
                                        <p:tgtEl>
                                          <p:spTgt spid="46"/>
                                        </p:tgtEl>
                                      </p:cBhvr>
                                    </p:animEffect>
                                  </p:childTnLst>
                                </p:cTn>
                              </p:par>
                              <p:par>
                                <p:cTn id="178" presetID="2" presetClass="entr" presetSubtype="4" fill="hold" grpId="0" nodeType="withEffect">
                                  <p:stCondLst>
                                    <p:cond delay="150"/>
                                  </p:stCondLst>
                                  <p:childTnLst>
                                    <p:set>
                                      <p:cBhvr>
                                        <p:cTn id="174" dur="1" fill="hold">
                                          <p:stCondLst>
                                            <p:cond delay="0"/>
                                          </p:stCondLst>
                                        </p:cTn>
                                        <p:tgtEl>
                                          <p:spTgt spid="47"/>
                                        </p:tgtEl>
                                        <p:attrNameLst>
                                          <p:attrName>style.visibility</p:attrName>
                                        </p:attrNameLst>
                                      </p:cBhvr>
                                      <p:to>
                                        <p:strVal val="visible"/>
                                      </p:to>
                                    </p:set>
                                    <p:anim calcmode="lin" valueType="num">
                                      <p:cBhvr additive="base">
                                        <p:cTn id="175" dur="500" fill="hold"/>
                                        <p:tgtEl>
                                          <p:spTgt spid="47"/>
                                        </p:tgtEl>
                                        <p:attrNameLst>
                                          <p:attrName>ppt_x</p:attrName>
                                        </p:attrNameLst>
                                      </p:cBhvr>
                                      <p:tavLst>
                                        <p:tav tm="0">
                                          <p:val>
                                            <p:strVal val="#ppt_x"/>
                                          </p:val>
                                        </p:tav>
                                        <p:tav tm="100000">
                                          <p:val>
                                            <p:strVal val="#ppt_x"/>
                                          </p:val>
                                        </p:tav>
                                      </p:tavLst>
                                    </p:anim>
                                    <p:anim calcmode="lin" valueType="num">
                                      <p:cBhvr additive="base">
                                        <p:cTn id="176" dur="500" fill="hold"/>
                                        <p:tgtEl>
                                          <p:spTgt spid="47"/>
                                        </p:tgtEl>
                                        <p:attrNameLst>
                                          <p:attrName>ppt_y</p:attrName>
                                        </p:attrNameLst>
                                      </p:cBhvr>
                                      <p:tavLst>
                                        <p:tav tm="0">
                                          <p:val>
                                            <p:strVal val="#ppt_y+0.1"/>
                                          </p:val>
                                        </p:tav>
                                        <p:tav tm="100000">
                                          <p:val>
                                            <p:strVal val="#ppt_y"/>
                                          </p:val>
                                        </p:tav>
                                      </p:tavLst>
                                    </p:anim>
                                    <p:animEffect transition="in" filter="fade">
                                      <p:cBhvr>
                                        <p:cTn id="177" dur="500"/>
                                        <p:tgtEl>
                                          <p:spTgt spid="47"/>
                                        </p:tgtEl>
                                      </p:cBhvr>
                                    </p:animEffect>
                                  </p:childTnLst>
                                </p:cTn>
                              </p:par>
                              <p:par>
                                <p:cTn id="183" presetID="2" presetClass="entr" presetSubtype="4" fill="hold" grpId="0" nodeType="withEffect">
                                  <p:stCondLst>
                                    <p:cond delay="150"/>
                                  </p:stCondLst>
                                  <p:childTnLst>
                                    <p:set>
                                      <p:cBhvr>
                                        <p:cTn id="179" dur="1" fill="hold">
                                          <p:stCondLst>
                                            <p:cond delay="0"/>
                                          </p:stCondLst>
                                        </p:cTn>
                                        <p:tgtEl>
                                          <p:spTgt spid="48"/>
                                        </p:tgtEl>
                                        <p:attrNameLst>
                                          <p:attrName>style.visibility</p:attrName>
                                        </p:attrNameLst>
                                      </p:cBhvr>
                                      <p:to>
                                        <p:strVal val="visible"/>
                                      </p:to>
                                    </p:set>
                                    <p:anim calcmode="lin" valueType="num">
                                      <p:cBhvr additive="base">
                                        <p:cTn id="180" dur="500" fill="hold"/>
                                        <p:tgtEl>
                                          <p:spTgt spid="48"/>
                                        </p:tgtEl>
                                        <p:attrNameLst>
                                          <p:attrName>ppt_x</p:attrName>
                                        </p:attrNameLst>
                                      </p:cBhvr>
                                      <p:tavLst>
                                        <p:tav tm="0">
                                          <p:val>
                                            <p:strVal val="#ppt_x"/>
                                          </p:val>
                                        </p:tav>
                                        <p:tav tm="100000">
                                          <p:val>
                                            <p:strVal val="#ppt_x"/>
                                          </p:val>
                                        </p:tav>
                                      </p:tavLst>
                                    </p:anim>
                                    <p:anim calcmode="lin" valueType="num">
                                      <p:cBhvr additive="base">
                                        <p:cTn id="181" dur="500" fill="hold"/>
                                        <p:tgtEl>
                                          <p:spTgt spid="48"/>
                                        </p:tgtEl>
                                        <p:attrNameLst>
                                          <p:attrName>ppt_y</p:attrName>
                                        </p:attrNameLst>
                                      </p:cBhvr>
                                      <p:tavLst>
                                        <p:tav tm="0">
                                          <p:val>
                                            <p:strVal val="#ppt_y+0.1"/>
                                          </p:val>
                                        </p:tav>
                                        <p:tav tm="100000">
                                          <p:val>
                                            <p:strVal val="#ppt_y"/>
                                          </p:val>
                                        </p:tav>
                                      </p:tavLst>
                                    </p:anim>
                                    <p:animEffect transition="in" filter="fade">
                                      <p:cBhvr>
                                        <p:cTn id="182" dur="500"/>
                                        <p:tgtEl>
                                          <p:spTgt spid="48"/>
                                        </p:tgtEl>
                                      </p:cBhvr>
                                    </p:animEffect>
                                  </p:childTnLst>
                                </p:cTn>
                              </p:par>
                              <p:par>
                                <p:cTn id="188" presetID="2" presetClass="entr" presetSubtype="4" fill="hold" grpId="0" nodeType="withEffect">
                                  <p:stCondLst>
                                    <p:cond delay="150"/>
                                  </p:stCondLst>
                                  <p:childTnLst>
                                    <p:set>
                                      <p:cBhvr>
                                        <p:cTn id="184" dur="1" fill="hold">
                                          <p:stCondLst>
                                            <p:cond delay="0"/>
                                          </p:stCondLst>
                                        </p:cTn>
                                        <p:tgtEl>
                                          <p:spTgt spid="49"/>
                                        </p:tgtEl>
                                        <p:attrNameLst>
                                          <p:attrName>style.visibility</p:attrName>
                                        </p:attrNameLst>
                                      </p:cBhvr>
                                      <p:to>
                                        <p:strVal val="visible"/>
                                      </p:to>
                                    </p:set>
                                    <p:anim calcmode="lin" valueType="num">
                                      <p:cBhvr additive="base">
                                        <p:cTn id="185" dur="500" fill="hold"/>
                                        <p:tgtEl>
                                          <p:spTgt spid="49"/>
                                        </p:tgtEl>
                                        <p:attrNameLst>
                                          <p:attrName>ppt_x</p:attrName>
                                        </p:attrNameLst>
                                      </p:cBhvr>
                                      <p:tavLst>
                                        <p:tav tm="0">
                                          <p:val>
                                            <p:strVal val="#ppt_x"/>
                                          </p:val>
                                        </p:tav>
                                        <p:tav tm="100000">
                                          <p:val>
                                            <p:strVal val="#ppt_x"/>
                                          </p:val>
                                        </p:tav>
                                      </p:tavLst>
                                    </p:anim>
                                    <p:anim calcmode="lin" valueType="num">
                                      <p:cBhvr additive="base">
                                        <p:cTn id="186" dur="500" fill="hold"/>
                                        <p:tgtEl>
                                          <p:spTgt spid="49"/>
                                        </p:tgtEl>
                                        <p:attrNameLst>
                                          <p:attrName>ppt_y</p:attrName>
                                        </p:attrNameLst>
                                      </p:cBhvr>
                                      <p:tavLst>
                                        <p:tav tm="0">
                                          <p:val>
                                            <p:strVal val="#ppt_y+0.1"/>
                                          </p:val>
                                        </p:tav>
                                        <p:tav tm="100000">
                                          <p:val>
                                            <p:strVal val="#ppt_y"/>
                                          </p:val>
                                        </p:tav>
                                      </p:tavLst>
                                    </p:anim>
                                    <p:animEffect transition="in" filter="fade">
                                      <p:cBhvr>
                                        <p:cTn id="187" dur="500"/>
                                        <p:tgtEl>
                                          <p:spTgt spid="49"/>
                                        </p:tgtEl>
                                      </p:cBhvr>
                                    </p:animEffect>
                                  </p:childTnLst>
                                </p:cTn>
                              </p:par>
                              <p:par>
                                <p:cTn id="193" presetID="2" presetClass="entr" presetSubtype="4" fill="hold" grpId="0" nodeType="withEffect">
                                  <p:stCondLst>
                                    <p:cond delay="150"/>
                                  </p:stCondLst>
                                  <p:childTnLst>
                                    <p:set>
                                      <p:cBhvr>
                                        <p:cTn id="189" dur="1" fill="hold">
                                          <p:stCondLst>
                                            <p:cond delay="0"/>
                                          </p:stCondLst>
                                        </p:cTn>
                                        <p:tgtEl>
                                          <p:spTgt spid="50"/>
                                        </p:tgtEl>
                                        <p:attrNameLst>
                                          <p:attrName>style.visibility</p:attrName>
                                        </p:attrNameLst>
                                      </p:cBhvr>
                                      <p:to>
                                        <p:strVal val="visible"/>
                                      </p:to>
                                    </p:set>
                                    <p:anim calcmode="lin" valueType="num">
                                      <p:cBhvr additive="base">
                                        <p:cTn id="190" dur="500" fill="hold"/>
                                        <p:tgtEl>
                                          <p:spTgt spid="50"/>
                                        </p:tgtEl>
                                        <p:attrNameLst>
                                          <p:attrName>ppt_x</p:attrName>
                                        </p:attrNameLst>
                                      </p:cBhvr>
                                      <p:tavLst>
                                        <p:tav tm="0">
                                          <p:val>
                                            <p:strVal val="#ppt_x"/>
                                          </p:val>
                                        </p:tav>
                                        <p:tav tm="100000">
                                          <p:val>
                                            <p:strVal val="#ppt_x"/>
                                          </p:val>
                                        </p:tav>
                                      </p:tavLst>
                                    </p:anim>
                                    <p:anim calcmode="lin" valueType="num">
                                      <p:cBhvr additive="base">
                                        <p:cTn id="191" dur="500" fill="hold"/>
                                        <p:tgtEl>
                                          <p:spTgt spid="50"/>
                                        </p:tgtEl>
                                        <p:attrNameLst>
                                          <p:attrName>ppt_y</p:attrName>
                                        </p:attrNameLst>
                                      </p:cBhvr>
                                      <p:tavLst>
                                        <p:tav tm="0">
                                          <p:val>
                                            <p:strVal val="#ppt_y+0.1"/>
                                          </p:val>
                                        </p:tav>
                                        <p:tav tm="100000">
                                          <p:val>
                                            <p:strVal val="#ppt_y"/>
                                          </p:val>
                                        </p:tav>
                                      </p:tavLst>
                                    </p:anim>
                                    <p:animEffect transition="in" filter="fade">
                                      <p:cBhvr>
                                        <p:cTn id="192" dur="500"/>
                                        <p:tgtEl>
                                          <p:spTgt spid="50"/>
                                        </p:tgtEl>
                                      </p:cBhvr>
                                    </p:animEffect>
                                  </p:childTnLst>
                                </p:cTn>
                              </p:par>
                              <p:par>
                                <p:cTn id="198" presetID="2" presetClass="entr" presetSubtype="4" fill="hold" grpId="0" nodeType="withEffect">
                                  <p:stCondLst>
                                    <p:cond delay="150"/>
                                  </p:stCondLst>
                                  <p:childTnLst>
                                    <p:set>
                                      <p:cBhvr>
                                        <p:cTn id="194" dur="1" fill="hold">
                                          <p:stCondLst>
                                            <p:cond delay="0"/>
                                          </p:stCondLst>
                                        </p:cTn>
                                        <p:tgtEl>
                                          <p:spTgt spid="51"/>
                                        </p:tgtEl>
                                        <p:attrNameLst>
                                          <p:attrName>style.visibility</p:attrName>
                                        </p:attrNameLst>
                                      </p:cBhvr>
                                      <p:to>
                                        <p:strVal val="visible"/>
                                      </p:to>
                                    </p:set>
                                    <p:anim calcmode="lin" valueType="num">
                                      <p:cBhvr additive="base">
                                        <p:cTn id="195" dur="500" fill="hold"/>
                                        <p:tgtEl>
                                          <p:spTgt spid="51"/>
                                        </p:tgtEl>
                                        <p:attrNameLst>
                                          <p:attrName>ppt_x</p:attrName>
                                        </p:attrNameLst>
                                      </p:cBhvr>
                                      <p:tavLst>
                                        <p:tav tm="0">
                                          <p:val>
                                            <p:strVal val="#ppt_x"/>
                                          </p:val>
                                        </p:tav>
                                        <p:tav tm="100000">
                                          <p:val>
                                            <p:strVal val="#ppt_x"/>
                                          </p:val>
                                        </p:tav>
                                      </p:tavLst>
                                    </p:anim>
                                    <p:anim calcmode="lin" valueType="num">
                                      <p:cBhvr additive="base">
                                        <p:cTn id="196" dur="500" fill="hold"/>
                                        <p:tgtEl>
                                          <p:spTgt spid="51"/>
                                        </p:tgtEl>
                                        <p:attrNameLst>
                                          <p:attrName>ppt_y</p:attrName>
                                        </p:attrNameLst>
                                      </p:cBhvr>
                                      <p:tavLst>
                                        <p:tav tm="0">
                                          <p:val>
                                            <p:strVal val="#ppt_y+0.1"/>
                                          </p:val>
                                        </p:tav>
                                        <p:tav tm="100000">
                                          <p:val>
                                            <p:strVal val="#ppt_y"/>
                                          </p:val>
                                        </p:tav>
                                      </p:tavLst>
                                    </p:anim>
                                    <p:animEffect transition="in" filter="fade">
                                      <p:cBhvr>
                                        <p:cTn id="197" dur="500"/>
                                        <p:tgtEl>
                                          <p:spTgt spid="51"/>
                                        </p:tgtEl>
                                      </p:cBhvr>
                                    </p:animEffect>
                                  </p:childTnLst>
                                </p:cTn>
                              </p:par>
                            </p:childTnLst>
                          </p:cTn>
                        </p:par>
                      </p:childTnLst>
                    </p:cTn>
                  </p:par>
                  <p:par>
                    <p:cTn id="199" fill="hold">
                      <p:stCondLst>
                        <p:cond delay="indefinite"/>
                      </p:stCondLst>
                      <p:childTnLst>
                        <p:par>
                          <p:cTn id="200" fill="hold">
                            <p:stCondLst>
                              <p:cond delay="0"/>
                            </p:stCondLst>
                            <p:childTnLst>
                              <p:par>
                                <p:cTn id="205" presetID="2" presetClass="entr" presetSubtype="4" fill="hold" grpId="0" nodeType="clickEffect">
                                  <p:stCondLst>
                                    <p:cond delay="0"/>
                                  </p:stCondLst>
                                  <p:childTnLst>
                                    <p:set>
                                      <p:cBhvr>
                                        <p:cTn id="201" dur="1" fill="hold">
                                          <p:stCondLst>
                                            <p:cond delay="0"/>
                                          </p:stCondLst>
                                        </p:cTn>
                                        <p:tgtEl>
                                          <p:spTgt spid="52"/>
                                        </p:tgtEl>
                                        <p:attrNameLst>
                                          <p:attrName>style.visibility</p:attrName>
                                        </p:attrNameLst>
                                      </p:cBhvr>
                                      <p:to>
                                        <p:strVal val="visible"/>
                                      </p:to>
                                    </p:set>
                                    <p:anim calcmode="lin" valueType="num">
                                      <p:cBhvr additive="base">
                                        <p:cTn id="202" dur="500" fill="hold"/>
                                        <p:tgtEl>
                                          <p:spTgt spid="52"/>
                                        </p:tgtEl>
                                        <p:attrNameLst>
                                          <p:attrName>ppt_x</p:attrName>
                                        </p:attrNameLst>
                                      </p:cBhvr>
                                      <p:tavLst>
                                        <p:tav tm="0">
                                          <p:val>
                                            <p:strVal val="#ppt_x"/>
                                          </p:val>
                                        </p:tav>
                                        <p:tav tm="100000">
                                          <p:val>
                                            <p:strVal val="#ppt_x"/>
                                          </p:val>
                                        </p:tav>
                                      </p:tavLst>
                                    </p:anim>
                                    <p:anim calcmode="lin" valueType="num">
                                      <p:cBhvr additive="base">
                                        <p:cTn id="203" dur="500" fill="hold"/>
                                        <p:tgtEl>
                                          <p:spTgt spid="52"/>
                                        </p:tgtEl>
                                        <p:attrNameLst>
                                          <p:attrName>ppt_y</p:attrName>
                                        </p:attrNameLst>
                                      </p:cBhvr>
                                      <p:tavLst>
                                        <p:tav tm="0">
                                          <p:val>
                                            <p:strVal val="#ppt_y+0.1"/>
                                          </p:val>
                                        </p:tav>
                                        <p:tav tm="100000">
                                          <p:val>
                                            <p:strVal val="#ppt_y"/>
                                          </p:val>
                                        </p:tav>
                                      </p:tavLst>
                                    </p:anim>
                                    <p:animEffect transition="in" filter="fade">
                                      <p:cBhvr>
                                        <p:cTn id="204" dur="500"/>
                                        <p:tgtEl>
                                          <p:spTgt spid="52"/>
                                        </p:tgtEl>
                                      </p:cBhvr>
                                    </p:animEffect>
                                  </p:childTnLst>
                                </p:cTn>
                              </p:par>
                              <p:par>
                                <p:cTn id="210" presetID="2" presetClass="entr" presetSubtype="4" fill="hold" grpId="0" nodeType="withEffect">
                                  <p:stCondLst>
                                    <p:cond delay="0"/>
                                  </p:stCondLst>
                                  <p:childTnLst>
                                    <p:set>
                                      <p:cBhvr>
                                        <p:cTn id="206" dur="1" fill="hold">
                                          <p:stCondLst>
                                            <p:cond delay="0"/>
                                          </p:stCondLst>
                                        </p:cTn>
                                        <p:tgtEl>
                                          <p:spTgt spid="53"/>
                                        </p:tgtEl>
                                        <p:attrNameLst>
                                          <p:attrName>style.visibility</p:attrName>
                                        </p:attrNameLst>
                                      </p:cBhvr>
                                      <p:to>
                                        <p:strVal val="visible"/>
                                      </p:to>
                                    </p:set>
                                    <p:anim calcmode="lin" valueType="num">
                                      <p:cBhvr additive="base">
                                        <p:cTn id="207" dur="500" fill="hold"/>
                                        <p:tgtEl>
                                          <p:spTgt spid="53"/>
                                        </p:tgtEl>
                                        <p:attrNameLst>
                                          <p:attrName>ppt_x</p:attrName>
                                        </p:attrNameLst>
                                      </p:cBhvr>
                                      <p:tavLst>
                                        <p:tav tm="0">
                                          <p:val>
                                            <p:strVal val="#ppt_x"/>
                                          </p:val>
                                        </p:tav>
                                        <p:tav tm="100000">
                                          <p:val>
                                            <p:strVal val="#ppt_x"/>
                                          </p:val>
                                        </p:tav>
                                      </p:tavLst>
                                    </p:anim>
                                    <p:anim calcmode="lin" valueType="num">
                                      <p:cBhvr additive="base">
                                        <p:cTn id="208" dur="500" fill="hold"/>
                                        <p:tgtEl>
                                          <p:spTgt spid="53"/>
                                        </p:tgtEl>
                                        <p:attrNameLst>
                                          <p:attrName>ppt_y</p:attrName>
                                        </p:attrNameLst>
                                      </p:cBhvr>
                                      <p:tavLst>
                                        <p:tav tm="0">
                                          <p:val>
                                            <p:strVal val="#ppt_y+0.1"/>
                                          </p:val>
                                        </p:tav>
                                        <p:tav tm="100000">
                                          <p:val>
                                            <p:strVal val="#ppt_y"/>
                                          </p:val>
                                        </p:tav>
                                      </p:tavLst>
                                    </p:anim>
                                    <p:animEffect transition="in" filter="fade">
                                      <p:cBhvr>
                                        <p:cTn id="209" dur="500"/>
                                        <p:tgtEl>
                                          <p:spTgt spid="53"/>
                                        </p:tgtEl>
                                      </p:cBhvr>
                                    </p:animEffect>
                                  </p:childTnLst>
                                </p:cTn>
                              </p:par>
                              <p:par>
                                <p:cTn id="215" presetID="2" presetClass="entr" presetSubtype="4" fill="hold" grpId="0" nodeType="withEffect">
                                  <p:stCondLst>
                                    <p:cond delay="0"/>
                                  </p:stCondLst>
                                  <p:childTnLst>
                                    <p:set>
                                      <p:cBhvr>
                                        <p:cTn id="211" dur="1" fill="hold">
                                          <p:stCondLst>
                                            <p:cond delay="0"/>
                                          </p:stCondLst>
                                        </p:cTn>
                                        <p:tgtEl>
                                          <p:spTgt spid="54"/>
                                        </p:tgtEl>
                                        <p:attrNameLst>
                                          <p:attrName>style.visibility</p:attrName>
                                        </p:attrNameLst>
                                      </p:cBhvr>
                                      <p:to>
                                        <p:strVal val="visible"/>
                                      </p:to>
                                    </p:set>
                                    <p:anim calcmode="lin" valueType="num">
                                      <p:cBhvr additive="base">
                                        <p:cTn id="212" dur="500" fill="hold"/>
                                        <p:tgtEl>
                                          <p:spTgt spid="54"/>
                                        </p:tgtEl>
                                        <p:attrNameLst>
                                          <p:attrName>ppt_x</p:attrName>
                                        </p:attrNameLst>
                                      </p:cBhvr>
                                      <p:tavLst>
                                        <p:tav tm="0">
                                          <p:val>
                                            <p:strVal val="#ppt_x"/>
                                          </p:val>
                                        </p:tav>
                                        <p:tav tm="100000">
                                          <p:val>
                                            <p:strVal val="#ppt_x"/>
                                          </p:val>
                                        </p:tav>
                                      </p:tavLst>
                                    </p:anim>
                                    <p:anim calcmode="lin" valueType="num">
                                      <p:cBhvr additive="base">
                                        <p:cTn id="213" dur="500" fill="hold"/>
                                        <p:tgtEl>
                                          <p:spTgt spid="54"/>
                                        </p:tgtEl>
                                        <p:attrNameLst>
                                          <p:attrName>ppt_y</p:attrName>
                                        </p:attrNameLst>
                                      </p:cBhvr>
                                      <p:tavLst>
                                        <p:tav tm="0">
                                          <p:val>
                                            <p:strVal val="#ppt_y+0.1"/>
                                          </p:val>
                                        </p:tav>
                                        <p:tav tm="100000">
                                          <p:val>
                                            <p:strVal val="#ppt_y"/>
                                          </p:val>
                                        </p:tav>
                                      </p:tavLst>
                                    </p:anim>
                                    <p:animEffect transition="in" filter="fade">
                                      <p:cBhvr>
                                        <p:cTn id="21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Problem: Duplication</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We refactored the system - and now the company runs several queuing systems</a:t>
            </a:r>
          </a:p>
        </p:txBody>
      </p:sp>
      <p:sp>
        <p:nvSpPr>
          <p:cNvPr id="11" name="a1u_card10"/>
          <p:cNvSpPr/>
          <p:nvPr/>
        </p:nvSpPr>
        <p:spPr>
          <a:xfrm>
            <a:off x="457200" y="1234440"/>
            <a:ext cx="2609088" cy="2103120"/>
          </a:xfrm>
          <a:prstGeom prst="roundRect">
            <a:avLst>
              <a:gd name="adj" fmla="val 521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2609088" cy="6400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d60_ic12"/>
          <p:cNvSpPr/>
          <p:nvPr/>
        </p:nvSpPr>
        <p:spPr>
          <a:xfrm>
            <a:off x="621792" y="1435608"/>
            <a:ext cx="384048" cy="384048"/>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60_ict13"/>
          <p:cNvSpPr txBox="1"/>
          <p:nvPr/>
        </p:nvSpPr>
        <p:spPr>
          <a:xfrm>
            <a:off x="621792" y="1435608"/>
            <a:ext cx="384048" cy="384048"/>
          </a:xfrm>
          <a:prstGeom prst="rect">
            <a:avLst/>
          </a:prstGeom>
          <a:noFill/>
        </p:spPr>
        <p:txBody>
          <a:bodyPr wrap="square" lIns="0" tIns="0" rIns="0" bIns="0" anchor="ctr">
            <a:spAutoFit/>
          </a:bodyPr>
          <a:lstStyle/>
          <a:p>
            <a:pPr algn="ctr"/>
            <a:r>
              <a:rPr sz="1200" b="1">
                <a:solidFill>
                  <a:srgbClr val="FFFFFF"/>
                </a:solidFill>
                <a:latin typeface="Segoe UI"/>
              </a:rPr>
              <a:t>3</a:t>
            </a:r>
          </a:p>
        </p:txBody>
      </p:sp>
      <p:sp>
        <p:nvSpPr>
          <p:cNvPr id="15" name="a1ud90_ct14"/>
          <p:cNvSpPr txBox="1"/>
          <p:nvPr/>
        </p:nvSpPr>
        <p:spPr>
          <a:xfrm>
            <a:off x="621792" y="1911095"/>
            <a:ext cx="2279904" cy="274320"/>
          </a:xfrm>
          <a:prstGeom prst="rect">
            <a:avLst/>
          </a:prstGeom>
          <a:noFill/>
        </p:spPr>
        <p:txBody>
          <a:bodyPr wrap="square" lIns="0" tIns="0" rIns="0" bIns="0" anchor="ctr">
            <a:spAutoFit/>
          </a:bodyPr>
          <a:lstStyle/>
          <a:p>
            <a:pPr algn="l"/>
            <a:r>
              <a:rPr sz="1300" b="1">
                <a:solidFill>
                  <a:srgbClr val="1C1917"/>
                </a:solidFill>
                <a:latin typeface="Segoe UI"/>
              </a:rPr>
              <a:t>Many queue systems</a:t>
            </a:r>
          </a:p>
        </p:txBody>
      </p:sp>
      <p:sp>
        <p:nvSpPr>
          <p:cNvPr id="16" name="a1ud120_cs15"/>
          <p:cNvSpPr txBox="1"/>
          <p:nvPr/>
        </p:nvSpPr>
        <p:spPr>
          <a:xfrm>
            <a:off x="621792" y="2185415"/>
            <a:ext cx="2279904" cy="237744"/>
          </a:xfrm>
          <a:prstGeom prst="rect">
            <a:avLst/>
          </a:prstGeom>
          <a:noFill/>
        </p:spPr>
        <p:txBody>
          <a:bodyPr wrap="square" lIns="0" tIns="0" rIns="0" bIns="0" anchor="ctr">
            <a:spAutoFit/>
          </a:bodyPr>
          <a:lstStyle/>
          <a:p>
            <a:pPr algn="l"/>
            <a:r>
              <a:rPr sz="1000" b="1">
                <a:solidFill>
                  <a:srgbClr val="E11D48"/>
                </a:solidFill>
                <a:latin typeface="Consolas"/>
              </a:rPr>
              <a:t>MAINTAINED SEPARATELY</a:t>
            </a:r>
          </a:p>
        </p:txBody>
      </p:sp>
      <p:sp>
        <p:nvSpPr>
          <p:cNvPr id="17" name="a1ud150_cb16"/>
          <p:cNvSpPr txBox="1"/>
          <p:nvPr/>
        </p:nvSpPr>
        <p:spPr>
          <a:xfrm>
            <a:off x="621792" y="2441448"/>
            <a:ext cx="2279904" cy="475488"/>
          </a:xfrm>
          <a:prstGeom prst="rect">
            <a:avLst/>
          </a:prstGeom>
          <a:noFill/>
        </p:spPr>
        <p:txBody>
          <a:bodyPr wrap="square" lIns="0" tIns="0" rIns="0" bIns="0" anchor="t">
            <a:spAutoFit/>
          </a:bodyPr>
          <a:lstStyle/>
          <a:p>
            <a:pPr algn="l"/>
            <a:r>
              <a:rPr sz="950" b="1">
                <a:solidFill>
                  <a:srgbClr val="E11D48"/>
                </a:solidFill>
                <a:latin typeface="Segoe UI"/>
              </a:rPr>
              <a:t>· </a:t>
            </a:r>
            <a:r>
              <a:rPr sz="950" b="0">
                <a:solidFill>
                  <a:srgbClr val="44403C"/>
                </a:solidFill>
                <a:latin typeface="Segoe UI"/>
              </a:rPr>
              <a:t>Metrics, logging and tracking each run their own</a:t>
            </a:r>
          </a:p>
        </p:txBody>
      </p:sp>
      <p:sp>
        <p:nvSpPr>
          <p:cNvPr id="18" name="a1ud220_cb17"/>
          <p:cNvSpPr txBox="1"/>
          <p:nvPr/>
        </p:nvSpPr>
        <p:spPr>
          <a:xfrm>
            <a:off x="621792" y="2825496"/>
            <a:ext cx="2279904" cy="475488"/>
          </a:xfrm>
          <a:prstGeom prst="rect">
            <a:avLst/>
          </a:prstGeom>
          <a:noFill/>
        </p:spPr>
        <p:txBody>
          <a:bodyPr wrap="square" lIns="0" tIns="0" rIns="0" bIns="0" anchor="t">
            <a:spAutoFit/>
          </a:bodyPr>
          <a:lstStyle/>
          <a:p>
            <a:pPr algn="l"/>
            <a:r>
              <a:rPr sz="950" b="1">
                <a:solidFill>
                  <a:srgbClr val="E11D48"/>
                </a:solidFill>
                <a:latin typeface="Segoe UI"/>
              </a:rPr>
              <a:t>· </a:t>
            </a:r>
            <a:r>
              <a:rPr sz="950" b="0">
                <a:solidFill>
                  <a:srgbClr val="44403C"/>
                </a:solidFill>
                <a:latin typeface="Segoe UI"/>
              </a:rPr>
              <a:t>Three sets of servers to operate</a:t>
            </a:r>
          </a:p>
        </p:txBody>
      </p:sp>
      <p:sp>
        <p:nvSpPr>
          <p:cNvPr id="19" name="a2u_card18"/>
          <p:cNvSpPr/>
          <p:nvPr/>
        </p:nvSpPr>
        <p:spPr>
          <a:xfrm>
            <a:off x="3267456" y="1234440"/>
            <a:ext cx="2609088" cy="2103120"/>
          </a:xfrm>
          <a:prstGeom prst="roundRect">
            <a:avLst>
              <a:gd name="adj" fmla="val 521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u_acc19"/>
          <p:cNvSpPr/>
          <p:nvPr/>
        </p:nvSpPr>
        <p:spPr>
          <a:xfrm>
            <a:off x="3267456" y="1234440"/>
            <a:ext cx="2609088" cy="64008"/>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d60_ic20"/>
          <p:cNvSpPr/>
          <p:nvPr/>
        </p:nvSpPr>
        <p:spPr>
          <a:xfrm>
            <a:off x="3432048" y="1435608"/>
            <a:ext cx="384048" cy="384048"/>
          </a:xfrm>
          <a:prstGeom prst="ellipse">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d60_ict21"/>
          <p:cNvSpPr txBox="1"/>
          <p:nvPr/>
        </p:nvSpPr>
        <p:spPr>
          <a:xfrm>
            <a:off x="3432048" y="1435608"/>
            <a:ext cx="384048" cy="384048"/>
          </a:xfrm>
          <a:prstGeom prst="rect">
            <a:avLst/>
          </a:prstGeom>
          <a:noFill/>
        </p:spPr>
        <p:txBody>
          <a:bodyPr wrap="square" lIns="0" tIns="0" rIns="0" bIns="0" anchor="ctr">
            <a:spAutoFit/>
          </a:bodyPr>
          <a:lstStyle/>
          <a:p>
            <a:pPr algn="ctr"/>
            <a:r>
              <a:rPr sz="1200" b="1">
                <a:solidFill>
                  <a:srgbClr val="FFFFFF"/>
                </a:solidFill>
                <a:latin typeface="Segoe UI"/>
              </a:rPr>
              <a:t>!</a:t>
            </a:r>
          </a:p>
        </p:txBody>
      </p:sp>
      <p:sp>
        <p:nvSpPr>
          <p:cNvPr id="23" name="a2ud90_ct22"/>
          <p:cNvSpPr txBox="1"/>
          <p:nvPr/>
        </p:nvSpPr>
        <p:spPr>
          <a:xfrm>
            <a:off x="3432048" y="1911095"/>
            <a:ext cx="2279904" cy="274320"/>
          </a:xfrm>
          <a:prstGeom prst="rect">
            <a:avLst/>
          </a:prstGeom>
          <a:noFill/>
        </p:spPr>
        <p:txBody>
          <a:bodyPr wrap="square" lIns="0" tIns="0" rIns="0" bIns="0" anchor="ctr">
            <a:spAutoFit/>
          </a:bodyPr>
          <a:lstStyle/>
          <a:p>
            <a:pPr algn="l"/>
            <a:r>
              <a:rPr sz="1300" b="1">
                <a:solidFill>
                  <a:srgbClr val="1C1917"/>
                </a:solidFill>
                <a:latin typeface="Segoe UI"/>
              </a:rPr>
              <a:t>Their own bugs</a:t>
            </a:r>
          </a:p>
        </p:txBody>
      </p:sp>
      <p:sp>
        <p:nvSpPr>
          <p:cNvPr id="24" name="a2ud120_cs23"/>
          <p:cNvSpPr txBox="1"/>
          <p:nvPr/>
        </p:nvSpPr>
        <p:spPr>
          <a:xfrm>
            <a:off x="3432048" y="2185415"/>
            <a:ext cx="2279904" cy="237744"/>
          </a:xfrm>
          <a:prstGeom prst="rect">
            <a:avLst/>
          </a:prstGeom>
          <a:noFill/>
        </p:spPr>
        <p:txBody>
          <a:bodyPr wrap="square" lIns="0" tIns="0" rIns="0" bIns="0" anchor="ctr">
            <a:spAutoFit/>
          </a:bodyPr>
          <a:lstStyle/>
          <a:p>
            <a:pPr algn="l"/>
            <a:r>
              <a:rPr sz="1000" b="1">
                <a:solidFill>
                  <a:srgbClr val="A16207"/>
                </a:solidFill>
                <a:latin typeface="Consolas"/>
              </a:rPr>
              <a:t>AND LIMITATIONS</a:t>
            </a:r>
          </a:p>
        </p:txBody>
      </p:sp>
      <p:sp>
        <p:nvSpPr>
          <p:cNvPr id="25" name="a2ud150_cb24"/>
          <p:cNvSpPr txBox="1"/>
          <p:nvPr/>
        </p:nvSpPr>
        <p:spPr>
          <a:xfrm>
            <a:off x="3432048" y="2441448"/>
            <a:ext cx="2279904" cy="475488"/>
          </a:xfrm>
          <a:prstGeom prst="rect">
            <a:avLst/>
          </a:prstGeom>
          <a:noFill/>
        </p:spPr>
        <p:txBody>
          <a:bodyPr wrap="square" lIns="0" tIns="0" rIns="0" bIns="0" anchor="t">
            <a:spAutoFit/>
          </a:bodyPr>
          <a:lstStyle/>
          <a:p>
            <a:pPr algn="l"/>
            <a:r>
              <a:rPr sz="950" b="1">
                <a:solidFill>
                  <a:srgbClr val="A16207"/>
                </a:solidFill>
                <a:latin typeface="Segoe UI"/>
              </a:rPr>
              <a:t>· </a:t>
            </a:r>
            <a:r>
              <a:rPr sz="950" b="0">
                <a:solidFill>
                  <a:srgbClr val="44403C"/>
                </a:solidFill>
                <a:latin typeface="Segoe UI"/>
              </a:rPr>
              <a:t>Each one fails in its own way</a:t>
            </a:r>
          </a:p>
        </p:txBody>
      </p:sp>
      <p:sp>
        <p:nvSpPr>
          <p:cNvPr id="26" name="a2ud220_cb25"/>
          <p:cNvSpPr txBox="1"/>
          <p:nvPr/>
        </p:nvSpPr>
        <p:spPr>
          <a:xfrm>
            <a:off x="3432048" y="2825496"/>
            <a:ext cx="2279904" cy="475488"/>
          </a:xfrm>
          <a:prstGeom prst="rect">
            <a:avLst/>
          </a:prstGeom>
          <a:noFill/>
        </p:spPr>
        <p:txBody>
          <a:bodyPr wrap="square" lIns="0" tIns="0" rIns="0" bIns="0" anchor="t">
            <a:spAutoFit/>
          </a:bodyPr>
          <a:lstStyle/>
          <a:p>
            <a:pPr algn="l"/>
            <a:r>
              <a:rPr sz="950" b="1">
                <a:solidFill>
                  <a:srgbClr val="A16207"/>
                </a:solidFill>
                <a:latin typeface="Segoe UI"/>
              </a:rPr>
              <a:t>· </a:t>
            </a:r>
            <a:r>
              <a:rPr sz="950" b="0">
                <a:solidFill>
                  <a:srgbClr val="44403C"/>
                </a:solidFill>
                <a:latin typeface="Segoe UI"/>
              </a:rPr>
              <a:t>Each has different size and speed limits</a:t>
            </a:r>
          </a:p>
        </p:txBody>
      </p:sp>
      <p:sp>
        <p:nvSpPr>
          <p:cNvPr id="27" name="a3u_card26"/>
          <p:cNvSpPr/>
          <p:nvPr/>
        </p:nvSpPr>
        <p:spPr>
          <a:xfrm>
            <a:off x="6077712" y="1234440"/>
            <a:ext cx="2609088" cy="2103120"/>
          </a:xfrm>
          <a:prstGeom prst="roundRect">
            <a:avLst>
              <a:gd name="adj" fmla="val 521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u_acc27"/>
          <p:cNvSpPr/>
          <p:nvPr/>
        </p:nvSpPr>
        <p:spPr>
          <a:xfrm>
            <a:off x="6077712" y="1234440"/>
            <a:ext cx="2609088" cy="6400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3ud60_ic28"/>
          <p:cNvSpPr/>
          <p:nvPr/>
        </p:nvSpPr>
        <p:spPr>
          <a:xfrm>
            <a:off x="6242304" y="1435608"/>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d60_ict29"/>
          <p:cNvSpPr txBox="1"/>
          <p:nvPr/>
        </p:nvSpPr>
        <p:spPr>
          <a:xfrm>
            <a:off x="6242304" y="1435608"/>
            <a:ext cx="384048" cy="384048"/>
          </a:xfrm>
          <a:prstGeom prst="rect">
            <a:avLst/>
          </a:prstGeom>
          <a:noFill/>
        </p:spPr>
        <p:txBody>
          <a:bodyPr wrap="square" lIns="0" tIns="0" rIns="0" bIns="0" anchor="ctr">
            <a:spAutoFit/>
          </a:bodyPr>
          <a:lstStyle/>
          <a:p>
            <a:pPr algn="ctr"/>
            <a:r>
              <a:rPr sz="1200" b="1">
                <a:solidFill>
                  <a:srgbClr val="FFFFFF"/>
                </a:solidFill>
                <a:latin typeface="Segoe UI"/>
              </a:rPr>
              <a:t>+</a:t>
            </a:r>
          </a:p>
        </p:txBody>
      </p:sp>
      <p:sp>
        <p:nvSpPr>
          <p:cNvPr id="31" name="a3ud90_ct30"/>
          <p:cNvSpPr txBox="1"/>
          <p:nvPr/>
        </p:nvSpPr>
        <p:spPr>
          <a:xfrm>
            <a:off x="6242304" y="1911095"/>
            <a:ext cx="2279904" cy="274320"/>
          </a:xfrm>
          <a:prstGeom prst="rect">
            <a:avLst/>
          </a:prstGeom>
          <a:noFill/>
        </p:spPr>
        <p:txBody>
          <a:bodyPr wrap="square" lIns="0" tIns="0" rIns="0" bIns="0" anchor="ctr">
            <a:spAutoFit/>
          </a:bodyPr>
          <a:lstStyle/>
          <a:p>
            <a:pPr algn="l"/>
            <a:r>
              <a:rPr sz="1300" b="1">
                <a:solidFill>
                  <a:srgbClr val="1C1917"/>
                </a:solidFill>
                <a:latin typeface="Segoe UI"/>
              </a:rPr>
              <a:t>More are coming</a:t>
            </a:r>
          </a:p>
        </p:txBody>
      </p:sp>
      <p:sp>
        <p:nvSpPr>
          <p:cNvPr id="32" name="a3ud120_cs31"/>
          <p:cNvSpPr txBox="1"/>
          <p:nvPr/>
        </p:nvSpPr>
        <p:spPr>
          <a:xfrm>
            <a:off x="6242304" y="2185415"/>
            <a:ext cx="2279904" cy="237744"/>
          </a:xfrm>
          <a:prstGeom prst="rect">
            <a:avLst/>
          </a:prstGeom>
          <a:noFill/>
        </p:spPr>
        <p:txBody>
          <a:bodyPr wrap="square" lIns="0" tIns="0" rIns="0" bIns="0" anchor="ctr">
            <a:spAutoFit/>
          </a:bodyPr>
          <a:lstStyle/>
          <a:p>
            <a:pPr algn="l"/>
            <a:r>
              <a:rPr sz="1000" b="1">
                <a:solidFill>
                  <a:srgbClr val="EA580C"/>
                </a:solidFill>
                <a:latin typeface="Consolas"/>
              </a:rPr>
              <a:t>IT ONLY GROWS</a:t>
            </a:r>
          </a:p>
        </p:txBody>
      </p:sp>
      <p:sp>
        <p:nvSpPr>
          <p:cNvPr id="33" name="a3ud150_cb32"/>
          <p:cNvSpPr txBox="1"/>
          <p:nvPr/>
        </p:nvSpPr>
        <p:spPr>
          <a:xfrm>
            <a:off x="6242304" y="2441448"/>
            <a:ext cx="2279904" cy="475488"/>
          </a:xfrm>
          <a:prstGeom prst="rect">
            <a:avLst/>
          </a:prstGeom>
          <a:noFill/>
        </p:spPr>
        <p:txBody>
          <a:bodyPr wrap="square" lIns="0" tIns="0" rIns="0" bIns="0" anchor="t">
            <a:spAutoFit/>
          </a:bodyPr>
          <a:lstStyle/>
          <a:p>
            <a:pPr algn="l"/>
            <a:r>
              <a:rPr sz="950" b="1">
                <a:solidFill>
                  <a:srgbClr val="EA580C"/>
                </a:solidFill>
                <a:latin typeface="Segoe UI"/>
              </a:rPr>
              <a:t>· </a:t>
            </a:r>
            <a:r>
              <a:rPr sz="950" b="0">
                <a:solidFill>
                  <a:srgbClr val="44403C"/>
                </a:solidFill>
                <a:latin typeface="Segoe UI"/>
              </a:rPr>
              <a:t>Every new need invites a new system</a:t>
            </a:r>
          </a:p>
        </p:txBody>
      </p:sp>
      <p:sp>
        <p:nvSpPr>
          <p:cNvPr id="34" name="a3ud220_cb33"/>
          <p:cNvSpPr txBox="1"/>
          <p:nvPr/>
        </p:nvSpPr>
        <p:spPr>
          <a:xfrm>
            <a:off x="6242304" y="2825496"/>
            <a:ext cx="2279904" cy="475488"/>
          </a:xfrm>
          <a:prstGeom prst="rect">
            <a:avLst/>
          </a:prstGeom>
          <a:noFill/>
        </p:spPr>
        <p:txBody>
          <a:bodyPr wrap="square" lIns="0" tIns="0" rIns="0" bIns="0" anchor="t">
            <a:spAutoFit/>
          </a:bodyPr>
          <a:lstStyle/>
          <a:p>
            <a:pPr algn="l"/>
            <a:r>
              <a:rPr sz="950" b="1">
                <a:solidFill>
                  <a:srgbClr val="EA580C"/>
                </a:solidFill>
                <a:latin typeface="Segoe UI"/>
              </a:rPr>
              <a:t>· </a:t>
            </a:r>
            <a:r>
              <a:rPr sz="950" b="0">
                <a:solidFill>
                  <a:srgbClr val="44403C"/>
                </a:solidFill>
                <a:latin typeface="Segoe UI"/>
              </a:rPr>
              <a:t>Data sits in silos that cannot share</a:t>
            </a:r>
          </a:p>
        </p:txBody>
      </p:sp>
      <p:sp>
        <p:nvSpPr>
          <p:cNvPr id="35" name="a4u_nb34"/>
          <p:cNvSpPr/>
          <p:nvPr/>
        </p:nvSpPr>
        <p:spPr>
          <a:xfrm>
            <a:off x="457200" y="3520440"/>
            <a:ext cx="8229600" cy="777240"/>
          </a:xfrm>
          <a:prstGeom prst="roundRect">
            <a:avLst>
              <a:gd name="adj" fmla="val 9411"/>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4u_nacc35"/>
          <p:cNvSpPr/>
          <p:nvPr/>
        </p:nvSpPr>
        <p:spPr>
          <a:xfrm>
            <a:off x="457200" y="3520440"/>
            <a:ext cx="54864" cy="77724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4u_nt36"/>
          <p:cNvSpPr txBox="1"/>
          <p:nvPr/>
        </p:nvSpPr>
        <p:spPr>
          <a:xfrm>
            <a:off x="658368" y="3520440"/>
            <a:ext cx="7827264" cy="777240"/>
          </a:xfrm>
          <a:prstGeom prst="rect">
            <a:avLst/>
          </a:prstGeom>
          <a:noFill/>
        </p:spPr>
        <p:txBody>
          <a:bodyPr wrap="square" lIns="0" tIns="0" rIns="0" bIns="0" anchor="ctr">
            <a:spAutoFit/>
          </a:bodyPr>
          <a:lstStyle/>
          <a:p>
            <a:pPr algn="l"/>
            <a:r>
              <a:rPr sz="1050" b="1">
                <a:solidFill>
                  <a:srgbClr val="0E7490"/>
                </a:solidFill>
                <a:latin typeface="Segoe UI"/>
              </a:rPr>
              <a:t>GOAL  </a:t>
            </a:r>
            <a:r>
              <a:rPr sz="1050" b="0">
                <a:solidFill>
                  <a:srgbClr val="44403C"/>
                </a:solidFill>
                <a:latin typeface="Segoe UI"/>
              </a:rPr>
              <a:t>What we really want: ONE system that can receive, organize, store and process all of this data - and feed every report and application that needs it.</a:t>
            </a:r>
          </a:p>
        </p:txBody>
      </p:sp>
      <p:sp>
        <p:nvSpPr>
          <p:cNvPr id="38" name="ft3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27</a:t>
            </a:r>
          </a:p>
        </p:txBody>
      </p:sp>
      <p:sp>
        <p:nvSpPr>
          <p:cNvPr id="39" name="ft3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ft3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1" name="ft4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6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6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9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2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5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2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51" presetID="2" presetClass="entr" presetSubtype="4"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ppt_x</p:attrName>
                                        </p:attrNameLst>
                                      </p:cBhvr>
                                      <p:tavLst>
                                        <p:tav tm="0">
                                          <p:val>
                                            <p:strVal val="#ppt_x"/>
                                          </p:val>
                                        </p:tav>
                                        <p:tav tm="100000">
                                          <p:val>
                                            <p:strVal val="#ppt_x"/>
                                          </p:val>
                                        </p:tav>
                                      </p:tavLst>
                                    </p:anim>
                                    <p:anim calcmode="lin" valueType="num">
                                      <p:cBhvr additive="base">
                                        <p:cTn id="49" dur="500" fill="hold"/>
                                        <p:tgtEl>
                                          <p:spTgt spid="19"/>
                                        </p:tgtEl>
                                        <p:attrNameLst>
                                          <p:attrName>ppt_y</p:attrName>
                                        </p:attrNameLst>
                                      </p:cBhvr>
                                      <p:tavLst>
                                        <p:tav tm="0">
                                          <p:val>
                                            <p:strVal val="#ppt_y+0.1"/>
                                          </p:val>
                                        </p:tav>
                                        <p:tav tm="100000">
                                          <p:val>
                                            <p:strVal val="#ppt_y"/>
                                          </p:val>
                                        </p:tav>
                                      </p:tavLst>
                                    </p:anim>
                                    <p:animEffect transition="in" filter="fade">
                                      <p:cBhvr>
                                        <p:cTn id="50" dur="500"/>
                                        <p:tgtEl>
                                          <p:spTgt spid="19"/>
                                        </p:tgtEl>
                                      </p:cBhvr>
                                    </p:animEffect>
                                  </p:childTnLst>
                                </p:cTn>
                              </p:par>
                              <p:par>
                                <p:cTn id="56" presetID="2" presetClass="entr" presetSubtype="4"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par>
                                <p:cTn id="61" presetID="2" presetClass="entr" presetSubtype="4" fill="hold" grpId="0" nodeType="withEffect">
                                  <p:stCondLst>
                                    <p:cond delay="6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6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9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12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15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22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childTnLst>
                          </p:cTn>
                        </p:par>
                      </p:childTnLst>
                    </p:cTn>
                  </p:par>
                  <p:par>
                    <p:cTn id="87" fill="hold">
                      <p:stCondLst>
                        <p:cond delay="indefinite"/>
                      </p:stCondLst>
                      <p:childTnLst>
                        <p:par>
                          <p:cTn id="88" fill="hold">
                            <p:stCondLst>
                              <p:cond delay="0"/>
                            </p:stCondLst>
                            <p:childTnLst>
                              <p:par>
                                <p:cTn id="93" presetID="2" presetClass="entr" presetSubtype="4" fill="hold" grpId="0" nodeType="clickEffect">
                                  <p:stCondLst>
                                    <p:cond delay="0"/>
                                  </p:stCondLst>
                                  <p:childTnLst>
                                    <p:set>
                                      <p:cBhvr>
                                        <p:cTn id="89" dur="1" fill="hold">
                                          <p:stCondLst>
                                            <p:cond delay="0"/>
                                          </p:stCondLst>
                                        </p:cTn>
                                        <p:tgtEl>
                                          <p:spTgt spid="27"/>
                                        </p:tgtEl>
                                        <p:attrNameLst>
                                          <p:attrName>style.visibility</p:attrName>
                                        </p:attrNameLst>
                                      </p:cBhvr>
                                      <p:to>
                                        <p:strVal val="visible"/>
                                      </p:to>
                                    </p:set>
                                    <p:anim calcmode="lin" valueType="num">
                                      <p:cBhvr additive="base">
                                        <p:cTn id="90" dur="500" fill="hold"/>
                                        <p:tgtEl>
                                          <p:spTgt spid="27"/>
                                        </p:tgtEl>
                                        <p:attrNameLst>
                                          <p:attrName>ppt_x</p:attrName>
                                        </p:attrNameLst>
                                      </p:cBhvr>
                                      <p:tavLst>
                                        <p:tav tm="0">
                                          <p:val>
                                            <p:strVal val="#ppt_x"/>
                                          </p:val>
                                        </p:tav>
                                        <p:tav tm="100000">
                                          <p:val>
                                            <p:strVal val="#ppt_x"/>
                                          </p:val>
                                        </p:tav>
                                      </p:tavLst>
                                    </p:anim>
                                    <p:anim calcmode="lin" valueType="num">
                                      <p:cBhvr additive="base">
                                        <p:cTn id="91" dur="500" fill="hold"/>
                                        <p:tgtEl>
                                          <p:spTgt spid="27"/>
                                        </p:tgtEl>
                                        <p:attrNameLst>
                                          <p:attrName>ppt_y</p:attrName>
                                        </p:attrNameLst>
                                      </p:cBhvr>
                                      <p:tavLst>
                                        <p:tav tm="0">
                                          <p:val>
                                            <p:strVal val="#ppt_y+0.1"/>
                                          </p:val>
                                        </p:tav>
                                        <p:tav tm="100000">
                                          <p:val>
                                            <p:strVal val="#ppt_y"/>
                                          </p:val>
                                        </p:tav>
                                      </p:tavLst>
                                    </p:anim>
                                    <p:animEffect transition="in" filter="fade">
                                      <p:cBhvr>
                                        <p:cTn id="92" dur="500"/>
                                        <p:tgtEl>
                                          <p:spTgt spid="27"/>
                                        </p:tgtEl>
                                      </p:cBhvr>
                                    </p:animEffect>
                                  </p:childTnLst>
                                </p:cTn>
                              </p:par>
                              <p:par>
                                <p:cTn id="98" presetID="2" presetClass="entr" presetSubtype="4" fill="hold" grpId="0" nodeType="withEffect">
                                  <p:stCondLst>
                                    <p:cond delay="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ppt_x"/>
                                          </p:val>
                                        </p:tav>
                                        <p:tav tm="100000">
                                          <p:val>
                                            <p:strVal val="#ppt_x"/>
                                          </p:val>
                                        </p:tav>
                                      </p:tavLst>
                                    </p:anim>
                                    <p:anim calcmode="lin" valueType="num">
                                      <p:cBhvr additive="base">
                                        <p:cTn id="96" dur="500" fill="hold"/>
                                        <p:tgtEl>
                                          <p:spTgt spid="28"/>
                                        </p:tgtEl>
                                        <p:attrNameLst>
                                          <p:attrName>ppt_y</p:attrName>
                                        </p:attrNameLst>
                                      </p:cBhvr>
                                      <p:tavLst>
                                        <p:tav tm="0">
                                          <p:val>
                                            <p:strVal val="#ppt_y+0.1"/>
                                          </p:val>
                                        </p:tav>
                                        <p:tav tm="100000">
                                          <p:val>
                                            <p:strVal val="#ppt_y"/>
                                          </p:val>
                                        </p:tav>
                                      </p:tavLst>
                                    </p:anim>
                                    <p:animEffect transition="in" filter="fade">
                                      <p:cBhvr>
                                        <p:cTn id="97" dur="500"/>
                                        <p:tgtEl>
                                          <p:spTgt spid="28"/>
                                        </p:tgtEl>
                                      </p:cBhvr>
                                    </p:animEffect>
                                  </p:childTnLst>
                                </p:cTn>
                              </p:par>
                              <p:par>
                                <p:cTn id="103" presetID="2" presetClass="entr" presetSubtype="4" fill="hold" grpId="0" nodeType="withEffect">
                                  <p:stCondLst>
                                    <p:cond delay="60"/>
                                  </p:stCondLst>
                                  <p:childTnLst>
                                    <p:set>
                                      <p:cBhvr>
                                        <p:cTn id="99" dur="1" fill="hold">
                                          <p:stCondLst>
                                            <p:cond delay="0"/>
                                          </p:stCondLst>
                                        </p:cTn>
                                        <p:tgtEl>
                                          <p:spTgt spid="29"/>
                                        </p:tgtEl>
                                        <p:attrNameLst>
                                          <p:attrName>style.visibility</p:attrName>
                                        </p:attrNameLst>
                                      </p:cBhvr>
                                      <p:to>
                                        <p:strVal val="visible"/>
                                      </p:to>
                                    </p:set>
                                    <p:anim calcmode="lin" valueType="num">
                                      <p:cBhvr additive="base">
                                        <p:cTn id="100" dur="500" fill="hold"/>
                                        <p:tgtEl>
                                          <p:spTgt spid="29"/>
                                        </p:tgtEl>
                                        <p:attrNameLst>
                                          <p:attrName>ppt_x</p:attrName>
                                        </p:attrNameLst>
                                      </p:cBhvr>
                                      <p:tavLst>
                                        <p:tav tm="0">
                                          <p:val>
                                            <p:strVal val="#ppt_x"/>
                                          </p:val>
                                        </p:tav>
                                        <p:tav tm="100000">
                                          <p:val>
                                            <p:strVal val="#ppt_x"/>
                                          </p:val>
                                        </p:tav>
                                      </p:tavLst>
                                    </p:anim>
                                    <p:anim calcmode="lin" valueType="num">
                                      <p:cBhvr additive="base">
                                        <p:cTn id="101" dur="500" fill="hold"/>
                                        <p:tgtEl>
                                          <p:spTgt spid="29"/>
                                        </p:tgtEl>
                                        <p:attrNameLst>
                                          <p:attrName>ppt_y</p:attrName>
                                        </p:attrNameLst>
                                      </p:cBhvr>
                                      <p:tavLst>
                                        <p:tav tm="0">
                                          <p:val>
                                            <p:strVal val="#ppt_y+0.1"/>
                                          </p:val>
                                        </p:tav>
                                        <p:tav tm="100000">
                                          <p:val>
                                            <p:strVal val="#ppt_y"/>
                                          </p:val>
                                        </p:tav>
                                      </p:tavLst>
                                    </p:anim>
                                    <p:animEffect transition="in" filter="fade">
                                      <p:cBhvr>
                                        <p:cTn id="102" dur="500"/>
                                        <p:tgtEl>
                                          <p:spTgt spid="29"/>
                                        </p:tgtEl>
                                      </p:cBhvr>
                                    </p:animEffect>
                                  </p:childTnLst>
                                </p:cTn>
                              </p:par>
                              <p:par>
                                <p:cTn id="108" presetID="2" presetClass="entr" presetSubtype="4" fill="hold" grpId="0" nodeType="withEffect">
                                  <p:stCondLst>
                                    <p:cond delay="6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ppt_x"/>
                                          </p:val>
                                        </p:tav>
                                        <p:tav tm="100000">
                                          <p:val>
                                            <p:strVal val="#ppt_x"/>
                                          </p:val>
                                        </p:tav>
                                      </p:tavLst>
                                    </p:anim>
                                    <p:anim calcmode="lin" valueType="num">
                                      <p:cBhvr additive="base">
                                        <p:cTn id="106" dur="500" fill="hold"/>
                                        <p:tgtEl>
                                          <p:spTgt spid="30"/>
                                        </p:tgtEl>
                                        <p:attrNameLst>
                                          <p:attrName>ppt_y</p:attrName>
                                        </p:attrNameLst>
                                      </p:cBhvr>
                                      <p:tavLst>
                                        <p:tav tm="0">
                                          <p:val>
                                            <p:strVal val="#ppt_y+0.1"/>
                                          </p:val>
                                        </p:tav>
                                        <p:tav tm="100000">
                                          <p:val>
                                            <p:strVal val="#ppt_y"/>
                                          </p:val>
                                        </p:tav>
                                      </p:tavLst>
                                    </p:anim>
                                    <p:animEffect transition="in" filter="fade">
                                      <p:cBhvr>
                                        <p:cTn id="107" dur="500"/>
                                        <p:tgtEl>
                                          <p:spTgt spid="30"/>
                                        </p:tgtEl>
                                      </p:cBhvr>
                                    </p:animEffect>
                                  </p:childTnLst>
                                </p:cTn>
                              </p:par>
                              <p:par>
                                <p:cTn id="113" presetID="2" presetClass="entr" presetSubtype="4" fill="hold" grpId="0" nodeType="withEffect">
                                  <p:stCondLst>
                                    <p:cond delay="9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8" presetID="2" presetClass="entr" presetSubtype="4" fill="hold" grpId="0" nodeType="withEffect">
                                  <p:stCondLst>
                                    <p:cond delay="12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par>
                                <p:cTn id="123" presetID="2" presetClass="entr" presetSubtype="4" fill="hold" grpId="0" nodeType="withEffect">
                                  <p:stCondLst>
                                    <p:cond delay="15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par>
                                <p:cTn id="128" presetID="2" presetClass="entr" presetSubtype="4" fill="hold" grpId="0" nodeType="withEffect">
                                  <p:stCondLst>
                                    <p:cond delay="22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childTnLst>
                          </p:cTn>
                        </p:par>
                      </p:childTnLst>
                    </p:cTn>
                  </p:par>
                  <p:par>
                    <p:cTn id="129" fill="hold">
                      <p:stCondLst>
                        <p:cond delay="indefinite"/>
                      </p:stCondLst>
                      <p:childTnLst>
                        <p:par>
                          <p:cTn id="130" fill="hold">
                            <p:stCondLst>
                              <p:cond delay="0"/>
                            </p:stCondLst>
                            <p:childTnLst>
                              <p:par>
                                <p:cTn id="135" presetID="2" presetClass="entr" presetSubtype="4" fill="hold" grpId="0" nodeType="clickEffect">
                                  <p:stCondLst>
                                    <p:cond delay="0"/>
                                  </p:stCondLst>
                                  <p:childTnLst>
                                    <p:set>
                                      <p:cBhvr>
                                        <p:cTn id="131" dur="1" fill="hold">
                                          <p:stCondLst>
                                            <p:cond delay="0"/>
                                          </p:stCondLst>
                                        </p:cTn>
                                        <p:tgtEl>
                                          <p:spTgt spid="35"/>
                                        </p:tgtEl>
                                        <p:attrNameLst>
                                          <p:attrName>style.visibility</p:attrName>
                                        </p:attrNameLst>
                                      </p:cBhvr>
                                      <p:to>
                                        <p:strVal val="visible"/>
                                      </p:to>
                                    </p:set>
                                    <p:anim calcmode="lin" valueType="num">
                                      <p:cBhvr additive="base">
                                        <p:cTn id="132" dur="500" fill="hold"/>
                                        <p:tgtEl>
                                          <p:spTgt spid="35"/>
                                        </p:tgtEl>
                                        <p:attrNameLst>
                                          <p:attrName>ppt_x</p:attrName>
                                        </p:attrNameLst>
                                      </p:cBhvr>
                                      <p:tavLst>
                                        <p:tav tm="0">
                                          <p:val>
                                            <p:strVal val="#ppt_x"/>
                                          </p:val>
                                        </p:tav>
                                        <p:tav tm="100000">
                                          <p:val>
                                            <p:strVal val="#ppt_x"/>
                                          </p:val>
                                        </p:tav>
                                      </p:tavLst>
                                    </p:anim>
                                    <p:anim calcmode="lin" valueType="num">
                                      <p:cBhvr additive="base">
                                        <p:cTn id="133" dur="500" fill="hold"/>
                                        <p:tgtEl>
                                          <p:spTgt spid="35"/>
                                        </p:tgtEl>
                                        <p:attrNameLst>
                                          <p:attrName>ppt_y</p:attrName>
                                        </p:attrNameLst>
                                      </p:cBhvr>
                                      <p:tavLst>
                                        <p:tav tm="0">
                                          <p:val>
                                            <p:strVal val="#ppt_y+0.1"/>
                                          </p:val>
                                        </p:tav>
                                        <p:tav tm="100000">
                                          <p:val>
                                            <p:strVal val="#ppt_y"/>
                                          </p:val>
                                        </p:tav>
                                      </p:tavLst>
                                    </p:anim>
                                    <p:animEffect transition="in" filter="fade">
                                      <p:cBhvr>
                                        <p:cTn id="134" dur="500"/>
                                        <p:tgtEl>
                                          <p:spTgt spid="35"/>
                                        </p:tgtEl>
                                      </p:cBhvr>
                                    </p:animEffect>
                                  </p:childTnLst>
                                </p:cTn>
                              </p:par>
                              <p:par>
                                <p:cTn id="140" presetID="2" presetClass="entr" presetSubtype="4" fill="hold" grpId="0" nodeType="withEffect">
                                  <p:stCondLst>
                                    <p:cond delay="0"/>
                                  </p:stCondLst>
                                  <p:childTnLst>
                                    <p:set>
                                      <p:cBhvr>
                                        <p:cTn id="136" dur="1" fill="hold">
                                          <p:stCondLst>
                                            <p:cond delay="0"/>
                                          </p:stCondLst>
                                        </p:cTn>
                                        <p:tgtEl>
                                          <p:spTgt spid="36"/>
                                        </p:tgtEl>
                                        <p:attrNameLst>
                                          <p:attrName>style.visibility</p:attrName>
                                        </p:attrNameLst>
                                      </p:cBhvr>
                                      <p:to>
                                        <p:strVal val="visible"/>
                                      </p:to>
                                    </p:set>
                                    <p:anim calcmode="lin" valueType="num">
                                      <p:cBhvr additive="base">
                                        <p:cTn id="137" dur="500" fill="hold"/>
                                        <p:tgtEl>
                                          <p:spTgt spid="36"/>
                                        </p:tgtEl>
                                        <p:attrNameLst>
                                          <p:attrName>ppt_x</p:attrName>
                                        </p:attrNameLst>
                                      </p:cBhvr>
                                      <p:tavLst>
                                        <p:tav tm="0">
                                          <p:val>
                                            <p:strVal val="#ppt_x"/>
                                          </p:val>
                                        </p:tav>
                                        <p:tav tm="100000">
                                          <p:val>
                                            <p:strVal val="#ppt_x"/>
                                          </p:val>
                                        </p:tav>
                                      </p:tavLst>
                                    </p:anim>
                                    <p:anim calcmode="lin" valueType="num">
                                      <p:cBhvr additive="base">
                                        <p:cTn id="138" dur="500" fill="hold"/>
                                        <p:tgtEl>
                                          <p:spTgt spid="36"/>
                                        </p:tgtEl>
                                        <p:attrNameLst>
                                          <p:attrName>ppt_y</p:attrName>
                                        </p:attrNameLst>
                                      </p:cBhvr>
                                      <p:tavLst>
                                        <p:tav tm="0">
                                          <p:val>
                                            <p:strVal val="#ppt_y+0.1"/>
                                          </p:val>
                                        </p:tav>
                                        <p:tav tm="100000">
                                          <p:val>
                                            <p:strVal val="#ppt_y"/>
                                          </p:val>
                                        </p:tav>
                                      </p:tavLst>
                                    </p:anim>
                                    <p:animEffect transition="in" filter="fade">
                                      <p:cBhvr>
                                        <p:cTn id="139" dur="500"/>
                                        <p:tgtEl>
                                          <p:spTgt spid="36"/>
                                        </p:tgtEl>
                                      </p:cBhvr>
                                    </p:animEffect>
                                  </p:childTnLst>
                                </p:cTn>
                              </p:par>
                              <p:par>
                                <p:cTn id="145" presetID="2" presetClass="entr" presetSubtype="4" fill="hold" grpId="0" nodeType="withEffect">
                                  <p:stCondLst>
                                    <p:cond delay="0"/>
                                  </p:stCondLst>
                                  <p:childTnLst>
                                    <p:set>
                                      <p:cBhvr>
                                        <p:cTn id="141" dur="1" fill="hold">
                                          <p:stCondLst>
                                            <p:cond delay="0"/>
                                          </p:stCondLst>
                                        </p:cTn>
                                        <p:tgtEl>
                                          <p:spTgt spid="37"/>
                                        </p:tgtEl>
                                        <p:attrNameLst>
                                          <p:attrName>style.visibility</p:attrName>
                                        </p:attrNameLst>
                                      </p:cBhvr>
                                      <p:to>
                                        <p:strVal val="visible"/>
                                      </p:to>
                                    </p:set>
                                    <p:anim calcmode="lin" valueType="num">
                                      <p:cBhvr additive="base">
                                        <p:cTn id="142" dur="500" fill="hold"/>
                                        <p:tgtEl>
                                          <p:spTgt spid="37"/>
                                        </p:tgtEl>
                                        <p:attrNameLst>
                                          <p:attrName>ppt_x</p:attrName>
                                        </p:attrNameLst>
                                      </p:cBhvr>
                                      <p:tavLst>
                                        <p:tav tm="0">
                                          <p:val>
                                            <p:strVal val="#ppt_x"/>
                                          </p:val>
                                        </p:tav>
                                        <p:tav tm="100000">
                                          <p:val>
                                            <p:strVal val="#ppt_x"/>
                                          </p:val>
                                        </p:tav>
                                      </p:tavLst>
                                    </p:anim>
                                    <p:anim calcmode="lin" valueType="num">
                                      <p:cBhvr additive="base">
                                        <p:cTn id="143" dur="500" fill="hold"/>
                                        <p:tgtEl>
                                          <p:spTgt spid="37"/>
                                        </p:tgtEl>
                                        <p:attrNameLst>
                                          <p:attrName>ppt_y</p:attrName>
                                        </p:attrNameLst>
                                      </p:cBhvr>
                                      <p:tavLst>
                                        <p:tav tm="0">
                                          <p:val>
                                            <p:strVal val="#ppt_y+0.1"/>
                                          </p:val>
                                        </p:tav>
                                        <p:tav tm="100000">
                                          <p:val>
                                            <p:strVal val="#ppt_y"/>
                                          </p:val>
                                        </p:tav>
                                      </p:tavLst>
                                    </p:anim>
                                    <p:animEffect transition="in" filter="fade">
                                      <p:cBhvr>
                                        <p:cTn id="144"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panel1"/>
          <p:cNvSpPr/>
          <p:nvPr/>
        </p:nvSpPr>
        <p:spPr>
          <a:xfrm>
            <a:off x="0" y="0"/>
            <a:ext cx="2926080" cy="51435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a0f_pl2"/>
          <p:cNvSpPr txBox="1"/>
          <p:nvPr/>
        </p:nvSpPr>
        <p:spPr>
          <a:xfrm>
            <a:off x="502920" y="1005840"/>
            <a:ext cx="2194560" cy="274320"/>
          </a:xfrm>
          <a:prstGeom prst="rect">
            <a:avLst/>
          </a:prstGeom>
          <a:noFill/>
        </p:spPr>
        <p:txBody>
          <a:bodyPr wrap="square" lIns="0" tIns="0" rIns="0" bIns="0" anchor="ctr">
            <a:spAutoFit/>
          </a:bodyPr>
          <a:lstStyle/>
          <a:p>
            <a:pPr algn="l"/>
            <a:r>
              <a:rPr sz="1100" b="1" spc="500">
                <a:solidFill>
                  <a:srgbClr val="18181B"/>
                </a:solidFill>
                <a:latin typeface="Segoe UI"/>
              </a:rPr>
              <a:t>PART</a:t>
            </a:r>
          </a:p>
        </p:txBody>
      </p:sp>
      <p:sp>
        <p:nvSpPr>
          <p:cNvPr id="4" name="a0ud100_n3"/>
          <p:cNvSpPr txBox="1"/>
          <p:nvPr/>
        </p:nvSpPr>
        <p:spPr>
          <a:xfrm>
            <a:off x="411480" y="1280160"/>
            <a:ext cx="2377440" cy="1691640"/>
          </a:xfrm>
          <a:prstGeom prst="rect">
            <a:avLst/>
          </a:prstGeom>
          <a:noFill/>
        </p:spPr>
        <p:txBody>
          <a:bodyPr wrap="square" lIns="0" tIns="0" rIns="0" bIns="0" anchor="ctr">
            <a:spAutoFit/>
          </a:bodyPr>
          <a:lstStyle/>
          <a:p>
            <a:pPr algn="l"/>
            <a:r>
              <a:rPr sz="10450" b="0">
                <a:solidFill>
                  <a:srgbClr val="FFFFFF"/>
                </a:solidFill>
                <a:latin typeface="Bahnschrift SemiBold"/>
              </a:rPr>
              <a:t>03</a:t>
            </a:r>
          </a:p>
        </p:txBody>
      </p:sp>
      <p:sp>
        <p:nvSpPr>
          <p:cNvPr id="5" name="a0wd300_pb4"/>
          <p:cNvSpPr/>
          <p:nvPr/>
        </p:nvSpPr>
        <p:spPr>
          <a:xfrm>
            <a:off x="502920" y="3090672"/>
            <a:ext cx="640080" cy="45720"/>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0fd400_pc5"/>
          <p:cNvSpPr/>
          <p:nvPr/>
        </p:nvSpPr>
        <p:spPr>
          <a:xfrm>
            <a:off x="502920" y="4160520"/>
            <a:ext cx="329184" cy="274320"/>
          </a:xfrm>
          <a:prstGeom prst="roundRect">
            <a:avLst>
              <a:gd name="adj" fmla="val 13333"/>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0fd400_pct6"/>
          <p:cNvSpPr txBox="1"/>
          <p:nvPr/>
        </p:nvSpPr>
        <p:spPr>
          <a:xfrm>
            <a:off x="502920" y="4160520"/>
            <a:ext cx="329184" cy="274320"/>
          </a:xfrm>
          <a:prstGeom prst="rect">
            <a:avLst/>
          </a:prstGeom>
          <a:noFill/>
        </p:spPr>
        <p:txBody>
          <a:bodyPr wrap="square" lIns="0" tIns="0" rIns="0" bIns="0" anchor="ctr">
            <a:spAutoFit/>
          </a:bodyPr>
          <a:lstStyle/>
          <a:p>
            <a:pPr algn="ctr"/>
            <a:r>
              <a:rPr sz="850" b="0">
                <a:solidFill>
                  <a:srgbClr val="FDBA74"/>
                </a:solidFill>
                <a:latin typeface="Consolas"/>
              </a:rPr>
              <a:t>01</a:t>
            </a:r>
          </a:p>
        </p:txBody>
      </p:sp>
      <p:sp>
        <p:nvSpPr>
          <p:cNvPr id="8" name="a0fd480_pc7"/>
          <p:cNvSpPr/>
          <p:nvPr/>
        </p:nvSpPr>
        <p:spPr>
          <a:xfrm>
            <a:off x="877824" y="4160520"/>
            <a:ext cx="329184" cy="274320"/>
          </a:xfrm>
          <a:prstGeom prst="roundRect">
            <a:avLst>
              <a:gd name="adj" fmla="val 13333"/>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0fd480_pct8"/>
          <p:cNvSpPr txBox="1"/>
          <p:nvPr/>
        </p:nvSpPr>
        <p:spPr>
          <a:xfrm>
            <a:off x="877824" y="4160520"/>
            <a:ext cx="329184" cy="274320"/>
          </a:xfrm>
          <a:prstGeom prst="rect">
            <a:avLst/>
          </a:prstGeom>
          <a:noFill/>
        </p:spPr>
        <p:txBody>
          <a:bodyPr wrap="square" lIns="0" tIns="0" rIns="0" bIns="0" anchor="ctr">
            <a:spAutoFit/>
          </a:bodyPr>
          <a:lstStyle/>
          <a:p>
            <a:pPr algn="ctr"/>
            <a:r>
              <a:rPr sz="850" b="0">
                <a:solidFill>
                  <a:srgbClr val="FDBA74"/>
                </a:solidFill>
                <a:latin typeface="Consolas"/>
              </a:rPr>
              <a:t>02</a:t>
            </a:r>
          </a:p>
        </p:txBody>
      </p:sp>
      <p:sp>
        <p:nvSpPr>
          <p:cNvPr id="10" name="a0fd560_pc9"/>
          <p:cNvSpPr/>
          <p:nvPr/>
        </p:nvSpPr>
        <p:spPr>
          <a:xfrm>
            <a:off x="1252728" y="4160520"/>
            <a:ext cx="329184" cy="274320"/>
          </a:xfrm>
          <a:prstGeom prst="roundRect">
            <a:avLst>
              <a:gd name="adj" fmla="val 133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0fd560_pct10"/>
          <p:cNvSpPr txBox="1"/>
          <p:nvPr/>
        </p:nvSpPr>
        <p:spPr>
          <a:xfrm>
            <a:off x="1252728" y="4160520"/>
            <a:ext cx="329184" cy="274320"/>
          </a:xfrm>
          <a:prstGeom prst="rect">
            <a:avLst/>
          </a:prstGeom>
          <a:noFill/>
        </p:spPr>
        <p:txBody>
          <a:bodyPr wrap="square" lIns="0" tIns="0" rIns="0" bIns="0" anchor="ctr">
            <a:spAutoFit/>
          </a:bodyPr>
          <a:lstStyle/>
          <a:p>
            <a:pPr algn="ctr"/>
            <a:r>
              <a:rPr sz="850" b="1">
                <a:solidFill>
                  <a:srgbClr val="C2410C"/>
                </a:solidFill>
                <a:latin typeface="Consolas"/>
              </a:rPr>
              <a:t>03</a:t>
            </a:r>
          </a:p>
        </p:txBody>
      </p:sp>
      <p:sp>
        <p:nvSpPr>
          <p:cNvPr id="12" name="a0ud250_h11"/>
          <p:cNvSpPr txBox="1"/>
          <p:nvPr/>
        </p:nvSpPr>
        <p:spPr>
          <a:xfrm>
            <a:off x="3429000" y="868680"/>
            <a:ext cx="5257800" cy="1188720"/>
          </a:xfrm>
          <a:prstGeom prst="rect">
            <a:avLst/>
          </a:prstGeom>
          <a:noFill/>
        </p:spPr>
        <p:txBody>
          <a:bodyPr wrap="square" lIns="0" tIns="0" rIns="0" bIns="0" anchor="b">
            <a:spAutoFit/>
          </a:bodyPr>
          <a:lstStyle/>
          <a:p>
            <a:pPr algn="l"/>
            <a:r>
              <a:rPr sz="3250" b="0">
                <a:solidFill>
                  <a:srgbClr val="FFFFFF"/>
                </a:solidFill>
                <a:latin typeface="Bahnschrift SemiBold"/>
              </a:rPr>
              <a:t>A Short History of Messaging</a:t>
            </a:r>
          </a:p>
        </p:txBody>
      </p:sp>
      <p:sp>
        <p:nvSpPr>
          <p:cNvPr id="13" name="a0wd450_hb12"/>
          <p:cNvSpPr/>
          <p:nvPr/>
        </p:nvSpPr>
        <p:spPr>
          <a:xfrm>
            <a:off x="3429000" y="2212848"/>
            <a:ext cx="548640"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fd500_t13"/>
          <p:cNvSpPr txBox="1"/>
          <p:nvPr/>
        </p:nvSpPr>
        <p:spPr>
          <a:xfrm>
            <a:off x="3429000" y="2395728"/>
            <a:ext cx="5257800" cy="603504"/>
          </a:xfrm>
          <a:prstGeom prst="rect">
            <a:avLst/>
          </a:prstGeom>
          <a:noFill/>
        </p:spPr>
        <p:txBody>
          <a:bodyPr wrap="square" lIns="0" tIns="0" rIns="0" bIns="0" anchor="t">
            <a:spAutoFit/>
          </a:bodyPr>
          <a:lstStyle/>
          <a:p>
            <a:pPr algn="l"/>
            <a:r>
              <a:rPr sz="1400" b="0">
                <a:solidFill>
                  <a:srgbClr val="D6D3D1"/>
                </a:solidFill>
                <a:latin typeface="Segoe UI"/>
              </a:rPr>
              <a:t>Forty years of systems built to let programs talk without waiting</a:t>
            </a:r>
          </a:p>
        </p:txBody>
      </p:sp>
      <p:sp>
        <p:nvSpPr>
          <p:cNvPr id="15" name="a0ud700_dd14"/>
          <p:cNvSpPr/>
          <p:nvPr/>
        </p:nvSpPr>
        <p:spPr>
          <a:xfrm>
            <a:off x="3429000" y="323697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ud700_di15"/>
          <p:cNvSpPr txBox="1"/>
          <p:nvPr/>
        </p:nvSpPr>
        <p:spPr>
          <a:xfrm>
            <a:off x="3666744" y="3154680"/>
            <a:ext cx="5020056" cy="274320"/>
          </a:xfrm>
          <a:prstGeom prst="rect">
            <a:avLst/>
          </a:prstGeom>
          <a:noFill/>
        </p:spPr>
        <p:txBody>
          <a:bodyPr wrap="square" lIns="0" tIns="0" rIns="0" bIns="0" anchor="ctr">
            <a:spAutoFit/>
          </a:bodyPr>
          <a:lstStyle/>
          <a:p>
            <a:pPr algn="l"/>
            <a:r>
              <a:rPr sz="1200" b="0">
                <a:solidFill>
                  <a:srgbClr val="E7E5E4"/>
                </a:solidFill>
                <a:latin typeface="Segoe UI"/>
              </a:rPr>
              <a:t>Queues</a:t>
            </a:r>
          </a:p>
        </p:txBody>
      </p:sp>
      <p:sp>
        <p:nvSpPr>
          <p:cNvPr id="17" name="a0ud820_dd16"/>
          <p:cNvSpPr/>
          <p:nvPr/>
        </p:nvSpPr>
        <p:spPr>
          <a:xfrm>
            <a:off x="3429000" y="360273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0ud820_di17"/>
          <p:cNvSpPr txBox="1"/>
          <p:nvPr/>
        </p:nvSpPr>
        <p:spPr>
          <a:xfrm>
            <a:off x="3666744" y="3520440"/>
            <a:ext cx="5020056" cy="274320"/>
          </a:xfrm>
          <a:prstGeom prst="rect">
            <a:avLst/>
          </a:prstGeom>
          <a:noFill/>
        </p:spPr>
        <p:txBody>
          <a:bodyPr wrap="square" lIns="0" tIns="0" rIns="0" bIns="0" anchor="ctr">
            <a:spAutoFit/>
          </a:bodyPr>
          <a:lstStyle/>
          <a:p>
            <a:pPr algn="l"/>
            <a:r>
              <a:rPr sz="1200" b="0">
                <a:solidFill>
                  <a:srgbClr val="E7E5E4"/>
                </a:solidFill>
                <a:latin typeface="Segoe UI"/>
              </a:rPr>
              <a:t>Pub/sub</a:t>
            </a:r>
          </a:p>
        </p:txBody>
      </p:sp>
      <p:sp>
        <p:nvSpPr>
          <p:cNvPr id="19" name="a0ud940_dd18"/>
          <p:cNvSpPr/>
          <p:nvPr/>
        </p:nvSpPr>
        <p:spPr>
          <a:xfrm>
            <a:off x="3429000" y="396849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ud940_di19"/>
          <p:cNvSpPr txBox="1"/>
          <p:nvPr/>
        </p:nvSpPr>
        <p:spPr>
          <a:xfrm>
            <a:off x="3666744" y="3886200"/>
            <a:ext cx="5020056" cy="274320"/>
          </a:xfrm>
          <a:prstGeom prst="rect">
            <a:avLst/>
          </a:prstGeom>
          <a:noFill/>
        </p:spPr>
        <p:txBody>
          <a:bodyPr wrap="square" lIns="0" tIns="0" rIns="0" bIns="0" anchor="ctr">
            <a:spAutoFit/>
          </a:bodyPr>
          <a:lstStyle/>
          <a:p>
            <a:pPr algn="l"/>
            <a:r>
              <a:rPr sz="1200" b="0">
                <a:solidFill>
                  <a:srgbClr val="E7E5E4"/>
                </a:solidFill>
                <a:latin typeface="Segoe UI"/>
              </a:rPr>
              <a:t>JMS and AMQP</a:t>
            </a:r>
          </a:p>
        </p:txBody>
      </p:sp>
      <p:sp>
        <p:nvSpPr>
          <p:cNvPr id="21" name="a0ud1060_dd20"/>
          <p:cNvSpPr/>
          <p:nvPr/>
        </p:nvSpPr>
        <p:spPr>
          <a:xfrm>
            <a:off x="3429000" y="433425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0ud1060_di21"/>
          <p:cNvSpPr txBox="1"/>
          <p:nvPr/>
        </p:nvSpPr>
        <p:spPr>
          <a:xfrm>
            <a:off x="3666744" y="4251960"/>
            <a:ext cx="5020056" cy="274320"/>
          </a:xfrm>
          <a:prstGeom prst="rect">
            <a:avLst/>
          </a:prstGeom>
          <a:noFill/>
        </p:spPr>
        <p:txBody>
          <a:bodyPr wrap="square" lIns="0" tIns="0" rIns="0" bIns="0" anchor="ctr">
            <a:spAutoFit/>
          </a:bodyPr>
          <a:lstStyle/>
          <a:p>
            <a:pPr algn="l"/>
            <a:r>
              <a:rPr sz="1200" b="0">
                <a:solidFill>
                  <a:srgbClr val="E7E5E4"/>
                </a:solidFill>
                <a:latin typeface="Segoe UI"/>
              </a:rPr>
              <a:t>Log aggregators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12" presetID="2" presetClass="entr" presetSubtype="4" fill="hold" grpId="0" nodeType="withEffect">
                                  <p:stCondLst>
                                    <p:cond delay="10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ppt_x</p:attrName>
                                        </p:attrNameLst>
                                      </p:cBhvr>
                                      <p:tavLst>
                                        <p:tav tm="0">
                                          <p:val>
                                            <p:strVal val="#ppt_x"/>
                                          </p:val>
                                        </p:tav>
                                        <p:tav tm="100000">
                                          <p:val>
                                            <p:strVal val="#ppt_x"/>
                                          </p:val>
                                        </p:tav>
                                      </p:tavLst>
                                    </p:anim>
                                    <p:anim calcmode="lin" valueType="num">
                                      <p:cBhvr additive="base">
                                        <p:cTn id="10" dur="500" fill="hold"/>
                                        <p:tgtEl>
                                          <p:spTgt spid="4"/>
                                        </p:tgtEl>
                                        <p:attrNameLst>
                                          <p:attrName>ppt_y</p:attrName>
                                        </p:attrNameLst>
                                      </p:cBhvr>
                                      <p:tavLst>
                                        <p:tav tm="0">
                                          <p:val>
                                            <p:strVal val="#ppt_y+0.1"/>
                                          </p:val>
                                        </p:tav>
                                        <p:tav tm="100000">
                                          <p:val>
                                            <p:strVal val="#ppt_y"/>
                                          </p:val>
                                        </p:tav>
                                      </p:tavLst>
                                    </p:anim>
                                    <p:animEffect transition="in" filter="fade">
                                      <p:cBhvr>
                                        <p:cTn id="11" dur="500"/>
                                        <p:tgtEl>
                                          <p:spTgt spid="4"/>
                                        </p:tgtEl>
                                      </p:cBhvr>
                                    </p:animEffect>
                                  </p:childTnLst>
                                </p:cTn>
                              </p:par>
                              <p:par>
                                <p:cTn id="17" presetID="2" presetClass="entr" presetSubtype="4" fill="hold" grpId="0" nodeType="withEffect">
                                  <p:stCondLst>
                                    <p:cond delay="25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fill="hold"/>
                                        <p:tgtEl>
                                          <p:spTgt spid="12"/>
                                        </p:tgtEl>
                                        <p:attrNameLst>
                                          <p:attrName>ppt_x</p:attrName>
                                        </p:attrNameLst>
                                      </p:cBhvr>
                                      <p:tavLst>
                                        <p:tav tm="0">
                                          <p:val>
                                            <p:strVal val="#ppt_x"/>
                                          </p:val>
                                        </p:tav>
                                        <p:tav tm="100000">
                                          <p:val>
                                            <p:strVal val="#ppt_x"/>
                                          </p:val>
                                        </p:tav>
                                      </p:tavLst>
                                    </p:anim>
                                    <p:anim calcmode="lin" valueType="num">
                                      <p:cBhvr additive="base">
                                        <p:cTn id="15" dur="500" fill="hold"/>
                                        <p:tgtEl>
                                          <p:spTgt spid="12"/>
                                        </p:tgtEl>
                                        <p:attrNameLst>
                                          <p:attrName>ppt_y</p:attrName>
                                        </p:attrNameLst>
                                      </p:cBhvr>
                                      <p:tavLst>
                                        <p:tav tm="0">
                                          <p:val>
                                            <p:strVal val="#ppt_y+0.1"/>
                                          </p:val>
                                        </p:tav>
                                        <p:tav tm="100000">
                                          <p:val>
                                            <p:strVal val="#ppt_y"/>
                                          </p:val>
                                        </p:tav>
                                      </p:tavLst>
                                    </p:anim>
                                    <p:animEffect transition="in" filter="fade">
                                      <p:cBhvr>
                                        <p:cTn id="16" dur="500"/>
                                        <p:tgtEl>
                                          <p:spTgt spid="12"/>
                                        </p:tgtEl>
                                      </p:cBhvr>
                                    </p:animEffect>
                                  </p:childTnLst>
                                </p:cTn>
                              </p:par>
                              <p:par>
                                <p:cTn id="20" presetID="22" presetClass="entr" presetSubtype="8" fill="hold" grpId="0" nodeType="withEffect">
                                  <p:stCondLst>
                                    <p:cond delay="30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par>
                                <p:cTn id="23" presetID="10" presetClass="entr" presetSubtype="0" fill="hold" grpId="0" nodeType="withEffect">
                                  <p:stCondLst>
                                    <p:cond delay="4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6" presetID="10" presetClass="entr" presetSubtype="0" fill="hold" grpId="0" nodeType="withEffect">
                                  <p:stCondLst>
                                    <p:cond delay="4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9" presetID="22" presetClass="entr" presetSubtype="8" fill="hold" grpId="0" nodeType="withEffect">
                                  <p:stCondLst>
                                    <p:cond delay="450"/>
                                  </p:stCondLst>
                                  <p:childTnLst>
                                    <p:set>
                                      <p:cBhvr>
                                        <p:cTn id="27" dur="1" fill="hold">
                                          <p:stCondLst>
                                            <p:cond delay="0"/>
                                          </p:stCondLst>
                                        </p:cTn>
                                        <p:tgtEl>
                                          <p:spTgt spid="13"/>
                                        </p:tgtEl>
                                        <p:attrNameLst>
                                          <p:attrName>style.visibility</p:attrName>
                                        </p:attrNameLst>
                                      </p:cBhvr>
                                      <p:to>
                                        <p:strVal val="visible"/>
                                      </p:to>
                                    </p:set>
                                    <p:animEffect transition="in" filter="wipe(left)">
                                      <p:cBhvr>
                                        <p:cTn id="28" dur="500"/>
                                        <p:tgtEl>
                                          <p:spTgt spid="13"/>
                                        </p:tgtEl>
                                      </p:cBhvr>
                                    </p:animEffect>
                                  </p:childTnLst>
                                </p:cTn>
                              </p:par>
                              <p:par>
                                <p:cTn id="32"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5" presetID="10" presetClass="entr" presetSubtype="0" fill="hold" grpId="0" nodeType="withEffect">
                                  <p:stCondLst>
                                    <p:cond delay="48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8" presetID="10" presetClass="entr" presetSubtype="0" fill="hold" grpId="0" nodeType="withEffect">
                                  <p:stCondLst>
                                    <p:cond delay="5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41" presetID="10" presetClass="entr" presetSubtype="0" fill="hold" grpId="0" nodeType="withEffect">
                                  <p:stCondLst>
                                    <p:cond delay="56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par>
                                <p:cTn id="44" presetID="10" presetClass="entr" presetSubtype="0" fill="hold" grpId="0" nodeType="withEffect">
                                  <p:stCondLst>
                                    <p:cond delay="56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par>
                                <p:cTn id="49" presetID="2" presetClass="entr" presetSubtype="4" fill="hold" grpId="0" nodeType="withEffect">
                                  <p:stCondLst>
                                    <p:cond delay="700"/>
                                  </p:stCondLst>
                                  <p:childTnLst>
                                    <p:set>
                                      <p:cBhvr>
                                        <p:cTn id="45" dur="1" fill="hold">
                                          <p:stCondLst>
                                            <p:cond delay="0"/>
                                          </p:stCondLst>
                                        </p:cTn>
                                        <p:tgtEl>
                                          <p:spTgt spid="15"/>
                                        </p:tgtEl>
                                        <p:attrNameLst>
                                          <p:attrName>style.visibility</p:attrName>
                                        </p:attrNameLst>
                                      </p:cBhvr>
                                      <p:to>
                                        <p:strVal val="visible"/>
                                      </p:to>
                                    </p:set>
                                    <p:anim calcmode="lin" valueType="num">
                                      <p:cBhvr additive="base">
                                        <p:cTn id="46" dur="500" fill="hold"/>
                                        <p:tgtEl>
                                          <p:spTgt spid="15"/>
                                        </p:tgtEl>
                                        <p:attrNameLst>
                                          <p:attrName>ppt_x</p:attrName>
                                        </p:attrNameLst>
                                      </p:cBhvr>
                                      <p:tavLst>
                                        <p:tav tm="0">
                                          <p:val>
                                            <p:strVal val="#ppt_x"/>
                                          </p:val>
                                        </p:tav>
                                        <p:tav tm="100000">
                                          <p:val>
                                            <p:strVal val="#ppt_x"/>
                                          </p:val>
                                        </p:tav>
                                      </p:tavLst>
                                    </p:anim>
                                    <p:anim calcmode="lin" valueType="num">
                                      <p:cBhvr additive="base">
                                        <p:cTn id="47" dur="500" fill="hold"/>
                                        <p:tgtEl>
                                          <p:spTgt spid="15"/>
                                        </p:tgtEl>
                                        <p:attrNameLst>
                                          <p:attrName>ppt_y</p:attrName>
                                        </p:attrNameLst>
                                      </p:cBhvr>
                                      <p:tavLst>
                                        <p:tav tm="0">
                                          <p:val>
                                            <p:strVal val="#ppt_y+0.1"/>
                                          </p:val>
                                        </p:tav>
                                        <p:tav tm="100000">
                                          <p:val>
                                            <p:strVal val="#ppt_y"/>
                                          </p:val>
                                        </p:tav>
                                      </p:tavLst>
                                    </p:anim>
                                    <p:animEffect transition="in" filter="fade">
                                      <p:cBhvr>
                                        <p:cTn id="48" dur="500"/>
                                        <p:tgtEl>
                                          <p:spTgt spid="15"/>
                                        </p:tgtEl>
                                      </p:cBhvr>
                                    </p:animEffect>
                                  </p:childTnLst>
                                </p:cTn>
                              </p:par>
                              <p:par>
                                <p:cTn id="54" presetID="2" presetClass="entr" presetSubtype="4" fill="hold" grpId="0" nodeType="withEffect">
                                  <p:stCondLst>
                                    <p:cond delay="70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fill="hold"/>
                                        <p:tgtEl>
                                          <p:spTgt spid="16"/>
                                        </p:tgtEl>
                                        <p:attrNameLst>
                                          <p:attrName>ppt_x</p:attrName>
                                        </p:attrNameLst>
                                      </p:cBhvr>
                                      <p:tavLst>
                                        <p:tav tm="0">
                                          <p:val>
                                            <p:strVal val="#ppt_x"/>
                                          </p:val>
                                        </p:tav>
                                        <p:tav tm="100000">
                                          <p:val>
                                            <p:strVal val="#ppt_x"/>
                                          </p:val>
                                        </p:tav>
                                      </p:tavLst>
                                    </p:anim>
                                    <p:anim calcmode="lin" valueType="num">
                                      <p:cBhvr additive="base">
                                        <p:cTn id="52" dur="500" fill="hold"/>
                                        <p:tgtEl>
                                          <p:spTgt spid="16"/>
                                        </p:tgtEl>
                                        <p:attrNameLst>
                                          <p:attrName>ppt_y</p:attrName>
                                        </p:attrNameLst>
                                      </p:cBhvr>
                                      <p:tavLst>
                                        <p:tav tm="0">
                                          <p:val>
                                            <p:strVal val="#ppt_y+0.1"/>
                                          </p:val>
                                        </p:tav>
                                        <p:tav tm="100000">
                                          <p:val>
                                            <p:strVal val="#ppt_y"/>
                                          </p:val>
                                        </p:tav>
                                      </p:tavLst>
                                    </p:anim>
                                    <p:animEffect transition="in" filter="fade">
                                      <p:cBhvr>
                                        <p:cTn id="53" dur="500"/>
                                        <p:tgtEl>
                                          <p:spTgt spid="16"/>
                                        </p:tgtEl>
                                      </p:cBhvr>
                                    </p:animEffect>
                                  </p:childTnLst>
                                </p:cTn>
                              </p:par>
                              <p:par>
                                <p:cTn id="59" presetID="2" presetClass="entr" presetSubtype="4" fill="hold" grpId="0" nodeType="withEffect">
                                  <p:stCondLst>
                                    <p:cond delay="820"/>
                                  </p:stCondLst>
                                  <p:childTnLst>
                                    <p:set>
                                      <p:cBhvr>
                                        <p:cTn id="55" dur="1" fill="hold">
                                          <p:stCondLst>
                                            <p:cond delay="0"/>
                                          </p:stCondLst>
                                        </p:cTn>
                                        <p:tgtEl>
                                          <p:spTgt spid="17"/>
                                        </p:tgtEl>
                                        <p:attrNameLst>
                                          <p:attrName>style.visibility</p:attrName>
                                        </p:attrNameLst>
                                      </p:cBhvr>
                                      <p:to>
                                        <p:strVal val="visible"/>
                                      </p:to>
                                    </p:set>
                                    <p:anim calcmode="lin" valueType="num">
                                      <p:cBhvr additive="base">
                                        <p:cTn id="56" dur="500" fill="hold"/>
                                        <p:tgtEl>
                                          <p:spTgt spid="17"/>
                                        </p:tgtEl>
                                        <p:attrNameLst>
                                          <p:attrName>ppt_x</p:attrName>
                                        </p:attrNameLst>
                                      </p:cBhvr>
                                      <p:tavLst>
                                        <p:tav tm="0">
                                          <p:val>
                                            <p:strVal val="#ppt_x"/>
                                          </p:val>
                                        </p:tav>
                                        <p:tav tm="100000">
                                          <p:val>
                                            <p:strVal val="#ppt_x"/>
                                          </p:val>
                                        </p:tav>
                                      </p:tavLst>
                                    </p:anim>
                                    <p:anim calcmode="lin" valueType="num">
                                      <p:cBhvr additive="base">
                                        <p:cTn id="57" dur="500" fill="hold"/>
                                        <p:tgtEl>
                                          <p:spTgt spid="17"/>
                                        </p:tgtEl>
                                        <p:attrNameLst>
                                          <p:attrName>ppt_y</p:attrName>
                                        </p:attrNameLst>
                                      </p:cBhvr>
                                      <p:tavLst>
                                        <p:tav tm="0">
                                          <p:val>
                                            <p:strVal val="#ppt_y+0.1"/>
                                          </p:val>
                                        </p:tav>
                                        <p:tav tm="100000">
                                          <p:val>
                                            <p:strVal val="#ppt_y"/>
                                          </p:val>
                                        </p:tav>
                                      </p:tavLst>
                                    </p:anim>
                                    <p:animEffect transition="in" filter="fade">
                                      <p:cBhvr>
                                        <p:cTn id="58" dur="500"/>
                                        <p:tgtEl>
                                          <p:spTgt spid="17"/>
                                        </p:tgtEl>
                                      </p:cBhvr>
                                    </p:animEffect>
                                  </p:childTnLst>
                                </p:cTn>
                              </p:par>
                              <p:par>
                                <p:cTn id="64" presetID="2" presetClass="entr" presetSubtype="4" fill="hold" grpId="0" nodeType="withEffect">
                                  <p:stCondLst>
                                    <p:cond delay="82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fill="hold"/>
                                        <p:tgtEl>
                                          <p:spTgt spid="18"/>
                                        </p:tgtEl>
                                        <p:attrNameLst>
                                          <p:attrName>ppt_x</p:attrName>
                                        </p:attrNameLst>
                                      </p:cBhvr>
                                      <p:tavLst>
                                        <p:tav tm="0">
                                          <p:val>
                                            <p:strVal val="#ppt_x"/>
                                          </p:val>
                                        </p:tav>
                                        <p:tav tm="100000">
                                          <p:val>
                                            <p:strVal val="#ppt_x"/>
                                          </p:val>
                                        </p:tav>
                                      </p:tavLst>
                                    </p:anim>
                                    <p:anim calcmode="lin" valueType="num">
                                      <p:cBhvr additive="base">
                                        <p:cTn id="62" dur="500" fill="hold"/>
                                        <p:tgtEl>
                                          <p:spTgt spid="18"/>
                                        </p:tgtEl>
                                        <p:attrNameLst>
                                          <p:attrName>ppt_y</p:attrName>
                                        </p:attrNameLst>
                                      </p:cBhvr>
                                      <p:tavLst>
                                        <p:tav tm="0">
                                          <p:val>
                                            <p:strVal val="#ppt_y+0.1"/>
                                          </p:val>
                                        </p:tav>
                                        <p:tav tm="100000">
                                          <p:val>
                                            <p:strVal val="#ppt_y"/>
                                          </p:val>
                                        </p:tav>
                                      </p:tavLst>
                                    </p:anim>
                                    <p:animEffect transition="in" filter="fade">
                                      <p:cBhvr>
                                        <p:cTn id="63" dur="500"/>
                                        <p:tgtEl>
                                          <p:spTgt spid="18"/>
                                        </p:tgtEl>
                                      </p:cBhvr>
                                    </p:animEffect>
                                  </p:childTnLst>
                                </p:cTn>
                              </p:par>
                              <p:par>
                                <p:cTn id="69" presetID="2" presetClass="entr" presetSubtype="4" fill="hold" grpId="0" nodeType="withEffect">
                                  <p:stCondLst>
                                    <p:cond delay="940"/>
                                  </p:stCondLst>
                                  <p:childTnLst>
                                    <p:set>
                                      <p:cBhvr>
                                        <p:cTn id="65" dur="1" fill="hold">
                                          <p:stCondLst>
                                            <p:cond delay="0"/>
                                          </p:stCondLst>
                                        </p:cTn>
                                        <p:tgtEl>
                                          <p:spTgt spid="19"/>
                                        </p:tgtEl>
                                        <p:attrNameLst>
                                          <p:attrName>style.visibility</p:attrName>
                                        </p:attrNameLst>
                                      </p:cBhvr>
                                      <p:to>
                                        <p:strVal val="visible"/>
                                      </p:to>
                                    </p:set>
                                    <p:anim calcmode="lin" valueType="num">
                                      <p:cBhvr additive="base">
                                        <p:cTn id="66" dur="500" fill="hold"/>
                                        <p:tgtEl>
                                          <p:spTgt spid="19"/>
                                        </p:tgtEl>
                                        <p:attrNameLst>
                                          <p:attrName>ppt_x</p:attrName>
                                        </p:attrNameLst>
                                      </p:cBhvr>
                                      <p:tavLst>
                                        <p:tav tm="0">
                                          <p:val>
                                            <p:strVal val="#ppt_x"/>
                                          </p:val>
                                        </p:tav>
                                        <p:tav tm="100000">
                                          <p:val>
                                            <p:strVal val="#ppt_x"/>
                                          </p:val>
                                        </p:tav>
                                      </p:tavLst>
                                    </p:anim>
                                    <p:anim calcmode="lin" valueType="num">
                                      <p:cBhvr additive="base">
                                        <p:cTn id="67" dur="500" fill="hold"/>
                                        <p:tgtEl>
                                          <p:spTgt spid="19"/>
                                        </p:tgtEl>
                                        <p:attrNameLst>
                                          <p:attrName>ppt_y</p:attrName>
                                        </p:attrNameLst>
                                      </p:cBhvr>
                                      <p:tavLst>
                                        <p:tav tm="0">
                                          <p:val>
                                            <p:strVal val="#ppt_y+0.1"/>
                                          </p:val>
                                        </p:tav>
                                        <p:tav tm="100000">
                                          <p:val>
                                            <p:strVal val="#ppt_y"/>
                                          </p:val>
                                        </p:tav>
                                      </p:tavLst>
                                    </p:anim>
                                    <p:animEffect transition="in" filter="fade">
                                      <p:cBhvr>
                                        <p:cTn id="68" dur="500"/>
                                        <p:tgtEl>
                                          <p:spTgt spid="19"/>
                                        </p:tgtEl>
                                      </p:cBhvr>
                                    </p:animEffect>
                                  </p:childTnLst>
                                </p:cTn>
                              </p:par>
                              <p:par>
                                <p:cTn id="74" presetID="2" presetClass="entr" presetSubtype="4" fill="hold" grpId="0" nodeType="withEffect">
                                  <p:stCondLst>
                                    <p:cond delay="94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500" fill="hold"/>
                                        <p:tgtEl>
                                          <p:spTgt spid="20"/>
                                        </p:tgtEl>
                                        <p:attrNameLst>
                                          <p:attrName>ppt_x</p:attrName>
                                        </p:attrNameLst>
                                      </p:cBhvr>
                                      <p:tavLst>
                                        <p:tav tm="0">
                                          <p:val>
                                            <p:strVal val="#ppt_x"/>
                                          </p:val>
                                        </p:tav>
                                        <p:tav tm="100000">
                                          <p:val>
                                            <p:strVal val="#ppt_x"/>
                                          </p:val>
                                        </p:tav>
                                      </p:tavLst>
                                    </p:anim>
                                    <p:anim calcmode="lin" valueType="num">
                                      <p:cBhvr additive="base">
                                        <p:cTn id="72" dur="500" fill="hold"/>
                                        <p:tgtEl>
                                          <p:spTgt spid="20"/>
                                        </p:tgtEl>
                                        <p:attrNameLst>
                                          <p:attrName>ppt_y</p:attrName>
                                        </p:attrNameLst>
                                      </p:cBhvr>
                                      <p:tavLst>
                                        <p:tav tm="0">
                                          <p:val>
                                            <p:strVal val="#ppt_y+0.1"/>
                                          </p:val>
                                        </p:tav>
                                        <p:tav tm="100000">
                                          <p:val>
                                            <p:strVal val="#ppt_y"/>
                                          </p:val>
                                        </p:tav>
                                      </p:tavLst>
                                    </p:anim>
                                    <p:animEffect transition="in" filter="fade">
                                      <p:cBhvr>
                                        <p:cTn id="73" dur="500"/>
                                        <p:tgtEl>
                                          <p:spTgt spid="20"/>
                                        </p:tgtEl>
                                      </p:cBhvr>
                                    </p:animEffect>
                                  </p:childTnLst>
                                </p:cTn>
                              </p:par>
                              <p:par>
                                <p:cTn id="79" presetID="2" presetClass="entr" presetSubtype="4" fill="hold" grpId="0" nodeType="withEffect">
                                  <p:stCondLst>
                                    <p:cond delay="1060"/>
                                  </p:stCondLst>
                                  <p:childTnLst>
                                    <p:set>
                                      <p:cBhvr>
                                        <p:cTn id="75" dur="1" fill="hold">
                                          <p:stCondLst>
                                            <p:cond delay="0"/>
                                          </p:stCondLst>
                                        </p:cTn>
                                        <p:tgtEl>
                                          <p:spTgt spid="21"/>
                                        </p:tgtEl>
                                        <p:attrNameLst>
                                          <p:attrName>style.visibility</p:attrName>
                                        </p:attrNameLst>
                                      </p:cBhvr>
                                      <p:to>
                                        <p:strVal val="visible"/>
                                      </p:to>
                                    </p:set>
                                    <p:anim calcmode="lin" valueType="num">
                                      <p:cBhvr additive="base">
                                        <p:cTn id="76" dur="500" fill="hold"/>
                                        <p:tgtEl>
                                          <p:spTgt spid="21"/>
                                        </p:tgtEl>
                                        <p:attrNameLst>
                                          <p:attrName>ppt_x</p:attrName>
                                        </p:attrNameLst>
                                      </p:cBhvr>
                                      <p:tavLst>
                                        <p:tav tm="0">
                                          <p:val>
                                            <p:strVal val="#ppt_x"/>
                                          </p:val>
                                        </p:tav>
                                        <p:tav tm="100000">
                                          <p:val>
                                            <p:strVal val="#ppt_x"/>
                                          </p:val>
                                        </p:tav>
                                      </p:tavLst>
                                    </p:anim>
                                    <p:anim calcmode="lin" valueType="num">
                                      <p:cBhvr additive="base">
                                        <p:cTn id="77" dur="500" fill="hold"/>
                                        <p:tgtEl>
                                          <p:spTgt spid="21"/>
                                        </p:tgtEl>
                                        <p:attrNameLst>
                                          <p:attrName>ppt_y</p:attrName>
                                        </p:attrNameLst>
                                      </p:cBhvr>
                                      <p:tavLst>
                                        <p:tav tm="0">
                                          <p:val>
                                            <p:strVal val="#ppt_y+0.1"/>
                                          </p:val>
                                        </p:tav>
                                        <p:tav tm="100000">
                                          <p:val>
                                            <p:strVal val="#ppt_y"/>
                                          </p:val>
                                        </p:tav>
                                      </p:tavLst>
                                    </p:anim>
                                    <p:animEffect transition="in" filter="fade">
                                      <p:cBhvr>
                                        <p:cTn id="78" dur="500"/>
                                        <p:tgtEl>
                                          <p:spTgt spid="21"/>
                                        </p:tgtEl>
                                      </p:cBhvr>
                                    </p:animEffect>
                                  </p:childTnLst>
                                </p:cTn>
                              </p:par>
                              <p:par>
                                <p:cTn id="84" presetID="2" presetClass="entr" presetSubtype="4" fill="hold" grpId="0" nodeType="withEffect">
                                  <p:stCondLst>
                                    <p:cond delay="1060"/>
                                  </p:stCondLst>
                                  <p:childTnLst>
                                    <p:set>
                                      <p:cBhvr>
                                        <p:cTn id="80" dur="1" fill="hold">
                                          <p:stCondLst>
                                            <p:cond delay="0"/>
                                          </p:stCondLst>
                                        </p:cTn>
                                        <p:tgtEl>
                                          <p:spTgt spid="22"/>
                                        </p:tgtEl>
                                        <p:attrNameLst>
                                          <p:attrName>style.visibility</p:attrName>
                                        </p:attrNameLst>
                                      </p:cBhvr>
                                      <p:to>
                                        <p:strVal val="visible"/>
                                      </p:to>
                                    </p:set>
                                    <p:anim calcmode="lin" valueType="num">
                                      <p:cBhvr additive="base">
                                        <p:cTn id="81" dur="500" fill="hold"/>
                                        <p:tgtEl>
                                          <p:spTgt spid="22"/>
                                        </p:tgtEl>
                                        <p:attrNameLst>
                                          <p:attrName>ppt_x</p:attrName>
                                        </p:attrNameLst>
                                      </p:cBhvr>
                                      <p:tavLst>
                                        <p:tav tm="0">
                                          <p:val>
                                            <p:strVal val="#ppt_x"/>
                                          </p:val>
                                        </p:tav>
                                        <p:tav tm="100000">
                                          <p:val>
                                            <p:strVal val="#ppt_x"/>
                                          </p:val>
                                        </p:tav>
                                      </p:tavLst>
                                    </p:anim>
                                    <p:anim calcmode="lin" valueType="num">
                                      <p:cBhvr additive="base">
                                        <p:cTn id="82" dur="500" fill="hold"/>
                                        <p:tgtEl>
                                          <p:spTgt spid="22"/>
                                        </p:tgtEl>
                                        <p:attrNameLst>
                                          <p:attrName>ppt_y</p:attrName>
                                        </p:attrNameLst>
                                      </p:cBhvr>
                                      <p:tavLst>
                                        <p:tav tm="0">
                                          <p:val>
                                            <p:strVal val="#ppt_y+0.1"/>
                                          </p:val>
                                        </p:tav>
                                        <p:tav tm="100000">
                                          <p:val>
                                            <p:strVal val="#ppt_y"/>
                                          </p:val>
                                        </p:tav>
                                      </p:tavLst>
                                    </p:anim>
                                    <p:animEffect transition="in" filter="fade">
                                      <p:cBhvr>
                                        <p:cTn id="8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Messaging: Talk Without Waiting</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Message-oriented middleware: hand the message to a broker, then get on with your work</a:t>
            </a:r>
          </a:p>
        </p:txBody>
      </p:sp>
      <p:sp>
        <p:nvSpPr>
          <p:cNvPr id="11" name="a1u_card10"/>
          <p:cNvSpPr/>
          <p:nvPr/>
        </p:nvSpPr>
        <p:spPr>
          <a:xfrm>
            <a:off x="457200" y="1234440"/>
            <a:ext cx="4023360" cy="2103120"/>
          </a:xfrm>
          <a:prstGeom prst="roundRect">
            <a:avLst>
              <a:gd name="adj" fmla="val 521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50292" cy="21031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44168"/>
            <a:ext cx="3657600" cy="237744"/>
          </a:xfrm>
          <a:prstGeom prst="rect">
            <a:avLst/>
          </a:prstGeom>
          <a:noFill/>
        </p:spPr>
        <p:txBody>
          <a:bodyPr wrap="square" lIns="0" tIns="0" rIns="0" bIns="0" anchor="ctr">
            <a:spAutoFit/>
          </a:bodyPr>
          <a:lstStyle/>
          <a:p>
            <a:pPr algn="l"/>
            <a:r>
              <a:rPr sz="900" b="1">
                <a:solidFill>
                  <a:srgbClr val="EA580C"/>
                </a:solidFill>
                <a:latin typeface="Segoe UI"/>
              </a:rPr>
              <a:t>A PHONE CALL  ·  SYNCHRONOUS</a:t>
            </a:r>
          </a:p>
        </p:txBody>
      </p:sp>
      <p:sp>
        <p:nvSpPr>
          <p:cNvPr id="14" name="a1ud80_dot13"/>
          <p:cNvSpPr/>
          <p:nvPr/>
        </p:nvSpPr>
        <p:spPr>
          <a:xfrm>
            <a:off x="658368" y="178765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80_b14"/>
          <p:cNvSpPr txBox="1"/>
          <p:nvPr/>
        </p:nvSpPr>
        <p:spPr>
          <a:xfrm>
            <a:off x="877824" y="1691640"/>
            <a:ext cx="3401568" cy="329184"/>
          </a:xfrm>
          <a:prstGeom prst="rect">
            <a:avLst/>
          </a:prstGeom>
          <a:noFill/>
        </p:spPr>
        <p:txBody>
          <a:bodyPr wrap="square" lIns="0" tIns="0" rIns="0" bIns="0" anchor="t">
            <a:spAutoFit/>
          </a:bodyPr>
          <a:lstStyle/>
          <a:p>
            <a:pPr algn="l"/>
            <a:r>
              <a:rPr sz="950" b="0">
                <a:solidFill>
                  <a:srgbClr val="44403C"/>
                </a:solidFill>
                <a:latin typeface="Segoe UI"/>
              </a:rPr>
              <a:t>Both people must be free at the same moment</a:t>
            </a:r>
          </a:p>
        </p:txBody>
      </p:sp>
      <p:sp>
        <p:nvSpPr>
          <p:cNvPr id="16" name="a1ud180_dot15"/>
          <p:cNvSpPr/>
          <p:nvPr/>
        </p:nvSpPr>
        <p:spPr>
          <a:xfrm>
            <a:off x="658368" y="215341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180_b16"/>
          <p:cNvSpPr txBox="1"/>
          <p:nvPr/>
        </p:nvSpPr>
        <p:spPr>
          <a:xfrm>
            <a:off x="877824" y="2057400"/>
            <a:ext cx="3401568" cy="329184"/>
          </a:xfrm>
          <a:prstGeom prst="rect">
            <a:avLst/>
          </a:prstGeom>
          <a:noFill/>
        </p:spPr>
        <p:txBody>
          <a:bodyPr wrap="square" lIns="0" tIns="0" rIns="0" bIns="0" anchor="t">
            <a:spAutoFit/>
          </a:bodyPr>
          <a:lstStyle/>
          <a:p>
            <a:pPr algn="l"/>
            <a:r>
              <a:rPr sz="950" b="0">
                <a:solidFill>
                  <a:srgbClr val="44403C"/>
                </a:solidFill>
                <a:latin typeface="Segoe UI"/>
              </a:rPr>
              <a:t>You wait on the line for the answer</a:t>
            </a:r>
          </a:p>
        </p:txBody>
      </p:sp>
      <p:sp>
        <p:nvSpPr>
          <p:cNvPr id="18" name="a1ud280_dot17"/>
          <p:cNvSpPr/>
          <p:nvPr/>
        </p:nvSpPr>
        <p:spPr>
          <a:xfrm>
            <a:off x="658368" y="251917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280_b18"/>
          <p:cNvSpPr txBox="1"/>
          <p:nvPr/>
        </p:nvSpPr>
        <p:spPr>
          <a:xfrm>
            <a:off x="877824" y="2423160"/>
            <a:ext cx="3401568" cy="329184"/>
          </a:xfrm>
          <a:prstGeom prst="rect">
            <a:avLst/>
          </a:prstGeom>
          <a:noFill/>
        </p:spPr>
        <p:txBody>
          <a:bodyPr wrap="square" lIns="0" tIns="0" rIns="0" bIns="0" anchor="t">
            <a:spAutoFit/>
          </a:bodyPr>
          <a:lstStyle/>
          <a:p>
            <a:pPr algn="l"/>
            <a:r>
              <a:rPr sz="950" b="0">
                <a:solidFill>
                  <a:srgbClr val="44403C"/>
                </a:solidFill>
                <a:latin typeface="Segoe UI"/>
              </a:rPr>
              <a:t>Nobody picks up? Nothing happens</a:t>
            </a:r>
          </a:p>
        </p:txBody>
      </p:sp>
      <p:sp>
        <p:nvSpPr>
          <p:cNvPr id="20" name="a1ud380_dot19"/>
          <p:cNvSpPr/>
          <p:nvPr/>
        </p:nvSpPr>
        <p:spPr>
          <a:xfrm>
            <a:off x="658368" y="288493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380_b20"/>
          <p:cNvSpPr txBox="1"/>
          <p:nvPr/>
        </p:nvSpPr>
        <p:spPr>
          <a:xfrm>
            <a:off x="877824" y="2788920"/>
            <a:ext cx="3401568" cy="329184"/>
          </a:xfrm>
          <a:prstGeom prst="rect">
            <a:avLst/>
          </a:prstGeom>
          <a:noFill/>
        </p:spPr>
        <p:txBody>
          <a:bodyPr wrap="square" lIns="0" tIns="0" rIns="0" bIns="0" anchor="t">
            <a:spAutoFit/>
          </a:bodyPr>
          <a:lstStyle/>
          <a:p>
            <a:pPr algn="l"/>
            <a:r>
              <a:rPr sz="950" b="0">
                <a:solidFill>
                  <a:srgbClr val="44403C"/>
                </a:solidFill>
                <a:latin typeface="Segoe UI"/>
              </a:rPr>
              <a:t>Like RPC and HTTP calls</a:t>
            </a:r>
          </a:p>
        </p:txBody>
      </p:sp>
      <p:sp>
        <p:nvSpPr>
          <p:cNvPr id="22" name="a2u_card21"/>
          <p:cNvSpPr/>
          <p:nvPr/>
        </p:nvSpPr>
        <p:spPr>
          <a:xfrm>
            <a:off x="4663440" y="1234440"/>
            <a:ext cx="4023360" cy="2103120"/>
          </a:xfrm>
          <a:prstGeom prst="roundRect">
            <a:avLst>
              <a:gd name="adj" fmla="val 521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_acc22"/>
          <p:cNvSpPr/>
          <p:nvPr/>
        </p:nvSpPr>
        <p:spPr>
          <a:xfrm>
            <a:off x="4663440" y="1234440"/>
            <a:ext cx="50292" cy="21031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_hh23"/>
          <p:cNvSpPr txBox="1"/>
          <p:nvPr/>
        </p:nvSpPr>
        <p:spPr>
          <a:xfrm>
            <a:off x="4864607" y="1344168"/>
            <a:ext cx="3657600" cy="237744"/>
          </a:xfrm>
          <a:prstGeom prst="rect">
            <a:avLst/>
          </a:prstGeom>
          <a:noFill/>
        </p:spPr>
        <p:txBody>
          <a:bodyPr wrap="square" lIns="0" tIns="0" rIns="0" bIns="0" anchor="ctr">
            <a:spAutoFit/>
          </a:bodyPr>
          <a:lstStyle/>
          <a:p>
            <a:pPr algn="l"/>
            <a:r>
              <a:rPr sz="900" b="1">
                <a:solidFill>
                  <a:srgbClr val="0E7490"/>
                </a:solidFill>
                <a:latin typeface="Segoe UI"/>
              </a:rPr>
              <a:t>A LETTER BOX  ·  MESSAGING</a:t>
            </a:r>
          </a:p>
        </p:txBody>
      </p:sp>
      <p:sp>
        <p:nvSpPr>
          <p:cNvPr id="25" name="a2ud80_dot24"/>
          <p:cNvSpPr/>
          <p:nvPr/>
        </p:nvSpPr>
        <p:spPr>
          <a:xfrm>
            <a:off x="4864607" y="1787652"/>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d80_b25"/>
          <p:cNvSpPr txBox="1"/>
          <p:nvPr/>
        </p:nvSpPr>
        <p:spPr>
          <a:xfrm>
            <a:off x="5084064" y="1691640"/>
            <a:ext cx="3401568" cy="329184"/>
          </a:xfrm>
          <a:prstGeom prst="rect">
            <a:avLst/>
          </a:prstGeom>
          <a:noFill/>
        </p:spPr>
        <p:txBody>
          <a:bodyPr wrap="square" lIns="0" tIns="0" rIns="0" bIns="0" anchor="t">
            <a:spAutoFit/>
          </a:bodyPr>
          <a:lstStyle/>
          <a:p>
            <a:pPr algn="l"/>
            <a:r>
              <a:rPr sz="950" b="0">
                <a:solidFill>
                  <a:srgbClr val="44403C"/>
                </a:solidFill>
                <a:latin typeface="Segoe UI"/>
              </a:rPr>
              <a:t>Drop the letter in and walk away</a:t>
            </a:r>
          </a:p>
        </p:txBody>
      </p:sp>
      <p:sp>
        <p:nvSpPr>
          <p:cNvPr id="27" name="a2ud180_dot26"/>
          <p:cNvSpPr/>
          <p:nvPr/>
        </p:nvSpPr>
        <p:spPr>
          <a:xfrm>
            <a:off x="4864607" y="2153412"/>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d180_b27"/>
          <p:cNvSpPr txBox="1"/>
          <p:nvPr/>
        </p:nvSpPr>
        <p:spPr>
          <a:xfrm>
            <a:off x="5084064" y="2057400"/>
            <a:ext cx="3401568" cy="329184"/>
          </a:xfrm>
          <a:prstGeom prst="rect">
            <a:avLst/>
          </a:prstGeom>
          <a:noFill/>
        </p:spPr>
        <p:txBody>
          <a:bodyPr wrap="square" lIns="0" tIns="0" rIns="0" bIns="0" anchor="t">
            <a:spAutoFit/>
          </a:bodyPr>
          <a:lstStyle/>
          <a:p>
            <a:pPr algn="l"/>
            <a:r>
              <a:rPr sz="950" b="0">
                <a:solidFill>
                  <a:srgbClr val="44403C"/>
                </a:solidFill>
                <a:latin typeface="Segoe UI"/>
              </a:rPr>
              <a:t>It waits safely until the reader collects it</a:t>
            </a:r>
          </a:p>
        </p:txBody>
      </p:sp>
      <p:sp>
        <p:nvSpPr>
          <p:cNvPr id="29" name="a2ud280_dot28"/>
          <p:cNvSpPr/>
          <p:nvPr/>
        </p:nvSpPr>
        <p:spPr>
          <a:xfrm>
            <a:off x="4864607" y="2519172"/>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ud280_b29"/>
          <p:cNvSpPr txBox="1"/>
          <p:nvPr/>
        </p:nvSpPr>
        <p:spPr>
          <a:xfrm>
            <a:off x="5084064" y="2423160"/>
            <a:ext cx="3401568" cy="329184"/>
          </a:xfrm>
          <a:prstGeom prst="rect">
            <a:avLst/>
          </a:prstGeom>
          <a:noFill/>
        </p:spPr>
        <p:txBody>
          <a:bodyPr wrap="square" lIns="0" tIns="0" rIns="0" bIns="0" anchor="t">
            <a:spAutoFit/>
          </a:bodyPr>
          <a:lstStyle/>
          <a:p>
            <a:pPr algn="l"/>
            <a:r>
              <a:rPr sz="950" b="0">
                <a:solidFill>
                  <a:srgbClr val="44403C"/>
                </a:solidFill>
                <a:latin typeface="Segoe UI"/>
              </a:rPr>
              <a:t>The reader replies when it suits them</a:t>
            </a:r>
          </a:p>
        </p:txBody>
      </p:sp>
      <p:sp>
        <p:nvSpPr>
          <p:cNvPr id="31" name="a2ud380_dot30"/>
          <p:cNvSpPr/>
          <p:nvPr/>
        </p:nvSpPr>
        <p:spPr>
          <a:xfrm>
            <a:off x="4864607" y="2884932"/>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ud380_b31"/>
          <p:cNvSpPr txBox="1"/>
          <p:nvPr/>
        </p:nvSpPr>
        <p:spPr>
          <a:xfrm>
            <a:off x="5084064" y="2788920"/>
            <a:ext cx="3401568" cy="329184"/>
          </a:xfrm>
          <a:prstGeom prst="rect">
            <a:avLst/>
          </a:prstGeom>
          <a:noFill/>
        </p:spPr>
        <p:txBody>
          <a:bodyPr wrap="square" lIns="0" tIns="0" rIns="0" bIns="0" anchor="t">
            <a:spAutoFit/>
          </a:bodyPr>
          <a:lstStyle/>
          <a:p>
            <a:pPr algn="l"/>
            <a:r>
              <a:rPr sz="950" b="0">
                <a:solidFill>
                  <a:srgbClr val="44403C"/>
                </a:solidFill>
                <a:latin typeface="Segoe UI"/>
              </a:rPr>
              <a:t>Like a message broker</a:t>
            </a:r>
          </a:p>
        </p:txBody>
      </p:sp>
      <p:sp>
        <p:nvSpPr>
          <p:cNvPr id="33" name="a3u_nd32"/>
          <p:cNvSpPr/>
          <p:nvPr/>
        </p:nvSpPr>
        <p:spPr>
          <a:xfrm>
            <a:off x="1188720" y="3566160"/>
            <a:ext cx="1737360" cy="566928"/>
          </a:xfrm>
          <a:prstGeom prst="roundRect">
            <a:avLst>
              <a:gd name="adj" fmla="val 1290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3u_ndt33"/>
          <p:cNvSpPr txBox="1"/>
          <p:nvPr/>
        </p:nvSpPr>
        <p:spPr>
          <a:xfrm>
            <a:off x="1234440" y="3602736"/>
            <a:ext cx="1645919" cy="265176"/>
          </a:xfrm>
          <a:prstGeom prst="rect">
            <a:avLst/>
          </a:prstGeom>
          <a:noFill/>
        </p:spPr>
        <p:txBody>
          <a:bodyPr wrap="square" lIns="0" tIns="0" rIns="0" bIns="0" anchor="b">
            <a:spAutoFit/>
          </a:bodyPr>
          <a:lstStyle/>
          <a:p>
            <a:pPr algn="ctr"/>
            <a:r>
              <a:rPr sz="1000" b="1">
                <a:solidFill>
                  <a:srgbClr val="1C1917"/>
                </a:solidFill>
                <a:latin typeface="Segoe UI"/>
              </a:rPr>
              <a:t>Sender</a:t>
            </a:r>
          </a:p>
        </p:txBody>
      </p:sp>
      <p:sp>
        <p:nvSpPr>
          <p:cNvPr id="35" name="a3u_nds34"/>
          <p:cNvSpPr txBox="1"/>
          <p:nvPr/>
        </p:nvSpPr>
        <p:spPr>
          <a:xfrm>
            <a:off x="1234440" y="3877056"/>
            <a:ext cx="1645919" cy="219456"/>
          </a:xfrm>
          <a:prstGeom prst="rect">
            <a:avLst/>
          </a:prstGeom>
          <a:noFill/>
        </p:spPr>
        <p:txBody>
          <a:bodyPr wrap="square" lIns="0" tIns="0" rIns="0" bIns="0" anchor="t">
            <a:spAutoFit/>
          </a:bodyPr>
          <a:lstStyle/>
          <a:p>
            <a:pPr algn="ctr"/>
            <a:r>
              <a:rPr sz="800" b="0">
                <a:solidFill>
                  <a:srgbClr val="EA580C"/>
                </a:solidFill>
                <a:latin typeface="Segoe UI"/>
              </a:rPr>
              <a:t>moves on at once</a:t>
            </a:r>
          </a:p>
        </p:txBody>
      </p:sp>
      <p:sp>
        <p:nvSpPr>
          <p:cNvPr id="36" name="a3ud150_nd35"/>
          <p:cNvSpPr/>
          <p:nvPr/>
        </p:nvSpPr>
        <p:spPr>
          <a:xfrm>
            <a:off x="3703320" y="3520440"/>
            <a:ext cx="1737360" cy="658368"/>
          </a:xfrm>
          <a:prstGeom prst="roundRect">
            <a:avLst>
              <a:gd name="adj" fmla="val 11111"/>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3ud150_ndt36"/>
          <p:cNvSpPr txBox="1"/>
          <p:nvPr/>
        </p:nvSpPr>
        <p:spPr>
          <a:xfrm>
            <a:off x="3749039" y="3557016"/>
            <a:ext cx="1645919" cy="310896"/>
          </a:xfrm>
          <a:prstGeom prst="rect">
            <a:avLst/>
          </a:prstGeom>
          <a:noFill/>
        </p:spPr>
        <p:txBody>
          <a:bodyPr wrap="square" lIns="0" tIns="0" rIns="0" bIns="0" anchor="b">
            <a:spAutoFit/>
          </a:bodyPr>
          <a:lstStyle/>
          <a:p>
            <a:pPr algn="ctr"/>
            <a:r>
              <a:rPr sz="1100" b="1">
                <a:solidFill>
                  <a:srgbClr val="1C1917"/>
                </a:solidFill>
                <a:latin typeface="Segoe UI"/>
              </a:rPr>
              <a:t>Broker</a:t>
            </a:r>
          </a:p>
        </p:txBody>
      </p:sp>
      <p:sp>
        <p:nvSpPr>
          <p:cNvPr id="38" name="a3ud150_nds37"/>
          <p:cNvSpPr txBox="1"/>
          <p:nvPr/>
        </p:nvSpPr>
        <p:spPr>
          <a:xfrm>
            <a:off x="3749039" y="3877056"/>
            <a:ext cx="1645919" cy="265176"/>
          </a:xfrm>
          <a:prstGeom prst="rect">
            <a:avLst/>
          </a:prstGeom>
          <a:noFill/>
        </p:spPr>
        <p:txBody>
          <a:bodyPr wrap="square" lIns="0" tIns="0" rIns="0" bIns="0" anchor="t">
            <a:spAutoFit/>
          </a:bodyPr>
          <a:lstStyle/>
          <a:p>
            <a:pPr algn="ctr"/>
            <a:r>
              <a:rPr sz="800" b="0">
                <a:solidFill>
                  <a:srgbClr val="A16207"/>
                </a:solidFill>
                <a:latin typeface="Segoe UI"/>
              </a:rPr>
              <a:t>store and forward</a:t>
            </a:r>
          </a:p>
        </p:txBody>
      </p:sp>
      <p:sp>
        <p:nvSpPr>
          <p:cNvPr id="39" name="a3ud300_nd38"/>
          <p:cNvSpPr/>
          <p:nvPr/>
        </p:nvSpPr>
        <p:spPr>
          <a:xfrm>
            <a:off x="6217920" y="3566160"/>
            <a:ext cx="1737360" cy="566928"/>
          </a:xfrm>
          <a:prstGeom prst="roundRect">
            <a:avLst>
              <a:gd name="adj" fmla="val 12903"/>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3ud300_ndt39"/>
          <p:cNvSpPr txBox="1"/>
          <p:nvPr/>
        </p:nvSpPr>
        <p:spPr>
          <a:xfrm>
            <a:off x="6263640" y="3602736"/>
            <a:ext cx="1645919" cy="265176"/>
          </a:xfrm>
          <a:prstGeom prst="rect">
            <a:avLst/>
          </a:prstGeom>
          <a:noFill/>
        </p:spPr>
        <p:txBody>
          <a:bodyPr wrap="square" lIns="0" tIns="0" rIns="0" bIns="0" anchor="b">
            <a:spAutoFit/>
          </a:bodyPr>
          <a:lstStyle/>
          <a:p>
            <a:pPr algn="ctr"/>
            <a:r>
              <a:rPr sz="1000" b="1">
                <a:solidFill>
                  <a:srgbClr val="1C1917"/>
                </a:solidFill>
                <a:latin typeface="Segoe UI"/>
              </a:rPr>
              <a:t>Receiver</a:t>
            </a:r>
          </a:p>
        </p:txBody>
      </p:sp>
      <p:sp>
        <p:nvSpPr>
          <p:cNvPr id="41" name="a3ud300_nds40"/>
          <p:cNvSpPr txBox="1"/>
          <p:nvPr/>
        </p:nvSpPr>
        <p:spPr>
          <a:xfrm>
            <a:off x="6263640" y="3877056"/>
            <a:ext cx="1645919" cy="219456"/>
          </a:xfrm>
          <a:prstGeom prst="rect">
            <a:avLst/>
          </a:prstGeom>
          <a:noFill/>
        </p:spPr>
        <p:txBody>
          <a:bodyPr wrap="square" lIns="0" tIns="0" rIns="0" bIns="0" anchor="t">
            <a:spAutoFit/>
          </a:bodyPr>
          <a:lstStyle/>
          <a:p>
            <a:pPr algn="ctr"/>
            <a:r>
              <a:rPr sz="800" b="0">
                <a:solidFill>
                  <a:srgbClr val="0E7490"/>
                </a:solidFill>
                <a:latin typeface="Segoe UI"/>
              </a:rPr>
              <a:t>reads when ready</a:t>
            </a:r>
          </a:p>
        </p:txBody>
      </p:sp>
      <p:cxnSp>
        <p:nvCxnSpPr>
          <p:cNvPr id="42" name="a3ud150_ar41"/>
          <p:cNvCxnSpPr/>
          <p:nvPr/>
        </p:nvCxnSpPr>
        <p:spPr>
          <a:xfrm>
            <a:off x="2953512" y="3849624"/>
            <a:ext cx="722375"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a3ud300_ar42"/>
          <p:cNvCxnSpPr/>
          <p:nvPr/>
        </p:nvCxnSpPr>
        <p:spPr>
          <a:xfrm>
            <a:off x="5468112" y="3849624"/>
            <a:ext cx="722376" cy="0"/>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ft43"/>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29</a:t>
            </a:r>
          </a:p>
        </p:txBody>
      </p:sp>
      <p:sp>
        <p:nvSpPr>
          <p:cNvPr id="45" name="ft44"/>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ft45"/>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7" name="ft46"/>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8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8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8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8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8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28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38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38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6" presetID="2" presetClass="entr" presetSubtype="4"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8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8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18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18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28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28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par>
                                <p:cTn id="111" presetID="2" presetClass="entr" presetSubtype="4" fill="hold" grpId="0" nodeType="withEffect">
                                  <p:stCondLst>
                                    <p:cond delay="38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par>
                                <p:cTn id="116" presetID="2" presetClass="entr" presetSubtype="4" fill="hold" grpId="0" nodeType="withEffect">
                                  <p:stCondLst>
                                    <p:cond delay="38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childTnLst>
                          </p:cTn>
                        </p:par>
                      </p:childTnLst>
                    </p:cTn>
                  </p:par>
                  <p:par>
                    <p:cTn id="117" fill="hold">
                      <p:stCondLst>
                        <p:cond delay="indefinite"/>
                      </p:stCondLst>
                      <p:childTnLst>
                        <p:par>
                          <p:cTn id="118" fill="hold">
                            <p:stCondLst>
                              <p:cond delay="0"/>
                            </p:stCondLst>
                            <p:childTnLst>
                              <p:par>
                                <p:cTn id="123" presetID="2" presetClass="entr" presetSubtype="4" fill="hold" grpId="0" nodeType="clickEffect">
                                  <p:stCondLst>
                                    <p:cond delay="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par>
                                <p:cTn id="128" presetID="2" presetClass="entr" presetSubtype="4" fill="hold" grpId="0" nodeType="withEffect">
                                  <p:stCondLst>
                                    <p:cond delay="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par>
                                <p:cTn id="133" presetID="2" presetClass="entr" presetSubtype="4" fill="hold" grpId="0" nodeType="withEffect">
                                  <p:stCondLst>
                                    <p:cond delay="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par>
                                <p:cTn id="138" presetID="2" presetClass="entr" presetSubtype="4" fill="hold" grpId="0" nodeType="withEffect">
                                  <p:stCondLst>
                                    <p:cond delay="150"/>
                                  </p:stCondLst>
                                  <p:childTnLst>
                                    <p:set>
                                      <p:cBhvr>
                                        <p:cTn id="134" dur="1" fill="hold">
                                          <p:stCondLst>
                                            <p:cond delay="0"/>
                                          </p:stCondLst>
                                        </p:cTn>
                                        <p:tgtEl>
                                          <p:spTgt spid="36"/>
                                        </p:tgtEl>
                                        <p:attrNameLst>
                                          <p:attrName>style.visibility</p:attrName>
                                        </p:attrNameLst>
                                      </p:cBhvr>
                                      <p:to>
                                        <p:strVal val="visible"/>
                                      </p:to>
                                    </p:set>
                                    <p:anim calcmode="lin" valueType="num">
                                      <p:cBhvr additive="base">
                                        <p:cTn id="135" dur="500" fill="hold"/>
                                        <p:tgtEl>
                                          <p:spTgt spid="36"/>
                                        </p:tgtEl>
                                        <p:attrNameLst>
                                          <p:attrName>ppt_x</p:attrName>
                                        </p:attrNameLst>
                                      </p:cBhvr>
                                      <p:tavLst>
                                        <p:tav tm="0">
                                          <p:val>
                                            <p:strVal val="#ppt_x"/>
                                          </p:val>
                                        </p:tav>
                                        <p:tav tm="100000">
                                          <p:val>
                                            <p:strVal val="#ppt_x"/>
                                          </p:val>
                                        </p:tav>
                                      </p:tavLst>
                                    </p:anim>
                                    <p:anim calcmode="lin" valueType="num">
                                      <p:cBhvr additive="base">
                                        <p:cTn id="136" dur="500" fill="hold"/>
                                        <p:tgtEl>
                                          <p:spTgt spid="36"/>
                                        </p:tgtEl>
                                        <p:attrNameLst>
                                          <p:attrName>ppt_y</p:attrName>
                                        </p:attrNameLst>
                                      </p:cBhvr>
                                      <p:tavLst>
                                        <p:tav tm="0">
                                          <p:val>
                                            <p:strVal val="#ppt_y+0.1"/>
                                          </p:val>
                                        </p:tav>
                                        <p:tav tm="100000">
                                          <p:val>
                                            <p:strVal val="#ppt_y"/>
                                          </p:val>
                                        </p:tav>
                                      </p:tavLst>
                                    </p:anim>
                                    <p:animEffect transition="in" filter="fade">
                                      <p:cBhvr>
                                        <p:cTn id="137" dur="500"/>
                                        <p:tgtEl>
                                          <p:spTgt spid="36"/>
                                        </p:tgtEl>
                                      </p:cBhvr>
                                    </p:animEffect>
                                  </p:childTnLst>
                                </p:cTn>
                              </p:par>
                              <p:par>
                                <p:cTn id="143" presetID="2" presetClass="entr" presetSubtype="4" fill="hold" grpId="0" nodeType="withEffect">
                                  <p:stCondLst>
                                    <p:cond delay="150"/>
                                  </p:stCondLst>
                                  <p:childTnLst>
                                    <p:set>
                                      <p:cBhvr>
                                        <p:cTn id="139" dur="1" fill="hold">
                                          <p:stCondLst>
                                            <p:cond delay="0"/>
                                          </p:stCondLst>
                                        </p:cTn>
                                        <p:tgtEl>
                                          <p:spTgt spid="37"/>
                                        </p:tgtEl>
                                        <p:attrNameLst>
                                          <p:attrName>style.visibility</p:attrName>
                                        </p:attrNameLst>
                                      </p:cBhvr>
                                      <p:to>
                                        <p:strVal val="visible"/>
                                      </p:to>
                                    </p:set>
                                    <p:anim calcmode="lin" valueType="num">
                                      <p:cBhvr additive="base">
                                        <p:cTn id="140" dur="500" fill="hold"/>
                                        <p:tgtEl>
                                          <p:spTgt spid="37"/>
                                        </p:tgtEl>
                                        <p:attrNameLst>
                                          <p:attrName>ppt_x</p:attrName>
                                        </p:attrNameLst>
                                      </p:cBhvr>
                                      <p:tavLst>
                                        <p:tav tm="0">
                                          <p:val>
                                            <p:strVal val="#ppt_x"/>
                                          </p:val>
                                        </p:tav>
                                        <p:tav tm="100000">
                                          <p:val>
                                            <p:strVal val="#ppt_x"/>
                                          </p:val>
                                        </p:tav>
                                      </p:tavLst>
                                    </p:anim>
                                    <p:anim calcmode="lin" valueType="num">
                                      <p:cBhvr additive="base">
                                        <p:cTn id="141" dur="500" fill="hold"/>
                                        <p:tgtEl>
                                          <p:spTgt spid="37"/>
                                        </p:tgtEl>
                                        <p:attrNameLst>
                                          <p:attrName>ppt_y</p:attrName>
                                        </p:attrNameLst>
                                      </p:cBhvr>
                                      <p:tavLst>
                                        <p:tav tm="0">
                                          <p:val>
                                            <p:strVal val="#ppt_y+0.1"/>
                                          </p:val>
                                        </p:tav>
                                        <p:tav tm="100000">
                                          <p:val>
                                            <p:strVal val="#ppt_y"/>
                                          </p:val>
                                        </p:tav>
                                      </p:tavLst>
                                    </p:anim>
                                    <p:animEffect transition="in" filter="fade">
                                      <p:cBhvr>
                                        <p:cTn id="142" dur="500"/>
                                        <p:tgtEl>
                                          <p:spTgt spid="37"/>
                                        </p:tgtEl>
                                      </p:cBhvr>
                                    </p:animEffect>
                                  </p:childTnLst>
                                </p:cTn>
                              </p:par>
                              <p:par>
                                <p:cTn id="148" presetID="2" presetClass="entr" presetSubtype="4" fill="hold" grpId="0" nodeType="withEffect">
                                  <p:stCondLst>
                                    <p:cond delay="150"/>
                                  </p:stCondLst>
                                  <p:childTnLst>
                                    <p:set>
                                      <p:cBhvr>
                                        <p:cTn id="144" dur="1" fill="hold">
                                          <p:stCondLst>
                                            <p:cond delay="0"/>
                                          </p:stCondLst>
                                        </p:cTn>
                                        <p:tgtEl>
                                          <p:spTgt spid="38"/>
                                        </p:tgtEl>
                                        <p:attrNameLst>
                                          <p:attrName>style.visibility</p:attrName>
                                        </p:attrNameLst>
                                      </p:cBhvr>
                                      <p:to>
                                        <p:strVal val="visible"/>
                                      </p:to>
                                    </p:set>
                                    <p:anim calcmode="lin" valueType="num">
                                      <p:cBhvr additive="base">
                                        <p:cTn id="145" dur="500" fill="hold"/>
                                        <p:tgtEl>
                                          <p:spTgt spid="38"/>
                                        </p:tgtEl>
                                        <p:attrNameLst>
                                          <p:attrName>ppt_x</p:attrName>
                                        </p:attrNameLst>
                                      </p:cBhvr>
                                      <p:tavLst>
                                        <p:tav tm="0">
                                          <p:val>
                                            <p:strVal val="#ppt_x"/>
                                          </p:val>
                                        </p:tav>
                                        <p:tav tm="100000">
                                          <p:val>
                                            <p:strVal val="#ppt_x"/>
                                          </p:val>
                                        </p:tav>
                                      </p:tavLst>
                                    </p:anim>
                                    <p:anim calcmode="lin" valueType="num">
                                      <p:cBhvr additive="base">
                                        <p:cTn id="146" dur="500" fill="hold"/>
                                        <p:tgtEl>
                                          <p:spTgt spid="38"/>
                                        </p:tgtEl>
                                        <p:attrNameLst>
                                          <p:attrName>ppt_y</p:attrName>
                                        </p:attrNameLst>
                                      </p:cBhvr>
                                      <p:tavLst>
                                        <p:tav tm="0">
                                          <p:val>
                                            <p:strVal val="#ppt_y+0.1"/>
                                          </p:val>
                                        </p:tav>
                                        <p:tav tm="100000">
                                          <p:val>
                                            <p:strVal val="#ppt_y"/>
                                          </p:val>
                                        </p:tav>
                                      </p:tavLst>
                                    </p:anim>
                                    <p:animEffect transition="in" filter="fade">
                                      <p:cBhvr>
                                        <p:cTn id="147" dur="500"/>
                                        <p:tgtEl>
                                          <p:spTgt spid="38"/>
                                        </p:tgtEl>
                                      </p:cBhvr>
                                    </p:animEffect>
                                  </p:childTnLst>
                                </p:cTn>
                              </p:par>
                              <p:par>
                                <p:cTn id="153" presetID="2" presetClass="entr" presetSubtype="4" fill="hold" grpId="0" nodeType="withEffect">
                                  <p:stCondLst>
                                    <p:cond delay="150"/>
                                  </p:stCondLst>
                                  <p:childTnLst>
                                    <p:set>
                                      <p:cBhvr>
                                        <p:cTn id="149" dur="1" fill="hold">
                                          <p:stCondLst>
                                            <p:cond delay="0"/>
                                          </p:stCondLst>
                                        </p:cTn>
                                        <p:tgtEl>
                                          <p:spTgt spid="42"/>
                                        </p:tgtEl>
                                        <p:attrNameLst>
                                          <p:attrName>style.visibility</p:attrName>
                                        </p:attrNameLst>
                                      </p:cBhvr>
                                      <p:to>
                                        <p:strVal val="visible"/>
                                      </p:to>
                                    </p:set>
                                    <p:anim calcmode="lin" valueType="num">
                                      <p:cBhvr additive="base">
                                        <p:cTn id="150" dur="500" fill="hold"/>
                                        <p:tgtEl>
                                          <p:spTgt spid="42"/>
                                        </p:tgtEl>
                                        <p:attrNameLst>
                                          <p:attrName>ppt_x</p:attrName>
                                        </p:attrNameLst>
                                      </p:cBhvr>
                                      <p:tavLst>
                                        <p:tav tm="0">
                                          <p:val>
                                            <p:strVal val="#ppt_x"/>
                                          </p:val>
                                        </p:tav>
                                        <p:tav tm="100000">
                                          <p:val>
                                            <p:strVal val="#ppt_x"/>
                                          </p:val>
                                        </p:tav>
                                      </p:tavLst>
                                    </p:anim>
                                    <p:anim calcmode="lin" valueType="num">
                                      <p:cBhvr additive="base">
                                        <p:cTn id="151" dur="500" fill="hold"/>
                                        <p:tgtEl>
                                          <p:spTgt spid="42"/>
                                        </p:tgtEl>
                                        <p:attrNameLst>
                                          <p:attrName>ppt_y</p:attrName>
                                        </p:attrNameLst>
                                      </p:cBhvr>
                                      <p:tavLst>
                                        <p:tav tm="0">
                                          <p:val>
                                            <p:strVal val="#ppt_y+0.1"/>
                                          </p:val>
                                        </p:tav>
                                        <p:tav tm="100000">
                                          <p:val>
                                            <p:strVal val="#ppt_y"/>
                                          </p:val>
                                        </p:tav>
                                      </p:tavLst>
                                    </p:anim>
                                    <p:animEffect transition="in" filter="fade">
                                      <p:cBhvr>
                                        <p:cTn id="152" dur="500"/>
                                        <p:tgtEl>
                                          <p:spTgt spid="42"/>
                                        </p:tgtEl>
                                      </p:cBhvr>
                                    </p:animEffect>
                                  </p:childTnLst>
                                </p:cTn>
                              </p:par>
                              <p:par>
                                <p:cTn id="158" presetID="2" presetClass="entr" presetSubtype="4" fill="hold" grpId="0" nodeType="withEffect">
                                  <p:stCondLst>
                                    <p:cond delay="300"/>
                                  </p:stCondLst>
                                  <p:childTnLst>
                                    <p:set>
                                      <p:cBhvr>
                                        <p:cTn id="154" dur="1" fill="hold">
                                          <p:stCondLst>
                                            <p:cond delay="0"/>
                                          </p:stCondLst>
                                        </p:cTn>
                                        <p:tgtEl>
                                          <p:spTgt spid="39"/>
                                        </p:tgtEl>
                                        <p:attrNameLst>
                                          <p:attrName>style.visibility</p:attrName>
                                        </p:attrNameLst>
                                      </p:cBhvr>
                                      <p:to>
                                        <p:strVal val="visible"/>
                                      </p:to>
                                    </p:set>
                                    <p:anim calcmode="lin" valueType="num">
                                      <p:cBhvr additive="base">
                                        <p:cTn id="155" dur="500" fill="hold"/>
                                        <p:tgtEl>
                                          <p:spTgt spid="39"/>
                                        </p:tgtEl>
                                        <p:attrNameLst>
                                          <p:attrName>ppt_x</p:attrName>
                                        </p:attrNameLst>
                                      </p:cBhvr>
                                      <p:tavLst>
                                        <p:tav tm="0">
                                          <p:val>
                                            <p:strVal val="#ppt_x"/>
                                          </p:val>
                                        </p:tav>
                                        <p:tav tm="100000">
                                          <p:val>
                                            <p:strVal val="#ppt_x"/>
                                          </p:val>
                                        </p:tav>
                                      </p:tavLst>
                                    </p:anim>
                                    <p:anim calcmode="lin" valueType="num">
                                      <p:cBhvr additive="base">
                                        <p:cTn id="156" dur="500" fill="hold"/>
                                        <p:tgtEl>
                                          <p:spTgt spid="39"/>
                                        </p:tgtEl>
                                        <p:attrNameLst>
                                          <p:attrName>ppt_y</p:attrName>
                                        </p:attrNameLst>
                                      </p:cBhvr>
                                      <p:tavLst>
                                        <p:tav tm="0">
                                          <p:val>
                                            <p:strVal val="#ppt_y+0.1"/>
                                          </p:val>
                                        </p:tav>
                                        <p:tav tm="100000">
                                          <p:val>
                                            <p:strVal val="#ppt_y"/>
                                          </p:val>
                                        </p:tav>
                                      </p:tavLst>
                                    </p:anim>
                                    <p:animEffect transition="in" filter="fade">
                                      <p:cBhvr>
                                        <p:cTn id="157" dur="500"/>
                                        <p:tgtEl>
                                          <p:spTgt spid="39"/>
                                        </p:tgtEl>
                                      </p:cBhvr>
                                    </p:animEffect>
                                  </p:childTnLst>
                                </p:cTn>
                              </p:par>
                              <p:par>
                                <p:cTn id="163" presetID="2" presetClass="entr" presetSubtype="4" fill="hold" grpId="0" nodeType="withEffect">
                                  <p:stCondLst>
                                    <p:cond delay="300"/>
                                  </p:stCondLst>
                                  <p:childTnLst>
                                    <p:set>
                                      <p:cBhvr>
                                        <p:cTn id="159" dur="1" fill="hold">
                                          <p:stCondLst>
                                            <p:cond delay="0"/>
                                          </p:stCondLst>
                                        </p:cTn>
                                        <p:tgtEl>
                                          <p:spTgt spid="40"/>
                                        </p:tgtEl>
                                        <p:attrNameLst>
                                          <p:attrName>style.visibility</p:attrName>
                                        </p:attrNameLst>
                                      </p:cBhvr>
                                      <p:to>
                                        <p:strVal val="visible"/>
                                      </p:to>
                                    </p:set>
                                    <p:anim calcmode="lin" valueType="num">
                                      <p:cBhvr additive="base">
                                        <p:cTn id="160" dur="500" fill="hold"/>
                                        <p:tgtEl>
                                          <p:spTgt spid="40"/>
                                        </p:tgtEl>
                                        <p:attrNameLst>
                                          <p:attrName>ppt_x</p:attrName>
                                        </p:attrNameLst>
                                      </p:cBhvr>
                                      <p:tavLst>
                                        <p:tav tm="0">
                                          <p:val>
                                            <p:strVal val="#ppt_x"/>
                                          </p:val>
                                        </p:tav>
                                        <p:tav tm="100000">
                                          <p:val>
                                            <p:strVal val="#ppt_x"/>
                                          </p:val>
                                        </p:tav>
                                      </p:tavLst>
                                    </p:anim>
                                    <p:anim calcmode="lin" valueType="num">
                                      <p:cBhvr additive="base">
                                        <p:cTn id="161" dur="500" fill="hold"/>
                                        <p:tgtEl>
                                          <p:spTgt spid="40"/>
                                        </p:tgtEl>
                                        <p:attrNameLst>
                                          <p:attrName>ppt_y</p:attrName>
                                        </p:attrNameLst>
                                      </p:cBhvr>
                                      <p:tavLst>
                                        <p:tav tm="0">
                                          <p:val>
                                            <p:strVal val="#ppt_y+0.1"/>
                                          </p:val>
                                        </p:tav>
                                        <p:tav tm="100000">
                                          <p:val>
                                            <p:strVal val="#ppt_y"/>
                                          </p:val>
                                        </p:tav>
                                      </p:tavLst>
                                    </p:anim>
                                    <p:animEffect transition="in" filter="fade">
                                      <p:cBhvr>
                                        <p:cTn id="162" dur="500"/>
                                        <p:tgtEl>
                                          <p:spTgt spid="40"/>
                                        </p:tgtEl>
                                      </p:cBhvr>
                                    </p:animEffect>
                                  </p:childTnLst>
                                </p:cTn>
                              </p:par>
                              <p:par>
                                <p:cTn id="168" presetID="2" presetClass="entr" presetSubtype="4" fill="hold" grpId="0" nodeType="withEffect">
                                  <p:stCondLst>
                                    <p:cond delay="300"/>
                                  </p:stCondLst>
                                  <p:childTnLst>
                                    <p:set>
                                      <p:cBhvr>
                                        <p:cTn id="164" dur="1" fill="hold">
                                          <p:stCondLst>
                                            <p:cond delay="0"/>
                                          </p:stCondLst>
                                        </p:cTn>
                                        <p:tgtEl>
                                          <p:spTgt spid="41"/>
                                        </p:tgtEl>
                                        <p:attrNameLst>
                                          <p:attrName>style.visibility</p:attrName>
                                        </p:attrNameLst>
                                      </p:cBhvr>
                                      <p:to>
                                        <p:strVal val="visible"/>
                                      </p:to>
                                    </p:set>
                                    <p:anim calcmode="lin" valueType="num">
                                      <p:cBhvr additive="base">
                                        <p:cTn id="165" dur="500" fill="hold"/>
                                        <p:tgtEl>
                                          <p:spTgt spid="41"/>
                                        </p:tgtEl>
                                        <p:attrNameLst>
                                          <p:attrName>ppt_x</p:attrName>
                                        </p:attrNameLst>
                                      </p:cBhvr>
                                      <p:tavLst>
                                        <p:tav tm="0">
                                          <p:val>
                                            <p:strVal val="#ppt_x"/>
                                          </p:val>
                                        </p:tav>
                                        <p:tav tm="100000">
                                          <p:val>
                                            <p:strVal val="#ppt_x"/>
                                          </p:val>
                                        </p:tav>
                                      </p:tavLst>
                                    </p:anim>
                                    <p:anim calcmode="lin" valueType="num">
                                      <p:cBhvr additive="base">
                                        <p:cTn id="166" dur="500" fill="hold"/>
                                        <p:tgtEl>
                                          <p:spTgt spid="41"/>
                                        </p:tgtEl>
                                        <p:attrNameLst>
                                          <p:attrName>ppt_y</p:attrName>
                                        </p:attrNameLst>
                                      </p:cBhvr>
                                      <p:tavLst>
                                        <p:tav tm="0">
                                          <p:val>
                                            <p:strVal val="#ppt_y+0.1"/>
                                          </p:val>
                                        </p:tav>
                                        <p:tav tm="100000">
                                          <p:val>
                                            <p:strVal val="#ppt_y"/>
                                          </p:val>
                                        </p:tav>
                                      </p:tavLst>
                                    </p:anim>
                                    <p:animEffect transition="in" filter="fade">
                                      <p:cBhvr>
                                        <p:cTn id="167" dur="500"/>
                                        <p:tgtEl>
                                          <p:spTgt spid="41"/>
                                        </p:tgtEl>
                                      </p:cBhvr>
                                    </p:animEffect>
                                  </p:childTnLst>
                                </p:cTn>
                              </p:par>
                              <p:par>
                                <p:cTn id="173" presetID="2" presetClass="entr" presetSubtype="4" fill="hold" grpId="0" nodeType="withEffect">
                                  <p:stCondLst>
                                    <p:cond delay="300"/>
                                  </p:stCondLst>
                                  <p:childTnLst>
                                    <p:set>
                                      <p:cBhvr>
                                        <p:cTn id="169" dur="1" fill="hold">
                                          <p:stCondLst>
                                            <p:cond delay="0"/>
                                          </p:stCondLst>
                                        </p:cTn>
                                        <p:tgtEl>
                                          <p:spTgt spid="43"/>
                                        </p:tgtEl>
                                        <p:attrNameLst>
                                          <p:attrName>style.visibility</p:attrName>
                                        </p:attrNameLst>
                                      </p:cBhvr>
                                      <p:to>
                                        <p:strVal val="visible"/>
                                      </p:to>
                                    </p:set>
                                    <p:anim calcmode="lin" valueType="num">
                                      <p:cBhvr additive="base">
                                        <p:cTn id="170" dur="500" fill="hold"/>
                                        <p:tgtEl>
                                          <p:spTgt spid="43"/>
                                        </p:tgtEl>
                                        <p:attrNameLst>
                                          <p:attrName>ppt_x</p:attrName>
                                        </p:attrNameLst>
                                      </p:cBhvr>
                                      <p:tavLst>
                                        <p:tav tm="0">
                                          <p:val>
                                            <p:strVal val="#ppt_x"/>
                                          </p:val>
                                        </p:tav>
                                        <p:tav tm="100000">
                                          <p:val>
                                            <p:strVal val="#ppt_x"/>
                                          </p:val>
                                        </p:tav>
                                      </p:tavLst>
                                    </p:anim>
                                    <p:anim calcmode="lin" valueType="num">
                                      <p:cBhvr additive="base">
                                        <p:cTn id="171" dur="500" fill="hold"/>
                                        <p:tgtEl>
                                          <p:spTgt spid="43"/>
                                        </p:tgtEl>
                                        <p:attrNameLst>
                                          <p:attrName>ppt_y</p:attrName>
                                        </p:attrNameLst>
                                      </p:cBhvr>
                                      <p:tavLst>
                                        <p:tav tm="0">
                                          <p:val>
                                            <p:strVal val="#ppt_y+0.1"/>
                                          </p:val>
                                        </p:tav>
                                        <p:tav tm="100000">
                                          <p:val>
                                            <p:strVal val="#ppt_y"/>
                                          </p:val>
                                        </p:tav>
                                      </p:tavLst>
                                    </p:anim>
                                    <p:animEffect transition="in" filter="fade">
                                      <p:cBhvr>
                                        <p:cTn id="17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Two Messaging Models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Does each message go to ONE receiver, or to EVERY receiver?</a:t>
            </a:r>
          </a:p>
        </p:txBody>
      </p:sp>
      <p:sp>
        <p:nvSpPr>
          <p:cNvPr id="11" name="a1u_card10"/>
          <p:cNvSpPr/>
          <p:nvPr/>
        </p:nvSpPr>
        <p:spPr>
          <a:xfrm>
            <a:off x="457200" y="1216152"/>
            <a:ext cx="4023360" cy="3383280"/>
          </a:xfrm>
          <a:prstGeom prst="roundRect">
            <a:avLst>
              <a:gd name="adj" fmla="val 324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16152"/>
            <a:ext cx="50292" cy="338328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25880"/>
            <a:ext cx="3621024" cy="237744"/>
          </a:xfrm>
          <a:prstGeom prst="rect">
            <a:avLst/>
          </a:prstGeom>
          <a:noFill/>
        </p:spPr>
        <p:txBody>
          <a:bodyPr wrap="square" lIns="0" tIns="0" rIns="0" bIns="0" anchor="ctr">
            <a:spAutoFit/>
          </a:bodyPr>
          <a:lstStyle/>
          <a:p>
            <a:pPr algn="l"/>
            <a:r>
              <a:rPr sz="900" b="1">
                <a:solidFill>
                  <a:srgbClr val="A16207"/>
                </a:solidFill>
                <a:latin typeface="Segoe UI"/>
              </a:rPr>
              <a:t>POINT-TO-POINT  ·  QUEUE</a:t>
            </a:r>
          </a:p>
        </p:txBody>
      </p:sp>
      <p:sp>
        <p:nvSpPr>
          <p:cNvPr id="14" name="a1ud100_nd13"/>
          <p:cNvSpPr/>
          <p:nvPr/>
        </p:nvSpPr>
        <p:spPr>
          <a:xfrm>
            <a:off x="640080" y="2075688"/>
            <a:ext cx="868680" cy="457200"/>
          </a:xfrm>
          <a:prstGeom prst="roundRect">
            <a:avLst>
              <a:gd name="adj" fmla="val 16000"/>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100_ndt14"/>
          <p:cNvSpPr txBox="1"/>
          <p:nvPr/>
        </p:nvSpPr>
        <p:spPr>
          <a:xfrm>
            <a:off x="685800" y="2075688"/>
            <a:ext cx="777240" cy="457200"/>
          </a:xfrm>
          <a:prstGeom prst="rect">
            <a:avLst/>
          </a:prstGeom>
          <a:noFill/>
        </p:spPr>
        <p:txBody>
          <a:bodyPr wrap="square" lIns="0" tIns="0" rIns="0" bIns="0" anchor="ctr">
            <a:spAutoFit/>
          </a:bodyPr>
          <a:lstStyle/>
          <a:p>
            <a:pPr algn="ctr"/>
            <a:r>
              <a:rPr sz="850" b="1">
                <a:solidFill>
                  <a:srgbClr val="1C1917"/>
                </a:solidFill>
                <a:latin typeface="Segoe UI"/>
              </a:rPr>
              <a:t>Producer</a:t>
            </a:r>
          </a:p>
        </p:txBody>
      </p:sp>
      <p:cxnSp>
        <p:nvCxnSpPr>
          <p:cNvPr id="16" name="a1ud150_ar15"/>
          <p:cNvCxnSpPr/>
          <p:nvPr/>
        </p:nvCxnSpPr>
        <p:spPr>
          <a:xfrm>
            <a:off x="1527048" y="2304288"/>
            <a:ext cx="210312"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a1ud200_cell16"/>
          <p:cNvSpPr/>
          <p:nvPr/>
        </p:nvSpPr>
        <p:spPr>
          <a:xfrm>
            <a:off x="1755648" y="2157984"/>
            <a:ext cx="365760" cy="292608"/>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d200_cellt17"/>
          <p:cNvSpPr txBox="1"/>
          <p:nvPr/>
        </p:nvSpPr>
        <p:spPr>
          <a:xfrm>
            <a:off x="1755648" y="2157984"/>
            <a:ext cx="365760" cy="292608"/>
          </a:xfrm>
          <a:prstGeom prst="rect">
            <a:avLst/>
          </a:prstGeom>
          <a:noFill/>
        </p:spPr>
        <p:txBody>
          <a:bodyPr wrap="square" lIns="0" tIns="0" rIns="0" bIns="0" anchor="ctr">
            <a:spAutoFit/>
          </a:bodyPr>
          <a:lstStyle/>
          <a:p>
            <a:pPr algn="ctr"/>
            <a:r>
              <a:rPr sz="850" b="1">
                <a:solidFill>
                  <a:srgbClr val="A16207"/>
                </a:solidFill>
                <a:latin typeface="Consolas"/>
              </a:rPr>
              <a:t>m3</a:t>
            </a:r>
          </a:p>
        </p:txBody>
      </p:sp>
      <p:sp>
        <p:nvSpPr>
          <p:cNvPr id="19" name="a1ud200_cell18"/>
          <p:cNvSpPr/>
          <p:nvPr/>
        </p:nvSpPr>
        <p:spPr>
          <a:xfrm>
            <a:off x="2121408" y="2157984"/>
            <a:ext cx="365760" cy="292608"/>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200_cellt19"/>
          <p:cNvSpPr txBox="1"/>
          <p:nvPr/>
        </p:nvSpPr>
        <p:spPr>
          <a:xfrm>
            <a:off x="2121408" y="2157984"/>
            <a:ext cx="365760" cy="292608"/>
          </a:xfrm>
          <a:prstGeom prst="rect">
            <a:avLst/>
          </a:prstGeom>
          <a:noFill/>
        </p:spPr>
        <p:txBody>
          <a:bodyPr wrap="square" lIns="0" tIns="0" rIns="0" bIns="0" anchor="ctr">
            <a:spAutoFit/>
          </a:bodyPr>
          <a:lstStyle/>
          <a:p>
            <a:pPr algn="ctr"/>
            <a:r>
              <a:rPr sz="850" b="1">
                <a:solidFill>
                  <a:srgbClr val="A16207"/>
                </a:solidFill>
                <a:latin typeface="Consolas"/>
              </a:rPr>
              <a:t>m2</a:t>
            </a:r>
          </a:p>
        </p:txBody>
      </p:sp>
      <p:sp>
        <p:nvSpPr>
          <p:cNvPr id="21" name="a1ud200_cell20"/>
          <p:cNvSpPr/>
          <p:nvPr/>
        </p:nvSpPr>
        <p:spPr>
          <a:xfrm>
            <a:off x="2487168" y="2157984"/>
            <a:ext cx="365760" cy="292608"/>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ud200_cellt21"/>
          <p:cNvSpPr txBox="1"/>
          <p:nvPr/>
        </p:nvSpPr>
        <p:spPr>
          <a:xfrm>
            <a:off x="2487168" y="2157984"/>
            <a:ext cx="365760" cy="292608"/>
          </a:xfrm>
          <a:prstGeom prst="rect">
            <a:avLst/>
          </a:prstGeom>
          <a:noFill/>
        </p:spPr>
        <p:txBody>
          <a:bodyPr wrap="square" lIns="0" tIns="0" rIns="0" bIns="0" anchor="ctr">
            <a:spAutoFit/>
          </a:bodyPr>
          <a:lstStyle/>
          <a:p>
            <a:pPr algn="ctr"/>
            <a:r>
              <a:rPr sz="850" b="1">
                <a:solidFill>
                  <a:srgbClr val="A16207"/>
                </a:solidFill>
                <a:latin typeface="Consolas"/>
              </a:rPr>
              <a:t>m1</a:t>
            </a:r>
          </a:p>
        </p:txBody>
      </p:sp>
      <p:sp>
        <p:nvSpPr>
          <p:cNvPr id="23" name="a1ud300_nd22"/>
          <p:cNvSpPr/>
          <p:nvPr/>
        </p:nvSpPr>
        <p:spPr>
          <a:xfrm>
            <a:off x="3246120" y="1737360"/>
            <a:ext cx="1097280" cy="329184"/>
          </a:xfrm>
          <a:prstGeom prst="roundRect">
            <a:avLst>
              <a:gd name="adj" fmla="val 22222"/>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ud300_ndt23"/>
          <p:cNvSpPr txBox="1"/>
          <p:nvPr/>
        </p:nvSpPr>
        <p:spPr>
          <a:xfrm>
            <a:off x="3291839" y="1737360"/>
            <a:ext cx="1005839" cy="329184"/>
          </a:xfrm>
          <a:prstGeom prst="rect">
            <a:avLst/>
          </a:prstGeom>
          <a:noFill/>
        </p:spPr>
        <p:txBody>
          <a:bodyPr wrap="square" lIns="0" tIns="0" rIns="0" bIns="0" anchor="ctr">
            <a:spAutoFit/>
          </a:bodyPr>
          <a:lstStyle/>
          <a:p>
            <a:pPr algn="ctr"/>
            <a:r>
              <a:rPr sz="800" b="1">
                <a:solidFill>
                  <a:srgbClr val="1C1917"/>
                </a:solidFill>
                <a:latin typeface="Segoe UI"/>
              </a:rPr>
              <a:t>Worker 1 · m1</a:t>
            </a:r>
          </a:p>
        </p:txBody>
      </p:sp>
      <p:cxnSp>
        <p:nvCxnSpPr>
          <p:cNvPr id="25" name="a1ud300_ar24"/>
          <p:cNvCxnSpPr/>
          <p:nvPr/>
        </p:nvCxnSpPr>
        <p:spPr>
          <a:xfrm flipV="1">
            <a:off x="2871216" y="1901952"/>
            <a:ext cx="356616" cy="402336"/>
          </a:xfrm>
          <a:prstGeom prst="line">
            <a:avLst/>
          </a:prstGeom>
          <a:ln w="1587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a1ud400_nd25"/>
          <p:cNvSpPr/>
          <p:nvPr/>
        </p:nvSpPr>
        <p:spPr>
          <a:xfrm>
            <a:off x="3246120" y="2139696"/>
            <a:ext cx="1097280" cy="329184"/>
          </a:xfrm>
          <a:prstGeom prst="roundRect">
            <a:avLst>
              <a:gd name="adj" fmla="val 22222"/>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ud400_ndt26"/>
          <p:cNvSpPr txBox="1"/>
          <p:nvPr/>
        </p:nvSpPr>
        <p:spPr>
          <a:xfrm>
            <a:off x="3291839" y="2139696"/>
            <a:ext cx="1005839" cy="329184"/>
          </a:xfrm>
          <a:prstGeom prst="rect">
            <a:avLst/>
          </a:prstGeom>
          <a:noFill/>
        </p:spPr>
        <p:txBody>
          <a:bodyPr wrap="square" lIns="0" tIns="0" rIns="0" bIns="0" anchor="ctr">
            <a:spAutoFit/>
          </a:bodyPr>
          <a:lstStyle/>
          <a:p>
            <a:pPr algn="ctr"/>
            <a:r>
              <a:rPr sz="800" b="1">
                <a:solidFill>
                  <a:srgbClr val="1C1917"/>
                </a:solidFill>
                <a:latin typeface="Segoe UI"/>
              </a:rPr>
              <a:t>Worker 2 · m2</a:t>
            </a:r>
          </a:p>
        </p:txBody>
      </p:sp>
      <p:cxnSp>
        <p:nvCxnSpPr>
          <p:cNvPr id="28" name="a1ud400_ar27"/>
          <p:cNvCxnSpPr/>
          <p:nvPr/>
        </p:nvCxnSpPr>
        <p:spPr>
          <a:xfrm>
            <a:off x="2871216" y="2304288"/>
            <a:ext cx="356616" cy="0"/>
          </a:xfrm>
          <a:prstGeom prst="line">
            <a:avLst/>
          </a:prstGeom>
          <a:ln w="1587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a1ud500_nd28"/>
          <p:cNvSpPr/>
          <p:nvPr/>
        </p:nvSpPr>
        <p:spPr>
          <a:xfrm>
            <a:off x="3246120" y="2542032"/>
            <a:ext cx="1097280" cy="329184"/>
          </a:xfrm>
          <a:prstGeom prst="roundRect">
            <a:avLst>
              <a:gd name="adj" fmla="val 22222"/>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1ud500_ndt29"/>
          <p:cNvSpPr txBox="1"/>
          <p:nvPr/>
        </p:nvSpPr>
        <p:spPr>
          <a:xfrm>
            <a:off x="3291839" y="2542032"/>
            <a:ext cx="1005839" cy="329184"/>
          </a:xfrm>
          <a:prstGeom prst="rect">
            <a:avLst/>
          </a:prstGeom>
          <a:noFill/>
        </p:spPr>
        <p:txBody>
          <a:bodyPr wrap="square" lIns="0" tIns="0" rIns="0" bIns="0" anchor="ctr">
            <a:spAutoFit/>
          </a:bodyPr>
          <a:lstStyle/>
          <a:p>
            <a:pPr algn="ctr"/>
            <a:r>
              <a:rPr sz="800" b="1">
                <a:solidFill>
                  <a:srgbClr val="1C1917"/>
                </a:solidFill>
                <a:latin typeface="Segoe UI"/>
              </a:rPr>
              <a:t>Worker 3 · m3</a:t>
            </a:r>
          </a:p>
        </p:txBody>
      </p:sp>
      <p:cxnSp>
        <p:nvCxnSpPr>
          <p:cNvPr id="31" name="a1ud500_ar30"/>
          <p:cNvCxnSpPr/>
          <p:nvPr/>
        </p:nvCxnSpPr>
        <p:spPr>
          <a:xfrm>
            <a:off x="2871216" y="2304288"/>
            <a:ext cx="356616" cy="402336"/>
          </a:xfrm>
          <a:prstGeom prst="line">
            <a:avLst/>
          </a:prstGeom>
          <a:ln w="1587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a1ud500_dot31"/>
          <p:cNvSpPr/>
          <p:nvPr/>
        </p:nvSpPr>
        <p:spPr>
          <a:xfrm>
            <a:off x="658368" y="3095244"/>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1ud500_b32"/>
          <p:cNvSpPr txBox="1"/>
          <p:nvPr/>
        </p:nvSpPr>
        <p:spPr>
          <a:xfrm>
            <a:off x="877824" y="2999232"/>
            <a:ext cx="3401568" cy="329184"/>
          </a:xfrm>
          <a:prstGeom prst="rect">
            <a:avLst/>
          </a:prstGeom>
          <a:noFill/>
        </p:spPr>
        <p:txBody>
          <a:bodyPr wrap="square" lIns="0" tIns="0" rIns="0" bIns="0" anchor="t">
            <a:spAutoFit/>
          </a:bodyPr>
          <a:lstStyle/>
          <a:p>
            <a:pPr algn="l"/>
            <a:r>
              <a:rPr sz="900" b="0">
                <a:solidFill>
                  <a:srgbClr val="44403C"/>
                </a:solidFill>
                <a:latin typeface="Segoe UI"/>
              </a:rPr>
              <a:t>Each message goes to exactly ONE consumer</a:t>
            </a:r>
          </a:p>
        </p:txBody>
      </p:sp>
      <p:sp>
        <p:nvSpPr>
          <p:cNvPr id="34" name="a1ud600_dot33"/>
          <p:cNvSpPr/>
          <p:nvPr/>
        </p:nvSpPr>
        <p:spPr>
          <a:xfrm>
            <a:off x="658368" y="3461003"/>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1ud600_b34"/>
          <p:cNvSpPr txBox="1"/>
          <p:nvPr/>
        </p:nvSpPr>
        <p:spPr>
          <a:xfrm>
            <a:off x="877824" y="3364991"/>
            <a:ext cx="3401568" cy="329184"/>
          </a:xfrm>
          <a:prstGeom prst="rect">
            <a:avLst/>
          </a:prstGeom>
          <a:noFill/>
        </p:spPr>
        <p:txBody>
          <a:bodyPr wrap="square" lIns="0" tIns="0" rIns="0" bIns="0" anchor="t">
            <a:spAutoFit/>
          </a:bodyPr>
          <a:lstStyle/>
          <a:p>
            <a:pPr algn="l"/>
            <a:r>
              <a:rPr sz="900" b="0">
                <a:solidFill>
                  <a:srgbClr val="44403C"/>
                </a:solidFill>
                <a:latin typeface="Segoe UI"/>
              </a:rPr>
              <a:t>Consumers compete - add more to go faster</a:t>
            </a:r>
          </a:p>
        </p:txBody>
      </p:sp>
      <p:sp>
        <p:nvSpPr>
          <p:cNvPr id="36" name="a1ud700_dot35"/>
          <p:cNvSpPr/>
          <p:nvPr/>
        </p:nvSpPr>
        <p:spPr>
          <a:xfrm>
            <a:off x="658368" y="3826763"/>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1ud700_b36"/>
          <p:cNvSpPr txBox="1"/>
          <p:nvPr/>
        </p:nvSpPr>
        <p:spPr>
          <a:xfrm>
            <a:off x="877824" y="3730752"/>
            <a:ext cx="3401568" cy="329184"/>
          </a:xfrm>
          <a:prstGeom prst="rect">
            <a:avLst/>
          </a:prstGeom>
          <a:noFill/>
        </p:spPr>
        <p:txBody>
          <a:bodyPr wrap="square" lIns="0" tIns="0" rIns="0" bIns="0" anchor="t">
            <a:spAutoFit/>
          </a:bodyPr>
          <a:lstStyle/>
          <a:p>
            <a:pPr algn="l"/>
            <a:r>
              <a:rPr sz="900" b="0">
                <a:solidFill>
                  <a:srgbClr val="44403C"/>
                </a:solidFill>
                <a:latin typeface="Segoe UI"/>
              </a:rPr>
              <a:t>Use for: hand out work (print 10,000 statements)</a:t>
            </a:r>
          </a:p>
        </p:txBody>
      </p:sp>
      <p:sp>
        <p:nvSpPr>
          <p:cNvPr id="38" name="a1ud800_ex37"/>
          <p:cNvSpPr txBox="1"/>
          <p:nvPr/>
        </p:nvSpPr>
        <p:spPr>
          <a:xfrm>
            <a:off x="658368" y="4187952"/>
            <a:ext cx="3621024" cy="274320"/>
          </a:xfrm>
          <a:prstGeom prst="rect">
            <a:avLst/>
          </a:prstGeom>
          <a:noFill/>
        </p:spPr>
        <p:txBody>
          <a:bodyPr wrap="square" lIns="0" tIns="0" rIns="0" bIns="0" anchor="ctr">
            <a:spAutoFit/>
          </a:bodyPr>
          <a:lstStyle/>
          <a:p>
            <a:pPr algn="l"/>
            <a:r>
              <a:rPr sz="850" b="1">
                <a:solidFill>
                  <a:srgbClr val="A16207"/>
                </a:solidFill>
                <a:latin typeface="Segoe UI"/>
              </a:rPr>
              <a:t>e.g. IBM MQ queue, RabbitMQ queue, Amazon SQS</a:t>
            </a:r>
          </a:p>
        </p:txBody>
      </p:sp>
      <p:sp>
        <p:nvSpPr>
          <p:cNvPr id="39" name="a2u_card38"/>
          <p:cNvSpPr/>
          <p:nvPr/>
        </p:nvSpPr>
        <p:spPr>
          <a:xfrm>
            <a:off x="4663440" y="1216152"/>
            <a:ext cx="4023360" cy="3383280"/>
          </a:xfrm>
          <a:prstGeom prst="roundRect">
            <a:avLst>
              <a:gd name="adj" fmla="val 324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2u_acc39"/>
          <p:cNvSpPr/>
          <p:nvPr/>
        </p:nvSpPr>
        <p:spPr>
          <a:xfrm>
            <a:off x="4663440" y="1216152"/>
            <a:ext cx="50292" cy="33832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2u_hh40"/>
          <p:cNvSpPr txBox="1"/>
          <p:nvPr/>
        </p:nvSpPr>
        <p:spPr>
          <a:xfrm>
            <a:off x="4864607" y="1325880"/>
            <a:ext cx="3621024" cy="237744"/>
          </a:xfrm>
          <a:prstGeom prst="rect">
            <a:avLst/>
          </a:prstGeom>
          <a:noFill/>
        </p:spPr>
        <p:txBody>
          <a:bodyPr wrap="square" lIns="0" tIns="0" rIns="0" bIns="0" anchor="ctr">
            <a:spAutoFit/>
          </a:bodyPr>
          <a:lstStyle/>
          <a:p>
            <a:pPr algn="l"/>
            <a:r>
              <a:rPr sz="900" b="1">
                <a:solidFill>
                  <a:srgbClr val="0E7490"/>
                </a:solidFill>
                <a:latin typeface="Segoe UI"/>
              </a:rPr>
              <a:t>PUBLISH-SUBSCRIBE  ·  TOPIC</a:t>
            </a:r>
          </a:p>
        </p:txBody>
      </p:sp>
      <p:sp>
        <p:nvSpPr>
          <p:cNvPr id="42" name="a2ud100_nd41"/>
          <p:cNvSpPr/>
          <p:nvPr/>
        </p:nvSpPr>
        <p:spPr>
          <a:xfrm>
            <a:off x="4846320" y="2075688"/>
            <a:ext cx="868680" cy="457200"/>
          </a:xfrm>
          <a:prstGeom prst="roundRect">
            <a:avLst>
              <a:gd name="adj" fmla="val 16000"/>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2ud100_ndt42"/>
          <p:cNvSpPr txBox="1"/>
          <p:nvPr/>
        </p:nvSpPr>
        <p:spPr>
          <a:xfrm>
            <a:off x="4892040" y="2075688"/>
            <a:ext cx="777240" cy="457200"/>
          </a:xfrm>
          <a:prstGeom prst="rect">
            <a:avLst/>
          </a:prstGeom>
          <a:noFill/>
        </p:spPr>
        <p:txBody>
          <a:bodyPr wrap="square" lIns="0" tIns="0" rIns="0" bIns="0" anchor="ctr">
            <a:spAutoFit/>
          </a:bodyPr>
          <a:lstStyle/>
          <a:p>
            <a:pPr algn="ctr"/>
            <a:r>
              <a:rPr sz="850" b="1">
                <a:solidFill>
                  <a:srgbClr val="1C1917"/>
                </a:solidFill>
                <a:latin typeface="Segoe UI"/>
              </a:rPr>
              <a:t>Producer</a:t>
            </a:r>
          </a:p>
        </p:txBody>
      </p:sp>
      <p:cxnSp>
        <p:nvCxnSpPr>
          <p:cNvPr id="44" name="a2ud150_ar43"/>
          <p:cNvCxnSpPr/>
          <p:nvPr/>
        </p:nvCxnSpPr>
        <p:spPr>
          <a:xfrm>
            <a:off x="5733288" y="2304288"/>
            <a:ext cx="210312"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a2ud200_cell44"/>
          <p:cNvSpPr/>
          <p:nvPr/>
        </p:nvSpPr>
        <p:spPr>
          <a:xfrm>
            <a:off x="5961888" y="2157984"/>
            <a:ext cx="365760" cy="292608"/>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2ud200_cellt45"/>
          <p:cNvSpPr txBox="1"/>
          <p:nvPr/>
        </p:nvSpPr>
        <p:spPr>
          <a:xfrm>
            <a:off x="5961888" y="2157984"/>
            <a:ext cx="365760" cy="292608"/>
          </a:xfrm>
          <a:prstGeom prst="rect">
            <a:avLst/>
          </a:prstGeom>
          <a:noFill/>
        </p:spPr>
        <p:txBody>
          <a:bodyPr wrap="square" lIns="0" tIns="0" rIns="0" bIns="0" anchor="ctr">
            <a:spAutoFit/>
          </a:bodyPr>
          <a:lstStyle/>
          <a:p>
            <a:pPr algn="ctr"/>
            <a:r>
              <a:rPr sz="850" b="1">
                <a:solidFill>
                  <a:srgbClr val="0E7490"/>
                </a:solidFill>
                <a:latin typeface="Consolas"/>
              </a:rPr>
              <a:t>m3</a:t>
            </a:r>
          </a:p>
        </p:txBody>
      </p:sp>
      <p:sp>
        <p:nvSpPr>
          <p:cNvPr id="47" name="a2ud200_cell46"/>
          <p:cNvSpPr/>
          <p:nvPr/>
        </p:nvSpPr>
        <p:spPr>
          <a:xfrm>
            <a:off x="6327648" y="2157984"/>
            <a:ext cx="365760" cy="292608"/>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2ud200_cellt47"/>
          <p:cNvSpPr txBox="1"/>
          <p:nvPr/>
        </p:nvSpPr>
        <p:spPr>
          <a:xfrm>
            <a:off x="6327648" y="2157984"/>
            <a:ext cx="365760" cy="292608"/>
          </a:xfrm>
          <a:prstGeom prst="rect">
            <a:avLst/>
          </a:prstGeom>
          <a:noFill/>
        </p:spPr>
        <p:txBody>
          <a:bodyPr wrap="square" lIns="0" tIns="0" rIns="0" bIns="0" anchor="ctr">
            <a:spAutoFit/>
          </a:bodyPr>
          <a:lstStyle/>
          <a:p>
            <a:pPr algn="ctr"/>
            <a:r>
              <a:rPr sz="850" b="1">
                <a:solidFill>
                  <a:srgbClr val="0E7490"/>
                </a:solidFill>
                <a:latin typeface="Consolas"/>
              </a:rPr>
              <a:t>m2</a:t>
            </a:r>
          </a:p>
        </p:txBody>
      </p:sp>
      <p:sp>
        <p:nvSpPr>
          <p:cNvPr id="49" name="a2ud200_cell48"/>
          <p:cNvSpPr/>
          <p:nvPr/>
        </p:nvSpPr>
        <p:spPr>
          <a:xfrm>
            <a:off x="6693407" y="2157984"/>
            <a:ext cx="365760" cy="292608"/>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2ud200_cellt49"/>
          <p:cNvSpPr txBox="1"/>
          <p:nvPr/>
        </p:nvSpPr>
        <p:spPr>
          <a:xfrm>
            <a:off x="6693407" y="2157984"/>
            <a:ext cx="365760" cy="292608"/>
          </a:xfrm>
          <a:prstGeom prst="rect">
            <a:avLst/>
          </a:prstGeom>
          <a:noFill/>
        </p:spPr>
        <p:txBody>
          <a:bodyPr wrap="square" lIns="0" tIns="0" rIns="0" bIns="0" anchor="ctr">
            <a:spAutoFit/>
          </a:bodyPr>
          <a:lstStyle/>
          <a:p>
            <a:pPr algn="ctr"/>
            <a:r>
              <a:rPr sz="850" b="1">
                <a:solidFill>
                  <a:srgbClr val="0E7490"/>
                </a:solidFill>
                <a:latin typeface="Consolas"/>
              </a:rPr>
              <a:t>m1</a:t>
            </a:r>
          </a:p>
        </p:txBody>
      </p:sp>
      <p:sp>
        <p:nvSpPr>
          <p:cNvPr id="51" name="a2ud300_nd50"/>
          <p:cNvSpPr/>
          <p:nvPr/>
        </p:nvSpPr>
        <p:spPr>
          <a:xfrm>
            <a:off x="7452359" y="1737360"/>
            <a:ext cx="1097280" cy="329184"/>
          </a:xfrm>
          <a:prstGeom prst="roundRect">
            <a:avLst>
              <a:gd name="adj" fmla="val 22222"/>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2ud300_ndt51"/>
          <p:cNvSpPr txBox="1"/>
          <p:nvPr/>
        </p:nvSpPr>
        <p:spPr>
          <a:xfrm>
            <a:off x="7498079" y="1737360"/>
            <a:ext cx="1005839" cy="329184"/>
          </a:xfrm>
          <a:prstGeom prst="rect">
            <a:avLst/>
          </a:prstGeom>
          <a:noFill/>
        </p:spPr>
        <p:txBody>
          <a:bodyPr wrap="square" lIns="0" tIns="0" rIns="0" bIns="0" anchor="ctr">
            <a:spAutoFit/>
          </a:bodyPr>
          <a:lstStyle/>
          <a:p>
            <a:pPr algn="ctr"/>
            <a:r>
              <a:rPr sz="800" b="1">
                <a:solidFill>
                  <a:srgbClr val="1C1917"/>
                </a:solidFill>
                <a:latin typeface="Segoe UI"/>
              </a:rPr>
              <a:t>Fraud · m1 m2 m3</a:t>
            </a:r>
          </a:p>
        </p:txBody>
      </p:sp>
      <p:cxnSp>
        <p:nvCxnSpPr>
          <p:cNvPr id="53" name="a2ud300_ar52"/>
          <p:cNvCxnSpPr/>
          <p:nvPr/>
        </p:nvCxnSpPr>
        <p:spPr>
          <a:xfrm flipV="1">
            <a:off x="7077456" y="1901952"/>
            <a:ext cx="356615" cy="402336"/>
          </a:xfrm>
          <a:prstGeom prst="line">
            <a:avLst/>
          </a:prstGeom>
          <a:ln w="158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a2ud400_nd53"/>
          <p:cNvSpPr/>
          <p:nvPr/>
        </p:nvSpPr>
        <p:spPr>
          <a:xfrm>
            <a:off x="7452359" y="2139696"/>
            <a:ext cx="1097280" cy="329184"/>
          </a:xfrm>
          <a:prstGeom prst="roundRect">
            <a:avLst>
              <a:gd name="adj" fmla="val 22222"/>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2ud400_ndt54"/>
          <p:cNvSpPr txBox="1"/>
          <p:nvPr/>
        </p:nvSpPr>
        <p:spPr>
          <a:xfrm>
            <a:off x="7498079" y="2139696"/>
            <a:ext cx="1005839" cy="329184"/>
          </a:xfrm>
          <a:prstGeom prst="rect">
            <a:avLst/>
          </a:prstGeom>
          <a:noFill/>
        </p:spPr>
        <p:txBody>
          <a:bodyPr wrap="square" lIns="0" tIns="0" rIns="0" bIns="0" anchor="ctr">
            <a:spAutoFit/>
          </a:bodyPr>
          <a:lstStyle/>
          <a:p>
            <a:pPr algn="ctr"/>
            <a:r>
              <a:rPr sz="800" b="1">
                <a:solidFill>
                  <a:srgbClr val="1C1917"/>
                </a:solidFill>
                <a:latin typeface="Segoe UI"/>
              </a:rPr>
              <a:t>SMS · m1 m2 m3</a:t>
            </a:r>
          </a:p>
        </p:txBody>
      </p:sp>
      <p:cxnSp>
        <p:nvCxnSpPr>
          <p:cNvPr id="56" name="a2ud400_ar55"/>
          <p:cNvCxnSpPr/>
          <p:nvPr/>
        </p:nvCxnSpPr>
        <p:spPr>
          <a:xfrm>
            <a:off x="7077456" y="2304288"/>
            <a:ext cx="356615" cy="0"/>
          </a:xfrm>
          <a:prstGeom prst="line">
            <a:avLst/>
          </a:prstGeom>
          <a:ln w="158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a2ud500_nd56"/>
          <p:cNvSpPr/>
          <p:nvPr/>
        </p:nvSpPr>
        <p:spPr>
          <a:xfrm>
            <a:off x="7452359" y="2542032"/>
            <a:ext cx="1097280" cy="329184"/>
          </a:xfrm>
          <a:prstGeom prst="roundRect">
            <a:avLst>
              <a:gd name="adj" fmla="val 22222"/>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2ud500_ndt57"/>
          <p:cNvSpPr txBox="1"/>
          <p:nvPr/>
        </p:nvSpPr>
        <p:spPr>
          <a:xfrm>
            <a:off x="7498079" y="2542032"/>
            <a:ext cx="1005839" cy="329184"/>
          </a:xfrm>
          <a:prstGeom prst="rect">
            <a:avLst/>
          </a:prstGeom>
          <a:noFill/>
        </p:spPr>
        <p:txBody>
          <a:bodyPr wrap="square" lIns="0" tIns="0" rIns="0" bIns="0" anchor="ctr">
            <a:spAutoFit/>
          </a:bodyPr>
          <a:lstStyle/>
          <a:p>
            <a:pPr algn="ctr"/>
            <a:r>
              <a:rPr sz="800" b="1">
                <a:solidFill>
                  <a:srgbClr val="1C1917"/>
                </a:solidFill>
                <a:latin typeface="Segoe UI"/>
              </a:rPr>
              <a:t>Ledger · m1 m2 m3</a:t>
            </a:r>
          </a:p>
        </p:txBody>
      </p:sp>
      <p:cxnSp>
        <p:nvCxnSpPr>
          <p:cNvPr id="59" name="a2ud500_ar58"/>
          <p:cNvCxnSpPr/>
          <p:nvPr/>
        </p:nvCxnSpPr>
        <p:spPr>
          <a:xfrm>
            <a:off x="7077456" y="2304288"/>
            <a:ext cx="356615" cy="402336"/>
          </a:xfrm>
          <a:prstGeom prst="line">
            <a:avLst/>
          </a:prstGeom>
          <a:ln w="158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a2ud500_dot59"/>
          <p:cNvSpPr/>
          <p:nvPr/>
        </p:nvSpPr>
        <p:spPr>
          <a:xfrm>
            <a:off x="4864607" y="309524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a2ud500_b60"/>
          <p:cNvSpPr txBox="1"/>
          <p:nvPr/>
        </p:nvSpPr>
        <p:spPr>
          <a:xfrm>
            <a:off x="5084064" y="2999232"/>
            <a:ext cx="3401568" cy="329184"/>
          </a:xfrm>
          <a:prstGeom prst="rect">
            <a:avLst/>
          </a:prstGeom>
          <a:noFill/>
        </p:spPr>
        <p:txBody>
          <a:bodyPr wrap="square" lIns="0" tIns="0" rIns="0" bIns="0" anchor="t">
            <a:spAutoFit/>
          </a:bodyPr>
          <a:lstStyle/>
          <a:p>
            <a:pPr algn="l"/>
            <a:r>
              <a:rPr sz="900" b="0">
                <a:solidFill>
                  <a:srgbClr val="44403C"/>
                </a:solidFill>
                <a:latin typeface="Segoe UI"/>
              </a:rPr>
              <a:t>Every subscriber gets its own copy of every message</a:t>
            </a:r>
          </a:p>
        </p:txBody>
      </p:sp>
      <p:sp>
        <p:nvSpPr>
          <p:cNvPr id="62" name="a2ud600_dot61"/>
          <p:cNvSpPr/>
          <p:nvPr/>
        </p:nvSpPr>
        <p:spPr>
          <a:xfrm>
            <a:off x="4864607" y="3461003"/>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a2ud600_b62"/>
          <p:cNvSpPr txBox="1"/>
          <p:nvPr/>
        </p:nvSpPr>
        <p:spPr>
          <a:xfrm>
            <a:off x="5084064" y="3364991"/>
            <a:ext cx="3401568" cy="329184"/>
          </a:xfrm>
          <a:prstGeom prst="rect">
            <a:avLst/>
          </a:prstGeom>
          <a:noFill/>
        </p:spPr>
        <p:txBody>
          <a:bodyPr wrap="square" lIns="0" tIns="0" rIns="0" bIns="0" anchor="t">
            <a:spAutoFit/>
          </a:bodyPr>
          <a:lstStyle/>
          <a:p>
            <a:pPr algn="l"/>
            <a:r>
              <a:rPr sz="900" b="0">
                <a:solidFill>
                  <a:srgbClr val="44403C"/>
                </a:solidFill>
                <a:latin typeface="Segoe UI"/>
              </a:rPr>
              <a:t>Subscribers do not know about each other</a:t>
            </a:r>
          </a:p>
        </p:txBody>
      </p:sp>
      <p:sp>
        <p:nvSpPr>
          <p:cNvPr id="64" name="a2ud700_dot63"/>
          <p:cNvSpPr/>
          <p:nvPr/>
        </p:nvSpPr>
        <p:spPr>
          <a:xfrm>
            <a:off x="4864607" y="3826763"/>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a2ud700_b64"/>
          <p:cNvSpPr txBox="1"/>
          <p:nvPr/>
        </p:nvSpPr>
        <p:spPr>
          <a:xfrm>
            <a:off x="5084064" y="3730752"/>
            <a:ext cx="3401568" cy="329184"/>
          </a:xfrm>
          <a:prstGeom prst="rect">
            <a:avLst/>
          </a:prstGeom>
          <a:noFill/>
        </p:spPr>
        <p:txBody>
          <a:bodyPr wrap="square" lIns="0" tIns="0" rIns="0" bIns="0" anchor="t">
            <a:spAutoFit/>
          </a:bodyPr>
          <a:lstStyle/>
          <a:p>
            <a:pPr algn="l"/>
            <a:r>
              <a:rPr sz="900" b="0">
                <a:solidFill>
                  <a:srgbClr val="44403C"/>
                </a:solidFill>
                <a:latin typeface="Segoe UI"/>
              </a:rPr>
              <a:t>Use for: tell everyone who cares (payment done)</a:t>
            </a:r>
          </a:p>
        </p:txBody>
      </p:sp>
      <p:sp>
        <p:nvSpPr>
          <p:cNvPr id="66" name="a2ud800_ex65"/>
          <p:cNvSpPr txBox="1"/>
          <p:nvPr/>
        </p:nvSpPr>
        <p:spPr>
          <a:xfrm>
            <a:off x="4864607" y="4187952"/>
            <a:ext cx="3621024" cy="274320"/>
          </a:xfrm>
          <a:prstGeom prst="rect">
            <a:avLst/>
          </a:prstGeom>
          <a:noFill/>
        </p:spPr>
        <p:txBody>
          <a:bodyPr wrap="square" lIns="0" tIns="0" rIns="0" bIns="0" anchor="ctr">
            <a:spAutoFit/>
          </a:bodyPr>
          <a:lstStyle/>
          <a:p>
            <a:pPr algn="l"/>
            <a:r>
              <a:rPr sz="850" b="1">
                <a:solidFill>
                  <a:srgbClr val="0E7490"/>
                </a:solidFill>
                <a:latin typeface="Segoe UI"/>
              </a:rPr>
              <a:t>e.g. JMS topic, Redis Pub/Sub, Kafka topic</a:t>
            </a:r>
          </a:p>
        </p:txBody>
      </p:sp>
      <p:sp>
        <p:nvSpPr>
          <p:cNvPr id="67" name="ft66"/>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30</a:t>
            </a:r>
          </a:p>
        </p:txBody>
      </p:sp>
      <p:sp>
        <p:nvSpPr>
          <p:cNvPr id="68" name="ft67"/>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ft68"/>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70" name="ft69"/>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5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0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20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20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20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20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30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30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30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40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par>
                                <p:cTn id="89" presetID="2" presetClass="entr" presetSubtype="4" fill="hold" grpId="0" nodeType="withEffect">
                                  <p:stCondLst>
                                    <p:cond delay="40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40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50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1"/>
                                          </p:val>
                                        </p:tav>
                                        <p:tav tm="100000">
                                          <p:val>
                                            <p:strVal val="#ppt_y"/>
                                          </p:val>
                                        </p:tav>
                                      </p:tavLst>
                                    </p:anim>
                                    <p:animEffect transition="in" filter="fade">
                                      <p:cBhvr>
                                        <p:cTn id="98" dur="500"/>
                                        <p:tgtEl>
                                          <p:spTgt spid="29"/>
                                        </p:tgtEl>
                                      </p:cBhvr>
                                    </p:animEffect>
                                  </p:childTnLst>
                                </p:cTn>
                              </p:par>
                              <p:par>
                                <p:cTn id="104" presetID="2" presetClass="entr" presetSubtype="4" fill="hold" grpId="0" nodeType="withEffect">
                                  <p:stCondLst>
                                    <p:cond delay="50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ppt_x</p:attrName>
                                        </p:attrNameLst>
                                      </p:cBhvr>
                                      <p:tavLst>
                                        <p:tav tm="0">
                                          <p:val>
                                            <p:strVal val="#ppt_x"/>
                                          </p:val>
                                        </p:tav>
                                        <p:tav tm="100000">
                                          <p:val>
                                            <p:strVal val="#ppt_x"/>
                                          </p:val>
                                        </p:tav>
                                      </p:tavLst>
                                    </p:anim>
                                    <p:anim calcmode="lin" valueType="num">
                                      <p:cBhvr additive="base">
                                        <p:cTn id="102" dur="500" fill="hold"/>
                                        <p:tgtEl>
                                          <p:spTgt spid="30"/>
                                        </p:tgtEl>
                                        <p:attrNameLst>
                                          <p:attrName>ppt_y</p:attrName>
                                        </p:attrNameLst>
                                      </p:cBhvr>
                                      <p:tavLst>
                                        <p:tav tm="0">
                                          <p:val>
                                            <p:strVal val="#ppt_y+0.1"/>
                                          </p:val>
                                        </p:tav>
                                        <p:tav tm="100000">
                                          <p:val>
                                            <p:strVal val="#ppt_y"/>
                                          </p:val>
                                        </p:tav>
                                      </p:tavLst>
                                    </p:anim>
                                    <p:animEffect transition="in" filter="fade">
                                      <p:cBhvr>
                                        <p:cTn id="103" dur="500"/>
                                        <p:tgtEl>
                                          <p:spTgt spid="30"/>
                                        </p:tgtEl>
                                      </p:cBhvr>
                                    </p:animEffect>
                                  </p:childTnLst>
                                </p:cTn>
                              </p:par>
                              <p:par>
                                <p:cTn id="109" presetID="2" presetClass="entr" presetSubtype="4" fill="hold" grpId="0" nodeType="withEffect">
                                  <p:stCondLst>
                                    <p:cond delay="500"/>
                                  </p:stCondLst>
                                  <p:childTnLst>
                                    <p:set>
                                      <p:cBhvr>
                                        <p:cTn id="105" dur="1" fill="hold">
                                          <p:stCondLst>
                                            <p:cond delay="0"/>
                                          </p:stCondLst>
                                        </p:cTn>
                                        <p:tgtEl>
                                          <p:spTgt spid="31"/>
                                        </p:tgtEl>
                                        <p:attrNameLst>
                                          <p:attrName>style.visibility</p:attrName>
                                        </p:attrNameLst>
                                      </p:cBhvr>
                                      <p:to>
                                        <p:strVal val="visible"/>
                                      </p:to>
                                    </p:set>
                                    <p:anim calcmode="lin" valueType="num">
                                      <p:cBhvr additive="base">
                                        <p:cTn id="106" dur="500" fill="hold"/>
                                        <p:tgtEl>
                                          <p:spTgt spid="31"/>
                                        </p:tgtEl>
                                        <p:attrNameLst>
                                          <p:attrName>ppt_x</p:attrName>
                                        </p:attrNameLst>
                                      </p:cBhvr>
                                      <p:tavLst>
                                        <p:tav tm="0">
                                          <p:val>
                                            <p:strVal val="#ppt_x"/>
                                          </p:val>
                                        </p:tav>
                                        <p:tav tm="100000">
                                          <p:val>
                                            <p:strVal val="#ppt_x"/>
                                          </p:val>
                                        </p:tav>
                                      </p:tavLst>
                                    </p:anim>
                                    <p:anim calcmode="lin" valueType="num">
                                      <p:cBhvr additive="base">
                                        <p:cTn id="107" dur="500" fill="hold"/>
                                        <p:tgtEl>
                                          <p:spTgt spid="31"/>
                                        </p:tgtEl>
                                        <p:attrNameLst>
                                          <p:attrName>ppt_y</p:attrName>
                                        </p:attrNameLst>
                                      </p:cBhvr>
                                      <p:tavLst>
                                        <p:tav tm="0">
                                          <p:val>
                                            <p:strVal val="#ppt_y+0.1"/>
                                          </p:val>
                                        </p:tav>
                                        <p:tav tm="100000">
                                          <p:val>
                                            <p:strVal val="#ppt_y"/>
                                          </p:val>
                                        </p:tav>
                                      </p:tavLst>
                                    </p:anim>
                                    <p:animEffect transition="in" filter="fade">
                                      <p:cBhvr>
                                        <p:cTn id="108" dur="500"/>
                                        <p:tgtEl>
                                          <p:spTgt spid="31"/>
                                        </p:tgtEl>
                                      </p:cBhvr>
                                    </p:animEffect>
                                  </p:childTnLst>
                                </p:cTn>
                              </p:par>
                              <p:par>
                                <p:cTn id="114" presetID="2" presetClass="entr" presetSubtype="4" fill="hold" grpId="0" nodeType="withEffect">
                                  <p:stCondLst>
                                    <p:cond delay="500"/>
                                  </p:stCondLst>
                                  <p:childTnLst>
                                    <p:set>
                                      <p:cBhvr>
                                        <p:cTn id="110" dur="1" fill="hold">
                                          <p:stCondLst>
                                            <p:cond delay="0"/>
                                          </p:stCondLst>
                                        </p:cTn>
                                        <p:tgtEl>
                                          <p:spTgt spid="32"/>
                                        </p:tgtEl>
                                        <p:attrNameLst>
                                          <p:attrName>style.visibility</p:attrName>
                                        </p:attrNameLst>
                                      </p:cBhvr>
                                      <p:to>
                                        <p:strVal val="visible"/>
                                      </p:to>
                                    </p:set>
                                    <p:anim calcmode="lin" valueType="num">
                                      <p:cBhvr additive="base">
                                        <p:cTn id="111" dur="500" fill="hold"/>
                                        <p:tgtEl>
                                          <p:spTgt spid="32"/>
                                        </p:tgtEl>
                                        <p:attrNameLst>
                                          <p:attrName>ppt_x</p:attrName>
                                        </p:attrNameLst>
                                      </p:cBhvr>
                                      <p:tavLst>
                                        <p:tav tm="0">
                                          <p:val>
                                            <p:strVal val="#ppt_x"/>
                                          </p:val>
                                        </p:tav>
                                        <p:tav tm="100000">
                                          <p:val>
                                            <p:strVal val="#ppt_x"/>
                                          </p:val>
                                        </p:tav>
                                      </p:tavLst>
                                    </p:anim>
                                    <p:anim calcmode="lin" valueType="num">
                                      <p:cBhvr additive="base">
                                        <p:cTn id="112" dur="500" fill="hold"/>
                                        <p:tgtEl>
                                          <p:spTgt spid="32"/>
                                        </p:tgtEl>
                                        <p:attrNameLst>
                                          <p:attrName>ppt_y</p:attrName>
                                        </p:attrNameLst>
                                      </p:cBhvr>
                                      <p:tavLst>
                                        <p:tav tm="0">
                                          <p:val>
                                            <p:strVal val="#ppt_y+0.1"/>
                                          </p:val>
                                        </p:tav>
                                        <p:tav tm="100000">
                                          <p:val>
                                            <p:strVal val="#ppt_y"/>
                                          </p:val>
                                        </p:tav>
                                      </p:tavLst>
                                    </p:anim>
                                    <p:animEffect transition="in" filter="fade">
                                      <p:cBhvr>
                                        <p:cTn id="113" dur="500"/>
                                        <p:tgtEl>
                                          <p:spTgt spid="32"/>
                                        </p:tgtEl>
                                      </p:cBhvr>
                                    </p:animEffect>
                                  </p:childTnLst>
                                </p:cTn>
                              </p:par>
                              <p:par>
                                <p:cTn id="119" presetID="2" presetClass="entr" presetSubtype="4" fill="hold" grpId="0" nodeType="withEffect">
                                  <p:stCondLst>
                                    <p:cond delay="500"/>
                                  </p:stCondLst>
                                  <p:childTnLst>
                                    <p:set>
                                      <p:cBhvr>
                                        <p:cTn id="115" dur="1" fill="hold">
                                          <p:stCondLst>
                                            <p:cond delay="0"/>
                                          </p:stCondLst>
                                        </p:cTn>
                                        <p:tgtEl>
                                          <p:spTgt spid="33"/>
                                        </p:tgtEl>
                                        <p:attrNameLst>
                                          <p:attrName>style.visibility</p:attrName>
                                        </p:attrNameLst>
                                      </p:cBhvr>
                                      <p:to>
                                        <p:strVal val="visible"/>
                                      </p:to>
                                    </p:set>
                                    <p:anim calcmode="lin" valueType="num">
                                      <p:cBhvr additive="base">
                                        <p:cTn id="116" dur="500" fill="hold"/>
                                        <p:tgtEl>
                                          <p:spTgt spid="33"/>
                                        </p:tgtEl>
                                        <p:attrNameLst>
                                          <p:attrName>ppt_x</p:attrName>
                                        </p:attrNameLst>
                                      </p:cBhvr>
                                      <p:tavLst>
                                        <p:tav tm="0">
                                          <p:val>
                                            <p:strVal val="#ppt_x"/>
                                          </p:val>
                                        </p:tav>
                                        <p:tav tm="100000">
                                          <p:val>
                                            <p:strVal val="#ppt_x"/>
                                          </p:val>
                                        </p:tav>
                                      </p:tavLst>
                                    </p:anim>
                                    <p:anim calcmode="lin" valueType="num">
                                      <p:cBhvr additive="base">
                                        <p:cTn id="117" dur="500" fill="hold"/>
                                        <p:tgtEl>
                                          <p:spTgt spid="33"/>
                                        </p:tgtEl>
                                        <p:attrNameLst>
                                          <p:attrName>ppt_y</p:attrName>
                                        </p:attrNameLst>
                                      </p:cBhvr>
                                      <p:tavLst>
                                        <p:tav tm="0">
                                          <p:val>
                                            <p:strVal val="#ppt_y+0.1"/>
                                          </p:val>
                                        </p:tav>
                                        <p:tav tm="100000">
                                          <p:val>
                                            <p:strVal val="#ppt_y"/>
                                          </p:val>
                                        </p:tav>
                                      </p:tavLst>
                                    </p:anim>
                                    <p:animEffect transition="in" filter="fade">
                                      <p:cBhvr>
                                        <p:cTn id="118" dur="500"/>
                                        <p:tgtEl>
                                          <p:spTgt spid="33"/>
                                        </p:tgtEl>
                                      </p:cBhvr>
                                    </p:animEffect>
                                  </p:childTnLst>
                                </p:cTn>
                              </p:par>
                              <p:par>
                                <p:cTn id="124" presetID="2" presetClass="entr" presetSubtype="4" fill="hold" grpId="0" nodeType="withEffect">
                                  <p:stCondLst>
                                    <p:cond delay="60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ppt_x</p:attrName>
                                        </p:attrNameLst>
                                      </p:cBhvr>
                                      <p:tavLst>
                                        <p:tav tm="0">
                                          <p:val>
                                            <p:strVal val="#ppt_x"/>
                                          </p:val>
                                        </p:tav>
                                        <p:tav tm="100000">
                                          <p:val>
                                            <p:strVal val="#ppt_x"/>
                                          </p:val>
                                        </p:tav>
                                      </p:tavLst>
                                    </p:anim>
                                    <p:anim calcmode="lin" valueType="num">
                                      <p:cBhvr additive="base">
                                        <p:cTn id="122" dur="500" fill="hold"/>
                                        <p:tgtEl>
                                          <p:spTgt spid="34"/>
                                        </p:tgtEl>
                                        <p:attrNameLst>
                                          <p:attrName>ppt_y</p:attrName>
                                        </p:attrNameLst>
                                      </p:cBhvr>
                                      <p:tavLst>
                                        <p:tav tm="0">
                                          <p:val>
                                            <p:strVal val="#ppt_y+0.1"/>
                                          </p:val>
                                        </p:tav>
                                        <p:tav tm="100000">
                                          <p:val>
                                            <p:strVal val="#ppt_y"/>
                                          </p:val>
                                        </p:tav>
                                      </p:tavLst>
                                    </p:anim>
                                    <p:animEffect transition="in" filter="fade">
                                      <p:cBhvr>
                                        <p:cTn id="123" dur="500"/>
                                        <p:tgtEl>
                                          <p:spTgt spid="34"/>
                                        </p:tgtEl>
                                      </p:cBhvr>
                                    </p:animEffect>
                                  </p:childTnLst>
                                </p:cTn>
                              </p:par>
                              <p:par>
                                <p:cTn id="129" presetID="2" presetClass="entr" presetSubtype="4" fill="hold" grpId="0" nodeType="withEffect">
                                  <p:stCondLst>
                                    <p:cond delay="600"/>
                                  </p:stCondLst>
                                  <p:childTnLst>
                                    <p:set>
                                      <p:cBhvr>
                                        <p:cTn id="125" dur="1" fill="hold">
                                          <p:stCondLst>
                                            <p:cond delay="0"/>
                                          </p:stCondLst>
                                        </p:cTn>
                                        <p:tgtEl>
                                          <p:spTgt spid="35"/>
                                        </p:tgtEl>
                                        <p:attrNameLst>
                                          <p:attrName>style.visibility</p:attrName>
                                        </p:attrNameLst>
                                      </p:cBhvr>
                                      <p:to>
                                        <p:strVal val="visible"/>
                                      </p:to>
                                    </p:set>
                                    <p:anim calcmode="lin" valueType="num">
                                      <p:cBhvr additive="base">
                                        <p:cTn id="126" dur="500" fill="hold"/>
                                        <p:tgtEl>
                                          <p:spTgt spid="35"/>
                                        </p:tgtEl>
                                        <p:attrNameLst>
                                          <p:attrName>ppt_x</p:attrName>
                                        </p:attrNameLst>
                                      </p:cBhvr>
                                      <p:tavLst>
                                        <p:tav tm="0">
                                          <p:val>
                                            <p:strVal val="#ppt_x"/>
                                          </p:val>
                                        </p:tav>
                                        <p:tav tm="100000">
                                          <p:val>
                                            <p:strVal val="#ppt_x"/>
                                          </p:val>
                                        </p:tav>
                                      </p:tavLst>
                                    </p:anim>
                                    <p:anim calcmode="lin" valueType="num">
                                      <p:cBhvr additive="base">
                                        <p:cTn id="127" dur="500" fill="hold"/>
                                        <p:tgtEl>
                                          <p:spTgt spid="35"/>
                                        </p:tgtEl>
                                        <p:attrNameLst>
                                          <p:attrName>ppt_y</p:attrName>
                                        </p:attrNameLst>
                                      </p:cBhvr>
                                      <p:tavLst>
                                        <p:tav tm="0">
                                          <p:val>
                                            <p:strVal val="#ppt_y+0.1"/>
                                          </p:val>
                                        </p:tav>
                                        <p:tav tm="100000">
                                          <p:val>
                                            <p:strVal val="#ppt_y"/>
                                          </p:val>
                                        </p:tav>
                                      </p:tavLst>
                                    </p:anim>
                                    <p:animEffect transition="in" filter="fade">
                                      <p:cBhvr>
                                        <p:cTn id="128" dur="500"/>
                                        <p:tgtEl>
                                          <p:spTgt spid="35"/>
                                        </p:tgtEl>
                                      </p:cBhvr>
                                    </p:animEffect>
                                  </p:childTnLst>
                                </p:cTn>
                              </p:par>
                              <p:par>
                                <p:cTn id="134" presetID="2" presetClass="entr" presetSubtype="4" fill="hold" grpId="0" nodeType="withEffect">
                                  <p:stCondLst>
                                    <p:cond delay="700"/>
                                  </p:stCondLst>
                                  <p:childTnLst>
                                    <p:set>
                                      <p:cBhvr>
                                        <p:cTn id="130" dur="1" fill="hold">
                                          <p:stCondLst>
                                            <p:cond delay="0"/>
                                          </p:stCondLst>
                                        </p:cTn>
                                        <p:tgtEl>
                                          <p:spTgt spid="36"/>
                                        </p:tgtEl>
                                        <p:attrNameLst>
                                          <p:attrName>style.visibility</p:attrName>
                                        </p:attrNameLst>
                                      </p:cBhvr>
                                      <p:to>
                                        <p:strVal val="visible"/>
                                      </p:to>
                                    </p:set>
                                    <p:anim calcmode="lin" valueType="num">
                                      <p:cBhvr additive="base">
                                        <p:cTn id="131" dur="500" fill="hold"/>
                                        <p:tgtEl>
                                          <p:spTgt spid="36"/>
                                        </p:tgtEl>
                                        <p:attrNameLst>
                                          <p:attrName>ppt_x</p:attrName>
                                        </p:attrNameLst>
                                      </p:cBhvr>
                                      <p:tavLst>
                                        <p:tav tm="0">
                                          <p:val>
                                            <p:strVal val="#ppt_x"/>
                                          </p:val>
                                        </p:tav>
                                        <p:tav tm="100000">
                                          <p:val>
                                            <p:strVal val="#ppt_x"/>
                                          </p:val>
                                        </p:tav>
                                      </p:tavLst>
                                    </p:anim>
                                    <p:anim calcmode="lin" valueType="num">
                                      <p:cBhvr additive="base">
                                        <p:cTn id="132" dur="500" fill="hold"/>
                                        <p:tgtEl>
                                          <p:spTgt spid="36"/>
                                        </p:tgtEl>
                                        <p:attrNameLst>
                                          <p:attrName>ppt_y</p:attrName>
                                        </p:attrNameLst>
                                      </p:cBhvr>
                                      <p:tavLst>
                                        <p:tav tm="0">
                                          <p:val>
                                            <p:strVal val="#ppt_y+0.1"/>
                                          </p:val>
                                        </p:tav>
                                        <p:tav tm="100000">
                                          <p:val>
                                            <p:strVal val="#ppt_y"/>
                                          </p:val>
                                        </p:tav>
                                      </p:tavLst>
                                    </p:anim>
                                    <p:animEffect transition="in" filter="fade">
                                      <p:cBhvr>
                                        <p:cTn id="133" dur="500"/>
                                        <p:tgtEl>
                                          <p:spTgt spid="36"/>
                                        </p:tgtEl>
                                      </p:cBhvr>
                                    </p:animEffect>
                                  </p:childTnLst>
                                </p:cTn>
                              </p:par>
                              <p:par>
                                <p:cTn id="139" presetID="2" presetClass="entr" presetSubtype="4" fill="hold" grpId="0" nodeType="withEffect">
                                  <p:stCondLst>
                                    <p:cond delay="700"/>
                                  </p:stCondLst>
                                  <p:childTnLst>
                                    <p:set>
                                      <p:cBhvr>
                                        <p:cTn id="135" dur="1" fill="hold">
                                          <p:stCondLst>
                                            <p:cond delay="0"/>
                                          </p:stCondLst>
                                        </p:cTn>
                                        <p:tgtEl>
                                          <p:spTgt spid="37"/>
                                        </p:tgtEl>
                                        <p:attrNameLst>
                                          <p:attrName>style.visibility</p:attrName>
                                        </p:attrNameLst>
                                      </p:cBhvr>
                                      <p:to>
                                        <p:strVal val="visible"/>
                                      </p:to>
                                    </p:set>
                                    <p:anim calcmode="lin" valueType="num">
                                      <p:cBhvr additive="base">
                                        <p:cTn id="136" dur="500" fill="hold"/>
                                        <p:tgtEl>
                                          <p:spTgt spid="37"/>
                                        </p:tgtEl>
                                        <p:attrNameLst>
                                          <p:attrName>ppt_x</p:attrName>
                                        </p:attrNameLst>
                                      </p:cBhvr>
                                      <p:tavLst>
                                        <p:tav tm="0">
                                          <p:val>
                                            <p:strVal val="#ppt_x"/>
                                          </p:val>
                                        </p:tav>
                                        <p:tav tm="100000">
                                          <p:val>
                                            <p:strVal val="#ppt_x"/>
                                          </p:val>
                                        </p:tav>
                                      </p:tavLst>
                                    </p:anim>
                                    <p:anim calcmode="lin" valueType="num">
                                      <p:cBhvr additive="base">
                                        <p:cTn id="137" dur="500" fill="hold"/>
                                        <p:tgtEl>
                                          <p:spTgt spid="37"/>
                                        </p:tgtEl>
                                        <p:attrNameLst>
                                          <p:attrName>ppt_y</p:attrName>
                                        </p:attrNameLst>
                                      </p:cBhvr>
                                      <p:tavLst>
                                        <p:tav tm="0">
                                          <p:val>
                                            <p:strVal val="#ppt_y+0.1"/>
                                          </p:val>
                                        </p:tav>
                                        <p:tav tm="100000">
                                          <p:val>
                                            <p:strVal val="#ppt_y"/>
                                          </p:val>
                                        </p:tav>
                                      </p:tavLst>
                                    </p:anim>
                                    <p:animEffect transition="in" filter="fade">
                                      <p:cBhvr>
                                        <p:cTn id="138" dur="500"/>
                                        <p:tgtEl>
                                          <p:spTgt spid="37"/>
                                        </p:tgtEl>
                                      </p:cBhvr>
                                    </p:animEffect>
                                  </p:childTnLst>
                                </p:cTn>
                              </p:par>
                              <p:par>
                                <p:cTn id="144" presetID="2" presetClass="entr" presetSubtype="4" fill="hold" grpId="0" nodeType="withEffect">
                                  <p:stCondLst>
                                    <p:cond delay="800"/>
                                  </p:stCondLst>
                                  <p:childTnLst>
                                    <p:set>
                                      <p:cBhvr>
                                        <p:cTn id="140" dur="1" fill="hold">
                                          <p:stCondLst>
                                            <p:cond delay="0"/>
                                          </p:stCondLst>
                                        </p:cTn>
                                        <p:tgtEl>
                                          <p:spTgt spid="38"/>
                                        </p:tgtEl>
                                        <p:attrNameLst>
                                          <p:attrName>style.visibility</p:attrName>
                                        </p:attrNameLst>
                                      </p:cBhvr>
                                      <p:to>
                                        <p:strVal val="visible"/>
                                      </p:to>
                                    </p:set>
                                    <p:anim calcmode="lin" valueType="num">
                                      <p:cBhvr additive="base">
                                        <p:cTn id="141" dur="500" fill="hold"/>
                                        <p:tgtEl>
                                          <p:spTgt spid="38"/>
                                        </p:tgtEl>
                                        <p:attrNameLst>
                                          <p:attrName>ppt_x</p:attrName>
                                        </p:attrNameLst>
                                      </p:cBhvr>
                                      <p:tavLst>
                                        <p:tav tm="0">
                                          <p:val>
                                            <p:strVal val="#ppt_x"/>
                                          </p:val>
                                        </p:tav>
                                        <p:tav tm="100000">
                                          <p:val>
                                            <p:strVal val="#ppt_x"/>
                                          </p:val>
                                        </p:tav>
                                      </p:tavLst>
                                    </p:anim>
                                    <p:anim calcmode="lin" valueType="num">
                                      <p:cBhvr additive="base">
                                        <p:cTn id="142" dur="500" fill="hold"/>
                                        <p:tgtEl>
                                          <p:spTgt spid="38"/>
                                        </p:tgtEl>
                                        <p:attrNameLst>
                                          <p:attrName>ppt_y</p:attrName>
                                        </p:attrNameLst>
                                      </p:cBhvr>
                                      <p:tavLst>
                                        <p:tav tm="0">
                                          <p:val>
                                            <p:strVal val="#ppt_y+0.1"/>
                                          </p:val>
                                        </p:tav>
                                        <p:tav tm="100000">
                                          <p:val>
                                            <p:strVal val="#ppt_y"/>
                                          </p:val>
                                        </p:tav>
                                      </p:tavLst>
                                    </p:anim>
                                    <p:animEffect transition="in" filter="fade">
                                      <p:cBhvr>
                                        <p:cTn id="143" dur="500"/>
                                        <p:tgtEl>
                                          <p:spTgt spid="38"/>
                                        </p:tgtEl>
                                      </p:cBhvr>
                                    </p:animEffect>
                                  </p:childTnLst>
                                </p:cTn>
                              </p:par>
                            </p:childTnLst>
                          </p:cTn>
                        </p:par>
                      </p:childTnLst>
                    </p:cTn>
                  </p:par>
                  <p:par>
                    <p:cTn id="145" fill="hold">
                      <p:stCondLst>
                        <p:cond delay="indefinite"/>
                      </p:stCondLst>
                      <p:childTnLst>
                        <p:par>
                          <p:cTn id="146" fill="hold">
                            <p:stCondLst>
                              <p:cond delay="0"/>
                            </p:stCondLst>
                            <p:childTnLst>
                              <p:par>
                                <p:cTn id="151" presetID="2" presetClass="entr" presetSubtype="4" fill="hold" grpId="0" nodeType="clickEffect">
                                  <p:stCondLst>
                                    <p:cond delay="0"/>
                                  </p:stCondLst>
                                  <p:childTnLst>
                                    <p:set>
                                      <p:cBhvr>
                                        <p:cTn id="147" dur="1" fill="hold">
                                          <p:stCondLst>
                                            <p:cond delay="0"/>
                                          </p:stCondLst>
                                        </p:cTn>
                                        <p:tgtEl>
                                          <p:spTgt spid="39"/>
                                        </p:tgtEl>
                                        <p:attrNameLst>
                                          <p:attrName>style.visibility</p:attrName>
                                        </p:attrNameLst>
                                      </p:cBhvr>
                                      <p:to>
                                        <p:strVal val="visible"/>
                                      </p:to>
                                    </p:set>
                                    <p:anim calcmode="lin" valueType="num">
                                      <p:cBhvr additive="base">
                                        <p:cTn id="148" dur="500" fill="hold"/>
                                        <p:tgtEl>
                                          <p:spTgt spid="39"/>
                                        </p:tgtEl>
                                        <p:attrNameLst>
                                          <p:attrName>ppt_x</p:attrName>
                                        </p:attrNameLst>
                                      </p:cBhvr>
                                      <p:tavLst>
                                        <p:tav tm="0">
                                          <p:val>
                                            <p:strVal val="#ppt_x"/>
                                          </p:val>
                                        </p:tav>
                                        <p:tav tm="100000">
                                          <p:val>
                                            <p:strVal val="#ppt_x"/>
                                          </p:val>
                                        </p:tav>
                                      </p:tavLst>
                                    </p:anim>
                                    <p:anim calcmode="lin" valueType="num">
                                      <p:cBhvr additive="base">
                                        <p:cTn id="149" dur="500" fill="hold"/>
                                        <p:tgtEl>
                                          <p:spTgt spid="39"/>
                                        </p:tgtEl>
                                        <p:attrNameLst>
                                          <p:attrName>ppt_y</p:attrName>
                                        </p:attrNameLst>
                                      </p:cBhvr>
                                      <p:tavLst>
                                        <p:tav tm="0">
                                          <p:val>
                                            <p:strVal val="#ppt_y+0.1"/>
                                          </p:val>
                                        </p:tav>
                                        <p:tav tm="100000">
                                          <p:val>
                                            <p:strVal val="#ppt_y"/>
                                          </p:val>
                                        </p:tav>
                                      </p:tavLst>
                                    </p:anim>
                                    <p:animEffect transition="in" filter="fade">
                                      <p:cBhvr>
                                        <p:cTn id="150" dur="500"/>
                                        <p:tgtEl>
                                          <p:spTgt spid="39"/>
                                        </p:tgtEl>
                                      </p:cBhvr>
                                    </p:animEffect>
                                  </p:childTnLst>
                                </p:cTn>
                              </p:par>
                              <p:par>
                                <p:cTn id="156" presetID="2" presetClass="entr" presetSubtype="4" fill="hold" grpId="0" nodeType="withEffect">
                                  <p:stCondLst>
                                    <p:cond delay="0"/>
                                  </p:stCondLst>
                                  <p:childTnLst>
                                    <p:set>
                                      <p:cBhvr>
                                        <p:cTn id="152" dur="1" fill="hold">
                                          <p:stCondLst>
                                            <p:cond delay="0"/>
                                          </p:stCondLst>
                                        </p:cTn>
                                        <p:tgtEl>
                                          <p:spTgt spid="40"/>
                                        </p:tgtEl>
                                        <p:attrNameLst>
                                          <p:attrName>style.visibility</p:attrName>
                                        </p:attrNameLst>
                                      </p:cBhvr>
                                      <p:to>
                                        <p:strVal val="visible"/>
                                      </p:to>
                                    </p:set>
                                    <p:anim calcmode="lin" valueType="num">
                                      <p:cBhvr additive="base">
                                        <p:cTn id="153" dur="500" fill="hold"/>
                                        <p:tgtEl>
                                          <p:spTgt spid="40"/>
                                        </p:tgtEl>
                                        <p:attrNameLst>
                                          <p:attrName>ppt_x</p:attrName>
                                        </p:attrNameLst>
                                      </p:cBhvr>
                                      <p:tavLst>
                                        <p:tav tm="0">
                                          <p:val>
                                            <p:strVal val="#ppt_x"/>
                                          </p:val>
                                        </p:tav>
                                        <p:tav tm="100000">
                                          <p:val>
                                            <p:strVal val="#ppt_x"/>
                                          </p:val>
                                        </p:tav>
                                      </p:tavLst>
                                    </p:anim>
                                    <p:anim calcmode="lin" valueType="num">
                                      <p:cBhvr additive="base">
                                        <p:cTn id="154" dur="500" fill="hold"/>
                                        <p:tgtEl>
                                          <p:spTgt spid="40"/>
                                        </p:tgtEl>
                                        <p:attrNameLst>
                                          <p:attrName>ppt_y</p:attrName>
                                        </p:attrNameLst>
                                      </p:cBhvr>
                                      <p:tavLst>
                                        <p:tav tm="0">
                                          <p:val>
                                            <p:strVal val="#ppt_y+0.1"/>
                                          </p:val>
                                        </p:tav>
                                        <p:tav tm="100000">
                                          <p:val>
                                            <p:strVal val="#ppt_y"/>
                                          </p:val>
                                        </p:tav>
                                      </p:tavLst>
                                    </p:anim>
                                    <p:animEffect transition="in" filter="fade">
                                      <p:cBhvr>
                                        <p:cTn id="155" dur="500"/>
                                        <p:tgtEl>
                                          <p:spTgt spid="40"/>
                                        </p:tgtEl>
                                      </p:cBhvr>
                                    </p:animEffect>
                                  </p:childTnLst>
                                </p:cTn>
                              </p:par>
                              <p:par>
                                <p:cTn id="161" presetID="2" presetClass="entr" presetSubtype="4" fill="hold" grpId="0" nodeType="withEffect">
                                  <p:stCondLst>
                                    <p:cond delay="0"/>
                                  </p:stCondLst>
                                  <p:childTnLst>
                                    <p:set>
                                      <p:cBhvr>
                                        <p:cTn id="157" dur="1" fill="hold">
                                          <p:stCondLst>
                                            <p:cond delay="0"/>
                                          </p:stCondLst>
                                        </p:cTn>
                                        <p:tgtEl>
                                          <p:spTgt spid="41"/>
                                        </p:tgtEl>
                                        <p:attrNameLst>
                                          <p:attrName>style.visibility</p:attrName>
                                        </p:attrNameLst>
                                      </p:cBhvr>
                                      <p:to>
                                        <p:strVal val="visible"/>
                                      </p:to>
                                    </p:set>
                                    <p:anim calcmode="lin" valueType="num">
                                      <p:cBhvr additive="base">
                                        <p:cTn id="158" dur="500" fill="hold"/>
                                        <p:tgtEl>
                                          <p:spTgt spid="41"/>
                                        </p:tgtEl>
                                        <p:attrNameLst>
                                          <p:attrName>ppt_x</p:attrName>
                                        </p:attrNameLst>
                                      </p:cBhvr>
                                      <p:tavLst>
                                        <p:tav tm="0">
                                          <p:val>
                                            <p:strVal val="#ppt_x"/>
                                          </p:val>
                                        </p:tav>
                                        <p:tav tm="100000">
                                          <p:val>
                                            <p:strVal val="#ppt_x"/>
                                          </p:val>
                                        </p:tav>
                                      </p:tavLst>
                                    </p:anim>
                                    <p:anim calcmode="lin" valueType="num">
                                      <p:cBhvr additive="base">
                                        <p:cTn id="159" dur="500" fill="hold"/>
                                        <p:tgtEl>
                                          <p:spTgt spid="41"/>
                                        </p:tgtEl>
                                        <p:attrNameLst>
                                          <p:attrName>ppt_y</p:attrName>
                                        </p:attrNameLst>
                                      </p:cBhvr>
                                      <p:tavLst>
                                        <p:tav tm="0">
                                          <p:val>
                                            <p:strVal val="#ppt_y+0.1"/>
                                          </p:val>
                                        </p:tav>
                                        <p:tav tm="100000">
                                          <p:val>
                                            <p:strVal val="#ppt_y"/>
                                          </p:val>
                                        </p:tav>
                                      </p:tavLst>
                                    </p:anim>
                                    <p:animEffect transition="in" filter="fade">
                                      <p:cBhvr>
                                        <p:cTn id="160" dur="500"/>
                                        <p:tgtEl>
                                          <p:spTgt spid="41"/>
                                        </p:tgtEl>
                                      </p:cBhvr>
                                    </p:animEffect>
                                  </p:childTnLst>
                                </p:cTn>
                              </p:par>
                              <p:par>
                                <p:cTn id="166" presetID="2" presetClass="entr" presetSubtype="4" fill="hold" grpId="0" nodeType="withEffect">
                                  <p:stCondLst>
                                    <p:cond delay="100"/>
                                  </p:stCondLst>
                                  <p:childTnLst>
                                    <p:set>
                                      <p:cBhvr>
                                        <p:cTn id="162" dur="1" fill="hold">
                                          <p:stCondLst>
                                            <p:cond delay="0"/>
                                          </p:stCondLst>
                                        </p:cTn>
                                        <p:tgtEl>
                                          <p:spTgt spid="42"/>
                                        </p:tgtEl>
                                        <p:attrNameLst>
                                          <p:attrName>style.visibility</p:attrName>
                                        </p:attrNameLst>
                                      </p:cBhvr>
                                      <p:to>
                                        <p:strVal val="visible"/>
                                      </p:to>
                                    </p:set>
                                    <p:anim calcmode="lin" valueType="num">
                                      <p:cBhvr additive="base">
                                        <p:cTn id="163" dur="500" fill="hold"/>
                                        <p:tgtEl>
                                          <p:spTgt spid="42"/>
                                        </p:tgtEl>
                                        <p:attrNameLst>
                                          <p:attrName>ppt_x</p:attrName>
                                        </p:attrNameLst>
                                      </p:cBhvr>
                                      <p:tavLst>
                                        <p:tav tm="0">
                                          <p:val>
                                            <p:strVal val="#ppt_x"/>
                                          </p:val>
                                        </p:tav>
                                        <p:tav tm="100000">
                                          <p:val>
                                            <p:strVal val="#ppt_x"/>
                                          </p:val>
                                        </p:tav>
                                      </p:tavLst>
                                    </p:anim>
                                    <p:anim calcmode="lin" valueType="num">
                                      <p:cBhvr additive="base">
                                        <p:cTn id="164" dur="500" fill="hold"/>
                                        <p:tgtEl>
                                          <p:spTgt spid="42"/>
                                        </p:tgtEl>
                                        <p:attrNameLst>
                                          <p:attrName>ppt_y</p:attrName>
                                        </p:attrNameLst>
                                      </p:cBhvr>
                                      <p:tavLst>
                                        <p:tav tm="0">
                                          <p:val>
                                            <p:strVal val="#ppt_y+0.1"/>
                                          </p:val>
                                        </p:tav>
                                        <p:tav tm="100000">
                                          <p:val>
                                            <p:strVal val="#ppt_y"/>
                                          </p:val>
                                        </p:tav>
                                      </p:tavLst>
                                    </p:anim>
                                    <p:animEffect transition="in" filter="fade">
                                      <p:cBhvr>
                                        <p:cTn id="165" dur="500"/>
                                        <p:tgtEl>
                                          <p:spTgt spid="42"/>
                                        </p:tgtEl>
                                      </p:cBhvr>
                                    </p:animEffect>
                                  </p:childTnLst>
                                </p:cTn>
                              </p:par>
                              <p:par>
                                <p:cTn id="171" presetID="2" presetClass="entr" presetSubtype="4" fill="hold" grpId="0" nodeType="withEffect">
                                  <p:stCondLst>
                                    <p:cond delay="100"/>
                                  </p:stCondLst>
                                  <p:childTnLst>
                                    <p:set>
                                      <p:cBhvr>
                                        <p:cTn id="167" dur="1" fill="hold">
                                          <p:stCondLst>
                                            <p:cond delay="0"/>
                                          </p:stCondLst>
                                        </p:cTn>
                                        <p:tgtEl>
                                          <p:spTgt spid="43"/>
                                        </p:tgtEl>
                                        <p:attrNameLst>
                                          <p:attrName>style.visibility</p:attrName>
                                        </p:attrNameLst>
                                      </p:cBhvr>
                                      <p:to>
                                        <p:strVal val="visible"/>
                                      </p:to>
                                    </p:set>
                                    <p:anim calcmode="lin" valueType="num">
                                      <p:cBhvr additive="base">
                                        <p:cTn id="168" dur="500" fill="hold"/>
                                        <p:tgtEl>
                                          <p:spTgt spid="43"/>
                                        </p:tgtEl>
                                        <p:attrNameLst>
                                          <p:attrName>ppt_x</p:attrName>
                                        </p:attrNameLst>
                                      </p:cBhvr>
                                      <p:tavLst>
                                        <p:tav tm="0">
                                          <p:val>
                                            <p:strVal val="#ppt_x"/>
                                          </p:val>
                                        </p:tav>
                                        <p:tav tm="100000">
                                          <p:val>
                                            <p:strVal val="#ppt_x"/>
                                          </p:val>
                                        </p:tav>
                                      </p:tavLst>
                                    </p:anim>
                                    <p:anim calcmode="lin" valueType="num">
                                      <p:cBhvr additive="base">
                                        <p:cTn id="169" dur="500" fill="hold"/>
                                        <p:tgtEl>
                                          <p:spTgt spid="43"/>
                                        </p:tgtEl>
                                        <p:attrNameLst>
                                          <p:attrName>ppt_y</p:attrName>
                                        </p:attrNameLst>
                                      </p:cBhvr>
                                      <p:tavLst>
                                        <p:tav tm="0">
                                          <p:val>
                                            <p:strVal val="#ppt_y+0.1"/>
                                          </p:val>
                                        </p:tav>
                                        <p:tav tm="100000">
                                          <p:val>
                                            <p:strVal val="#ppt_y"/>
                                          </p:val>
                                        </p:tav>
                                      </p:tavLst>
                                    </p:anim>
                                    <p:animEffect transition="in" filter="fade">
                                      <p:cBhvr>
                                        <p:cTn id="170" dur="500"/>
                                        <p:tgtEl>
                                          <p:spTgt spid="43"/>
                                        </p:tgtEl>
                                      </p:cBhvr>
                                    </p:animEffect>
                                  </p:childTnLst>
                                </p:cTn>
                              </p:par>
                              <p:par>
                                <p:cTn id="176" presetID="2" presetClass="entr" presetSubtype="4" fill="hold" grpId="0" nodeType="withEffect">
                                  <p:stCondLst>
                                    <p:cond delay="150"/>
                                  </p:stCondLst>
                                  <p:childTnLst>
                                    <p:set>
                                      <p:cBhvr>
                                        <p:cTn id="172" dur="1" fill="hold">
                                          <p:stCondLst>
                                            <p:cond delay="0"/>
                                          </p:stCondLst>
                                        </p:cTn>
                                        <p:tgtEl>
                                          <p:spTgt spid="44"/>
                                        </p:tgtEl>
                                        <p:attrNameLst>
                                          <p:attrName>style.visibility</p:attrName>
                                        </p:attrNameLst>
                                      </p:cBhvr>
                                      <p:to>
                                        <p:strVal val="visible"/>
                                      </p:to>
                                    </p:set>
                                    <p:anim calcmode="lin" valueType="num">
                                      <p:cBhvr additive="base">
                                        <p:cTn id="173" dur="500" fill="hold"/>
                                        <p:tgtEl>
                                          <p:spTgt spid="44"/>
                                        </p:tgtEl>
                                        <p:attrNameLst>
                                          <p:attrName>ppt_x</p:attrName>
                                        </p:attrNameLst>
                                      </p:cBhvr>
                                      <p:tavLst>
                                        <p:tav tm="0">
                                          <p:val>
                                            <p:strVal val="#ppt_x"/>
                                          </p:val>
                                        </p:tav>
                                        <p:tav tm="100000">
                                          <p:val>
                                            <p:strVal val="#ppt_x"/>
                                          </p:val>
                                        </p:tav>
                                      </p:tavLst>
                                    </p:anim>
                                    <p:anim calcmode="lin" valueType="num">
                                      <p:cBhvr additive="base">
                                        <p:cTn id="174" dur="500" fill="hold"/>
                                        <p:tgtEl>
                                          <p:spTgt spid="44"/>
                                        </p:tgtEl>
                                        <p:attrNameLst>
                                          <p:attrName>ppt_y</p:attrName>
                                        </p:attrNameLst>
                                      </p:cBhvr>
                                      <p:tavLst>
                                        <p:tav tm="0">
                                          <p:val>
                                            <p:strVal val="#ppt_y+0.1"/>
                                          </p:val>
                                        </p:tav>
                                        <p:tav tm="100000">
                                          <p:val>
                                            <p:strVal val="#ppt_y"/>
                                          </p:val>
                                        </p:tav>
                                      </p:tavLst>
                                    </p:anim>
                                    <p:animEffect transition="in" filter="fade">
                                      <p:cBhvr>
                                        <p:cTn id="175" dur="500"/>
                                        <p:tgtEl>
                                          <p:spTgt spid="44"/>
                                        </p:tgtEl>
                                      </p:cBhvr>
                                    </p:animEffect>
                                  </p:childTnLst>
                                </p:cTn>
                              </p:par>
                              <p:par>
                                <p:cTn id="181" presetID="2" presetClass="entr" presetSubtype="4" fill="hold" grpId="0" nodeType="withEffect">
                                  <p:stCondLst>
                                    <p:cond delay="200"/>
                                  </p:stCondLst>
                                  <p:childTnLst>
                                    <p:set>
                                      <p:cBhvr>
                                        <p:cTn id="177" dur="1" fill="hold">
                                          <p:stCondLst>
                                            <p:cond delay="0"/>
                                          </p:stCondLst>
                                        </p:cTn>
                                        <p:tgtEl>
                                          <p:spTgt spid="45"/>
                                        </p:tgtEl>
                                        <p:attrNameLst>
                                          <p:attrName>style.visibility</p:attrName>
                                        </p:attrNameLst>
                                      </p:cBhvr>
                                      <p:to>
                                        <p:strVal val="visible"/>
                                      </p:to>
                                    </p:set>
                                    <p:anim calcmode="lin" valueType="num">
                                      <p:cBhvr additive="base">
                                        <p:cTn id="178" dur="500" fill="hold"/>
                                        <p:tgtEl>
                                          <p:spTgt spid="45"/>
                                        </p:tgtEl>
                                        <p:attrNameLst>
                                          <p:attrName>ppt_x</p:attrName>
                                        </p:attrNameLst>
                                      </p:cBhvr>
                                      <p:tavLst>
                                        <p:tav tm="0">
                                          <p:val>
                                            <p:strVal val="#ppt_x"/>
                                          </p:val>
                                        </p:tav>
                                        <p:tav tm="100000">
                                          <p:val>
                                            <p:strVal val="#ppt_x"/>
                                          </p:val>
                                        </p:tav>
                                      </p:tavLst>
                                    </p:anim>
                                    <p:anim calcmode="lin" valueType="num">
                                      <p:cBhvr additive="base">
                                        <p:cTn id="179" dur="500" fill="hold"/>
                                        <p:tgtEl>
                                          <p:spTgt spid="45"/>
                                        </p:tgtEl>
                                        <p:attrNameLst>
                                          <p:attrName>ppt_y</p:attrName>
                                        </p:attrNameLst>
                                      </p:cBhvr>
                                      <p:tavLst>
                                        <p:tav tm="0">
                                          <p:val>
                                            <p:strVal val="#ppt_y+0.1"/>
                                          </p:val>
                                        </p:tav>
                                        <p:tav tm="100000">
                                          <p:val>
                                            <p:strVal val="#ppt_y"/>
                                          </p:val>
                                        </p:tav>
                                      </p:tavLst>
                                    </p:anim>
                                    <p:animEffect transition="in" filter="fade">
                                      <p:cBhvr>
                                        <p:cTn id="180" dur="500"/>
                                        <p:tgtEl>
                                          <p:spTgt spid="45"/>
                                        </p:tgtEl>
                                      </p:cBhvr>
                                    </p:animEffect>
                                  </p:childTnLst>
                                </p:cTn>
                              </p:par>
                              <p:par>
                                <p:cTn id="186" presetID="2" presetClass="entr" presetSubtype="4" fill="hold" grpId="0" nodeType="withEffect">
                                  <p:stCondLst>
                                    <p:cond delay="200"/>
                                  </p:stCondLst>
                                  <p:childTnLst>
                                    <p:set>
                                      <p:cBhvr>
                                        <p:cTn id="182" dur="1" fill="hold">
                                          <p:stCondLst>
                                            <p:cond delay="0"/>
                                          </p:stCondLst>
                                        </p:cTn>
                                        <p:tgtEl>
                                          <p:spTgt spid="46"/>
                                        </p:tgtEl>
                                        <p:attrNameLst>
                                          <p:attrName>style.visibility</p:attrName>
                                        </p:attrNameLst>
                                      </p:cBhvr>
                                      <p:to>
                                        <p:strVal val="visible"/>
                                      </p:to>
                                    </p:set>
                                    <p:anim calcmode="lin" valueType="num">
                                      <p:cBhvr additive="base">
                                        <p:cTn id="183" dur="500" fill="hold"/>
                                        <p:tgtEl>
                                          <p:spTgt spid="46"/>
                                        </p:tgtEl>
                                        <p:attrNameLst>
                                          <p:attrName>ppt_x</p:attrName>
                                        </p:attrNameLst>
                                      </p:cBhvr>
                                      <p:tavLst>
                                        <p:tav tm="0">
                                          <p:val>
                                            <p:strVal val="#ppt_x"/>
                                          </p:val>
                                        </p:tav>
                                        <p:tav tm="100000">
                                          <p:val>
                                            <p:strVal val="#ppt_x"/>
                                          </p:val>
                                        </p:tav>
                                      </p:tavLst>
                                    </p:anim>
                                    <p:anim calcmode="lin" valueType="num">
                                      <p:cBhvr additive="base">
                                        <p:cTn id="184" dur="500" fill="hold"/>
                                        <p:tgtEl>
                                          <p:spTgt spid="46"/>
                                        </p:tgtEl>
                                        <p:attrNameLst>
                                          <p:attrName>ppt_y</p:attrName>
                                        </p:attrNameLst>
                                      </p:cBhvr>
                                      <p:tavLst>
                                        <p:tav tm="0">
                                          <p:val>
                                            <p:strVal val="#ppt_y+0.1"/>
                                          </p:val>
                                        </p:tav>
                                        <p:tav tm="100000">
                                          <p:val>
                                            <p:strVal val="#ppt_y"/>
                                          </p:val>
                                        </p:tav>
                                      </p:tavLst>
                                    </p:anim>
                                    <p:animEffect transition="in" filter="fade">
                                      <p:cBhvr>
                                        <p:cTn id="185" dur="500"/>
                                        <p:tgtEl>
                                          <p:spTgt spid="46"/>
                                        </p:tgtEl>
                                      </p:cBhvr>
                                    </p:animEffect>
                                  </p:childTnLst>
                                </p:cTn>
                              </p:par>
                              <p:par>
                                <p:cTn id="191" presetID="2" presetClass="entr" presetSubtype="4" fill="hold" grpId="0" nodeType="withEffect">
                                  <p:stCondLst>
                                    <p:cond delay="200"/>
                                  </p:stCondLst>
                                  <p:childTnLst>
                                    <p:set>
                                      <p:cBhvr>
                                        <p:cTn id="187" dur="1" fill="hold">
                                          <p:stCondLst>
                                            <p:cond delay="0"/>
                                          </p:stCondLst>
                                        </p:cTn>
                                        <p:tgtEl>
                                          <p:spTgt spid="47"/>
                                        </p:tgtEl>
                                        <p:attrNameLst>
                                          <p:attrName>style.visibility</p:attrName>
                                        </p:attrNameLst>
                                      </p:cBhvr>
                                      <p:to>
                                        <p:strVal val="visible"/>
                                      </p:to>
                                    </p:set>
                                    <p:anim calcmode="lin" valueType="num">
                                      <p:cBhvr additive="base">
                                        <p:cTn id="188" dur="500" fill="hold"/>
                                        <p:tgtEl>
                                          <p:spTgt spid="47"/>
                                        </p:tgtEl>
                                        <p:attrNameLst>
                                          <p:attrName>ppt_x</p:attrName>
                                        </p:attrNameLst>
                                      </p:cBhvr>
                                      <p:tavLst>
                                        <p:tav tm="0">
                                          <p:val>
                                            <p:strVal val="#ppt_x"/>
                                          </p:val>
                                        </p:tav>
                                        <p:tav tm="100000">
                                          <p:val>
                                            <p:strVal val="#ppt_x"/>
                                          </p:val>
                                        </p:tav>
                                      </p:tavLst>
                                    </p:anim>
                                    <p:anim calcmode="lin" valueType="num">
                                      <p:cBhvr additive="base">
                                        <p:cTn id="189" dur="500" fill="hold"/>
                                        <p:tgtEl>
                                          <p:spTgt spid="47"/>
                                        </p:tgtEl>
                                        <p:attrNameLst>
                                          <p:attrName>ppt_y</p:attrName>
                                        </p:attrNameLst>
                                      </p:cBhvr>
                                      <p:tavLst>
                                        <p:tav tm="0">
                                          <p:val>
                                            <p:strVal val="#ppt_y+0.1"/>
                                          </p:val>
                                        </p:tav>
                                        <p:tav tm="100000">
                                          <p:val>
                                            <p:strVal val="#ppt_y"/>
                                          </p:val>
                                        </p:tav>
                                      </p:tavLst>
                                    </p:anim>
                                    <p:animEffect transition="in" filter="fade">
                                      <p:cBhvr>
                                        <p:cTn id="190" dur="500"/>
                                        <p:tgtEl>
                                          <p:spTgt spid="47"/>
                                        </p:tgtEl>
                                      </p:cBhvr>
                                    </p:animEffect>
                                  </p:childTnLst>
                                </p:cTn>
                              </p:par>
                              <p:par>
                                <p:cTn id="196" presetID="2" presetClass="entr" presetSubtype="4" fill="hold" grpId="0" nodeType="withEffect">
                                  <p:stCondLst>
                                    <p:cond delay="200"/>
                                  </p:stCondLst>
                                  <p:childTnLst>
                                    <p:set>
                                      <p:cBhvr>
                                        <p:cTn id="192" dur="1" fill="hold">
                                          <p:stCondLst>
                                            <p:cond delay="0"/>
                                          </p:stCondLst>
                                        </p:cTn>
                                        <p:tgtEl>
                                          <p:spTgt spid="48"/>
                                        </p:tgtEl>
                                        <p:attrNameLst>
                                          <p:attrName>style.visibility</p:attrName>
                                        </p:attrNameLst>
                                      </p:cBhvr>
                                      <p:to>
                                        <p:strVal val="visible"/>
                                      </p:to>
                                    </p:set>
                                    <p:anim calcmode="lin" valueType="num">
                                      <p:cBhvr additive="base">
                                        <p:cTn id="193" dur="500" fill="hold"/>
                                        <p:tgtEl>
                                          <p:spTgt spid="48"/>
                                        </p:tgtEl>
                                        <p:attrNameLst>
                                          <p:attrName>ppt_x</p:attrName>
                                        </p:attrNameLst>
                                      </p:cBhvr>
                                      <p:tavLst>
                                        <p:tav tm="0">
                                          <p:val>
                                            <p:strVal val="#ppt_x"/>
                                          </p:val>
                                        </p:tav>
                                        <p:tav tm="100000">
                                          <p:val>
                                            <p:strVal val="#ppt_x"/>
                                          </p:val>
                                        </p:tav>
                                      </p:tavLst>
                                    </p:anim>
                                    <p:anim calcmode="lin" valueType="num">
                                      <p:cBhvr additive="base">
                                        <p:cTn id="194" dur="500" fill="hold"/>
                                        <p:tgtEl>
                                          <p:spTgt spid="48"/>
                                        </p:tgtEl>
                                        <p:attrNameLst>
                                          <p:attrName>ppt_y</p:attrName>
                                        </p:attrNameLst>
                                      </p:cBhvr>
                                      <p:tavLst>
                                        <p:tav tm="0">
                                          <p:val>
                                            <p:strVal val="#ppt_y+0.1"/>
                                          </p:val>
                                        </p:tav>
                                        <p:tav tm="100000">
                                          <p:val>
                                            <p:strVal val="#ppt_y"/>
                                          </p:val>
                                        </p:tav>
                                      </p:tavLst>
                                    </p:anim>
                                    <p:animEffect transition="in" filter="fade">
                                      <p:cBhvr>
                                        <p:cTn id="195" dur="500"/>
                                        <p:tgtEl>
                                          <p:spTgt spid="48"/>
                                        </p:tgtEl>
                                      </p:cBhvr>
                                    </p:animEffect>
                                  </p:childTnLst>
                                </p:cTn>
                              </p:par>
                              <p:par>
                                <p:cTn id="201" presetID="2" presetClass="entr" presetSubtype="4" fill="hold" grpId="0" nodeType="withEffect">
                                  <p:stCondLst>
                                    <p:cond delay="200"/>
                                  </p:stCondLst>
                                  <p:childTnLst>
                                    <p:set>
                                      <p:cBhvr>
                                        <p:cTn id="197" dur="1" fill="hold">
                                          <p:stCondLst>
                                            <p:cond delay="0"/>
                                          </p:stCondLst>
                                        </p:cTn>
                                        <p:tgtEl>
                                          <p:spTgt spid="49"/>
                                        </p:tgtEl>
                                        <p:attrNameLst>
                                          <p:attrName>style.visibility</p:attrName>
                                        </p:attrNameLst>
                                      </p:cBhvr>
                                      <p:to>
                                        <p:strVal val="visible"/>
                                      </p:to>
                                    </p:set>
                                    <p:anim calcmode="lin" valueType="num">
                                      <p:cBhvr additive="base">
                                        <p:cTn id="198" dur="500" fill="hold"/>
                                        <p:tgtEl>
                                          <p:spTgt spid="49"/>
                                        </p:tgtEl>
                                        <p:attrNameLst>
                                          <p:attrName>ppt_x</p:attrName>
                                        </p:attrNameLst>
                                      </p:cBhvr>
                                      <p:tavLst>
                                        <p:tav tm="0">
                                          <p:val>
                                            <p:strVal val="#ppt_x"/>
                                          </p:val>
                                        </p:tav>
                                        <p:tav tm="100000">
                                          <p:val>
                                            <p:strVal val="#ppt_x"/>
                                          </p:val>
                                        </p:tav>
                                      </p:tavLst>
                                    </p:anim>
                                    <p:anim calcmode="lin" valueType="num">
                                      <p:cBhvr additive="base">
                                        <p:cTn id="199" dur="500" fill="hold"/>
                                        <p:tgtEl>
                                          <p:spTgt spid="49"/>
                                        </p:tgtEl>
                                        <p:attrNameLst>
                                          <p:attrName>ppt_y</p:attrName>
                                        </p:attrNameLst>
                                      </p:cBhvr>
                                      <p:tavLst>
                                        <p:tav tm="0">
                                          <p:val>
                                            <p:strVal val="#ppt_y+0.1"/>
                                          </p:val>
                                        </p:tav>
                                        <p:tav tm="100000">
                                          <p:val>
                                            <p:strVal val="#ppt_y"/>
                                          </p:val>
                                        </p:tav>
                                      </p:tavLst>
                                    </p:anim>
                                    <p:animEffect transition="in" filter="fade">
                                      <p:cBhvr>
                                        <p:cTn id="200" dur="500"/>
                                        <p:tgtEl>
                                          <p:spTgt spid="49"/>
                                        </p:tgtEl>
                                      </p:cBhvr>
                                    </p:animEffect>
                                  </p:childTnLst>
                                </p:cTn>
                              </p:par>
                              <p:par>
                                <p:cTn id="206" presetID="2" presetClass="entr" presetSubtype="4" fill="hold" grpId="0" nodeType="withEffect">
                                  <p:stCondLst>
                                    <p:cond delay="200"/>
                                  </p:stCondLst>
                                  <p:childTnLst>
                                    <p:set>
                                      <p:cBhvr>
                                        <p:cTn id="202" dur="1" fill="hold">
                                          <p:stCondLst>
                                            <p:cond delay="0"/>
                                          </p:stCondLst>
                                        </p:cTn>
                                        <p:tgtEl>
                                          <p:spTgt spid="50"/>
                                        </p:tgtEl>
                                        <p:attrNameLst>
                                          <p:attrName>style.visibility</p:attrName>
                                        </p:attrNameLst>
                                      </p:cBhvr>
                                      <p:to>
                                        <p:strVal val="visible"/>
                                      </p:to>
                                    </p:set>
                                    <p:anim calcmode="lin" valueType="num">
                                      <p:cBhvr additive="base">
                                        <p:cTn id="203" dur="500" fill="hold"/>
                                        <p:tgtEl>
                                          <p:spTgt spid="50"/>
                                        </p:tgtEl>
                                        <p:attrNameLst>
                                          <p:attrName>ppt_x</p:attrName>
                                        </p:attrNameLst>
                                      </p:cBhvr>
                                      <p:tavLst>
                                        <p:tav tm="0">
                                          <p:val>
                                            <p:strVal val="#ppt_x"/>
                                          </p:val>
                                        </p:tav>
                                        <p:tav tm="100000">
                                          <p:val>
                                            <p:strVal val="#ppt_x"/>
                                          </p:val>
                                        </p:tav>
                                      </p:tavLst>
                                    </p:anim>
                                    <p:anim calcmode="lin" valueType="num">
                                      <p:cBhvr additive="base">
                                        <p:cTn id="204" dur="500" fill="hold"/>
                                        <p:tgtEl>
                                          <p:spTgt spid="50"/>
                                        </p:tgtEl>
                                        <p:attrNameLst>
                                          <p:attrName>ppt_y</p:attrName>
                                        </p:attrNameLst>
                                      </p:cBhvr>
                                      <p:tavLst>
                                        <p:tav tm="0">
                                          <p:val>
                                            <p:strVal val="#ppt_y+0.1"/>
                                          </p:val>
                                        </p:tav>
                                        <p:tav tm="100000">
                                          <p:val>
                                            <p:strVal val="#ppt_y"/>
                                          </p:val>
                                        </p:tav>
                                      </p:tavLst>
                                    </p:anim>
                                    <p:animEffect transition="in" filter="fade">
                                      <p:cBhvr>
                                        <p:cTn id="205" dur="500"/>
                                        <p:tgtEl>
                                          <p:spTgt spid="50"/>
                                        </p:tgtEl>
                                      </p:cBhvr>
                                    </p:animEffect>
                                  </p:childTnLst>
                                </p:cTn>
                              </p:par>
                              <p:par>
                                <p:cTn id="211" presetID="2" presetClass="entr" presetSubtype="4" fill="hold" grpId="0" nodeType="withEffect">
                                  <p:stCondLst>
                                    <p:cond delay="300"/>
                                  </p:stCondLst>
                                  <p:childTnLst>
                                    <p:set>
                                      <p:cBhvr>
                                        <p:cTn id="207" dur="1" fill="hold">
                                          <p:stCondLst>
                                            <p:cond delay="0"/>
                                          </p:stCondLst>
                                        </p:cTn>
                                        <p:tgtEl>
                                          <p:spTgt spid="51"/>
                                        </p:tgtEl>
                                        <p:attrNameLst>
                                          <p:attrName>style.visibility</p:attrName>
                                        </p:attrNameLst>
                                      </p:cBhvr>
                                      <p:to>
                                        <p:strVal val="visible"/>
                                      </p:to>
                                    </p:set>
                                    <p:anim calcmode="lin" valueType="num">
                                      <p:cBhvr additive="base">
                                        <p:cTn id="208" dur="500" fill="hold"/>
                                        <p:tgtEl>
                                          <p:spTgt spid="51"/>
                                        </p:tgtEl>
                                        <p:attrNameLst>
                                          <p:attrName>ppt_x</p:attrName>
                                        </p:attrNameLst>
                                      </p:cBhvr>
                                      <p:tavLst>
                                        <p:tav tm="0">
                                          <p:val>
                                            <p:strVal val="#ppt_x"/>
                                          </p:val>
                                        </p:tav>
                                        <p:tav tm="100000">
                                          <p:val>
                                            <p:strVal val="#ppt_x"/>
                                          </p:val>
                                        </p:tav>
                                      </p:tavLst>
                                    </p:anim>
                                    <p:anim calcmode="lin" valueType="num">
                                      <p:cBhvr additive="base">
                                        <p:cTn id="209" dur="500" fill="hold"/>
                                        <p:tgtEl>
                                          <p:spTgt spid="51"/>
                                        </p:tgtEl>
                                        <p:attrNameLst>
                                          <p:attrName>ppt_y</p:attrName>
                                        </p:attrNameLst>
                                      </p:cBhvr>
                                      <p:tavLst>
                                        <p:tav tm="0">
                                          <p:val>
                                            <p:strVal val="#ppt_y+0.1"/>
                                          </p:val>
                                        </p:tav>
                                        <p:tav tm="100000">
                                          <p:val>
                                            <p:strVal val="#ppt_y"/>
                                          </p:val>
                                        </p:tav>
                                      </p:tavLst>
                                    </p:anim>
                                    <p:animEffect transition="in" filter="fade">
                                      <p:cBhvr>
                                        <p:cTn id="210" dur="500"/>
                                        <p:tgtEl>
                                          <p:spTgt spid="51"/>
                                        </p:tgtEl>
                                      </p:cBhvr>
                                    </p:animEffect>
                                  </p:childTnLst>
                                </p:cTn>
                              </p:par>
                              <p:par>
                                <p:cTn id="216" presetID="2" presetClass="entr" presetSubtype="4" fill="hold" grpId="0" nodeType="withEffect">
                                  <p:stCondLst>
                                    <p:cond delay="300"/>
                                  </p:stCondLst>
                                  <p:childTnLst>
                                    <p:set>
                                      <p:cBhvr>
                                        <p:cTn id="212" dur="1" fill="hold">
                                          <p:stCondLst>
                                            <p:cond delay="0"/>
                                          </p:stCondLst>
                                        </p:cTn>
                                        <p:tgtEl>
                                          <p:spTgt spid="52"/>
                                        </p:tgtEl>
                                        <p:attrNameLst>
                                          <p:attrName>style.visibility</p:attrName>
                                        </p:attrNameLst>
                                      </p:cBhvr>
                                      <p:to>
                                        <p:strVal val="visible"/>
                                      </p:to>
                                    </p:set>
                                    <p:anim calcmode="lin" valueType="num">
                                      <p:cBhvr additive="base">
                                        <p:cTn id="213" dur="500" fill="hold"/>
                                        <p:tgtEl>
                                          <p:spTgt spid="52"/>
                                        </p:tgtEl>
                                        <p:attrNameLst>
                                          <p:attrName>ppt_x</p:attrName>
                                        </p:attrNameLst>
                                      </p:cBhvr>
                                      <p:tavLst>
                                        <p:tav tm="0">
                                          <p:val>
                                            <p:strVal val="#ppt_x"/>
                                          </p:val>
                                        </p:tav>
                                        <p:tav tm="100000">
                                          <p:val>
                                            <p:strVal val="#ppt_x"/>
                                          </p:val>
                                        </p:tav>
                                      </p:tavLst>
                                    </p:anim>
                                    <p:anim calcmode="lin" valueType="num">
                                      <p:cBhvr additive="base">
                                        <p:cTn id="214" dur="500" fill="hold"/>
                                        <p:tgtEl>
                                          <p:spTgt spid="52"/>
                                        </p:tgtEl>
                                        <p:attrNameLst>
                                          <p:attrName>ppt_y</p:attrName>
                                        </p:attrNameLst>
                                      </p:cBhvr>
                                      <p:tavLst>
                                        <p:tav tm="0">
                                          <p:val>
                                            <p:strVal val="#ppt_y+0.1"/>
                                          </p:val>
                                        </p:tav>
                                        <p:tav tm="100000">
                                          <p:val>
                                            <p:strVal val="#ppt_y"/>
                                          </p:val>
                                        </p:tav>
                                      </p:tavLst>
                                    </p:anim>
                                    <p:animEffect transition="in" filter="fade">
                                      <p:cBhvr>
                                        <p:cTn id="215" dur="500"/>
                                        <p:tgtEl>
                                          <p:spTgt spid="52"/>
                                        </p:tgtEl>
                                      </p:cBhvr>
                                    </p:animEffect>
                                  </p:childTnLst>
                                </p:cTn>
                              </p:par>
                              <p:par>
                                <p:cTn id="221" presetID="2" presetClass="entr" presetSubtype="4" fill="hold" grpId="0" nodeType="withEffect">
                                  <p:stCondLst>
                                    <p:cond delay="300"/>
                                  </p:stCondLst>
                                  <p:childTnLst>
                                    <p:set>
                                      <p:cBhvr>
                                        <p:cTn id="217" dur="1" fill="hold">
                                          <p:stCondLst>
                                            <p:cond delay="0"/>
                                          </p:stCondLst>
                                        </p:cTn>
                                        <p:tgtEl>
                                          <p:spTgt spid="53"/>
                                        </p:tgtEl>
                                        <p:attrNameLst>
                                          <p:attrName>style.visibility</p:attrName>
                                        </p:attrNameLst>
                                      </p:cBhvr>
                                      <p:to>
                                        <p:strVal val="visible"/>
                                      </p:to>
                                    </p:set>
                                    <p:anim calcmode="lin" valueType="num">
                                      <p:cBhvr additive="base">
                                        <p:cTn id="218" dur="500" fill="hold"/>
                                        <p:tgtEl>
                                          <p:spTgt spid="53"/>
                                        </p:tgtEl>
                                        <p:attrNameLst>
                                          <p:attrName>ppt_x</p:attrName>
                                        </p:attrNameLst>
                                      </p:cBhvr>
                                      <p:tavLst>
                                        <p:tav tm="0">
                                          <p:val>
                                            <p:strVal val="#ppt_x"/>
                                          </p:val>
                                        </p:tav>
                                        <p:tav tm="100000">
                                          <p:val>
                                            <p:strVal val="#ppt_x"/>
                                          </p:val>
                                        </p:tav>
                                      </p:tavLst>
                                    </p:anim>
                                    <p:anim calcmode="lin" valueType="num">
                                      <p:cBhvr additive="base">
                                        <p:cTn id="219" dur="500" fill="hold"/>
                                        <p:tgtEl>
                                          <p:spTgt spid="53"/>
                                        </p:tgtEl>
                                        <p:attrNameLst>
                                          <p:attrName>ppt_y</p:attrName>
                                        </p:attrNameLst>
                                      </p:cBhvr>
                                      <p:tavLst>
                                        <p:tav tm="0">
                                          <p:val>
                                            <p:strVal val="#ppt_y+0.1"/>
                                          </p:val>
                                        </p:tav>
                                        <p:tav tm="100000">
                                          <p:val>
                                            <p:strVal val="#ppt_y"/>
                                          </p:val>
                                        </p:tav>
                                      </p:tavLst>
                                    </p:anim>
                                    <p:animEffect transition="in" filter="fade">
                                      <p:cBhvr>
                                        <p:cTn id="220" dur="500"/>
                                        <p:tgtEl>
                                          <p:spTgt spid="53"/>
                                        </p:tgtEl>
                                      </p:cBhvr>
                                    </p:animEffect>
                                  </p:childTnLst>
                                </p:cTn>
                              </p:par>
                              <p:par>
                                <p:cTn id="226" presetID="2" presetClass="entr" presetSubtype="4" fill="hold" grpId="0" nodeType="withEffect">
                                  <p:stCondLst>
                                    <p:cond delay="400"/>
                                  </p:stCondLst>
                                  <p:childTnLst>
                                    <p:set>
                                      <p:cBhvr>
                                        <p:cTn id="222" dur="1" fill="hold">
                                          <p:stCondLst>
                                            <p:cond delay="0"/>
                                          </p:stCondLst>
                                        </p:cTn>
                                        <p:tgtEl>
                                          <p:spTgt spid="54"/>
                                        </p:tgtEl>
                                        <p:attrNameLst>
                                          <p:attrName>style.visibility</p:attrName>
                                        </p:attrNameLst>
                                      </p:cBhvr>
                                      <p:to>
                                        <p:strVal val="visible"/>
                                      </p:to>
                                    </p:set>
                                    <p:anim calcmode="lin" valueType="num">
                                      <p:cBhvr additive="base">
                                        <p:cTn id="223" dur="500" fill="hold"/>
                                        <p:tgtEl>
                                          <p:spTgt spid="54"/>
                                        </p:tgtEl>
                                        <p:attrNameLst>
                                          <p:attrName>ppt_x</p:attrName>
                                        </p:attrNameLst>
                                      </p:cBhvr>
                                      <p:tavLst>
                                        <p:tav tm="0">
                                          <p:val>
                                            <p:strVal val="#ppt_x"/>
                                          </p:val>
                                        </p:tav>
                                        <p:tav tm="100000">
                                          <p:val>
                                            <p:strVal val="#ppt_x"/>
                                          </p:val>
                                        </p:tav>
                                      </p:tavLst>
                                    </p:anim>
                                    <p:anim calcmode="lin" valueType="num">
                                      <p:cBhvr additive="base">
                                        <p:cTn id="224" dur="500" fill="hold"/>
                                        <p:tgtEl>
                                          <p:spTgt spid="54"/>
                                        </p:tgtEl>
                                        <p:attrNameLst>
                                          <p:attrName>ppt_y</p:attrName>
                                        </p:attrNameLst>
                                      </p:cBhvr>
                                      <p:tavLst>
                                        <p:tav tm="0">
                                          <p:val>
                                            <p:strVal val="#ppt_y+0.1"/>
                                          </p:val>
                                        </p:tav>
                                        <p:tav tm="100000">
                                          <p:val>
                                            <p:strVal val="#ppt_y"/>
                                          </p:val>
                                        </p:tav>
                                      </p:tavLst>
                                    </p:anim>
                                    <p:animEffect transition="in" filter="fade">
                                      <p:cBhvr>
                                        <p:cTn id="225" dur="500"/>
                                        <p:tgtEl>
                                          <p:spTgt spid="54"/>
                                        </p:tgtEl>
                                      </p:cBhvr>
                                    </p:animEffect>
                                  </p:childTnLst>
                                </p:cTn>
                              </p:par>
                              <p:par>
                                <p:cTn id="231" presetID="2" presetClass="entr" presetSubtype="4" fill="hold" grpId="0" nodeType="withEffect">
                                  <p:stCondLst>
                                    <p:cond delay="400"/>
                                  </p:stCondLst>
                                  <p:childTnLst>
                                    <p:set>
                                      <p:cBhvr>
                                        <p:cTn id="227" dur="1" fill="hold">
                                          <p:stCondLst>
                                            <p:cond delay="0"/>
                                          </p:stCondLst>
                                        </p:cTn>
                                        <p:tgtEl>
                                          <p:spTgt spid="55"/>
                                        </p:tgtEl>
                                        <p:attrNameLst>
                                          <p:attrName>style.visibility</p:attrName>
                                        </p:attrNameLst>
                                      </p:cBhvr>
                                      <p:to>
                                        <p:strVal val="visible"/>
                                      </p:to>
                                    </p:set>
                                    <p:anim calcmode="lin" valueType="num">
                                      <p:cBhvr additive="base">
                                        <p:cTn id="228" dur="500" fill="hold"/>
                                        <p:tgtEl>
                                          <p:spTgt spid="55"/>
                                        </p:tgtEl>
                                        <p:attrNameLst>
                                          <p:attrName>ppt_x</p:attrName>
                                        </p:attrNameLst>
                                      </p:cBhvr>
                                      <p:tavLst>
                                        <p:tav tm="0">
                                          <p:val>
                                            <p:strVal val="#ppt_x"/>
                                          </p:val>
                                        </p:tav>
                                        <p:tav tm="100000">
                                          <p:val>
                                            <p:strVal val="#ppt_x"/>
                                          </p:val>
                                        </p:tav>
                                      </p:tavLst>
                                    </p:anim>
                                    <p:anim calcmode="lin" valueType="num">
                                      <p:cBhvr additive="base">
                                        <p:cTn id="229" dur="500" fill="hold"/>
                                        <p:tgtEl>
                                          <p:spTgt spid="55"/>
                                        </p:tgtEl>
                                        <p:attrNameLst>
                                          <p:attrName>ppt_y</p:attrName>
                                        </p:attrNameLst>
                                      </p:cBhvr>
                                      <p:tavLst>
                                        <p:tav tm="0">
                                          <p:val>
                                            <p:strVal val="#ppt_y+0.1"/>
                                          </p:val>
                                        </p:tav>
                                        <p:tav tm="100000">
                                          <p:val>
                                            <p:strVal val="#ppt_y"/>
                                          </p:val>
                                        </p:tav>
                                      </p:tavLst>
                                    </p:anim>
                                    <p:animEffect transition="in" filter="fade">
                                      <p:cBhvr>
                                        <p:cTn id="230" dur="500"/>
                                        <p:tgtEl>
                                          <p:spTgt spid="55"/>
                                        </p:tgtEl>
                                      </p:cBhvr>
                                    </p:animEffect>
                                  </p:childTnLst>
                                </p:cTn>
                              </p:par>
                              <p:par>
                                <p:cTn id="236" presetID="2" presetClass="entr" presetSubtype="4" fill="hold" grpId="0" nodeType="withEffect">
                                  <p:stCondLst>
                                    <p:cond delay="400"/>
                                  </p:stCondLst>
                                  <p:childTnLst>
                                    <p:set>
                                      <p:cBhvr>
                                        <p:cTn id="232" dur="1" fill="hold">
                                          <p:stCondLst>
                                            <p:cond delay="0"/>
                                          </p:stCondLst>
                                        </p:cTn>
                                        <p:tgtEl>
                                          <p:spTgt spid="56"/>
                                        </p:tgtEl>
                                        <p:attrNameLst>
                                          <p:attrName>style.visibility</p:attrName>
                                        </p:attrNameLst>
                                      </p:cBhvr>
                                      <p:to>
                                        <p:strVal val="visible"/>
                                      </p:to>
                                    </p:set>
                                    <p:anim calcmode="lin" valueType="num">
                                      <p:cBhvr additive="base">
                                        <p:cTn id="233" dur="500" fill="hold"/>
                                        <p:tgtEl>
                                          <p:spTgt spid="56"/>
                                        </p:tgtEl>
                                        <p:attrNameLst>
                                          <p:attrName>ppt_x</p:attrName>
                                        </p:attrNameLst>
                                      </p:cBhvr>
                                      <p:tavLst>
                                        <p:tav tm="0">
                                          <p:val>
                                            <p:strVal val="#ppt_x"/>
                                          </p:val>
                                        </p:tav>
                                        <p:tav tm="100000">
                                          <p:val>
                                            <p:strVal val="#ppt_x"/>
                                          </p:val>
                                        </p:tav>
                                      </p:tavLst>
                                    </p:anim>
                                    <p:anim calcmode="lin" valueType="num">
                                      <p:cBhvr additive="base">
                                        <p:cTn id="234" dur="500" fill="hold"/>
                                        <p:tgtEl>
                                          <p:spTgt spid="56"/>
                                        </p:tgtEl>
                                        <p:attrNameLst>
                                          <p:attrName>ppt_y</p:attrName>
                                        </p:attrNameLst>
                                      </p:cBhvr>
                                      <p:tavLst>
                                        <p:tav tm="0">
                                          <p:val>
                                            <p:strVal val="#ppt_y+0.1"/>
                                          </p:val>
                                        </p:tav>
                                        <p:tav tm="100000">
                                          <p:val>
                                            <p:strVal val="#ppt_y"/>
                                          </p:val>
                                        </p:tav>
                                      </p:tavLst>
                                    </p:anim>
                                    <p:animEffect transition="in" filter="fade">
                                      <p:cBhvr>
                                        <p:cTn id="235" dur="500"/>
                                        <p:tgtEl>
                                          <p:spTgt spid="56"/>
                                        </p:tgtEl>
                                      </p:cBhvr>
                                    </p:animEffect>
                                  </p:childTnLst>
                                </p:cTn>
                              </p:par>
                              <p:par>
                                <p:cTn id="241" presetID="2" presetClass="entr" presetSubtype="4" fill="hold" grpId="0" nodeType="withEffect">
                                  <p:stCondLst>
                                    <p:cond delay="500"/>
                                  </p:stCondLst>
                                  <p:childTnLst>
                                    <p:set>
                                      <p:cBhvr>
                                        <p:cTn id="237" dur="1" fill="hold">
                                          <p:stCondLst>
                                            <p:cond delay="0"/>
                                          </p:stCondLst>
                                        </p:cTn>
                                        <p:tgtEl>
                                          <p:spTgt spid="57"/>
                                        </p:tgtEl>
                                        <p:attrNameLst>
                                          <p:attrName>style.visibility</p:attrName>
                                        </p:attrNameLst>
                                      </p:cBhvr>
                                      <p:to>
                                        <p:strVal val="visible"/>
                                      </p:to>
                                    </p:set>
                                    <p:anim calcmode="lin" valueType="num">
                                      <p:cBhvr additive="base">
                                        <p:cTn id="238" dur="500" fill="hold"/>
                                        <p:tgtEl>
                                          <p:spTgt spid="57"/>
                                        </p:tgtEl>
                                        <p:attrNameLst>
                                          <p:attrName>ppt_x</p:attrName>
                                        </p:attrNameLst>
                                      </p:cBhvr>
                                      <p:tavLst>
                                        <p:tav tm="0">
                                          <p:val>
                                            <p:strVal val="#ppt_x"/>
                                          </p:val>
                                        </p:tav>
                                        <p:tav tm="100000">
                                          <p:val>
                                            <p:strVal val="#ppt_x"/>
                                          </p:val>
                                        </p:tav>
                                      </p:tavLst>
                                    </p:anim>
                                    <p:anim calcmode="lin" valueType="num">
                                      <p:cBhvr additive="base">
                                        <p:cTn id="239" dur="500" fill="hold"/>
                                        <p:tgtEl>
                                          <p:spTgt spid="57"/>
                                        </p:tgtEl>
                                        <p:attrNameLst>
                                          <p:attrName>ppt_y</p:attrName>
                                        </p:attrNameLst>
                                      </p:cBhvr>
                                      <p:tavLst>
                                        <p:tav tm="0">
                                          <p:val>
                                            <p:strVal val="#ppt_y+0.1"/>
                                          </p:val>
                                        </p:tav>
                                        <p:tav tm="100000">
                                          <p:val>
                                            <p:strVal val="#ppt_y"/>
                                          </p:val>
                                        </p:tav>
                                      </p:tavLst>
                                    </p:anim>
                                    <p:animEffect transition="in" filter="fade">
                                      <p:cBhvr>
                                        <p:cTn id="240" dur="500"/>
                                        <p:tgtEl>
                                          <p:spTgt spid="57"/>
                                        </p:tgtEl>
                                      </p:cBhvr>
                                    </p:animEffect>
                                  </p:childTnLst>
                                </p:cTn>
                              </p:par>
                              <p:par>
                                <p:cTn id="246" presetID="2" presetClass="entr" presetSubtype="4" fill="hold" grpId="0" nodeType="withEffect">
                                  <p:stCondLst>
                                    <p:cond delay="500"/>
                                  </p:stCondLst>
                                  <p:childTnLst>
                                    <p:set>
                                      <p:cBhvr>
                                        <p:cTn id="242" dur="1" fill="hold">
                                          <p:stCondLst>
                                            <p:cond delay="0"/>
                                          </p:stCondLst>
                                        </p:cTn>
                                        <p:tgtEl>
                                          <p:spTgt spid="58"/>
                                        </p:tgtEl>
                                        <p:attrNameLst>
                                          <p:attrName>style.visibility</p:attrName>
                                        </p:attrNameLst>
                                      </p:cBhvr>
                                      <p:to>
                                        <p:strVal val="visible"/>
                                      </p:to>
                                    </p:set>
                                    <p:anim calcmode="lin" valueType="num">
                                      <p:cBhvr additive="base">
                                        <p:cTn id="243" dur="500" fill="hold"/>
                                        <p:tgtEl>
                                          <p:spTgt spid="58"/>
                                        </p:tgtEl>
                                        <p:attrNameLst>
                                          <p:attrName>ppt_x</p:attrName>
                                        </p:attrNameLst>
                                      </p:cBhvr>
                                      <p:tavLst>
                                        <p:tav tm="0">
                                          <p:val>
                                            <p:strVal val="#ppt_x"/>
                                          </p:val>
                                        </p:tav>
                                        <p:tav tm="100000">
                                          <p:val>
                                            <p:strVal val="#ppt_x"/>
                                          </p:val>
                                        </p:tav>
                                      </p:tavLst>
                                    </p:anim>
                                    <p:anim calcmode="lin" valueType="num">
                                      <p:cBhvr additive="base">
                                        <p:cTn id="244" dur="500" fill="hold"/>
                                        <p:tgtEl>
                                          <p:spTgt spid="58"/>
                                        </p:tgtEl>
                                        <p:attrNameLst>
                                          <p:attrName>ppt_y</p:attrName>
                                        </p:attrNameLst>
                                      </p:cBhvr>
                                      <p:tavLst>
                                        <p:tav tm="0">
                                          <p:val>
                                            <p:strVal val="#ppt_y+0.1"/>
                                          </p:val>
                                        </p:tav>
                                        <p:tav tm="100000">
                                          <p:val>
                                            <p:strVal val="#ppt_y"/>
                                          </p:val>
                                        </p:tav>
                                      </p:tavLst>
                                    </p:anim>
                                    <p:animEffect transition="in" filter="fade">
                                      <p:cBhvr>
                                        <p:cTn id="245" dur="500"/>
                                        <p:tgtEl>
                                          <p:spTgt spid="58"/>
                                        </p:tgtEl>
                                      </p:cBhvr>
                                    </p:animEffect>
                                  </p:childTnLst>
                                </p:cTn>
                              </p:par>
                              <p:par>
                                <p:cTn id="251" presetID="2" presetClass="entr" presetSubtype="4" fill="hold" grpId="0" nodeType="withEffect">
                                  <p:stCondLst>
                                    <p:cond delay="500"/>
                                  </p:stCondLst>
                                  <p:childTnLst>
                                    <p:set>
                                      <p:cBhvr>
                                        <p:cTn id="247" dur="1" fill="hold">
                                          <p:stCondLst>
                                            <p:cond delay="0"/>
                                          </p:stCondLst>
                                        </p:cTn>
                                        <p:tgtEl>
                                          <p:spTgt spid="59"/>
                                        </p:tgtEl>
                                        <p:attrNameLst>
                                          <p:attrName>style.visibility</p:attrName>
                                        </p:attrNameLst>
                                      </p:cBhvr>
                                      <p:to>
                                        <p:strVal val="visible"/>
                                      </p:to>
                                    </p:set>
                                    <p:anim calcmode="lin" valueType="num">
                                      <p:cBhvr additive="base">
                                        <p:cTn id="248" dur="500" fill="hold"/>
                                        <p:tgtEl>
                                          <p:spTgt spid="59"/>
                                        </p:tgtEl>
                                        <p:attrNameLst>
                                          <p:attrName>ppt_x</p:attrName>
                                        </p:attrNameLst>
                                      </p:cBhvr>
                                      <p:tavLst>
                                        <p:tav tm="0">
                                          <p:val>
                                            <p:strVal val="#ppt_x"/>
                                          </p:val>
                                        </p:tav>
                                        <p:tav tm="100000">
                                          <p:val>
                                            <p:strVal val="#ppt_x"/>
                                          </p:val>
                                        </p:tav>
                                      </p:tavLst>
                                    </p:anim>
                                    <p:anim calcmode="lin" valueType="num">
                                      <p:cBhvr additive="base">
                                        <p:cTn id="249" dur="500" fill="hold"/>
                                        <p:tgtEl>
                                          <p:spTgt spid="59"/>
                                        </p:tgtEl>
                                        <p:attrNameLst>
                                          <p:attrName>ppt_y</p:attrName>
                                        </p:attrNameLst>
                                      </p:cBhvr>
                                      <p:tavLst>
                                        <p:tav tm="0">
                                          <p:val>
                                            <p:strVal val="#ppt_y+0.1"/>
                                          </p:val>
                                        </p:tav>
                                        <p:tav tm="100000">
                                          <p:val>
                                            <p:strVal val="#ppt_y"/>
                                          </p:val>
                                        </p:tav>
                                      </p:tavLst>
                                    </p:anim>
                                    <p:animEffect transition="in" filter="fade">
                                      <p:cBhvr>
                                        <p:cTn id="250" dur="500"/>
                                        <p:tgtEl>
                                          <p:spTgt spid="59"/>
                                        </p:tgtEl>
                                      </p:cBhvr>
                                    </p:animEffect>
                                  </p:childTnLst>
                                </p:cTn>
                              </p:par>
                              <p:par>
                                <p:cTn id="256" presetID="2" presetClass="entr" presetSubtype="4" fill="hold" grpId="0" nodeType="withEffect">
                                  <p:stCondLst>
                                    <p:cond delay="500"/>
                                  </p:stCondLst>
                                  <p:childTnLst>
                                    <p:set>
                                      <p:cBhvr>
                                        <p:cTn id="252" dur="1" fill="hold">
                                          <p:stCondLst>
                                            <p:cond delay="0"/>
                                          </p:stCondLst>
                                        </p:cTn>
                                        <p:tgtEl>
                                          <p:spTgt spid="60"/>
                                        </p:tgtEl>
                                        <p:attrNameLst>
                                          <p:attrName>style.visibility</p:attrName>
                                        </p:attrNameLst>
                                      </p:cBhvr>
                                      <p:to>
                                        <p:strVal val="visible"/>
                                      </p:to>
                                    </p:set>
                                    <p:anim calcmode="lin" valueType="num">
                                      <p:cBhvr additive="base">
                                        <p:cTn id="253" dur="500" fill="hold"/>
                                        <p:tgtEl>
                                          <p:spTgt spid="60"/>
                                        </p:tgtEl>
                                        <p:attrNameLst>
                                          <p:attrName>ppt_x</p:attrName>
                                        </p:attrNameLst>
                                      </p:cBhvr>
                                      <p:tavLst>
                                        <p:tav tm="0">
                                          <p:val>
                                            <p:strVal val="#ppt_x"/>
                                          </p:val>
                                        </p:tav>
                                        <p:tav tm="100000">
                                          <p:val>
                                            <p:strVal val="#ppt_x"/>
                                          </p:val>
                                        </p:tav>
                                      </p:tavLst>
                                    </p:anim>
                                    <p:anim calcmode="lin" valueType="num">
                                      <p:cBhvr additive="base">
                                        <p:cTn id="254" dur="500" fill="hold"/>
                                        <p:tgtEl>
                                          <p:spTgt spid="60"/>
                                        </p:tgtEl>
                                        <p:attrNameLst>
                                          <p:attrName>ppt_y</p:attrName>
                                        </p:attrNameLst>
                                      </p:cBhvr>
                                      <p:tavLst>
                                        <p:tav tm="0">
                                          <p:val>
                                            <p:strVal val="#ppt_y+0.1"/>
                                          </p:val>
                                        </p:tav>
                                        <p:tav tm="100000">
                                          <p:val>
                                            <p:strVal val="#ppt_y"/>
                                          </p:val>
                                        </p:tav>
                                      </p:tavLst>
                                    </p:anim>
                                    <p:animEffect transition="in" filter="fade">
                                      <p:cBhvr>
                                        <p:cTn id="255" dur="500"/>
                                        <p:tgtEl>
                                          <p:spTgt spid="60"/>
                                        </p:tgtEl>
                                      </p:cBhvr>
                                    </p:animEffect>
                                  </p:childTnLst>
                                </p:cTn>
                              </p:par>
                              <p:par>
                                <p:cTn id="261" presetID="2" presetClass="entr" presetSubtype="4" fill="hold" grpId="0" nodeType="withEffect">
                                  <p:stCondLst>
                                    <p:cond delay="500"/>
                                  </p:stCondLst>
                                  <p:childTnLst>
                                    <p:set>
                                      <p:cBhvr>
                                        <p:cTn id="257" dur="1" fill="hold">
                                          <p:stCondLst>
                                            <p:cond delay="0"/>
                                          </p:stCondLst>
                                        </p:cTn>
                                        <p:tgtEl>
                                          <p:spTgt spid="61"/>
                                        </p:tgtEl>
                                        <p:attrNameLst>
                                          <p:attrName>style.visibility</p:attrName>
                                        </p:attrNameLst>
                                      </p:cBhvr>
                                      <p:to>
                                        <p:strVal val="visible"/>
                                      </p:to>
                                    </p:set>
                                    <p:anim calcmode="lin" valueType="num">
                                      <p:cBhvr additive="base">
                                        <p:cTn id="258" dur="500" fill="hold"/>
                                        <p:tgtEl>
                                          <p:spTgt spid="61"/>
                                        </p:tgtEl>
                                        <p:attrNameLst>
                                          <p:attrName>ppt_x</p:attrName>
                                        </p:attrNameLst>
                                      </p:cBhvr>
                                      <p:tavLst>
                                        <p:tav tm="0">
                                          <p:val>
                                            <p:strVal val="#ppt_x"/>
                                          </p:val>
                                        </p:tav>
                                        <p:tav tm="100000">
                                          <p:val>
                                            <p:strVal val="#ppt_x"/>
                                          </p:val>
                                        </p:tav>
                                      </p:tavLst>
                                    </p:anim>
                                    <p:anim calcmode="lin" valueType="num">
                                      <p:cBhvr additive="base">
                                        <p:cTn id="259" dur="500" fill="hold"/>
                                        <p:tgtEl>
                                          <p:spTgt spid="61"/>
                                        </p:tgtEl>
                                        <p:attrNameLst>
                                          <p:attrName>ppt_y</p:attrName>
                                        </p:attrNameLst>
                                      </p:cBhvr>
                                      <p:tavLst>
                                        <p:tav tm="0">
                                          <p:val>
                                            <p:strVal val="#ppt_y+0.1"/>
                                          </p:val>
                                        </p:tav>
                                        <p:tav tm="100000">
                                          <p:val>
                                            <p:strVal val="#ppt_y"/>
                                          </p:val>
                                        </p:tav>
                                      </p:tavLst>
                                    </p:anim>
                                    <p:animEffect transition="in" filter="fade">
                                      <p:cBhvr>
                                        <p:cTn id="260" dur="500"/>
                                        <p:tgtEl>
                                          <p:spTgt spid="61"/>
                                        </p:tgtEl>
                                      </p:cBhvr>
                                    </p:animEffect>
                                  </p:childTnLst>
                                </p:cTn>
                              </p:par>
                              <p:par>
                                <p:cTn id="266" presetID="2" presetClass="entr" presetSubtype="4" fill="hold" grpId="0" nodeType="withEffect">
                                  <p:stCondLst>
                                    <p:cond delay="600"/>
                                  </p:stCondLst>
                                  <p:childTnLst>
                                    <p:set>
                                      <p:cBhvr>
                                        <p:cTn id="262" dur="1" fill="hold">
                                          <p:stCondLst>
                                            <p:cond delay="0"/>
                                          </p:stCondLst>
                                        </p:cTn>
                                        <p:tgtEl>
                                          <p:spTgt spid="62"/>
                                        </p:tgtEl>
                                        <p:attrNameLst>
                                          <p:attrName>style.visibility</p:attrName>
                                        </p:attrNameLst>
                                      </p:cBhvr>
                                      <p:to>
                                        <p:strVal val="visible"/>
                                      </p:to>
                                    </p:set>
                                    <p:anim calcmode="lin" valueType="num">
                                      <p:cBhvr additive="base">
                                        <p:cTn id="263" dur="500" fill="hold"/>
                                        <p:tgtEl>
                                          <p:spTgt spid="62"/>
                                        </p:tgtEl>
                                        <p:attrNameLst>
                                          <p:attrName>ppt_x</p:attrName>
                                        </p:attrNameLst>
                                      </p:cBhvr>
                                      <p:tavLst>
                                        <p:tav tm="0">
                                          <p:val>
                                            <p:strVal val="#ppt_x"/>
                                          </p:val>
                                        </p:tav>
                                        <p:tav tm="100000">
                                          <p:val>
                                            <p:strVal val="#ppt_x"/>
                                          </p:val>
                                        </p:tav>
                                      </p:tavLst>
                                    </p:anim>
                                    <p:anim calcmode="lin" valueType="num">
                                      <p:cBhvr additive="base">
                                        <p:cTn id="264" dur="500" fill="hold"/>
                                        <p:tgtEl>
                                          <p:spTgt spid="62"/>
                                        </p:tgtEl>
                                        <p:attrNameLst>
                                          <p:attrName>ppt_y</p:attrName>
                                        </p:attrNameLst>
                                      </p:cBhvr>
                                      <p:tavLst>
                                        <p:tav tm="0">
                                          <p:val>
                                            <p:strVal val="#ppt_y+0.1"/>
                                          </p:val>
                                        </p:tav>
                                        <p:tav tm="100000">
                                          <p:val>
                                            <p:strVal val="#ppt_y"/>
                                          </p:val>
                                        </p:tav>
                                      </p:tavLst>
                                    </p:anim>
                                    <p:animEffect transition="in" filter="fade">
                                      <p:cBhvr>
                                        <p:cTn id="265" dur="500"/>
                                        <p:tgtEl>
                                          <p:spTgt spid="62"/>
                                        </p:tgtEl>
                                      </p:cBhvr>
                                    </p:animEffect>
                                  </p:childTnLst>
                                </p:cTn>
                              </p:par>
                              <p:par>
                                <p:cTn id="271" presetID="2" presetClass="entr" presetSubtype="4" fill="hold" grpId="0" nodeType="withEffect">
                                  <p:stCondLst>
                                    <p:cond delay="600"/>
                                  </p:stCondLst>
                                  <p:childTnLst>
                                    <p:set>
                                      <p:cBhvr>
                                        <p:cTn id="267" dur="1" fill="hold">
                                          <p:stCondLst>
                                            <p:cond delay="0"/>
                                          </p:stCondLst>
                                        </p:cTn>
                                        <p:tgtEl>
                                          <p:spTgt spid="63"/>
                                        </p:tgtEl>
                                        <p:attrNameLst>
                                          <p:attrName>style.visibility</p:attrName>
                                        </p:attrNameLst>
                                      </p:cBhvr>
                                      <p:to>
                                        <p:strVal val="visible"/>
                                      </p:to>
                                    </p:set>
                                    <p:anim calcmode="lin" valueType="num">
                                      <p:cBhvr additive="base">
                                        <p:cTn id="268" dur="500" fill="hold"/>
                                        <p:tgtEl>
                                          <p:spTgt spid="63"/>
                                        </p:tgtEl>
                                        <p:attrNameLst>
                                          <p:attrName>ppt_x</p:attrName>
                                        </p:attrNameLst>
                                      </p:cBhvr>
                                      <p:tavLst>
                                        <p:tav tm="0">
                                          <p:val>
                                            <p:strVal val="#ppt_x"/>
                                          </p:val>
                                        </p:tav>
                                        <p:tav tm="100000">
                                          <p:val>
                                            <p:strVal val="#ppt_x"/>
                                          </p:val>
                                        </p:tav>
                                      </p:tavLst>
                                    </p:anim>
                                    <p:anim calcmode="lin" valueType="num">
                                      <p:cBhvr additive="base">
                                        <p:cTn id="269" dur="500" fill="hold"/>
                                        <p:tgtEl>
                                          <p:spTgt spid="63"/>
                                        </p:tgtEl>
                                        <p:attrNameLst>
                                          <p:attrName>ppt_y</p:attrName>
                                        </p:attrNameLst>
                                      </p:cBhvr>
                                      <p:tavLst>
                                        <p:tav tm="0">
                                          <p:val>
                                            <p:strVal val="#ppt_y+0.1"/>
                                          </p:val>
                                        </p:tav>
                                        <p:tav tm="100000">
                                          <p:val>
                                            <p:strVal val="#ppt_y"/>
                                          </p:val>
                                        </p:tav>
                                      </p:tavLst>
                                    </p:anim>
                                    <p:animEffect transition="in" filter="fade">
                                      <p:cBhvr>
                                        <p:cTn id="270" dur="500"/>
                                        <p:tgtEl>
                                          <p:spTgt spid="63"/>
                                        </p:tgtEl>
                                      </p:cBhvr>
                                    </p:animEffect>
                                  </p:childTnLst>
                                </p:cTn>
                              </p:par>
                              <p:par>
                                <p:cTn id="276" presetID="2" presetClass="entr" presetSubtype="4" fill="hold" grpId="0" nodeType="withEffect">
                                  <p:stCondLst>
                                    <p:cond delay="700"/>
                                  </p:stCondLst>
                                  <p:childTnLst>
                                    <p:set>
                                      <p:cBhvr>
                                        <p:cTn id="272" dur="1" fill="hold">
                                          <p:stCondLst>
                                            <p:cond delay="0"/>
                                          </p:stCondLst>
                                        </p:cTn>
                                        <p:tgtEl>
                                          <p:spTgt spid="64"/>
                                        </p:tgtEl>
                                        <p:attrNameLst>
                                          <p:attrName>style.visibility</p:attrName>
                                        </p:attrNameLst>
                                      </p:cBhvr>
                                      <p:to>
                                        <p:strVal val="visible"/>
                                      </p:to>
                                    </p:set>
                                    <p:anim calcmode="lin" valueType="num">
                                      <p:cBhvr additive="base">
                                        <p:cTn id="273" dur="500" fill="hold"/>
                                        <p:tgtEl>
                                          <p:spTgt spid="64"/>
                                        </p:tgtEl>
                                        <p:attrNameLst>
                                          <p:attrName>ppt_x</p:attrName>
                                        </p:attrNameLst>
                                      </p:cBhvr>
                                      <p:tavLst>
                                        <p:tav tm="0">
                                          <p:val>
                                            <p:strVal val="#ppt_x"/>
                                          </p:val>
                                        </p:tav>
                                        <p:tav tm="100000">
                                          <p:val>
                                            <p:strVal val="#ppt_x"/>
                                          </p:val>
                                        </p:tav>
                                      </p:tavLst>
                                    </p:anim>
                                    <p:anim calcmode="lin" valueType="num">
                                      <p:cBhvr additive="base">
                                        <p:cTn id="274" dur="500" fill="hold"/>
                                        <p:tgtEl>
                                          <p:spTgt spid="64"/>
                                        </p:tgtEl>
                                        <p:attrNameLst>
                                          <p:attrName>ppt_y</p:attrName>
                                        </p:attrNameLst>
                                      </p:cBhvr>
                                      <p:tavLst>
                                        <p:tav tm="0">
                                          <p:val>
                                            <p:strVal val="#ppt_y+0.1"/>
                                          </p:val>
                                        </p:tav>
                                        <p:tav tm="100000">
                                          <p:val>
                                            <p:strVal val="#ppt_y"/>
                                          </p:val>
                                        </p:tav>
                                      </p:tavLst>
                                    </p:anim>
                                    <p:animEffect transition="in" filter="fade">
                                      <p:cBhvr>
                                        <p:cTn id="275" dur="500"/>
                                        <p:tgtEl>
                                          <p:spTgt spid="64"/>
                                        </p:tgtEl>
                                      </p:cBhvr>
                                    </p:animEffect>
                                  </p:childTnLst>
                                </p:cTn>
                              </p:par>
                              <p:par>
                                <p:cTn id="281" presetID="2" presetClass="entr" presetSubtype="4" fill="hold" grpId="0" nodeType="withEffect">
                                  <p:stCondLst>
                                    <p:cond delay="700"/>
                                  </p:stCondLst>
                                  <p:childTnLst>
                                    <p:set>
                                      <p:cBhvr>
                                        <p:cTn id="277" dur="1" fill="hold">
                                          <p:stCondLst>
                                            <p:cond delay="0"/>
                                          </p:stCondLst>
                                        </p:cTn>
                                        <p:tgtEl>
                                          <p:spTgt spid="65"/>
                                        </p:tgtEl>
                                        <p:attrNameLst>
                                          <p:attrName>style.visibility</p:attrName>
                                        </p:attrNameLst>
                                      </p:cBhvr>
                                      <p:to>
                                        <p:strVal val="visible"/>
                                      </p:to>
                                    </p:set>
                                    <p:anim calcmode="lin" valueType="num">
                                      <p:cBhvr additive="base">
                                        <p:cTn id="278" dur="500" fill="hold"/>
                                        <p:tgtEl>
                                          <p:spTgt spid="65"/>
                                        </p:tgtEl>
                                        <p:attrNameLst>
                                          <p:attrName>ppt_x</p:attrName>
                                        </p:attrNameLst>
                                      </p:cBhvr>
                                      <p:tavLst>
                                        <p:tav tm="0">
                                          <p:val>
                                            <p:strVal val="#ppt_x"/>
                                          </p:val>
                                        </p:tav>
                                        <p:tav tm="100000">
                                          <p:val>
                                            <p:strVal val="#ppt_x"/>
                                          </p:val>
                                        </p:tav>
                                      </p:tavLst>
                                    </p:anim>
                                    <p:anim calcmode="lin" valueType="num">
                                      <p:cBhvr additive="base">
                                        <p:cTn id="279" dur="500" fill="hold"/>
                                        <p:tgtEl>
                                          <p:spTgt spid="65"/>
                                        </p:tgtEl>
                                        <p:attrNameLst>
                                          <p:attrName>ppt_y</p:attrName>
                                        </p:attrNameLst>
                                      </p:cBhvr>
                                      <p:tavLst>
                                        <p:tav tm="0">
                                          <p:val>
                                            <p:strVal val="#ppt_y+0.1"/>
                                          </p:val>
                                        </p:tav>
                                        <p:tav tm="100000">
                                          <p:val>
                                            <p:strVal val="#ppt_y"/>
                                          </p:val>
                                        </p:tav>
                                      </p:tavLst>
                                    </p:anim>
                                    <p:animEffect transition="in" filter="fade">
                                      <p:cBhvr>
                                        <p:cTn id="280" dur="500"/>
                                        <p:tgtEl>
                                          <p:spTgt spid="65"/>
                                        </p:tgtEl>
                                      </p:cBhvr>
                                    </p:animEffect>
                                  </p:childTnLst>
                                </p:cTn>
                              </p:par>
                              <p:par>
                                <p:cTn id="286" presetID="2" presetClass="entr" presetSubtype="4" fill="hold" grpId="0" nodeType="withEffect">
                                  <p:stCondLst>
                                    <p:cond delay="800"/>
                                  </p:stCondLst>
                                  <p:childTnLst>
                                    <p:set>
                                      <p:cBhvr>
                                        <p:cTn id="282" dur="1" fill="hold">
                                          <p:stCondLst>
                                            <p:cond delay="0"/>
                                          </p:stCondLst>
                                        </p:cTn>
                                        <p:tgtEl>
                                          <p:spTgt spid="66"/>
                                        </p:tgtEl>
                                        <p:attrNameLst>
                                          <p:attrName>style.visibility</p:attrName>
                                        </p:attrNameLst>
                                      </p:cBhvr>
                                      <p:to>
                                        <p:strVal val="visible"/>
                                      </p:to>
                                    </p:set>
                                    <p:anim calcmode="lin" valueType="num">
                                      <p:cBhvr additive="base">
                                        <p:cTn id="283" dur="500" fill="hold"/>
                                        <p:tgtEl>
                                          <p:spTgt spid="66"/>
                                        </p:tgtEl>
                                        <p:attrNameLst>
                                          <p:attrName>ppt_x</p:attrName>
                                        </p:attrNameLst>
                                      </p:cBhvr>
                                      <p:tavLst>
                                        <p:tav tm="0">
                                          <p:val>
                                            <p:strVal val="#ppt_x"/>
                                          </p:val>
                                        </p:tav>
                                        <p:tav tm="100000">
                                          <p:val>
                                            <p:strVal val="#ppt_x"/>
                                          </p:val>
                                        </p:tav>
                                      </p:tavLst>
                                    </p:anim>
                                    <p:anim calcmode="lin" valueType="num">
                                      <p:cBhvr additive="base">
                                        <p:cTn id="284" dur="500" fill="hold"/>
                                        <p:tgtEl>
                                          <p:spTgt spid="66"/>
                                        </p:tgtEl>
                                        <p:attrNameLst>
                                          <p:attrName>ppt_y</p:attrName>
                                        </p:attrNameLst>
                                      </p:cBhvr>
                                      <p:tavLst>
                                        <p:tav tm="0">
                                          <p:val>
                                            <p:strVal val="#ppt_y+0.1"/>
                                          </p:val>
                                        </p:tav>
                                        <p:tav tm="100000">
                                          <p:val>
                                            <p:strVal val="#ppt_y"/>
                                          </p:val>
                                        </p:tav>
                                      </p:tavLst>
                                    </p:anim>
                                    <p:animEffect transition="in" filter="fade">
                                      <p:cBhvr>
                                        <p:cTn id="285"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Publish/Subscribe Messaging</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 publisher does not send to a receiver - it classifies the message; subscribers pick classes</a:t>
            </a:r>
          </a:p>
        </p:txBody>
      </p:sp>
      <p:sp>
        <p:nvSpPr>
          <p:cNvPr id="11" name="a1f_lb10"/>
          <p:cNvSpPr txBox="1"/>
          <p:nvPr/>
        </p:nvSpPr>
        <p:spPr>
          <a:xfrm>
            <a:off x="457200" y="1170432"/>
            <a:ext cx="1920240" cy="201168"/>
          </a:xfrm>
          <a:prstGeom prst="rect">
            <a:avLst/>
          </a:prstGeom>
          <a:noFill/>
        </p:spPr>
        <p:txBody>
          <a:bodyPr wrap="square" lIns="0" tIns="0" rIns="0" bIns="0" anchor="ctr">
            <a:spAutoFit/>
          </a:bodyPr>
          <a:lstStyle/>
          <a:p>
            <a:pPr algn="ctr"/>
            <a:r>
              <a:rPr sz="800" b="1">
                <a:solidFill>
                  <a:srgbClr val="78716C"/>
                </a:solidFill>
                <a:latin typeface="Segoe UI"/>
              </a:rPr>
              <a:t>PUBLISHERS</a:t>
            </a:r>
          </a:p>
        </p:txBody>
      </p:sp>
      <p:sp>
        <p:nvSpPr>
          <p:cNvPr id="12" name="a1f_lb11"/>
          <p:cNvSpPr txBox="1"/>
          <p:nvPr/>
        </p:nvSpPr>
        <p:spPr>
          <a:xfrm>
            <a:off x="3246120" y="1170432"/>
            <a:ext cx="1920240" cy="201168"/>
          </a:xfrm>
          <a:prstGeom prst="rect">
            <a:avLst/>
          </a:prstGeom>
          <a:noFill/>
        </p:spPr>
        <p:txBody>
          <a:bodyPr wrap="square" lIns="0" tIns="0" rIns="0" bIns="0" anchor="ctr">
            <a:spAutoFit/>
          </a:bodyPr>
          <a:lstStyle/>
          <a:p>
            <a:pPr algn="ctr"/>
            <a:r>
              <a:rPr sz="800" b="1">
                <a:solidFill>
                  <a:srgbClr val="78716C"/>
                </a:solidFill>
                <a:latin typeface="Segoe UI"/>
              </a:rPr>
              <a:t>BROKER</a:t>
            </a:r>
          </a:p>
        </p:txBody>
      </p:sp>
      <p:sp>
        <p:nvSpPr>
          <p:cNvPr id="13" name="a1f_lb12"/>
          <p:cNvSpPr txBox="1"/>
          <p:nvPr/>
        </p:nvSpPr>
        <p:spPr>
          <a:xfrm>
            <a:off x="6766560" y="1170432"/>
            <a:ext cx="1920240" cy="201168"/>
          </a:xfrm>
          <a:prstGeom prst="rect">
            <a:avLst/>
          </a:prstGeom>
          <a:noFill/>
        </p:spPr>
        <p:txBody>
          <a:bodyPr wrap="square" lIns="0" tIns="0" rIns="0" bIns="0" anchor="ctr">
            <a:spAutoFit/>
          </a:bodyPr>
          <a:lstStyle/>
          <a:p>
            <a:pPr algn="ctr"/>
            <a:r>
              <a:rPr sz="800" b="1">
                <a:solidFill>
                  <a:srgbClr val="78716C"/>
                </a:solidFill>
                <a:latin typeface="Segoe UI"/>
              </a:rPr>
              <a:t>SUBSCRIBERS</a:t>
            </a:r>
          </a:p>
        </p:txBody>
      </p:sp>
      <p:sp>
        <p:nvSpPr>
          <p:cNvPr id="14" name="a1u_nd13"/>
          <p:cNvSpPr/>
          <p:nvPr/>
        </p:nvSpPr>
        <p:spPr>
          <a:xfrm>
            <a:off x="457200" y="1463040"/>
            <a:ext cx="1737360" cy="502920"/>
          </a:xfrm>
          <a:prstGeom prst="roundRect">
            <a:avLst>
              <a:gd name="adj" fmla="val 14545"/>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_ndt14"/>
          <p:cNvSpPr txBox="1"/>
          <p:nvPr/>
        </p:nvSpPr>
        <p:spPr>
          <a:xfrm>
            <a:off x="502920" y="1463040"/>
            <a:ext cx="1645919" cy="502920"/>
          </a:xfrm>
          <a:prstGeom prst="rect">
            <a:avLst/>
          </a:prstGeom>
          <a:noFill/>
        </p:spPr>
        <p:txBody>
          <a:bodyPr wrap="square" lIns="0" tIns="0" rIns="0" bIns="0" anchor="ctr">
            <a:spAutoFit/>
          </a:bodyPr>
          <a:lstStyle/>
          <a:p>
            <a:pPr algn="ctr"/>
            <a:r>
              <a:rPr sz="900" b="1">
                <a:solidFill>
                  <a:srgbClr val="1C1917"/>
                </a:solidFill>
                <a:latin typeface="Segoe UI"/>
              </a:rPr>
              <a:t>Web server</a:t>
            </a:r>
          </a:p>
        </p:txBody>
      </p:sp>
      <p:cxnSp>
        <p:nvCxnSpPr>
          <p:cNvPr id="16" name="a2f_ar15"/>
          <p:cNvCxnSpPr/>
          <p:nvPr/>
        </p:nvCxnSpPr>
        <p:spPr>
          <a:xfrm>
            <a:off x="2221992" y="1709928"/>
            <a:ext cx="996696"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a1ud100_nd16"/>
          <p:cNvSpPr/>
          <p:nvPr/>
        </p:nvSpPr>
        <p:spPr>
          <a:xfrm>
            <a:off x="457200" y="2148840"/>
            <a:ext cx="1737360" cy="502920"/>
          </a:xfrm>
          <a:prstGeom prst="roundRect">
            <a:avLst>
              <a:gd name="adj" fmla="val 14545"/>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d100_ndt17"/>
          <p:cNvSpPr txBox="1"/>
          <p:nvPr/>
        </p:nvSpPr>
        <p:spPr>
          <a:xfrm>
            <a:off x="502920" y="2148840"/>
            <a:ext cx="1645919" cy="502920"/>
          </a:xfrm>
          <a:prstGeom prst="rect">
            <a:avLst/>
          </a:prstGeom>
          <a:noFill/>
        </p:spPr>
        <p:txBody>
          <a:bodyPr wrap="square" lIns="0" tIns="0" rIns="0" bIns="0" anchor="ctr">
            <a:spAutoFit/>
          </a:bodyPr>
          <a:lstStyle/>
          <a:p>
            <a:pPr algn="ctr"/>
            <a:r>
              <a:rPr sz="900" b="1">
                <a:solidFill>
                  <a:srgbClr val="1C1917"/>
                </a:solidFill>
                <a:latin typeface="Segoe UI"/>
              </a:rPr>
              <a:t>Payment server</a:t>
            </a:r>
          </a:p>
        </p:txBody>
      </p:sp>
      <p:cxnSp>
        <p:nvCxnSpPr>
          <p:cNvPr id="19" name="a2fd100_ar18"/>
          <p:cNvCxnSpPr/>
          <p:nvPr/>
        </p:nvCxnSpPr>
        <p:spPr>
          <a:xfrm>
            <a:off x="2221992" y="2395728"/>
            <a:ext cx="996696"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a1ud200_nd19"/>
          <p:cNvSpPr/>
          <p:nvPr/>
        </p:nvSpPr>
        <p:spPr>
          <a:xfrm>
            <a:off x="457200" y="2834640"/>
            <a:ext cx="1737360" cy="502920"/>
          </a:xfrm>
          <a:prstGeom prst="roundRect">
            <a:avLst>
              <a:gd name="adj" fmla="val 14545"/>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200_ndt20"/>
          <p:cNvSpPr txBox="1"/>
          <p:nvPr/>
        </p:nvSpPr>
        <p:spPr>
          <a:xfrm>
            <a:off x="502920" y="2834640"/>
            <a:ext cx="1645919" cy="502920"/>
          </a:xfrm>
          <a:prstGeom prst="rect">
            <a:avLst/>
          </a:prstGeom>
          <a:noFill/>
        </p:spPr>
        <p:txBody>
          <a:bodyPr wrap="square" lIns="0" tIns="0" rIns="0" bIns="0" anchor="ctr">
            <a:spAutoFit/>
          </a:bodyPr>
          <a:lstStyle/>
          <a:p>
            <a:pPr algn="ctr"/>
            <a:r>
              <a:rPr sz="900" b="1">
                <a:solidFill>
                  <a:srgbClr val="1C1917"/>
                </a:solidFill>
                <a:latin typeface="Segoe UI"/>
              </a:rPr>
              <a:t>Mail server</a:t>
            </a:r>
          </a:p>
        </p:txBody>
      </p:sp>
      <p:cxnSp>
        <p:nvCxnSpPr>
          <p:cNvPr id="22" name="a2fd200_ar21"/>
          <p:cNvCxnSpPr/>
          <p:nvPr/>
        </p:nvCxnSpPr>
        <p:spPr>
          <a:xfrm>
            <a:off x="2221992" y="3081528"/>
            <a:ext cx="996696"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a1ud300_card22"/>
          <p:cNvSpPr/>
          <p:nvPr/>
        </p:nvSpPr>
        <p:spPr>
          <a:xfrm>
            <a:off x="3246120" y="1389888"/>
            <a:ext cx="2377440" cy="1993392"/>
          </a:xfrm>
          <a:prstGeom prst="roundRect">
            <a:avLst>
              <a:gd name="adj" fmla="val 5504"/>
            </a:avLst>
          </a:prstGeom>
          <a:solidFill>
            <a:srgbClr val="F7F6F3"/>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ud300_bk23"/>
          <p:cNvSpPr txBox="1"/>
          <p:nvPr/>
        </p:nvSpPr>
        <p:spPr>
          <a:xfrm>
            <a:off x="3246120" y="1435608"/>
            <a:ext cx="2377440" cy="237744"/>
          </a:xfrm>
          <a:prstGeom prst="rect">
            <a:avLst/>
          </a:prstGeom>
          <a:noFill/>
        </p:spPr>
        <p:txBody>
          <a:bodyPr wrap="square" lIns="0" tIns="0" rIns="0" bIns="0" anchor="ctr">
            <a:spAutoFit/>
          </a:bodyPr>
          <a:lstStyle/>
          <a:p>
            <a:pPr algn="ctr"/>
            <a:r>
              <a:rPr sz="1000" b="1">
                <a:solidFill>
                  <a:srgbClr val="1C1917"/>
                </a:solidFill>
                <a:latin typeface="Segoe UI"/>
              </a:rPr>
              <a:t>Broker</a:t>
            </a:r>
          </a:p>
        </p:txBody>
      </p:sp>
      <p:sp>
        <p:nvSpPr>
          <p:cNvPr id="25" name="a2u_pill24"/>
          <p:cNvSpPr/>
          <p:nvPr/>
        </p:nvSpPr>
        <p:spPr>
          <a:xfrm>
            <a:off x="3520440" y="1783080"/>
            <a:ext cx="1828800" cy="329184"/>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class: metrics</a:t>
            </a:r>
          </a:p>
        </p:txBody>
      </p:sp>
      <p:sp>
        <p:nvSpPr>
          <p:cNvPr id="26" name="a3u_nd25"/>
          <p:cNvSpPr/>
          <p:nvPr/>
        </p:nvSpPr>
        <p:spPr>
          <a:xfrm>
            <a:off x="6766560" y="1463040"/>
            <a:ext cx="1920240" cy="502920"/>
          </a:xfrm>
          <a:prstGeom prst="roundRect">
            <a:avLst>
              <a:gd name="adj" fmla="val 14545"/>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3u_ndt26"/>
          <p:cNvSpPr txBox="1"/>
          <p:nvPr/>
        </p:nvSpPr>
        <p:spPr>
          <a:xfrm>
            <a:off x="6812280" y="1463040"/>
            <a:ext cx="1828800" cy="502920"/>
          </a:xfrm>
          <a:prstGeom prst="rect">
            <a:avLst/>
          </a:prstGeom>
          <a:noFill/>
        </p:spPr>
        <p:txBody>
          <a:bodyPr wrap="square" lIns="0" tIns="0" rIns="0" bIns="0" anchor="ctr">
            <a:spAutoFit/>
          </a:bodyPr>
          <a:lstStyle/>
          <a:p>
            <a:pPr algn="ctr"/>
            <a:r>
              <a:rPr sz="900" b="1">
                <a:solidFill>
                  <a:srgbClr val="1C1917"/>
                </a:solidFill>
                <a:latin typeface="Segoe UI"/>
              </a:rPr>
              <a:t>Metrics dashboard</a:t>
            </a:r>
          </a:p>
        </p:txBody>
      </p:sp>
      <p:cxnSp>
        <p:nvCxnSpPr>
          <p:cNvPr id="28" name="a3u_ar27"/>
          <p:cNvCxnSpPr/>
          <p:nvPr/>
        </p:nvCxnSpPr>
        <p:spPr>
          <a:xfrm flipV="1">
            <a:off x="5376672" y="1709928"/>
            <a:ext cx="1362456" cy="237744"/>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a2ud150_pill28"/>
          <p:cNvSpPr/>
          <p:nvPr/>
        </p:nvSpPr>
        <p:spPr>
          <a:xfrm>
            <a:off x="3520440" y="2286000"/>
            <a:ext cx="1828800" cy="329184"/>
          </a:xfrm>
          <a:prstGeom prst="roundRect">
            <a:avLst>
              <a:gd name="adj" fmla="val 50000"/>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A16207"/>
                </a:solidFill>
                <a:latin typeface="Consolas"/>
              </a:rPr>
              <a:t>class: logs</a:t>
            </a:r>
          </a:p>
        </p:txBody>
      </p:sp>
      <p:sp>
        <p:nvSpPr>
          <p:cNvPr id="30" name="a3ud150_nd29"/>
          <p:cNvSpPr/>
          <p:nvPr/>
        </p:nvSpPr>
        <p:spPr>
          <a:xfrm>
            <a:off x="6766560" y="2148840"/>
            <a:ext cx="1920240" cy="502920"/>
          </a:xfrm>
          <a:prstGeom prst="roundRect">
            <a:avLst>
              <a:gd name="adj" fmla="val 14545"/>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ud150_ndt30"/>
          <p:cNvSpPr txBox="1"/>
          <p:nvPr/>
        </p:nvSpPr>
        <p:spPr>
          <a:xfrm>
            <a:off x="6812280" y="2148840"/>
            <a:ext cx="1828800" cy="502920"/>
          </a:xfrm>
          <a:prstGeom prst="rect">
            <a:avLst/>
          </a:prstGeom>
          <a:noFill/>
        </p:spPr>
        <p:txBody>
          <a:bodyPr wrap="square" lIns="0" tIns="0" rIns="0" bIns="0" anchor="ctr">
            <a:spAutoFit/>
          </a:bodyPr>
          <a:lstStyle/>
          <a:p>
            <a:pPr algn="ctr"/>
            <a:r>
              <a:rPr sz="900" b="1">
                <a:solidFill>
                  <a:srgbClr val="1C1917"/>
                </a:solidFill>
                <a:latin typeface="Segoe UI"/>
              </a:rPr>
              <a:t>Log search</a:t>
            </a:r>
          </a:p>
        </p:txBody>
      </p:sp>
      <p:cxnSp>
        <p:nvCxnSpPr>
          <p:cNvPr id="32" name="a3ud150_ar31"/>
          <p:cNvCxnSpPr/>
          <p:nvPr/>
        </p:nvCxnSpPr>
        <p:spPr>
          <a:xfrm flipV="1">
            <a:off x="5376672" y="2395728"/>
            <a:ext cx="1362456" cy="54864"/>
          </a:xfrm>
          <a:prstGeom prst="line">
            <a:avLst/>
          </a:prstGeom>
          <a:ln w="1905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a2ud300_pill32"/>
          <p:cNvSpPr/>
          <p:nvPr/>
        </p:nvSpPr>
        <p:spPr>
          <a:xfrm>
            <a:off x="3520440" y="2788920"/>
            <a:ext cx="1828800" cy="329184"/>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4F46E5"/>
                </a:solidFill>
                <a:latin typeface="Consolas"/>
              </a:rPr>
              <a:t>class: clicks</a:t>
            </a:r>
          </a:p>
        </p:txBody>
      </p:sp>
      <p:sp>
        <p:nvSpPr>
          <p:cNvPr id="34" name="a3ud300_nd33"/>
          <p:cNvSpPr/>
          <p:nvPr/>
        </p:nvSpPr>
        <p:spPr>
          <a:xfrm>
            <a:off x="6766560" y="2834640"/>
            <a:ext cx="1920240" cy="502920"/>
          </a:xfrm>
          <a:prstGeom prst="roundRect">
            <a:avLst>
              <a:gd name="adj" fmla="val 14545"/>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3ud300_ndt34"/>
          <p:cNvSpPr txBox="1"/>
          <p:nvPr/>
        </p:nvSpPr>
        <p:spPr>
          <a:xfrm>
            <a:off x="6812280" y="2834640"/>
            <a:ext cx="1828800" cy="502920"/>
          </a:xfrm>
          <a:prstGeom prst="rect">
            <a:avLst/>
          </a:prstGeom>
          <a:noFill/>
        </p:spPr>
        <p:txBody>
          <a:bodyPr wrap="square" lIns="0" tIns="0" rIns="0" bIns="0" anchor="ctr">
            <a:spAutoFit/>
          </a:bodyPr>
          <a:lstStyle/>
          <a:p>
            <a:pPr algn="ctr"/>
            <a:r>
              <a:rPr sz="900" b="1">
                <a:solidFill>
                  <a:srgbClr val="1C1917"/>
                </a:solidFill>
                <a:latin typeface="Segoe UI"/>
              </a:rPr>
              <a:t>Recommendation engine</a:t>
            </a:r>
          </a:p>
        </p:txBody>
      </p:sp>
      <p:cxnSp>
        <p:nvCxnSpPr>
          <p:cNvPr id="36" name="a3ud300_ar35"/>
          <p:cNvCxnSpPr/>
          <p:nvPr/>
        </p:nvCxnSpPr>
        <p:spPr>
          <a:xfrm>
            <a:off x="5376672" y="2953512"/>
            <a:ext cx="1362456" cy="128016"/>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a4u_nb36"/>
          <p:cNvSpPr/>
          <p:nvPr/>
        </p:nvSpPr>
        <p:spPr>
          <a:xfrm>
            <a:off x="457200" y="3611880"/>
            <a:ext cx="4023360" cy="731520"/>
          </a:xfrm>
          <a:prstGeom prst="roundRect">
            <a:avLst>
              <a:gd name="adj" fmla="val 1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4u_nacc37"/>
          <p:cNvSpPr/>
          <p:nvPr/>
        </p:nvSpPr>
        <p:spPr>
          <a:xfrm>
            <a:off x="457200" y="3611880"/>
            <a:ext cx="54864" cy="7315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4u_nt38"/>
          <p:cNvSpPr txBox="1"/>
          <p:nvPr/>
        </p:nvSpPr>
        <p:spPr>
          <a:xfrm>
            <a:off x="658368" y="3611880"/>
            <a:ext cx="3621024" cy="731520"/>
          </a:xfrm>
          <a:prstGeom prst="rect">
            <a:avLst/>
          </a:prstGeom>
          <a:noFill/>
        </p:spPr>
        <p:txBody>
          <a:bodyPr wrap="square" lIns="0" tIns="0" rIns="0" bIns="0" anchor="ctr">
            <a:spAutoFit/>
          </a:bodyPr>
          <a:lstStyle/>
          <a:p>
            <a:pPr algn="l"/>
            <a:r>
              <a:rPr sz="900" b="1">
                <a:solidFill>
                  <a:srgbClr val="C2410C"/>
                </a:solidFill>
                <a:latin typeface="Segoe UI"/>
              </a:rPr>
              <a:t>PUB  </a:t>
            </a:r>
            <a:r>
              <a:rPr sz="900" b="0">
                <a:solidFill>
                  <a:srgbClr val="44403C"/>
                </a:solidFill>
                <a:latin typeface="Segoe UI"/>
              </a:rPr>
              <a:t>Publisher: 'here is a metrics message' - it never names a receiver.</a:t>
            </a:r>
          </a:p>
        </p:txBody>
      </p:sp>
      <p:sp>
        <p:nvSpPr>
          <p:cNvPr id="40" name="a4ud150_nb39"/>
          <p:cNvSpPr/>
          <p:nvPr/>
        </p:nvSpPr>
        <p:spPr>
          <a:xfrm>
            <a:off x="4663440" y="3611880"/>
            <a:ext cx="4023360" cy="731520"/>
          </a:xfrm>
          <a:prstGeom prst="roundRect">
            <a:avLst>
              <a:gd name="adj" fmla="val 1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4ud150_nacc40"/>
          <p:cNvSpPr/>
          <p:nvPr/>
        </p:nvSpPr>
        <p:spPr>
          <a:xfrm>
            <a:off x="4663440" y="3611880"/>
            <a:ext cx="54864" cy="7315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4ud150_nt41"/>
          <p:cNvSpPr txBox="1"/>
          <p:nvPr/>
        </p:nvSpPr>
        <p:spPr>
          <a:xfrm>
            <a:off x="4864607" y="3611880"/>
            <a:ext cx="3621024" cy="731520"/>
          </a:xfrm>
          <a:prstGeom prst="rect">
            <a:avLst/>
          </a:prstGeom>
          <a:noFill/>
        </p:spPr>
        <p:txBody>
          <a:bodyPr wrap="square" lIns="0" tIns="0" rIns="0" bIns="0" anchor="ctr">
            <a:spAutoFit/>
          </a:bodyPr>
          <a:lstStyle/>
          <a:p>
            <a:pPr algn="l"/>
            <a:r>
              <a:rPr sz="900" b="1">
                <a:solidFill>
                  <a:srgbClr val="0E7490"/>
                </a:solidFill>
                <a:latin typeface="Segoe UI"/>
              </a:rPr>
              <a:t>SUB  </a:t>
            </a:r>
            <a:r>
              <a:rPr sz="900" b="0">
                <a:solidFill>
                  <a:srgbClr val="44403C"/>
                </a:solidFill>
                <a:latin typeface="Segoe UI"/>
              </a:rPr>
              <a:t>Subscriber: 'send me every metrics message' - it never names a sender.</a:t>
            </a:r>
          </a:p>
        </p:txBody>
      </p:sp>
      <p:sp>
        <p:nvSpPr>
          <p:cNvPr id="43" name="ft42"/>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31</a:t>
            </a:r>
          </a:p>
        </p:txBody>
      </p:sp>
      <p:sp>
        <p:nvSpPr>
          <p:cNvPr id="44" name="ft43"/>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ft44"/>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6" name="ft45"/>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8"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ppt_y+0.1"/>
                                          </p:val>
                                        </p:tav>
                                        <p:tav tm="100000">
                                          <p:val>
                                            <p:strVal val="#ppt_y"/>
                                          </p:val>
                                        </p:tav>
                                      </p:tavLst>
                                    </p:anim>
                                    <p:animEffect transition="in" filter="fade">
                                      <p:cBhvr>
                                        <p:cTn id="17" dur="500"/>
                                        <p:tgtEl>
                                          <p:spTgt spid="14"/>
                                        </p:tgtEl>
                                      </p:cBhvr>
                                    </p:animEffect>
                                  </p:childTnLst>
                                </p:cTn>
                              </p:par>
                              <p:par>
                                <p:cTn id="23" presetID="2" presetClass="entr" presetSubtype="4"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ppt_x"/>
                                          </p:val>
                                        </p:tav>
                                        <p:tav tm="100000">
                                          <p:val>
                                            <p:strVal val="#ppt_x"/>
                                          </p:val>
                                        </p:tav>
                                      </p:tavLst>
                                    </p:anim>
                                    <p:anim calcmode="lin" valueType="num">
                                      <p:cBhvr additive="base">
                                        <p:cTn id="21" dur="500" fill="hold"/>
                                        <p:tgtEl>
                                          <p:spTgt spid="15"/>
                                        </p:tgtEl>
                                        <p:attrNameLst>
                                          <p:attrName>ppt_y</p:attrName>
                                        </p:attrNameLst>
                                      </p:cBhvr>
                                      <p:tavLst>
                                        <p:tav tm="0">
                                          <p:val>
                                            <p:strVal val="#ppt_y+0.1"/>
                                          </p:val>
                                        </p:tav>
                                        <p:tav tm="100000">
                                          <p:val>
                                            <p:strVal val="#ppt_y"/>
                                          </p:val>
                                        </p:tav>
                                      </p:tavLst>
                                    </p:anim>
                                    <p:animEffect transition="in" filter="fade">
                                      <p:cBhvr>
                                        <p:cTn id="22" dur="500"/>
                                        <p:tgtEl>
                                          <p:spTgt spid="15"/>
                                        </p:tgtEl>
                                      </p:cBhvr>
                                    </p:animEffect>
                                  </p:childTnLst>
                                </p:cTn>
                              </p:par>
                              <p:par>
                                <p:cTn id="28" presetID="2" presetClass="entr" presetSubtype="4" fill="hold" grpId="0" nodeType="withEffect">
                                  <p:stCondLst>
                                    <p:cond delay="10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ppt_y+0.1"/>
                                          </p:val>
                                        </p:tav>
                                        <p:tav tm="100000">
                                          <p:val>
                                            <p:strVal val="#ppt_y"/>
                                          </p:val>
                                        </p:tav>
                                      </p:tavLst>
                                    </p:anim>
                                    <p:animEffect transition="in" filter="fade">
                                      <p:cBhvr>
                                        <p:cTn id="27" dur="500"/>
                                        <p:tgtEl>
                                          <p:spTgt spid="17"/>
                                        </p:tgtEl>
                                      </p:cBhvr>
                                    </p:animEffect>
                                  </p:childTnLst>
                                </p:cTn>
                              </p:par>
                              <p:par>
                                <p:cTn id="33" presetID="2" presetClass="entr" presetSubtype="4" fill="hold" grpId="0" nodeType="withEffect">
                                  <p:stCondLst>
                                    <p:cond delay="100"/>
                                  </p:stCondLst>
                                  <p:childTnLst>
                                    <p:set>
                                      <p:cBhvr>
                                        <p:cTn id="29" dur="1" fill="hold">
                                          <p:stCondLst>
                                            <p:cond delay="0"/>
                                          </p:stCondLst>
                                        </p:cTn>
                                        <p:tgtEl>
                                          <p:spTgt spid="18"/>
                                        </p:tgtEl>
                                        <p:attrNameLst>
                                          <p:attrName>style.visibility</p:attrName>
                                        </p:attrNameLst>
                                      </p:cBhvr>
                                      <p:to>
                                        <p:strVal val="visible"/>
                                      </p:to>
                                    </p:set>
                                    <p:anim calcmode="lin" valueType="num">
                                      <p:cBhvr additive="base">
                                        <p:cTn id="30" dur="500" fill="hold"/>
                                        <p:tgtEl>
                                          <p:spTgt spid="18"/>
                                        </p:tgtEl>
                                        <p:attrNameLst>
                                          <p:attrName>ppt_x</p:attrName>
                                        </p:attrNameLst>
                                      </p:cBhvr>
                                      <p:tavLst>
                                        <p:tav tm="0">
                                          <p:val>
                                            <p:strVal val="#ppt_x"/>
                                          </p:val>
                                        </p:tav>
                                        <p:tav tm="100000">
                                          <p:val>
                                            <p:strVal val="#ppt_x"/>
                                          </p:val>
                                        </p:tav>
                                      </p:tavLst>
                                    </p:anim>
                                    <p:anim calcmode="lin" valueType="num">
                                      <p:cBhvr additive="base">
                                        <p:cTn id="31" dur="500" fill="hold"/>
                                        <p:tgtEl>
                                          <p:spTgt spid="18"/>
                                        </p:tgtEl>
                                        <p:attrNameLst>
                                          <p:attrName>ppt_y</p:attrName>
                                        </p:attrNameLst>
                                      </p:cBhvr>
                                      <p:tavLst>
                                        <p:tav tm="0">
                                          <p:val>
                                            <p:strVal val="#ppt_y+0.1"/>
                                          </p:val>
                                        </p:tav>
                                        <p:tav tm="100000">
                                          <p:val>
                                            <p:strVal val="#ppt_y"/>
                                          </p:val>
                                        </p:tav>
                                      </p:tavLst>
                                    </p:anim>
                                    <p:animEffect transition="in" filter="fade">
                                      <p:cBhvr>
                                        <p:cTn id="32" dur="500"/>
                                        <p:tgtEl>
                                          <p:spTgt spid="18"/>
                                        </p:tgtEl>
                                      </p:cBhvr>
                                    </p:animEffect>
                                  </p:childTnLst>
                                </p:cTn>
                              </p:par>
                              <p:par>
                                <p:cTn id="38" presetID="2" presetClass="entr" presetSubtype="4" fill="hold" grpId="0" nodeType="withEffect">
                                  <p:stCondLst>
                                    <p:cond delay="20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ppt_y+0.1"/>
                                          </p:val>
                                        </p:tav>
                                        <p:tav tm="100000">
                                          <p:val>
                                            <p:strVal val="#ppt_y"/>
                                          </p:val>
                                        </p:tav>
                                      </p:tavLst>
                                    </p:anim>
                                    <p:animEffect transition="in" filter="fade">
                                      <p:cBhvr>
                                        <p:cTn id="37" dur="500"/>
                                        <p:tgtEl>
                                          <p:spTgt spid="20"/>
                                        </p:tgtEl>
                                      </p:cBhvr>
                                    </p:animEffect>
                                  </p:childTnLst>
                                </p:cTn>
                              </p:par>
                              <p:par>
                                <p:cTn id="43" presetID="2" presetClass="entr" presetSubtype="4" fill="hold" grpId="0" nodeType="withEffect">
                                  <p:stCondLst>
                                    <p:cond delay="200"/>
                                  </p:stCondLst>
                                  <p:childTnLst>
                                    <p:set>
                                      <p:cBhvr>
                                        <p:cTn id="39" dur="1" fill="hold">
                                          <p:stCondLst>
                                            <p:cond delay="0"/>
                                          </p:stCondLst>
                                        </p:cTn>
                                        <p:tgtEl>
                                          <p:spTgt spid="21"/>
                                        </p:tgtEl>
                                        <p:attrNameLst>
                                          <p:attrName>style.visibility</p:attrName>
                                        </p:attrNameLst>
                                      </p:cBhvr>
                                      <p:to>
                                        <p:strVal val="visible"/>
                                      </p:to>
                                    </p:set>
                                    <p:anim calcmode="lin" valueType="num">
                                      <p:cBhvr additive="base">
                                        <p:cTn id="40" dur="500" fill="hold"/>
                                        <p:tgtEl>
                                          <p:spTgt spid="21"/>
                                        </p:tgtEl>
                                        <p:attrNameLst>
                                          <p:attrName>ppt_x</p:attrName>
                                        </p:attrNameLst>
                                      </p:cBhvr>
                                      <p:tavLst>
                                        <p:tav tm="0">
                                          <p:val>
                                            <p:strVal val="#ppt_x"/>
                                          </p:val>
                                        </p:tav>
                                        <p:tav tm="100000">
                                          <p:val>
                                            <p:strVal val="#ppt_x"/>
                                          </p:val>
                                        </p:tav>
                                      </p:tavLst>
                                    </p:anim>
                                    <p:anim calcmode="lin" valueType="num">
                                      <p:cBhvr additive="base">
                                        <p:cTn id="41" dur="500" fill="hold"/>
                                        <p:tgtEl>
                                          <p:spTgt spid="21"/>
                                        </p:tgtEl>
                                        <p:attrNameLst>
                                          <p:attrName>ppt_y</p:attrName>
                                        </p:attrNameLst>
                                      </p:cBhvr>
                                      <p:tavLst>
                                        <p:tav tm="0">
                                          <p:val>
                                            <p:strVal val="#ppt_y+0.1"/>
                                          </p:val>
                                        </p:tav>
                                        <p:tav tm="100000">
                                          <p:val>
                                            <p:strVal val="#ppt_y"/>
                                          </p:val>
                                        </p:tav>
                                      </p:tavLst>
                                    </p:anim>
                                    <p:animEffect transition="in" filter="fade">
                                      <p:cBhvr>
                                        <p:cTn id="42" dur="500"/>
                                        <p:tgtEl>
                                          <p:spTgt spid="21"/>
                                        </p:tgtEl>
                                      </p:cBhvr>
                                    </p:animEffect>
                                  </p:childTnLst>
                                </p:cTn>
                              </p:par>
                              <p:par>
                                <p:cTn id="48" presetID="2" presetClass="entr" presetSubtype="4" fill="hold" grpId="0" nodeType="withEffect">
                                  <p:stCondLst>
                                    <p:cond delay="300"/>
                                  </p:stCondLst>
                                  <p:childTnLst>
                                    <p:set>
                                      <p:cBhvr>
                                        <p:cTn id="44" dur="1" fill="hold">
                                          <p:stCondLst>
                                            <p:cond delay="0"/>
                                          </p:stCondLst>
                                        </p:cTn>
                                        <p:tgtEl>
                                          <p:spTgt spid="23"/>
                                        </p:tgtEl>
                                        <p:attrNameLst>
                                          <p:attrName>style.visibility</p:attrName>
                                        </p:attrNameLst>
                                      </p:cBhvr>
                                      <p:to>
                                        <p:strVal val="visible"/>
                                      </p:to>
                                    </p:set>
                                    <p:anim calcmode="lin" valueType="num">
                                      <p:cBhvr additive="base">
                                        <p:cTn id="45" dur="500" fill="hold"/>
                                        <p:tgtEl>
                                          <p:spTgt spid="23"/>
                                        </p:tgtEl>
                                        <p:attrNameLst>
                                          <p:attrName>ppt_x</p:attrName>
                                        </p:attrNameLst>
                                      </p:cBhvr>
                                      <p:tavLst>
                                        <p:tav tm="0">
                                          <p:val>
                                            <p:strVal val="#ppt_x"/>
                                          </p:val>
                                        </p:tav>
                                        <p:tav tm="100000">
                                          <p:val>
                                            <p:strVal val="#ppt_x"/>
                                          </p:val>
                                        </p:tav>
                                      </p:tavLst>
                                    </p:anim>
                                    <p:anim calcmode="lin" valueType="num">
                                      <p:cBhvr additive="base">
                                        <p:cTn id="46" dur="500" fill="hold"/>
                                        <p:tgtEl>
                                          <p:spTgt spid="23"/>
                                        </p:tgtEl>
                                        <p:attrNameLst>
                                          <p:attrName>ppt_y</p:attrName>
                                        </p:attrNameLst>
                                      </p:cBhvr>
                                      <p:tavLst>
                                        <p:tav tm="0">
                                          <p:val>
                                            <p:strVal val="#ppt_y+0.1"/>
                                          </p:val>
                                        </p:tav>
                                        <p:tav tm="100000">
                                          <p:val>
                                            <p:strVal val="#ppt_y"/>
                                          </p:val>
                                        </p:tav>
                                      </p:tavLst>
                                    </p:anim>
                                    <p:animEffect transition="in" filter="fade">
                                      <p:cBhvr>
                                        <p:cTn id="47" dur="500"/>
                                        <p:tgtEl>
                                          <p:spTgt spid="23"/>
                                        </p:tgtEl>
                                      </p:cBhvr>
                                    </p:animEffect>
                                  </p:childTnLst>
                                </p:cTn>
                              </p:par>
                              <p:par>
                                <p:cTn id="53" presetID="2" presetClass="entr" presetSubtype="4" fill="hold" grpId="0" nodeType="withEffect">
                                  <p:stCondLst>
                                    <p:cond delay="300"/>
                                  </p:stCondLst>
                                  <p:childTnLst>
                                    <p:set>
                                      <p:cBhvr>
                                        <p:cTn id="49" dur="1" fill="hold">
                                          <p:stCondLst>
                                            <p:cond delay="0"/>
                                          </p:stCondLst>
                                        </p:cTn>
                                        <p:tgtEl>
                                          <p:spTgt spid="24"/>
                                        </p:tgtEl>
                                        <p:attrNameLst>
                                          <p:attrName>style.visibility</p:attrName>
                                        </p:attrNameLst>
                                      </p:cBhvr>
                                      <p:to>
                                        <p:strVal val="visible"/>
                                      </p:to>
                                    </p:set>
                                    <p:anim calcmode="lin" valueType="num">
                                      <p:cBhvr additive="base">
                                        <p:cTn id="50" dur="500" fill="hold"/>
                                        <p:tgtEl>
                                          <p:spTgt spid="24"/>
                                        </p:tgtEl>
                                        <p:attrNameLst>
                                          <p:attrName>ppt_x</p:attrName>
                                        </p:attrNameLst>
                                      </p:cBhvr>
                                      <p:tavLst>
                                        <p:tav tm="0">
                                          <p:val>
                                            <p:strVal val="#ppt_x"/>
                                          </p:val>
                                        </p:tav>
                                        <p:tav tm="100000">
                                          <p:val>
                                            <p:strVal val="#ppt_x"/>
                                          </p:val>
                                        </p:tav>
                                      </p:tavLst>
                                    </p:anim>
                                    <p:anim calcmode="lin" valueType="num">
                                      <p:cBhvr additive="base">
                                        <p:cTn id="51" dur="500" fill="hold"/>
                                        <p:tgtEl>
                                          <p:spTgt spid="24"/>
                                        </p:tgtEl>
                                        <p:attrNameLst>
                                          <p:attrName>ppt_y</p:attrName>
                                        </p:attrNameLst>
                                      </p:cBhvr>
                                      <p:tavLst>
                                        <p:tav tm="0">
                                          <p:val>
                                            <p:strVal val="#ppt_y+0.1"/>
                                          </p:val>
                                        </p:tav>
                                        <p:tav tm="100000">
                                          <p:val>
                                            <p:strVal val="#ppt_y"/>
                                          </p:val>
                                        </p:tav>
                                      </p:tavLst>
                                    </p:anim>
                                    <p:animEffect transition="in" filter="fade">
                                      <p:cBhvr>
                                        <p:cTn id="52" dur="500"/>
                                        <p:tgtEl>
                                          <p:spTgt spid="24"/>
                                        </p:tgtEl>
                                      </p:cBhvr>
                                    </p:animEffect>
                                  </p:childTnLst>
                                </p:cTn>
                              </p:par>
                            </p:childTnLst>
                          </p:cTn>
                        </p:par>
                      </p:childTnLst>
                    </p:cTn>
                  </p:par>
                  <p:par>
                    <p:cTn id="54" fill="hold">
                      <p:stCondLst>
                        <p:cond delay="indefinite"/>
                      </p:stCondLst>
                      <p:childTnLst>
                        <p:par>
                          <p:cTn id="55" fill="hold">
                            <p:stCondLst>
                              <p:cond delay="0"/>
                            </p:stCondLst>
                            <p:childTnLst>
                              <p:par>
                                <p:cTn id="58" presetID="10"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63" presetID="2" presetClass="entr" presetSubtype="4"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anim calcmode="lin" valueType="num">
                                      <p:cBhvr additive="base">
                                        <p:cTn id="60" dur="500" fill="hold"/>
                                        <p:tgtEl>
                                          <p:spTgt spid="25"/>
                                        </p:tgtEl>
                                        <p:attrNameLst>
                                          <p:attrName>ppt_x</p:attrName>
                                        </p:attrNameLst>
                                      </p:cBhvr>
                                      <p:tavLst>
                                        <p:tav tm="0">
                                          <p:val>
                                            <p:strVal val="#ppt_x"/>
                                          </p:val>
                                        </p:tav>
                                        <p:tav tm="100000">
                                          <p:val>
                                            <p:strVal val="#ppt_x"/>
                                          </p:val>
                                        </p:tav>
                                      </p:tavLst>
                                    </p:anim>
                                    <p:anim calcmode="lin" valueType="num">
                                      <p:cBhvr additive="base">
                                        <p:cTn id="61" dur="500" fill="hold"/>
                                        <p:tgtEl>
                                          <p:spTgt spid="25"/>
                                        </p:tgtEl>
                                        <p:attrNameLst>
                                          <p:attrName>ppt_y</p:attrName>
                                        </p:attrNameLst>
                                      </p:cBhvr>
                                      <p:tavLst>
                                        <p:tav tm="0">
                                          <p:val>
                                            <p:strVal val="#ppt_y+0.1"/>
                                          </p:val>
                                        </p:tav>
                                        <p:tav tm="100000">
                                          <p:val>
                                            <p:strVal val="#ppt_y"/>
                                          </p:val>
                                        </p:tav>
                                      </p:tavLst>
                                    </p:anim>
                                    <p:animEffect transition="in" filter="fade">
                                      <p:cBhvr>
                                        <p:cTn id="62" dur="500"/>
                                        <p:tgtEl>
                                          <p:spTgt spid="25"/>
                                        </p:tgtEl>
                                      </p:cBhvr>
                                    </p:animEffect>
                                  </p:childTnLst>
                                </p:cTn>
                              </p:par>
                              <p:par>
                                <p:cTn id="66" presetID="10" presetClass="entr" presetSubtype="0" fill="hold" grpId="0" nodeType="withEffect">
                                  <p:stCondLst>
                                    <p:cond delay="100"/>
                                  </p:stCondLst>
                                  <p:childTnLst>
                                    <p:set>
                                      <p:cBhvr>
                                        <p:cTn id="64" dur="1" fill="hold">
                                          <p:stCondLst>
                                            <p:cond delay="0"/>
                                          </p:stCondLst>
                                        </p:cTn>
                                        <p:tgtEl>
                                          <p:spTgt spid="19"/>
                                        </p:tgtEl>
                                        <p:attrNameLst>
                                          <p:attrName>style.visibility</p:attrName>
                                        </p:attrNameLst>
                                      </p:cBhvr>
                                      <p:to>
                                        <p:strVal val="visible"/>
                                      </p:to>
                                    </p:set>
                                    <p:animEffect transition="in" filter="fade">
                                      <p:cBhvr>
                                        <p:cTn id="65" dur="500"/>
                                        <p:tgtEl>
                                          <p:spTgt spid="19"/>
                                        </p:tgtEl>
                                      </p:cBhvr>
                                    </p:animEffect>
                                  </p:childTnLst>
                                </p:cTn>
                              </p:par>
                              <p:par>
                                <p:cTn id="71" presetID="2" presetClass="entr" presetSubtype="4" fill="hold" grpId="0" nodeType="withEffect">
                                  <p:stCondLst>
                                    <p:cond delay="150"/>
                                  </p:stCondLst>
                                  <p:childTnLst>
                                    <p:set>
                                      <p:cBhvr>
                                        <p:cTn id="67" dur="1" fill="hold">
                                          <p:stCondLst>
                                            <p:cond delay="0"/>
                                          </p:stCondLst>
                                        </p:cTn>
                                        <p:tgtEl>
                                          <p:spTgt spid="29"/>
                                        </p:tgtEl>
                                        <p:attrNameLst>
                                          <p:attrName>style.visibility</p:attrName>
                                        </p:attrNameLst>
                                      </p:cBhvr>
                                      <p:to>
                                        <p:strVal val="visible"/>
                                      </p:to>
                                    </p:set>
                                    <p:anim calcmode="lin" valueType="num">
                                      <p:cBhvr additive="base">
                                        <p:cTn id="68" dur="500" fill="hold"/>
                                        <p:tgtEl>
                                          <p:spTgt spid="29"/>
                                        </p:tgtEl>
                                        <p:attrNameLst>
                                          <p:attrName>ppt_x</p:attrName>
                                        </p:attrNameLst>
                                      </p:cBhvr>
                                      <p:tavLst>
                                        <p:tav tm="0">
                                          <p:val>
                                            <p:strVal val="#ppt_x"/>
                                          </p:val>
                                        </p:tav>
                                        <p:tav tm="100000">
                                          <p:val>
                                            <p:strVal val="#ppt_x"/>
                                          </p:val>
                                        </p:tav>
                                      </p:tavLst>
                                    </p:anim>
                                    <p:anim calcmode="lin" valueType="num">
                                      <p:cBhvr additive="base">
                                        <p:cTn id="69" dur="500" fill="hold"/>
                                        <p:tgtEl>
                                          <p:spTgt spid="29"/>
                                        </p:tgtEl>
                                        <p:attrNameLst>
                                          <p:attrName>ppt_y</p:attrName>
                                        </p:attrNameLst>
                                      </p:cBhvr>
                                      <p:tavLst>
                                        <p:tav tm="0">
                                          <p:val>
                                            <p:strVal val="#ppt_y+0.1"/>
                                          </p:val>
                                        </p:tav>
                                        <p:tav tm="100000">
                                          <p:val>
                                            <p:strVal val="#ppt_y"/>
                                          </p:val>
                                        </p:tav>
                                      </p:tavLst>
                                    </p:anim>
                                    <p:animEffect transition="in" filter="fade">
                                      <p:cBhvr>
                                        <p:cTn id="70" dur="500"/>
                                        <p:tgtEl>
                                          <p:spTgt spid="29"/>
                                        </p:tgtEl>
                                      </p:cBhvr>
                                    </p:animEffect>
                                  </p:childTnLst>
                                </p:cTn>
                              </p:par>
                              <p:par>
                                <p:cTn id="74" presetID="10" presetClass="entr" presetSubtype="0" fill="hold" grpId="0" nodeType="withEffect">
                                  <p:stCondLst>
                                    <p:cond delay="20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500"/>
                                        <p:tgtEl>
                                          <p:spTgt spid="22"/>
                                        </p:tgtEl>
                                      </p:cBhvr>
                                    </p:animEffect>
                                  </p:childTnLst>
                                </p:cTn>
                              </p:par>
                              <p:par>
                                <p:cTn id="79" presetID="2" presetClass="entr" presetSubtype="4" fill="hold" grpId="0" nodeType="withEffect">
                                  <p:stCondLst>
                                    <p:cond delay="300"/>
                                  </p:stCondLst>
                                  <p:childTnLst>
                                    <p:set>
                                      <p:cBhvr>
                                        <p:cTn id="75" dur="1" fill="hold">
                                          <p:stCondLst>
                                            <p:cond delay="0"/>
                                          </p:stCondLst>
                                        </p:cTn>
                                        <p:tgtEl>
                                          <p:spTgt spid="33"/>
                                        </p:tgtEl>
                                        <p:attrNameLst>
                                          <p:attrName>style.visibility</p:attrName>
                                        </p:attrNameLst>
                                      </p:cBhvr>
                                      <p:to>
                                        <p:strVal val="visible"/>
                                      </p:to>
                                    </p:set>
                                    <p:anim calcmode="lin" valueType="num">
                                      <p:cBhvr additive="base">
                                        <p:cTn id="76" dur="500" fill="hold"/>
                                        <p:tgtEl>
                                          <p:spTgt spid="33"/>
                                        </p:tgtEl>
                                        <p:attrNameLst>
                                          <p:attrName>ppt_x</p:attrName>
                                        </p:attrNameLst>
                                      </p:cBhvr>
                                      <p:tavLst>
                                        <p:tav tm="0">
                                          <p:val>
                                            <p:strVal val="#ppt_x"/>
                                          </p:val>
                                        </p:tav>
                                        <p:tav tm="100000">
                                          <p:val>
                                            <p:strVal val="#ppt_x"/>
                                          </p:val>
                                        </p:tav>
                                      </p:tavLst>
                                    </p:anim>
                                    <p:anim calcmode="lin" valueType="num">
                                      <p:cBhvr additive="base">
                                        <p:cTn id="77" dur="500" fill="hold"/>
                                        <p:tgtEl>
                                          <p:spTgt spid="33"/>
                                        </p:tgtEl>
                                        <p:attrNameLst>
                                          <p:attrName>ppt_y</p:attrName>
                                        </p:attrNameLst>
                                      </p:cBhvr>
                                      <p:tavLst>
                                        <p:tav tm="0">
                                          <p:val>
                                            <p:strVal val="#ppt_y+0.1"/>
                                          </p:val>
                                        </p:tav>
                                        <p:tav tm="100000">
                                          <p:val>
                                            <p:strVal val="#ppt_y"/>
                                          </p:val>
                                        </p:tav>
                                      </p:tavLst>
                                    </p:anim>
                                    <p:animEffect transition="in" filter="fade">
                                      <p:cBhvr>
                                        <p:cTn id="78" dur="500"/>
                                        <p:tgtEl>
                                          <p:spTgt spid="33"/>
                                        </p:tgtEl>
                                      </p:cBhvr>
                                    </p:animEffect>
                                  </p:childTnLst>
                                </p:cTn>
                              </p:par>
                            </p:childTnLst>
                          </p:cTn>
                        </p:par>
                      </p:childTnLst>
                    </p:cTn>
                  </p:par>
                  <p:par>
                    <p:cTn id="80" fill="hold">
                      <p:stCondLst>
                        <p:cond delay="indefinite"/>
                      </p:stCondLst>
                      <p:childTnLst>
                        <p:par>
                          <p:cTn id="81" fill="hold">
                            <p:stCondLst>
                              <p:cond delay="0"/>
                            </p:stCondLst>
                            <p:childTnLst>
                              <p:par>
                                <p:cTn id="86" presetID="2" presetClass="entr" presetSubtype="4" fill="hold" grpId="0" nodeType="click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150"/>
                                  </p:stCondLst>
                                  <p:childTnLst>
                                    <p:set>
                                      <p:cBhvr>
                                        <p:cTn id="97" dur="1" fill="hold">
                                          <p:stCondLst>
                                            <p:cond delay="0"/>
                                          </p:stCondLst>
                                        </p:cTn>
                                        <p:tgtEl>
                                          <p:spTgt spid="30"/>
                                        </p:tgtEl>
                                        <p:attrNameLst>
                                          <p:attrName>style.visibility</p:attrName>
                                        </p:attrNameLst>
                                      </p:cBhvr>
                                      <p:to>
                                        <p:strVal val="visible"/>
                                      </p:to>
                                    </p:set>
                                    <p:anim calcmode="lin" valueType="num">
                                      <p:cBhvr additive="base">
                                        <p:cTn id="98" dur="500" fill="hold"/>
                                        <p:tgtEl>
                                          <p:spTgt spid="30"/>
                                        </p:tgtEl>
                                        <p:attrNameLst>
                                          <p:attrName>ppt_x</p:attrName>
                                        </p:attrNameLst>
                                      </p:cBhvr>
                                      <p:tavLst>
                                        <p:tav tm="0">
                                          <p:val>
                                            <p:strVal val="#ppt_x"/>
                                          </p:val>
                                        </p:tav>
                                        <p:tav tm="100000">
                                          <p:val>
                                            <p:strVal val="#ppt_x"/>
                                          </p:val>
                                        </p:tav>
                                      </p:tavLst>
                                    </p:anim>
                                    <p:anim calcmode="lin" valueType="num">
                                      <p:cBhvr additive="base">
                                        <p:cTn id="99" dur="500" fill="hold"/>
                                        <p:tgtEl>
                                          <p:spTgt spid="30"/>
                                        </p:tgtEl>
                                        <p:attrNameLst>
                                          <p:attrName>ppt_y</p:attrName>
                                        </p:attrNameLst>
                                      </p:cBhvr>
                                      <p:tavLst>
                                        <p:tav tm="0">
                                          <p:val>
                                            <p:strVal val="#ppt_y+0.1"/>
                                          </p:val>
                                        </p:tav>
                                        <p:tav tm="100000">
                                          <p:val>
                                            <p:strVal val="#ppt_y"/>
                                          </p:val>
                                        </p:tav>
                                      </p:tavLst>
                                    </p:anim>
                                    <p:animEffect transition="in" filter="fade">
                                      <p:cBhvr>
                                        <p:cTn id="100" dur="500"/>
                                        <p:tgtEl>
                                          <p:spTgt spid="30"/>
                                        </p:tgtEl>
                                      </p:cBhvr>
                                    </p:animEffect>
                                  </p:childTnLst>
                                </p:cTn>
                              </p:par>
                              <p:par>
                                <p:cTn id="106" presetID="2" presetClass="entr" presetSubtype="4" fill="hold" grpId="0" nodeType="withEffect">
                                  <p:stCondLst>
                                    <p:cond delay="150"/>
                                  </p:stCondLst>
                                  <p:childTnLst>
                                    <p:set>
                                      <p:cBhvr>
                                        <p:cTn id="102" dur="1" fill="hold">
                                          <p:stCondLst>
                                            <p:cond delay="0"/>
                                          </p:stCondLst>
                                        </p:cTn>
                                        <p:tgtEl>
                                          <p:spTgt spid="31"/>
                                        </p:tgtEl>
                                        <p:attrNameLst>
                                          <p:attrName>style.visibility</p:attrName>
                                        </p:attrNameLst>
                                      </p:cBhvr>
                                      <p:to>
                                        <p:strVal val="visible"/>
                                      </p:to>
                                    </p:set>
                                    <p:anim calcmode="lin" valueType="num">
                                      <p:cBhvr additive="base">
                                        <p:cTn id="103" dur="500" fill="hold"/>
                                        <p:tgtEl>
                                          <p:spTgt spid="31"/>
                                        </p:tgtEl>
                                        <p:attrNameLst>
                                          <p:attrName>ppt_x</p:attrName>
                                        </p:attrNameLst>
                                      </p:cBhvr>
                                      <p:tavLst>
                                        <p:tav tm="0">
                                          <p:val>
                                            <p:strVal val="#ppt_x"/>
                                          </p:val>
                                        </p:tav>
                                        <p:tav tm="100000">
                                          <p:val>
                                            <p:strVal val="#ppt_x"/>
                                          </p:val>
                                        </p:tav>
                                      </p:tavLst>
                                    </p:anim>
                                    <p:anim calcmode="lin" valueType="num">
                                      <p:cBhvr additive="base">
                                        <p:cTn id="104" dur="500" fill="hold"/>
                                        <p:tgtEl>
                                          <p:spTgt spid="31"/>
                                        </p:tgtEl>
                                        <p:attrNameLst>
                                          <p:attrName>ppt_y</p:attrName>
                                        </p:attrNameLst>
                                      </p:cBhvr>
                                      <p:tavLst>
                                        <p:tav tm="0">
                                          <p:val>
                                            <p:strVal val="#ppt_y+0.1"/>
                                          </p:val>
                                        </p:tav>
                                        <p:tav tm="100000">
                                          <p:val>
                                            <p:strVal val="#ppt_y"/>
                                          </p:val>
                                        </p:tav>
                                      </p:tavLst>
                                    </p:anim>
                                    <p:animEffect transition="in" filter="fade">
                                      <p:cBhvr>
                                        <p:cTn id="105" dur="500"/>
                                        <p:tgtEl>
                                          <p:spTgt spid="31"/>
                                        </p:tgtEl>
                                      </p:cBhvr>
                                    </p:animEffect>
                                  </p:childTnLst>
                                </p:cTn>
                              </p:par>
                              <p:par>
                                <p:cTn id="111" presetID="2" presetClass="entr" presetSubtype="4" fill="hold" grpId="0" nodeType="withEffect">
                                  <p:stCondLst>
                                    <p:cond delay="150"/>
                                  </p:stCondLst>
                                  <p:childTnLst>
                                    <p:set>
                                      <p:cBhvr>
                                        <p:cTn id="107" dur="1" fill="hold">
                                          <p:stCondLst>
                                            <p:cond delay="0"/>
                                          </p:stCondLst>
                                        </p:cTn>
                                        <p:tgtEl>
                                          <p:spTgt spid="32"/>
                                        </p:tgtEl>
                                        <p:attrNameLst>
                                          <p:attrName>style.visibility</p:attrName>
                                        </p:attrNameLst>
                                      </p:cBhvr>
                                      <p:to>
                                        <p:strVal val="visible"/>
                                      </p:to>
                                    </p:set>
                                    <p:anim calcmode="lin" valueType="num">
                                      <p:cBhvr additive="base">
                                        <p:cTn id="108" dur="500" fill="hold"/>
                                        <p:tgtEl>
                                          <p:spTgt spid="32"/>
                                        </p:tgtEl>
                                        <p:attrNameLst>
                                          <p:attrName>ppt_x</p:attrName>
                                        </p:attrNameLst>
                                      </p:cBhvr>
                                      <p:tavLst>
                                        <p:tav tm="0">
                                          <p:val>
                                            <p:strVal val="#ppt_x"/>
                                          </p:val>
                                        </p:tav>
                                        <p:tav tm="100000">
                                          <p:val>
                                            <p:strVal val="#ppt_x"/>
                                          </p:val>
                                        </p:tav>
                                      </p:tavLst>
                                    </p:anim>
                                    <p:anim calcmode="lin" valueType="num">
                                      <p:cBhvr additive="base">
                                        <p:cTn id="109" dur="500" fill="hold"/>
                                        <p:tgtEl>
                                          <p:spTgt spid="32"/>
                                        </p:tgtEl>
                                        <p:attrNameLst>
                                          <p:attrName>ppt_y</p:attrName>
                                        </p:attrNameLst>
                                      </p:cBhvr>
                                      <p:tavLst>
                                        <p:tav tm="0">
                                          <p:val>
                                            <p:strVal val="#ppt_y+0.1"/>
                                          </p:val>
                                        </p:tav>
                                        <p:tav tm="100000">
                                          <p:val>
                                            <p:strVal val="#ppt_y"/>
                                          </p:val>
                                        </p:tav>
                                      </p:tavLst>
                                    </p:anim>
                                    <p:animEffect transition="in" filter="fade">
                                      <p:cBhvr>
                                        <p:cTn id="110" dur="500"/>
                                        <p:tgtEl>
                                          <p:spTgt spid="32"/>
                                        </p:tgtEl>
                                      </p:cBhvr>
                                    </p:animEffect>
                                  </p:childTnLst>
                                </p:cTn>
                              </p:par>
                              <p:par>
                                <p:cTn id="116" presetID="2" presetClass="entr" presetSubtype="4" fill="hold" grpId="0" nodeType="withEffect">
                                  <p:stCondLst>
                                    <p:cond delay="300"/>
                                  </p:stCondLst>
                                  <p:childTnLst>
                                    <p:set>
                                      <p:cBhvr>
                                        <p:cTn id="112" dur="1" fill="hold">
                                          <p:stCondLst>
                                            <p:cond delay="0"/>
                                          </p:stCondLst>
                                        </p:cTn>
                                        <p:tgtEl>
                                          <p:spTgt spid="34"/>
                                        </p:tgtEl>
                                        <p:attrNameLst>
                                          <p:attrName>style.visibility</p:attrName>
                                        </p:attrNameLst>
                                      </p:cBhvr>
                                      <p:to>
                                        <p:strVal val="visible"/>
                                      </p:to>
                                    </p:set>
                                    <p:anim calcmode="lin" valueType="num">
                                      <p:cBhvr additive="base">
                                        <p:cTn id="113" dur="500" fill="hold"/>
                                        <p:tgtEl>
                                          <p:spTgt spid="34"/>
                                        </p:tgtEl>
                                        <p:attrNameLst>
                                          <p:attrName>ppt_x</p:attrName>
                                        </p:attrNameLst>
                                      </p:cBhvr>
                                      <p:tavLst>
                                        <p:tav tm="0">
                                          <p:val>
                                            <p:strVal val="#ppt_x"/>
                                          </p:val>
                                        </p:tav>
                                        <p:tav tm="100000">
                                          <p:val>
                                            <p:strVal val="#ppt_x"/>
                                          </p:val>
                                        </p:tav>
                                      </p:tavLst>
                                    </p:anim>
                                    <p:anim calcmode="lin" valueType="num">
                                      <p:cBhvr additive="base">
                                        <p:cTn id="114" dur="500" fill="hold"/>
                                        <p:tgtEl>
                                          <p:spTgt spid="34"/>
                                        </p:tgtEl>
                                        <p:attrNameLst>
                                          <p:attrName>ppt_y</p:attrName>
                                        </p:attrNameLst>
                                      </p:cBhvr>
                                      <p:tavLst>
                                        <p:tav tm="0">
                                          <p:val>
                                            <p:strVal val="#ppt_y+0.1"/>
                                          </p:val>
                                        </p:tav>
                                        <p:tav tm="100000">
                                          <p:val>
                                            <p:strVal val="#ppt_y"/>
                                          </p:val>
                                        </p:tav>
                                      </p:tavLst>
                                    </p:anim>
                                    <p:animEffect transition="in" filter="fade">
                                      <p:cBhvr>
                                        <p:cTn id="115" dur="500"/>
                                        <p:tgtEl>
                                          <p:spTgt spid="34"/>
                                        </p:tgtEl>
                                      </p:cBhvr>
                                    </p:animEffect>
                                  </p:childTnLst>
                                </p:cTn>
                              </p:par>
                              <p:par>
                                <p:cTn id="121" presetID="2" presetClass="entr" presetSubtype="4" fill="hold" grpId="0" nodeType="withEffect">
                                  <p:stCondLst>
                                    <p:cond delay="300"/>
                                  </p:stCondLst>
                                  <p:childTnLst>
                                    <p:set>
                                      <p:cBhvr>
                                        <p:cTn id="117" dur="1" fill="hold">
                                          <p:stCondLst>
                                            <p:cond delay="0"/>
                                          </p:stCondLst>
                                        </p:cTn>
                                        <p:tgtEl>
                                          <p:spTgt spid="35"/>
                                        </p:tgtEl>
                                        <p:attrNameLst>
                                          <p:attrName>style.visibility</p:attrName>
                                        </p:attrNameLst>
                                      </p:cBhvr>
                                      <p:to>
                                        <p:strVal val="visible"/>
                                      </p:to>
                                    </p:set>
                                    <p:anim calcmode="lin" valueType="num">
                                      <p:cBhvr additive="base">
                                        <p:cTn id="118" dur="500" fill="hold"/>
                                        <p:tgtEl>
                                          <p:spTgt spid="35"/>
                                        </p:tgtEl>
                                        <p:attrNameLst>
                                          <p:attrName>ppt_x</p:attrName>
                                        </p:attrNameLst>
                                      </p:cBhvr>
                                      <p:tavLst>
                                        <p:tav tm="0">
                                          <p:val>
                                            <p:strVal val="#ppt_x"/>
                                          </p:val>
                                        </p:tav>
                                        <p:tav tm="100000">
                                          <p:val>
                                            <p:strVal val="#ppt_x"/>
                                          </p:val>
                                        </p:tav>
                                      </p:tavLst>
                                    </p:anim>
                                    <p:anim calcmode="lin" valueType="num">
                                      <p:cBhvr additive="base">
                                        <p:cTn id="119" dur="500" fill="hold"/>
                                        <p:tgtEl>
                                          <p:spTgt spid="35"/>
                                        </p:tgtEl>
                                        <p:attrNameLst>
                                          <p:attrName>ppt_y</p:attrName>
                                        </p:attrNameLst>
                                      </p:cBhvr>
                                      <p:tavLst>
                                        <p:tav tm="0">
                                          <p:val>
                                            <p:strVal val="#ppt_y+0.1"/>
                                          </p:val>
                                        </p:tav>
                                        <p:tav tm="100000">
                                          <p:val>
                                            <p:strVal val="#ppt_y"/>
                                          </p:val>
                                        </p:tav>
                                      </p:tavLst>
                                    </p:anim>
                                    <p:animEffect transition="in" filter="fade">
                                      <p:cBhvr>
                                        <p:cTn id="120" dur="500"/>
                                        <p:tgtEl>
                                          <p:spTgt spid="35"/>
                                        </p:tgtEl>
                                      </p:cBhvr>
                                    </p:animEffect>
                                  </p:childTnLst>
                                </p:cTn>
                              </p:par>
                              <p:par>
                                <p:cTn id="126" presetID="2" presetClass="entr" presetSubtype="4" fill="hold" grpId="0" nodeType="withEffect">
                                  <p:stCondLst>
                                    <p:cond delay="300"/>
                                  </p:stCondLst>
                                  <p:childTnLst>
                                    <p:set>
                                      <p:cBhvr>
                                        <p:cTn id="122" dur="1" fill="hold">
                                          <p:stCondLst>
                                            <p:cond delay="0"/>
                                          </p:stCondLst>
                                        </p:cTn>
                                        <p:tgtEl>
                                          <p:spTgt spid="36"/>
                                        </p:tgtEl>
                                        <p:attrNameLst>
                                          <p:attrName>style.visibility</p:attrName>
                                        </p:attrNameLst>
                                      </p:cBhvr>
                                      <p:to>
                                        <p:strVal val="visible"/>
                                      </p:to>
                                    </p:set>
                                    <p:anim calcmode="lin" valueType="num">
                                      <p:cBhvr additive="base">
                                        <p:cTn id="123" dur="500" fill="hold"/>
                                        <p:tgtEl>
                                          <p:spTgt spid="36"/>
                                        </p:tgtEl>
                                        <p:attrNameLst>
                                          <p:attrName>ppt_x</p:attrName>
                                        </p:attrNameLst>
                                      </p:cBhvr>
                                      <p:tavLst>
                                        <p:tav tm="0">
                                          <p:val>
                                            <p:strVal val="#ppt_x"/>
                                          </p:val>
                                        </p:tav>
                                        <p:tav tm="100000">
                                          <p:val>
                                            <p:strVal val="#ppt_x"/>
                                          </p:val>
                                        </p:tav>
                                      </p:tavLst>
                                    </p:anim>
                                    <p:anim calcmode="lin" valueType="num">
                                      <p:cBhvr additive="base">
                                        <p:cTn id="124" dur="500" fill="hold"/>
                                        <p:tgtEl>
                                          <p:spTgt spid="36"/>
                                        </p:tgtEl>
                                        <p:attrNameLst>
                                          <p:attrName>ppt_y</p:attrName>
                                        </p:attrNameLst>
                                      </p:cBhvr>
                                      <p:tavLst>
                                        <p:tav tm="0">
                                          <p:val>
                                            <p:strVal val="#ppt_y+0.1"/>
                                          </p:val>
                                        </p:tav>
                                        <p:tav tm="100000">
                                          <p:val>
                                            <p:strVal val="#ppt_y"/>
                                          </p:val>
                                        </p:tav>
                                      </p:tavLst>
                                    </p:anim>
                                    <p:animEffect transition="in" filter="fade">
                                      <p:cBhvr>
                                        <p:cTn id="125" dur="500"/>
                                        <p:tgtEl>
                                          <p:spTgt spid="36"/>
                                        </p:tgtEl>
                                      </p:cBhvr>
                                    </p:animEffect>
                                  </p:childTnLst>
                                </p:cTn>
                              </p:par>
                            </p:childTnLst>
                          </p:cTn>
                        </p:par>
                      </p:childTnLst>
                    </p:cTn>
                  </p:par>
                  <p:par>
                    <p:cTn id="127" fill="hold">
                      <p:stCondLst>
                        <p:cond delay="indefinite"/>
                      </p:stCondLst>
                      <p:childTnLst>
                        <p:par>
                          <p:cTn id="128" fill="hold">
                            <p:stCondLst>
                              <p:cond delay="0"/>
                            </p:stCondLst>
                            <p:childTnLst>
                              <p:par>
                                <p:cTn id="133" presetID="2" presetClass="entr" presetSubtype="4" fill="hold" grpId="0" nodeType="clickEffect">
                                  <p:stCondLst>
                                    <p:cond delay="0"/>
                                  </p:stCondLst>
                                  <p:childTnLst>
                                    <p:set>
                                      <p:cBhvr>
                                        <p:cTn id="129" dur="1" fill="hold">
                                          <p:stCondLst>
                                            <p:cond delay="0"/>
                                          </p:stCondLst>
                                        </p:cTn>
                                        <p:tgtEl>
                                          <p:spTgt spid="37"/>
                                        </p:tgtEl>
                                        <p:attrNameLst>
                                          <p:attrName>style.visibility</p:attrName>
                                        </p:attrNameLst>
                                      </p:cBhvr>
                                      <p:to>
                                        <p:strVal val="visible"/>
                                      </p:to>
                                    </p:set>
                                    <p:anim calcmode="lin" valueType="num">
                                      <p:cBhvr additive="base">
                                        <p:cTn id="130" dur="500" fill="hold"/>
                                        <p:tgtEl>
                                          <p:spTgt spid="37"/>
                                        </p:tgtEl>
                                        <p:attrNameLst>
                                          <p:attrName>ppt_x</p:attrName>
                                        </p:attrNameLst>
                                      </p:cBhvr>
                                      <p:tavLst>
                                        <p:tav tm="0">
                                          <p:val>
                                            <p:strVal val="#ppt_x"/>
                                          </p:val>
                                        </p:tav>
                                        <p:tav tm="100000">
                                          <p:val>
                                            <p:strVal val="#ppt_x"/>
                                          </p:val>
                                        </p:tav>
                                      </p:tavLst>
                                    </p:anim>
                                    <p:anim calcmode="lin" valueType="num">
                                      <p:cBhvr additive="base">
                                        <p:cTn id="131" dur="500" fill="hold"/>
                                        <p:tgtEl>
                                          <p:spTgt spid="37"/>
                                        </p:tgtEl>
                                        <p:attrNameLst>
                                          <p:attrName>ppt_y</p:attrName>
                                        </p:attrNameLst>
                                      </p:cBhvr>
                                      <p:tavLst>
                                        <p:tav tm="0">
                                          <p:val>
                                            <p:strVal val="#ppt_y+0.1"/>
                                          </p:val>
                                        </p:tav>
                                        <p:tav tm="100000">
                                          <p:val>
                                            <p:strVal val="#ppt_y"/>
                                          </p:val>
                                        </p:tav>
                                      </p:tavLst>
                                    </p:anim>
                                    <p:animEffect transition="in" filter="fade">
                                      <p:cBhvr>
                                        <p:cTn id="132" dur="500"/>
                                        <p:tgtEl>
                                          <p:spTgt spid="37"/>
                                        </p:tgtEl>
                                      </p:cBhvr>
                                    </p:animEffect>
                                  </p:childTnLst>
                                </p:cTn>
                              </p:par>
                              <p:par>
                                <p:cTn id="138" presetID="2" presetClass="entr" presetSubtype="4" fill="hold" grpId="0" nodeType="withEffect">
                                  <p:stCondLst>
                                    <p:cond delay="0"/>
                                  </p:stCondLst>
                                  <p:childTnLst>
                                    <p:set>
                                      <p:cBhvr>
                                        <p:cTn id="134" dur="1" fill="hold">
                                          <p:stCondLst>
                                            <p:cond delay="0"/>
                                          </p:stCondLst>
                                        </p:cTn>
                                        <p:tgtEl>
                                          <p:spTgt spid="38"/>
                                        </p:tgtEl>
                                        <p:attrNameLst>
                                          <p:attrName>style.visibility</p:attrName>
                                        </p:attrNameLst>
                                      </p:cBhvr>
                                      <p:to>
                                        <p:strVal val="visible"/>
                                      </p:to>
                                    </p:set>
                                    <p:anim calcmode="lin" valueType="num">
                                      <p:cBhvr additive="base">
                                        <p:cTn id="135" dur="500" fill="hold"/>
                                        <p:tgtEl>
                                          <p:spTgt spid="38"/>
                                        </p:tgtEl>
                                        <p:attrNameLst>
                                          <p:attrName>ppt_x</p:attrName>
                                        </p:attrNameLst>
                                      </p:cBhvr>
                                      <p:tavLst>
                                        <p:tav tm="0">
                                          <p:val>
                                            <p:strVal val="#ppt_x"/>
                                          </p:val>
                                        </p:tav>
                                        <p:tav tm="100000">
                                          <p:val>
                                            <p:strVal val="#ppt_x"/>
                                          </p:val>
                                        </p:tav>
                                      </p:tavLst>
                                    </p:anim>
                                    <p:anim calcmode="lin" valueType="num">
                                      <p:cBhvr additive="base">
                                        <p:cTn id="136" dur="500" fill="hold"/>
                                        <p:tgtEl>
                                          <p:spTgt spid="38"/>
                                        </p:tgtEl>
                                        <p:attrNameLst>
                                          <p:attrName>ppt_y</p:attrName>
                                        </p:attrNameLst>
                                      </p:cBhvr>
                                      <p:tavLst>
                                        <p:tav tm="0">
                                          <p:val>
                                            <p:strVal val="#ppt_y+0.1"/>
                                          </p:val>
                                        </p:tav>
                                        <p:tav tm="100000">
                                          <p:val>
                                            <p:strVal val="#ppt_y"/>
                                          </p:val>
                                        </p:tav>
                                      </p:tavLst>
                                    </p:anim>
                                    <p:animEffect transition="in" filter="fade">
                                      <p:cBhvr>
                                        <p:cTn id="137" dur="500"/>
                                        <p:tgtEl>
                                          <p:spTgt spid="38"/>
                                        </p:tgtEl>
                                      </p:cBhvr>
                                    </p:animEffect>
                                  </p:childTnLst>
                                </p:cTn>
                              </p:par>
                              <p:par>
                                <p:cTn id="143" presetID="2" presetClass="entr" presetSubtype="4" fill="hold" grpId="0" nodeType="withEffect">
                                  <p:stCondLst>
                                    <p:cond delay="0"/>
                                  </p:stCondLst>
                                  <p:childTnLst>
                                    <p:set>
                                      <p:cBhvr>
                                        <p:cTn id="139" dur="1" fill="hold">
                                          <p:stCondLst>
                                            <p:cond delay="0"/>
                                          </p:stCondLst>
                                        </p:cTn>
                                        <p:tgtEl>
                                          <p:spTgt spid="39"/>
                                        </p:tgtEl>
                                        <p:attrNameLst>
                                          <p:attrName>style.visibility</p:attrName>
                                        </p:attrNameLst>
                                      </p:cBhvr>
                                      <p:to>
                                        <p:strVal val="visible"/>
                                      </p:to>
                                    </p:set>
                                    <p:anim calcmode="lin" valueType="num">
                                      <p:cBhvr additive="base">
                                        <p:cTn id="140" dur="500" fill="hold"/>
                                        <p:tgtEl>
                                          <p:spTgt spid="39"/>
                                        </p:tgtEl>
                                        <p:attrNameLst>
                                          <p:attrName>ppt_x</p:attrName>
                                        </p:attrNameLst>
                                      </p:cBhvr>
                                      <p:tavLst>
                                        <p:tav tm="0">
                                          <p:val>
                                            <p:strVal val="#ppt_x"/>
                                          </p:val>
                                        </p:tav>
                                        <p:tav tm="100000">
                                          <p:val>
                                            <p:strVal val="#ppt_x"/>
                                          </p:val>
                                        </p:tav>
                                      </p:tavLst>
                                    </p:anim>
                                    <p:anim calcmode="lin" valueType="num">
                                      <p:cBhvr additive="base">
                                        <p:cTn id="141" dur="500" fill="hold"/>
                                        <p:tgtEl>
                                          <p:spTgt spid="39"/>
                                        </p:tgtEl>
                                        <p:attrNameLst>
                                          <p:attrName>ppt_y</p:attrName>
                                        </p:attrNameLst>
                                      </p:cBhvr>
                                      <p:tavLst>
                                        <p:tav tm="0">
                                          <p:val>
                                            <p:strVal val="#ppt_y+0.1"/>
                                          </p:val>
                                        </p:tav>
                                        <p:tav tm="100000">
                                          <p:val>
                                            <p:strVal val="#ppt_y"/>
                                          </p:val>
                                        </p:tav>
                                      </p:tavLst>
                                    </p:anim>
                                    <p:animEffect transition="in" filter="fade">
                                      <p:cBhvr>
                                        <p:cTn id="142" dur="500"/>
                                        <p:tgtEl>
                                          <p:spTgt spid="39"/>
                                        </p:tgtEl>
                                      </p:cBhvr>
                                    </p:animEffect>
                                  </p:childTnLst>
                                </p:cTn>
                              </p:par>
                              <p:par>
                                <p:cTn id="148" presetID="2" presetClass="entr" presetSubtype="4" fill="hold" grpId="0" nodeType="withEffect">
                                  <p:stCondLst>
                                    <p:cond delay="150"/>
                                  </p:stCondLst>
                                  <p:childTnLst>
                                    <p:set>
                                      <p:cBhvr>
                                        <p:cTn id="144" dur="1" fill="hold">
                                          <p:stCondLst>
                                            <p:cond delay="0"/>
                                          </p:stCondLst>
                                        </p:cTn>
                                        <p:tgtEl>
                                          <p:spTgt spid="40"/>
                                        </p:tgtEl>
                                        <p:attrNameLst>
                                          <p:attrName>style.visibility</p:attrName>
                                        </p:attrNameLst>
                                      </p:cBhvr>
                                      <p:to>
                                        <p:strVal val="visible"/>
                                      </p:to>
                                    </p:set>
                                    <p:anim calcmode="lin" valueType="num">
                                      <p:cBhvr additive="base">
                                        <p:cTn id="145" dur="500" fill="hold"/>
                                        <p:tgtEl>
                                          <p:spTgt spid="40"/>
                                        </p:tgtEl>
                                        <p:attrNameLst>
                                          <p:attrName>ppt_x</p:attrName>
                                        </p:attrNameLst>
                                      </p:cBhvr>
                                      <p:tavLst>
                                        <p:tav tm="0">
                                          <p:val>
                                            <p:strVal val="#ppt_x"/>
                                          </p:val>
                                        </p:tav>
                                        <p:tav tm="100000">
                                          <p:val>
                                            <p:strVal val="#ppt_x"/>
                                          </p:val>
                                        </p:tav>
                                      </p:tavLst>
                                    </p:anim>
                                    <p:anim calcmode="lin" valueType="num">
                                      <p:cBhvr additive="base">
                                        <p:cTn id="146" dur="500" fill="hold"/>
                                        <p:tgtEl>
                                          <p:spTgt spid="40"/>
                                        </p:tgtEl>
                                        <p:attrNameLst>
                                          <p:attrName>ppt_y</p:attrName>
                                        </p:attrNameLst>
                                      </p:cBhvr>
                                      <p:tavLst>
                                        <p:tav tm="0">
                                          <p:val>
                                            <p:strVal val="#ppt_y+0.1"/>
                                          </p:val>
                                        </p:tav>
                                        <p:tav tm="100000">
                                          <p:val>
                                            <p:strVal val="#ppt_y"/>
                                          </p:val>
                                        </p:tav>
                                      </p:tavLst>
                                    </p:anim>
                                    <p:animEffect transition="in" filter="fade">
                                      <p:cBhvr>
                                        <p:cTn id="147" dur="500"/>
                                        <p:tgtEl>
                                          <p:spTgt spid="40"/>
                                        </p:tgtEl>
                                      </p:cBhvr>
                                    </p:animEffect>
                                  </p:childTnLst>
                                </p:cTn>
                              </p:par>
                              <p:par>
                                <p:cTn id="153" presetID="2" presetClass="entr" presetSubtype="4" fill="hold" grpId="0" nodeType="withEffect">
                                  <p:stCondLst>
                                    <p:cond delay="150"/>
                                  </p:stCondLst>
                                  <p:childTnLst>
                                    <p:set>
                                      <p:cBhvr>
                                        <p:cTn id="149" dur="1" fill="hold">
                                          <p:stCondLst>
                                            <p:cond delay="0"/>
                                          </p:stCondLst>
                                        </p:cTn>
                                        <p:tgtEl>
                                          <p:spTgt spid="41"/>
                                        </p:tgtEl>
                                        <p:attrNameLst>
                                          <p:attrName>style.visibility</p:attrName>
                                        </p:attrNameLst>
                                      </p:cBhvr>
                                      <p:to>
                                        <p:strVal val="visible"/>
                                      </p:to>
                                    </p:set>
                                    <p:anim calcmode="lin" valueType="num">
                                      <p:cBhvr additive="base">
                                        <p:cTn id="150" dur="500" fill="hold"/>
                                        <p:tgtEl>
                                          <p:spTgt spid="41"/>
                                        </p:tgtEl>
                                        <p:attrNameLst>
                                          <p:attrName>ppt_x</p:attrName>
                                        </p:attrNameLst>
                                      </p:cBhvr>
                                      <p:tavLst>
                                        <p:tav tm="0">
                                          <p:val>
                                            <p:strVal val="#ppt_x"/>
                                          </p:val>
                                        </p:tav>
                                        <p:tav tm="100000">
                                          <p:val>
                                            <p:strVal val="#ppt_x"/>
                                          </p:val>
                                        </p:tav>
                                      </p:tavLst>
                                    </p:anim>
                                    <p:anim calcmode="lin" valueType="num">
                                      <p:cBhvr additive="base">
                                        <p:cTn id="151" dur="500" fill="hold"/>
                                        <p:tgtEl>
                                          <p:spTgt spid="41"/>
                                        </p:tgtEl>
                                        <p:attrNameLst>
                                          <p:attrName>ppt_y</p:attrName>
                                        </p:attrNameLst>
                                      </p:cBhvr>
                                      <p:tavLst>
                                        <p:tav tm="0">
                                          <p:val>
                                            <p:strVal val="#ppt_y+0.1"/>
                                          </p:val>
                                        </p:tav>
                                        <p:tav tm="100000">
                                          <p:val>
                                            <p:strVal val="#ppt_y"/>
                                          </p:val>
                                        </p:tav>
                                      </p:tavLst>
                                    </p:anim>
                                    <p:animEffect transition="in" filter="fade">
                                      <p:cBhvr>
                                        <p:cTn id="152" dur="500"/>
                                        <p:tgtEl>
                                          <p:spTgt spid="41"/>
                                        </p:tgtEl>
                                      </p:cBhvr>
                                    </p:animEffect>
                                  </p:childTnLst>
                                </p:cTn>
                              </p:par>
                              <p:par>
                                <p:cTn id="158" presetID="2" presetClass="entr" presetSubtype="4" fill="hold" grpId="0" nodeType="withEffect">
                                  <p:stCondLst>
                                    <p:cond delay="150"/>
                                  </p:stCondLst>
                                  <p:childTnLst>
                                    <p:set>
                                      <p:cBhvr>
                                        <p:cTn id="154" dur="1" fill="hold">
                                          <p:stCondLst>
                                            <p:cond delay="0"/>
                                          </p:stCondLst>
                                        </p:cTn>
                                        <p:tgtEl>
                                          <p:spTgt spid="42"/>
                                        </p:tgtEl>
                                        <p:attrNameLst>
                                          <p:attrName>style.visibility</p:attrName>
                                        </p:attrNameLst>
                                      </p:cBhvr>
                                      <p:to>
                                        <p:strVal val="visible"/>
                                      </p:to>
                                    </p:set>
                                    <p:anim calcmode="lin" valueType="num">
                                      <p:cBhvr additive="base">
                                        <p:cTn id="155" dur="500" fill="hold"/>
                                        <p:tgtEl>
                                          <p:spTgt spid="42"/>
                                        </p:tgtEl>
                                        <p:attrNameLst>
                                          <p:attrName>ppt_x</p:attrName>
                                        </p:attrNameLst>
                                      </p:cBhvr>
                                      <p:tavLst>
                                        <p:tav tm="0">
                                          <p:val>
                                            <p:strVal val="#ppt_x"/>
                                          </p:val>
                                        </p:tav>
                                        <p:tav tm="100000">
                                          <p:val>
                                            <p:strVal val="#ppt_x"/>
                                          </p:val>
                                        </p:tav>
                                      </p:tavLst>
                                    </p:anim>
                                    <p:anim calcmode="lin" valueType="num">
                                      <p:cBhvr additive="base">
                                        <p:cTn id="156" dur="500" fill="hold"/>
                                        <p:tgtEl>
                                          <p:spTgt spid="42"/>
                                        </p:tgtEl>
                                        <p:attrNameLst>
                                          <p:attrName>ppt_y</p:attrName>
                                        </p:attrNameLst>
                                      </p:cBhvr>
                                      <p:tavLst>
                                        <p:tav tm="0">
                                          <p:val>
                                            <p:strVal val="#ppt_y+0.1"/>
                                          </p:val>
                                        </p:tav>
                                        <p:tav tm="100000">
                                          <p:val>
                                            <p:strVal val="#ppt_y"/>
                                          </p:val>
                                        </p:tav>
                                      </p:tavLst>
                                    </p:anim>
                                    <p:animEffect transition="in" filter="fade">
                                      <p:cBhvr>
                                        <p:cTn id="15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Words of Publish/Subscribe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Five terms you will hear for the rest of the course</a:t>
            </a:r>
          </a:p>
        </p:txBody>
      </p:sp>
      <p:sp>
        <p:nvSpPr>
          <p:cNvPr id="11" name="a1f_th10"/>
          <p:cNvSpPr/>
          <p:nvPr/>
        </p:nvSpPr>
        <p:spPr>
          <a:xfrm>
            <a:off x="457200" y="1234440"/>
            <a:ext cx="1645920" cy="438912"/>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tht11"/>
          <p:cNvSpPr txBox="1"/>
          <p:nvPr/>
        </p:nvSpPr>
        <p:spPr>
          <a:xfrm>
            <a:off x="530352" y="1234440"/>
            <a:ext cx="1536192" cy="438912"/>
          </a:xfrm>
          <a:prstGeom prst="rect">
            <a:avLst/>
          </a:prstGeom>
          <a:noFill/>
        </p:spPr>
        <p:txBody>
          <a:bodyPr wrap="square" lIns="0" tIns="0" rIns="0" bIns="0" anchor="ctr">
            <a:spAutoFit/>
          </a:bodyPr>
          <a:lstStyle/>
          <a:p>
            <a:pPr algn="l"/>
            <a:r>
              <a:rPr sz="1050" b="1">
                <a:solidFill>
                  <a:srgbClr val="FFFFFF"/>
                </a:solidFill>
                <a:latin typeface="Consolas"/>
              </a:rPr>
              <a:t>Term</a:t>
            </a:r>
          </a:p>
        </p:txBody>
      </p:sp>
      <p:sp>
        <p:nvSpPr>
          <p:cNvPr id="13" name="a1wd150_td12"/>
          <p:cNvSpPr/>
          <p:nvPr/>
        </p:nvSpPr>
        <p:spPr>
          <a:xfrm>
            <a:off x="457200" y="1673352"/>
            <a:ext cx="1645920" cy="43891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d150_tdt13"/>
          <p:cNvSpPr txBox="1"/>
          <p:nvPr/>
        </p:nvSpPr>
        <p:spPr>
          <a:xfrm>
            <a:off x="530352" y="1673352"/>
            <a:ext cx="1536192" cy="438912"/>
          </a:xfrm>
          <a:prstGeom prst="rect">
            <a:avLst/>
          </a:prstGeom>
          <a:noFill/>
        </p:spPr>
        <p:txBody>
          <a:bodyPr wrap="square" lIns="0" tIns="0" rIns="0" bIns="0" anchor="ctr">
            <a:spAutoFit/>
          </a:bodyPr>
          <a:lstStyle/>
          <a:p>
            <a:pPr algn="l"/>
            <a:r>
              <a:rPr sz="1050" b="0">
                <a:solidFill>
                  <a:srgbClr val="44403C"/>
                </a:solidFill>
                <a:latin typeface="Consolas"/>
              </a:rPr>
              <a:t>Publisher</a:t>
            </a:r>
          </a:p>
        </p:txBody>
      </p:sp>
      <p:sp>
        <p:nvSpPr>
          <p:cNvPr id="15" name="a1wd300_td14"/>
          <p:cNvSpPr/>
          <p:nvPr/>
        </p:nvSpPr>
        <p:spPr>
          <a:xfrm>
            <a:off x="457200" y="2112264"/>
            <a:ext cx="1645920" cy="438912"/>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wd300_tdt15"/>
          <p:cNvSpPr txBox="1"/>
          <p:nvPr/>
        </p:nvSpPr>
        <p:spPr>
          <a:xfrm>
            <a:off x="530352" y="2112264"/>
            <a:ext cx="1536192" cy="438912"/>
          </a:xfrm>
          <a:prstGeom prst="rect">
            <a:avLst/>
          </a:prstGeom>
          <a:noFill/>
        </p:spPr>
        <p:txBody>
          <a:bodyPr wrap="square" lIns="0" tIns="0" rIns="0" bIns="0" anchor="ctr">
            <a:spAutoFit/>
          </a:bodyPr>
          <a:lstStyle/>
          <a:p>
            <a:pPr algn="l"/>
            <a:r>
              <a:rPr sz="1050" b="0">
                <a:solidFill>
                  <a:srgbClr val="44403C"/>
                </a:solidFill>
                <a:latin typeface="Consolas"/>
              </a:rPr>
              <a:t>Message</a:t>
            </a:r>
          </a:p>
        </p:txBody>
      </p:sp>
      <p:sp>
        <p:nvSpPr>
          <p:cNvPr id="17" name="a1wd450_td16"/>
          <p:cNvSpPr/>
          <p:nvPr/>
        </p:nvSpPr>
        <p:spPr>
          <a:xfrm>
            <a:off x="457200" y="2551176"/>
            <a:ext cx="1645920" cy="43891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wd450_tdt17"/>
          <p:cNvSpPr txBox="1"/>
          <p:nvPr/>
        </p:nvSpPr>
        <p:spPr>
          <a:xfrm>
            <a:off x="530352" y="2551176"/>
            <a:ext cx="1536192" cy="438912"/>
          </a:xfrm>
          <a:prstGeom prst="rect">
            <a:avLst/>
          </a:prstGeom>
          <a:noFill/>
        </p:spPr>
        <p:txBody>
          <a:bodyPr wrap="square" lIns="0" tIns="0" rIns="0" bIns="0" anchor="ctr">
            <a:spAutoFit/>
          </a:bodyPr>
          <a:lstStyle/>
          <a:p>
            <a:pPr algn="l"/>
            <a:r>
              <a:rPr sz="1050" b="0">
                <a:solidFill>
                  <a:srgbClr val="44403C"/>
                </a:solidFill>
                <a:latin typeface="Consolas"/>
              </a:rPr>
              <a:t>Class (topic)</a:t>
            </a:r>
          </a:p>
        </p:txBody>
      </p:sp>
      <p:sp>
        <p:nvSpPr>
          <p:cNvPr id="19" name="a1wd600_td18"/>
          <p:cNvSpPr/>
          <p:nvPr/>
        </p:nvSpPr>
        <p:spPr>
          <a:xfrm>
            <a:off x="457200" y="2990088"/>
            <a:ext cx="1645920" cy="438912"/>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wd600_tdt19"/>
          <p:cNvSpPr txBox="1"/>
          <p:nvPr/>
        </p:nvSpPr>
        <p:spPr>
          <a:xfrm>
            <a:off x="530352" y="2990088"/>
            <a:ext cx="1536192" cy="438912"/>
          </a:xfrm>
          <a:prstGeom prst="rect">
            <a:avLst/>
          </a:prstGeom>
          <a:noFill/>
        </p:spPr>
        <p:txBody>
          <a:bodyPr wrap="square" lIns="0" tIns="0" rIns="0" bIns="0" anchor="ctr">
            <a:spAutoFit/>
          </a:bodyPr>
          <a:lstStyle/>
          <a:p>
            <a:pPr algn="l"/>
            <a:r>
              <a:rPr sz="1050" b="0">
                <a:solidFill>
                  <a:srgbClr val="44403C"/>
                </a:solidFill>
                <a:latin typeface="Consolas"/>
              </a:rPr>
              <a:t>Subscriber</a:t>
            </a:r>
          </a:p>
        </p:txBody>
      </p:sp>
      <p:sp>
        <p:nvSpPr>
          <p:cNvPr id="21" name="a1wd750_td20"/>
          <p:cNvSpPr/>
          <p:nvPr/>
        </p:nvSpPr>
        <p:spPr>
          <a:xfrm>
            <a:off x="457200" y="3429000"/>
            <a:ext cx="1645920" cy="43891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wd750_tdt21"/>
          <p:cNvSpPr txBox="1"/>
          <p:nvPr/>
        </p:nvSpPr>
        <p:spPr>
          <a:xfrm>
            <a:off x="530352" y="3429000"/>
            <a:ext cx="1536192" cy="438912"/>
          </a:xfrm>
          <a:prstGeom prst="rect">
            <a:avLst/>
          </a:prstGeom>
          <a:noFill/>
        </p:spPr>
        <p:txBody>
          <a:bodyPr wrap="square" lIns="0" tIns="0" rIns="0" bIns="0" anchor="ctr">
            <a:spAutoFit/>
          </a:bodyPr>
          <a:lstStyle/>
          <a:p>
            <a:pPr algn="l"/>
            <a:r>
              <a:rPr sz="1050" b="0">
                <a:solidFill>
                  <a:srgbClr val="44403C"/>
                </a:solidFill>
                <a:latin typeface="Consolas"/>
              </a:rPr>
              <a:t>Broker</a:t>
            </a:r>
          </a:p>
        </p:txBody>
      </p:sp>
      <p:sp>
        <p:nvSpPr>
          <p:cNvPr id="23" name="a1f_th22"/>
          <p:cNvSpPr/>
          <p:nvPr/>
        </p:nvSpPr>
        <p:spPr>
          <a:xfrm>
            <a:off x="2103120" y="1234440"/>
            <a:ext cx="3840480" cy="43891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f_tht23"/>
          <p:cNvSpPr txBox="1"/>
          <p:nvPr/>
        </p:nvSpPr>
        <p:spPr>
          <a:xfrm>
            <a:off x="2176272" y="1234440"/>
            <a:ext cx="3730752" cy="438912"/>
          </a:xfrm>
          <a:prstGeom prst="rect">
            <a:avLst/>
          </a:prstGeom>
          <a:noFill/>
        </p:spPr>
        <p:txBody>
          <a:bodyPr wrap="square" lIns="0" tIns="0" rIns="0" bIns="0" anchor="ctr">
            <a:spAutoFit/>
          </a:bodyPr>
          <a:lstStyle/>
          <a:p>
            <a:pPr algn="l"/>
            <a:r>
              <a:rPr sz="950" b="1">
                <a:solidFill>
                  <a:srgbClr val="FFFFFF"/>
                </a:solidFill>
                <a:latin typeface="Segoe UI"/>
              </a:rPr>
              <a:t>Meaning</a:t>
            </a:r>
          </a:p>
        </p:txBody>
      </p:sp>
      <p:sp>
        <p:nvSpPr>
          <p:cNvPr id="25" name="a1wd150_td24"/>
          <p:cNvSpPr/>
          <p:nvPr/>
        </p:nvSpPr>
        <p:spPr>
          <a:xfrm>
            <a:off x="2103120" y="1673352"/>
            <a:ext cx="3840480" cy="43891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wd150_tdt25"/>
          <p:cNvSpPr txBox="1"/>
          <p:nvPr/>
        </p:nvSpPr>
        <p:spPr>
          <a:xfrm>
            <a:off x="2176272" y="1673352"/>
            <a:ext cx="3730752" cy="438912"/>
          </a:xfrm>
          <a:prstGeom prst="rect">
            <a:avLst/>
          </a:prstGeom>
          <a:noFill/>
        </p:spPr>
        <p:txBody>
          <a:bodyPr wrap="square" lIns="0" tIns="0" rIns="0" bIns="0" anchor="ctr">
            <a:spAutoFit/>
          </a:bodyPr>
          <a:lstStyle/>
          <a:p>
            <a:pPr algn="l"/>
            <a:r>
              <a:rPr sz="950" b="0">
                <a:solidFill>
                  <a:srgbClr val="44403C"/>
                </a:solidFill>
                <a:latin typeface="Segoe UI"/>
              </a:rPr>
              <a:t>The sender of a message</a:t>
            </a:r>
          </a:p>
        </p:txBody>
      </p:sp>
      <p:sp>
        <p:nvSpPr>
          <p:cNvPr id="27" name="a1wd300_td26"/>
          <p:cNvSpPr/>
          <p:nvPr/>
        </p:nvSpPr>
        <p:spPr>
          <a:xfrm>
            <a:off x="2103120" y="2112264"/>
            <a:ext cx="3840480" cy="438912"/>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1wd300_tdt27"/>
          <p:cNvSpPr txBox="1"/>
          <p:nvPr/>
        </p:nvSpPr>
        <p:spPr>
          <a:xfrm>
            <a:off x="2176272" y="2112264"/>
            <a:ext cx="3730752" cy="438912"/>
          </a:xfrm>
          <a:prstGeom prst="rect">
            <a:avLst/>
          </a:prstGeom>
          <a:noFill/>
        </p:spPr>
        <p:txBody>
          <a:bodyPr wrap="square" lIns="0" tIns="0" rIns="0" bIns="0" anchor="ctr">
            <a:spAutoFit/>
          </a:bodyPr>
          <a:lstStyle/>
          <a:p>
            <a:pPr algn="l"/>
            <a:r>
              <a:rPr sz="950" b="0">
                <a:solidFill>
                  <a:srgbClr val="44403C"/>
                </a:solidFill>
                <a:latin typeface="Segoe UI"/>
              </a:rPr>
              <a:t>A piece of data</a:t>
            </a:r>
          </a:p>
        </p:txBody>
      </p:sp>
      <p:sp>
        <p:nvSpPr>
          <p:cNvPr id="29" name="a1wd450_td28"/>
          <p:cNvSpPr/>
          <p:nvPr/>
        </p:nvSpPr>
        <p:spPr>
          <a:xfrm>
            <a:off x="2103120" y="2551176"/>
            <a:ext cx="3840480" cy="43891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1wd450_tdt29"/>
          <p:cNvSpPr txBox="1"/>
          <p:nvPr/>
        </p:nvSpPr>
        <p:spPr>
          <a:xfrm>
            <a:off x="2176272" y="2551176"/>
            <a:ext cx="3730752" cy="438912"/>
          </a:xfrm>
          <a:prstGeom prst="rect">
            <a:avLst/>
          </a:prstGeom>
          <a:noFill/>
        </p:spPr>
        <p:txBody>
          <a:bodyPr wrap="square" lIns="0" tIns="0" rIns="0" bIns="0" anchor="ctr">
            <a:spAutoFit/>
          </a:bodyPr>
          <a:lstStyle/>
          <a:p>
            <a:pPr algn="l"/>
            <a:r>
              <a:rPr sz="950" b="0">
                <a:solidFill>
                  <a:srgbClr val="44403C"/>
                </a:solidFill>
                <a:latin typeface="Segoe UI"/>
              </a:rPr>
              <a:t>The category a message is published under</a:t>
            </a:r>
          </a:p>
        </p:txBody>
      </p:sp>
      <p:sp>
        <p:nvSpPr>
          <p:cNvPr id="31" name="a1wd600_td30"/>
          <p:cNvSpPr/>
          <p:nvPr/>
        </p:nvSpPr>
        <p:spPr>
          <a:xfrm>
            <a:off x="2103120" y="2990088"/>
            <a:ext cx="3840480" cy="438912"/>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1wd600_tdt31"/>
          <p:cNvSpPr txBox="1"/>
          <p:nvPr/>
        </p:nvSpPr>
        <p:spPr>
          <a:xfrm>
            <a:off x="2176272" y="2990088"/>
            <a:ext cx="3730752" cy="438912"/>
          </a:xfrm>
          <a:prstGeom prst="rect">
            <a:avLst/>
          </a:prstGeom>
          <a:noFill/>
        </p:spPr>
        <p:txBody>
          <a:bodyPr wrap="square" lIns="0" tIns="0" rIns="0" bIns="0" anchor="ctr">
            <a:spAutoFit/>
          </a:bodyPr>
          <a:lstStyle/>
          <a:p>
            <a:pPr algn="l"/>
            <a:r>
              <a:rPr sz="950" b="0">
                <a:solidFill>
                  <a:srgbClr val="44403C"/>
                </a:solidFill>
                <a:latin typeface="Segoe UI"/>
              </a:rPr>
              <a:t>A receiver that asks for a class of messages</a:t>
            </a:r>
          </a:p>
        </p:txBody>
      </p:sp>
      <p:sp>
        <p:nvSpPr>
          <p:cNvPr id="33" name="a1wd750_td32"/>
          <p:cNvSpPr/>
          <p:nvPr/>
        </p:nvSpPr>
        <p:spPr>
          <a:xfrm>
            <a:off x="2103120" y="3429000"/>
            <a:ext cx="3840480" cy="43891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1wd750_tdt33"/>
          <p:cNvSpPr txBox="1"/>
          <p:nvPr/>
        </p:nvSpPr>
        <p:spPr>
          <a:xfrm>
            <a:off x="2176272" y="3429000"/>
            <a:ext cx="3730752" cy="438912"/>
          </a:xfrm>
          <a:prstGeom prst="rect">
            <a:avLst/>
          </a:prstGeom>
          <a:noFill/>
        </p:spPr>
        <p:txBody>
          <a:bodyPr wrap="square" lIns="0" tIns="0" rIns="0" bIns="0" anchor="ctr">
            <a:spAutoFit/>
          </a:bodyPr>
          <a:lstStyle/>
          <a:p>
            <a:pPr algn="l"/>
            <a:r>
              <a:rPr sz="950" b="0">
                <a:solidFill>
                  <a:srgbClr val="44403C"/>
                </a:solidFill>
                <a:latin typeface="Segoe UI"/>
              </a:rPr>
              <a:t>The central point where messages are published</a:t>
            </a:r>
          </a:p>
        </p:txBody>
      </p:sp>
      <p:sp>
        <p:nvSpPr>
          <p:cNvPr id="35" name="a1f_th34"/>
          <p:cNvSpPr/>
          <p:nvPr/>
        </p:nvSpPr>
        <p:spPr>
          <a:xfrm>
            <a:off x="5943600" y="1234440"/>
            <a:ext cx="2743200" cy="43891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1f_tht35"/>
          <p:cNvSpPr txBox="1"/>
          <p:nvPr/>
        </p:nvSpPr>
        <p:spPr>
          <a:xfrm>
            <a:off x="6016752" y="1234440"/>
            <a:ext cx="2633472" cy="438912"/>
          </a:xfrm>
          <a:prstGeom prst="rect">
            <a:avLst/>
          </a:prstGeom>
          <a:noFill/>
        </p:spPr>
        <p:txBody>
          <a:bodyPr wrap="square" lIns="0" tIns="0" rIns="0" bIns="0" anchor="ctr">
            <a:spAutoFit/>
          </a:bodyPr>
          <a:lstStyle/>
          <a:p>
            <a:pPr algn="l"/>
            <a:r>
              <a:rPr sz="950" b="1">
                <a:solidFill>
                  <a:srgbClr val="FFFFFF"/>
                </a:solidFill>
                <a:latin typeface="Segoe UI"/>
              </a:rPr>
              <a:t>In the metrics example</a:t>
            </a:r>
          </a:p>
        </p:txBody>
      </p:sp>
      <p:sp>
        <p:nvSpPr>
          <p:cNvPr id="37" name="a1wd150_td36"/>
          <p:cNvSpPr/>
          <p:nvPr/>
        </p:nvSpPr>
        <p:spPr>
          <a:xfrm>
            <a:off x="5943600" y="1673352"/>
            <a:ext cx="2743200" cy="43891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1wd150_tdt37"/>
          <p:cNvSpPr txBox="1"/>
          <p:nvPr/>
        </p:nvSpPr>
        <p:spPr>
          <a:xfrm>
            <a:off x="6016752" y="1673352"/>
            <a:ext cx="2633472" cy="438912"/>
          </a:xfrm>
          <a:prstGeom prst="rect">
            <a:avLst/>
          </a:prstGeom>
          <a:noFill/>
        </p:spPr>
        <p:txBody>
          <a:bodyPr wrap="square" lIns="0" tIns="0" rIns="0" bIns="0" anchor="ctr">
            <a:spAutoFit/>
          </a:bodyPr>
          <a:lstStyle/>
          <a:p>
            <a:pPr algn="l"/>
            <a:r>
              <a:rPr sz="950" b="0">
                <a:solidFill>
                  <a:srgbClr val="44403C"/>
                </a:solidFill>
                <a:latin typeface="Segoe UI"/>
              </a:rPr>
              <a:t>Frontend server sending its CPU usage</a:t>
            </a:r>
          </a:p>
        </p:txBody>
      </p:sp>
      <p:sp>
        <p:nvSpPr>
          <p:cNvPr id="39" name="a1wd300_td38"/>
          <p:cNvSpPr/>
          <p:nvPr/>
        </p:nvSpPr>
        <p:spPr>
          <a:xfrm>
            <a:off x="5943600" y="2112264"/>
            <a:ext cx="2743200" cy="438912"/>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1wd300_tdt39"/>
          <p:cNvSpPr txBox="1"/>
          <p:nvPr/>
        </p:nvSpPr>
        <p:spPr>
          <a:xfrm>
            <a:off x="6016752" y="2112264"/>
            <a:ext cx="2633472" cy="438912"/>
          </a:xfrm>
          <a:prstGeom prst="rect">
            <a:avLst/>
          </a:prstGeom>
          <a:noFill/>
        </p:spPr>
        <p:txBody>
          <a:bodyPr wrap="square" lIns="0" tIns="0" rIns="0" bIns="0" anchor="ctr">
            <a:spAutoFit/>
          </a:bodyPr>
          <a:lstStyle/>
          <a:p>
            <a:pPr algn="l"/>
            <a:r>
              <a:rPr sz="950" b="0">
                <a:solidFill>
                  <a:srgbClr val="44403C"/>
                </a:solidFill>
                <a:latin typeface="Segoe UI"/>
              </a:rPr>
              <a:t>cpu=72% at 10:00:05</a:t>
            </a:r>
          </a:p>
        </p:txBody>
      </p:sp>
      <p:sp>
        <p:nvSpPr>
          <p:cNvPr id="41" name="a1wd450_td40"/>
          <p:cNvSpPr/>
          <p:nvPr/>
        </p:nvSpPr>
        <p:spPr>
          <a:xfrm>
            <a:off x="5943600" y="2551176"/>
            <a:ext cx="2743200" cy="43891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1wd450_tdt41"/>
          <p:cNvSpPr txBox="1"/>
          <p:nvPr/>
        </p:nvSpPr>
        <p:spPr>
          <a:xfrm>
            <a:off x="6016752" y="2551176"/>
            <a:ext cx="2633472" cy="438912"/>
          </a:xfrm>
          <a:prstGeom prst="rect">
            <a:avLst/>
          </a:prstGeom>
          <a:noFill/>
        </p:spPr>
        <p:txBody>
          <a:bodyPr wrap="square" lIns="0" tIns="0" rIns="0" bIns="0" anchor="ctr">
            <a:spAutoFit/>
          </a:bodyPr>
          <a:lstStyle/>
          <a:p>
            <a:pPr algn="l"/>
            <a:r>
              <a:rPr sz="950" b="0">
                <a:solidFill>
                  <a:srgbClr val="44403C"/>
                </a:solidFill>
                <a:latin typeface="Segoe UI"/>
              </a:rPr>
              <a:t>metrics</a:t>
            </a:r>
          </a:p>
        </p:txBody>
      </p:sp>
      <p:sp>
        <p:nvSpPr>
          <p:cNvPr id="43" name="a1wd600_td42"/>
          <p:cNvSpPr/>
          <p:nvPr/>
        </p:nvSpPr>
        <p:spPr>
          <a:xfrm>
            <a:off x="5943600" y="2990088"/>
            <a:ext cx="2743200" cy="438912"/>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1wd600_tdt43"/>
          <p:cNvSpPr txBox="1"/>
          <p:nvPr/>
        </p:nvSpPr>
        <p:spPr>
          <a:xfrm>
            <a:off x="6016752" y="2990088"/>
            <a:ext cx="2633472" cy="438912"/>
          </a:xfrm>
          <a:prstGeom prst="rect">
            <a:avLst/>
          </a:prstGeom>
          <a:noFill/>
        </p:spPr>
        <p:txBody>
          <a:bodyPr wrap="square" lIns="0" tIns="0" rIns="0" bIns="0" anchor="ctr">
            <a:spAutoFit/>
          </a:bodyPr>
          <a:lstStyle/>
          <a:p>
            <a:pPr algn="l"/>
            <a:r>
              <a:rPr sz="950" b="0">
                <a:solidFill>
                  <a:srgbClr val="44403C"/>
                </a:solidFill>
                <a:latin typeface="Segoe UI"/>
              </a:rPr>
              <a:t>Metrics dashboard</a:t>
            </a:r>
          </a:p>
        </p:txBody>
      </p:sp>
      <p:sp>
        <p:nvSpPr>
          <p:cNvPr id="45" name="a1wd750_td44"/>
          <p:cNvSpPr/>
          <p:nvPr/>
        </p:nvSpPr>
        <p:spPr>
          <a:xfrm>
            <a:off x="5943600" y="3429000"/>
            <a:ext cx="2743200" cy="43891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1wd750_tdt45"/>
          <p:cNvSpPr txBox="1"/>
          <p:nvPr/>
        </p:nvSpPr>
        <p:spPr>
          <a:xfrm>
            <a:off x="6016752" y="3429000"/>
            <a:ext cx="2633472" cy="438912"/>
          </a:xfrm>
          <a:prstGeom prst="rect">
            <a:avLst/>
          </a:prstGeom>
          <a:noFill/>
        </p:spPr>
        <p:txBody>
          <a:bodyPr wrap="square" lIns="0" tIns="0" rIns="0" bIns="0" anchor="ctr">
            <a:spAutoFit/>
          </a:bodyPr>
          <a:lstStyle/>
          <a:p>
            <a:pPr algn="l"/>
            <a:r>
              <a:rPr sz="950" b="0">
                <a:solidFill>
                  <a:srgbClr val="44403C"/>
                </a:solidFill>
                <a:latin typeface="Segoe UI"/>
              </a:rPr>
              <a:t>The pub/sub server in the middle</a:t>
            </a:r>
          </a:p>
        </p:txBody>
      </p:sp>
      <p:sp>
        <p:nvSpPr>
          <p:cNvPr id="47" name="a2u_nb46"/>
          <p:cNvSpPr/>
          <p:nvPr/>
        </p:nvSpPr>
        <p:spPr>
          <a:xfrm>
            <a:off x="457200" y="4005072"/>
            <a:ext cx="8229600" cy="566928"/>
          </a:xfrm>
          <a:prstGeom prst="roundRect">
            <a:avLst>
              <a:gd name="adj" fmla="val 1290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2u_nacc47"/>
          <p:cNvSpPr/>
          <p:nvPr/>
        </p:nvSpPr>
        <p:spPr>
          <a:xfrm>
            <a:off x="457200" y="4005072"/>
            <a:ext cx="54864"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2u_nt48"/>
          <p:cNvSpPr txBox="1"/>
          <p:nvPr/>
        </p:nvSpPr>
        <p:spPr>
          <a:xfrm>
            <a:off x="658368" y="4005072"/>
            <a:ext cx="7827264" cy="566928"/>
          </a:xfrm>
          <a:prstGeom prst="rect">
            <a:avLst/>
          </a:prstGeom>
          <a:noFill/>
        </p:spPr>
        <p:txBody>
          <a:bodyPr wrap="square" lIns="0" tIns="0" rIns="0" bIns="0" anchor="ctr">
            <a:spAutoFit/>
          </a:bodyPr>
          <a:lstStyle/>
          <a:p>
            <a:pPr algn="l"/>
            <a:r>
              <a:rPr sz="950" b="1">
                <a:solidFill>
                  <a:srgbClr val="C2410C"/>
                </a:solidFill>
                <a:latin typeface="Segoe UI"/>
              </a:rPr>
              <a:t>KAFKA  </a:t>
            </a:r>
            <a:r>
              <a:rPr sz="950" b="0">
                <a:solidFill>
                  <a:srgbClr val="44403C"/>
                </a:solidFill>
                <a:latin typeface="Segoe UI"/>
              </a:rPr>
              <a:t>In Kafka, a 'class' is called a TOPIC, and the broker is a Kafka server - also called a broker.</a:t>
            </a:r>
          </a:p>
        </p:txBody>
      </p:sp>
      <p:sp>
        <p:nvSpPr>
          <p:cNvPr id="50" name="ft4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32</a:t>
            </a:r>
          </a:p>
        </p:txBody>
      </p:sp>
      <p:sp>
        <p:nvSpPr>
          <p:cNvPr id="51" name="ft5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ft5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53" name="ft5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500"/>
                                        <p:tgtEl>
                                          <p:spTgt spid="3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fade">
                                      <p:cBhvr>
                                        <p:cTn id="21" dur="500"/>
                                        <p:tgtEl>
                                          <p:spTgt spid="36"/>
                                        </p:tgtEl>
                                      </p:cBhvr>
                                    </p:animEffect>
                                  </p:childTnLst>
                                </p:cTn>
                              </p:par>
                              <p:par>
                                <p:cTn id="25" presetID="22" presetClass="entr" presetSubtype="8" fill="hold" grpId="0" nodeType="withEffect">
                                  <p:stCondLst>
                                    <p:cond delay="15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500"/>
                                        <p:tgtEl>
                                          <p:spTgt spid="13"/>
                                        </p:tgtEl>
                                      </p:cBhvr>
                                    </p:animEffect>
                                  </p:childTnLst>
                                </p:cTn>
                              </p:par>
                              <p:par>
                                <p:cTn id="28" presetID="22" presetClass="entr" presetSubtype="8" fill="hold" grpId="0" nodeType="withEffect">
                                  <p:stCondLst>
                                    <p:cond delay="15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31" presetID="22" presetClass="entr" presetSubtype="8" fill="hold" grpId="0" nodeType="withEffect">
                                  <p:stCondLst>
                                    <p:cond delay="150"/>
                                  </p:stCondLst>
                                  <p:childTnLst>
                                    <p:set>
                                      <p:cBhvr>
                                        <p:cTn id="29" dur="1" fill="hold">
                                          <p:stCondLst>
                                            <p:cond delay="0"/>
                                          </p:stCondLst>
                                        </p:cTn>
                                        <p:tgtEl>
                                          <p:spTgt spid="25"/>
                                        </p:tgtEl>
                                        <p:attrNameLst>
                                          <p:attrName>style.visibility</p:attrName>
                                        </p:attrNameLst>
                                      </p:cBhvr>
                                      <p:to>
                                        <p:strVal val="visible"/>
                                      </p:to>
                                    </p:set>
                                    <p:animEffect transition="in" filter="wipe(left)">
                                      <p:cBhvr>
                                        <p:cTn id="30" dur="500"/>
                                        <p:tgtEl>
                                          <p:spTgt spid="25"/>
                                        </p:tgtEl>
                                      </p:cBhvr>
                                    </p:animEffect>
                                  </p:childTnLst>
                                </p:cTn>
                              </p:par>
                              <p:par>
                                <p:cTn id="34" presetID="22" presetClass="entr" presetSubtype="8" fill="hold" grpId="0" nodeType="withEffect">
                                  <p:stCondLst>
                                    <p:cond delay="150"/>
                                  </p:stCondLst>
                                  <p:childTnLst>
                                    <p:set>
                                      <p:cBhvr>
                                        <p:cTn id="32" dur="1" fill="hold">
                                          <p:stCondLst>
                                            <p:cond delay="0"/>
                                          </p:stCondLst>
                                        </p:cTn>
                                        <p:tgtEl>
                                          <p:spTgt spid="26"/>
                                        </p:tgtEl>
                                        <p:attrNameLst>
                                          <p:attrName>style.visibility</p:attrName>
                                        </p:attrNameLst>
                                      </p:cBhvr>
                                      <p:to>
                                        <p:strVal val="visible"/>
                                      </p:to>
                                    </p:set>
                                    <p:animEffect transition="in" filter="wipe(left)">
                                      <p:cBhvr>
                                        <p:cTn id="33" dur="500"/>
                                        <p:tgtEl>
                                          <p:spTgt spid="26"/>
                                        </p:tgtEl>
                                      </p:cBhvr>
                                    </p:animEffect>
                                  </p:childTnLst>
                                </p:cTn>
                              </p:par>
                              <p:par>
                                <p:cTn id="37" presetID="22" presetClass="entr" presetSubtype="8" fill="hold" grpId="0" nodeType="withEffect">
                                  <p:stCondLst>
                                    <p:cond delay="150"/>
                                  </p:stCondLst>
                                  <p:childTnLst>
                                    <p:set>
                                      <p:cBhvr>
                                        <p:cTn id="35" dur="1" fill="hold">
                                          <p:stCondLst>
                                            <p:cond delay="0"/>
                                          </p:stCondLst>
                                        </p:cTn>
                                        <p:tgtEl>
                                          <p:spTgt spid="37"/>
                                        </p:tgtEl>
                                        <p:attrNameLst>
                                          <p:attrName>style.visibility</p:attrName>
                                        </p:attrNameLst>
                                      </p:cBhvr>
                                      <p:to>
                                        <p:strVal val="visible"/>
                                      </p:to>
                                    </p:set>
                                    <p:animEffect transition="in" filter="wipe(left)">
                                      <p:cBhvr>
                                        <p:cTn id="36" dur="500"/>
                                        <p:tgtEl>
                                          <p:spTgt spid="37"/>
                                        </p:tgtEl>
                                      </p:cBhvr>
                                    </p:animEffect>
                                  </p:childTnLst>
                                </p:cTn>
                              </p:par>
                              <p:par>
                                <p:cTn id="40" presetID="22" presetClass="entr" presetSubtype="8" fill="hold" grpId="0" nodeType="withEffect">
                                  <p:stCondLst>
                                    <p:cond delay="150"/>
                                  </p:stCondLst>
                                  <p:childTnLst>
                                    <p:set>
                                      <p:cBhvr>
                                        <p:cTn id="38" dur="1" fill="hold">
                                          <p:stCondLst>
                                            <p:cond delay="0"/>
                                          </p:stCondLst>
                                        </p:cTn>
                                        <p:tgtEl>
                                          <p:spTgt spid="38"/>
                                        </p:tgtEl>
                                        <p:attrNameLst>
                                          <p:attrName>style.visibility</p:attrName>
                                        </p:attrNameLst>
                                      </p:cBhvr>
                                      <p:to>
                                        <p:strVal val="visible"/>
                                      </p:to>
                                    </p:set>
                                    <p:animEffect transition="in" filter="wipe(left)">
                                      <p:cBhvr>
                                        <p:cTn id="39" dur="500"/>
                                        <p:tgtEl>
                                          <p:spTgt spid="38"/>
                                        </p:tgtEl>
                                      </p:cBhvr>
                                    </p:animEffect>
                                  </p:childTnLst>
                                </p:cTn>
                              </p:par>
                              <p:par>
                                <p:cTn id="43" presetID="22" presetClass="entr" presetSubtype="8" fill="hold" grpId="0" nodeType="withEffect">
                                  <p:stCondLst>
                                    <p:cond delay="30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par>
                                <p:cTn id="46" presetID="22" presetClass="entr" presetSubtype="8" fill="hold" grpId="0" nodeType="withEffect">
                                  <p:stCondLst>
                                    <p:cond delay="30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500"/>
                                        <p:tgtEl>
                                          <p:spTgt spid="16"/>
                                        </p:tgtEl>
                                      </p:cBhvr>
                                    </p:animEffect>
                                  </p:childTnLst>
                                </p:cTn>
                              </p:par>
                              <p:par>
                                <p:cTn id="49" presetID="22" presetClass="entr" presetSubtype="8" fill="hold" grpId="0" nodeType="withEffect">
                                  <p:stCondLst>
                                    <p:cond delay="300"/>
                                  </p:stCondLst>
                                  <p:childTnLst>
                                    <p:set>
                                      <p:cBhvr>
                                        <p:cTn id="47" dur="1" fill="hold">
                                          <p:stCondLst>
                                            <p:cond delay="0"/>
                                          </p:stCondLst>
                                        </p:cTn>
                                        <p:tgtEl>
                                          <p:spTgt spid="27"/>
                                        </p:tgtEl>
                                        <p:attrNameLst>
                                          <p:attrName>style.visibility</p:attrName>
                                        </p:attrNameLst>
                                      </p:cBhvr>
                                      <p:to>
                                        <p:strVal val="visible"/>
                                      </p:to>
                                    </p:set>
                                    <p:animEffect transition="in" filter="wipe(left)">
                                      <p:cBhvr>
                                        <p:cTn id="48" dur="500"/>
                                        <p:tgtEl>
                                          <p:spTgt spid="27"/>
                                        </p:tgtEl>
                                      </p:cBhvr>
                                    </p:animEffect>
                                  </p:childTnLst>
                                </p:cTn>
                              </p:par>
                              <p:par>
                                <p:cTn id="52" presetID="22" presetClass="entr" presetSubtype="8" fill="hold" grpId="0" nodeType="withEffect">
                                  <p:stCondLst>
                                    <p:cond delay="300"/>
                                  </p:stCondLst>
                                  <p:childTnLst>
                                    <p:set>
                                      <p:cBhvr>
                                        <p:cTn id="50" dur="1" fill="hold">
                                          <p:stCondLst>
                                            <p:cond delay="0"/>
                                          </p:stCondLst>
                                        </p:cTn>
                                        <p:tgtEl>
                                          <p:spTgt spid="28"/>
                                        </p:tgtEl>
                                        <p:attrNameLst>
                                          <p:attrName>style.visibility</p:attrName>
                                        </p:attrNameLst>
                                      </p:cBhvr>
                                      <p:to>
                                        <p:strVal val="visible"/>
                                      </p:to>
                                    </p:set>
                                    <p:animEffect transition="in" filter="wipe(left)">
                                      <p:cBhvr>
                                        <p:cTn id="51" dur="500"/>
                                        <p:tgtEl>
                                          <p:spTgt spid="28"/>
                                        </p:tgtEl>
                                      </p:cBhvr>
                                    </p:animEffect>
                                  </p:childTnLst>
                                </p:cTn>
                              </p:par>
                              <p:par>
                                <p:cTn id="55" presetID="22" presetClass="entr" presetSubtype="8" fill="hold" grpId="0" nodeType="withEffect">
                                  <p:stCondLst>
                                    <p:cond delay="300"/>
                                  </p:stCondLst>
                                  <p:childTnLst>
                                    <p:set>
                                      <p:cBhvr>
                                        <p:cTn id="53" dur="1" fill="hold">
                                          <p:stCondLst>
                                            <p:cond delay="0"/>
                                          </p:stCondLst>
                                        </p:cTn>
                                        <p:tgtEl>
                                          <p:spTgt spid="39"/>
                                        </p:tgtEl>
                                        <p:attrNameLst>
                                          <p:attrName>style.visibility</p:attrName>
                                        </p:attrNameLst>
                                      </p:cBhvr>
                                      <p:to>
                                        <p:strVal val="visible"/>
                                      </p:to>
                                    </p:set>
                                    <p:animEffect transition="in" filter="wipe(left)">
                                      <p:cBhvr>
                                        <p:cTn id="54" dur="500"/>
                                        <p:tgtEl>
                                          <p:spTgt spid="39"/>
                                        </p:tgtEl>
                                      </p:cBhvr>
                                    </p:animEffect>
                                  </p:childTnLst>
                                </p:cTn>
                              </p:par>
                              <p:par>
                                <p:cTn id="58" presetID="22" presetClass="entr" presetSubtype="8" fill="hold" grpId="0" nodeType="withEffect">
                                  <p:stCondLst>
                                    <p:cond delay="300"/>
                                  </p:stCondLst>
                                  <p:childTnLst>
                                    <p:set>
                                      <p:cBhvr>
                                        <p:cTn id="56" dur="1" fill="hold">
                                          <p:stCondLst>
                                            <p:cond delay="0"/>
                                          </p:stCondLst>
                                        </p:cTn>
                                        <p:tgtEl>
                                          <p:spTgt spid="40"/>
                                        </p:tgtEl>
                                        <p:attrNameLst>
                                          <p:attrName>style.visibility</p:attrName>
                                        </p:attrNameLst>
                                      </p:cBhvr>
                                      <p:to>
                                        <p:strVal val="visible"/>
                                      </p:to>
                                    </p:set>
                                    <p:animEffect transition="in" filter="wipe(left)">
                                      <p:cBhvr>
                                        <p:cTn id="57" dur="500"/>
                                        <p:tgtEl>
                                          <p:spTgt spid="40"/>
                                        </p:tgtEl>
                                      </p:cBhvr>
                                    </p:animEffect>
                                  </p:childTnLst>
                                </p:cTn>
                              </p:par>
                              <p:par>
                                <p:cTn id="61" presetID="22" presetClass="entr" presetSubtype="8" fill="hold" grpId="0" nodeType="withEffect">
                                  <p:stCondLst>
                                    <p:cond delay="450"/>
                                  </p:stCondLst>
                                  <p:childTnLst>
                                    <p:set>
                                      <p:cBhvr>
                                        <p:cTn id="59" dur="1" fill="hold">
                                          <p:stCondLst>
                                            <p:cond delay="0"/>
                                          </p:stCondLst>
                                        </p:cTn>
                                        <p:tgtEl>
                                          <p:spTgt spid="17"/>
                                        </p:tgtEl>
                                        <p:attrNameLst>
                                          <p:attrName>style.visibility</p:attrName>
                                        </p:attrNameLst>
                                      </p:cBhvr>
                                      <p:to>
                                        <p:strVal val="visible"/>
                                      </p:to>
                                    </p:set>
                                    <p:animEffect transition="in" filter="wipe(left)">
                                      <p:cBhvr>
                                        <p:cTn id="60" dur="500"/>
                                        <p:tgtEl>
                                          <p:spTgt spid="17"/>
                                        </p:tgtEl>
                                      </p:cBhvr>
                                    </p:animEffect>
                                  </p:childTnLst>
                                </p:cTn>
                              </p:par>
                              <p:par>
                                <p:cTn id="64" presetID="22" presetClass="entr" presetSubtype="8" fill="hold" grpId="0" nodeType="withEffect">
                                  <p:stCondLst>
                                    <p:cond delay="450"/>
                                  </p:stCondLst>
                                  <p:childTnLst>
                                    <p:set>
                                      <p:cBhvr>
                                        <p:cTn id="62" dur="1" fill="hold">
                                          <p:stCondLst>
                                            <p:cond delay="0"/>
                                          </p:stCondLst>
                                        </p:cTn>
                                        <p:tgtEl>
                                          <p:spTgt spid="18"/>
                                        </p:tgtEl>
                                        <p:attrNameLst>
                                          <p:attrName>style.visibility</p:attrName>
                                        </p:attrNameLst>
                                      </p:cBhvr>
                                      <p:to>
                                        <p:strVal val="visible"/>
                                      </p:to>
                                    </p:set>
                                    <p:animEffect transition="in" filter="wipe(left)">
                                      <p:cBhvr>
                                        <p:cTn id="63" dur="500"/>
                                        <p:tgtEl>
                                          <p:spTgt spid="18"/>
                                        </p:tgtEl>
                                      </p:cBhvr>
                                    </p:animEffect>
                                  </p:childTnLst>
                                </p:cTn>
                              </p:par>
                              <p:par>
                                <p:cTn id="67" presetID="22" presetClass="entr" presetSubtype="8" fill="hold" grpId="0" nodeType="withEffect">
                                  <p:stCondLst>
                                    <p:cond delay="450"/>
                                  </p:stCondLst>
                                  <p:childTnLst>
                                    <p:set>
                                      <p:cBhvr>
                                        <p:cTn id="65" dur="1" fill="hold">
                                          <p:stCondLst>
                                            <p:cond delay="0"/>
                                          </p:stCondLst>
                                        </p:cTn>
                                        <p:tgtEl>
                                          <p:spTgt spid="29"/>
                                        </p:tgtEl>
                                        <p:attrNameLst>
                                          <p:attrName>style.visibility</p:attrName>
                                        </p:attrNameLst>
                                      </p:cBhvr>
                                      <p:to>
                                        <p:strVal val="visible"/>
                                      </p:to>
                                    </p:set>
                                    <p:animEffect transition="in" filter="wipe(left)">
                                      <p:cBhvr>
                                        <p:cTn id="66" dur="500"/>
                                        <p:tgtEl>
                                          <p:spTgt spid="29"/>
                                        </p:tgtEl>
                                      </p:cBhvr>
                                    </p:animEffect>
                                  </p:childTnLst>
                                </p:cTn>
                              </p:par>
                              <p:par>
                                <p:cTn id="70" presetID="22" presetClass="entr" presetSubtype="8" fill="hold" grpId="0" nodeType="withEffect">
                                  <p:stCondLst>
                                    <p:cond delay="450"/>
                                  </p:stCondLst>
                                  <p:childTnLst>
                                    <p:set>
                                      <p:cBhvr>
                                        <p:cTn id="68" dur="1" fill="hold">
                                          <p:stCondLst>
                                            <p:cond delay="0"/>
                                          </p:stCondLst>
                                        </p:cTn>
                                        <p:tgtEl>
                                          <p:spTgt spid="30"/>
                                        </p:tgtEl>
                                        <p:attrNameLst>
                                          <p:attrName>style.visibility</p:attrName>
                                        </p:attrNameLst>
                                      </p:cBhvr>
                                      <p:to>
                                        <p:strVal val="visible"/>
                                      </p:to>
                                    </p:set>
                                    <p:animEffect transition="in" filter="wipe(left)">
                                      <p:cBhvr>
                                        <p:cTn id="69" dur="500"/>
                                        <p:tgtEl>
                                          <p:spTgt spid="30"/>
                                        </p:tgtEl>
                                      </p:cBhvr>
                                    </p:animEffect>
                                  </p:childTnLst>
                                </p:cTn>
                              </p:par>
                              <p:par>
                                <p:cTn id="73" presetID="22" presetClass="entr" presetSubtype="8" fill="hold" grpId="0" nodeType="withEffect">
                                  <p:stCondLst>
                                    <p:cond delay="450"/>
                                  </p:stCondLst>
                                  <p:childTnLst>
                                    <p:set>
                                      <p:cBhvr>
                                        <p:cTn id="71" dur="1" fill="hold">
                                          <p:stCondLst>
                                            <p:cond delay="0"/>
                                          </p:stCondLst>
                                        </p:cTn>
                                        <p:tgtEl>
                                          <p:spTgt spid="41"/>
                                        </p:tgtEl>
                                        <p:attrNameLst>
                                          <p:attrName>style.visibility</p:attrName>
                                        </p:attrNameLst>
                                      </p:cBhvr>
                                      <p:to>
                                        <p:strVal val="visible"/>
                                      </p:to>
                                    </p:set>
                                    <p:animEffect transition="in" filter="wipe(left)">
                                      <p:cBhvr>
                                        <p:cTn id="72" dur="500"/>
                                        <p:tgtEl>
                                          <p:spTgt spid="41"/>
                                        </p:tgtEl>
                                      </p:cBhvr>
                                    </p:animEffect>
                                  </p:childTnLst>
                                </p:cTn>
                              </p:par>
                              <p:par>
                                <p:cTn id="76" presetID="22" presetClass="entr" presetSubtype="8" fill="hold" grpId="0" nodeType="withEffect">
                                  <p:stCondLst>
                                    <p:cond delay="450"/>
                                  </p:stCondLst>
                                  <p:childTnLst>
                                    <p:set>
                                      <p:cBhvr>
                                        <p:cTn id="74" dur="1" fill="hold">
                                          <p:stCondLst>
                                            <p:cond delay="0"/>
                                          </p:stCondLst>
                                        </p:cTn>
                                        <p:tgtEl>
                                          <p:spTgt spid="42"/>
                                        </p:tgtEl>
                                        <p:attrNameLst>
                                          <p:attrName>style.visibility</p:attrName>
                                        </p:attrNameLst>
                                      </p:cBhvr>
                                      <p:to>
                                        <p:strVal val="visible"/>
                                      </p:to>
                                    </p:set>
                                    <p:animEffect transition="in" filter="wipe(left)">
                                      <p:cBhvr>
                                        <p:cTn id="75" dur="500"/>
                                        <p:tgtEl>
                                          <p:spTgt spid="42"/>
                                        </p:tgtEl>
                                      </p:cBhvr>
                                    </p:animEffect>
                                  </p:childTnLst>
                                </p:cTn>
                              </p:par>
                              <p:par>
                                <p:cTn id="79" presetID="22" presetClass="entr" presetSubtype="8" fill="hold" grpId="0" nodeType="withEffect">
                                  <p:stCondLst>
                                    <p:cond delay="600"/>
                                  </p:stCondLst>
                                  <p:childTnLst>
                                    <p:set>
                                      <p:cBhvr>
                                        <p:cTn id="77" dur="1" fill="hold">
                                          <p:stCondLst>
                                            <p:cond delay="0"/>
                                          </p:stCondLst>
                                        </p:cTn>
                                        <p:tgtEl>
                                          <p:spTgt spid="19"/>
                                        </p:tgtEl>
                                        <p:attrNameLst>
                                          <p:attrName>style.visibility</p:attrName>
                                        </p:attrNameLst>
                                      </p:cBhvr>
                                      <p:to>
                                        <p:strVal val="visible"/>
                                      </p:to>
                                    </p:set>
                                    <p:animEffect transition="in" filter="wipe(left)">
                                      <p:cBhvr>
                                        <p:cTn id="78" dur="500"/>
                                        <p:tgtEl>
                                          <p:spTgt spid="19"/>
                                        </p:tgtEl>
                                      </p:cBhvr>
                                    </p:animEffect>
                                  </p:childTnLst>
                                </p:cTn>
                              </p:par>
                              <p:par>
                                <p:cTn id="82" presetID="22" presetClass="entr" presetSubtype="8" fill="hold" grpId="0" nodeType="withEffect">
                                  <p:stCondLst>
                                    <p:cond delay="600"/>
                                  </p:stCondLst>
                                  <p:childTnLst>
                                    <p:set>
                                      <p:cBhvr>
                                        <p:cTn id="80" dur="1" fill="hold">
                                          <p:stCondLst>
                                            <p:cond delay="0"/>
                                          </p:stCondLst>
                                        </p:cTn>
                                        <p:tgtEl>
                                          <p:spTgt spid="20"/>
                                        </p:tgtEl>
                                        <p:attrNameLst>
                                          <p:attrName>style.visibility</p:attrName>
                                        </p:attrNameLst>
                                      </p:cBhvr>
                                      <p:to>
                                        <p:strVal val="visible"/>
                                      </p:to>
                                    </p:set>
                                    <p:animEffect transition="in" filter="wipe(left)">
                                      <p:cBhvr>
                                        <p:cTn id="81" dur="500"/>
                                        <p:tgtEl>
                                          <p:spTgt spid="20"/>
                                        </p:tgtEl>
                                      </p:cBhvr>
                                    </p:animEffect>
                                  </p:childTnLst>
                                </p:cTn>
                              </p:par>
                              <p:par>
                                <p:cTn id="85" presetID="22" presetClass="entr" presetSubtype="8" fill="hold" grpId="0" nodeType="withEffect">
                                  <p:stCondLst>
                                    <p:cond delay="600"/>
                                  </p:stCondLst>
                                  <p:childTnLst>
                                    <p:set>
                                      <p:cBhvr>
                                        <p:cTn id="83" dur="1" fill="hold">
                                          <p:stCondLst>
                                            <p:cond delay="0"/>
                                          </p:stCondLst>
                                        </p:cTn>
                                        <p:tgtEl>
                                          <p:spTgt spid="31"/>
                                        </p:tgtEl>
                                        <p:attrNameLst>
                                          <p:attrName>style.visibility</p:attrName>
                                        </p:attrNameLst>
                                      </p:cBhvr>
                                      <p:to>
                                        <p:strVal val="visible"/>
                                      </p:to>
                                    </p:set>
                                    <p:animEffect transition="in" filter="wipe(left)">
                                      <p:cBhvr>
                                        <p:cTn id="84" dur="500"/>
                                        <p:tgtEl>
                                          <p:spTgt spid="31"/>
                                        </p:tgtEl>
                                      </p:cBhvr>
                                    </p:animEffect>
                                  </p:childTnLst>
                                </p:cTn>
                              </p:par>
                              <p:par>
                                <p:cTn id="88" presetID="22" presetClass="entr" presetSubtype="8" fill="hold" grpId="0" nodeType="withEffect">
                                  <p:stCondLst>
                                    <p:cond delay="600"/>
                                  </p:stCondLst>
                                  <p:childTnLst>
                                    <p:set>
                                      <p:cBhvr>
                                        <p:cTn id="86" dur="1" fill="hold">
                                          <p:stCondLst>
                                            <p:cond delay="0"/>
                                          </p:stCondLst>
                                        </p:cTn>
                                        <p:tgtEl>
                                          <p:spTgt spid="32"/>
                                        </p:tgtEl>
                                        <p:attrNameLst>
                                          <p:attrName>style.visibility</p:attrName>
                                        </p:attrNameLst>
                                      </p:cBhvr>
                                      <p:to>
                                        <p:strVal val="visible"/>
                                      </p:to>
                                    </p:set>
                                    <p:animEffect transition="in" filter="wipe(left)">
                                      <p:cBhvr>
                                        <p:cTn id="87" dur="500"/>
                                        <p:tgtEl>
                                          <p:spTgt spid="32"/>
                                        </p:tgtEl>
                                      </p:cBhvr>
                                    </p:animEffect>
                                  </p:childTnLst>
                                </p:cTn>
                              </p:par>
                              <p:par>
                                <p:cTn id="91" presetID="22" presetClass="entr" presetSubtype="8" fill="hold" grpId="0" nodeType="withEffect">
                                  <p:stCondLst>
                                    <p:cond delay="600"/>
                                  </p:stCondLst>
                                  <p:childTnLst>
                                    <p:set>
                                      <p:cBhvr>
                                        <p:cTn id="89" dur="1" fill="hold">
                                          <p:stCondLst>
                                            <p:cond delay="0"/>
                                          </p:stCondLst>
                                        </p:cTn>
                                        <p:tgtEl>
                                          <p:spTgt spid="43"/>
                                        </p:tgtEl>
                                        <p:attrNameLst>
                                          <p:attrName>style.visibility</p:attrName>
                                        </p:attrNameLst>
                                      </p:cBhvr>
                                      <p:to>
                                        <p:strVal val="visible"/>
                                      </p:to>
                                    </p:set>
                                    <p:animEffect transition="in" filter="wipe(left)">
                                      <p:cBhvr>
                                        <p:cTn id="90" dur="500"/>
                                        <p:tgtEl>
                                          <p:spTgt spid="43"/>
                                        </p:tgtEl>
                                      </p:cBhvr>
                                    </p:animEffect>
                                  </p:childTnLst>
                                </p:cTn>
                              </p:par>
                              <p:par>
                                <p:cTn id="94" presetID="22" presetClass="entr" presetSubtype="8" fill="hold" grpId="0" nodeType="withEffect">
                                  <p:stCondLst>
                                    <p:cond delay="600"/>
                                  </p:stCondLst>
                                  <p:childTnLst>
                                    <p:set>
                                      <p:cBhvr>
                                        <p:cTn id="92" dur="1" fill="hold">
                                          <p:stCondLst>
                                            <p:cond delay="0"/>
                                          </p:stCondLst>
                                        </p:cTn>
                                        <p:tgtEl>
                                          <p:spTgt spid="44"/>
                                        </p:tgtEl>
                                        <p:attrNameLst>
                                          <p:attrName>style.visibility</p:attrName>
                                        </p:attrNameLst>
                                      </p:cBhvr>
                                      <p:to>
                                        <p:strVal val="visible"/>
                                      </p:to>
                                    </p:set>
                                    <p:animEffect transition="in" filter="wipe(left)">
                                      <p:cBhvr>
                                        <p:cTn id="93" dur="500"/>
                                        <p:tgtEl>
                                          <p:spTgt spid="44"/>
                                        </p:tgtEl>
                                      </p:cBhvr>
                                    </p:animEffect>
                                  </p:childTnLst>
                                </p:cTn>
                              </p:par>
                              <p:par>
                                <p:cTn id="97" presetID="22" presetClass="entr" presetSubtype="8" fill="hold" grpId="0" nodeType="withEffect">
                                  <p:stCondLst>
                                    <p:cond delay="750"/>
                                  </p:stCondLst>
                                  <p:childTnLst>
                                    <p:set>
                                      <p:cBhvr>
                                        <p:cTn id="95" dur="1" fill="hold">
                                          <p:stCondLst>
                                            <p:cond delay="0"/>
                                          </p:stCondLst>
                                        </p:cTn>
                                        <p:tgtEl>
                                          <p:spTgt spid="21"/>
                                        </p:tgtEl>
                                        <p:attrNameLst>
                                          <p:attrName>style.visibility</p:attrName>
                                        </p:attrNameLst>
                                      </p:cBhvr>
                                      <p:to>
                                        <p:strVal val="visible"/>
                                      </p:to>
                                    </p:set>
                                    <p:animEffect transition="in" filter="wipe(left)">
                                      <p:cBhvr>
                                        <p:cTn id="96" dur="500"/>
                                        <p:tgtEl>
                                          <p:spTgt spid="21"/>
                                        </p:tgtEl>
                                      </p:cBhvr>
                                    </p:animEffect>
                                  </p:childTnLst>
                                </p:cTn>
                              </p:par>
                              <p:par>
                                <p:cTn id="100" presetID="22" presetClass="entr" presetSubtype="8" fill="hold" grpId="0" nodeType="withEffect">
                                  <p:stCondLst>
                                    <p:cond delay="750"/>
                                  </p:stCondLst>
                                  <p:childTnLst>
                                    <p:set>
                                      <p:cBhvr>
                                        <p:cTn id="98" dur="1" fill="hold">
                                          <p:stCondLst>
                                            <p:cond delay="0"/>
                                          </p:stCondLst>
                                        </p:cTn>
                                        <p:tgtEl>
                                          <p:spTgt spid="22"/>
                                        </p:tgtEl>
                                        <p:attrNameLst>
                                          <p:attrName>style.visibility</p:attrName>
                                        </p:attrNameLst>
                                      </p:cBhvr>
                                      <p:to>
                                        <p:strVal val="visible"/>
                                      </p:to>
                                    </p:set>
                                    <p:animEffect transition="in" filter="wipe(left)">
                                      <p:cBhvr>
                                        <p:cTn id="99" dur="500"/>
                                        <p:tgtEl>
                                          <p:spTgt spid="22"/>
                                        </p:tgtEl>
                                      </p:cBhvr>
                                    </p:animEffect>
                                  </p:childTnLst>
                                </p:cTn>
                              </p:par>
                              <p:par>
                                <p:cTn id="103" presetID="22" presetClass="entr" presetSubtype="8" fill="hold" grpId="0" nodeType="withEffect">
                                  <p:stCondLst>
                                    <p:cond delay="750"/>
                                  </p:stCondLst>
                                  <p:childTnLst>
                                    <p:set>
                                      <p:cBhvr>
                                        <p:cTn id="101" dur="1" fill="hold">
                                          <p:stCondLst>
                                            <p:cond delay="0"/>
                                          </p:stCondLst>
                                        </p:cTn>
                                        <p:tgtEl>
                                          <p:spTgt spid="33"/>
                                        </p:tgtEl>
                                        <p:attrNameLst>
                                          <p:attrName>style.visibility</p:attrName>
                                        </p:attrNameLst>
                                      </p:cBhvr>
                                      <p:to>
                                        <p:strVal val="visible"/>
                                      </p:to>
                                    </p:set>
                                    <p:animEffect transition="in" filter="wipe(left)">
                                      <p:cBhvr>
                                        <p:cTn id="102" dur="500"/>
                                        <p:tgtEl>
                                          <p:spTgt spid="33"/>
                                        </p:tgtEl>
                                      </p:cBhvr>
                                    </p:animEffect>
                                  </p:childTnLst>
                                </p:cTn>
                              </p:par>
                              <p:par>
                                <p:cTn id="106" presetID="22" presetClass="entr" presetSubtype="8" fill="hold" grpId="0" nodeType="withEffect">
                                  <p:stCondLst>
                                    <p:cond delay="750"/>
                                  </p:stCondLst>
                                  <p:childTnLst>
                                    <p:set>
                                      <p:cBhvr>
                                        <p:cTn id="104" dur="1" fill="hold">
                                          <p:stCondLst>
                                            <p:cond delay="0"/>
                                          </p:stCondLst>
                                        </p:cTn>
                                        <p:tgtEl>
                                          <p:spTgt spid="34"/>
                                        </p:tgtEl>
                                        <p:attrNameLst>
                                          <p:attrName>style.visibility</p:attrName>
                                        </p:attrNameLst>
                                      </p:cBhvr>
                                      <p:to>
                                        <p:strVal val="visible"/>
                                      </p:to>
                                    </p:set>
                                    <p:animEffect transition="in" filter="wipe(left)">
                                      <p:cBhvr>
                                        <p:cTn id="105" dur="500"/>
                                        <p:tgtEl>
                                          <p:spTgt spid="34"/>
                                        </p:tgtEl>
                                      </p:cBhvr>
                                    </p:animEffect>
                                  </p:childTnLst>
                                </p:cTn>
                              </p:par>
                              <p:par>
                                <p:cTn id="109" presetID="22" presetClass="entr" presetSubtype="8" fill="hold" grpId="0" nodeType="withEffect">
                                  <p:stCondLst>
                                    <p:cond delay="750"/>
                                  </p:stCondLst>
                                  <p:childTnLst>
                                    <p:set>
                                      <p:cBhvr>
                                        <p:cTn id="107" dur="1" fill="hold">
                                          <p:stCondLst>
                                            <p:cond delay="0"/>
                                          </p:stCondLst>
                                        </p:cTn>
                                        <p:tgtEl>
                                          <p:spTgt spid="45"/>
                                        </p:tgtEl>
                                        <p:attrNameLst>
                                          <p:attrName>style.visibility</p:attrName>
                                        </p:attrNameLst>
                                      </p:cBhvr>
                                      <p:to>
                                        <p:strVal val="visible"/>
                                      </p:to>
                                    </p:set>
                                    <p:animEffect transition="in" filter="wipe(left)">
                                      <p:cBhvr>
                                        <p:cTn id="108" dur="500"/>
                                        <p:tgtEl>
                                          <p:spTgt spid="45"/>
                                        </p:tgtEl>
                                      </p:cBhvr>
                                    </p:animEffect>
                                  </p:childTnLst>
                                </p:cTn>
                              </p:par>
                              <p:par>
                                <p:cTn id="112" presetID="22" presetClass="entr" presetSubtype="8" fill="hold" grpId="0" nodeType="withEffect">
                                  <p:stCondLst>
                                    <p:cond delay="750"/>
                                  </p:stCondLst>
                                  <p:childTnLst>
                                    <p:set>
                                      <p:cBhvr>
                                        <p:cTn id="110" dur="1" fill="hold">
                                          <p:stCondLst>
                                            <p:cond delay="0"/>
                                          </p:stCondLst>
                                        </p:cTn>
                                        <p:tgtEl>
                                          <p:spTgt spid="46"/>
                                        </p:tgtEl>
                                        <p:attrNameLst>
                                          <p:attrName>style.visibility</p:attrName>
                                        </p:attrNameLst>
                                      </p:cBhvr>
                                      <p:to>
                                        <p:strVal val="visible"/>
                                      </p:to>
                                    </p:set>
                                    <p:animEffect transition="in" filter="wipe(left)">
                                      <p:cBhvr>
                                        <p:cTn id="111" dur="500"/>
                                        <p:tgtEl>
                                          <p:spTgt spid="46"/>
                                        </p:tgtEl>
                                      </p:cBhvr>
                                    </p:animEffect>
                                  </p:childTnLst>
                                </p:cTn>
                              </p:par>
                            </p:childTnLst>
                          </p:cTn>
                        </p:par>
                      </p:childTnLst>
                    </p:cTn>
                  </p:par>
                  <p:par>
                    <p:cTn id="113" fill="hold">
                      <p:stCondLst>
                        <p:cond delay="indefinite"/>
                      </p:stCondLst>
                      <p:childTnLst>
                        <p:par>
                          <p:cTn id="114" fill="hold">
                            <p:stCondLst>
                              <p:cond delay="0"/>
                            </p:stCondLst>
                            <p:childTnLst>
                              <p:par>
                                <p:cTn id="119" presetID="2" presetClass="entr" presetSubtype="4" fill="hold" grpId="0" nodeType="clickEffect">
                                  <p:stCondLst>
                                    <p:cond delay="0"/>
                                  </p:stCondLst>
                                  <p:childTnLst>
                                    <p:set>
                                      <p:cBhvr>
                                        <p:cTn id="115" dur="1" fill="hold">
                                          <p:stCondLst>
                                            <p:cond delay="0"/>
                                          </p:stCondLst>
                                        </p:cTn>
                                        <p:tgtEl>
                                          <p:spTgt spid="47"/>
                                        </p:tgtEl>
                                        <p:attrNameLst>
                                          <p:attrName>style.visibility</p:attrName>
                                        </p:attrNameLst>
                                      </p:cBhvr>
                                      <p:to>
                                        <p:strVal val="visible"/>
                                      </p:to>
                                    </p:set>
                                    <p:anim calcmode="lin" valueType="num">
                                      <p:cBhvr additive="base">
                                        <p:cTn id="116" dur="500" fill="hold"/>
                                        <p:tgtEl>
                                          <p:spTgt spid="47"/>
                                        </p:tgtEl>
                                        <p:attrNameLst>
                                          <p:attrName>ppt_x</p:attrName>
                                        </p:attrNameLst>
                                      </p:cBhvr>
                                      <p:tavLst>
                                        <p:tav tm="0">
                                          <p:val>
                                            <p:strVal val="#ppt_x"/>
                                          </p:val>
                                        </p:tav>
                                        <p:tav tm="100000">
                                          <p:val>
                                            <p:strVal val="#ppt_x"/>
                                          </p:val>
                                        </p:tav>
                                      </p:tavLst>
                                    </p:anim>
                                    <p:anim calcmode="lin" valueType="num">
                                      <p:cBhvr additive="base">
                                        <p:cTn id="117" dur="500" fill="hold"/>
                                        <p:tgtEl>
                                          <p:spTgt spid="47"/>
                                        </p:tgtEl>
                                        <p:attrNameLst>
                                          <p:attrName>ppt_y</p:attrName>
                                        </p:attrNameLst>
                                      </p:cBhvr>
                                      <p:tavLst>
                                        <p:tav tm="0">
                                          <p:val>
                                            <p:strVal val="#ppt_y+0.1"/>
                                          </p:val>
                                        </p:tav>
                                        <p:tav tm="100000">
                                          <p:val>
                                            <p:strVal val="#ppt_y"/>
                                          </p:val>
                                        </p:tav>
                                      </p:tavLst>
                                    </p:anim>
                                    <p:animEffect transition="in" filter="fade">
                                      <p:cBhvr>
                                        <p:cTn id="118" dur="500"/>
                                        <p:tgtEl>
                                          <p:spTgt spid="47"/>
                                        </p:tgtEl>
                                      </p:cBhvr>
                                    </p:animEffect>
                                  </p:childTnLst>
                                </p:cTn>
                              </p:par>
                              <p:par>
                                <p:cTn id="124" presetID="2" presetClass="entr" presetSubtype="4" fill="hold" grpId="0" nodeType="withEffect">
                                  <p:stCondLst>
                                    <p:cond delay="0"/>
                                  </p:stCondLst>
                                  <p:childTnLst>
                                    <p:set>
                                      <p:cBhvr>
                                        <p:cTn id="120" dur="1" fill="hold">
                                          <p:stCondLst>
                                            <p:cond delay="0"/>
                                          </p:stCondLst>
                                        </p:cTn>
                                        <p:tgtEl>
                                          <p:spTgt spid="48"/>
                                        </p:tgtEl>
                                        <p:attrNameLst>
                                          <p:attrName>style.visibility</p:attrName>
                                        </p:attrNameLst>
                                      </p:cBhvr>
                                      <p:to>
                                        <p:strVal val="visible"/>
                                      </p:to>
                                    </p:set>
                                    <p:anim calcmode="lin" valueType="num">
                                      <p:cBhvr additive="base">
                                        <p:cTn id="121" dur="500" fill="hold"/>
                                        <p:tgtEl>
                                          <p:spTgt spid="48"/>
                                        </p:tgtEl>
                                        <p:attrNameLst>
                                          <p:attrName>ppt_x</p:attrName>
                                        </p:attrNameLst>
                                      </p:cBhvr>
                                      <p:tavLst>
                                        <p:tav tm="0">
                                          <p:val>
                                            <p:strVal val="#ppt_x"/>
                                          </p:val>
                                        </p:tav>
                                        <p:tav tm="100000">
                                          <p:val>
                                            <p:strVal val="#ppt_x"/>
                                          </p:val>
                                        </p:tav>
                                      </p:tavLst>
                                    </p:anim>
                                    <p:anim calcmode="lin" valueType="num">
                                      <p:cBhvr additive="base">
                                        <p:cTn id="122" dur="500" fill="hold"/>
                                        <p:tgtEl>
                                          <p:spTgt spid="48"/>
                                        </p:tgtEl>
                                        <p:attrNameLst>
                                          <p:attrName>ppt_y</p:attrName>
                                        </p:attrNameLst>
                                      </p:cBhvr>
                                      <p:tavLst>
                                        <p:tav tm="0">
                                          <p:val>
                                            <p:strVal val="#ppt_y+0.1"/>
                                          </p:val>
                                        </p:tav>
                                        <p:tav tm="100000">
                                          <p:val>
                                            <p:strVal val="#ppt_y"/>
                                          </p:val>
                                        </p:tav>
                                      </p:tavLst>
                                    </p:anim>
                                    <p:animEffect transition="in" filter="fade">
                                      <p:cBhvr>
                                        <p:cTn id="123" dur="500"/>
                                        <p:tgtEl>
                                          <p:spTgt spid="48"/>
                                        </p:tgtEl>
                                      </p:cBhvr>
                                    </p:animEffect>
                                  </p:childTnLst>
                                </p:cTn>
                              </p:par>
                              <p:par>
                                <p:cTn id="129" presetID="2" presetClass="entr" presetSubtype="4" fill="hold" grpId="0" nodeType="withEffect">
                                  <p:stCondLst>
                                    <p:cond delay="0"/>
                                  </p:stCondLst>
                                  <p:childTnLst>
                                    <p:set>
                                      <p:cBhvr>
                                        <p:cTn id="125" dur="1" fill="hold">
                                          <p:stCondLst>
                                            <p:cond delay="0"/>
                                          </p:stCondLst>
                                        </p:cTn>
                                        <p:tgtEl>
                                          <p:spTgt spid="49"/>
                                        </p:tgtEl>
                                        <p:attrNameLst>
                                          <p:attrName>style.visibility</p:attrName>
                                        </p:attrNameLst>
                                      </p:cBhvr>
                                      <p:to>
                                        <p:strVal val="visible"/>
                                      </p:to>
                                    </p:set>
                                    <p:anim calcmode="lin" valueType="num">
                                      <p:cBhvr additive="base">
                                        <p:cTn id="126" dur="500" fill="hold"/>
                                        <p:tgtEl>
                                          <p:spTgt spid="49"/>
                                        </p:tgtEl>
                                        <p:attrNameLst>
                                          <p:attrName>ppt_x</p:attrName>
                                        </p:attrNameLst>
                                      </p:cBhvr>
                                      <p:tavLst>
                                        <p:tav tm="0">
                                          <p:val>
                                            <p:strVal val="#ppt_x"/>
                                          </p:val>
                                        </p:tav>
                                        <p:tav tm="100000">
                                          <p:val>
                                            <p:strVal val="#ppt_x"/>
                                          </p:val>
                                        </p:tav>
                                      </p:tavLst>
                                    </p:anim>
                                    <p:anim calcmode="lin" valueType="num">
                                      <p:cBhvr additive="base">
                                        <p:cTn id="127" dur="500" fill="hold"/>
                                        <p:tgtEl>
                                          <p:spTgt spid="49"/>
                                        </p:tgtEl>
                                        <p:attrNameLst>
                                          <p:attrName>ppt_y</p:attrName>
                                        </p:attrNameLst>
                                      </p:cBhvr>
                                      <p:tavLst>
                                        <p:tav tm="0">
                                          <p:val>
                                            <p:strVal val="#ppt_y+0.1"/>
                                          </p:val>
                                        </p:tav>
                                        <p:tav tm="100000">
                                          <p:val>
                                            <p:strVal val="#ppt_y"/>
                                          </p:val>
                                        </p:tav>
                                      </p:tavLst>
                                    </p:anim>
                                    <p:animEffect transition="in" filter="fade">
                                      <p:cBhvr>
                                        <p:cTn id="12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Messaging Through the Decades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From Wall Street trading floors to the cloud</a:t>
            </a:r>
          </a:p>
        </p:txBody>
      </p:sp>
      <p:cxnSp>
        <p:nvCxnSpPr>
          <p:cNvPr id="11" name="a1f_ln10"/>
          <p:cNvCxnSpPr/>
          <p:nvPr/>
        </p:nvCxnSpPr>
        <p:spPr>
          <a:xfrm>
            <a:off x="502920" y="2395728"/>
            <a:ext cx="8138160" cy="0"/>
          </a:xfrm>
          <a:prstGeom prst="line">
            <a:avLst/>
          </a:prstGeom>
          <a:ln w="25400">
            <a:solidFill>
              <a:srgbClr val="E7E5E0"/>
            </a:solidFill>
          </a:ln>
        </p:spPr>
        <p:style>
          <a:lnRef idx="2">
            <a:schemeClr val="accent1"/>
          </a:lnRef>
          <a:fillRef idx="0">
            <a:schemeClr val="accent1"/>
          </a:fillRef>
          <a:effectRef idx="1">
            <a:schemeClr val="accent1"/>
          </a:effectRef>
          <a:fontRef idx="minor">
            <a:schemeClr val="tx1"/>
          </a:fontRef>
        </p:style>
      </p:cxnSp>
      <p:sp>
        <p:nvSpPr>
          <p:cNvPr id="12" name="a1u_dot11"/>
          <p:cNvSpPr/>
          <p:nvPr/>
        </p:nvSpPr>
        <p:spPr>
          <a:xfrm>
            <a:off x="786384" y="2313432"/>
            <a:ext cx="164592" cy="16459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3" name="a1u_wr12"/>
          <p:cNvCxnSpPr/>
          <p:nvPr/>
        </p:nvCxnSpPr>
        <p:spPr>
          <a:xfrm flipV="1">
            <a:off x="868680" y="2157984"/>
            <a:ext cx="0" cy="128016"/>
          </a:xfrm>
          <a:prstGeom prst="line">
            <a:avLst/>
          </a:prstGeom>
          <a:ln w="12700">
            <a:solidFill>
              <a:srgbClr val="EA580C"/>
            </a:solidFill>
          </a:ln>
        </p:spPr>
        <p:style>
          <a:lnRef idx="2">
            <a:schemeClr val="accent1"/>
          </a:lnRef>
          <a:fillRef idx="0">
            <a:schemeClr val="accent1"/>
          </a:fillRef>
          <a:effectRef idx="1">
            <a:schemeClr val="accent1"/>
          </a:effectRef>
          <a:fontRef idx="minor">
            <a:schemeClr val="tx1"/>
          </a:fontRef>
        </p:style>
      </p:cxnSp>
      <p:sp>
        <p:nvSpPr>
          <p:cNvPr id="14" name="a1u_yr13"/>
          <p:cNvSpPr txBox="1"/>
          <p:nvPr/>
        </p:nvSpPr>
        <p:spPr>
          <a:xfrm>
            <a:off x="457200" y="1371600"/>
            <a:ext cx="1645920" cy="256032"/>
          </a:xfrm>
          <a:prstGeom prst="rect">
            <a:avLst/>
          </a:prstGeom>
          <a:noFill/>
        </p:spPr>
        <p:txBody>
          <a:bodyPr wrap="square" lIns="0" tIns="0" rIns="0" bIns="0" anchor="ctr">
            <a:spAutoFit/>
          </a:bodyPr>
          <a:lstStyle/>
          <a:p>
            <a:pPr algn="ctr"/>
            <a:r>
              <a:rPr sz="1050" b="1">
                <a:solidFill>
                  <a:srgbClr val="EA580C"/>
                </a:solidFill>
                <a:latin typeface="Segoe UI"/>
              </a:rPr>
              <a:t>late 1980s</a:t>
            </a:r>
          </a:p>
        </p:txBody>
      </p:sp>
      <p:sp>
        <p:nvSpPr>
          <p:cNvPr id="15" name="a1u_nm14"/>
          <p:cNvSpPr txBox="1"/>
          <p:nvPr/>
        </p:nvSpPr>
        <p:spPr>
          <a:xfrm>
            <a:off x="457200" y="1627632"/>
            <a:ext cx="1645920" cy="237744"/>
          </a:xfrm>
          <a:prstGeom prst="rect">
            <a:avLst/>
          </a:prstGeom>
          <a:noFill/>
        </p:spPr>
        <p:txBody>
          <a:bodyPr wrap="square" lIns="0" tIns="0" rIns="0" bIns="0" anchor="ctr">
            <a:spAutoFit/>
          </a:bodyPr>
          <a:lstStyle/>
          <a:p>
            <a:pPr algn="ctr"/>
            <a:r>
              <a:rPr sz="850" b="1">
                <a:solidFill>
                  <a:srgbClr val="1C1917"/>
                </a:solidFill>
                <a:latin typeface="Segoe UI"/>
              </a:rPr>
              <a:t>TIB</a:t>
            </a:r>
          </a:p>
        </p:txBody>
      </p:sp>
      <p:sp>
        <p:nvSpPr>
          <p:cNvPr id="16" name="a1u_ds15"/>
          <p:cNvSpPr txBox="1"/>
          <p:nvPr/>
        </p:nvSpPr>
        <p:spPr>
          <a:xfrm>
            <a:off x="521208" y="1856232"/>
            <a:ext cx="1517904" cy="365760"/>
          </a:xfrm>
          <a:prstGeom prst="rect">
            <a:avLst/>
          </a:prstGeom>
          <a:noFill/>
        </p:spPr>
        <p:txBody>
          <a:bodyPr wrap="square" lIns="0" tIns="0" rIns="0" bIns="0" anchor="t">
            <a:spAutoFit/>
          </a:bodyPr>
          <a:lstStyle/>
          <a:p>
            <a:pPr algn="ctr"/>
            <a:r>
              <a:rPr sz="800" b="0">
                <a:solidFill>
                  <a:srgbClr val="78716C"/>
                </a:solidFill>
                <a:latin typeface="Segoe UI"/>
              </a:rPr>
              <a:t>The Information Bus - pub/sub on trading floors</a:t>
            </a:r>
          </a:p>
        </p:txBody>
      </p:sp>
      <p:sp>
        <p:nvSpPr>
          <p:cNvPr id="17" name="a1ud120_dot16"/>
          <p:cNvSpPr/>
          <p:nvPr/>
        </p:nvSpPr>
        <p:spPr>
          <a:xfrm>
            <a:off x="1712214" y="2313432"/>
            <a:ext cx="164592" cy="16459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8" name="a1ud120_wr17"/>
          <p:cNvCxnSpPr/>
          <p:nvPr/>
        </p:nvCxnSpPr>
        <p:spPr>
          <a:xfrm>
            <a:off x="1794510" y="2505456"/>
            <a:ext cx="0" cy="109728"/>
          </a:xfrm>
          <a:prstGeom prst="line">
            <a:avLst/>
          </a:prstGeom>
          <a:ln w="12700">
            <a:solidFill>
              <a:srgbClr val="EA580C"/>
            </a:solidFill>
          </a:ln>
        </p:spPr>
        <p:style>
          <a:lnRef idx="2">
            <a:schemeClr val="accent1"/>
          </a:lnRef>
          <a:fillRef idx="0">
            <a:schemeClr val="accent1"/>
          </a:fillRef>
          <a:effectRef idx="1">
            <a:schemeClr val="accent1"/>
          </a:effectRef>
          <a:fontRef idx="minor">
            <a:schemeClr val="tx1"/>
          </a:fontRef>
        </p:style>
      </p:cxnSp>
      <p:sp>
        <p:nvSpPr>
          <p:cNvPr id="19" name="a1ud120_yr18"/>
          <p:cNvSpPr txBox="1"/>
          <p:nvPr/>
        </p:nvSpPr>
        <p:spPr>
          <a:xfrm>
            <a:off x="971550" y="2615184"/>
            <a:ext cx="1645920" cy="256032"/>
          </a:xfrm>
          <a:prstGeom prst="rect">
            <a:avLst/>
          </a:prstGeom>
          <a:noFill/>
        </p:spPr>
        <p:txBody>
          <a:bodyPr wrap="square" lIns="0" tIns="0" rIns="0" bIns="0" anchor="ctr">
            <a:spAutoFit/>
          </a:bodyPr>
          <a:lstStyle/>
          <a:p>
            <a:pPr algn="ctr"/>
            <a:r>
              <a:rPr sz="1050" b="1">
                <a:solidFill>
                  <a:srgbClr val="EA580C"/>
                </a:solidFill>
                <a:latin typeface="Segoe UI"/>
              </a:rPr>
              <a:t>1993</a:t>
            </a:r>
          </a:p>
        </p:txBody>
      </p:sp>
      <p:sp>
        <p:nvSpPr>
          <p:cNvPr id="20" name="a1ud120_nm19"/>
          <p:cNvSpPr txBox="1"/>
          <p:nvPr/>
        </p:nvSpPr>
        <p:spPr>
          <a:xfrm>
            <a:off x="971550" y="2871216"/>
            <a:ext cx="1645920" cy="237744"/>
          </a:xfrm>
          <a:prstGeom prst="rect">
            <a:avLst/>
          </a:prstGeom>
          <a:noFill/>
        </p:spPr>
        <p:txBody>
          <a:bodyPr wrap="square" lIns="0" tIns="0" rIns="0" bIns="0" anchor="ctr">
            <a:spAutoFit/>
          </a:bodyPr>
          <a:lstStyle/>
          <a:p>
            <a:pPr algn="ctr"/>
            <a:r>
              <a:rPr sz="850" b="1">
                <a:solidFill>
                  <a:srgbClr val="1C1917"/>
                </a:solidFill>
                <a:latin typeface="Segoe UI"/>
              </a:rPr>
              <a:t>IBM MQSeries</a:t>
            </a:r>
          </a:p>
        </p:txBody>
      </p:sp>
      <p:sp>
        <p:nvSpPr>
          <p:cNvPr id="21" name="a1ud120_ds20"/>
          <p:cNvSpPr txBox="1"/>
          <p:nvPr/>
        </p:nvSpPr>
        <p:spPr>
          <a:xfrm>
            <a:off x="1035558" y="3099816"/>
            <a:ext cx="1517904" cy="365760"/>
          </a:xfrm>
          <a:prstGeom prst="rect">
            <a:avLst/>
          </a:prstGeom>
          <a:noFill/>
        </p:spPr>
        <p:txBody>
          <a:bodyPr wrap="square" lIns="0" tIns="0" rIns="0" bIns="0" anchor="t">
            <a:spAutoFit/>
          </a:bodyPr>
          <a:lstStyle/>
          <a:p>
            <a:pPr algn="ctr"/>
            <a:r>
              <a:rPr sz="800" b="0">
                <a:solidFill>
                  <a:srgbClr val="78716C"/>
                </a:solidFill>
                <a:latin typeface="Segoe UI"/>
              </a:rPr>
              <a:t>reliable queues for the enterprise</a:t>
            </a:r>
          </a:p>
        </p:txBody>
      </p:sp>
      <p:sp>
        <p:nvSpPr>
          <p:cNvPr id="22" name="a1ud240_dot21"/>
          <p:cNvSpPr/>
          <p:nvPr/>
        </p:nvSpPr>
        <p:spPr>
          <a:xfrm>
            <a:off x="2638044" y="2313432"/>
            <a:ext cx="164592" cy="164592"/>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3" name="a1ud240_wr22"/>
          <p:cNvCxnSpPr/>
          <p:nvPr/>
        </p:nvCxnSpPr>
        <p:spPr>
          <a:xfrm flipV="1">
            <a:off x="2720340" y="2157984"/>
            <a:ext cx="0" cy="128016"/>
          </a:xfrm>
          <a:prstGeom prst="line">
            <a:avLst/>
          </a:prstGeom>
          <a:ln w="12700">
            <a:solidFill>
              <a:srgbClr val="0E7490"/>
            </a:solidFill>
          </a:ln>
        </p:spPr>
        <p:style>
          <a:lnRef idx="2">
            <a:schemeClr val="accent1"/>
          </a:lnRef>
          <a:fillRef idx="0">
            <a:schemeClr val="accent1"/>
          </a:fillRef>
          <a:effectRef idx="1">
            <a:schemeClr val="accent1"/>
          </a:effectRef>
          <a:fontRef idx="minor">
            <a:schemeClr val="tx1"/>
          </a:fontRef>
        </p:style>
      </p:cxnSp>
      <p:sp>
        <p:nvSpPr>
          <p:cNvPr id="24" name="a1ud240_yr23"/>
          <p:cNvSpPr txBox="1"/>
          <p:nvPr/>
        </p:nvSpPr>
        <p:spPr>
          <a:xfrm>
            <a:off x="1897380" y="1371600"/>
            <a:ext cx="1645920" cy="256032"/>
          </a:xfrm>
          <a:prstGeom prst="rect">
            <a:avLst/>
          </a:prstGeom>
          <a:noFill/>
        </p:spPr>
        <p:txBody>
          <a:bodyPr wrap="square" lIns="0" tIns="0" rIns="0" bIns="0" anchor="ctr">
            <a:spAutoFit/>
          </a:bodyPr>
          <a:lstStyle/>
          <a:p>
            <a:pPr algn="ctr"/>
            <a:r>
              <a:rPr sz="1050" b="1">
                <a:solidFill>
                  <a:srgbClr val="0E7490"/>
                </a:solidFill>
                <a:latin typeface="Segoe UI"/>
              </a:rPr>
              <a:t>1997</a:t>
            </a:r>
          </a:p>
        </p:txBody>
      </p:sp>
      <p:sp>
        <p:nvSpPr>
          <p:cNvPr id="25" name="a1ud240_nm24"/>
          <p:cNvSpPr txBox="1"/>
          <p:nvPr/>
        </p:nvSpPr>
        <p:spPr>
          <a:xfrm>
            <a:off x="1897380" y="1627632"/>
            <a:ext cx="1645920" cy="237744"/>
          </a:xfrm>
          <a:prstGeom prst="rect">
            <a:avLst/>
          </a:prstGeom>
          <a:noFill/>
        </p:spPr>
        <p:txBody>
          <a:bodyPr wrap="square" lIns="0" tIns="0" rIns="0" bIns="0" anchor="ctr">
            <a:spAutoFit/>
          </a:bodyPr>
          <a:lstStyle/>
          <a:p>
            <a:pPr algn="ctr"/>
            <a:r>
              <a:rPr sz="850" b="1">
                <a:solidFill>
                  <a:srgbClr val="1C1917"/>
                </a:solidFill>
                <a:latin typeface="Segoe UI"/>
              </a:rPr>
              <a:t>MSMQ</a:t>
            </a:r>
          </a:p>
        </p:txBody>
      </p:sp>
      <p:sp>
        <p:nvSpPr>
          <p:cNvPr id="26" name="a1ud240_ds25"/>
          <p:cNvSpPr txBox="1"/>
          <p:nvPr/>
        </p:nvSpPr>
        <p:spPr>
          <a:xfrm>
            <a:off x="1961388" y="1856232"/>
            <a:ext cx="1517904" cy="365760"/>
          </a:xfrm>
          <a:prstGeom prst="rect">
            <a:avLst/>
          </a:prstGeom>
          <a:noFill/>
        </p:spPr>
        <p:txBody>
          <a:bodyPr wrap="square" lIns="0" tIns="0" rIns="0" bIns="0" anchor="t">
            <a:spAutoFit/>
          </a:bodyPr>
          <a:lstStyle/>
          <a:p>
            <a:pPr algn="ctr"/>
            <a:r>
              <a:rPr sz="800" b="0">
                <a:solidFill>
                  <a:srgbClr val="78716C"/>
                </a:solidFill>
                <a:latin typeface="Segoe UI"/>
              </a:rPr>
              <a:t>Microsoft Message Queuing</a:t>
            </a:r>
          </a:p>
        </p:txBody>
      </p:sp>
      <p:sp>
        <p:nvSpPr>
          <p:cNvPr id="27" name="a2u_dot26"/>
          <p:cNvSpPr/>
          <p:nvPr/>
        </p:nvSpPr>
        <p:spPr>
          <a:xfrm>
            <a:off x="3563874" y="2313432"/>
            <a:ext cx="164592" cy="164592"/>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8" name="a2u_wr27"/>
          <p:cNvCxnSpPr/>
          <p:nvPr/>
        </p:nvCxnSpPr>
        <p:spPr>
          <a:xfrm>
            <a:off x="3646170" y="2505456"/>
            <a:ext cx="0" cy="109728"/>
          </a:xfrm>
          <a:prstGeom prst="line">
            <a:avLst/>
          </a:prstGeom>
          <a:ln w="12700">
            <a:solidFill>
              <a:srgbClr val="0E7490"/>
            </a:solidFill>
          </a:ln>
        </p:spPr>
        <p:style>
          <a:lnRef idx="2">
            <a:schemeClr val="accent1"/>
          </a:lnRef>
          <a:fillRef idx="0">
            <a:schemeClr val="accent1"/>
          </a:fillRef>
          <a:effectRef idx="1">
            <a:schemeClr val="accent1"/>
          </a:effectRef>
          <a:fontRef idx="minor">
            <a:schemeClr val="tx1"/>
          </a:fontRef>
        </p:style>
      </p:cxnSp>
      <p:sp>
        <p:nvSpPr>
          <p:cNvPr id="29" name="a2u_yr28"/>
          <p:cNvSpPr txBox="1"/>
          <p:nvPr/>
        </p:nvSpPr>
        <p:spPr>
          <a:xfrm>
            <a:off x="2823210" y="2615184"/>
            <a:ext cx="1645920" cy="256032"/>
          </a:xfrm>
          <a:prstGeom prst="rect">
            <a:avLst/>
          </a:prstGeom>
          <a:noFill/>
        </p:spPr>
        <p:txBody>
          <a:bodyPr wrap="square" lIns="0" tIns="0" rIns="0" bIns="0" anchor="ctr">
            <a:spAutoFit/>
          </a:bodyPr>
          <a:lstStyle/>
          <a:p>
            <a:pPr algn="ctr"/>
            <a:r>
              <a:rPr sz="1050" b="1">
                <a:solidFill>
                  <a:srgbClr val="0E7490"/>
                </a:solidFill>
                <a:latin typeface="Segoe UI"/>
              </a:rPr>
              <a:t>1998</a:t>
            </a:r>
          </a:p>
        </p:txBody>
      </p:sp>
      <p:sp>
        <p:nvSpPr>
          <p:cNvPr id="30" name="a2u_nm29"/>
          <p:cNvSpPr txBox="1"/>
          <p:nvPr/>
        </p:nvSpPr>
        <p:spPr>
          <a:xfrm>
            <a:off x="2823210" y="2871216"/>
            <a:ext cx="1645920" cy="237744"/>
          </a:xfrm>
          <a:prstGeom prst="rect">
            <a:avLst/>
          </a:prstGeom>
          <a:noFill/>
        </p:spPr>
        <p:txBody>
          <a:bodyPr wrap="square" lIns="0" tIns="0" rIns="0" bIns="0" anchor="ctr">
            <a:spAutoFit/>
          </a:bodyPr>
          <a:lstStyle/>
          <a:p>
            <a:pPr algn="ctr"/>
            <a:r>
              <a:rPr sz="850" b="1">
                <a:solidFill>
                  <a:srgbClr val="1C1917"/>
                </a:solidFill>
                <a:latin typeface="Segoe UI"/>
              </a:rPr>
              <a:t>JMS</a:t>
            </a:r>
          </a:p>
        </p:txBody>
      </p:sp>
      <p:sp>
        <p:nvSpPr>
          <p:cNvPr id="31" name="a2u_ds30"/>
          <p:cNvSpPr txBox="1"/>
          <p:nvPr/>
        </p:nvSpPr>
        <p:spPr>
          <a:xfrm>
            <a:off x="2887218" y="3099816"/>
            <a:ext cx="1517904" cy="365760"/>
          </a:xfrm>
          <a:prstGeom prst="rect">
            <a:avLst/>
          </a:prstGeom>
          <a:noFill/>
        </p:spPr>
        <p:txBody>
          <a:bodyPr wrap="square" lIns="0" tIns="0" rIns="0" bIns="0" anchor="t">
            <a:spAutoFit/>
          </a:bodyPr>
          <a:lstStyle/>
          <a:p>
            <a:pPr algn="ctr"/>
            <a:r>
              <a:rPr sz="800" b="0">
                <a:solidFill>
                  <a:srgbClr val="78716C"/>
                </a:solidFill>
                <a:latin typeface="Segoe UI"/>
              </a:rPr>
              <a:t>the standard Java messaging API</a:t>
            </a:r>
          </a:p>
        </p:txBody>
      </p:sp>
      <p:sp>
        <p:nvSpPr>
          <p:cNvPr id="32" name="a2ud120_dot31"/>
          <p:cNvSpPr/>
          <p:nvPr/>
        </p:nvSpPr>
        <p:spPr>
          <a:xfrm>
            <a:off x="4489704" y="2313432"/>
            <a:ext cx="164592" cy="164592"/>
          </a:xfrm>
          <a:prstGeom prst="ellipse">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3" name="a2ud120_wr32"/>
          <p:cNvCxnSpPr/>
          <p:nvPr/>
        </p:nvCxnSpPr>
        <p:spPr>
          <a:xfrm flipV="1">
            <a:off x="4572000" y="2157984"/>
            <a:ext cx="0" cy="128016"/>
          </a:xfrm>
          <a:prstGeom prst="line">
            <a:avLst/>
          </a:prstGeom>
          <a:ln w="12700">
            <a:solidFill>
              <a:srgbClr val="A16207"/>
            </a:solidFill>
          </a:ln>
        </p:spPr>
        <p:style>
          <a:lnRef idx="2">
            <a:schemeClr val="accent1"/>
          </a:lnRef>
          <a:fillRef idx="0">
            <a:schemeClr val="accent1"/>
          </a:fillRef>
          <a:effectRef idx="1">
            <a:schemeClr val="accent1"/>
          </a:effectRef>
          <a:fontRef idx="minor">
            <a:schemeClr val="tx1"/>
          </a:fontRef>
        </p:style>
      </p:cxnSp>
      <p:sp>
        <p:nvSpPr>
          <p:cNvPr id="34" name="a2ud120_yr33"/>
          <p:cNvSpPr txBox="1"/>
          <p:nvPr/>
        </p:nvSpPr>
        <p:spPr>
          <a:xfrm>
            <a:off x="3749040" y="1371600"/>
            <a:ext cx="1645920" cy="256032"/>
          </a:xfrm>
          <a:prstGeom prst="rect">
            <a:avLst/>
          </a:prstGeom>
          <a:noFill/>
        </p:spPr>
        <p:txBody>
          <a:bodyPr wrap="square" lIns="0" tIns="0" rIns="0" bIns="0" anchor="ctr">
            <a:spAutoFit/>
          </a:bodyPr>
          <a:lstStyle/>
          <a:p>
            <a:pPr algn="ctr"/>
            <a:r>
              <a:rPr sz="1050" b="1">
                <a:solidFill>
                  <a:srgbClr val="A16207"/>
                </a:solidFill>
                <a:latin typeface="Segoe UI"/>
              </a:rPr>
              <a:t>2003</a:t>
            </a:r>
          </a:p>
        </p:txBody>
      </p:sp>
      <p:sp>
        <p:nvSpPr>
          <p:cNvPr id="35" name="a2ud120_nm34"/>
          <p:cNvSpPr txBox="1"/>
          <p:nvPr/>
        </p:nvSpPr>
        <p:spPr>
          <a:xfrm>
            <a:off x="3749040" y="1627632"/>
            <a:ext cx="1645920" cy="237744"/>
          </a:xfrm>
          <a:prstGeom prst="rect">
            <a:avLst/>
          </a:prstGeom>
          <a:noFill/>
        </p:spPr>
        <p:txBody>
          <a:bodyPr wrap="square" lIns="0" tIns="0" rIns="0" bIns="0" anchor="ctr">
            <a:spAutoFit/>
          </a:bodyPr>
          <a:lstStyle/>
          <a:p>
            <a:pPr algn="ctr"/>
            <a:r>
              <a:rPr sz="850" b="1">
                <a:solidFill>
                  <a:srgbClr val="1C1917"/>
                </a:solidFill>
                <a:latin typeface="Segoe UI"/>
              </a:rPr>
              <a:t>AMQP</a:t>
            </a:r>
          </a:p>
        </p:txBody>
      </p:sp>
      <p:sp>
        <p:nvSpPr>
          <p:cNvPr id="36" name="a2ud120_ds35"/>
          <p:cNvSpPr txBox="1"/>
          <p:nvPr/>
        </p:nvSpPr>
        <p:spPr>
          <a:xfrm>
            <a:off x="3813048" y="1856232"/>
            <a:ext cx="1517904" cy="365760"/>
          </a:xfrm>
          <a:prstGeom prst="rect">
            <a:avLst/>
          </a:prstGeom>
          <a:noFill/>
        </p:spPr>
        <p:txBody>
          <a:bodyPr wrap="square" lIns="0" tIns="0" rIns="0" bIns="0" anchor="t">
            <a:spAutoFit/>
          </a:bodyPr>
          <a:lstStyle/>
          <a:p>
            <a:pPr algn="ctr"/>
            <a:r>
              <a:rPr sz="800" b="0">
                <a:solidFill>
                  <a:srgbClr val="78716C"/>
                </a:solidFill>
                <a:latin typeface="Segoe UI"/>
              </a:rPr>
              <a:t>an open wire protocol, started at JPMorgan Chase</a:t>
            </a:r>
          </a:p>
        </p:txBody>
      </p:sp>
      <p:sp>
        <p:nvSpPr>
          <p:cNvPr id="37" name="a2ud240_dot36"/>
          <p:cNvSpPr/>
          <p:nvPr/>
        </p:nvSpPr>
        <p:spPr>
          <a:xfrm>
            <a:off x="5415534" y="2313432"/>
            <a:ext cx="164592" cy="164592"/>
          </a:xfrm>
          <a:prstGeom prst="ellipse">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8" name="a2ud240_wr37"/>
          <p:cNvCxnSpPr/>
          <p:nvPr/>
        </p:nvCxnSpPr>
        <p:spPr>
          <a:xfrm>
            <a:off x="5497830" y="2505456"/>
            <a:ext cx="0" cy="109728"/>
          </a:xfrm>
          <a:prstGeom prst="line">
            <a:avLst/>
          </a:prstGeom>
          <a:ln w="12700">
            <a:solidFill>
              <a:srgbClr val="A16207"/>
            </a:solidFill>
          </a:ln>
        </p:spPr>
        <p:style>
          <a:lnRef idx="2">
            <a:schemeClr val="accent1"/>
          </a:lnRef>
          <a:fillRef idx="0">
            <a:schemeClr val="accent1"/>
          </a:fillRef>
          <a:effectRef idx="1">
            <a:schemeClr val="accent1"/>
          </a:effectRef>
          <a:fontRef idx="minor">
            <a:schemeClr val="tx1"/>
          </a:fontRef>
        </p:style>
      </p:cxnSp>
      <p:sp>
        <p:nvSpPr>
          <p:cNvPr id="39" name="a2ud240_yr38"/>
          <p:cNvSpPr txBox="1"/>
          <p:nvPr/>
        </p:nvSpPr>
        <p:spPr>
          <a:xfrm>
            <a:off x="4674870" y="2615184"/>
            <a:ext cx="1645920" cy="256032"/>
          </a:xfrm>
          <a:prstGeom prst="rect">
            <a:avLst/>
          </a:prstGeom>
          <a:noFill/>
        </p:spPr>
        <p:txBody>
          <a:bodyPr wrap="square" lIns="0" tIns="0" rIns="0" bIns="0" anchor="ctr">
            <a:spAutoFit/>
          </a:bodyPr>
          <a:lstStyle/>
          <a:p>
            <a:pPr algn="ctr"/>
            <a:r>
              <a:rPr sz="1050" b="1">
                <a:solidFill>
                  <a:srgbClr val="A16207"/>
                </a:solidFill>
                <a:latin typeface="Segoe UI"/>
              </a:rPr>
              <a:t>2004</a:t>
            </a:r>
          </a:p>
        </p:txBody>
      </p:sp>
      <p:sp>
        <p:nvSpPr>
          <p:cNvPr id="40" name="a2ud240_nm39"/>
          <p:cNvSpPr txBox="1"/>
          <p:nvPr/>
        </p:nvSpPr>
        <p:spPr>
          <a:xfrm>
            <a:off x="4674870" y="2871216"/>
            <a:ext cx="1645920" cy="237744"/>
          </a:xfrm>
          <a:prstGeom prst="rect">
            <a:avLst/>
          </a:prstGeom>
          <a:noFill/>
        </p:spPr>
        <p:txBody>
          <a:bodyPr wrap="square" lIns="0" tIns="0" rIns="0" bIns="0" anchor="ctr">
            <a:spAutoFit/>
          </a:bodyPr>
          <a:lstStyle/>
          <a:p>
            <a:pPr algn="ctr"/>
            <a:r>
              <a:rPr sz="850" b="1">
                <a:solidFill>
                  <a:srgbClr val="1C1917"/>
                </a:solidFill>
                <a:latin typeface="Segoe UI"/>
              </a:rPr>
              <a:t>ActiveMQ, Amazon SQS</a:t>
            </a:r>
          </a:p>
        </p:txBody>
      </p:sp>
      <p:sp>
        <p:nvSpPr>
          <p:cNvPr id="41" name="a2ud240_ds40"/>
          <p:cNvSpPr txBox="1"/>
          <p:nvPr/>
        </p:nvSpPr>
        <p:spPr>
          <a:xfrm>
            <a:off x="4738878" y="3099816"/>
            <a:ext cx="1517904" cy="365760"/>
          </a:xfrm>
          <a:prstGeom prst="rect">
            <a:avLst/>
          </a:prstGeom>
          <a:noFill/>
        </p:spPr>
        <p:txBody>
          <a:bodyPr wrap="square" lIns="0" tIns="0" rIns="0" bIns="0" anchor="t">
            <a:spAutoFit/>
          </a:bodyPr>
          <a:lstStyle/>
          <a:p>
            <a:pPr algn="ctr"/>
            <a:r>
              <a:rPr sz="800" b="0">
                <a:solidFill>
                  <a:srgbClr val="78716C"/>
                </a:solidFill>
                <a:latin typeface="Segoe UI"/>
              </a:rPr>
              <a:t>open-source and cloud queues</a:t>
            </a:r>
          </a:p>
        </p:txBody>
      </p:sp>
      <p:sp>
        <p:nvSpPr>
          <p:cNvPr id="42" name="a3u_dot41"/>
          <p:cNvSpPr/>
          <p:nvPr/>
        </p:nvSpPr>
        <p:spPr>
          <a:xfrm>
            <a:off x="6341364" y="2313432"/>
            <a:ext cx="164592" cy="164592"/>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3" name="a3u_wr42"/>
          <p:cNvCxnSpPr/>
          <p:nvPr/>
        </p:nvCxnSpPr>
        <p:spPr>
          <a:xfrm flipV="1">
            <a:off x="6423660" y="2157984"/>
            <a:ext cx="0" cy="128016"/>
          </a:xfrm>
          <a:prstGeom prst="line">
            <a:avLst/>
          </a:prstGeom>
          <a:ln w="12700">
            <a:solidFill>
              <a:srgbClr val="4F46E5"/>
            </a:solidFill>
          </a:ln>
        </p:spPr>
        <p:style>
          <a:lnRef idx="2">
            <a:schemeClr val="accent1"/>
          </a:lnRef>
          <a:fillRef idx="0">
            <a:schemeClr val="accent1"/>
          </a:fillRef>
          <a:effectRef idx="1">
            <a:schemeClr val="accent1"/>
          </a:effectRef>
          <a:fontRef idx="minor">
            <a:schemeClr val="tx1"/>
          </a:fontRef>
        </p:style>
      </p:cxnSp>
      <p:sp>
        <p:nvSpPr>
          <p:cNvPr id="44" name="a3u_yr43"/>
          <p:cNvSpPr txBox="1"/>
          <p:nvPr/>
        </p:nvSpPr>
        <p:spPr>
          <a:xfrm>
            <a:off x="5600700" y="1371600"/>
            <a:ext cx="1645920" cy="256032"/>
          </a:xfrm>
          <a:prstGeom prst="rect">
            <a:avLst/>
          </a:prstGeom>
          <a:noFill/>
        </p:spPr>
        <p:txBody>
          <a:bodyPr wrap="square" lIns="0" tIns="0" rIns="0" bIns="0" anchor="ctr">
            <a:spAutoFit/>
          </a:bodyPr>
          <a:lstStyle/>
          <a:p>
            <a:pPr algn="ctr"/>
            <a:r>
              <a:rPr sz="1050" b="1">
                <a:solidFill>
                  <a:srgbClr val="4F46E5"/>
                </a:solidFill>
                <a:latin typeface="Segoe UI"/>
              </a:rPr>
              <a:t>2007</a:t>
            </a:r>
          </a:p>
        </p:txBody>
      </p:sp>
      <p:sp>
        <p:nvSpPr>
          <p:cNvPr id="45" name="a3u_nm44"/>
          <p:cNvSpPr txBox="1"/>
          <p:nvPr/>
        </p:nvSpPr>
        <p:spPr>
          <a:xfrm>
            <a:off x="5600700" y="1627632"/>
            <a:ext cx="1645920" cy="237744"/>
          </a:xfrm>
          <a:prstGeom prst="rect">
            <a:avLst/>
          </a:prstGeom>
          <a:noFill/>
        </p:spPr>
        <p:txBody>
          <a:bodyPr wrap="square" lIns="0" tIns="0" rIns="0" bIns="0" anchor="ctr">
            <a:spAutoFit/>
          </a:bodyPr>
          <a:lstStyle/>
          <a:p>
            <a:pPr algn="ctr"/>
            <a:r>
              <a:rPr sz="850" b="1">
                <a:solidFill>
                  <a:srgbClr val="1C1917"/>
                </a:solidFill>
                <a:latin typeface="Segoe UI"/>
              </a:rPr>
              <a:t>RabbitMQ</a:t>
            </a:r>
          </a:p>
        </p:txBody>
      </p:sp>
      <p:sp>
        <p:nvSpPr>
          <p:cNvPr id="46" name="a3u_ds45"/>
          <p:cNvSpPr txBox="1"/>
          <p:nvPr/>
        </p:nvSpPr>
        <p:spPr>
          <a:xfrm>
            <a:off x="5664708" y="1856232"/>
            <a:ext cx="1517904" cy="365760"/>
          </a:xfrm>
          <a:prstGeom prst="rect">
            <a:avLst/>
          </a:prstGeom>
          <a:noFill/>
        </p:spPr>
        <p:txBody>
          <a:bodyPr wrap="square" lIns="0" tIns="0" rIns="0" bIns="0" anchor="t">
            <a:spAutoFit/>
          </a:bodyPr>
          <a:lstStyle/>
          <a:p>
            <a:pPr algn="ctr"/>
            <a:r>
              <a:rPr sz="800" b="0">
                <a:solidFill>
                  <a:srgbClr val="78716C"/>
                </a:solidFill>
                <a:latin typeface="Segoe UI"/>
              </a:rPr>
              <a:t>the popular AMQP broker</a:t>
            </a:r>
          </a:p>
        </p:txBody>
      </p:sp>
      <p:sp>
        <p:nvSpPr>
          <p:cNvPr id="47" name="a3ud120_dot46"/>
          <p:cNvSpPr/>
          <p:nvPr/>
        </p:nvSpPr>
        <p:spPr>
          <a:xfrm>
            <a:off x="7267194" y="2313432"/>
            <a:ext cx="164592" cy="164592"/>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8" name="a3ud120_wr47"/>
          <p:cNvCxnSpPr/>
          <p:nvPr/>
        </p:nvCxnSpPr>
        <p:spPr>
          <a:xfrm>
            <a:off x="7349490" y="2505456"/>
            <a:ext cx="0" cy="109728"/>
          </a:xfrm>
          <a:prstGeom prst="line">
            <a:avLst/>
          </a:prstGeom>
          <a:ln w="12700">
            <a:solidFill>
              <a:srgbClr val="15803D"/>
            </a:solidFill>
          </a:ln>
        </p:spPr>
        <p:style>
          <a:lnRef idx="2">
            <a:schemeClr val="accent1"/>
          </a:lnRef>
          <a:fillRef idx="0">
            <a:schemeClr val="accent1"/>
          </a:fillRef>
          <a:effectRef idx="1">
            <a:schemeClr val="accent1"/>
          </a:effectRef>
          <a:fontRef idx="minor">
            <a:schemeClr val="tx1"/>
          </a:fontRef>
        </p:style>
      </p:cxnSp>
      <p:sp>
        <p:nvSpPr>
          <p:cNvPr id="49" name="a3ud120_yr48"/>
          <p:cNvSpPr txBox="1"/>
          <p:nvPr/>
        </p:nvSpPr>
        <p:spPr>
          <a:xfrm>
            <a:off x="6526530" y="2615184"/>
            <a:ext cx="1645920" cy="256032"/>
          </a:xfrm>
          <a:prstGeom prst="rect">
            <a:avLst/>
          </a:prstGeom>
          <a:noFill/>
        </p:spPr>
        <p:txBody>
          <a:bodyPr wrap="square" lIns="0" tIns="0" rIns="0" bIns="0" anchor="ctr">
            <a:spAutoFit/>
          </a:bodyPr>
          <a:lstStyle/>
          <a:p>
            <a:pPr algn="ctr"/>
            <a:r>
              <a:rPr sz="1050" b="1">
                <a:solidFill>
                  <a:srgbClr val="15803D"/>
                </a:solidFill>
                <a:latin typeface="Segoe UI"/>
              </a:rPr>
              <a:t>2011</a:t>
            </a:r>
          </a:p>
        </p:txBody>
      </p:sp>
      <p:sp>
        <p:nvSpPr>
          <p:cNvPr id="50" name="a3ud120_nm49"/>
          <p:cNvSpPr txBox="1"/>
          <p:nvPr/>
        </p:nvSpPr>
        <p:spPr>
          <a:xfrm>
            <a:off x="6526530" y="2871216"/>
            <a:ext cx="1645920" cy="237744"/>
          </a:xfrm>
          <a:prstGeom prst="rect">
            <a:avLst/>
          </a:prstGeom>
          <a:noFill/>
        </p:spPr>
        <p:txBody>
          <a:bodyPr wrap="square" lIns="0" tIns="0" rIns="0" bIns="0" anchor="ctr">
            <a:spAutoFit/>
          </a:bodyPr>
          <a:lstStyle/>
          <a:p>
            <a:pPr algn="ctr"/>
            <a:r>
              <a:rPr sz="850" b="1">
                <a:solidFill>
                  <a:srgbClr val="1C1917"/>
                </a:solidFill>
                <a:latin typeface="Segoe UI"/>
              </a:rPr>
              <a:t>Apache Kafka</a:t>
            </a:r>
          </a:p>
        </p:txBody>
      </p:sp>
      <p:sp>
        <p:nvSpPr>
          <p:cNvPr id="51" name="a3ud120_ds50"/>
          <p:cNvSpPr txBox="1"/>
          <p:nvPr/>
        </p:nvSpPr>
        <p:spPr>
          <a:xfrm>
            <a:off x="6590538" y="3099816"/>
            <a:ext cx="1517904" cy="365760"/>
          </a:xfrm>
          <a:prstGeom prst="rect">
            <a:avLst/>
          </a:prstGeom>
          <a:noFill/>
        </p:spPr>
        <p:txBody>
          <a:bodyPr wrap="square" lIns="0" tIns="0" rIns="0" bIns="0" anchor="t">
            <a:spAutoFit/>
          </a:bodyPr>
          <a:lstStyle/>
          <a:p>
            <a:pPr algn="ctr"/>
            <a:r>
              <a:rPr sz="800" b="0">
                <a:solidFill>
                  <a:srgbClr val="78716C"/>
                </a:solidFill>
                <a:latin typeface="Segoe UI"/>
              </a:rPr>
              <a:t>open-sourced by LinkedIn</a:t>
            </a:r>
          </a:p>
        </p:txBody>
      </p:sp>
      <p:sp>
        <p:nvSpPr>
          <p:cNvPr id="52" name="a3ud240_dot51"/>
          <p:cNvSpPr/>
          <p:nvPr/>
        </p:nvSpPr>
        <p:spPr>
          <a:xfrm>
            <a:off x="8193024" y="2313432"/>
            <a:ext cx="164592" cy="164592"/>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3" name="a3ud240_wr52"/>
          <p:cNvCxnSpPr/>
          <p:nvPr/>
        </p:nvCxnSpPr>
        <p:spPr>
          <a:xfrm flipV="1">
            <a:off x="8275320" y="2157984"/>
            <a:ext cx="0" cy="128016"/>
          </a:xfrm>
          <a:prstGeom prst="line">
            <a:avLst/>
          </a:prstGeom>
          <a:ln w="12700">
            <a:solidFill>
              <a:srgbClr val="4F46E5"/>
            </a:solidFill>
          </a:ln>
        </p:spPr>
        <p:style>
          <a:lnRef idx="2">
            <a:schemeClr val="accent1"/>
          </a:lnRef>
          <a:fillRef idx="0">
            <a:schemeClr val="accent1"/>
          </a:fillRef>
          <a:effectRef idx="1">
            <a:schemeClr val="accent1"/>
          </a:effectRef>
          <a:fontRef idx="minor">
            <a:schemeClr val="tx1"/>
          </a:fontRef>
        </p:style>
      </p:cxnSp>
      <p:sp>
        <p:nvSpPr>
          <p:cNvPr id="54" name="a3ud240_yr53"/>
          <p:cNvSpPr txBox="1"/>
          <p:nvPr/>
        </p:nvSpPr>
        <p:spPr>
          <a:xfrm>
            <a:off x="7040880" y="1371600"/>
            <a:ext cx="1645920" cy="256032"/>
          </a:xfrm>
          <a:prstGeom prst="rect">
            <a:avLst/>
          </a:prstGeom>
          <a:noFill/>
        </p:spPr>
        <p:txBody>
          <a:bodyPr wrap="square" lIns="0" tIns="0" rIns="0" bIns="0" anchor="ctr">
            <a:spAutoFit/>
          </a:bodyPr>
          <a:lstStyle/>
          <a:p>
            <a:pPr algn="ctr"/>
            <a:r>
              <a:rPr sz="1050" b="1">
                <a:solidFill>
                  <a:srgbClr val="4F46E5"/>
                </a:solidFill>
                <a:latin typeface="Segoe UI"/>
              </a:rPr>
              <a:t>2016</a:t>
            </a:r>
          </a:p>
        </p:txBody>
      </p:sp>
      <p:sp>
        <p:nvSpPr>
          <p:cNvPr id="55" name="a3ud240_nm54"/>
          <p:cNvSpPr txBox="1"/>
          <p:nvPr/>
        </p:nvSpPr>
        <p:spPr>
          <a:xfrm>
            <a:off x="7040880" y="1627632"/>
            <a:ext cx="1645920" cy="237744"/>
          </a:xfrm>
          <a:prstGeom prst="rect">
            <a:avLst/>
          </a:prstGeom>
          <a:noFill/>
        </p:spPr>
        <p:txBody>
          <a:bodyPr wrap="square" lIns="0" tIns="0" rIns="0" bIns="0" anchor="ctr">
            <a:spAutoFit/>
          </a:bodyPr>
          <a:lstStyle/>
          <a:p>
            <a:pPr algn="ctr"/>
            <a:r>
              <a:rPr sz="850" b="1">
                <a:solidFill>
                  <a:srgbClr val="1C1917"/>
                </a:solidFill>
                <a:latin typeface="Segoe UI"/>
              </a:rPr>
              <a:t>Apache Pulsar</a:t>
            </a:r>
          </a:p>
        </p:txBody>
      </p:sp>
      <p:sp>
        <p:nvSpPr>
          <p:cNvPr id="56" name="a3ud240_ds55"/>
          <p:cNvSpPr txBox="1"/>
          <p:nvPr/>
        </p:nvSpPr>
        <p:spPr>
          <a:xfrm>
            <a:off x="7104888" y="1856232"/>
            <a:ext cx="1517904" cy="365760"/>
          </a:xfrm>
          <a:prstGeom prst="rect">
            <a:avLst/>
          </a:prstGeom>
          <a:noFill/>
        </p:spPr>
        <p:txBody>
          <a:bodyPr wrap="square" lIns="0" tIns="0" rIns="0" bIns="0" anchor="t">
            <a:spAutoFit/>
          </a:bodyPr>
          <a:lstStyle/>
          <a:p>
            <a:pPr algn="ctr"/>
            <a:r>
              <a:rPr sz="800" b="0">
                <a:solidFill>
                  <a:srgbClr val="78716C"/>
                </a:solidFill>
                <a:latin typeface="Segoe UI"/>
              </a:rPr>
              <a:t>open-sourced by Yahoo</a:t>
            </a:r>
          </a:p>
        </p:txBody>
      </p:sp>
      <p:sp>
        <p:nvSpPr>
          <p:cNvPr id="57" name="a4u_nb56"/>
          <p:cNvSpPr/>
          <p:nvPr/>
        </p:nvSpPr>
        <p:spPr>
          <a:xfrm>
            <a:off x="457200" y="3840480"/>
            <a:ext cx="8229600" cy="603504"/>
          </a:xfrm>
          <a:prstGeom prst="roundRect">
            <a:avLst>
              <a:gd name="adj" fmla="val 12121"/>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4u_nacc57"/>
          <p:cNvSpPr/>
          <p:nvPr/>
        </p:nvSpPr>
        <p:spPr>
          <a:xfrm>
            <a:off x="457200" y="3840480"/>
            <a:ext cx="54864" cy="603504"/>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4u_nt58"/>
          <p:cNvSpPr txBox="1"/>
          <p:nvPr/>
        </p:nvSpPr>
        <p:spPr>
          <a:xfrm>
            <a:off x="658368" y="3840480"/>
            <a:ext cx="7827264" cy="603504"/>
          </a:xfrm>
          <a:prstGeom prst="rect">
            <a:avLst/>
          </a:prstGeom>
          <a:noFill/>
        </p:spPr>
        <p:txBody>
          <a:bodyPr wrap="square" lIns="0" tIns="0" rIns="0" bIns="0" anchor="ctr">
            <a:spAutoFit/>
          </a:bodyPr>
          <a:lstStyle/>
          <a:p>
            <a:pPr algn="l"/>
            <a:r>
              <a:rPr sz="950" b="1">
                <a:solidFill>
                  <a:srgbClr val="15803D"/>
                </a:solidFill>
                <a:latin typeface="Segoe UI"/>
              </a:rPr>
              <a:t>KEY  </a:t>
            </a:r>
            <a:r>
              <a:rPr sz="950" b="0">
                <a:solidFill>
                  <a:srgbClr val="44403C"/>
                </a:solidFill>
                <a:latin typeface="Segoe UI"/>
              </a:rPr>
              <a:t>Thirty years of messaging - almost all of it built on the QUEUE. Kafka was the first widely used system built on the LOG.</a:t>
            </a:r>
          </a:p>
        </p:txBody>
      </p:sp>
      <p:sp>
        <p:nvSpPr>
          <p:cNvPr id="60" name="ft5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33</a:t>
            </a:r>
          </a:p>
        </p:txBody>
      </p:sp>
      <p:sp>
        <p:nvSpPr>
          <p:cNvPr id="61" name="ft6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ft6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63" name="ft6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2" presetID="2" presetClass="entr" presetSubtype="4"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 calcmode="lin" valueType="num">
                                      <p:cBhvr additive="base">
                                        <p:cTn id="9" dur="500" fill="hold"/>
                                        <p:tgtEl>
                                          <p:spTgt spid="12"/>
                                        </p:tgtEl>
                                        <p:attrNameLst>
                                          <p:attrName>ppt_x</p:attrName>
                                        </p:attrNameLst>
                                      </p:cBhvr>
                                      <p:tavLst>
                                        <p:tav tm="0">
                                          <p:val>
                                            <p:strVal val="#ppt_x"/>
                                          </p:val>
                                        </p:tav>
                                        <p:tav tm="100000">
                                          <p:val>
                                            <p:strVal val="#ppt_x"/>
                                          </p:val>
                                        </p:tav>
                                      </p:tavLst>
                                    </p:anim>
                                    <p:anim calcmode="lin" valueType="num">
                                      <p:cBhvr additive="base">
                                        <p:cTn id="10" dur="500" fill="hold"/>
                                        <p:tgtEl>
                                          <p:spTgt spid="12"/>
                                        </p:tgtEl>
                                        <p:attrNameLst>
                                          <p:attrName>ppt_y</p:attrName>
                                        </p:attrNameLst>
                                      </p:cBhvr>
                                      <p:tavLst>
                                        <p:tav tm="0">
                                          <p:val>
                                            <p:strVal val="#ppt_y+0.1"/>
                                          </p:val>
                                        </p:tav>
                                        <p:tav tm="100000">
                                          <p:val>
                                            <p:strVal val="#ppt_y"/>
                                          </p:val>
                                        </p:tav>
                                      </p:tavLst>
                                    </p:anim>
                                    <p:animEffect transition="in" filter="fade">
                                      <p:cBhvr>
                                        <p:cTn id="11" dur="500"/>
                                        <p:tgtEl>
                                          <p:spTgt spid="12"/>
                                        </p:tgtEl>
                                      </p:cBhvr>
                                    </p:animEffect>
                                  </p:childTnLst>
                                </p:cTn>
                              </p:par>
                              <p:par>
                                <p:cTn id="17" presetID="2" presetClass="entr" presetSubtype="4"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500" fill="hold"/>
                                        <p:tgtEl>
                                          <p:spTgt spid="13"/>
                                        </p:tgtEl>
                                        <p:attrNameLst>
                                          <p:attrName>ppt_x</p:attrName>
                                        </p:attrNameLst>
                                      </p:cBhvr>
                                      <p:tavLst>
                                        <p:tav tm="0">
                                          <p:val>
                                            <p:strVal val="#ppt_x"/>
                                          </p:val>
                                        </p:tav>
                                        <p:tav tm="100000">
                                          <p:val>
                                            <p:strVal val="#ppt_x"/>
                                          </p:val>
                                        </p:tav>
                                      </p:tavLst>
                                    </p:anim>
                                    <p:anim calcmode="lin" valueType="num">
                                      <p:cBhvr additive="base">
                                        <p:cTn id="15" dur="500" fill="hold"/>
                                        <p:tgtEl>
                                          <p:spTgt spid="13"/>
                                        </p:tgtEl>
                                        <p:attrNameLst>
                                          <p:attrName>ppt_y</p:attrName>
                                        </p:attrNameLst>
                                      </p:cBhvr>
                                      <p:tavLst>
                                        <p:tav tm="0">
                                          <p:val>
                                            <p:strVal val="#ppt_y+0.1"/>
                                          </p:val>
                                        </p:tav>
                                        <p:tav tm="100000">
                                          <p:val>
                                            <p:strVal val="#ppt_y"/>
                                          </p:val>
                                        </p:tav>
                                      </p:tavLst>
                                    </p:anim>
                                    <p:animEffect transition="in" filter="fade">
                                      <p:cBhvr>
                                        <p:cTn id="16" dur="500"/>
                                        <p:tgtEl>
                                          <p:spTgt spid="13"/>
                                        </p:tgtEl>
                                      </p:cBhvr>
                                    </p:animEffect>
                                  </p:childTnLst>
                                </p:cTn>
                              </p:par>
                              <p:par>
                                <p:cTn id="22" presetID="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ppt_y+0.1"/>
                                          </p:val>
                                        </p:tav>
                                        <p:tav tm="100000">
                                          <p:val>
                                            <p:strVal val="#ppt_y"/>
                                          </p:val>
                                        </p:tav>
                                      </p:tavLst>
                                    </p:anim>
                                    <p:animEffect transition="in" filter="fade">
                                      <p:cBhvr>
                                        <p:cTn id="21" dur="500"/>
                                        <p:tgtEl>
                                          <p:spTgt spid="14"/>
                                        </p:tgtEl>
                                      </p:cBhvr>
                                    </p:animEffect>
                                  </p:childTnLst>
                                </p:cTn>
                              </p:par>
                              <p:par>
                                <p:cTn id="27" presetID="2" presetClass="entr" presetSubtype="4"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additive="base">
                                        <p:cTn id="24" dur="500" fill="hold"/>
                                        <p:tgtEl>
                                          <p:spTgt spid="15"/>
                                        </p:tgtEl>
                                        <p:attrNameLst>
                                          <p:attrName>ppt_x</p:attrName>
                                        </p:attrNameLst>
                                      </p:cBhvr>
                                      <p:tavLst>
                                        <p:tav tm="0">
                                          <p:val>
                                            <p:strVal val="#ppt_x"/>
                                          </p:val>
                                        </p:tav>
                                        <p:tav tm="100000">
                                          <p:val>
                                            <p:strVal val="#ppt_x"/>
                                          </p:val>
                                        </p:tav>
                                      </p:tavLst>
                                    </p:anim>
                                    <p:anim calcmode="lin" valueType="num">
                                      <p:cBhvr additive="base">
                                        <p:cTn id="25" dur="500" fill="hold"/>
                                        <p:tgtEl>
                                          <p:spTgt spid="15"/>
                                        </p:tgtEl>
                                        <p:attrNameLst>
                                          <p:attrName>ppt_y</p:attrName>
                                        </p:attrNameLst>
                                      </p:cBhvr>
                                      <p:tavLst>
                                        <p:tav tm="0">
                                          <p:val>
                                            <p:strVal val="#ppt_y+0.1"/>
                                          </p:val>
                                        </p:tav>
                                        <p:tav tm="100000">
                                          <p:val>
                                            <p:strVal val="#ppt_y"/>
                                          </p:val>
                                        </p:tav>
                                      </p:tavLst>
                                    </p:anim>
                                    <p:animEffect transition="in" filter="fade">
                                      <p:cBhvr>
                                        <p:cTn id="26" dur="500"/>
                                        <p:tgtEl>
                                          <p:spTgt spid="15"/>
                                        </p:tgtEl>
                                      </p:cBhvr>
                                    </p:animEffect>
                                  </p:childTnLst>
                                </p:cTn>
                              </p:par>
                              <p:par>
                                <p:cTn id="32" presetID="2" presetClass="entr" presetSubtype="4"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ppt_x"/>
                                          </p:val>
                                        </p:tav>
                                        <p:tav tm="100000">
                                          <p:val>
                                            <p:strVal val="#ppt_x"/>
                                          </p:val>
                                        </p:tav>
                                      </p:tavLst>
                                    </p:anim>
                                    <p:anim calcmode="lin" valueType="num">
                                      <p:cBhvr additive="base">
                                        <p:cTn id="30" dur="500" fill="hold"/>
                                        <p:tgtEl>
                                          <p:spTgt spid="16"/>
                                        </p:tgtEl>
                                        <p:attrNameLst>
                                          <p:attrName>ppt_y</p:attrName>
                                        </p:attrNameLst>
                                      </p:cBhvr>
                                      <p:tavLst>
                                        <p:tav tm="0">
                                          <p:val>
                                            <p:strVal val="#ppt_y+0.1"/>
                                          </p:val>
                                        </p:tav>
                                        <p:tav tm="100000">
                                          <p:val>
                                            <p:strVal val="#ppt_y"/>
                                          </p:val>
                                        </p:tav>
                                      </p:tavLst>
                                    </p:anim>
                                    <p:animEffect transition="in" filter="fade">
                                      <p:cBhvr>
                                        <p:cTn id="31" dur="500"/>
                                        <p:tgtEl>
                                          <p:spTgt spid="16"/>
                                        </p:tgtEl>
                                      </p:cBhvr>
                                    </p:animEffect>
                                  </p:childTnLst>
                                </p:cTn>
                              </p:par>
                              <p:par>
                                <p:cTn id="37" presetID="2" presetClass="entr" presetSubtype="4" fill="hold" grpId="0" nodeType="withEffect">
                                  <p:stCondLst>
                                    <p:cond delay="120"/>
                                  </p:stCondLst>
                                  <p:childTnLst>
                                    <p:set>
                                      <p:cBhvr>
                                        <p:cTn id="33" dur="1" fill="hold">
                                          <p:stCondLst>
                                            <p:cond delay="0"/>
                                          </p:stCondLst>
                                        </p:cTn>
                                        <p:tgtEl>
                                          <p:spTgt spid="17"/>
                                        </p:tgtEl>
                                        <p:attrNameLst>
                                          <p:attrName>style.visibility</p:attrName>
                                        </p:attrNameLst>
                                      </p:cBhvr>
                                      <p:to>
                                        <p:strVal val="visible"/>
                                      </p:to>
                                    </p:set>
                                    <p:anim calcmode="lin" valueType="num">
                                      <p:cBhvr additive="base">
                                        <p:cTn id="34" dur="500" fill="hold"/>
                                        <p:tgtEl>
                                          <p:spTgt spid="17"/>
                                        </p:tgtEl>
                                        <p:attrNameLst>
                                          <p:attrName>ppt_x</p:attrName>
                                        </p:attrNameLst>
                                      </p:cBhvr>
                                      <p:tavLst>
                                        <p:tav tm="0">
                                          <p:val>
                                            <p:strVal val="#ppt_x"/>
                                          </p:val>
                                        </p:tav>
                                        <p:tav tm="100000">
                                          <p:val>
                                            <p:strVal val="#ppt_x"/>
                                          </p:val>
                                        </p:tav>
                                      </p:tavLst>
                                    </p:anim>
                                    <p:anim calcmode="lin" valueType="num">
                                      <p:cBhvr additive="base">
                                        <p:cTn id="35" dur="500" fill="hold"/>
                                        <p:tgtEl>
                                          <p:spTgt spid="17"/>
                                        </p:tgtEl>
                                        <p:attrNameLst>
                                          <p:attrName>ppt_y</p:attrName>
                                        </p:attrNameLst>
                                      </p:cBhvr>
                                      <p:tavLst>
                                        <p:tav tm="0">
                                          <p:val>
                                            <p:strVal val="#ppt_y+0.1"/>
                                          </p:val>
                                        </p:tav>
                                        <p:tav tm="100000">
                                          <p:val>
                                            <p:strVal val="#ppt_y"/>
                                          </p:val>
                                        </p:tav>
                                      </p:tavLst>
                                    </p:anim>
                                    <p:animEffect transition="in" filter="fade">
                                      <p:cBhvr>
                                        <p:cTn id="36" dur="500"/>
                                        <p:tgtEl>
                                          <p:spTgt spid="17"/>
                                        </p:tgtEl>
                                      </p:cBhvr>
                                    </p:animEffect>
                                  </p:childTnLst>
                                </p:cTn>
                              </p:par>
                              <p:par>
                                <p:cTn id="42" presetID="2" presetClass="entr" presetSubtype="4" fill="hold" grpId="0" nodeType="withEffect">
                                  <p:stCondLst>
                                    <p:cond delay="12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ppt_x"/>
                                          </p:val>
                                        </p:tav>
                                        <p:tav tm="100000">
                                          <p:val>
                                            <p:strVal val="#ppt_x"/>
                                          </p:val>
                                        </p:tav>
                                      </p:tavLst>
                                    </p:anim>
                                    <p:anim calcmode="lin" valueType="num">
                                      <p:cBhvr additive="base">
                                        <p:cTn id="40" dur="500" fill="hold"/>
                                        <p:tgtEl>
                                          <p:spTgt spid="18"/>
                                        </p:tgtEl>
                                        <p:attrNameLst>
                                          <p:attrName>ppt_y</p:attrName>
                                        </p:attrNameLst>
                                      </p:cBhvr>
                                      <p:tavLst>
                                        <p:tav tm="0">
                                          <p:val>
                                            <p:strVal val="#ppt_y+0.1"/>
                                          </p:val>
                                        </p:tav>
                                        <p:tav tm="100000">
                                          <p:val>
                                            <p:strVal val="#ppt_y"/>
                                          </p:val>
                                        </p:tav>
                                      </p:tavLst>
                                    </p:anim>
                                    <p:animEffect transition="in" filter="fade">
                                      <p:cBhvr>
                                        <p:cTn id="41" dur="500"/>
                                        <p:tgtEl>
                                          <p:spTgt spid="18"/>
                                        </p:tgtEl>
                                      </p:cBhvr>
                                    </p:animEffect>
                                  </p:childTnLst>
                                </p:cTn>
                              </p:par>
                              <p:par>
                                <p:cTn id="47" presetID="2" presetClass="entr" presetSubtype="4" fill="hold" grpId="0" nodeType="withEffect">
                                  <p:stCondLst>
                                    <p:cond delay="120"/>
                                  </p:stCondLst>
                                  <p:childTnLst>
                                    <p:set>
                                      <p:cBhvr>
                                        <p:cTn id="43" dur="1" fill="hold">
                                          <p:stCondLst>
                                            <p:cond delay="0"/>
                                          </p:stCondLst>
                                        </p:cTn>
                                        <p:tgtEl>
                                          <p:spTgt spid="19"/>
                                        </p:tgtEl>
                                        <p:attrNameLst>
                                          <p:attrName>style.visibility</p:attrName>
                                        </p:attrNameLst>
                                      </p:cBhvr>
                                      <p:to>
                                        <p:strVal val="visible"/>
                                      </p:to>
                                    </p:set>
                                    <p:anim calcmode="lin" valueType="num">
                                      <p:cBhvr additive="base">
                                        <p:cTn id="44" dur="500" fill="hold"/>
                                        <p:tgtEl>
                                          <p:spTgt spid="19"/>
                                        </p:tgtEl>
                                        <p:attrNameLst>
                                          <p:attrName>ppt_x</p:attrName>
                                        </p:attrNameLst>
                                      </p:cBhvr>
                                      <p:tavLst>
                                        <p:tav tm="0">
                                          <p:val>
                                            <p:strVal val="#ppt_x"/>
                                          </p:val>
                                        </p:tav>
                                        <p:tav tm="100000">
                                          <p:val>
                                            <p:strVal val="#ppt_x"/>
                                          </p:val>
                                        </p:tav>
                                      </p:tavLst>
                                    </p:anim>
                                    <p:anim calcmode="lin" valueType="num">
                                      <p:cBhvr additive="base">
                                        <p:cTn id="45" dur="500" fill="hold"/>
                                        <p:tgtEl>
                                          <p:spTgt spid="19"/>
                                        </p:tgtEl>
                                        <p:attrNameLst>
                                          <p:attrName>ppt_y</p:attrName>
                                        </p:attrNameLst>
                                      </p:cBhvr>
                                      <p:tavLst>
                                        <p:tav tm="0">
                                          <p:val>
                                            <p:strVal val="#ppt_y+0.1"/>
                                          </p:val>
                                        </p:tav>
                                        <p:tav tm="100000">
                                          <p:val>
                                            <p:strVal val="#ppt_y"/>
                                          </p:val>
                                        </p:tav>
                                      </p:tavLst>
                                    </p:anim>
                                    <p:animEffect transition="in" filter="fade">
                                      <p:cBhvr>
                                        <p:cTn id="46" dur="500"/>
                                        <p:tgtEl>
                                          <p:spTgt spid="19"/>
                                        </p:tgtEl>
                                      </p:cBhvr>
                                    </p:animEffect>
                                  </p:childTnLst>
                                </p:cTn>
                              </p:par>
                              <p:par>
                                <p:cTn id="52" presetID="2" presetClass="entr" presetSubtype="4" fill="hold" grpId="0" nodeType="withEffect">
                                  <p:stCondLst>
                                    <p:cond delay="12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ppt_x"/>
                                          </p:val>
                                        </p:tav>
                                        <p:tav tm="100000">
                                          <p:val>
                                            <p:strVal val="#ppt_x"/>
                                          </p:val>
                                        </p:tav>
                                      </p:tavLst>
                                    </p:anim>
                                    <p:anim calcmode="lin" valueType="num">
                                      <p:cBhvr additive="base">
                                        <p:cTn id="50" dur="500" fill="hold"/>
                                        <p:tgtEl>
                                          <p:spTgt spid="20"/>
                                        </p:tgtEl>
                                        <p:attrNameLst>
                                          <p:attrName>ppt_y</p:attrName>
                                        </p:attrNameLst>
                                      </p:cBhvr>
                                      <p:tavLst>
                                        <p:tav tm="0">
                                          <p:val>
                                            <p:strVal val="#ppt_y+0.1"/>
                                          </p:val>
                                        </p:tav>
                                        <p:tav tm="100000">
                                          <p:val>
                                            <p:strVal val="#ppt_y"/>
                                          </p:val>
                                        </p:tav>
                                      </p:tavLst>
                                    </p:anim>
                                    <p:animEffect transition="in" filter="fade">
                                      <p:cBhvr>
                                        <p:cTn id="51" dur="500"/>
                                        <p:tgtEl>
                                          <p:spTgt spid="20"/>
                                        </p:tgtEl>
                                      </p:cBhvr>
                                    </p:animEffect>
                                  </p:childTnLst>
                                </p:cTn>
                              </p:par>
                              <p:par>
                                <p:cTn id="57" presetID="2" presetClass="entr" presetSubtype="4" fill="hold" grpId="0" nodeType="withEffect">
                                  <p:stCondLst>
                                    <p:cond delay="120"/>
                                  </p:stCondLst>
                                  <p:childTnLst>
                                    <p:set>
                                      <p:cBhvr>
                                        <p:cTn id="53" dur="1" fill="hold">
                                          <p:stCondLst>
                                            <p:cond delay="0"/>
                                          </p:stCondLst>
                                        </p:cTn>
                                        <p:tgtEl>
                                          <p:spTgt spid="21"/>
                                        </p:tgtEl>
                                        <p:attrNameLst>
                                          <p:attrName>style.visibility</p:attrName>
                                        </p:attrNameLst>
                                      </p:cBhvr>
                                      <p:to>
                                        <p:strVal val="visible"/>
                                      </p:to>
                                    </p:set>
                                    <p:anim calcmode="lin" valueType="num">
                                      <p:cBhvr additive="base">
                                        <p:cTn id="54" dur="500" fill="hold"/>
                                        <p:tgtEl>
                                          <p:spTgt spid="21"/>
                                        </p:tgtEl>
                                        <p:attrNameLst>
                                          <p:attrName>ppt_x</p:attrName>
                                        </p:attrNameLst>
                                      </p:cBhvr>
                                      <p:tavLst>
                                        <p:tav tm="0">
                                          <p:val>
                                            <p:strVal val="#ppt_x"/>
                                          </p:val>
                                        </p:tav>
                                        <p:tav tm="100000">
                                          <p:val>
                                            <p:strVal val="#ppt_x"/>
                                          </p:val>
                                        </p:tav>
                                      </p:tavLst>
                                    </p:anim>
                                    <p:anim calcmode="lin" valueType="num">
                                      <p:cBhvr additive="base">
                                        <p:cTn id="55" dur="500" fill="hold"/>
                                        <p:tgtEl>
                                          <p:spTgt spid="21"/>
                                        </p:tgtEl>
                                        <p:attrNameLst>
                                          <p:attrName>ppt_y</p:attrName>
                                        </p:attrNameLst>
                                      </p:cBhvr>
                                      <p:tavLst>
                                        <p:tav tm="0">
                                          <p:val>
                                            <p:strVal val="#ppt_y+0.1"/>
                                          </p:val>
                                        </p:tav>
                                        <p:tav tm="100000">
                                          <p:val>
                                            <p:strVal val="#ppt_y"/>
                                          </p:val>
                                        </p:tav>
                                      </p:tavLst>
                                    </p:anim>
                                    <p:animEffect transition="in" filter="fade">
                                      <p:cBhvr>
                                        <p:cTn id="56" dur="500"/>
                                        <p:tgtEl>
                                          <p:spTgt spid="21"/>
                                        </p:tgtEl>
                                      </p:cBhvr>
                                    </p:animEffect>
                                  </p:childTnLst>
                                </p:cTn>
                              </p:par>
                              <p:par>
                                <p:cTn id="62" presetID="2" presetClass="entr" presetSubtype="4" fill="hold" grpId="0" nodeType="withEffect">
                                  <p:stCondLst>
                                    <p:cond delay="240"/>
                                  </p:stCondLst>
                                  <p:childTnLst>
                                    <p:set>
                                      <p:cBhvr>
                                        <p:cTn id="58" dur="1" fill="hold">
                                          <p:stCondLst>
                                            <p:cond delay="0"/>
                                          </p:stCondLst>
                                        </p:cTn>
                                        <p:tgtEl>
                                          <p:spTgt spid="22"/>
                                        </p:tgtEl>
                                        <p:attrNameLst>
                                          <p:attrName>style.visibility</p:attrName>
                                        </p:attrNameLst>
                                      </p:cBhvr>
                                      <p:to>
                                        <p:strVal val="visible"/>
                                      </p:to>
                                    </p:set>
                                    <p:anim calcmode="lin" valueType="num">
                                      <p:cBhvr additive="base">
                                        <p:cTn id="59" dur="500" fill="hold"/>
                                        <p:tgtEl>
                                          <p:spTgt spid="22"/>
                                        </p:tgtEl>
                                        <p:attrNameLst>
                                          <p:attrName>ppt_x</p:attrName>
                                        </p:attrNameLst>
                                      </p:cBhvr>
                                      <p:tavLst>
                                        <p:tav tm="0">
                                          <p:val>
                                            <p:strVal val="#ppt_x"/>
                                          </p:val>
                                        </p:tav>
                                        <p:tav tm="100000">
                                          <p:val>
                                            <p:strVal val="#ppt_x"/>
                                          </p:val>
                                        </p:tav>
                                      </p:tavLst>
                                    </p:anim>
                                    <p:anim calcmode="lin" valueType="num">
                                      <p:cBhvr additive="base">
                                        <p:cTn id="60" dur="500" fill="hold"/>
                                        <p:tgtEl>
                                          <p:spTgt spid="22"/>
                                        </p:tgtEl>
                                        <p:attrNameLst>
                                          <p:attrName>ppt_y</p:attrName>
                                        </p:attrNameLst>
                                      </p:cBhvr>
                                      <p:tavLst>
                                        <p:tav tm="0">
                                          <p:val>
                                            <p:strVal val="#ppt_y+0.1"/>
                                          </p:val>
                                        </p:tav>
                                        <p:tav tm="100000">
                                          <p:val>
                                            <p:strVal val="#ppt_y"/>
                                          </p:val>
                                        </p:tav>
                                      </p:tavLst>
                                    </p:anim>
                                    <p:animEffect transition="in" filter="fade">
                                      <p:cBhvr>
                                        <p:cTn id="61" dur="500"/>
                                        <p:tgtEl>
                                          <p:spTgt spid="22"/>
                                        </p:tgtEl>
                                      </p:cBhvr>
                                    </p:animEffect>
                                  </p:childTnLst>
                                </p:cTn>
                              </p:par>
                              <p:par>
                                <p:cTn id="67" presetID="2" presetClass="entr" presetSubtype="4" fill="hold" grpId="0" nodeType="withEffect">
                                  <p:stCondLst>
                                    <p:cond delay="240"/>
                                  </p:stCondLst>
                                  <p:childTnLst>
                                    <p:set>
                                      <p:cBhvr>
                                        <p:cTn id="63" dur="1" fill="hold">
                                          <p:stCondLst>
                                            <p:cond delay="0"/>
                                          </p:stCondLst>
                                        </p:cTn>
                                        <p:tgtEl>
                                          <p:spTgt spid="23"/>
                                        </p:tgtEl>
                                        <p:attrNameLst>
                                          <p:attrName>style.visibility</p:attrName>
                                        </p:attrNameLst>
                                      </p:cBhvr>
                                      <p:to>
                                        <p:strVal val="visible"/>
                                      </p:to>
                                    </p:set>
                                    <p:anim calcmode="lin" valueType="num">
                                      <p:cBhvr additive="base">
                                        <p:cTn id="64" dur="500" fill="hold"/>
                                        <p:tgtEl>
                                          <p:spTgt spid="23"/>
                                        </p:tgtEl>
                                        <p:attrNameLst>
                                          <p:attrName>ppt_x</p:attrName>
                                        </p:attrNameLst>
                                      </p:cBhvr>
                                      <p:tavLst>
                                        <p:tav tm="0">
                                          <p:val>
                                            <p:strVal val="#ppt_x"/>
                                          </p:val>
                                        </p:tav>
                                        <p:tav tm="100000">
                                          <p:val>
                                            <p:strVal val="#ppt_x"/>
                                          </p:val>
                                        </p:tav>
                                      </p:tavLst>
                                    </p:anim>
                                    <p:anim calcmode="lin" valueType="num">
                                      <p:cBhvr additive="base">
                                        <p:cTn id="65" dur="500" fill="hold"/>
                                        <p:tgtEl>
                                          <p:spTgt spid="23"/>
                                        </p:tgtEl>
                                        <p:attrNameLst>
                                          <p:attrName>ppt_y</p:attrName>
                                        </p:attrNameLst>
                                      </p:cBhvr>
                                      <p:tavLst>
                                        <p:tav tm="0">
                                          <p:val>
                                            <p:strVal val="#ppt_y+0.1"/>
                                          </p:val>
                                        </p:tav>
                                        <p:tav tm="100000">
                                          <p:val>
                                            <p:strVal val="#ppt_y"/>
                                          </p:val>
                                        </p:tav>
                                      </p:tavLst>
                                    </p:anim>
                                    <p:animEffect transition="in" filter="fade">
                                      <p:cBhvr>
                                        <p:cTn id="66" dur="500"/>
                                        <p:tgtEl>
                                          <p:spTgt spid="23"/>
                                        </p:tgtEl>
                                      </p:cBhvr>
                                    </p:animEffect>
                                  </p:childTnLst>
                                </p:cTn>
                              </p:par>
                              <p:par>
                                <p:cTn id="72" presetID="2" presetClass="entr" presetSubtype="4" fill="hold" grpId="0" nodeType="withEffect">
                                  <p:stCondLst>
                                    <p:cond delay="240"/>
                                  </p:stCondLst>
                                  <p:childTnLst>
                                    <p:set>
                                      <p:cBhvr>
                                        <p:cTn id="68" dur="1" fill="hold">
                                          <p:stCondLst>
                                            <p:cond delay="0"/>
                                          </p:stCondLst>
                                        </p:cTn>
                                        <p:tgtEl>
                                          <p:spTgt spid="24"/>
                                        </p:tgtEl>
                                        <p:attrNameLst>
                                          <p:attrName>style.visibility</p:attrName>
                                        </p:attrNameLst>
                                      </p:cBhvr>
                                      <p:to>
                                        <p:strVal val="visible"/>
                                      </p:to>
                                    </p:set>
                                    <p:anim calcmode="lin" valueType="num">
                                      <p:cBhvr additive="base">
                                        <p:cTn id="69" dur="500" fill="hold"/>
                                        <p:tgtEl>
                                          <p:spTgt spid="24"/>
                                        </p:tgtEl>
                                        <p:attrNameLst>
                                          <p:attrName>ppt_x</p:attrName>
                                        </p:attrNameLst>
                                      </p:cBhvr>
                                      <p:tavLst>
                                        <p:tav tm="0">
                                          <p:val>
                                            <p:strVal val="#ppt_x"/>
                                          </p:val>
                                        </p:tav>
                                        <p:tav tm="100000">
                                          <p:val>
                                            <p:strVal val="#ppt_x"/>
                                          </p:val>
                                        </p:tav>
                                      </p:tavLst>
                                    </p:anim>
                                    <p:anim calcmode="lin" valueType="num">
                                      <p:cBhvr additive="base">
                                        <p:cTn id="70" dur="500" fill="hold"/>
                                        <p:tgtEl>
                                          <p:spTgt spid="24"/>
                                        </p:tgtEl>
                                        <p:attrNameLst>
                                          <p:attrName>ppt_y</p:attrName>
                                        </p:attrNameLst>
                                      </p:cBhvr>
                                      <p:tavLst>
                                        <p:tav tm="0">
                                          <p:val>
                                            <p:strVal val="#ppt_y+0.1"/>
                                          </p:val>
                                        </p:tav>
                                        <p:tav tm="100000">
                                          <p:val>
                                            <p:strVal val="#ppt_y"/>
                                          </p:val>
                                        </p:tav>
                                      </p:tavLst>
                                    </p:anim>
                                    <p:animEffect transition="in" filter="fade">
                                      <p:cBhvr>
                                        <p:cTn id="71" dur="500"/>
                                        <p:tgtEl>
                                          <p:spTgt spid="24"/>
                                        </p:tgtEl>
                                      </p:cBhvr>
                                    </p:animEffect>
                                  </p:childTnLst>
                                </p:cTn>
                              </p:par>
                              <p:par>
                                <p:cTn id="77" presetID="2" presetClass="entr" presetSubtype="4" fill="hold" grpId="0" nodeType="withEffect">
                                  <p:stCondLst>
                                    <p:cond delay="240"/>
                                  </p:stCondLst>
                                  <p:childTnLst>
                                    <p:set>
                                      <p:cBhvr>
                                        <p:cTn id="73" dur="1" fill="hold">
                                          <p:stCondLst>
                                            <p:cond delay="0"/>
                                          </p:stCondLst>
                                        </p:cTn>
                                        <p:tgtEl>
                                          <p:spTgt spid="25"/>
                                        </p:tgtEl>
                                        <p:attrNameLst>
                                          <p:attrName>style.visibility</p:attrName>
                                        </p:attrNameLst>
                                      </p:cBhvr>
                                      <p:to>
                                        <p:strVal val="visible"/>
                                      </p:to>
                                    </p:set>
                                    <p:anim calcmode="lin" valueType="num">
                                      <p:cBhvr additive="base">
                                        <p:cTn id="74" dur="500" fill="hold"/>
                                        <p:tgtEl>
                                          <p:spTgt spid="25"/>
                                        </p:tgtEl>
                                        <p:attrNameLst>
                                          <p:attrName>ppt_x</p:attrName>
                                        </p:attrNameLst>
                                      </p:cBhvr>
                                      <p:tavLst>
                                        <p:tav tm="0">
                                          <p:val>
                                            <p:strVal val="#ppt_x"/>
                                          </p:val>
                                        </p:tav>
                                        <p:tav tm="100000">
                                          <p:val>
                                            <p:strVal val="#ppt_x"/>
                                          </p:val>
                                        </p:tav>
                                      </p:tavLst>
                                    </p:anim>
                                    <p:anim calcmode="lin" valueType="num">
                                      <p:cBhvr additive="base">
                                        <p:cTn id="75" dur="500" fill="hold"/>
                                        <p:tgtEl>
                                          <p:spTgt spid="25"/>
                                        </p:tgtEl>
                                        <p:attrNameLst>
                                          <p:attrName>ppt_y</p:attrName>
                                        </p:attrNameLst>
                                      </p:cBhvr>
                                      <p:tavLst>
                                        <p:tav tm="0">
                                          <p:val>
                                            <p:strVal val="#ppt_y+0.1"/>
                                          </p:val>
                                        </p:tav>
                                        <p:tav tm="100000">
                                          <p:val>
                                            <p:strVal val="#ppt_y"/>
                                          </p:val>
                                        </p:tav>
                                      </p:tavLst>
                                    </p:anim>
                                    <p:animEffect transition="in" filter="fade">
                                      <p:cBhvr>
                                        <p:cTn id="76" dur="500"/>
                                        <p:tgtEl>
                                          <p:spTgt spid="25"/>
                                        </p:tgtEl>
                                      </p:cBhvr>
                                    </p:animEffect>
                                  </p:childTnLst>
                                </p:cTn>
                              </p:par>
                              <p:par>
                                <p:cTn id="82" presetID="2" presetClass="entr" presetSubtype="4" fill="hold" grpId="0" nodeType="withEffect">
                                  <p:stCondLst>
                                    <p:cond delay="240"/>
                                  </p:stCondLst>
                                  <p:childTnLst>
                                    <p:set>
                                      <p:cBhvr>
                                        <p:cTn id="78" dur="1" fill="hold">
                                          <p:stCondLst>
                                            <p:cond delay="0"/>
                                          </p:stCondLst>
                                        </p:cTn>
                                        <p:tgtEl>
                                          <p:spTgt spid="26"/>
                                        </p:tgtEl>
                                        <p:attrNameLst>
                                          <p:attrName>style.visibility</p:attrName>
                                        </p:attrNameLst>
                                      </p:cBhvr>
                                      <p:to>
                                        <p:strVal val="visible"/>
                                      </p:to>
                                    </p:set>
                                    <p:anim calcmode="lin" valueType="num">
                                      <p:cBhvr additive="base">
                                        <p:cTn id="79" dur="500" fill="hold"/>
                                        <p:tgtEl>
                                          <p:spTgt spid="26"/>
                                        </p:tgtEl>
                                        <p:attrNameLst>
                                          <p:attrName>ppt_x</p:attrName>
                                        </p:attrNameLst>
                                      </p:cBhvr>
                                      <p:tavLst>
                                        <p:tav tm="0">
                                          <p:val>
                                            <p:strVal val="#ppt_x"/>
                                          </p:val>
                                        </p:tav>
                                        <p:tav tm="100000">
                                          <p:val>
                                            <p:strVal val="#ppt_x"/>
                                          </p:val>
                                        </p:tav>
                                      </p:tavLst>
                                    </p:anim>
                                    <p:anim calcmode="lin" valueType="num">
                                      <p:cBhvr additive="base">
                                        <p:cTn id="80" dur="500" fill="hold"/>
                                        <p:tgtEl>
                                          <p:spTgt spid="26"/>
                                        </p:tgtEl>
                                        <p:attrNameLst>
                                          <p:attrName>ppt_y</p:attrName>
                                        </p:attrNameLst>
                                      </p:cBhvr>
                                      <p:tavLst>
                                        <p:tav tm="0">
                                          <p:val>
                                            <p:strVal val="#ppt_y+0.1"/>
                                          </p:val>
                                        </p:tav>
                                        <p:tav tm="100000">
                                          <p:val>
                                            <p:strVal val="#ppt_y"/>
                                          </p:val>
                                        </p:tav>
                                      </p:tavLst>
                                    </p:anim>
                                    <p:animEffect transition="in" filter="fade">
                                      <p:cBhvr>
                                        <p:cTn id="81" dur="500"/>
                                        <p:tgtEl>
                                          <p:spTgt spid="26"/>
                                        </p:tgtEl>
                                      </p:cBhvr>
                                    </p:animEffect>
                                  </p:childTnLst>
                                </p:cTn>
                              </p:par>
                            </p:childTnLst>
                          </p:cTn>
                        </p:par>
                      </p:childTnLst>
                    </p:cTn>
                  </p:par>
                  <p:par>
                    <p:cTn id="83" fill="hold">
                      <p:stCondLst>
                        <p:cond delay="indefinite"/>
                      </p:stCondLst>
                      <p:childTnLst>
                        <p:par>
                          <p:cTn id="84" fill="hold">
                            <p:stCondLst>
                              <p:cond delay="0"/>
                            </p:stCondLst>
                            <p:childTnLst>
                              <p:par>
                                <p:cTn id="89" presetID="2" presetClass="entr" presetSubtype="4" fill="hold" grpId="0" nodeType="clickEffect">
                                  <p:stCondLst>
                                    <p:cond delay="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1"/>
                                          </p:val>
                                        </p:tav>
                                        <p:tav tm="100000">
                                          <p:val>
                                            <p:strVal val="#ppt_y"/>
                                          </p:val>
                                        </p:tav>
                                      </p:tavLst>
                                    </p:anim>
                                    <p:animEffect transition="in" filter="fade">
                                      <p:cBhvr>
                                        <p:cTn id="98" dur="500"/>
                                        <p:tgtEl>
                                          <p:spTgt spid="29"/>
                                        </p:tgtEl>
                                      </p:cBhvr>
                                    </p:animEffect>
                                  </p:childTnLst>
                                </p:cTn>
                              </p:par>
                              <p:par>
                                <p:cTn id="104" presetID="2" presetClass="entr" presetSubtype="4" fill="hold" grpId="0" nodeType="withEffect">
                                  <p:stCondLst>
                                    <p:cond delay="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ppt_x</p:attrName>
                                        </p:attrNameLst>
                                      </p:cBhvr>
                                      <p:tavLst>
                                        <p:tav tm="0">
                                          <p:val>
                                            <p:strVal val="#ppt_x"/>
                                          </p:val>
                                        </p:tav>
                                        <p:tav tm="100000">
                                          <p:val>
                                            <p:strVal val="#ppt_x"/>
                                          </p:val>
                                        </p:tav>
                                      </p:tavLst>
                                    </p:anim>
                                    <p:anim calcmode="lin" valueType="num">
                                      <p:cBhvr additive="base">
                                        <p:cTn id="102" dur="500" fill="hold"/>
                                        <p:tgtEl>
                                          <p:spTgt spid="30"/>
                                        </p:tgtEl>
                                        <p:attrNameLst>
                                          <p:attrName>ppt_y</p:attrName>
                                        </p:attrNameLst>
                                      </p:cBhvr>
                                      <p:tavLst>
                                        <p:tav tm="0">
                                          <p:val>
                                            <p:strVal val="#ppt_y+0.1"/>
                                          </p:val>
                                        </p:tav>
                                        <p:tav tm="100000">
                                          <p:val>
                                            <p:strVal val="#ppt_y"/>
                                          </p:val>
                                        </p:tav>
                                      </p:tavLst>
                                    </p:anim>
                                    <p:animEffect transition="in" filter="fade">
                                      <p:cBhvr>
                                        <p:cTn id="103" dur="500"/>
                                        <p:tgtEl>
                                          <p:spTgt spid="30"/>
                                        </p:tgtEl>
                                      </p:cBhvr>
                                    </p:animEffect>
                                  </p:childTnLst>
                                </p:cTn>
                              </p:par>
                              <p:par>
                                <p:cTn id="109" presetID="2" presetClass="entr" presetSubtype="4" fill="hold" grpId="0" nodeType="withEffect">
                                  <p:stCondLst>
                                    <p:cond delay="0"/>
                                  </p:stCondLst>
                                  <p:childTnLst>
                                    <p:set>
                                      <p:cBhvr>
                                        <p:cTn id="105" dur="1" fill="hold">
                                          <p:stCondLst>
                                            <p:cond delay="0"/>
                                          </p:stCondLst>
                                        </p:cTn>
                                        <p:tgtEl>
                                          <p:spTgt spid="31"/>
                                        </p:tgtEl>
                                        <p:attrNameLst>
                                          <p:attrName>style.visibility</p:attrName>
                                        </p:attrNameLst>
                                      </p:cBhvr>
                                      <p:to>
                                        <p:strVal val="visible"/>
                                      </p:to>
                                    </p:set>
                                    <p:anim calcmode="lin" valueType="num">
                                      <p:cBhvr additive="base">
                                        <p:cTn id="106" dur="500" fill="hold"/>
                                        <p:tgtEl>
                                          <p:spTgt spid="31"/>
                                        </p:tgtEl>
                                        <p:attrNameLst>
                                          <p:attrName>ppt_x</p:attrName>
                                        </p:attrNameLst>
                                      </p:cBhvr>
                                      <p:tavLst>
                                        <p:tav tm="0">
                                          <p:val>
                                            <p:strVal val="#ppt_x"/>
                                          </p:val>
                                        </p:tav>
                                        <p:tav tm="100000">
                                          <p:val>
                                            <p:strVal val="#ppt_x"/>
                                          </p:val>
                                        </p:tav>
                                      </p:tavLst>
                                    </p:anim>
                                    <p:anim calcmode="lin" valueType="num">
                                      <p:cBhvr additive="base">
                                        <p:cTn id="107" dur="500" fill="hold"/>
                                        <p:tgtEl>
                                          <p:spTgt spid="31"/>
                                        </p:tgtEl>
                                        <p:attrNameLst>
                                          <p:attrName>ppt_y</p:attrName>
                                        </p:attrNameLst>
                                      </p:cBhvr>
                                      <p:tavLst>
                                        <p:tav tm="0">
                                          <p:val>
                                            <p:strVal val="#ppt_y+0.1"/>
                                          </p:val>
                                        </p:tav>
                                        <p:tav tm="100000">
                                          <p:val>
                                            <p:strVal val="#ppt_y"/>
                                          </p:val>
                                        </p:tav>
                                      </p:tavLst>
                                    </p:anim>
                                    <p:animEffect transition="in" filter="fade">
                                      <p:cBhvr>
                                        <p:cTn id="108" dur="500"/>
                                        <p:tgtEl>
                                          <p:spTgt spid="31"/>
                                        </p:tgtEl>
                                      </p:cBhvr>
                                    </p:animEffect>
                                  </p:childTnLst>
                                </p:cTn>
                              </p:par>
                              <p:par>
                                <p:cTn id="114" presetID="2" presetClass="entr" presetSubtype="4" fill="hold" grpId="0" nodeType="withEffect">
                                  <p:stCondLst>
                                    <p:cond delay="120"/>
                                  </p:stCondLst>
                                  <p:childTnLst>
                                    <p:set>
                                      <p:cBhvr>
                                        <p:cTn id="110" dur="1" fill="hold">
                                          <p:stCondLst>
                                            <p:cond delay="0"/>
                                          </p:stCondLst>
                                        </p:cTn>
                                        <p:tgtEl>
                                          <p:spTgt spid="32"/>
                                        </p:tgtEl>
                                        <p:attrNameLst>
                                          <p:attrName>style.visibility</p:attrName>
                                        </p:attrNameLst>
                                      </p:cBhvr>
                                      <p:to>
                                        <p:strVal val="visible"/>
                                      </p:to>
                                    </p:set>
                                    <p:anim calcmode="lin" valueType="num">
                                      <p:cBhvr additive="base">
                                        <p:cTn id="111" dur="500" fill="hold"/>
                                        <p:tgtEl>
                                          <p:spTgt spid="32"/>
                                        </p:tgtEl>
                                        <p:attrNameLst>
                                          <p:attrName>ppt_x</p:attrName>
                                        </p:attrNameLst>
                                      </p:cBhvr>
                                      <p:tavLst>
                                        <p:tav tm="0">
                                          <p:val>
                                            <p:strVal val="#ppt_x"/>
                                          </p:val>
                                        </p:tav>
                                        <p:tav tm="100000">
                                          <p:val>
                                            <p:strVal val="#ppt_x"/>
                                          </p:val>
                                        </p:tav>
                                      </p:tavLst>
                                    </p:anim>
                                    <p:anim calcmode="lin" valueType="num">
                                      <p:cBhvr additive="base">
                                        <p:cTn id="112" dur="500" fill="hold"/>
                                        <p:tgtEl>
                                          <p:spTgt spid="32"/>
                                        </p:tgtEl>
                                        <p:attrNameLst>
                                          <p:attrName>ppt_y</p:attrName>
                                        </p:attrNameLst>
                                      </p:cBhvr>
                                      <p:tavLst>
                                        <p:tav tm="0">
                                          <p:val>
                                            <p:strVal val="#ppt_y+0.1"/>
                                          </p:val>
                                        </p:tav>
                                        <p:tav tm="100000">
                                          <p:val>
                                            <p:strVal val="#ppt_y"/>
                                          </p:val>
                                        </p:tav>
                                      </p:tavLst>
                                    </p:anim>
                                    <p:animEffect transition="in" filter="fade">
                                      <p:cBhvr>
                                        <p:cTn id="113" dur="500"/>
                                        <p:tgtEl>
                                          <p:spTgt spid="32"/>
                                        </p:tgtEl>
                                      </p:cBhvr>
                                    </p:animEffect>
                                  </p:childTnLst>
                                </p:cTn>
                              </p:par>
                              <p:par>
                                <p:cTn id="119" presetID="2" presetClass="entr" presetSubtype="4" fill="hold" grpId="0" nodeType="withEffect">
                                  <p:stCondLst>
                                    <p:cond delay="120"/>
                                  </p:stCondLst>
                                  <p:childTnLst>
                                    <p:set>
                                      <p:cBhvr>
                                        <p:cTn id="115" dur="1" fill="hold">
                                          <p:stCondLst>
                                            <p:cond delay="0"/>
                                          </p:stCondLst>
                                        </p:cTn>
                                        <p:tgtEl>
                                          <p:spTgt spid="33"/>
                                        </p:tgtEl>
                                        <p:attrNameLst>
                                          <p:attrName>style.visibility</p:attrName>
                                        </p:attrNameLst>
                                      </p:cBhvr>
                                      <p:to>
                                        <p:strVal val="visible"/>
                                      </p:to>
                                    </p:set>
                                    <p:anim calcmode="lin" valueType="num">
                                      <p:cBhvr additive="base">
                                        <p:cTn id="116" dur="500" fill="hold"/>
                                        <p:tgtEl>
                                          <p:spTgt spid="33"/>
                                        </p:tgtEl>
                                        <p:attrNameLst>
                                          <p:attrName>ppt_x</p:attrName>
                                        </p:attrNameLst>
                                      </p:cBhvr>
                                      <p:tavLst>
                                        <p:tav tm="0">
                                          <p:val>
                                            <p:strVal val="#ppt_x"/>
                                          </p:val>
                                        </p:tav>
                                        <p:tav tm="100000">
                                          <p:val>
                                            <p:strVal val="#ppt_x"/>
                                          </p:val>
                                        </p:tav>
                                      </p:tavLst>
                                    </p:anim>
                                    <p:anim calcmode="lin" valueType="num">
                                      <p:cBhvr additive="base">
                                        <p:cTn id="117" dur="500" fill="hold"/>
                                        <p:tgtEl>
                                          <p:spTgt spid="33"/>
                                        </p:tgtEl>
                                        <p:attrNameLst>
                                          <p:attrName>ppt_y</p:attrName>
                                        </p:attrNameLst>
                                      </p:cBhvr>
                                      <p:tavLst>
                                        <p:tav tm="0">
                                          <p:val>
                                            <p:strVal val="#ppt_y+0.1"/>
                                          </p:val>
                                        </p:tav>
                                        <p:tav tm="100000">
                                          <p:val>
                                            <p:strVal val="#ppt_y"/>
                                          </p:val>
                                        </p:tav>
                                      </p:tavLst>
                                    </p:anim>
                                    <p:animEffect transition="in" filter="fade">
                                      <p:cBhvr>
                                        <p:cTn id="118" dur="500"/>
                                        <p:tgtEl>
                                          <p:spTgt spid="33"/>
                                        </p:tgtEl>
                                      </p:cBhvr>
                                    </p:animEffect>
                                  </p:childTnLst>
                                </p:cTn>
                              </p:par>
                              <p:par>
                                <p:cTn id="124" presetID="2" presetClass="entr" presetSubtype="4" fill="hold" grpId="0" nodeType="withEffect">
                                  <p:stCondLst>
                                    <p:cond delay="12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ppt_x</p:attrName>
                                        </p:attrNameLst>
                                      </p:cBhvr>
                                      <p:tavLst>
                                        <p:tav tm="0">
                                          <p:val>
                                            <p:strVal val="#ppt_x"/>
                                          </p:val>
                                        </p:tav>
                                        <p:tav tm="100000">
                                          <p:val>
                                            <p:strVal val="#ppt_x"/>
                                          </p:val>
                                        </p:tav>
                                      </p:tavLst>
                                    </p:anim>
                                    <p:anim calcmode="lin" valueType="num">
                                      <p:cBhvr additive="base">
                                        <p:cTn id="122" dur="500" fill="hold"/>
                                        <p:tgtEl>
                                          <p:spTgt spid="34"/>
                                        </p:tgtEl>
                                        <p:attrNameLst>
                                          <p:attrName>ppt_y</p:attrName>
                                        </p:attrNameLst>
                                      </p:cBhvr>
                                      <p:tavLst>
                                        <p:tav tm="0">
                                          <p:val>
                                            <p:strVal val="#ppt_y+0.1"/>
                                          </p:val>
                                        </p:tav>
                                        <p:tav tm="100000">
                                          <p:val>
                                            <p:strVal val="#ppt_y"/>
                                          </p:val>
                                        </p:tav>
                                      </p:tavLst>
                                    </p:anim>
                                    <p:animEffect transition="in" filter="fade">
                                      <p:cBhvr>
                                        <p:cTn id="123" dur="500"/>
                                        <p:tgtEl>
                                          <p:spTgt spid="34"/>
                                        </p:tgtEl>
                                      </p:cBhvr>
                                    </p:animEffect>
                                  </p:childTnLst>
                                </p:cTn>
                              </p:par>
                              <p:par>
                                <p:cTn id="129" presetID="2" presetClass="entr" presetSubtype="4" fill="hold" grpId="0" nodeType="withEffect">
                                  <p:stCondLst>
                                    <p:cond delay="120"/>
                                  </p:stCondLst>
                                  <p:childTnLst>
                                    <p:set>
                                      <p:cBhvr>
                                        <p:cTn id="125" dur="1" fill="hold">
                                          <p:stCondLst>
                                            <p:cond delay="0"/>
                                          </p:stCondLst>
                                        </p:cTn>
                                        <p:tgtEl>
                                          <p:spTgt spid="35"/>
                                        </p:tgtEl>
                                        <p:attrNameLst>
                                          <p:attrName>style.visibility</p:attrName>
                                        </p:attrNameLst>
                                      </p:cBhvr>
                                      <p:to>
                                        <p:strVal val="visible"/>
                                      </p:to>
                                    </p:set>
                                    <p:anim calcmode="lin" valueType="num">
                                      <p:cBhvr additive="base">
                                        <p:cTn id="126" dur="500" fill="hold"/>
                                        <p:tgtEl>
                                          <p:spTgt spid="35"/>
                                        </p:tgtEl>
                                        <p:attrNameLst>
                                          <p:attrName>ppt_x</p:attrName>
                                        </p:attrNameLst>
                                      </p:cBhvr>
                                      <p:tavLst>
                                        <p:tav tm="0">
                                          <p:val>
                                            <p:strVal val="#ppt_x"/>
                                          </p:val>
                                        </p:tav>
                                        <p:tav tm="100000">
                                          <p:val>
                                            <p:strVal val="#ppt_x"/>
                                          </p:val>
                                        </p:tav>
                                      </p:tavLst>
                                    </p:anim>
                                    <p:anim calcmode="lin" valueType="num">
                                      <p:cBhvr additive="base">
                                        <p:cTn id="127" dur="500" fill="hold"/>
                                        <p:tgtEl>
                                          <p:spTgt spid="35"/>
                                        </p:tgtEl>
                                        <p:attrNameLst>
                                          <p:attrName>ppt_y</p:attrName>
                                        </p:attrNameLst>
                                      </p:cBhvr>
                                      <p:tavLst>
                                        <p:tav tm="0">
                                          <p:val>
                                            <p:strVal val="#ppt_y+0.1"/>
                                          </p:val>
                                        </p:tav>
                                        <p:tav tm="100000">
                                          <p:val>
                                            <p:strVal val="#ppt_y"/>
                                          </p:val>
                                        </p:tav>
                                      </p:tavLst>
                                    </p:anim>
                                    <p:animEffect transition="in" filter="fade">
                                      <p:cBhvr>
                                        <p:cTn id="128" dur="500"/>
                                        <p:tgtEl>
                                          <p:spTgt spid="35"/>
                                        </p:tgtEl>
                                      </p:cBhvr>
                                    </p:animEffect>
                                  </p:childTnLst>
                                </p:cTn>
                              </p:par>
                              <p:par>
                                <p:cTn id="134" presetID="2" presetClass="entr" presetSubtype="4" fill="hold" grpId="0" nodeType="withEffect">
                                  <p:stCondLst>
                                    <p:cond delay="120"/>
                                  </p:stCondLst>
                                  <p:childTnLst>
                                    <p:set>
                                      <p:cBhvr>
                                        <p:cTn id="130" dur="1" fill="hold">
                                          <p:stCondLst>
                                            <p:cond delay="0"/>
                                          </p:stCondLst>
                                        </p:cTn>
                                        <p:tgtEl>
                                          <p:spTgt spid="36"/>
                                        </p:tgtEl>
                                        <p:attrNameLst>
                                          <p:attrName>style.visibility</p:attrName>
                                        </p:attrNameLst>
                                      </p:cBhvr>
                                      <p:to>
                                        <p:strVal val="visible"/>
                                      </p:to>
                                    </p:set>
                                    <p:anim calcmode="lin" valueType="num">
                                      <p:cBhvr additive="base">
                                        <p:cTn id="131" dur="500" fill="hold"/>
                                        <p:tgtEl>
                                          <p:spTgt spid="36"/>
                                        </p:tgtEl>
                                        <p:attrNameLst>
                                          <p:attrName>ppt_x</p:attrName>
                                        </p:attrNameLst>
                                      </p:cBhvr>
                                      <p:tavLst>
                                        <p:tav tm="0">
                                          <p:val>
                                            <p:strVal val="#ppt_x"/>
                                          </p:val>
                                        </p:tav>
                                        <p:tav tm="100000">
                                          <p:val>
                                            <p:strVal val="#ppt_x"/>
                                          </p:val>
                                        </p:tav>
                                      </p:tavLst>
                                    </p:anim>
                                    <p:anim calcmode="lin" valueType="num">
                                      <p:cBhvr additive="base">
                                        <p:cTn id="132" dur="500" fill="hold"/>
                                        <p:tgtEl>
                                          <p:spTgt spid="36"/>
                                        </p:tgtEl>
                                        <p:attrNameLst>
                                          <p:attrName>ppt_y</p:attrName>
                                        </p:attrNameLst>
                                      </p:cBhvr>
                                      <p:tavLst>
                                        <p:tav tm="0">
                                          <p:val>
                                            <p:strVal val="#ppt_y+0.1"/>
                                          </p:val>
                                        </p:tav>
                                        <p:tav tm="100000">
                                          <p:val>
                                            <p:strVal val="#ppt_y"/>
                                          </p:val>
                                        </p:tav>
                                      </p:tavLst>
                                    </p:anim>
                                    <p:animEffect transition="in" filter="fade">
                                      <p:cBhvr>
                                        <p:cTn id="133" dur="500"/>
                                        <p:tgtEl>
                                          <p:spTgt spid="36"/>
                                        </p:tgtEl>
                                      </p:cBhvr>
                                    </p:animEffect>
                                  </p:childTnLst>
                                </p:cTn>
                              </p:par>
                              <p:par>
                                <p:cTn id="139" presetID="2" presetClass="entr" presetSubtype="4" fill="hold" grpId="0" nodeType="withEffect">
                                  <p:stCondLst>
                                    <p:cond delay="240"/>
                                  </p:stCondLst>
                                  <p:childTnLst>
                                    <p:set>
                                      <p:cBhvr>
                                        <p:cTn id="135" dur="1" fill="hold">
                                          <p:stCondLst>
                                            <p:cond delay="0"/>
                                          </p:stCondLst>
                                        </p:cTn>
                                        <p:tgtEl>
                                          <p:spTgt spid="37"/>
                                        </p:tgtEl>
                                        <p:attrNameLst>
                                          <p:attrName>style.visibility</p:attrName>
                                        </p:attrNameLst>
                                      </p:cBhvr>
                                      <p:to>
                                        <p:strVal val="visible"/>
                                      </p:to>
                                    </p:set>
                                    <p:anim calcmode="lin" valueType="num">
                                      <p:cBhvr additive="base">
                                        <p:cTn id="136" dur="500" fill="hold"/>
                                        <p:tgtEl>
                                          <p:spTgt spid="37"/>
                                        </p:tgtEl>
                                        <p:attrNameLst>
                                          <p:attrName>ppt_x</p:attrName>
                                        </p:attrNameLst>
                                      </p:cBhvr>
                                      <p:tavLst>
                                        <p:tav tm="0">
                                          <p:val>
                                            <p:strVal val="#ppt_x"/>
                                          </p:val>
                                        </p:tav>
                                        <p:tav tm="100000">
                                          <p:val>
                                            <p:strVal val="#ppt_x"/>
                                          </p:val>
                                        </p:tav>
                                      </p:tavLst>
                                    </p:anim>
                                    <p:anim calcmode="lin" valueType="num">
                                      <p:cBhvr additive="base">
                                        <p:cTn id="137" dur="500" fill="hold"/>
                                        <p:tgtEl>
                                          <p:spTgt spid="37"/>
                                        </p:tgtEl>
                                        <p:attrNameLst>
                                          <p:attrName>ppt_y</p:attrName>
                                        </p:attrNameLst>
                                      </p:cBhvr>
                                      <p:tavLst>
                                        <p:tav tm="0">
                                          <p:val>
                                            <p:strVal val="#ppt_y+0.1"/>
                                          </p:val>
                                        </p:tav>
                                        <p:tav tm="100000">
                                          <p:val>
                                            <p:strVal val="#ppt_y"/>
                                          </p:val>
                                        </p:tav>
                                      </p:tavLst>
                                    </p:anim>
                                    <p:animEffect transition="in" filter="fade">
                                      <p:cBhvr>
                                        <p:cTn id="138" dur="500"/>
                                        <p:tgtEl>
                                          <p:spTgt spid="37"/>
                                        </p:tgtEl>
                                      </p:cBhvr>
                                    </p:animEffect>
                                  </p:childTnLst>
                                </p:cTn>
                              </p:par>
                              <p:par>
                                <p:cTn id="144" presetID="2" presetClass="entr" presetSubtype="4" fill="hold" grpId="0" nodeType="withEffect">
                                  <p:stCondLst>
                                    <p:cond delay="240"/>
                                  </p:stCondLst>
                                  <p:childTnLst>
                                    <p:set>
                                      <p:cBhvr>
                                        <p:cTn id="140" dur="1" fill="hold">
                                          <p:stCondLst>
                                            <p:cond delay="0"/>
                                          </p:stCondLst>
                                        </p:cTn>
                                        <p:tgtEl>
                                          <p:spTgt spid="38"/>
                                        </p:tgtEl>
                                        <p:attrNameLst>
                                          <p:attrName>style.visibility</p:attrName>
                                        </p:attrNameLst>
                                      </p:cBhvr>
                                      <p:to>
                                        <p:strVal val="visible"/>
                                      </p:to>
                                    </p:set>
                                    <p:anim calcmode="lin" valueType="num">
                                      <p:cBhvr additive="base">
                                        <p:cTn id="141" dur="500" fill="hold"/>
                                        <p:tgtEl>
                                          <p:spTgt spid="38"/>
                                        </p:tgtEl>
                                        <p:attrNameLst>
                                          <p:attrName>ppt_x</p:attrName>
                                        </p:attrNameLst>
                                      </p:cBhvr>
                                      <p:tavLst>
                                        <p:tav tm="0">
                                          <p:val>
                                            <p:strVal val="#ppt_x"/>
                                          </p:val>
                                        </p:tav>
                                        <p:tav tm="100000">
                                          <p:val>
                                            <p:strVal val="#ppt_x"/>
                                          </p:val>
                                        </p:tav>
                                      </p:tavLst>
                                    </p:anim>
                                    <p:anim calcmode="lin" valueType="num">
                                      <p:cBhvr additive="base">
                                        <p:cTn id="142" dur="500" fill="hold"/>
                                        <p:tgtEl>
                                          <p:spTgt spid="38"/>
                                        </p:tgtEl>
                                        <p:attrNameLst>
                                          <p:attrName>ppt_y</p:attrName>
                                        </p:attrNameLst>
                                      </p:cBhvr>
                                      <p:tavLst>
                                        <p:tav tm="0">
                                          <p:val>
                                            <p:strVal val="#ppt_y+0.1"/>
                                          </p:val>
                                        </p:tav>
                                        <p:tav tm="100000">
                                          <p:val>
                                            <p:strVal val="#ppt_y"/>
                                          </p:val>
                                        </p:tav>
                                      </p:tavLst>
                                    </p:anim>
                                    <p:animEffect transition="in" filter="fade">
                                      <p:cBhvr>
                                        <p:cTn id="143" dur="500"/>
                                        <p:tgtEl>
                                          <p:spTgt spid="38"/>
                                        </p:tgtEl>
                                      </p:cBhvr>
                                    </p:animEffect>
                                  </p:childTnLst>
                                </p:cTn>
                              </p:par>
                              <p:par>
                                <p:cTn id="149" presetID="2" presetClass="entr" presetSubtype="4" fill="hold" grpId="0" nodeType="withEffect">
                                  <p:stCondLst>
                                    <p:cond delay="240"/>
                                  </p:stCondLst>
                                  <p:childTnLst>
                                    <p:set>
                                      <p:cBhvr>
                                        <p:cTn id="145" dur="1" fill="hold">
                                          <p:stCondLst>
                                            <p:cond delay="0"/>
                                          </p:stCondLst>
                                        </p:cTn>
                                        <p:tgtEl>
                                          <p:spTgt spid="39"/>
                                        </p:tgtEl>
                                        <p:attrNameLst>
                                          <p:attrName>style.visibility</p:attrName>
                                        </p:attrNameLst>
                                      </p:cBhvr>
                                      <p:to>
                                        <p:strVal val="visible"/>
                                      </p:to>
                                    </p:set>
                                    <p:anim calcmode="lin" valueType="num">
                                      <p:cBhvr additive="base">
                                        <p:cTn id="146" dur="500" fill="hold"/>
                                        <p:tgtEl>
                                          <p:spTgt spid="39"/>
                                        </p:tgtEl>
                                        <p:attrNameLst>
                                          <p:attrName>ppt_x</p:attrName>
                                        </p:attrNameLst>
                                      </p:cBhvr>
                                      <p:tavLst>
                                        <p:tav tm="0">
                                          <p:val>
                                            <p:strVal val="#ppt_x"/>
                                          </p:val>
                                        </p:tav>
                                        <p:tav tm="100000">
                                          <p:val>
                                            <p:strVal val="#ppt_x"/>
                                          </p:val>
                                        </p:tav>
                                      </p:tavLst>
                                    </p:anim>
                                    <p:anim calcmode="lin" valueType="num">
                                      <p:cBhvr additive="base">
                                        <p:cTn id="147" dur="500" fill="hold"/>
                                        <p:tgtEl>
                                          <p:spTgt spid="39"/>
                                        </p:tgtEl>
                                        <p:attrNameLst>
                                          <p:attrName>ppt_y</p:attrName>
                                        </p:attrNameLst>
                                      </p:cBhvr>
                                      <p:tavLst>
                                        <p:tav tm="0">
                                          <p:val>
                                            <p:strVal val="#ppt_y+0.1"/>
                                          </p:val>
                                        </p:tav>
                                        <p:tav tm="100000">
                                          <p:val>
                                            <p:strVal val="#ppt_y"/>
                                          </p:val>
                                        </p:tav>
                                      </p:tavLst>
                                    </p:anim>
                                    <p:animEffect transition="in" filter="fade">
                                      <p:cBhvr>
                                        <p:cTn id="148" dur="500"/>
                                        <p:tgtEl>
                                          <p:spTgt spid="39"/>
                                        </p:tgtEl>
                                      </p:cBhvr>
                                    </p:animEffect>
                                  </p:childTnLst>
                                </p:cTn>
                              </p:par>
                              <p:par>
                                <p:cTn id="154" presetID="2" presetClass="entr" presetSubtype="4" fill="hold" grpId="0" nodeType="withEffect">
                                  <p:stCondLst>
                                    <p:cond delay="240"/>
                                  </p:stCondLst>
                                  <p:childTnLst>
                                    <p:set>
                                      <p:cBhvr>
                                        <p:cTn id="150" dur="1" fill="hold">
                                          <p:stCondLst>
                                            <p:cond delay="0"/>
                                          </p:stCondLst>
                                        </p:cTn>
                                        <p:tgtEl>
                                          <p:spTgt spid="40"/>
                                        </p:tgtEl>
                                        <p:attrNameLst>
                                          <p:attrName>style.visibility</p:attrName>
                                        </p:attrNameLst>
                                      </p:cBhvr>
                                      <p:to>
                                        <p:strVal val="visible"/>
                                      </p:to>
                                    </p:set>
                                    <p:anim calcmode="lin" valueType="num">
                                      <p:cBhvr additive="base">
                                        <p:cTn id="151" dur="500" fill="hold"/>
                                        <p:tgtEl>
                                          <p:spTgt spid="40"/>
                                        </p:tgtEl>
                                        <p:attrNameLst>
                                          <p:attrName>ppt_x</p:attrName>
                                        </p:attrNameLst>
                                      </p:cBhvr>
                                      <p:tavLst>
                                        <p:tav tm="0">
                                          <p:val>
                                            <p:strVal val="#ppt_x"/>
                                          </p:val>
                                        </p:tav>
                                        <p:tav tm="100000">
                                          <p:val>
                                            <p:strVal val="#ppt_x"/>
                                          </p:val>
                                        </p:tav>
                                      </p:tavLst>
                                    </p:anim>
                                    <p:anim calcmode="lin" valueType="num">
                                      <p:cBhvr additive="base">
                                        <p:cTn id="152" dur="500" fill="hold"/>
                                        <p:tgtEl>
                                          <p:spTgt spid="40"/>
                                        </p:tgtEl>
                                        <p:attrNameLst>
                                          <p:attrName>ppt_y</p:attrName>
                                        </p:attrNameLst>
                                      </p:cBhvr>
                                      <p:tavLst>
                                        <p:tav tm="0">
                                          <p:val>
                                            <p:strVal val="#ppt_y+0.1"/>
                                          </p:val>
                                        </p:tav>
                                        <p:tav tm="100000">
                                          <p:val>
                                            <p:strVal val="#ppt_y"/>
                                          </p:val>
                                        </p:tav>
                                      </p:tavLst>
                                    </p:anim>
                                    <p:animEffect transition="in" filter="fade">
                                      <p:cBhvr>
                                        <p:cTn id="153" dur="500"/>
                                        <p:tgtEl>
                                          <p:spTgt spid="40"/>
                                        </p:tgtEl>
                                      </p:cBhvr>
                                    </p:animEffect>
                                  </p:childTnLst>
                                </p:cTn>
                              </p:par>
                              <p:par>
                                <p:cTn id="159" presetID="2" presetClass="entr" presetSubtype="4" fill="hold" grpId="0" nodeType="withEffect">
                                  <p:stCondLst>
                                    <p:cond delay="240"/>
                                  </p:stCondLst>
                                  <p:childTnLst>
                                    <p:set>
                                      <p:cBhvr>
                                        <p:cTn id="155" dur="1" fill="hold">
                                          <p:stCondLst>
                                            <p:cond delay="0"/>
                                          </p:stCondLst>
                                        </p:cTn>
                                        <p:tgtEl>
                                          <p:spTgt spid="41"/>
                                        </p:tgtEl>
                                        <p:attrNameLst>
                                          <p:attrName>style.visibility</p:attrName>
                                        </p:attrNameLst>
                                      </p:cBhvr>
                                      <p:to>
                                        <p:strVal val="visible"/>
                                      </p:to>
                                    </p:set>
                                    <p:anim calcmode="lin" valueType="num">
                                      <p:cBhvr additive="base">
                                        <p:cTn id="156" dur="500" fill="hold"/>
                                        <p:tgtEl>
                                          <p:spTgt spid="41"/>
                                        </p:tgtEl>
                                        <p:attrNameLst>
                                          <p:attrName>ppt_x</p:attrName>
                                        </p:attrNameLst>
                                      </p:cBhvr>
                                      <p:tavLst>
                                        <p:tav tm="0">
                                          <p:val>
                                            <p:strVal val="#ppt_x"/>
                                          </p:val>
                                        </p:tav>
                                        <p:tav tm="100000">
                                          <p:val>
                                            <p:strVal val="#ppt_x"/>
                                          </p:val>
                                        </p:tav>
                                      </p:tavLst>
                                    </p:anim>
                                    <p:anim calcmode="lin" valueType="num">
                                      <p:cBhvr additive="base">
                                        <p:cTn id="157" dur="500" fill="hold"/>
                                        <p:tgtEl>
                                          <p:spTgt spid="41"/>
                                        </p:tgtEl>
                                        <p:attrNameLst>
                                          <p:attrName>ppt_y</p:attrName>
                                        </p:attrNameLst>
                                      </p:cBhvr>
                                      <p:tavLst>
                                        <p:tav tm="0">
                                          <p:val>
                                            <p:strVal val="#ppt_y+0.1"/>
                                          </p:val>
                                        </p:tav>
                                        <p:tav tm="100000">
                                          <p:val>
                                            <p:strVal val="#ppt_y"/>
                                          </p:val>
                                        </p:tav>
                                      </p:tavLst>
                                    </p:anim>
                                    <p:animEffect transition="in" filter="fade">
                                      <p:cBhvr>
                                        <p:cTn id="158" dur="500"/>
                                        <p:tgtEl>
                                          <p:spTgt spid="41"/>
                                        </p:tgtEl>
                                      </p:cBhvr>
                                    </p:animEffect>
                                  </p:childTnLst>
                                </p:cTn>
                              </p:par>
                            </p:childTnLst>
                          </p:cTn>
                        </p:par>
                      </p:childTnLst>
                    </p:cTn>
                  </p:par>
                  <p:par>
                    <p:cTn id="160" fill="hold">
                      <p:stCondLst>
                        <p:cond delay="indefinite"/>
                      </p:stCondLst>
                      <p:childTnLst>
                        <p:par>
                          <p:cTn id="161" fill="hold">
                            <p:stCondLst>
                              <p:cond delay="0"/>
                            </p:stCondLst>
                            <p:childTnLst>
                              <p:par>
                                <p:cTn id="166" presetID="2" presetClass="entr" presetSubtype="4" fill="hold" grpId="0" nodeType="clickEffect">
                                  <p:stCondLst>
                                    <p:cond delay="0"/>
                                  </p:stCondLst>
                                  <p:childTnLst>
                                    <p:set>
                                      <p:cBhvr>
                                        <p:cTn id="162" dur="1" fill="hold">
                                          <p:stCondLst>
                                            <p:cond delay="0"/>
                                          </p:stCondLst>
                                        </p:cTn>
                                        <p:tgtEl>
                                          <p:spTgt spid="42"/>
                                        </p:tgtEl>
                                        <p:attrNameLst>
                                          <p:attrName>style.visibility</p:attrName>
                                        </p:attrNameLst>
                                      </p:cBhvr>
                                      <p:to>
                                        <p:strVal val="visible"/>
                                      </p:to>
                                    </p:set>
                                    <p:anim calcmode="lin" valueType="num">
                                      <p:cBhvr additive="base">
                                        <p:cTn id="163" dur="500" fill="hold"/>
                                        <p:tgtEl>
                                          <p:spTgt spid="42"/>
                                        </p:tgtEl>
                                        <p:attrNameLst>
                                          <p:attrName>ppt_x</p:attrName>
                                        </p:attrNameLst>
                                      </p:cBhvr>
                                      <p:tavLst>
                                        <p:tav tm="0">
                                          <p:val>
                                            <p:strVal val="#ppt_x"/>
                                          </p:val>
                                        </p:tav>
                                        <p:tav tm="100000">
                                          <p:val>
                                            <p:strVal val="#ppt_x"/>
                                          </p:val>
                                        </p:tav>
                                      </p:tavLst>
                                    </p:anim>
                                    <p:anim calcmode="lin" valueType="num">
                                      <p:cBhvr additive="base">
                                        <p:cTn id="164" dur="500" fill="hold"/>
                                        <p:tgtEl>
                                          <p:spTgt spid="42"/>
                                        </p:tgtEl>
                                        <p:attrNameLst>
                                          <p:attrName>ppt_y</p:attrName>
                                        </p:attrNameLst>
                                      </p:cBhvr>
                                      <p:tavLst>
                                        <p:tav tm="0">
                                          <p:val>
                                            <p:strVal val="#ppt_y+0.1"/>
                                          </p:val>
                                        </p:tav>
                                        <p:tav tm="100000">
                                          <p:val>
                                            <p:strVal val="#ppt_y"/>
                                          </p:val>
                                        </p:tav>
                                      </p:tavLst>
                                    </p:anim>
                                    <p:animEffect transition="in" filter="fade">
                                      <p:cBhvr>
                                        <p:cTn id="165" dur="500"/>
                                        <p:tgtEl>
                                          <p:spTgt spid="42"/>
                                        </p:tgtEl>
                                      </p:cBhvr>
                                    </p:animEffect>
                                  </p:childTnLst>
                                </p:cTn>
                              </p:par>
                              <p:par>
                                <p:cTn id="171" presetID="2" presetClass="entr" presetSubtype="4" fill="hold" grpId="0" nodeType="withEffect">
                                  <p:stCondLst>
                                    <p:cond delay="0"/>
                                  </p:stCondLst>
                                  <p:childTnLst>
                                    <p:set>
                                      <p:cBhvr>
                                        <p:cTn id="167" dur="1" fill="hold">
                                          <p:stCondLst>
                                            <p:cond delay="0"/>
                                          </p:stCondLst>
                                        </p:cTn>
                                        <p:tgtEl>
                                          <p:spTgt spid="43"/>
                                        </p:tgtEl>
                                        <p:attrNameLst>
                                          <p:attrName>style.visibility</p:attrName>
                                        </p:attrNameLst>
                                      </p:cBhvr>
                                      <p:to>
                                        <p:strVal val="visible"/>
                                      </p:to>
                                    </p:set>
                                    <p:anim calcmode="lin" valueType="num">
                                      <p:cBhvr additive="base">
                                        <p:cTn id="168" dur="500" fill="hold"/>
                                        <p:tgtEl>
                                          <p:spTgt spid="43"/>
                                        </p:tgtEl>
                                        <p:attrNameLst>
                                          <p:attrName>ppt_x</p:attrName>
                                        </p:attrNameLst>
                                      </p:cBhvr>
                                      <p:tavLst>
                                        <p:tav tm="0">
                                          <p:val>
                                            <p:strVal val="#ppt_x"/>
                                          </p:val>
                                        </p:tav>
                                        <p:tav tm="100000">
                                          <p:val>
                                            <p:strVal val="#ppt_x"/>
                                          </p:val>
                                        </p:tav>
                                      </p:tavLst>
                                    </p:anim>
                                    <p:anim calcmode="lin" valueType="num">
                                      <p:cBhvr additive="base">
                                        <p:cTn id="169" dur="500" fill="hold"/>
                                        <p:tgtEl>
                                          <p:spTgt spid="43"/>
                                        </p:tgtEl>
                                        <p:attrNameLst>
                                          <p:attrName>ppt_y</p:attrName>
                                        </p:attrNameLst>
                                      </p:cBhvr>
                                      <p:tavLst>
                                        <p:tav tm="0">
                                          <p:val>
                                            <p:strVal val="#ppt_y+0.1"/>
                                          </p:val>
                                        </p:tav>
                                        <p:tav tm="100000">
                                          <p:val>
                                            <p:strVal val="#ppt_y"/>
                                          </p:val>
                                        </p:tav>
                                      </p:tavLst>
                                    </p:anim>
                                    <p:animEffect transition="in" filter="fade">
                                      <p:cBhvr>
                                        <p:cTn id="170" dur="500"/>
                                        <p:tgtEl>
                                          <p:spTgt spid="43"/>
                                        </p:tgtEl>
                                      </p:cBhvr>
                                    </p:animEffect>
                                  </p:childTnLst>
                                </p:cTn>
                              </p:par>
                              <p:par>
                                <p:cTn id="176" presetID="2" presetClass="entr" presetSubtype="4" fill="hold" grpId="0" nodeType="withEffect">
                                  <p:stCondLst>
                                    <p:cond delay="0"/>
                                  </p:stCondLst>
                                  <p:childTnLst>
                                    <p:set>
                                      <p:cBhvr>
                                        <p:cTn id="172" dur="1" fill="hold">
                                          <p:stCondLst>
                                            <p:cond delay="0"/>
                                          </p:stCondLst>
                                        </p:cTn>
                                        <p:tgtEl>
                                          <p:spTgt spid="44"/>
                                        </p:tgtEl>
                                        <p:attrNameLst>
                                          <p:attrName>style.visibility</p:attrName>
                                        </p:attrNameLst>
                                      </p:cBhvr>
                                      <p:to>
                                        <p:strVal val="visible"/>
                                      </p:to>
                                    </p:set>
                                    <p:anim calcmode="lin" valueType="num">
                                      <p:cBhvr additive="base">
                                        <p:cTn id="173" dur="500" fill="hold"/>
                                        <p:tgtEl>
                                          <p:spTgt spid="44"/>
                                        </p:tgtEl>
                                        <p:attrNameLst>
                                          <p:attrName>ppt_x</p:attrName>
                                        </p:attrNameLst>
                                      </p:cBhvr>
                                      <p:tavLst>
                                        <p:tav tm="0">
                                          <p:val>
                                            <p:strVal val="#ppt_x"/>
                                          </p:val>
                                        </p:tav>
                                        <p:tav tm="100000">
                                          <p:val>
                                            <p:strVal val="#ppt_x"/>
                                          </p:val>
                                        </p:tav>
                                      </p:tavLst>
                                    </p:anim>
                                    <p:anim calcmode="lin" valueType="num">
                                      <p:cBhvr additive="base">
                                        <p:cTn id="174" dur="500" fill="hold"/>
                                        <p:tgtEl>
                                          <p:spTgt spid="44"/>
                                        </p:tgtEl>
                                        <p:attrNameLst>
                                          <p:attrName>ppt_y</p:attrName>
                                        </p:attrNameLst>
                                      </p:cBhvr>
                                      <p:tavLst>
                                        <p:tav tm="0">
                                          <p:val>
                                            <p:strVal val="#ppt_y+0.1"/>
                                          </p:val>
                                        </p:tav>
                                        <p:tav tm="100000">
                                          <p:val>
                                            <p:strVal val="#ppt_y"/>
                                          </p:val>
                                        </p:tav>
                                      </p:tavLst>
                                    </p:anim>
                                    <p:animEffect transition="in" filter="fade">
                                      <p:cBhvr>
                                        <p:cTn id="175" dur="500"/>
                                        <p:tgtEl>
                                          <p:spTgt spid="44"/>
                                        </p:tgtEl>
                                      </p:cBhvr>
                                    </p:animEffect>
                                  </p:childTnLst>
                                </p:cTn>
                              </p:par>
                              <p:par>
                                <p:cTn id="181" presetID="2" presetClass="entr" presetSubtype="4" fill="hold" grpId="0" nodeType="withEffect">
                                  <p:stCondLst>
                                    <p:cond delay="0"/>
                                  </p:stCondLst>
                                  <p:childTnLst>
                                    <p:set>
                                      <p:cBhvr>
                                        <p:cTn id="177" dur="1" fill="hold">
                                          <p:stCondLst>
                                            <p:cond delay="0"/>
                                          </p:stCondLst>
                                        </p:cTn>
                                        <p:tgtEl>
                                          <p:spTgt spid="45"/>
                                        </p:tgtEl>
                                        <p:attrNameLst>
                                          <p:attrName>style.visibility</p:attrName>
                                        </p:attrNameLst>
                                      </p:cBhvr>
                                      <p:to>
                                        <p:strVal val="visible"/>
                                      </p:to>
                                    </p:set>
                                    <p:anim calcmode="lin" valueType="num">
                                      <p:cBhvr additive="base">
                                        <p:cTn id="178" dur="500" fill="hold"/>
                                        <p:tgtEl>
                                          <p:spTgt spid="45"/>
                                        </p:tgtEl>
                                        <p:attrNameLst>
                                          <p:attrName>ppt_x</p:attrName>
                                        </p:attrNameLst>
                                      </p:cBhvr>
                                      <p:tavLst>
                                        <p:tav tm="0">
                                          <p:val>
                                            <p:strVal val="#ppt_x"/>
                                          </p:val>
                                        </p:tav>
                                        <p:tav tm="100000">
                                          <p:val>
                                            <p:strVal val="#ppt_x"/>
                                          </p:val>
                                        </p:tav>
                                      </p:tavLst>
                                    </p:anim>
                                    <p:anim calcmode="lin" valueType="num">
                                      <p:cBhvr additive="base">
                                        <p:cTn id="179" dur="500" fill="hold"/>
                                        <p:tgtEl>
                                          <p:spTgt spid="45"/>
                                        </p:tgtEl>
                                        <p:attrNameLst>
                                          <p:attrName>ppt_y</p:attrName>
                                        </p:attrNameLst>
                                      </p:cBhvr>
                                      <p:tavLst>
                                        <p:tav tm="0">
                                          <p:val>
                                            <p:strVal val="#ppt_y+0.1"/>
                                          </p:val>
                                        </p:tav>
                                        <p:tav tm="100000">
                                          <p:val>
                                            <p:strVal val="#ppt_y"/>
                                          </p:val>
                                        </p:tav>
                                      </p:tavLst>
                                    </p:anim>
                                    <p:animEffect transition="in" filter="fade">
                                      <p:cBhvr>
                                        <p:cTn id="180" dur="500"/>
                                        <p:tgtEl>
                                          <p:spTgt spid="45"/>
                                        </p:tgtEl>
                                      </p:cBhvr>
                                    </p:animEffect>
                                  </p:childTnLst>
                                </p:cTn>
                              </p:par>
                              <p:par>
                                <p:cTn id="186" presetID="2" presetClass="entr" presetSubtype="4" fill="hold" grpId="0" nodeType="withEffect">
                                  <p:stCondLst>
                                    <p:cond delay="0"/>
                                  </p:stCondLst>
                                  <p:childTnLst>
                                    <p:set>
                                      <p:cBhvr>
                                        <p:cTn id="182" dur="1" fill="hold">
                                          <p:stCondLst>
                                            <p:cond delay="0"/>
                                          </p:stCondLst>
                                        </p:cTn>
                                        <p:tgtEl>
                                          <p:spTgt spid="46"/>
                                        </p:tgtEl>
                                        <p:attrNameLst>
                                          <p:attrName>style.visibility</p:attrName>
                                        </p:attrNameLst>
                                      </p:cBhvr>
                                      <p:to>
                                        <p:strVal val="visible"/>
                                      </p:to>
                                    </p:set>
                                    <p:anim calcmode="lin" valueType="num">
                                      <p:cBhvr additive="base">
                                        <p:cTn id="183" dur="500" fill="hold"/>
                                        <p:tgtEl>
                                          <p:spTgt spid="46"/>
                                        </p:tgtEl>
                                        <p:attrNameLst>
                                          <p:attrName>ppt_x</p:attrName>
                                        </p:attrNameLst>
                                      </p:cBhvr>
                                      <p:tavLst>
                                        <p:tav tm="0">
                                          <p:val>
                                            <p:strVal val="#ppt_x"/>
                                          </p:val>
                                        </p:tav>
                                        <p:tav tm="100000">
                                          <p:val>
                                            <p:strVal val="#ppt_x"/>
                                          </p:val>
                                        </p:tav>
                                      </p:tavLst>
                                    </p:anim>
                                    <p:anim calcmode="lin" valueType="num">
                                      <p:cBhvr additive="base">
                                        <p:cTn id="184" dur="500" fill="hold"/>
                                        <p:tgtEl>
                                          <p:spTgt spid="46"/>
                                        </p:tgtEl>
                                        <p:attrNameLst>
                                          <p:attrName>ppt_y</p:attrName>
                                        </p:attrNameLst>
                                      </p:cBhvr>
                                      <p:tavLst>
                                        <p:tav tm="0">
                                          <p:val>
                                            <p:strVal val="#ppt_y+0.1"/>
                                          </p:val>
                                        </p:tav>
                                        <p:tav tm="100000">
                                          <p:val>
                                            <p:strVal val="#ppt_y"/>
                                          </p:val>
                                        </p:tav>
                                      </p:tavLst>
                                    </p:anim>
                                    <p:animEffect transition="in" filter="fade">
                                      <p:cBhvr>
                                        <p:cTn id="185" dur="500"/>
                                        <p:tgtEl>
                                          <p:spTgt spid="46"/>
                                        </p:tgtEl>
                                      </p:cBhvr>
                                    </p:animEffect>
                                  </p:childTnLst>
                                </p:cTn>
                              </p:par>
                              <p:par>
                                <p:cTn id="191" presetID="2" presetClass="entr" presetSubtype="4" fill="hold" grpId="0" nodeType="withEffect">
                                  <p:stCondLst>
                                    <p:cond delay="120"/>
                                  </p:stCondLst>
                                  <p:childTnLst>
                                    <p:set>
                                      <p:cBhvr>
                                        <p:cTn id="187" dur="1" fill="hold">
                                          <p:stCondLst>
                                            <p:cond delay="0"/>
                                          </p:stCondLst>
                                        </p:cTn>
                                        <p:tgtEl>
                                          <p:spTgt spid="47"/>
                                        </p:tgtEl>
                                        <p:attrNameLst>
                                          <p:attrName>style.visibility</p:attrName>
                                        </p:attrNameLst>
                                      </p:cBhvr>
                                      <p:to>
                                        <p:strVal val="visible"/>
                                      </p:to>
                                    </p:set>
                                    <p:anim calcmode="lin" valueType="num">
                                      <p:cBhvr additive="base">
                                        <p:cTn id="188" dur="500" fill="hold"/>
                                        <p:tgtEl>
                                          <p:spTgt spid="47"/>
                                        </p:tgtEl>
                                        <p:attrNameLst>
                                          <p:attrName>ppt_x</p:attrName>
                                        </p:attrNameLst>
                                      </p:cBhvr>
                                      <p:tavLst>
                                        <p:tav tm="0">
                                          <p:val>
                                            <p:strVal val="#ppt_x"/>
                                          </p:val>
                                        </p:tav>
                                        <p:tav tm="100000">
                                          <p:val>
                                            <p:strVal val="#ppt_x"/>
                                          </p:val>
                                        </p:tav>
                                      </p:tavLst>
                                    </p:anim>
                                    <p:anim calcmode="lin" valueType="num">
                                      <p:cBhvr additive="base">
                                        <p:cTn id="189" dur="500" fill="hold"/>
                                        <p:tgtEl>
                                          <p:spTgt spid="47"/>
                                        </p:tgtEl>
                                        <p:attrNameLst>
                                          <p:attrName>ppt_y</p:attrName>
                                        </p:attrNameLst>
                                      </p:cBhvr>
                                      <p:tavLst>
                                        <p:tav tm="0">
                                          <p:val>
                                            <p:strVal val="#ppt_y+0.1"/>
                                          </p:val>
                                        </p:tav>
                                        <p:tav tm="100000">
                                          <p:val>
                                            <p:strVal val="#ppt_y"/>
                                          </p:val>
                                        </p:tav>
                                      </p:tavLst>
                                    </p:anim>
                                    <p:animEffect transition="in" filter="fade">
                                      <p:cBhvr>
                                        <p:cTn id="190" dur="500"/>
                                        <p:tgtEl>
                                          <p:spTgt spid="47"/>
                                        </p:tgtEl>
                                      </p:cBhvr>
                                    </p:animEffect>
                                  </p:childTnLst>
                                </p:cTn>
                              </p:par>
                              <p:par>
                                <p:cTn id="196" presetID="2" presetClass="entr" presetSubtype="4" fill="hold" grpId="0" nodeType="withEffect">
                                  <p:stCondLst>
                                    <p:cond delay="120"/>
                                  </p:stCondLst>
                                  <p:childTnLst>
                                    <p:set>
                                      <p:cBhvr>
                                        <p:cTn id="192" dur="1" fill="hold">
                                          <p:stCondLst>
                                            <p:cond delay="0"/>
                                          </p:stCondLst>
                                        </p:cTn>
                                        <p:tgtEl>
                                          <p:spTgt spid="48"/>
                                        </p:tgtEl>
                                        <p:attrNameLst>
                                          <p:attrName>style.visibility</p:attrName>
                                        </p:attrNameLst>
                                      </p:cBhvr>
                                      <p:to>
                                        <p:strVal val="visible"/>
                                      </p:to>
                                    </p:set>
                                    <p:anim calcmode="lin" valueType="num">
                                      <p:cBhvr additive="base">
                                        <p:cTn id="193" dur="500" fill="hold"/>
                                        <p:tgtEl>
                                          <p:spTgt spid="48"/>
                                        </p:tgtEl>
                                        <p:attrNameLst>
                                          <p:attrName>ppt_x</p:attrName>
                                        </p:attrNameLst>
                                      </p:cBhvr>
                                      <p:tavLst>
                                        <p:tav tm="0">
                                          <p:val>
                                            <p:strVal val="#ppt_x"/>
                                          </p:val>
                                        </p:tav>
                                        <p:tav tm="100000">
                                          <p:val>
                                            <p:strVal val="#ppt_x"/>
                                          </p:val>
                                        </p:tav>
                                      </p:tavLst>
                                    </p:anim>
                                    <p:anim calcmode="lin" valueType="num">
                                      <p:cBhvr additive="base">
                                        <p:cTn id="194" dur="500" fill="hold"/>
                                        <p:tgtEl>
                                          <p:spTgt spid="48"/>
                                        </p:tgtEl>
                                        <p:attrNameLst>
                                          <p:attrName>ppt_y</p:attrName>
                                        </p:attrNameLst>
                                      </p:cBhvr>
                                      <p:tavLst>
                                        <p:tav tm="0">
                                          <p:val>
                                            <p:strVal val="#ppt_y+0.1"/>
                                          </p:val>
                                        </p:tav>
                                        <p:tav tm="100000">
                                          <p:val>
                                            <p:strVal val="#ppt_y"/>
                                          </p:val>
                                        </p:tav>
                                      </p:tavLst>
                                    </p:anim>
                                    <p:animEffect transition="in" filter="fade">
                                      <p:cBhvr>
                                        <p:cTn id="195" dur="500"/>
                                        <p:tgtEl>
                                          <p:spTgt spid="48"/>
                                        </p:tgtEl>
                                      </p:cBhvr>
                                    </p:animEffect>
                                  </p:childTnLst>
                                </p:cTn>
                              </p:par>
                              <p:par>
                                <p:cTn id="201" presetID="2" presetClass="entr" presetSubtype="4" fill="hold" grpId="0" nodeType="withEffect">
                                  <p:stCondLst>
                                    <p:cond delay="120"/>
                                  </p:stCondLst>
                                  <p:childTnLst>
                                    <p:set>
                                      <p:cBhvr>
                                        <p:cTn id="197" dur="1" fill="hold">
                                          <p:stCondLst>
                                            <p:cond delay="0"/>
                                          </p:stCondLst>
                                        </p:cTn>
                                        <p:tgtEl>
                                          <p:spTgt spid="49"/>
                                        </p:tgtEl>
                                        <p:attrNameLst>
                                          <p:attrName>style.visibility</p:attrName>
                                        </p:attrNameLst>
                                      </p:cBhvr>
                                      <p:to>
                                        <p:strVal val="visible"/>
                                      </p:to>
                                    </p:set>
                                    <p:anim calcmode="lin" valueType="num">
                                      <p:cBhvr additive="base">
                                        <p:cTn id="198" dur="500" fill="hold"/>
                                        <p:tgtEl>
                                          <p:spTgt spid="49"/>
                                        </p:tgtEl>
                                        <p:attrNameLst>
                                          <p:attrName>ppt_x</p:attrName>
                                        </p:attrNameLst>
                                      </p:cBhvr>
                                      <p:tavLst>
                                        <p:tav tm="0">
                                          <p:val>
                                            <p:strVal val="#ppt_x"/>
                                          </p:val>
                                        </p:tav>
                                        <p:tav tm="100000">
                                          <p:val>
                                            <p:strVal val="#ppt_x"/>
                                          </p:val>
                                        </p:tav>
                                      </p:tavLst>
                                    </p:anim>
                                    <p:anim calcmode="lin" valueType="num">
                                      <p:cBhvr additive="base">
                                        <p:cTn id="199" dur="500" fill="hold"/>
                                        <p:tgtEl>
                                          <p:spTgt spid="49"/>
                                        </p:tgtEl>
                                        <p:attrNameLst>
                                          <p:attrName>ppt_y</p:attrName>
                                        </p:attrNameLst>
                                      </p:cBhvr>
                                      <p:tavLst>
                                        <p:tav tm="0">
                                          <p:val>
                                            <p:strVal val="#ppt_y+0.1"/>
                                          </p:val>
                                        </p:tav>
                                        <p:tav tm="100000">
                                          <p:val>
                                            <p:strVal val="#ppt_y"/>
                                          </p:val>
                                        </p:tav>
                                      </p:tavLst>
                                    </p:anim>
                                    <p:animEffect transition="in" filter="fade">
                                      <p:cBhvr>
                                        <p:cTn id="200" dur="500"/>
                                        <p:tgtEl>
                                          <p:spTgt spid="49"/>
                                        </p:tgtEl>
                                      </p:cBhvr>
                                    </p:animEffect>
                                  </p:childTnLst>
                                </p:cTn>
                              </p:par>
                              <p:par>
                                <p:cTn id="206" presetID="2" presetClass="entr" presetSubtype="4" fill="hold" grpId="0" nodeType="withEffect">
                                  <p:stCondLst>
                                    <p:cond delay="120"/>
                                  </p:stCondLst>
                                  <p:childTnLst>
                                    <p:set>
                                      <p:cBhvr>
                                        <p:cTn id="202" dur="1" fill="hold">
                                          <p:stCondLst>
                                            <p:cond delay="0"/>
                                          </p:stCondLst>
                                        </p:cTn>
                                        <p:tgtEl>
                                          <p:spTgt spid="50"/>
                                        </p:tgtEl>
                                        <p:attrNameLst>
                                          <p:attrName>style.visibility</p:attrName>
                                        </p:attrNameLst>
                                      </p:cBhvr>
                                      <p:to>
                                        <p:strVal val="visible"/>
                                      </p:to>
                                    </p:set>
                                    <p:anim calcmode="lin" valueType="num">
                                      <p:cBhvr additive="base">
                                        <p:cTn id="203" dur="500" fill="hold"/>
                                        <p:tgtEl>
                                          <p:spTgt spid="50"/>
                                        </p:tgtEl>
                                        <p:attrNameLst>
                                          <p:attrName>ppt_x</p:attrName>
                                        </p:attrNameLst>
                                      </p:cBhvr>
                                      <p:tavLst>
                                        <p:tav tm="0">
                                          <p:val>
                                            <p:strVal val="#ppt_x"/>
                                          </p:val>
                                        </p:tav>
                                        <p:tav tm="100000">
                                          <p:val>
                                            <p:strVal val="#ppt_x"/>
                                          </p:val>
                                        </p:tav>
                                      </p:tavLst>
                                    </p:anim>
                                    <p:anim calcmode="lin" valueType="num">
                                      <p:cBhvr additive="base">
                                        <p:cTn id="204" dur="500" fill="hold"/>
                                        <p:tgtEl>
                                          <p:spTgt spid="50"/>
                                        </p:tgtEl>
                                        <p:attrNameLst>
                                          <p:attrName>ppt_y</p:attrName>
                                        </p:attrNameLst>
                                      </p:cBhvr>
                                      <p:tavLst>
                                        <p:tav tm="0">
                                          <p:val>
                                            <p:strVal val="#ppt_y+0.1"/>
                                          </p:val>
                                        </p:tav>
                                        <p:tav tm="100000">
                                          <p:val>
                                            <p:strVal val="#ppt_y"/>
                                          </p:val>
                                        </p:tav>
                                      </p:tavLst>
                                    </p:anim>
                                    <p:animEffect transition="in" filter="fade">
                                      <p:cBhvr>
                                        <p:cTn id="205" dur="500"/>
                                        <p:tgtEl>
                                          <p:spTgt spid="50"/>
                                        </p:tgtEl>
                                      </p:cBhvr>
                                    </p:animEffect>
                                  </p:childTnLst>
                                </p:cTn>
                              </p:par>
                              <p:par>
                                <p:cTn id="211" presetID="2" presetClass="entr" presetSubtype="4" fill="hold" grpId="0" nodeType="withEffect">
                                  <p:stCondLst>
                                    <p:cond delay="120"/>
                                  </p:stCondLst>
                                  <p:childTnLst>
                                    <p:set>
                                      <p:cBhvr>
                                        <p:cTn id="207" dur="1" fill="hold">
                                          <p:stCondLst>
                                            <p:cond delay="0"/>
                                          </p:stCondLst>
                                        </p:cTn>
                                        <p:tgtEl>
                                          <p:spTgt spid="51"/>
                                        </p:tgtEl>
                                        <p:attrNameLst>
                                          <p:attrName>style.visibility</p:attrName>
                                        </p:attrNameLst>
                                      </p:cBhvr>
                                      <p:to>
                                        <p:strVal val="visible"/>
                                      </p:to>
                                    </p:set>
                                    <p:anim calcmode="lin" valueType="num">
                                      <p:cBhvr additive="base">
                                        <p:cTn id="208" dur="500" fill="hold"/>
                                        <p:tgtEl>
                                          <p:spTgt spid="51"/>
                                        </p:tgtEl>
                                        <p:attrNameLst>
                                          <p:attrName>ppt_x</p:attrName>
                                        </p:attrNameLst>
                                      </p:cBhvr>
                                      <p:tavLst>
                                        <p:tav tm="0">
                                          <p:val>
                                            <p:strVal val="#ppt_x"/>
                                          </p:val>
                                        </p:tav>
                                        <p:tav tm="100000">
                                          <p:val>
                                            <p:strVal val="#ppt_x"/>
                                          </p:val>
                                        </p:tav>
                                      </p:tavLst>
                                    </p:anim>
                                    <p:anim calcmode="lin" valueType="num">
                                      <p:cBhvr additive="base">
                                        <p:cTn id="209" dur="500" fill="hold"/>
                                        <p:tgtEl>
                                          <p:spTgt spid="51"/>
                                        </p:tgtEl>
                                        <p:attrNameLst>
                                          <p:attrName>ppt_y</p:attrName>
                                        </p:attrNameLst>
                                      </p:cBhvr>
                                      <p:tavLst>
                                        <p:tav tm="0">
                                          <p:val>
                                            <p:strVal val="#ppt_y+0.1"/>
                                          </p:val>
                                        </p:tav>
                                        <p:tav tm="100000">
                                          <p:val>
                                            <p:strVal val="#ppt_y"/>
                                          </p:val>
                                        </p:tav>
                                      </p:tavLst>
                                    </p:anim>
                                    <p:animEffect transition="in" filter="fade">
                                      <p:cBhvr>
                                        <p:cTn id="210" dur="500"/>
                                        <p:tgtEl>
                                          <p:spTgt spid="51"/>
                                        </p:tgtEl>
                                      </p:cBhvr>
                                    </p:animEffect>
                                  </p:childTnLst>
                                </p:cTn>
                              </p:par>
                              <p:par>
                                <p:cTn id="216" presetID="2" presetClass="entr" presetSubtype="4" fill="hold" grpId="0" nodeType="withEffect">
                                  <p:stCondLst>
                                    <p:cond delay="240"/>
                                  </p:stCondLst>
                                  <p:childTnLst>
                                    <p:set>
                                      <p:cBhvr>
                                        <p:cTn id="212" dur="1" fill="hold">
                                          <p:stCondLst>
                                            <p:cond delay="0"/>
                                          </p:stCondLst>
                                        </p:cTn>
                                        <p:tgtEl>
                                          <p:spTgt spid="52"/>
                                        </p:tgtEl>
                                        <p:attrNameLst>
                                          <p:attrName>style.visibility</p:attrName>
                                        </p:attrNameLst>
                                      </p:cBhvr>
                                      <p:to>
                                        <p:strVal val="visible"/>
                                      </p:to>
                                    </p:set>
                                    <p:anim calcmode="lin" valueType="num">
                                      <p:cBhvr additive="base">
                                        <p:cTn id="213" dur="500" fill="hold"/>
                                        <p:tgtEl>
                                          <p:spTgt spid="52"/>
                                        </p:tgtEl>
                                        <p:attrNameLst>
                                          <p:attrName>ppt_x</p:attrName>
                                        </p:attrNameLst>
                                      </p:cBhvr>
                                      <p:tavLst>
                                        <p:tav tm="0">
                                          <p:val>
                                            <p:strVal val="#ppt_x"/>
                                          </p:val>
                                        </p:tav>
                                        <p:tav tm="100000">
                                          <p:val>
                                            <p:strVal val="#ppt_x"/>
                                          </p:val>
                                        </p:tav>
                                      </p:tavLst>
                                    </p:anim>
                                    <p:anim calcmode="lin" valueType="num">
                                      <p:cBhvr additive="base">
                                        <p:cTn id="214" dur="500" fill="hold"/>
                                        <p:tgtEl>
                                          <p:spTgt spid="52"/>
                                        </p:tgtEl>
                                        <p:attrNameLst>
                                          <p:attrName>ppt_y</p:attrName>
                                        </p:attrNameLst>
                                      </p:cBhvr>
                                      <p:tavLst>
                                        <p:tav tm="0">
                                          <p:val>
                                            <p:strVal val="#ppt_y+0.1"/>
                                          </p:val>
                                        </p:tav>
                                        <p:tav tm="100000">
                                          <p:val>
                                            <p:strVal val="#ppt_y"/>
                                          </p:val>
                                        </p:tav>
                                      </p:tavLst>
                                    </p:anim>
                                    <p:animEffect transition="in" filter="fade">
                                      <p:cBhvr>
                                        <p:cTn id="215" dur="500"/>
                                        <p:tgtEl>
                                          <p:spTgt spid="52"/>
                                        </p:tgtEl>
                                      </p:cBhvr>
                                    </p:animEffect>
                                  </p:childTnLst>
                                </p:cTn>
                              </p:par>
                              <p:par>
                                <p:cTn id="221" presetID="2" presetClass="entr" presetSubtype="4" fill="hold" grpId="0" nodeType="withEffect">
                                  <p:stCondLst>
                                    <p:cond delay="240"/>
                                  </p:stCondLst>
                                  <p:childTnLst>
                                    <p:set>
                                      <p:cBhvr>
                                        <p:cTn id="217" dur="1" fill="hold">
                                          <p:stCondLst>
                                            <p:cond delay="0"/>
                                          </p:stCondLst>
                                        </p:cTn>
                                        <p:tgtEl>
                                          <p:spTgt spid="53"/>
                                        </p:tgtEl>
                                        <p:attrNameLst>
                                          <p:attrName>style.visibility</p:attrName>
                                        </p:attrNameLst>
                                      </p:cBhvr>
                                      <p:to>
                                        <p:strVal val="visible"/>
                                      </p:to>
                                    </p:set>
                                    <p:anim calcmode="lin" valueType="num">
                                      <p:cBhvr additive="base">
                                        <p:cTn id="218" dur="500" fill="hold"/>
                                        <p:tgtEl>
                                          <p:spTgt spid="53"/>
                                        </p:tgtEl>
                                        <p:attrNameLst>
                                          <p:attrName>ppt_x</p:attrName>
                                        </p:attrNameLst>
                                      </p:cBhvr>
                                      <p:tavLst>
                                        <p:tav tm="0">
                                          <p:val>
                                            <p:strVal val="#ppt_x"/>
                                          </p:val>
                                        </p:tav>
                                        <p:tav tm="100000">
                                          <p:val>
                                            <p:strVal val="#ppt_x"/>
                                          </p:val>
                                        </p:tav>
                                      </p:tavLst>
                                    </p:anim>
                                    <p:anim calcmode="lin" valueType="num">
                                      <p:cBhvr additive="base">
                                        <p:cTn id="219" dur="500" fill="hold"/>
                                        <p:tgtEl>
                                          <p:spTgt spid="53"/>
                                        </p:tgtEl>
                                        <p:attrNameLst>
                                          <p:attrName>ppt_y</p:attrName>
                                        </p:attrNameLst>
                                      </p:cBhvr>
                                      <p:tavLst>
                                        <p:tav tm="0">
                                          <p:val>
                                            <p:strVal val="#ppt_y+0.1"/>
                                          </p:val>
                                        </p:tav>
                                        <p:tav tm="100000">
                                          <p:val>
                                            <p:strVal val="#ppt_y"/>
                                          </p:val>
                                        </p:tav>
                                      </p:tavLst>
                                    </p:anim>
                                    <p:animEffect transition="in" filter="fade">
                                      <p:cBhvr>
                                        <p:cTn id="220" dur="500"/>
                                        <p:tgtEl>
                                          <p:spTgt spid="53"/>
                                        </p:tgtEl>
                                      </p:cBhvr>
                                    </p:animEffect>
                                  </p:childTnLst>
                                </p:cTn>
                              </p:par>
                              <p:par>
                                <p:cTn id="226" presetID="2" presetClass="entr" presetSubtype="4" fill="hold" grpId="0" nodeType="withEffect">
                                  <p:stCondLst>
                                    <p:cond delay="240"/>
                                  </p:stCondLst>
                                  <p:childTnLst>
                                    <p:set>
                                      <p:cBhvr>
                                        <p:cTn id="222" dur="1" fill="hold">
                                          <p:stCondLst>
                                            <p:cond delay="0"/>
                                          </p:stCondLst>
                                        </p:cTn>
                                        <p:tgtEl>
                                          <p:spTgt spid="54"/>
                                        </p:tgtEl>
                                        <p:attrNameLst>
                                          <p:attrName>style.visibility</p:attrName>
                                        </p:attrNameLst>
                                      </p:cBhvr>
                                      <p:to>
                                        <p:strVal val="visible"/>
                                      </p:to>
                                    </p:set>
                                    <p:anim calcmode="lin" valueType="num">
                                      <p:cBhvr additive="base">
                                        <p:cTn id="223" dur="500" fill="hold"/>
                                        <p:tgtEl>
                                          <p:spTgt spid="54"/>
                                        </p:tgtEl>
                                        <p:attrNameLst>
                                          <p:attrName>ppt_x</p:attrName>
                                        </p:attrNameLst>
                                      </p:cBhvr>
                                      <p:tavLst>
                                        <p:tav tm="0">
                                          <p:val>
                                            <p:strVal val="#ppt_x"/>
                                          </p:val>
                                        </p:tav>
                                        <p:tav tm="100000">
                                          <p:val>
                                            <p:strVal val="#ppt_x"/>
                                          </p:val>
                                        </p:tav>
                                      </p:tavLst>
                                    </p:anim>
                                    <p:anim calcmode="lin" valueType="num">
                                      <p:cBhvr additive="base">
                                        <p:cTn id="224" dur="500" fill="hold"/>
                                        <p:tgtEl>
                                          <p:spTgt spid="54"/>
                                        </p:tgtEl>
                                        <p:attrNameLst>
                                          <p:attrName>ppt_y</p:attrName>
                                        </p:attrNameLst>
                                      </p:cBhvr>
                                      <p:tavLst>
                                        <p:tav tm="0">
                                          <p:val>
                                            <p:strVal val="#ppt_y+0.1"/>
                                          </p:val>
                                        </p:tav>
                                        <p:tav tm="100000">
                                          <p:val>
                                            <p:strVal val="#ppt_y"/>
                                          </p:val>
                                        </p:tav>
                                      </p:tavLst>
                                    </p:anim>
                                    <p:animEffect transition="in" filter="fade">
                                      <p:cBhvr>
                                        <p:cTn id="225" dur="500"/>
                                        <p:tgtEl>
                                          <p:spTgt spid="54"/>
                                        </p:tgtEl>
                                      </p:cBhvr>
                                    </p:animEffect>
                                  </p:childTnLst>
                                </p:cTn>
                              </p:par>
                              <p:par>
                                <p:cTn id="231" presetID="2" presetClass="entr" presetSubtype="4" fill="hold" grpId="0" nodeType="withEffect">
                                  <p:stCondLst>
                                    <p:cond delay="240"/>
                                  </p:stCondLst>
                                  <p:childTnLst>
                                    <p:set>
                                      <p:cBhvr>
                                        <p:cTn id="227" dur="1" fill="hold">
                                          <p:stCondLst>
                                            <p:cond delay="0"/>
                                          </p:stCondLst>
                                        </p:cTn>
                                        <p:tgtEl>
                                          <p:spTgt spid="55"/>
                                        </p:tgtEl>
                                        <p:attrNameLst>
                                          <p:attrName>style.visibility</p:attrName>
                                        </p:attrNameLst>
                                      </p:cBhvr>
                                      <p:to>
                                        <p:strVal val="visible"/>
                                      </p:to>
                                    </p:set>
                                    <p:anim calcmode="lin" valueType="num">
                                      <p:cBhvr additive="base">
                                        <p:cTn id="228" dur="500" fill="hold"/>
                                        <p:tgtEl>
                                          <p:spTgt spid="55"/>
                                        </p:tgtEl>
                                        <p:attrNameLst>
                                          <p:attrName>ppt_x</p:attrName>
                                        </p:attrNameLst>
                                      </p:cBhvr>
                                      <p:tavLst>
                                        <p:tav tm="0">
                                          <p:val>
                                            <p:strVal val="#ppt_x"/>
                                          </p:val>
                                        </p:tav>
                                        <p:tav tm="100000">
                                          <p:val>
                                            <p:strVal val="#ppt_x"/>
                                          </p:val>
                                        </p:tav>
                                      </p:tavLst>
                                    </p:anim>
                                    <p:anim calcmode="lin" valueType="num">
                                      <p:cBhvr additive="base">
                                        <p:cTn id="229" dur="500" fill="hold"/>
                                        <p:tgtEl>
                                          <p:spTgt spid="55"/>
                                        </p:tgtEl>
                                        <p:attrNameLst>
                                          <p:attrName>ppt_y</p:attrName>
                                        </p:attrNameLst>
                                      </p:cBhvr>
                                      <p:tavLst>
                                        <p:tav tm="0">
                                          <p:val>
                                            <p:strVal val="#ppt_y+0.1"/>
                                          </p:val>
                                        </p:tav>
                                        <p:tav tm="100000">
                                          <p:val>
                                            <p:strVal val="#ppt_y"/>
                                          </p:val>
                                        </p:tav>
                                      </p:tavLst>
                                    </p:anim>
                                    <p:animEffect transition="in" filter="fade">
                                      <p:cBhvr>
                                        <p:cTn id="230" dur="500"/>
                                        <p:tgtEl>
                                          <p:spTgt spid="55"/>
                                        </p:tgtEl>
                                      </p:cBhvr>
                                    </p:animEffect>
                                  </p:childTnLst>
                                </p:cTn>
                              </p:par>
                              <p:par>
                                <p:cTn id="236" presetID="2" presetClass="entr" presetSubtype="4" fill="hold" grpId="0" nodeType="withEffect">
                                  <p:stCondLst>
                                    <p:cond delay="240"/>
                                  </p:stCondLst>
                                  <p:childTnLst>
                                    <p:set>
                                      <p:cBhvr>
                                        <p:cTn id="232" dur="1" fill="hold">
                                          <p:stCondLst>
                                            <p:cond delay="0"/>
                                          </p:stCondLst>
                                        </p:cTn>
                                        <p:tgtEl>
                                          <p:spTgt spid="56"/>
                                        </p:tgtEl>
                                        <p:attrNameLst>
                                          <p:attrName>style.visibility</p:attrName>
                                        </p:attrNameLst>
                                      </p:cBhvr>
                                      <p:to>
                                        <p:strVal val="visible"/>
                                      </p:to>
                                    </p:set>
                                    <p:anim calcmode="lin" valueType="num">
                                      <p:cBhvr additive="base">
                                        <p:cTn id="233" dur="500" fill="hold"/>
                                        <p:tgtEl>
                                          <p:spTgt spid="56"/>
                                        </p:tgtEl>
                                        <p:attrNameLst>
                                          <p:attrName>ppt_x</p:attrName>
                                        </p:attrNameLst>
                                      </p:cBhvr>
                                      <p:tavLst>
                                        <p:tav tm="0">
                                          <p:val>
                                            <p:strVal val="#ppt_x"/>
                                          </p:val>
                                        </p:tav>
                                        <p:tav tm="100000">
                                          <p:val>
                                            <p:strVal val="#ppt_x"/>
                                          </p:val>
                                        </p:tav>
                                      </p:tavLst>
                                    </p:anim>
                                    <p:anim calcmode="lin" valueType="num">
                                      <p:cBhvr additive="base">
                                        <p:cTn id="234" dur="500" fill="hold"/>
                                        <p:tgtEl>
                                          <p:spTgt spid="56"/>
                                        </p:tgtEl>
                                        <p:attrNameLst>
                                          <p:attrName>ppt_y</p:attrName>
                                        </p:attrNameLst>
                                      </p:cBhvr>
                                      <p:tavLst>
                                        <p:tav tm="0">
                                          <p:val>
                                            <p:strVal val="#ppt_y+0.1"/>
                                          </p:val>
                                        </p:tav>
                                        <p:tav tm="100000">
                                          <p:val>
                                            <p:strVal val="#ppt_y"/>
                                          </p:val>
                                        </p:tav>
                                      </p:tavLst>
                                    </p:anim>
                                    <p:animEffect transition="in" filter="fade">
                                      <p:cBhvr>
                                        <p:cTn id="235" dur="500"/>
                                        <p:tgtEl>
                                          <p:spTgt spid="56"/>
                                        </p:tgtEl>
                                      </p:cBhvr>
                                    </p:animEffect>
                                  </p:childTnLst>
                                </p:cTn>
                              </p:par>
                            </p:childTnLst>
                          </p:cTn>
                        </p:par>
                      </p:childTnLst>
                    </p:cTn>
                  </p:par>
                  <p:par>
                    <p:cTn id="237" fill="hold">
                      <p:stCondLst>
                        <p:cond delay="indefinite"/>
                      </p:stCondLst>
                      <p:childTnLst>
                        <p:par>
                          <p:cTn id="238" fill="hold">
                            <p:stCondLst>
                              <p:cond delay="0"/>
                            </p:stCondLst>
                            <p:childTnLst>
                              <p:par>
                                <p:cTn id="243" presetID="2" presetClass="entr" presetSubtype="4" fill="hold" grpId="0" nodeType="clickEffect">
                                  <p:stCondLst>
                                    <p:cond delay="0"/>
                                  </p:stCondLst>
                                  <p:childTnLst>
                                    <p:set>
                                      <p:cBhvr>
                                        <p:cTn id="239" dur="1" fill="hold">
                                          <p:stCondLst>
                                            <p:cond delay="0"/>
                                          </p:stCondLst>
                                        </p:cTn>
                                        <p:tgtEl>
                                          <p:spTgt spid="57"/>
                                        </p:tgtEl>
                                        <p:attrNameLst>
                                          <p:attrName>style.visibility</p:attrName>
                                        </p:attrNameLst>
                                      </p:cBhvr>
                                      <p:to>
                                        <p:strVal val="visible"/>
                                      </p:to>
                                    </p:set>
                                    <p:anim calcmode="lin" valueType="num">
                                      <p:cBhvr additive="base">
                                        <p:cTn id="240" dur="500" fill="hold"/>
                                        <p:tgtEl>
                                          <p:spTgt spid="57"/>
                                        </p:tgtEl>
                                        <p:attrNameLst>
                                          <p:attrName>ppt_x</p:attrName>
                                        </p:attrNameLst>
                                      </p:cBhvr>
                                      <p:tavLst>
                                        <p:tav tm="0">
                                          <p:val>
                                            <p:strVal val="#ppt_x"/>
                                          </p:val>
                                        </p:tav>
                                        <p:tav tm="100000">
                                          <p:val>
                                            <p:strVal val="#ppt_x"/>
                                          </p:val>
                                        </p:tav>
                                      </p:tavLst>
                                    </p:anim>
                                    <p:anim calcmode="lin" valueType="num">
                                      <p:cBhvr additive="base">
                                        <p:cTn id="241" dur="500" fill="hold"/>
                                        <p:tgtEl>
                                          <p:spTgt spid="57"/>
                                        </p:tgtEl>
                                        <p:attrNameLst>
                                          <p:attrName>ppt_y</p:attrName>
                                        </p:attrNameLst>
                                      </p:cBhvr>
                                      <p:tavLst>
                                        <p:tav tm="0">
                                          <p:val>
                                            <p:strVal val="#ppt_y+0.1"/>
                                          </p:val>
                                        </p:tav>
                                        <p:tav tm="100000">
                                          <p:val>
                                            <p:strVal val="#ppt_y"/>
                                          </p:val>
                                        </p:tav>
                                      </p:tavLst>
                                    </p:anim>
                                    <p:animEffect transition="in" filter="fade">
                                      <p:cBhvr>
                                        <p:cTn id="242" dur="500"/>
                                        <p:tgtEl>
                                          <p:spTgt spid="57"/>
                                        </p:tgtEl>
                                      </p:cBhvr>
                                    </p:animEffect>
                                  </p:childTnLst>
                                </p:cTn>
                              </p:par>
                              <p:par>
                                <p:cTn id="248" presetID="2" presetClass="entr" presetSubtype="4" fill="hold" grpId="0" nodeType="withEffect">
                                  <p:stCondLst>
                                    <p:cond delay="0"/>
                                  </p:stCondLst>
                                  <p:childTnLst>
                                    <p:set>
                                      <p:cBhvr>
                                        <p:cTn id="244" dur="1" fill="hold">
                                          <p:stCondLst>
                                            <p:cond delay="0"/>
                                          </p:stCondLst>
                                        </p:cTn>
                                        <p:tgtEl>
                                          <p:spTgt spid="58"/>
                                        </p:tgtEl>
                                        <p:attrNameLst>
                                          <p:attrName>style.visibility</p:attrName>
                                        </p:attrNameLst>
                                      </p:cBhvr>
                                      <p:to>
                                        <p:strVal val="visible"/>
                                      </p:to>
                                    </p:set>
                                    <p:anim calcmode="lin" valueType="num">
                                      <p:cBhvr additive="base">
                                        <p:cTn id="245" dur="500" fill="hold"/>
                                        <p:tgtEl>
                                          <p:spTgt spid="58"/>
                                        </p:tgtEl>
                                        <p:attrNameLst>
                                          <p:attrName>ppt_x</p:attrName>
                                        </p:attrNameLst>
                                      </p:cBhvr>
                                      <p:tavLst>
                                        <p:tav tm="0">
                                          <p:val>
                                            <p:strVal val="#ppt_x"/>
                                          </p:val>
                                        </p:tav>
                                        <p:tav tm="100000">
                                          <p:val>
                                            <p:strVal val="#ppt_x"/>
                                          </p:val>
                                        </p:tav>
                                      </p:tavLst>
                                    </p:anim>
                                    <p:anim calcmode="lin" valueType="num">
                                      <p:cBhvr additive="base">
                                        <p:cTn id="246" dur="500" fill="hold"/>
                                        <p:tgtEl>
                                          <p:spTgt spid="58"/>
                                        </p:tgtEl>
                                        <p:attrNameLst>
                                          <p:attrName>ppt_y</p:attrName>
                                        </p:attrNameLst>
                                      </p:cBhvr>
                                      <p:tavLst>
                                        <p:tav tm="0">
                                          <p:val>
                                            <p:strVal val="#ppt_y+0.1"/>
                                          </p:val>
                                        </p:tav>
                                        <p:tav tm="100000">
                                          <p:val>
                                            <p:strVal val="#ppt_y"/>
                                          </p:val>
                                        </p:tav>
                                      </p:tavLst>
                                    </p:anim>
                                    <p:animEffect transition="in" filter="fade">
                                      <p:cBhvr>
                                        <p:cTn id="247" dur="500"/>
                                        <p:tgtEl>
                                          <p:spTgt spid="58"/>
                                        </p:tgtEl>
                                      </p:cBhvr>
                                    </p:animEffect>
                                  </p:childTnLst>
                                </p:cTn>
                              </p:par>
                              <p:par>
                                <p:cTn id="253" presetID="2" presetClass="entr" presetSubtype="4" fill="hold" grpId="0" nodeType="withEffect">
                                  <p:stCondLst>
                                    <p:cond delay="0"/>
                                  </p:stCondLst>
                                  <p:childTnLst>
                                    <p:set>
                                      <p:cBhvr>
                                        <p:cTn id="249" dur="1" fill="hold">
                                          <p:stCondLst>
                                            <p:cond delay="0"/>
                                          </p:stCondLst>
                                        </p:cTn>
                                        <p:tgtEl>
                                          <p:spTgt spid="59"/>
                                        </p:tgtEl>
                                        <p:attrNameLst>
                                          <p:attrName>style.visibility</p:attrName>
                                        </p:attrNameLst>
                                      </p:cBhvr>
                                      <p:to>
                                        <p:strVal val="visible"/>
                                      </p:to>
                                    </p:set>
                                    <p:anim calcmode="lin" valueType="num">
                                      <p:cBhvr additive="base">
                                        <p:cTn id="250" dur="500" fill="hold"/>
                                        <p:tgtEl>
                                          <p:spTgt spid="59"/>
                                        </p:tgtEl>
                                        <p:attrNameLst>
                                          <p:attrName>ppt_x</p:attrName>
                                        </p:attrNameLst>
                                      </p:cBhvr>
                                      <p:tavLst>
                                        <p:tav tm="0">
                                          <p:val>
                                            <p:strVal val="#ppt_x"/>
                                          </p:val>
                                        </p:tav>
                                        <p:tav tm="100000">
                                          <p:val>
                                            <p:strVal val="#ppt_x"/>
                                          </p:val>
                                        </p:tav>
                                      </p:tavLst>
                                    </p:anim>
                                    <p:anim calcmode="lin" valueType="num">
                                      <p:cBhvr additive="base">
                                        <p:cTn id="251" dur="500" fill="hold"/>
                                        <p:tgtEl>
                                          <p:spTgt spid="59"/>
                                        </p:tgtEl>
                                        <p:attrNameLst>
                                          <p:attrName>ppt_y</p:attrName>
                                        </p:attrNameLst>
                                      </p:cBhvr>
                                      <p:tavLst>
                                        <p:tav tm="0">
                                          <p:val>
                                            <p:strVal val="#ppt_y+0.1"/>
                                          </p:val>
                                        </p:tav>
                                        <p:tav tm="100000">
                                          <p:val>
                                            <p:strVal val="#ppt_y"/>
                                          </p:val>
                                        </p:tav>
                                      </p:tavLst>
                                    </p:anim>
                                    <p:animEffect transition="in" filter="fade">
                                      <p:cBhvr>
                                        <p:cTn id="252"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JMS: Messaging for Java Developers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standard Java API (1998) offering both models - queues and topics</a:t>
            </a:r>
          </a:p>
        </p:txBody>
      </p:sp>
      <p:sp>
        <p:nvSpPr>
          <p:cNvPr id="11" name="a1f_codebg10"/>
          <p:cNvSpPr/>
          <p:nvPr/>
        </p:nvSpPr>
        <p:spPr>
          <a:xfrm>
            <a:off x="457200" y="1234440"/>
            <a:ext cx="4754880" cy="2624328"/>
          </a:xfrm>
          <a:prstGeom prst="roundRect">
            <a:avLst>
              <a:gd name="adj" fmla="val 2787"/>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codeh11"/>
          <p:cNvSpPr txBox="1"/>
          <p:nvPr/>
        </p:nvSpPr>
        <p:spPr>
          <a:xfrm>
            <a:off x="603504" y="1289304"/>
            <a:ext cx="4462272" cy="219456"/>
          </a:xfrm>
          <a:prstGeom prst="rect">
            <a:avLst/>
          </a:prstGeom>
          <a:noFill/>
        </p:spPr>
        <p:txBody>
          <a:bodyPr wrap="square" lIns="0" tIns="0" rIns="0" bIns="0" anchor="ctr">
            <a:spAutoFit/>
          </a:bodyPr>
          <a:lstStyle/>
          <a:p>
            <a:pPr algn="l"/>
            <a:r>
              <a:rPr sz="950" b="1">
                <a:solidFill>
                  <a:srgbClr val="A8A29E"/>
                </a:solidFill>
                <a:latin typeface="Consolas"/>
              </a:rPr>
              <a:t>JMS in a nutshell</a:t>
            </a:r>
          </a:p>
        </p:txBody>
      </p:sp>
      <p:sp>
        <p:nvSpPr>
          <p:cNvPr id="13" name="a1f_codesep12"/>
          <p:cNvSpPr/>
          <p:nvPr/>
        </p:nvSpPr>
        <p:spPr>
          <a:xfrm>
            <a:off x="603504" y="1563624"/>
            <a:ext cx="4462272"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_code13"/>
          <p:cNvSpPr txBox="1"/>
          <p:nvPr/>
        </p:nvSpPr>
        <p:spPr>
          <a:xfrm>
            <a:off x="603504" y="1655064"/>
            <a:ext cx="4462272" cy="228600"/>
          </a:xfrm>
          <a:prstGeom prst="rect">
            <a:avLst/>
          </a:prstGeom>
          <a:noFill/>
        </p:spPr>
        <p:txBody>
          <a:bodyPr wrap="none" lIns="0" tIns="0" rIns="0" bIns="0" anchor="ctr">
            <a:spAutoFit/>
          </a:bodyPr>
          <a:lstStyle/>
          <a:p>
            <a:pPr algn="l"/>
            <a:r>
              <a:rPr sz="900" b="0">
                <a:solidFill>
                  <a:srgbClr val="8A8580"/>
                </a:solidFill>
                <a:latin typeface="Consolas"/>
              </a:rPr>
              <a:t>// point-to-point: one consumer gets each message</a:t>
            </a:r>
          </a:p>
        </p:txBody>
      </p:sp>
      <p:sp>
        <p:nvSpPr>
          <p:cNvPr id="15" name="a1wd80_code14"/>
          <p:cNvSpPr txBox="1"/>
          <p:nvPr/>
        </p:nvSpPr>
        <p:spPr>
          <a:xfrm>
            <a:off x="603504" y="1883664"/>
            <a:ext cx="4462272" cy="228600"/>
          </a:xfrm>
          <a:prstGeom prst="rect">
            <a:avLst/>
          </a:prstGeom>
          <a:noFill/>
        </p:spPr>
        <p:txBody>
          <a:bodyPr wrap="none" lIns="0" tIns="0" rIns="0" bIns="0" anchor="ctr">
            <a:spAutoFit/>
          </a:bodyPr>
          <a:lstStyle/>
          <a:p>
            <a:pPr algn="l"/>
            <a:r>
              <a:rPr sz="900" b="1">
                <a:solidFill>
                  <a:srgbClr val="FDBA74"/>
                </a:solidFill>
                <a:latin typeface="Consolas"/>
              </a:rPr>
              <a:t>Queue q = session.createQueue("payments");</a:t>
            </a:r>
          </a:p>
        </p:txBody>
      </p:sp>
      <p:sp>
        <p:nvSpPr>
          <p:cNvPr id="16" name="a1wd160_code15"/>
          <p:cNvSpPr txBox="1"/>
          <p:nvPr/>
        </p:nvSpPr>
        <p:spPr>
          <a:xfrm>
            <a:off x="603504" y="2112264"/>
            <a:ext cx="4462272" cy="228600"/>
          </a:xfrm>
          <a:prstGeom prst="rect">
            <a:avLst/>
          </a:prstGeom>
          <a:noFill/>
        </p:spPr>
        <p:txBody>
          <a:bodyPr wrap="none" lIns="0" tIns="0" rIns="0" bIns="0" anchor="ctr">
            <a:spAutoFit/>
          </a:bodyPr>
          <a:lstStyle/>
          <a:p>
            <a:pPr algn="l"/>
            <a:r>
              <a:rPr sz="900" b="0">
                <a:solidFill>
                  <a:srgbClr val="E7E5E4"/>
                </a:solidFill>
                <a:latin typeface="Consolas"/>
              </a:rPr>
              <a:t>session.createProducer(q)</a:t>
            </a:r>
          </a:p>
        </p:txBody>
      </p:sp>
      <p:sp>
        <p:nvSpPr>
          <p:cNvPr id="17" name="a1wd240_code16"/>
          <p:cNvSpPr txBox="1"/>
          <p:nvPr/>
        </p:nvSpPr>
        <p:spPr>
          <a:xfrm>
            <a:off x="603504" y="2340864"/>
            <a:ext cx="4462272" cy="228600"/>
          </a:xfrm>
          <a:prstGeom prst="rect">
            <a:avLst/>
          </a:prstGeom>
          <a:noFill/>
        </p:spPr>
        <p:txBody>
          <a:bodyPr wrap="none" lIns="0" tIns="0" rIns="0" bIns="0" anchor="ctr">
            <a:spAutoFit/>
          </a:bodyPr>
          <a:lstStyle/>
          <a:p>
            <a:pPr algn="l"/>
            <a:r>
              <a:rPr sz="900" b="0">
                <a:solidFill>
                  <a:srgbClr val="E7E5E4"/>
                </a:solidFill>
                <a:latin typeface="Consolas"/>
              </a:rPr>
              <a:t>       .send(session.createTextMessage("TXN-101 paid"));</a:t>
            </a:r>
          </a:p>
        </p:txBody>
      </p:sp>
      <p:sp>
        <p:nvSpPr>
          <p:cNvPr id="18" name="a1wd320_code17"/>
          <p:cNvSpPr txBox="1"/>
          <p:nvPr/>
        </p:nvSpPr>
        <p:spPr>
          <a:xfrm>
            <a:off x="603504" y="2569464"/>
            <a:ext cx="4462272" cy="228600"/>
          </a:xfrm>
          <a:prstGeom prst="rect">
            <a:avLst/>
          </a:prstGeom>
          <a:noFill/>
        </p:spPr>
        <p:txBody>
          <a:bodyPr wrap="none" lIns="0" tIns="0" rIns="0" bIns="0" anchor="ctr">
            <a:spAutoFit/>
          </a:bodyPr>
          <a:lstStyle/>
          <a:p>
            <a:pPr algn="l"/>
            <a:r>
              <a:rPr sz="900" b="0">
                <a:solidFill>
                  <a:srgbClr val="E7E5E4"/>
                </a:solidFill>
                <a:latin typeface="Consolas"/>
              </a:rPr>
              <a:t/>
            </a:r>
          </a:p>
        </p:txBody>
      </p:sp>
      <p:sp>
        <p:nvSpPr>
          <p:cNvPr id="19" name="a1wd400_code18"/>
          <p:cNvSpPr txBox="1"/>
          <p:nvPr/>
        </p:nvSpPr>
        <p:spPr>
          <a:xfrm>
            <a:off x="603504" y="2798064"/>
            <a:ext cx="4462272" cy="228600"/>
          </a:xfrm>
          <a:prstGeom prst="rect">
            <a:avLst/>
          </a:prstGeom>
          <a:noFill/>
        </p:spPr>
        <p:txBody>
          <a:bodyPr wrap="none" lIns="0" tIns="0" rIns="0" bIns="0" anchor="ctr">
            <a:spAutoFit/>
          </a:bodyPr>
          <a:lstStyle/>
          <a:p>
            <a:pPr algn="l"/>
            <a:r>
              <a:rPr sz="900" b="0">
                <a:solidFill>
                  <a:srgbClr val="8A8580"/>
                </a:solidFill>
                <a:latin typeface="Consolas"/>
              </a:rPr>
              <a:t>// publish/subscribe: every subscriber gets it</a:t>
            </a:r>
          </a:p>
        </p:txBody>
      </p:sp>
      <p:sp>
        <p:nvSpPr>
          <p:cNvPr id="20" name="a1wd480_code19"/>
          <p:cNvSpPr txBox="1"/>
          <p:nvPr/>
        </p:nvSpPr>
        <p:spPr>
          <a:xfrm>
            <a:off x="603504" y="3026664"/>
            <a:ext cx="4462272" cy="228600"/>
          </a:xfrm>
          <a:prstGeom prst="rect">
            <a:avLst/>
          </a:prstGeom>
          <a:noFill/>
        </p:spPr>
        <p:txBody>
          <a:bodyPr wrap="none" lIns="0" tIns="0" rIns="0" bIns="0" anchor="ctr">
            <a:spAutoFit/>
          </a:bodyPr>
          <a:lstStyle/>
          <a:p>
            <a:pPr algn="l"/>
            <a:r>
              <a:rPr sz="900" b="1">
                <a:solidFill>
                  <a:srgbClr val="FDBA74"/>
                </a:solidFill>
                <a:latin typeface="Consolas"/>
              </a:rPr>
              <a:t>Topic t = session.createTopic("prices");</a:t>
            </a:r>
          </a:p>
        </p:txBody>
      </p:sp>
      <p:sp>
        <p:nvSpPr>
          <p:cNvPr id="21" name="a1wd560_code20"/>
          <p:cNvSpPr txBox="1"/>
          <p:nvPr/>
        </p:nvSpPr>
        <p:spPr>
          <a:xfrm>
            <a:off x="603504" y="3255264"/>
            <a:ext cx="4462272" cy="228600"/>
          </a:xfrm>
          <a:prstGeom prst="rect">
            <a:avLst/>
          </a:prstGeom>
          <a:noFill/>
        </p:spPr>
        <p:txBody>
          <a:bodyPr wrap="none" lIns="0" tIns="0" rIns="0" bIns="0" anchor="ctr">
            <a:spAutoFit/>
          </a:bodyPr>
          <a:lstStyle/>
          <a:p>
            <a:pPr algn="l"/>
            <a:r>
              <a:rPr sz="900" b="0">
                <a:solidFill>
                  <a:srgbClr val="E7E5E4"/>
                </a:solidFill>
                <a:latin typeface="Consolas"/>
              </a:rPr>
              <a:t>session.createConsumer(t)</a:t>
            </a:r>
          </a:p>
        </p:txBody>
      </p:sp>
      <p:sp>
        <p:nvSpPr>
          <p:cNvPr id="22" name="a1wd640_code21"/>
          <p:cNvSpPr txBox="1"/>
          <p:nvPr/>
        </p:nvSpPr>
        <p:spPr>
          <a:xfrm>
            <a:off x="603504" y="3483864"/>
            <a:ext cx="4462272" cy="228600"/>
          </a:xfrm>
          <a:prstGeom prst="rect">
            <a:avLst/>
          </a:prstGeom>
          <a:noFill/>
        </p:spPr>
        <p:txBody>
          <a:bodyPr wrap="none" lIns="0" tIns="0" rIns="0" bIns="0" anchor="ctr">
            <a:spAutoFit/>
          </a:bodyPr>
          <a:lstStyle/>
          <a:p>
            <a:pPr algn="l"/>
            <a:r>
              <a:rPr sz="900" b="0">
                <a:solidFill>
                  <a:srgbClr val="E7E5E4"/>
                </a:solidFill>
                <a:latin typeface="Consolas"/>
              </a:rPr>
              <a:t>       .setMessageListener(m -&gt; show(m));</a:t>
            </a:r>
          </a:p>
        </p:txBody>
      </p:sp>
      <p:sp>
        <p:nvSpPr>
          <p:cNvPr id="23" name="a2u_card22"/>
          <p:cNvSpPr/>
          <p:nvPr/>
        </p:nvSpPr>
        <p:spPr>
          <a:xfrm>
            <a:off x="5486400" y="1234440"/>
            <a:ext cx="3200400" cy="2743200"/>
          </a:xfrm>
          <a:prstGeom prst="roundRect">
            <a:avLst>
              <a:gd name="adj" fmla="val 4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_acc23"/>
          <p:cNvSpPr/>
          <p:nvPr/>
        </p:nvSpPr>
        <p:spPr>
          <a:xfrm>
            <a:off x="5486400" y="1234440"/>
            <a:ext cx="50292" cy="27432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u_hh24"/>
          <p:cNvSpPr txBox="1"/>
          <p:nvPr/>
        </p:nvSpPr>
        <p:spPr>
          <a:xfrm>
            <a:off x="5687568" y="1344168"/>
            <a:ext cx="2834640" cy="237744"/>
          </a:xfrm>
          <a:prstGeom prst="rect">
            <a:avLst/>
          </a:prstGeom>
          <a:noFill/>
        </p:spPr>
        <p:txBody>
          <a:bodyPr wrap="square" lIns="0" tIns="0" rIns="0" bIns="0" anchor="ctr">
            <a:spAutoFit/>
          </a:bodyPr>
          <a:lstStyle/>
          <a:p>
            <a:pPr algn="l"/>
            <a:r>
              <a:rPr sz="900" b="1">
                <a:solidFill>
                  <a:srgbClr val="EA580C"/>
                </a:solidFill>
                <a:latin typeface="Segoe UI"/>
              </a:rPr>
              <a:t>WHAT TO KNOW</a:t>
            </a:r>
          </a:p>
        </p:txBody>
      </p:sp>
      <p:sp>
        <p:nvSpPr>
          <p:cNvPr id="26" name="a2ud80_dot25"/>
          <p:cNvSpPr/>
          <p:nvPr/>
        </p:nvSpPr>
        <p:spPr>
          <a:xfrm>
            <a:off x="5687568" y="178765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ud80_b26"/>
          <p:cNvSpPr txBox="1"/>
          <p:nvPr/>
        </p:nvSpPr>
        <p:spPr>
          <a:xfrm>
            <a:off x="5907024" y="1691640"/>
            <a:ext cx="2578608" cy="493775"/>
          </a:xfrm>
          <a:prstGeom prst="rect">
            <a:avLst/>
          </a:prstGeom>
          <a:noFill/>
        </p:spPr>
        <p:txBody>
          <a:bodyPr wrap="square" lIns="0" tIns="0" rIns="0" bIns="0" anchor="t">
            <a:spAutoFit/>
          </a:bodyPr>
          <a:lstStyle/>
          <a:p>
            <a:pPr algn="l"/>
            <a:r>
              <a:rPr sz="900" b="1">
                <a:solidFill>
                  <a:srgbClr val="1C1917"/>
                </a:solidFill>
                <a:latin typeface="Segoe UI"/>
              </a:rPr>
              <a:t>An API,  </a:t>
            </a:r>
            <a:r>
              <a:rPr sz="900" b="0">
                <a:solidFill>
                  <a:srgbClr val="44403C"/>
                </a:solidFill>
                <a:latin typeface="Segoe UI"/>
              </a:rPr>
              <a:t>not a protocol - each vendor has its own wire format</a:t>
            </a:r>
          </a:p>
        </p:txBody>
      </p:sp>
      <p:sp>
        <p:nvSpPr>
          <p:cNvPr id="28" name="a2ud180_dot27"/>
          <p:cNvSpPr/>
          <p:nvPr/>
        </p:nvSpPr>
        <p:spPr>
          <a:xfrm>
            <a:off x="5687568" y="231800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d180_b28"/>
          <p:cNvSpPr txBox="1"/>
          <p:nvPr/>
        </p:nvSpPr>
        <p:spPr>
          <a:xfrm>
            <a:off x="5907024" y="2221992"/>
            <a:ext cx="2578608" cy="493775"/>
          </a:xfrm>
          <a:prstGeom prst="rect">
            <a:avLst/>
          </a:prstGeom>
          <a:noFill/>
        </p:spPr>
        <p:txBody>
          <a:bodyPr wrap="square" lIns="0" tIns="0" rIns="0" bIns="0" anchor="t">
            <a:spAutoFit/>
          </a:bodyPr>
          <a:lstStyle/>
          <a:p>
            <a:pPr algn="l"/>
            <a:r>
              <a:rPr sz="900" b="1">
                <a:solidFill>
                  <a:srgbClr val="1C1917"/>
                </a:solidFill>
                <a:latin typeface="Segoe UI"/>
              </a:rPr>
              <a:t>Implemented by  </a:t>
            </a:r>
            <a:r>
              <a:rPr sz="900" b="0">
                <a:solidFill>
                  <a:srgbClr val="44403C"/>
                </a:solidFill>
                <a:latin typeface="Segoe UI"/>
              </a:rPr>
              <a:t>IBM MQ, ActiveMQ, WebLogic and others</a:t>
            </a:r>
          </a:p>
        </p:txBody>
      </p:sp>
      <p:sp>
        <p:nvSpPr>
          <p:cNvPr id="30" name="a2ud280_dot29"/>
          <p:cNvSpPr/>
          <p:nvPr/>
        </p:nvSpPr>
        <p:spPr>
          <a:xfrm>
            <a:off x="5687568" y="2848356"/>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2ud280_b30"/>
          <p:cNvSpPr txBox="1"/>
          <p:nvPr/>
        </p:nvSpPr>
        <p:spPr>
          <a:xfrm>
            <a:off x="5907024" y="2752344"/>
            <a:ext cx="2578608" cy="493775"/>
          </a:xfrm>
          <a:prstGeom prst="rect">
            <a:avLst/>
          </a:prstGeom>
          <a:noFill/>
        </p:spPr>
        <p:txBody>
          <a:bodyPr wrap="square" lIns="0" tIns="0" rIns="0" bIns="0" anchor="t">
            <a:spAutoFit/>
          </a:bodyPr>
          <a:lstStyle/>
          <a:p>
            <a:pPr algn="l"/>
            <a:r>
              <a:rPr sz="900" b="1">
                <a:solidFill>
                  <a:srgbClr val="1C1917"/>
                </a:solidFill>
                <a:latin typeface="Segoe UI"/>
              </a:rPr>
              <a:t>Hence AMQP:  </a:t>
            </a:r>
            <a:r>
              <a:rPr sz="900" b="0">
                <a:solidFill>
                  <a:srgbClr val="44403C"/>
                </a:solidFill>
                <a:latin typeface="Segoe UI"/>
              </a:rPr>
              <a:t>an open WIRE protocol so brokers can interoperate</a:t>
            </a:r>
          </a:p>
        </p:txBody>
      </p:sp>
      <p:sp>
        <p:nvSpPr>
          <p:cNvPr id="32" name="a2ud380_dot31"/>
          <p:cNvSpPr/>
          <p:nvPr/>
        </p:nvSpPr>
        <p:spPr>
          <a:xfrm>
            <a:off x="5687568" y="3378708"/>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ud380_b32"/>
          <p:cNvSpPr txBox="1"/>
          <p:nvPr/>
        </p:nvSpPr>
        <p:spPr>
          <a:xfrm>
            <a:off x="5907024" y="3282696"/>
            <a:ext cx="2578608" cy="493775"/>
          </a:xfrm>
          <a:prstGeom prst="rect">
            <a:avLst/>
          </a:prstGeom>
          <a:noFill/>
        </p:spPr>
        <p:txBody>
          <a:bodyPr wrap="square" lIns="0" tIns="0" rIns="0" bIns="0" anchor="t">
            <a:spAutoFit/>
          </a:bodyPr>
          <a:lstStyle/>
          <a:p>
            <a:pPr algn="l"/>
            <a:r>
              <a:rPr sz="900" b="1">
                <a:solidFill>
                  <a:srgbClr val="1C1917"/>
                </a:solidFill>
                <a:latin typeface="Segoe UI"/>
              </a:rPr>
              <a:t>Today  </a:t>
            </a:r>
            <a:r>
              <a:rPr sz="900" b="0">
                <a:solidFill>
                  <a:srgbClr val="44403C"/>
                </a:solidFill>
                <a:latin typeface="Segoe UI"/>
              </a:rPr>
              <a:t>it is called Jakarta Messaging</a:t>
            </a:r>
          </a:p>
        </p:txBody>
      </p:sp>
      <p:sp>
        <p:nvSpPr>
          <p:cNvPr id="34" name="a3u_nb33"/>
          <p:cNvSpPr/>
          <p:nvPr/>
        </p:nvSpPr>
        <p:spPr>
          <a:xfrm>
            <a:off x="457200" y="4114800"/>
            <a:ext cx="8229600" cy="475488"/>
          </a:xfrm>
          <a:prstGeom prst="roundRect">
            <a:avLst>
              <a:gd name="adj" fmla="val 15384"/>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3u_nacc34"/>
          <p:cNvSpPr/>
          <p:nvPr/>
        </p:nvSpPr>
        <p:spPr>
          <a:xfrm>
            <a:off x="457200" y="4114800"/>
            <a:ext cx="54864" cy="475488"/>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3u_nt35"/>
          <p:cNvSpPr txBox="1"/>
          <p:nvPr/>
        </p:nvSpPr>
        <p:spPr>
          <a:xfrm>
            <a:off x="658368" y="4114800"/>
            <a:ext cx="7827264" cy="475488"/>
          </a:xfrm>
          <a:prstGeom prst="rect">
            <a:avLst/>
          </a:prstGeom>
          <a:noFill/>
        </p:spPr>
        <p:txBody>
          <a:bodyPr wrap="square" lIns="0" tIns="0" rIns="0" bIns="0" anchor="ctr">
            <a:spAutoFit/>
          </a:bodyPr>
          <a:lstStyle/>
          <a:p>
            <a:pPr algn="l"/>
            <a:r>
              <a:rPr sz="900" b="1">
                <a:solidFill>
                  <a:srgbClr val="A16207"/>
                </a:solidFill>
                <a:latin typeface="Segoe UI"/>
              </a:rPr>
              <a:t>!  </a:t>
            </a:r>
            <a:r>
              <a:rPr sz="900" b="0">
                <a:solidFill>
                  <a:srgbClr val="44403C"/>
                </a:solidFill>
                <a:latin typeface="Segoe UI"/>
              </a:rPr>
              <a:t>Kafka does NOT implement JMS - it has its own client API. Java developers use the Kafka producer and consumer libraries instead.</a:t>
            </a:r>
          </a:p>
        </p:txBody>
      </p:sp>
      <p:sp>
        <p:nvSpPr>
          <p:cNvPr id="37" name="ft36"/>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34</a:t>
            </a:r>
          </a:p>
        </p:txBody>
      </p:sp>
      <p:sp>
        <p:nvSpPr>
          <p:cNvPr id="38" name="ft37"/>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ft38"/>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0" name="ft39"/>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8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16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24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8" presetID="22" presetClass="entr" presetSubtype="8" fill="hold" grpId="0" nodeType="withEffect">
                                  <p:stCondLst>
                                    <p:cond delay="32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31" presetID="22" presetClass="entr" presetSubtype="8" fill="hold" grpId="0" nodeType="withEffect">
                                  <p:stCondLst>
                                    <p:cond delay="40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4" presetID="22" presetClass="entr" presetSubtype="8" fill="hold" grpId="0" nodeType="withEffect">
                                  <p:stCondLst>
                                    <p:cond delay="48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par>
                                <p:cTn id="37" presetID="22" presetClass="entr" presetSubtype="8" fill="hold" grpId="0" nodeType="withEffect">
                                  <p:stCondLst>
                                    <p:cond delay="56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par>
                                <p:cTn id="40" presetID="22" presetClass="entr" presetSubtype="8" fill="hold" grpId="0" nodeType="withEffect">
                                  <p:stCondLst>
                                    <p:cond delay="64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7" presetID="2" presetClass="entr" presetSubtype="4"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 calcmode="lin" valueType="num">
                                      <p:cBhvr additive="base">
                                        <p:cTn id="44" dur="500" fill="hold"/>
                                        <p:tgtEl>
                                          <p:spTgt spid="23"/>
                                        </p:tgtEl>
                                        <p:attrNameLst>
                                          <p:attrName>ppt_x</p:attrName>
                                        </p:attrNameLst>
                                      </p:cBhvr>
                                      <p:tavLst>
                                        <p:tav tm="0">
                                          <p:val>
                                            <p:strVal val="#ppt_x"/>
                                          </p:val>
                                        </p:tav>
                                        <p:tav tm="100000">
                                          <p:val>
                                            <p:strVal val="#ppt_x"/>
                                          </p:val>
                                        </p:tav>
                                      </p:tavLst>
                                    </p:anim>
                                    <p:anim calcmode="lin" valueType="num">
                                      <p:cBhvr additive="base">
                                        <p:cTn id="45" dur="500" fill="hold"/>
                                        <p:tgtEl>
                                          <p:spTgt spid="23"/>
                                        </p:tgtEl>
                                        <p:attrNameLst>
                                          <p:attrName>ppt_y</p:attrName>
                                        </p:attrNameLst>
                                      </p:cBhvr>
                                      <p:tavLst>
                                        <p:tav tm="0">
                                          <p:val>
                                            <p:strVal val="#ppt_y+0.1"/>
                                          </p:val>
                                        </p:tav>
                                        <p:tav tm="100000">
                                          <p:val>
                                            <p:strVal val="#ppt_y"/>
                                          </p:val>
                                        </p:tav>
                                      </p:tavLst>
                                    </p:anim>
                                    <p:animEffect transition="in" filter="fade">
                                      <p:cBhvr>
                                        <p:cTn id="46" dur="500"/>
                                        <p:tgtEl>
                                          <p:spTgt spid="23"/>
                                        </p:tgtEl>
                                      </p:cBhvr>
                                    </p:animEffect>
                                  </p:childTnLst>
                                </p:cTn>
                              </p:par>
                              <p:par>
                                <p:cTn id="52" presetID="2" presetClass="entr" presetSubtype="4"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 calcmode="lin" valueType="num">
                                      <p:cBhvr additive="base">
                                        <p:cTn id="49" dur="500" fill="hold"/>
                                        <p:tgtEl>
                                          <p:spTgt spid="24"/>
                                        </p:tgtEl>
                                        <p:attrNameLst>
                                          <p:attrName>ppt_x</p:attrName>
                                        </p:attrNameLst>
                                      </p:cBhvr>
                                      <p:tavLst>
                                        <p:tav tm="0">
                                          <p:val>
                                            <p:strVal val="#ppt_x"/>
                                          </p:val>
                                        </p:tav>
                                        <p:tav tm="100000">
                                          <p:val>
                                            <p:strVal val="#ppt_x"/>
                                          </p:val>
                                        </p:tav>
                                      </p:tavLst>
                                    </p:anim>
                                    <p:anim calcmode="lin" valueType="num">
                                      <p:cBhvr additive="base">
                                        <p:cTn id="50" dur="500" fill="hold"/>
                                        <p:tgtEl>
                                          <p:spTgt spid="24"/>
                                        </p:tgtEl>
                                        <p:attrNameLst>
                                          <p:attrName>ppt_y</p:attrName>
                                        </p:attrNameLst>
                                      </p:cBhvr>
                                      <p:tavLst>
                                        <p:tav tm="0">
                                          <p:val>
                                            <p:strVal val="#ppt_y+0.1"/>
                                          </p:val>
                                        </p:tav>
                                        <p:tav tm="100000">
                                          <p:val>
                                            <p:strVal val="#ppt_y"/>
                                          </p:val>
                                        </p:tav>
                                      </p:tavLst>
                                    </p:anim>
                                    <p:animEffect transition="in" filter="fade">
                                      <p:cBhvr>
                                        <p:cTn id="51" dur="500"/>
                                        <p:tgtEl>
                                          <p:spTgt spid="24"/>
                                        </p:tgtEl>
                                      </p:cBhvr>
                                    </p:animEffect>
                                  </p:childTnLst>
                                </p:cTn>
                              </p:par>
                              <p:par>
                                <p:cTn id="57" presetID="2" presetClass="entr" presetSubtype="4"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 calcmode="lin" valueType="num">
                                      <p:cBhvr additive="base">
                                        <p:cTn id="54" dur="500" fill="hold"/>
                                        <p:tgtEl>
                                          <p:spTgt spid="25"/>
                                        </p:tgtEl>
                                        <p:attrNameLst>
                                          <p:attrName>ppt_x</p:attrName>
                                        </p:attrNameLst>
                                      </p:cBhvr>
                                      <p:tavLst>
                                        <p:tav tm="0">
                                          <p:val>
                                            <p:strVal val="#ppt_x"/>
                                          </p:val>
                                        </p:tav>
                                        <p:tav tm="100000">
                                          <p:val>
                                            <p:strVal val="#ppt_x"/>
                                          </p:val>
                                        </p:tav>
                                      </p:tavLst>
                                    </p:anim>
                                    <p:anim calcmode="lin" valueType="num">
                                      <p:cBhvr additive="base">
                                        <p:cTn id="55" dur="500" fill="hold"/>
                                        <p:tgtEl>
                                          <p:spTgt spid="25"/>
                                        </p:tgtEl>
                                        <p:attrNameLst>
                                          <p:attrName>ppt_y</p:attrName>
                                        </p:attrNameLst>
                                      </p:cBhvr>
                                      <p:tavLst>
                                        <p:tav tm="0">
                                          <p:val>
                                            <p:strVal val="#ppt_y+0.1"/>
                                          </p:val>
                                        </p:tav>
                                        <p:tav tm="100000">
                                          <p:val>
                                            <p:strVal val="#ppt_y"/>
                                          </p:val>
                                        </p:tav>
                                      </p:tavLst>
                                    </p:anim>
                                    <p:animEffect transition="in" filter="fade">
                                      <p:cBhvr>
                                        <p:cTn id="56" dur="500"/>
                                        <p:tgtEl>
                                          <p:spTgt spid="25"/>
                                        </p:tgtEl>
                                      </p:cBhvr>
                                    </p:animEffect>
                                  </p:childTnLst>
                                </p:cTn>
                              </p:par>
                              <p:par>
                                <p:cTn id="62" presetID="2" presetClass="entr" presetSubtype="4" fill="hold" grpId="0" nodeType="withEffect">
                                  <p:stCondLst>
                                    <p:cond delay="80"/>
                                  </p:stCondLst>
                                  <p:childTnLst>
                                    <p:set>
                                      <p:cBhvr>
                                        <p:cTn id="58" dur="1" fill="hold">
                                          <p:stCondLst>
                                            <p:cond delay="0"/>
                                          </p:stCondLst>
                                        </p:cTn>
                                        <p:tgtEl>
                                          <p:spTgt spid="26"/>
                                        </p:tgtEl>
                                        <p:attrNameLst>
                                          <p:attrName>style.visibility</p:attrName>
                                        </p:attrNameLst>
                                      </p:cBhvr>
                                      <p:to>
                                        <p:strVal val="visible"/>
                                      </p:to>
                                    </p:set>
                                    <p:anim calcmode="lin" valueType="num">
                                      <p:cBhvr additive="base">
                                        <p:cTn id="59" dur="500" fill="hold"/>
                                        <p:tgtEl>
                                          <p:spTgt spid="26"/>
                                        </p:tgtEl>
                                        <p:attrNameLst>
                                          <p:attrName>ppt_x</p:attrName>
                                        </p:attrNameLst>
                                      </p:cBhvr>
                                      <p:tavLst>
                                        <p:tav tm="0">
                                          <p:val>
                                            <p:strVal val="#ppt_x"/>
                                          </p:val>
                                        </p:tav>
                                        <p:tav tm="100000">
                                          <p:val>
                                            <p:strVal val="#ppt_x"/>
                                          </p:val>
                                        </p:tav>
                                      </p:tavLst>
                                    </p:anim>
                                    <p:anim calcmode="lin" valueType="num">
                                      <p:cBhvr additive="base">
                                        <p:cTn id="60" dur="500" fill="hold"/>
                                        <p:tgtEl>
                                          <p:spTgt spid="26"/>
                                        </p:tgtEl>
                                        <p:attrNameLst>
                                          <p:attrName>ppt_y</p:attrName>
                                        </p:attrNameLst>
                                      </p:cBhvr>
                                      <p:tavLst>
                                        <p:tav tm="0">
                                          <p:val>
                                            <p:strVal val="#ppt_y+0.1"/>
                                          </p:val>
                                        </p:tav>
                                        <p:tav tm="100000">
                                          <p:val>
                                            <p:strVal val="#ppt_y"/>
                                          </p:val>
                                        </p:tav>
                                      </p:tavLst>
                                    </p:anim>
                                    <p:animEffect transition="in" filter="fade">
                                      <p:cBhvr>
                                        <p:cTn id="61" dur="500"/>
                                        <p:tgtEl>
                                          <p:spTgt spid="26"/>
                                        </p:tgtEl>
                                      </p:cBhvr>
                                    </p:animEffect>
                                  </p:childTnLst>
                                </p:cTn>
                              </p:par>
                              <p:par>
                                <p:cTn id="67" presetID="2" presetClass="entr" presetSubtype="4" fill="hold" grpId="0" nodeType="withEffect">
                                  <p:stCondLst>
                                    <p:cond delay="80"/>
                                  </p:stCondLst>
                                  <p:childTnLst>
                                    <p:set>
                                      <p:cBhvr>
                                        <p:cTn id="63" dur="1" fill="hold">
                                          <p:stCondLst>
                                            <p:cond delay="0"/>
                                          </p:stCondLst>
                                        </p:cTn>
                                        <p:tgtEl>
                                          <p:spTgt spid="27"/>
                                        </p:tgtEl>
                                        <p:attrNameLst>
                                          <p:attrName>style.visibility</p:attrName>
                                        </p:attrNameLst>
                                      </p:cBhvr>
                                      <p:to>
                                        <p:strVal val="visible"/>
                                      </p:to>
                                    </p:set>
                                    <p:anim calcmode="lin" valueType="num">
                                      <p:cBhvr additive="base">
                                        <p:cTn id="64" dur="500" fill="hold"/>
                                        <p:tgtEl>
                                          <p:spTgt spid="27"/>
                                        </p:tgtEl>
                                        <p:attrNameLst>
                                          <p:attrName>ppt_x</p:attrName>
                                        </p:attrNameLst>
                                      </p:cBhvr>
                                      <p:tavLst>
                                        <p:tav tm="0">
                                          <p:val>
                                            <p:strVal val="#ppt_x"/>
                                          </p:val>
                                        </p:tav>
                                        <p:tav tm="100000">
                                          <p:val>
                                            <p:strVal val="#ppt_x"/>
                                          </p:val>
                                        </p:tav>
                                      </p:tavLst>
                                    </p:anim>
                                    <p:anim calcmode="lin" valueType="num">
                                      <p:cBhvr additive="base">
                                        <p:cTn id="65" dur="500" fill="hold"/>
                                        <p:tgtEl>
                                          <p:spTgt spid="27"/>
                                        </p:tgtEl>
                                        <p:attrNameLst>
                                          <p:attrName>ppt_y</p:attrName>
                                        </p:attrNameLst>
                                      </p:cBhvr>
                                      <p:tavLst>
                                        <p:tav tm="0">
                                          <p:val>
                                            <p:strVal val="#ppt_y+0.1"/>
                                          </p:val>
                                        </p:tav>
                                        <p:tav tm="100000">
                                          <p:val>
                                            <p:strVal val="#ppt_y"/>
                                          </p:val>
                                        </p:tav>
                                      </p:tavLst>
                                    </p:anim>
                                    <p:animEffect transition="in" filter="fade">
                                      <p:cBhvr>
                                        <p:cTn id="66" dur="500"/>
                                        <p:tgtEl>
                                          <p:spTgt spid="27"/>
                                        </p:tgtEl>
                                      </p:cBhvr>
                                    </p:animEffect>
                                  </p:childTnLst>
                                </p:cTn>
                              </p:par>
                              <p:par>
                                <p:cTn id="72" presetID="2" presetClass="entr" presetSubtype="4" fill="hold" grpId="0" nodeType="withEffect">
                                  <p:stCondLst>
                                    <p:cond delay="180"/>
                                  </p:stCondLst>
                                  <p:childTnLst>
                                    <p:set>
                                      <p:cBhvr>
                                        <p:cTn id="68" dur="1" fill="hold">
                                          <p:stCondLst>
                                            <p:cond delay="0"/>
                                          </p:stCondLst>
                                        </p:cTn>
                                        <p:tgtEl>
                                          <p:spTgt spid="28"/>
                                        </p:tgtEl>
                                        <p:attrNameLst>
                                          <p:attrName>style.visibility</p:attrName>
                                        </p:attrNameLst>
                                      </p:cBhvr>
                                      <p:to>
                                        <p:strVal val="visible"/>
                                      </p:to>
                                    </p:set>
                                    <p:anim calcmode="lin" valueType="num">
                                      <p:cBhvr additive="base">
                                        <p:cTn id="69" dur="500" fill="hold"/>
                                        <p:tgtEl>
                                          <p:spTgt spid="28"/>
                                        </p:tgtEl>
                                        <p:attrNameLst>
                                          <p:attrName>ppt_x</p:attrName>
                                        </p:attrNameLst>
                                      </p:cBhvr>
                                      <p:tavLst>
                                        <p:tav tm="0">
                                          <p:val>
                                            <p:strVal val="#ppt_x"/>
                                          </p:val>
                                        </p:tav>
                                        <p:tav tm="100000">
                                          <p:val>
                                            <p:strVal val="#ppt_x"/>
                                          </p:val>
                                        </p:tav>
                                      </p:tavLst>
                                    </p:anim>
                                    <p:anim calcmode="lin" valueType="num">
                                      <p:cBhvr additive="base">
                                        <p:cTn id="70" dur="500" fill="hold"/>
                                        <p:tgtEl>
                                          <p:spTgt spid="28"/>
                                        </p:tgtEl>
                                        <p:attrNameLst>
                                          <p:attrName>ppt_y</p:attrName>
                                        </p:attrNameLst>
                                      </p:cBhvr>
                                      <p:tavLst>
                                        <p:tav tm="0">
                                          <p:val>
                                            <p:strVal val="#ppt_y+0.1"/>
                                          </p:val>
                                        </p:tav>
                                        <p:tav tm="100000">
                                          <p:val>
                                            <p:strVal val="#ppt_y"/>
                                          </p:val>
                                        </p:tav>
                                      </p:tavLst>
                                    </p:anim>
                                    <p:animEffect transition="in" filter="fade">
                                      <p:cBhvr>
                                        <p:cTn id="71" dur="500"/>
                                        <p:tgtEl>
                                          <p:spTgt spid="28"/>
                                        </p:tgtEl>
                                      </p:cBhvr>
                                    </p:animEffect>
                                  </p:childTnLst>
                                </p:cTn>
                              </p:par>
                              <p:par>
                                <p:cTn id="77" presetID="2" presetClass="entr" presetSubtype="4" fill="hold" grpId="0" nodeType="withEffect">
                                  <p:stCondLst>
                                    <p:cond delay="180"/>
                                  </p:stCondLst>
                                  <p:childTnLst>
                                    <p:set>
                                      <p:cBhvr>
                                        <p:cTn id="73" dur="1" fill="hold">
                                          <p:stCondLst>
                                            <p:cond delay="0"/>
                                          </p:stCondLst>
                                        </p:cTn>
                                        <p:tgtEl>
                                          <p:spTgt spid="29"/>
                                        </p:tgtEl>
                                        <p:attrNameLst>
                                          <p:attrName>style.visibility</p:attrName>
                                        </p:attrNameLst>
                                      </p:cBhvr>
                                      <p:to>
                                        <p:strVal val="visible"/>
                                      </p:to>
                                    </p:set>
                                    <p:anim calcmode="lin" valueType="num">
                                      <p:cBhvr additive="base">
                                        <p:cTn id="74" dur="500" fill="hold"/>
                                        <p:tgtEl>
                                          <p:spTgt spid="29"/>
                                        </p:tgtEl>
                                        <p:attrNameLst>
                                          <p:attrName>ppt_x</p:attrName>
                                        </p:attrNameLst>
                                      </p:cBhvr>
                                      <p:tavLst>
                                        <p:tav tm="0">
                                          <p:val>
                                            <p:strVal val="#ppt_x"/>
                                          </p:val>
                                        </p:tav>
                                        <p:tav tm="100000">
                                          <p:val>
                                            <p:strVal val="#ppt_x"/>
                                          </p:val>
                                        </p:tav>
                                      </p:tavLst>
                                    </p:anim>
                                    <p:anim calcmode="lin" valueType="num">
                                      <p:cBhvr additive="base">
                                        <p:cTn id="75" dur="500" fill="hold"/>
                                        <p:tgtEl>
                                          <p:spTgt spid="29"/>
                                        </p:tgtEl>
                                        <p:attrNameLst>
                                          <p:attrName>ppt_y</p:attrName>
                                        </p:attrNameLst>
                                      </p:cBhvr>
                                      <p:tavLst>
                                        <p:tav tm="0">
                                          <p:val>
                                            <p:strVal val="#ppt_y+0.1"/>
                                          </p:val>
                                        </p:tav>
                                        <p:tav tm="100000">
                                          <p:val>
                                            <p:strVal val="#ppt_y"/>
                                          </p:val>
                                        </p:tav>
                                      </p:tavLst>
                                    </p:anim>
                                    <p:animEffect transition="in" filter="fade">
                                      <p:cBhvr>
                                        <p:cTn id="76" dur="500"/>
                                        <p:tgtEl>
                                          <p:spTgt spid="29"/>
                                        </p:tgtEl>
                                      </p:cBhvr>
                                    </p:animEffect>
                                  </p:childTnLst>
                                </p:cTn>
                              </p:par>
                              <p:par>
                                <p:cTn id="82" presetID="2" presetClass="entr" presetSubtype="4" fill="hold" grpId="0" nodeType="withEffect">
                                  <p:stCondLst>
                                    <p:cond delay="280"/>
                                  </p:stCondLst>
                                  <p:childTnLst>
                                    <p:set>
                                      <p:cBhvr>
                                        <p:cTn id="78" dur="1" fill="hold">
                                          <p:stCondLst>
                                            <p:cond delay="0"/>
                                          </p:stCondLst>
                                        </p:cTn>
                                        <p:tgtEl>
                                          <p:spTgt spid="30"/>
                                        </p:tgtEl>
                                        <p:attrNameLst>
                                          <p:attrName>style.visibility</p:attrName>
                                        </p:attrNameLst>
                                      </p:cBhvr>
                                      <p:to>
                                        <p:strVal val="visible"/>
                                      </p:to>
                                    </p:set>
                                    <p:anim calcmode="lin" valueType="num">
                                      <p:cBhvr additive="base">
                                        <p:cTn id="79" dur="500" fill="hold"/>
                                        <p:tgtEl>
                                          <p:spTgt spid="30"/>
                                        </p:tgtEl>
                                        <p:attrNameLst>
                                          <p:attrName>ppt_x</p:attrName>
                                        </p:attrNameLst>
                                      </p:cBhvr>
                                      <p:tavLst>
                                        <p:tav tm="0">
                                          <p:val>
                                            <p:strVal val="#ppt_x"/>
                                          </p:val>
                                        </p:tav>
                                        <p:tav tm="100000">
                                          <p:val>
                                            <p:strVal val="#ppt_x"/>
                                          </p:val>
                                        </p:tav>
                                      </p:tavLst>
                                    </p:anim>
                                    <p:anim calcmode="lin" valueType="num">
                                      <p:cBhvr additive="base">
                                        <p:cTn id="80" dur="500" fill="hold"/>
                                        <p:tgtEl>
                                          <p:spTgt spid="30"/>
                                        </p:tgtEl>
                                        <p:attrNameLst>
                                          <p:attrName>ppt_y</p:attrName>
                                        </p:attrNameLst>
                                      </p:cBhvr>
                                      <p:tavLst>
                                        <p:tav tm="0">
                                          <p:val>
                                            <p:strVal val="#ppt_y+0.1"/>
                                          </p:val>
                                        </p:tav>
                                        <p:tav tm="100000">
                                          <p:val>
                                            <p:strVal val="#ppt_y"/>
                                          </p:val>
                                        </p:tav>
                                      </p:tavLst>
                                    </p:anim>
                                    <p:animEffect transition="in" filter="fade">
                                      <p:cBhvr>
                                        <p:cTn id="81" dur="500"/>
                                        <p:tgtEl>
                                          <p:spTgt spid="30"/>
                                        </p:tgtEl>
                                      </p:cBhvr>
                                    </p:animEffect>
                                  </p:childTnLst>
                                </p:cTn>
                              </p:par>
                              <p:par>
                                <p:cTn id="87" presetID="2" presetClass="entr" presetSubtype="4" fill="hold" grpId="0" nodeType="withEffect">
                                  <p:stCondLst>
                                    <p:cond delay="280"/>
                                  </p:stCondLst>
                                  <p:childTnLst>
                                    <p:set>
                                      <p:cBhvr>
                                        <p:cTn id="83" dur="1" fill="hold">
                                          <p:stCondLst>
                                            <p:cond delay="0"/>
                                          </p:stCondLst>
                                        </p:cTn>
                                        <p:tgtEl>
                                          <p:spTgt spid="31"/>
                                        </p:tgtEl>
                                        <p:attrNameLst>
                                          <p:attrName>style.visibility</p:attrName>
                                        </p:attrNameLst>
                                      </p:cBhvr>
                                      <p:to>
                                        <p:strVal val="visible"/>
                                      </p:to>
                                    </p:set>
                                    <p:anim calcmode="lin" valueType="num">
                                      <p:cBhvr additive="base">
                                        <p:cTn id="84" dur="500" fill="hold"/>
                                        <p:tgtEl>
                                          <p:spTgt spid="31"/>
                                        </p:tgtEl>
                                        <p:attrNameLst>
                                          <p:attrName>ppt_x</p:attrName>
                                        </p:attrNameLst>
                                      </p:cBhvr>
                                      <p:tavLst>
                                        <p:tav tm="0">
                                          <p:val>
                                            <p:strVal val="#ppt_x"/>
                                          </p:val>
                                        </p:tav>
                                        <p:tav tm="100000">
                                          <p:val>
                                            <p:strVal val="#ppt_x"/>
                                          </p:val>
                                        </p:tav>
                                      </p:tavLst>
                                    </p:anim>
                                    <p:anim calcmode="lin" valueType="num">
                                      <p:cBhvr additive="base">
                                        <p:cTn id="85" dur="500" fill="hold"/>
                                        <p:tgtEl>
                                          <p:spTgt spid="31"/>
                                        </p:tgtEl>
                                        <p:attrNameLst>
                                          <p:attrName>ppt_y</p:attrName>
                                        </p:attrNameLst>
                                      </p:cBhvr>
                                      <p:tavLst>
                                        <p:tav tm="0">
                                          <p:val>
                                            <p:strVal val="#ppt_y+0.1"/>
                                          </p:val>
                                        </p:tav>
                                        <p:tav tm="100000">
                                          <p:val>
                                            <p:strVal val="#ppt_y"/>
                                          </p:val>
                                        </p:tav>
                                      </p:tavLst>
                                    </p:anim>
                                    <p:animEffect transition="in" filter="fade">
                                      <p:cBhvr>
                                        <p:cTn id="86" dur="500"/>
                                        <p:tgtEl>
                                          <p:spTgt spid="31"/>
                                        </p:tgtEl>
                                      </p:cBhvr>
                                    </p:animEffect>
                                  </p:childTnLst>
                                </p:cTn>
                              </p:par>
                              <p:par>
                                <p:cTn id="92" presetID="2" presetClass="entr" presetSubtype="4" fill="hold" grpId="0" nodeType="withEffect">
                                  <p:stCondLst>
                                    <p:cond delay="380"/>
                                  </p:stCondLst>
                                  <p:childTnLst>
                                    <p:set>
                                      <p:cBhvr>
                                        <p:cTn id="88" dur="1" fill="hold">
                                          <p:stCondLst>
                                            <p:cond delay="0"/>
                                          </p:stCondLst>
                                        </p:cTn>
                                        <p:tgtEl>
                                          <p:spTgt spid="32"/>
                                        </p:tgtEl>
                                        <p:attrNameLst>
                                          <p:attrName>style.visibility</p:attrName>
                                        </p:attrNameLst>
                                      </p:cBhvr>
                                      <p:to>
                                        <p:strVal val="visible"/>
                                      </p:to>
                                    </p:set>
                                    <p:anim calcmode="lin" valueType="num">
                                      <p:cBhvr additive="base">
                                        <p:cTn id="89" dur="500" fill="hold"/>
                                        <p:tgtEl>
                                          <p:spTgt spid="32"/>
                                        </p:tgtEl>
                                        <p:attrNameLst>
                                          <p:attrName>ppt_x</p:attrName>
                                        </p:attrNameLst>
                                      </p:cBhvr>
                                      <p:tavLst>
                                        <p:tav tm="0">
                                          <p:val>
                                            <p:strVal val="#ppt_x"/>
                                          </p:val>
                                        </p:tav>
                                        <p:tav tm="100000">
                                          <p:val>
                                            <p:strVal val="#ppt_x"/>
                                          </p:val>
                                        </p:tav>
                                      </p:tavLst>
                                    </p:anim>
                                    <p:anim calcmode="lin" valueType="num">
                                      <p:cBhvr additive="base">
                                        <p:cTn id="90" dur="500" fill="hold"/>
                                        <p:tgtEl>
                                          <p:spTgt spid="32"/>
                                        </p:tgtEl>
                                        <p:attrNameLst>
                                          <p:attrName>ppt_y</p:attrName>
                                        </p:attrNameLst>
                                      </p:cBhvr>
                                      <p:tavLst>
                                        <p:tav tm="0">
                                          <p:val>
                                            <p:strVal val="#ppt_y+0.1"/>
                                          </p:val>
                                        </p:tav>
                                        <p:tav tm="100000">
                                          <p:val>
                                            <p:strVal val="#ppt_y"/>
                                          </p:val>
                                        </p:tav>
                                      </p:tavLst>
                                    </p:anim>
                                    <p:animEffect transition="in" filter="fade">
                                      <p:cBhvr>
                                        <p:cTn id="91" dur="500"/>
                                        <p:tgtEl>
                                          <p:spTgt spid="32"/>
                                        </p:tgtEl>
                                      </p:cBhvr>
                                    </p:animEffect>
                                  </p:childTnLst>
                                </p:cTn>
                              </p:par>
                              <p:par>
                                <p:cTn id="97" presetID="2" presetClass="entr" presetSubtype="4" fill="hold" grpId="0" nodeType="withEffect">
                                  <p:stCondLst>
                                    <p:cond delay="380"/>
                                  </p:stCondLst>
                                  <p:childTnLst>
                                    <p:set>
                                      <p:cBhvr>
                                        <p:cTn id="93" dur="1" fill="hold">
                                          <p:stCondLst>
                                            <p:cond delay="0"/>
                                          </p:stCondLst>
                                        </p:cTn>
                                        <p:tgtEl>
                                          <p:spTgt spid="33"/>
                                        </p:tgtEl>
                                        <p:attrNameLst>
                                          <p:attrName>style.visibility</p:attrName>
                                        </p:attrNameLst>
                                      </p:cBhvr>
                                      <p:to>
                                        <p:strVal val="visible"/>
                                      </p:to>
                                    </p:set>
                                    <p:anim calcmode="lin" valueType="num">
                                      <p:cBhvr additive="base">
                                        <p:cTn id="94" dur="500" fill="hold"/>
                                        <p:tgtEl>
                                          <p:spTgt spid="33"/>
                                        </p:tgtEl>
                                        <p:attrNameLst>
                                          <p:attrName>ppt_x</p:attrName>
                                        </p:attrNameLst>
                                      </p:cBhvr>
                                      <p:tavLst>
                                        <p:tav tm="0">
                                          <p:val>
                                            <p:strVal val="#ppt_x"/>
                                          </p:val>
                                        </p:tav>
                                        <p:tav tm="100000">
                                          <p:val>
                                            <p:strVal val="#ppt_x"/>
                                          </p:val>
                                        </p:tav>
                                      </p:tavLst>
                                    </p:anim>
                                    <p:anim calcmode="lin" valueType="num">
                                      <p:cBhvr additive="base">
                                        <p:cTn id="95" dur="500" fill="hold"/>
                                        <p:tgtEl>
                                          <p:spTgt spid="33"/>
                                        </p:tgtEl>
                                        <p:attrNameLst>
                                          <p:attrName>ppt_y</p:attrName>
                                        </p:attrNameLst>
                                      </p:cBhvr>
                                      <p:tavLst>
                                        <p:tav tm="0">
                                          <p:val>
                                            <p:strVal val="#ppt_y+0.1"/>
                                          </p:val>
                                        </p:tav>
                                        <p:tav tm="100000">
                                          <p:val>
                                            <p:strVal val="#ppt_y"/>
                                          </p:val>
                                        </p:tav>
                                      </p:tavLst>
                                    </p:anim>
                                    <p:animEffect transition="in" filter="fade">
                                      <p:cBhvr>
                                        <p:cTn id="96" dur="500"/>
                                        <p:tgtEl>
                                          <p:spTgt spid="33"/>
                                        </p:tgtEl>
                                      </p:cBhvr>
                                    </p:animEffect>
                                  </p:childTnLst>
                                </p:cTn>
                              </p:par>
                            </p:childTnLst>
                          </p:cTn>
                        </p:par>
                      </p:childTnLst>
                    </p:cTn>
                  </p:par>
                  <p:par>
                    <p:cTn id="98" fill="hold">
                      <p:stCondLst>
                        <p:cond delay="indefinite"/>
                      </p:stCondLst>
                      <p:childTnLst>
                        <p:par>
                          <p:cTn id="99" fill="hold">
                            <p:stCondLst>
                              <p:cond delay="0"/>
                            </p:stCondLst>
                            <p:childTnLst>
                              <p:par>
                                <p:cTn id="104" presetID="2" presetClass="entr" presetSubtype="4" fill="hold" grpId="0" nodeType="clickEffect">
                                  <p:stCondLst>
                                    <p:cond delay="0"/>
                                  </p:stCondLst>
                                  <p:childTnLst>
                                    <p:set>
                                      <p:cBhvr>
                                        <p:cTn id="100" dur="1" fill="hold">
                                          <p:stCondLst>
                                            <p:cond delay="0"/>
                                          </p:stCondLst>
                                        </p:cTn>
                                        <p:tgtEl>
                                          <p:spTgt spid="34"/>
                                        </p:tgtEl>
                                        <p:attrNameLst>
                                          <p:attrName>style.visibility</p:attrName>
                                        </p:attrNameLst>
                                      </p:cBhvr>
                                      <p:to>
                                        <p:strVal val="visible"/>
                                      </p:to>
                                    </p:set>
                                    <p:anim calcmode="lin" valueType="num">
                                      <p:cBhvr additive="base">
                                        <p:cTn id="101" dur="500" fill="hold"/>
                                        <p:tgtEl>
                                          <p:spTgt spid="34"/>
                                        </p:tgtEl>
                                        <p:attrNameLst>
                                          <p:attrName>ppt_x</p:attrName>
                                        </p:attrNameLst>
                                      </p:cBhvr>
                                      <p:tavLst>
                                        <p:tav tm="0">
                                          <p:val>
                                            <p:strVal val="#ppt_x"/>
                                          </p:val>
                                        </p:tav>
                                        <p:tav tm="100000">
                                          <p:val>
                                            <p:strVal val="#ppt_x"/>
                                          </p:val>
                                        </p:tav>
                                      </p:tavLst>
                                    </p:anim>
                                    <p:anim calcmode="lin" valueType="num">
                                      <p:cBhvr additive="base">
                                        <p:cTn id="102" dur="500" fill="hold"/>
                                        <p:tgtEl>
                                          <p:spTgt spid="34"/>
                                        </p:tgtEl>
                                        <p:attrNameLst>
                                          <p:attrName>ppt_y</p:attrName>
                                        </p:attrNameLst>
                                      </p:cBhvr>
                                      <p:tavLst>
                                        <p:tav tm="0">
                                          <p:val>
                                            <p:strVal val="#ppt_y+0.1"/>
                                          </p:val>
                                        </p:tav>
                                        <p:tav tm="100000">
                                          <p:val>
                                            <p:strVal val="#ppt_y"/>
                                          </p:val>
                                        </p:tav>
                                      </p:tavLst>
                                    </p:anim>
                                    <p:animEffect transition="in" filter="fade">
                                      <p:cBhvr>
                                        <p:cTn id="103" dur="500"/>
                                        <p:tgtEl>
                                          <p:spTgt spid="34"/>
                                        </p:tgtEl>
                                      </p:cBhvr>
                                    </p:animEffect>
                                  </p:childTnLst>
                                </p:cTn>
                              </p:par>
                              <p:par>
                                <p:cTn id="109" presetID="2" presetClass="entr" presetSubtype="4"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 calcmode="lin" valueType="num">
                                      <p:cBhvr additive="base">
                                        <p:cTn id="106" dur="500" fill="hold"/>
                                        <p:tgtEl>
                                          <p:spTgt spid="35"/>
                                        </p:tgtEl>
                                        <p:attrNameLst>
                                          <p:attrName>ppt_x</p:attrName>
                                        </p:attrNameLst>
                                      </p:cBhvr>
                                      <p:tavLst>
                                        <p:tav tm="0">
                                          <p:val>
                                            <p:strVal val="#ppt_x"/>
                                          </p:val>
                                        </p:tav>
                                        <p:tav tm="100000">
                                          <p:val>
                                            <p:strVal val="#ppt_x"/>
                                          </p:val>
                                        </p:tav>
                                      </p:tavLst>
                                    </p:anim>
                                    <p:anim calcmode="lin" valueType="num">
                                      <p:cBhvr additive="base">
                                        <p:cTn id="107" dur="500" fill="hold"/>
                                        <p:tgtEl>
                                          <p:spTgt spid="35"/>
                                        </p:tgtEl>
                                        <p:attrNameLst>
                                          <p:attrName>ppt_y</p:attrName>
                                        </p:attrNameLst>
                                      </p:cBhvr>
                                      <p:tavLst>
                                        <p:tav tm="0">
                                          <p:val>
                                            <p:strVal val="#ppt_y+0.1"/>
                                          </p:val>
                                        </p:tav>
                                        <p:tav tm="100000">
                                          <p:val>
                                            <p:strVal val="#ppt_y"/>
                                          </p:val>
                                        </p:tav>
                                      </p:tavLst>
                                    </p:anim>
                                    <p:animEffect transition="in" filter="fade">
                                      <p:cBhvr>
                                        <p:cTn id="108" dur="500"/>
                                        <p:tgtEl>
                                          <p:spTgt spid="35"/>
                                        </p:tgtEl>
                                      </p:cBhvr>
                                    </p:animEffect>
                                  </p:childTnLst>
                                </p:cTn>
                              </p:par>
                              <p:par>
                                <p:cTn id="114" presetID="2" presetClass="entr" presetSubtype="4" fill="hold" grpId="0" nodeType="withEffect">
                                  <p:stCondLst>
                                    <p:cond delay="0"/>
                                  </p:stCondLst>
                                  <p:childTnLst>
                                    <p:set>
                                      <p:cBhvr>
                                        <p:cTn id="110" dur="1" fill="hold">
                                          <p:stCondLst>
                                            <p:cond delay="0"/>
                                          </p:stCondLst>
                                        </p:cTn>
                                        <p:tgtEl>
                                          <p:spTgt spid="36"/>
                                        </p:tgtEl>
                                        <p:attrNameLst>
                                          <p:attrName>style.visibility</p:attrName>
                                        </p:attrNameLst>
                                      </p:cBhvr>
                                      <p:to>
                                        <p:strVal val="visible"/>
                                      </p:to>
                                    </p:set>
                                    <p:anim calcmode="lin" valueType="num">
                                      <p:cBhvr additive="base">
                                        <p:cTn id="111" dur="500" fill="hold"/>
                                        <p:tgtEl>
                                          <p:spTgt spid="36"/>
                                        </p:tgtEl>
                                        <p:attrNameLst>
                                          <p:attrName>ppt_x</p:attrName>
                                        </p:attrNameLst>
                                      </p:cBhvr>
                                      <p:tavLst>
                                        <p:tav tm="0">
                                          <p:val>
                                            <p:strVal val="#ppt_x"/>
                                          </p:val>
                                        </p:tav>
                                        <p:tav tm="100000">
                                          <p:val>
                                            <p:strVal val="#ppt_x"/>
                                          </p:val>
                                        </p:tav>
                                      </p:tavLst>
                                    </p:anim>
                                    <p:anim calcmode="lin" valueType="num">
                                      <p:cBhvr additive="base">
                                        <p:cTn id="112" dur="500" fill="hold"/>
                                        <p:tgtEl>
                                          <p:spTgt spid="36"/>
                                        </p:tgtEl>
                                        <p:attrNameLst>
                                          <p:attrName>ppt_y</p:attrName>
                                        </p:attrNameLst>
                                      </p:cBhvr>
                                      <p:tavLst>
                                        <p:tav tm="0">
                                          <p:val>
                                            <p:strVal val="#ppt_y+0.1"/>
                                          </p:val>
                                        </p:tav>
                                        <p:tav tm="100000">
                                          <p:val>
                                            <p:strVal val="#ppt_y"/>
                                          </p:val>
                                        </p:tav>
                                      </p:tavLst>
                                    </p:anim>
                                    <p:animEffect transition="in" filter="fade">
                                      <p:cBhvr>
                                        <p:cTn id="11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Traditional Messaging Systems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Built on standards such as AMQP (Advanced Message Queuing Protocol) - e.g. RabbitMQ</a:t>
            </a:r>
          </a:p>
        </p:txBody>
      </p:sp>
      <p:sp>
        <p:nvSpPr>
          <p:cNvPr id="11" name="a1u_n10"/>
          <p:cNvSpPr/>
          <p:nvPr/>
        </p:nvSpPr>
        <p:spPr>
          <a:xfrm>
            <a:off x="457200" y="1353312"/>
            <a:ext cx="365760" cy="365760"/>
          </a:xfrm>
          <a:prstGeom prst="roundRect">
            <a:avLst>
              <a:gd name="adj" fmla="val 20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t11"/>
          <p:cNvSpPr txBox="1"/>
          <p:nvPr/>
        </p:nvSpPr>
        <p:spPr>
          <a:xfrm>
            <a:off x="457200" y="1353312"/>
            <a:ext cx="365760" cy="365760"/>
          </a:xfrm>
          <a:prstGeom prst="rect">
            <a:avLst/>
          </a:prstGeom>
          <a:noFill/>
        </p:spPr>
        <p:txBody>
          <a:bodyPr wrap="square" lIns="0" tIns="0" rIns="0" bIns="0" anchor="ctr">
            <a:spAutoFit/>
          </a:bodyPr>
          <a:lstStyle/>
          <a:p>
            <a:pPr algn="ctr"/>
            <a:r>
              <a:rPr sz="1200" b="1">
                <a:solidFill>
                  <a:srgbClr val="FFFFFF"/>
                </a:solidFill>
                <a:latin typeface="Segoe UI"/>
              </a:rPr>
              <a:t>1</a:t>
            </a:r>
          </a:p>
        </p:txBody>
      </p:sp>
      <p:sp>
        <p:nvSpPr>
          <p:cNvPr id="13" name="a1u_it12"/>
          <p:cNvSpPr txBox="1"/>
          <p:nvPr/>
        </p:nvSpPr>
        <p:spPr>
          <a:xfrm>
            <a:off x="960120" y="1307592"/>
            <a:ext cx="4069080" cy="256032"/>
          </a:xfrm>
          <a:prstGeom prst="rect">
            <a:avLst/>
          </a:prstGeom>
          <a:noFill/>
        </p:spPr>
        <p:txBody>
          <a:bodyPr wrap="square" lIns="0" tIns="0" rIns="0" bIns="0" anchor="ctr">
            <a:spAutoFit/>
          </a:bodyPr>
          <a:lstStyle/>
          <a:p>
            <a:pPr algn="l"/>
            <a:r>
              <a:rPr sz="1100" b="1">
                <a:solidFill>
                  <a:srgbClr val="1C1917"/>
                </a:solidFill>
                <a:latin typeface="Segoe UI"/>
              </a:rPr>
              <a:t>Messages are stored in a queue</a:t>
            </a:r>
          </a:p>
        </p:txBody>
      </p:sp>
      <p:sp>
        <p:nvSpPr>
          <p:cNvPr id="14" name="a1u_id13"/>
          <p:cNvSpPr txBox="1"/>
          <p:nvPr/>
        </p:nvSpPr>
        <p:spPr>
          <a:xfrm>
            <a:off x="960120" y="1563624"/>
            <a:ext cx="4069080" cy="274320"/>
          </a:xfrm>
          <a:prstGeom prst="rect">
            <a:avLst/>
          </a:prstGeom>
          <a:noFill/>
        </p:spPr>
        <p:txBody>
          <a:bodyPr wrap="square" lIns="0" tIns="0" rIns="0" bIns="0" anchor="t">
            <a:spAutoFit/>
          </a:bodyPr>
          <a:lstStyle/>
          <a:p>
            <a:pPr algn="l"/>
            <a:r>
              <a:rPr sz="900" b="0">
                <a:solidFill>
                  <a:srgbClr val="78716C"/>
                </a:solidFill>
                <a:latin typeface="Segoe UI"/>
              </a:rPr>
              <a:t>the queue is the basic unit of storage</a:t>
            </a:r>
          </a:p>
        </p:txBody>
      </p:sp>
      <p:sp>
        <p:nvSpPr>
          <p:cNvPr id="15" name="a2u_n14"/>
          <p:cNvSpPr/>
          <p:nvPr/>
        </p:nvSpPr>
        <p:spPr>
          <a:xfrm>
            <a:off x="457200" y="1975103"/>
            <a:ext cx="365760" cy="365760"/>
          </a:xfrm>
          <a:prstGeom prst="roundRect">
            <a:avLst>
              <a:gd name="adj" fmla="val 20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_nt15"/>
          <p:cNvSpPr txBox="1"/>
          <p:nvPr/>
        </p:nvSpPr>
        <p:spPr>
          <a:xfrm>
            <a:off x="457200" y="1975103"/>
            <a:ext cx="365760" cy="365760"/>
          </a:xfrm>
          <a:prstGeom prst="rect">
            <a:avLst/>
          </a:prstGeom>
          <a:noFill/>
        </p:spPr>
        <p:txBody>
          <a:bodyPr wrap="square" lIns="0" tIns="0" rIns="0" bIns="0" anchor="ctr">
            <a:spAutoFit/>
          </a:bodyPr>
          <a:lstStyle/>
          <a:p>
            <a:pPr algn="ctr"/>
            <a:r>
              <a:rPr sz="1200" b="1">
                <a:solidFill>
                  <a:srgbClr val="FFFFFF"/>
                </a:solidFill>
                <a:latin typeface="Segoe UI"/>
              </a:rPr>
              <a:t>2</a:t>
            </a:r>
          </a:p>
        </p:txBody>
      </p:sp>
      <p:sp>
        <p:nvSpPr>
          <p:cNvPr id="17" name="a2u_it16"/>
          <p:cNvSpPr txBox="1"/>
          <p:nvPr/>
        </p:nvSpPr>
        <p:spPr>
          <a:xfrm>
            <a:off x="960120" y="1929384"/>
            <a:ext cx="4069080" cy="256032"/>
          </a:xfrm>
          <a:prstGeom prst="rect">
            <a:avLst/>
          </a:prstGeom>
          <a:noFill/>
        </p:spPr>
        <p:txBody>
          <a:bodyPr wrap="square" lIns="0" tIns="0" rIns="0" bIns="0" anchor="ctr">
            <a:spAutoFit/>
          </a:bodyPr>
          <a:lstStyle/>
          <a:p>
            <a:pPr algn="l"/>
            <a:r>
              <a:rPr sz="1100" b="1">
                <a:solidFill>
                  <a:srgbClr val="1C1917"/>
                </a:solidFill>
                <a:latin typeface="Segoe UI"/>
              </a:rPr>
              <a:t>Transient by default</a:t>
            </a:r>
          </a:p>
        </p:txBody>
      </p:sp>
      <p:sp>
        <p:nvSpPr>
          <p:cNvPr id="18" name="a2u_id17"/>
          <p:cNvSpPr txBox="1"/>
          <p:nvPr/>
        </p:nvSpPr>
        <p:spPr>
          <a:xfrm>
            <a:off x="960120" y="2185415"/>
            <a:ext cx="4069080" cy="274320"/>
          </a:xfrm>
          <a:prstGeom prst="rect">
            <a:avLst/>
          </a:prstGeom>
          <a:noFill/>
        </p:spPr>
        <p:txBody>
          <a:bodyPr wrap="square" lIns="0" tIns="0" rIns="0" bIns="0" anchor="t">
            <a:spAutoFit/>
          </a:bodyPr>
          <a:lstStyle/>
          <a:p>
            <a:pPr algn="l"/>
            <a:r>
              <a:rPr sz="900" b="0">
                <a:solidFill>
                  <a:srgbClr val="78716C"/>
                </a:solidFill>
                <a:latin typeface="Segoe UI"/>
              </a:rPr>
              <a:t>kept in memory; persisted to disk only if you ask</a:t>
            </a:r>
          </a:p>
        </p:txBody>
      </p:sp>
      <p:sp>
        <p:nvSpPr>
          <p:cNvPr id="19" name="a3u_n18"/>
          <p:cNvSpPr/>
          <p:nvPr/>
        </p:nvSpPr>
        <p:spPr>
          <a:xfrm>
            <a:off x="457200" y="2596896"/>
            <a:ext cx="365760" cy="365760"/>
          </a:xfrm>
          <a:prstGeom prst="roundRect">
            <a:avLst>
              <a:gd name="adj" fmla="val 20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3u_nt19"/>
          <p:cNvSpPr txBox="1"/>
          <p:nvPr/>
        </p:nvSpPr>
        <p:spPr>
          <a:xfrm>
            <a:off x="457200" y="2596896"/>
            <a:ext cx="365760" cy="365760"/>
          </a:xfrm>
          <a:prstGeom prst="rect">
            <a:avLst/>
          </a:prstGeom>
          <a:noFill/>
        </p:spPr>
        <p:txBody>
          <a:bodyPr wrap="square" lIns="0" tIns="0" rIns="0" bIns="0" anchor="ctr">
            <a:spAutoFit/>
          </a:bodyPr>
          <a:lstStyle/>
          <a:p>
            <a:pPr algn="ctr"/>
            <a:r>
              <a:rPr sz="1200" b="1">
                <a:solidFill>
                  <a:srgbClr val="FFFFFF"/>
                </a:solidFill>
                <a:latin typeface="Segoe UI"/>
              </a:rPr>
              <a:t>3</a:t>
            </a:r>
          </a:p>
        </p:txBody>
      </p:sp>
      <p:sp>
        <p:nvSpPr>
          <p:cNvPr id="21" name="a3u_it20"/>
          <p:cNvSpPr txBox="1"/>
          <p:nvPr/>
        </p:nvSpPr>
        <p:spPr>
          <a:xfrm>
            <a:off x="960120" y="2551176"/>
            <a:ext cx="4069080" cy="256032"/>
          </a:xfrm>
          <a:prstGeom prst="rect">
            <a:avLst/>
          </a:prstGeom>
          <a:noFill/>
        </p:spPr>
        <p:txBody>
          <a:bodyPr wrap="square" lIns="0" tIns="0" rIns="0" bIns="0" anchor="ctr">
            <a:spAutoFit/>
          </a:bodyPr>
          <a:lstStyle/>
          <a:p>
            <a:pPr algn="l"/>
            <a:r>
              <a:rPr sz="1100" b="1">
                <a:solidFill>
                  <a:srgbClr val="1C1917"/>
                </a:solidFill>
                <a:latin typeface="Segoe UI"/>
              </a:rPr>
              <a:t>The queue is changeable</a:t>
            </a:r>
          </a:p>
        </p:txBody>
      </p:sp>
      <p:sp>
        <p:nvSpPr>
          <p:cNvPr id="22" name="a3u_id21"/>
          <p:cNvSpPr txBox="1"/>
          <p:nvPr/>
        </p:nvSpPr>
        <p:spPr>
          <a:xfrm>
            <a:off x="960120" y="2807208"/>
            <a:ext cx="4069080" cy="274320"/>
          </a:xfrm>
          <a:prstGeom prst="rect">
            <a:avLst/>
          </a:prstGeom>
          <a:noFill/>
        </p:spPr>
        <p:txBody>
          <a:bodyPr wrap="square" lIns="0" tIns="0" rIns="0" bIns="0" anchor="t">
            <a:spAutoFit/>
          </a:bodyPr>
          <a:lstStyle/>
          <a:p>
            <a:pPr algn="l"/>
            <a:r>
              <a:rPr sz="900" b="0">
                <a:solidFill>
                  <a:srgbClr val="78716C"/>
                </a:solidFill>
                <a:latin typeface="Segoe UI"/>
              </a:rPr>
              <a:t>messages can be removed, rejected or expire while waiting</a:t>
            </a:r>
          </a:p>
        </p:txBody>
      </p:sp>
      <p:sp>
        <p:nvSpPr>
          <p:cNvPr id="23" name="a4u_n22"/>
          <p:cNvSpPr/>
          <p:nvPr/>
        </p:nvSpPr>
        <p:spPr>
          <a:xfrm>
            <a:off x="457200" y="3218688"/>
            <a:ext cx="365760" cy="365760"/>
          </a:xfrm>
          <a:prstGeom prst="roundRect">
            <a:avLst>
              <a:gd name="adj" fmla="val 20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4u_nt23"/>
          <p:cNvSpPr txBox="1"/>
          <p:nvPr/>
        </p:nvSpPr>
        <p:spPr>
          <a:xfrm>
            <a:off x="457200" y="3218688"/>
            <a:ext cx="365760" cy="365760"/>
          </a:xfrm>
          <a:prstGeom prst="rect">
            <a:avLst/>
          </a:prstGeom>
          <a:noFill/>
        </p:spPr>
        <p:txBody>
          <a:bodyPr wrap="square" lIns="0" tIns="0" rIns="0" bIns="0" anchor="ctr">
            <a:spAutoFit/>
          </a:bodyPr>
          <a:lstStyle/>
          <a:p>
            <a:pPr algn="ctr"/>
            <a:r>
              <a:rPr sz="1200" b="1">
                <a:solidFill>
                  <a:srgbClr val="FFFFFF"/>
                </a:solidFill>
                <a:latin typeface="Segoe UI"/>
              </a:rPr>
              <a:t>4</a:t>
            </a:r>
          </a:p>
        </p:txBody>
      </p:sp>
      <p:sp>
        <p:nvSpPr>
          <p:cNvPr id="25" name="a4u_it24"/>
          <p:cNvSpPr txBox="1"/>
          <p:nvPr/>
        </p:nvSpPr>
        <p:spPr>
          <a:xfrm>
            <a:off x="960120" y="3172968"/>
            <a:ext cx="4069080" cy="256032"/>
          </a:xfrm>
          <a:prstGeom prst="rect">
            <a:avLst/>
          </a:prstGeom>
          <a:noFill/>
        </p:spPr>
        <p:txBody>
          <a:bodyPr wrap="square" lIns="0" tIns="0" rIns="0" bIns="0" anchor="ctr">
            <a:spAutoFit/>
          </a:bodyPr>
          <a:lstStyle/>
          <a:p>
            <a:pPr algn="l"/>
            <a:r>
              <a:rPr sz="1100" b="1">
                <a:solidFill>
                  <a:srgbClr val="1C1917"/>
                </a:solidFill>
                <a:latin typeface="Segoe UI"/>
              </a:rPr>
              <a:t>Deleted once consumed</a:t>
            </a:r>
          </a:p>
        </p:txBody>
      </p:sp>
      <p:sp>
        <p:nvSpPr>
          <p:cNvPr id="26" name="a4u_id25"/>
          <p:cNvSpPr txBox="1"/>
          <p:nvPr/>
        </p:nvSpPr>
        <p:spPr>
          <a:xfrm>
            <a:off x="960120" y="3429000"/>
            <a:ext cx="4069080" cy="274320"/>
          </a:xfrm>
          <a:prstGeom prst="rect">
            <a:avLst/>
          </a:prstGeom>
          <a:noFill/>
        </p:spPr>
        <p:txBody>
          <a:bodyPr wrap="square" lIns="0" tIns="0" rIns="0" bIns="0" anchor="t">
            <a:spAutoFit/>
          </a:bodyPr>
          <a:lstStyle/>
          <a:p>
            <a:pPr algn="l"/>
            <a:r>
              <a:rPr sz="900" b="0">
                <a:solidFill>
                  <a:srgbClr val="78716C"/>
                </a:solidFill>
                <a:latin typeface="Segoe UI"/>
              </a:rPr>
              <a:t>after a consumer acknowledges it, the message is gone</a:t>
            </a:r>
          </a:p>
        </p:txBody>
      </p:sp>
      <p:sp>
        <p:nvSpPr>
          <p:cNvPr id="27" name="a5u_card26"/>
          <p:cNvSpPr/>
          <p:nvPr/>
        </p:nvSpPr>
        <p:spPr>
          <a:xfrm>
            <a:off x="5303520" y="1280160"/>
            <a:ext cx="3383280" cy="2331720"/>
          </a:xfrm>
          <a:prstGeom prst="roundRect">
            <a:avLst>
              <a:gd name="adj" fmla="val 470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5u_hh27"/>
          <p:cNvSpPr txBox="1"/>
          <p:nvPr/>
        </p:nvSpPr>
        <p:spPr>
          <a:xfrm>
            <a:off x="5486400" y="1371600"/>
            <a:ext cx="3017520" cy="219456"/>
          </a:xfrm>
          <a:prstGeom prst="rect">
            <a:avLst/>
          </a:prstGeom>
          <a:noFill/>
        </p:spPr>
        <p:txBody>
          <a:bodyPr wrap="square" lIns="0" tIns="0" rIns="0" bIns="0" anchor="ctr">
            <a:spAutoFit/>
          </a:bodyPr>
          <a:lstStyle/>
          <a:p>
            <a:pPr algn="l"/>
            <a:r>
              <a:rPr sz="850" b="1">
                <a:solidFill>
                  <a:srgbClr val="A16207"/>
                </a:solidFill>
                <a:latin typeface="Segoe UI"/>
              </a:rPr>
              <a:t>A QUEUE, BEFORE AND AFTER</a:t>
            </a:r>
          </a:p>
        </p:txBody>
      </p:sp>
      <p:sp>
        <p:nvSpPr>
          <p:cNvPr id="29" name="a5ud100_lb28"/>
          <p:cNvSpPr txBox="1"/>
          <p:nvPr/>
        </p:nvSpPr>
        <p:spPr>
          <a:xfrm>
            <a:off x="5486400" y="1691640"/>
            <a:ext cx="3017520" cy="201168"/>
          </a:xfrm>
          <a:prstGeom prst="rect">
            <a:avLst/>
          </a:prstGeom>
          <a:noFill/>
        </p:spPr>
        <p:txBody>
          <a:bodyPr wrap="square" lIns="0" tIns="0" rIns="0" bIns="0" anchor="ctr">
            <a:spAutoFit/>
          </a:bodyPr>
          <a:lstStyle/>
          <a:p>
            <a:pPr algn="l"/>
            <a:r>
              <a:rPr sz="800" b="1">
                <a:solidFill>
                  <a:srgbClr val="78716C"/>
                </a:solidFill>
                <a:latin typeface="Segoe UI"/>
              </a:rPr>
              <a:t>before</a:t>
            </a:r>
          </a:p>
        </p:txBody>
      </p:sp>
      <p:sp>
        <p:nvSpPr>
          <p:cNvPr id="30" name="a5ud100_cell29"/>
          <p:cNvSpPr/>
          <p:nvPr/>
        </p:nvSpPr>
        <p:spPr>
          <a:xfrm>
            <a:off x="5486400" y="1920240"/>
            <a:ext cx="566928" cy="365760"/>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5ud100_cellt30"/>
          <p:cNvSpPr txBox="1"/>
          <p:nvPr/>
        </p:nvSpPr>
        <p:spPr>
          <a:xfrm>
            <a:off x="5486400" y="1920240"/>
            <a:ext cx="566928" cy="365760"/>
          </a:xfrm>
          <a:prstGeom prst="rect">
            <a:avLst/>
          </a:prstGeom>
          <a:noFill/>
        </p:spPr>
        <p:txBody>
          <a:bodyPr wrap="square" lIns="0" tIns="0" rIns="0" bIns="0" anchor="ctr">
            <a:spAutoFit/>
          </a:bodyPr>
          <a:lstStyle/>
          <a:p>
            <a:pPr algn="ctr"/>
            <a:r>
              <a:rPr sz="1000" b="1">
                <a:solidFill>
                  <a:srgbClr val="A16207"/>
                </a:solidFill>
                <a:latin typeface="Consolas"/>
              </a:rPr>
              <a:t>m1</a:t>
            </a:r>
          </a:p>
        </p:txBody>
      </p:sp>
      <p:sp>
        <p:nvSpPr>
          <p:cNvPr id="32" name="a5ud100_cell31"/>
          <p:cNvSpPr/>
          <p:nvPr/>
        </p:nvSpPr>
        <p:spPr>
          <a:xfrm>
            <a:off x="6053328" y="1920240"/>
            <a:ext cx="566928" cy="365760"/>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5ud100_cellt32"/>
          <p:cNvSpPr txBox="1"/>
          <p:nvPr/>
        </p:nvSpPr>
        <p:spPr>
          <a:xfrm>
            <a:off x="6053328" y="1920240"/>
            <a:ext cx="566928" cy="365760"/>
          </a:xfrm>
          <a:prstGeom prst="rect">
            <a:avLst/>
          </a:prstGeom>
          <a:noFill/>
        </p:spPr>
        <p:txBody>
          <a:bodyPr wrap="square" lIns="0" tIns="0" rIns="0" bIns="0" anchor="ctr">
            <a:spAutoFit/>
          </a:bodyPr>
          <a:lstStyle/>
          <a:p>
            <a:pPr algn="ctr"/>
            <a:r>
              <a:rPr sz="1000" b="1">
                <a:solidFill>
                  <a:srgbClr val="A16207"/>
                </a:solidFill>
                <a:latin typeface="Consolas"/>
              </a:rPr>
              <a:t>m2</a:t>
            </a:r>
          </a:p>
        </p:txBody>
      </p:sp>
      <p:sp>
        <p:nvSpPr>
          <p:cNvPr id="34" name="a5ud100_cell33"/>
          <p:cNvSpPr/>
          <p:nvPr/>
        </p:nvSpPr>
        <p:spPr>
          <a:xfrm>
            <a:off x="6620256" y="1920240"/>
            <a:ext cx="566928" cy="365760"/>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5ud100_cellt34"/>
          <p:cNvSpPr txBox="1"/>
          <p:nvPr/>
        </p:nvSpPr>
        <p:spPr>
          <a:xfrm>
            <a:off x="6620256" y="1920240"/>
            <a:ext cx="566928" cy="365760"/>
          </a:xfrm>
          <a:prstGeom prst="rect">
            <a:avLst/>
          </a:prstGeom>
          <a:noFill/>
        </p:spPr>
        <p:txBody>
          <a:bodyPr wrap="square" lIns="0" tIns="0" rIns="0" bIns="0" anchor="ctr">
            <a:spAutoFit/>
          </a:bodyPr>
          <a:lstStyle/>
          <a:p>
            <a:pPr algn="ctr"/>
            <a:r>
              <a:rPr sz="1000" b="1">
                <a:solidFill>
                  <a:srgbClr val="A16207"/>
                </a:solidFill>
                <a:latin typeface="Consolas"/>
              </a:rPr>
              <a:t>m3</a:t>
            </a:r>
          </a:p>
        </p:txBody>
      </p:sp>
      <p:sp>
        <p:nvSpPr>
          <p:cNvPr id="36" name="a5ud150_nd35"/>
          <p:cNvSpPr/>
          <p:nvPr/>
        </p:nvSpPr>
        <p:spPr>
          <a:xfrm>
            <a:off x="7406640" y="1874519"/>
            <a:ext cx="1143000" cy="457200"/>
          </a:xfrm>
          <a:prstGeom prst="roundRect">
            <a:avLst>
              <a:gd name="adj" fmla="val 16000"/>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5ud150_ndt36"/>
          <p:cNvSpPr txBox="1"/>
          <p:nvPr/>
        </p:nvSpPr>
        <p:spPr>
          <a:xfrm>
            <a:off x="7452360" y="1874519"/>
            <a:ext cx="1051560" cy="457200"/>
          </a:xfrm>
          <a:prstGeom prst="rect">
            <a:avLst/>
          </a:prstGeom>
          <a:noFill/>
        </p:spPr>
        <p:txBody>
          <a:bodyPr wrap="square" lIns="0" tIns="0" rIns="0" bIns="0" anchor="ctr">
            <a:spAutoFit/>
          </a:bodyPr>
          <a:lstStyle/>
          <a:p>
            <a:pPr algn="ctr"/>
            <a:r>
              <a:rPr sz="850" b="1">
                <a:solidFill>
                  <a:srgbClr val="1C1917"/>
                </a:solidFill>
                <a:latin typeface="Segoe UI"/>
              </a:rPr>
              <a:t>Consumer</a:t>
            </a:r>
          </a:p>
        </p:txBody>
      </p:sp>
      <p:cxnSp>
        <p:nvCxnSpPr>
          <p:cNvPr id="38" name="a5ud150_ar37"/>
          <p:cNvCxnSpPr/>
          <p:nvPr/>
        </p:nvCxnSpPr>
        <p:spPr>
          <a:xfrm>
            <a:off x="7205472" y="2103120"/>
            <a:ext cx="173736" cy="0"/>
          </a:xfrm>
          <a:prstGeom prst="line">
            <a:avLst/>
          </a:prstGeom>
          <a:ln w="1587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a6u_lb38"/>
          <p:cNvSpPr txBox="1"/>
          <p:nvPr/>
        </p:nvSpPr>
        <p:spPr>
          <a:xfrm>
            <a:off x="5486400" y="2514600"/>
            <a:ext cx="3017520" cy="201168"/>
          </a:xfrm>
          <a:prstGeom prst="rect">
            <a:avLst/>
          </a:prstGeom>
          <a:noFill/>
        </p:spPr>
        <p:txBody>
          <a:bodyPr wrap="square" lIns="0" tIns="0" rIns="0" bIns="0" anchor="ctr">
            <a:spAutoFit/>
          </a:bodyPr>
          <a:lstStyle/>
          <a:p>
            <a:pPr algn="l"/>
            <a:r>
              <a:rPr sz="800" b="1">
                <a:solidFill>
                  <a:srgbClr val="78716C"/>
                </a:solidFill>
                <a:latin typeface="Segoe UI"/>
              </a:rPr>
              <a:t>after the consumer reads m1</a:t>
            </a:r>
          </a:p>
        </p:txBody>
      </p:sp>
      <p:sp>
        <p:nvSpPr>
          <p:cNvPr id="40" name="a6u_cell39"/>
          <p:cNvSpPr/>
          <p:nvPr/>
        </p:nvSpPr>
        <p:spPr>
          <a:xfrm>
            <a:off x="5486400" y="2743200"/>
            <a:ext cx="566928" cy="365760"/>
          </a:xfrm>
          <a:prstGeom prst="rect">
            <a:avLst/>
          </a:prstGeom>
          <a:solidFill>
            <a:srgbClr val="F7F6F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6u_cellt40"/>
          <p:cNvSpPr txBox="1"/>
          <p:nvPr/>
        </p:nvSpPr>
        <p:spPr>
          <a:xfrm>
            <a:off x="5486400" y="2743200"/>
            <a:ext cx="566928" cy="365760"/>
          </a:xfrm>
          <a:prstGeom prst="rect">
            <a:avLst/>
          </a:prstGeom>
          <a:noFill/>
        </p:spPr>
        <p:txBody>
          <a:bodyPr wrap="square" lIns="0" tIns="0" rIns="0" bIns="0" anchor="ctr">
            <a:spAutoFit/>
          </a:bodyPr>
          <a:lstStyle/>
          <a:p>
            <a:pPr algn="ctr"/>
            <a:r>
              <a:rPr sz="1000" b="1">
                <a:solidFill>
                  <a:srgbClr val="D6D3D1"/>
                </a:solidFill>
                <a:latin typeface="Consolas"/>
              </a:rPr>
              <a:t>m1</a:t>
            </a:r>
          </a:p>
        </p:txBody>
      </p:sp>
      <p:sp>
        <p:nvSpPr>
          <p:cNvPr id="42" name="a6u_cell41"/>
          <p:cNvSpPr/>
          <p:nvPr/>
        </p:nvSpPr>
        <p:spPr>
          <a:xfrm>
            <a:off x="6053328" y="2743200"/>
            <a:ext cx="566928" cy="365760"/>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6u_cellt42"/>
          <p:cNvSpPr txBox="1"/>
          <p:nvPr/>
        </p:nvSpPr>
        <p:spPr>
          <a:xfrm>
            <a:off x="6053328" y="2743200"/>
            <a:ext cx="566928" cy="365760"/>
          </a:xfrm>
          <a:prstGeom prst="rect">
            <a:avLst/>
          </a:prstGeom>
          <a:noFill/>
        </p:spPr>
        <p:txBody>
          <a:bodyPr wrap="square" lIns="0" tIns="0" rIns="0" bIns="0" anchor="ctr">
            <a:spAutoFit/>
          </a:bodyPr>
          <a:lstStyle/>
          <a:p>
            <a:pPr algn="ctr"/>
            <a:r>
              <a:rPr sz="1000" b="1">
                <a:solidFill>
                  <a:srgbClr val="A16207"/>
                </a:solidFill>
                <a:latin typeface="Consolas"/>
              </a:rPr>
              <a:t>m2</a:t>
            </a:r>
          </a:p>
        </p:txBody>
      </p:sp>
      <p:sp>
        <p:nvSpPr>
          <p:cNvPr id="44" name="a6u_cell43"/>
          <p:cNvSpPr/>
          <p:nvPr/>
        </p:nvSpPr>
        <p:spPr>
          <a:xfrm>
            <a:off x="6620256" y="2743200"/>
            <a:ext cx="566928" cy="365760"/>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6u_cellt44"/>
          <p:cNvSpPr txBox="1"/>
          <p:nvPr/>
        </p:nvSpPr>
        <p:spPr>
          <a:xfrm>
            <a:off x="6620256" y="2743200"/>
            <a:ext cx="566928" cy="365760"/>
          </a:xfrm>
          <a:prstGeom prst="rect">
            <a:avLst/>
          </a:prstGeom>
          <a:noFill/>
        </p:spPr>
        <p:txBody>
          <a:bodyPr wrap="square" lIns="0" tIns="0" rIns="0" bIns="0" anchor="ctr">
            <a:spAutoFit/>
          </a:bodyPr>
          <a:lstStyle/>
          <a:p>
            <a:pPr algn="ctr"/>
            <a:r>
              <a:rPr sz="1000" b="1">
                <a:solidFill>
                  <a:srgbClr val="A16207"/>
                </a:solidFill>
                <a:latin typeface="Consolas"/>
              </a:rPr>
              <a:t>m3</a:t>
            </a:r>
          </a:p>
        </p:txBody>
      </p:sp>
      <p:sp>
        <p:nvSpPr>
          <p:cNvPr id="46" name="a6ud100_lb45"/>
          <p:cNvSpPr txBox="1"/>
          <p:nvPr/>
        </p:nvSpPr>
        <p:spPr>
          <a:xfrm>
            <a:off x="7269480" y="2743200"/>
            <a:ext cx="1325880" cy="365760"/>
          </a:xfrm>
          <a:prstGeom prst="rect">
            <a:avLst/>
          </a:prstGeom>
          <a:noFill/>
        </p:spPr>
        <p:txBody>
          <a:bodyPr wrap="square" lIns="0" tIns="0" rIns="0" bIns="0" anchor="ctr">
            <a:spAutoFit/>
          </a:bodyPr>
          <a:lstStyle/>
          <a:p>
            <a:pPr algn="l"/>
            <a:r>
              <a:rPr sz="850" b="1">
                <a:solidFill>
                  <a:srgbClr val="E11D48"/>
                </a:solidFill>
                <a:latin typeface="Segoe UI"/>
              </a:rPr>
              <a:t>m1 is gone</a:t>
            </a:r>
          </a:p>
        </p:txBody>
      </p:sp>
      <p:sp>
        <p:nvSpPr>
          <p:cNvPr id="47" name="a7u_nb46"/>
          <p:cNvSpPr/>
          <p:nvPr/>
        </p:nvSpPr>
        <p:spPr>
          <a:xfrm>
            <a:off x="457200" y="3886200"/>
            <a:ext cx="8229600" cy="548640"/>
          </a:xfrm>
          <a:prstGeom prst="roundRect">
            <a:avLst>
              <a:gd name="adj" fmla="val 13333"/>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7u_nacc47"/>
          <p:cNvSpPr/>
          <p:nvPr/>
        </p:nvSpPr>
        <p:spPr>
          <a:xfrm>
            <a:off x="457200" y="3886200"/>
            <a:ext cx="54864" cy="54864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7u_nt48"/>
          <p:cNvSpPr txBox="1"/>
          <p:nvPr/>
        </p:nvSpPr>
        <p:spPr>
          <a:xfrm>
            <a:off x="658368" y="3886200"/>
            <a:ext cx="7827264" cy="548640"/>
          </a:xfrm>
          <a:prstGeom prst="rect">
            <a:avLst/>
          </a:prstGeom>
          <a:noFill/>
        </p:spPr>
        <p:txBody>
          <a:bodyPr wrap="square" lIns="0" tIns="0" rIns="0" bIns="0" anchor="ctr">
            <a:spAutoFit/>
          </a:bodyPr>
          <a:lstStyle/>
          <a:p>
            <a:pPr algn="l"/>
            <a:r>
              <a:rPr sz="900" b="1">
                <a:solidFill>
                  <a:srgbClr val="A16207"/>
                </a:solidFill>
                <a:latin typeface="Segoe UI"/>
              </a:rPr>
              <a:t>i  </a:t>
            </a:r>
            <a:r>
              <a:rPr sz="900" b="0">
                <a:solidFill>
                  <a:srgbClr val="44403C"/>
                </a:solidFill>
                <a:latin typeface="Segoe UI"/>
              </a:rPr>
              <a:t>AMQP began at JPMorgan Chase in 2003 and became an OASIS standard in 2012. Other brokers that speak it include Apache ActiveMQ and Azure Service Bus.</a:t>
            </a:r>
          </a:p>
        </p:txBody>
      </p:sp>
      <p:sp>
        <p:nvSpPr>
          <p:cNvPr id="50" name="ft4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35</a:t>
            </a:r>
          </a:p>
        </p:txBody>
      </p:sp>
      <p:sp>
        <p:nvSpPr>
          <p:cNvPr id="51" name="ft5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ft5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53" name="ft5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31" presetID="2" presetClass="entr" presetSubtype="4"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ppt_y+0.1"/>
                                          </p:val>
                                        </p:tav>
                                        <p:tav tm="100000">
                                          <p:val>
                                            <p:strVal val="#ppt_y"/>
                                          </p:val>
                                        </p:tav>
                                      </p:tavLst>
                                    </p:anim>
                                    <p:animEffect transition="in" filter="fade">
                                      <p:cBhvr>
                                        <p:cTn id="30" dur="500"/>
                                        <p:tgtEl>
                                          <p:spTgt spid="15"/>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ppt_y+0.1"/>
                                          </p:val>
                                        </p:tav>
                                        <p:tav tm="100000">
                                          <p:val>
                                            <p:strVal val="#ppt_y"/>
                                          </p:val>
                                        </p:tav>
                                      </p:tavLst>
                                    </p:anim>
                                    <p:animEffect transition="in" filter="fade">
                                      <p:cBhvr>
                                        <p:cTn id="40" dur="500"/>
                                        <p:tgtEl>
                                          <p:spTgt spid="17"/>
                                        </p:tgtEl>
                                      </p:cBhvr>
                                    </p:animEffect>
                                  </p:childTnLst>
                                </p:cTn>
                              </p:par>
                              <p:par>
                                <p:cTn id="46" presetID="2" presetClass="entr" presetSubtype="4"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ppt_y+0.1"/>
                                          </p:val>
                                        </p:tav>
                                        <p:tav tm="100000">
                                          <p:val>
                                            <p:strVal val="#ppt_y"/>
                                          </p:val>
                                        </p:tav>
                                      </p:tavLst>
                                    </p:anim>
                                    <p:animEffect transition="in" filter="fade">
                                      <p:cBhvr>
                                        <p:cTn id="45"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53" presetID="2" presetClass="entr" presetSubtype="4"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ppt_x"/>
                                          </p:val>
                                        </p:tav>
                                        <p:tav tm="100000">
                                          <p:val>
                                            <p:strVal val="#ppt_x"/>
                                          </p:val>
                                        </p:tav>
                                      </p:tavLst>
                                    </p:anim>
                                    <p:anim calcmode="lin" valueType="num">
                                      <p:cBhvr additive="base">
                                        <p:cTn id="51" dur="500" fill="hold"/>
                                        <p:tgtEl>
                                          <p:spTgt spid="19"/>
                                        </p:tgtEl>
                                        <p:attrNameLst>
                                          <p:attrName>ppt_y</p:attrName>
                                        </p:attrNameLst>
                                      </p:cBhvr>
                                      <p:tavLst>
                                        <p:tav tm="0">
                                          <p:val>
                                            <p:strVal val="#ppt_y+0.1"/>
                                          </p:val>
                                        </p:tav>
                                        <p:tav tm="100000">
                                          <p:val>
                                            <p:strVal val="#ppt_y"/>
                                          </p:val>
                                        </p:tav>
                                      </p:tavLst>
                                    </p:anim>
                                    <p:animEffect transition="in" filter="fade">
                                      <p:cBhvr>
                                        <p:cTn id="52" dur="500"/>
                                        <p:tgtEl>
                                          <p:spTgt spid="19"/>
                                        </p:tgtEl>
                                      </p:cBhvr>
                                    </p:animEffect>
                                  </p:childTnLst>
                                </p:cTn>
                              </p:par>
                              <p:par>
                                <p:cTn id="58" presetID="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ppt_y+0.1"/>
                                          </p:val>
                                        </p:tav>
                                        <p:tav tm="100000">
                                          <p:val>
                                            <p:strVal val="#ppt_y"/>
                                          </p:val>
                                        </p:tav>
                                      </p:tavLst>
                                    </p:anim>
                                    <p:animEffect transition="in" filter="fade">
                                      <p:cBhvr>
                                        <p:cTn id="57" dur="500"/>
                                        <p:tgtEl>
                                          <p:spTgt spid="20"/>
                                        </p:tgtEl>
                                      </p:cBhvr>
                                    </p:animEffect>
                                  </p:childTnLst>
                                </p:cTn>
                              </p:par>
                              <p:par>
                                <p:cTn id="63" presetID="2" presetClass="entr" presetSubtype="4"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additive="base">
                                        <p:cTn id="60" dur="500" fill="hold"/>
                                        <p:tgtEl>
                                          <p:spTgt spid="21"/>
                                        </p:tgtEl>
                                        <p:attrNameLst>
                                          <p:attrName>ppt_x</p:attrName>
                                        </p:attrNameLst>
                                      </p:cBhvr>
                                      <p:tavLst>
                                        <p:tav tm="0">
                                          <p:val>
                                            <p:strVal val="#ppt_x"/>
                                          </p:val>
                                        </p:tav>
                                        <p:tav tm="100000">
                                          <p:val>
                                            <p:strVal val="#ppt_x"/>
                                          </p:val>
                                        </p:tav>
                                      </p:tavLst>
                                    </p:anim>
                                    <p:anim calcmode="lin" valueType="num">
                                      <p:cBhvr additive="base">
                                        <p:cTn id="61" dur="500" fill="hold"/>
                                        <p:tgtEl>
                                          <p:spTgt spid="21"/>
                                        </p:tgtEl>
                                        <p:attrNameLst>
                                          <p:attrName>ppt_y</p:attrName>
                                        </p:attrNameLst>
                                      </p:cBhvr>
                                      <p:tavLst>
                                        <p:tav tm="0">
                                          <p:val>
                                            <p:strVal val="#ppt_y+0.1"/>
                                          </p:val>
                                        </p:tav>
                                        <p:tav tm="100000">
                                          <p:val>
                                            <p:strVal val="#ppt_y"/>
                                          </p:val>
                                        </p:tav>
                                      </p:tavLst>
                                    </p:anim>
                                    <p:animEffect transition="in" filter="fade">
                                      <p:cBhvr>
                                        <p:cTn id="62" dur="500"/>
                                        <p:tgtEl>
                                          <p:spTgt spid="21"/>
                                        </p:tgtEl>
                                      </p:cBhvr>
                                    </p:animEffect>
                                  </p:childTnLst>
                                </p:cTn>
                              </p:par>
                              <p:par>
                                <p:cTn id="68" presetID="2" presetClass="entr" presetSubtype="4"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 calcmode="lin" valueType="num">
                                      <p:cBhvr additive="base">
                                        <p:cTn id="65" dur="500" fill="hold"/>
                                        <p:tgtEl>
                                          <p:spTgt spid="22"/>
                                        </p:tgtEl>
                                        <p:attrNameLst>
                                          <p:attrName>ppt_x</p:attrName>
                                        </p:attrNameLst>
                                      </p:cBhvr>
                                      <p:tavLst>
                                        <p:tav tm="0">
                                          <p:val>
                                            <p:strVal val="#ppt_x"/>
                                          </p:val>
                                        </p:tav>
                                        <p:tav tm="100000">
                                          <p:val>
                                            <p:strVal val="#ppt_x"/>
                                          </p:val>
                                        </p:tav>
                                      </p:tavLst>
                                    </p:anim>
                                    <p:anim calcmode="lin" valueType="num">
                                      <p:cBhvr additive="base">
                                        <p:cTn id="66" dur="500" fill="hold"/>
                                        <p:tgtEl>
                                          <p:spTgt spid="22"/>
                                        </p:tgtEl>
                                        <p:attrNameLst>
                                          <p:attrName>ppt_y</p:attrName>
                                        </p:attrNameLst>
                                      </p:cBhvr>
                                      <p:tavLst>
                                        <p:tav tm="0">
                                          <p:val>
                                            <p:strVal val="#ppt_y+0.1"/>
                                          </p:val>
                                        </p:tav>
                                        <p:tav tm="100000">
                                          <p:val>
                                            <p:strVal val="#ppt_y"/>
                                          </p:val>
                                        </p:tav>
                                      </p:tavLst>
                                    </p:anim>
                                    <p:animEffect transition="in" filter="fade">
                                      <p:cBhvr>
                                        <p:cTn id="67"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5" presetID="2" presetClass="entr" presetSubtype="4"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500" fill="hold"/>
                                        <p:tgtEl>
                                          <p:spTgt spid="23"/>
                                        </p:tgtEl>
                                        <p:attrNameLst>
                                          <p:attrName>ppt_x</p:attrName>
                                        </p:attrNameLst>
                                      </p:cBhvr>
                                      <p:tavLst>
                                        <p:tav tm="0">
                                          <p:val>
                                            <p:strVal val="#ppt_x"/>
                                          </p:val>
                                        </p:tav>
                                        <p:tav tm="100000">
                                          <p:val>
                                            <p:strVal val="#ppt_x"/>
                                          </p:val>
                                        </p:tav>
                                      </p:tavLst>
                                    </p:anim>
                                    <p:anim calcmode="lin" valueType="num">
                                      <p:cBhvr additive="base">
                                        <p:cTn id="73" dur="500" fill="hold"/>
                                        <p:tgtEl>
                                          <p:spTgt spid="23"/>
                                        </p:tgtEl>
                                        <p:attrNameLst>
                                          <p:attrName>ppt_y</p:attrName>
                                        </p:attrNameLst>
                                      </p:cBhvr>
                                      <p:tavLst>
                                        <p:tav tm="0">
                                          <p:val>
                                            <p:strVal val="#ppt_y+0.1"/>
                                          </p:val>
                                        </p:tav>
                                        <p:tav tm="100000">
                                          <p:val>
                                            <p:strVal val="#ppt_y"/>
                                          </p:val>
                                        </p:tav>
                                      </p:tavLst>
                                    </p:anim>
                                    <p:animEffect transition="in" filter="fade">
                                      <p:cBhvr>
                                        <p:cTn id="74" dur="500"/>
                                        <p:tgtEl>
                                          <p:spTgt spid="23"/>
                                        </p:tgtEl>
                                      </p:cBhvr>
                                    </p:animEffect>
                                  </p:childTnLst>
                                </p:cTn>
                              </p:par>
                              <p:par>
                                <p:cTn id="80" presetID="2" presetClass="entr" presetSubtype="4"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500" fill="hold"/>
                                        <p:tgtEl>
                                          <p:spTgt spid="24"/>
                                        </p:tgtEl>
                                        <p:attrNameLst>
                                          <p:attrName>ppt_x</p:attrName>
                                        </p:attrNameLst>
                                      </p:cBhvr>
                                      <p:tavLst>
                                        <p:tav tm="0">
                                          <p:val>
                                            <p:strVal val="#ppt_x"/>
                                          </p:val>
                                        </p:tav>
                                        <p:tav tm="100000">
                                          <p:val>
                                            <p:strVal val="#ppt_x"/>
                                          </p:val>
                                        </p:tav>
                                      </p:tavLst>
                                    </p:anim>
                                    <p:anim calcmode="lin" valueType="num">
                                      <p:cBhvr additive="base">
                                        <p:cTn id="78" dur="500" fill="hold"/>
                                        <p:tgtEl>
                                          <p:spTgt spid="24"/>
                                        </p:tgtEl>
                                        <p:attrNameLst>
                                          <p:attrName>ppt_y</p:attrName>
                                        </p:attrNameLst>
                                      </p:cBhvr>
                                      <p:tavLst>
                                        <p:tav tm="0">
                                          <p:val>
                                            <p:strVal val="#ppt_y+0.1"/>
                                          </p:val>
                                        </p:tav>
                                        <p:tav tm="100000">
                                          <p:val>
                                            <p:strVal val="#ppt_y"/>
                                          </p:val>
                                        </p:tav>
                                      </p:tavLst>
                                    </p:anim>
                                    <p:animEffect transition="in" filter="fade">
                                      <p:cBhvr>
                                        <p:cTn id="79" dur="500"/>
                                        <p:tgtEl>
                                          <p:spTgt spid="24"/>
                                        </p:tgtEl>
                                      </p:cBhvr>
                                    </p:animEffect>
                                  </p:childTnLst>
                                </p:cTn>
                              </p:par>
                              <p:par>
                                <p:cTn id="85" presetID="2" presetClass="entr" presetSubtype="4"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ppt_y+0.1"/>
                                          </p:val>
                                        </p:tav>
                                        <p:tav tm="100000">
                                          <p:val>
                                            <p:strVal val="#ppt_y"/>
                                          </p:val>
                                        </p:tav>
                                      </p:tavLst>
                                    </p:anim>
                                    <p:animEffect transition="in" filter="fade">
                                      <p:cBhvr>
                                        <p:cTn id="84" dur="500"/>
                                        <p:tgtEl>
                                          <p:spTgt spid="25"/>
                                        </p:tgtEl>
                                      </p:cBhvr>
                                    </p:animEffect>
                                  </p:childTnLst>
                                </p:cTn>
                              </p:par>
                              <p:par>
                                <p:cTn id="90" presetID="2" presetClass="entr" presetSubtype="4"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ppt_y+0.1"/>
                                          </p:val>
                                        </p:tav>
                                        <p:tav tm="100000">
                                          <p:val>
                                            <p:strVal val="#ppt_y"/>
                                          </p:val>
                                        </p:tav>
                                      </p:tavLst>
                                    </p:anim>
                                    <p:animEffect transition="in" filter="fade">
                                      <p:cBhvr>
                                        <p:cTn id="89" dur="500"/>
                                        <p:tgtEl>
                                          <p:spTgt spid="26"/>
                                        </p:tgtEl>
                                      </p:cBhvr>
                                    </p:animEffect>
                                  </p:childTnLst>
                                </p:cTn>
                              </p:par>
                            </p:childTnLst>
                          </p:cTn>
                        </p:par>
                      </p:childTnLst>
                    </p:cTn>
                  </p:par>
                  <p:par>
                    <p:cTn id="91" fill="hold">
                      <p:stCondLst>
                        <p:cond delay="indefinite"/>
                      </p:stCondLst>
                      <p:childTnLst>
                        <p:par>
                          <p:cTn id="92" fill="hold">
                            <p:stCondLst>
                              <p:cond delay="0"/>
                            </p:stCondLst>
                            <p:childTnLst>
                              <p:par>
                                <p:cTn id="97" presetID="2" presetClass="entr" presetSubtype="4" fill="hold" grpId="0" nodeType="clickEffect">
                                  <p:stCondLst>
                                    <p:cond delay="0"/>
                                  </p:stCondLst>
                                  <p:childTnLst>
                                    <p:set>
                                      <p:cBhvr>
                                        <p:cTn id="93" dur="1" fill="hold">
                                          <p:stCondLst>
                                            <p:cond delay="0"/>
                                          </p:stCondLst>
                                        </p:cTn>
                                        <p:tgtEl>
                                          <p:spTgt spid="27"/>
                                        </p:tgtEl>
                                        <p:attrNameLst>
                                          <p:attrName>style.visibility</p:attrName>
                                        </p:attrNameLst>
                                      </p:cBhvr>
                                      <p:to>
                                        <p:strVal val="visible"/>
                                      </p:to>
                                    </p:set>
                                    <p:anim calcmode="lin" valueType="num">
                                      <p:cBhvr additive="base">
                                        <p:cTn id="94" dur="500" fill="hold"/>
                                        <p:tgtEl>
                                          <p:spTgt spid="27"/>
                                        </p:tgtEl>
                                        <p:attrNameLst>
                                          <p:attrName>ppt_x</p:attrName>
                                        </p:attrNameLst>
                                      </p:cBhvr>
                                      <p:tavLst>
                                        <p:tav tm="0">
                                          <p:val>
                                            <p:strVal val="#ppt_x"/>
                                          </p:val>
                                        </p:tav>
                                        <p:tav tm="100000">
                                          <p:val>
                                            <p:strVal val="#ppt_x"/>
                                          </p:val>
                                        </p:tav>
                                      </p:tavLst>
                                    </p:anim>
                                    <p:anim calcmode="lin" valueType="num">
                                      <p:cBhvr additive="base">
                                        <p:cTn id="95" dur="500" fill="hold"/>
                                        <p:tgtEl>
                                          <p:spTgt spid="27"/>
                                        </p:tgtEl>
                                        <p:attrNameLst>
                                          <p:attrName>ppt_y</p:attrName>
                                        </p:attrNameLst>
                                      </p:cBhvr>
                                      <p:tavLst>
                                        <p:tav tm="0">
                                          <p:val>
                                            <p:strVal val="#ppt_y+0.1"/>
                                          </p:val>
                                        </p:tav>
                                        <p:tav tm="100000">
                                          <p:val>
                                            <p:strVal val="#ppt_y"/>
                                          </p:val>
                                        </p:tav>
                                      </p:tavLst>
                                    </p:anim>
                                    <p:animEffect transition="in" filter="fade">
                                      <p:cBhvr>
                                        <p:cTn id="96" dur="500"/>
                                        <p:tgtEl>
                                          <p:spTgt spid="27"/>
                                        </p:tgtEl>
                                      </p:cBhvr>
                                    </p:animEffect>
                                  </p:childTnLst>
                                </p:cTn>
                              </p:par>
                              <p:par>
                                <p:cTn id="102" presetID="2" presetClass="entr" presetSubtype="4" fill="hold" grpId="0" nodeType="withEffect">
                                  <p:stCondLst>
                                    <p:cond delay="0"/>
                                  </p:stCondLst>
                                  <p:childTnLst>
                                    <p:set>
                                      <p:cBhvr>
                                        <p:cTn id="98" dur="1" fill="hold">
                                          <p:stCondLst>
                                            <p:cond delay="0"/>
                                          </p:stCondLst>
                                        </p:cTn>
                                        <p:tgtEl>
                                          <p:spTgt spid="28"/>
                                        </p:tgtEl>
                                        <p:attrNameLst>
                                          <p:attrName>style.visibility</p:attrName>
                                        </p:attrNameLst>
                                      </p:cBhvr>
                                      <p:to>
                                        <p:strVal val="visible"/>
                                      </p:to>
                                    </p:set>
                                    <p:anim calcmode="lin" valueType="num">
                                      <p:cBhvr additive="base">
                                        <p:cTn id="99" dur="500" fill="hold"/>
                                        <p:tgtEl>
                                          <p:spTgt spid="28"/>
                                        </p:tgtEl>
                                        <p:attrNameLst>
                                          <p:attrName>ppt_x</p:attrName>
                                        </p:attrNameLst>
                                      </p:cBhvr>
                                      <p:tavLst>
                                        <p:tav tm="0">
                                          <p:val>
                                            <p:strVal val="#ppt_x"/>
                                          </p:val>
                                        </p:tav>
                                        <p:tav tm="100000">
                                          <p:val>
                                            <p:strVal val="#ppt_x"/>
                                          </p:val>
                                        </p:tav>
                                      </p:tavLst>
                                    </p:anim>
                                    <p:anim calcmode="lin" valueType="num">
                                      <p:cBhvr additive="base">
                                        <p:cTn id="100" dur="500" fill="hold"/>
                                        <p:tgtEl>
                                          <p:spTgt spid="28"/>
                                        </p:tgtEl>
                                        <p:attrNameLst>
                                          <p:attrName>ppt_y</p:attrName>
                                        </p:attrNameLst>
                                      </p:cBhvr>
                                      <p:tavLst>
                                        <p:tav tm="0">
                                          <p:val>
                                            <p:strVal val="#ppt_y+0.1"/>
                                          </p:val>
                                        </p:tav>
                                        <p:tav tm="100000">
                                          <p:val>
                                            <p:strVal val="#ppt_y"/>
                                          </p:val>
                                        </p:tav>
                                      </p:tavLst>
                                    </p:anim>
                                    <p:animEffect transition="in" filter="fade">
                                      <p:cBhvr>
                                        <p:cTn id="101" dur="500"/>
                                        <p:tgtEl>
                                          <p:spTgt spid="28"/>
                                        </p:tgtEl>
                                      </p:cBhvr>
                                    </p:animEffect>
                                  </p:childTnLst>
                                </p:cTn>
                              </p:par>
                              <p:par>
                                <p:cTn id="107" presetID="2" presetClass="entr" presetSubtype="4" fill="hold" grpId="0" nodeType="withEffect">
                                  <p:stCondLst>
                                    <p:cond delay="100"/>
                                  </p:stCondLst>
                                  <p:childTnLst>
                                    <p:set>
                                      <p:cBhvr>
                                        <p:cTn id="103" dur="1" fill="hold">
                                          <p:stCondLst>
                                            <p:cond delay="0"/>
                                          </p:stCondLst>
                                        </p:cTn>
                                        <p:tgtEl>
                                          <p:spTgt spid="29"/>
                                        </p:tgtEl>
                                        <p:attrNameLst>
                                          <p:attrName>style.visibility</p:attrName>
                                        </p:attrNameLst>
                                      </p:cBhvr>
                                      <p:to>
                                        <p:strVal val="visible"/>
                                      </p:to>
                                    </p:set>
                                    <p:anim calcmode="lin" valueType="num">
                                      <p:cBhvr additive="base">
                                        <p:cTn id="104" dur="500" fill="hold"/>
                                        <p:tgtEl>
                                          <p:spTgt spid="29"/>
                                        </p:tgtEl>
                                        <p:attrNameLst>
                                          <p:attrName>ppt_x</p:attrName>
                                        </p:attrNameLst>
                                      </p:cBhvr>
                                      <p:tavLst>
                                        <p:tav tm="0">
                                          <p:val>
                                            <p:strVal val="#ppt_x"/>
                                          </p:val>
                                        </p:tav>
                                        <p:tav tm="100000">
                                          <p:val>
                                            <p:strVal val="#ppt_x"/>
                                          </p:val>
                                        </p:tav>
                                      </p:tavLst>
                                    </p:anim>
                                    <p:anim calcmode="lin" valueType="num">
                                      <p:cBhvr additive="base">
                                        <p:cTn id="105" dur="500" fill="hold"/>
                                        <p:tgtEl>
                                          <p:spTgt spid="29"/>
                                        </p:tgtEl>
                                        <p:attrNameLst>
                                          <p:attrName>ppt_y</p:attrName>
                                        </p:attrNameLst>
                                      </p:cBhvr>
                                      <p:tavLst>
                                        <p:tav tm="0">
                                          <p:val>
                                            <p:strVal val="#ppt_y+0.1"/>
                                          </p:val>
                                        </p:tav>
                                        <p:tav tm="100000">
                                          <p:val>
                                            <p:strVal val="#ppt_y"/>
                                          </p:val>
                                        </p:tav>
                                      </p:tavLst>
                                    </p:anim>
                                    <p:animEffect transition="in" filter="fade">
                                      <p:cBhvr>
                                        <p:cTn id="106" dur="500"/>
                                        <p:tgtEl>
                                          <p:spTgt spid="29"/>
                                        </p:tgtEl>
                                      </p:cBhvr>
                                    </p:animEffect>
                                  </p:childTnLst>
                                </p:cTn>
                              </p:par>
                              <p:par>
                                <p:cTn id="112" presetID="2" presetClass="entr" presetSubtype="4" fill="hold" grpId="0" nodeType="withEffect">
                                  <p:stCondLst>
                                    <p:cond delay="100"/>
                                  </p:stCondLst>
                                  <p:childTnLst>
                                    <p:set>
                                      <p:cBhvr>
                                        <p:cTn id="108" dur="1" fill="hold">
                                          <p:stCondLst>
                                            <p:cond delay="0"/>
                                          </p:stCondLst>
                                        </p:cTn>
                                        <p:tgtEl>
                                          <p:spTgt spid="30"/>
                                        </p:tgtEl>
                                        <p:attrNameLst>
                                          <p:attrName>style.visibility</p:attrName>
                                        </p:attrNameLst>
                                      </p:cBhvr>
                                      <p:to>
                                        <p:strVal val="visible"/>
                                      </p:to>
                                    </p:set>
                                    <p:anim calcmode="lin" valueType="num">
                                      <p:cBhvr additive="base">
                                        <p:cTn id="109" dur="500" fill="hold"/>
                                        <p:tgtEl>
                                          <p:spTgt spid="30"/>
                                        </p:tgtEl>
                                        <p:attrNameLst>
                                          <p:attrName>ppt_x</p:attrName>
                                        </p:attrNameLst>
                                      </p:cBhvr>
                                      <p:tavLst>
                                        <p:tav tm="0">
                                          <p:val>
                                            <p:strVal val="#ppt_x"/>
                                          </p:val>
                                        </p:tav>
                                        <p:tav tm="100000">
                                          <p:val>
                                            <p:strVal val="#ppt_x"/>
                                          </p:val>
                                        </p:tav>
                                      </p:tavLst>
                                    </p:anim>
                                    <p:anim calcmode="lin" valueType="num">
                                      <p:cBhvr additive="base">
                                        <p:cTn id="110" dur="500" fill="hold"/>
                                        <p:tgtEl>
                                          <p:spTgt spid="30"/>
                                        </p:tgtEl>
                                        <p:attrNameLst>
                                          <p:attrName>ppt_y</p:attrName>
                                        </p:attrNameLst>
                                      </p:cBhvr>
                                      <p:tavLst>
                                        <p:tav tm="0">
                                          <p:val>
                                            <p:strVal val="#ppt_y+0.1"/>
                                          </p:val>
                                        </p:tav>
                                        <p:tav tm="100000">
                                          <p:val>
                                            <p:strVal val="#ppt_y"/>
                                          </p:val>
                                        </p:tav>
                                      </p:tavLst>
                                    </p:anim>
                                    <p:animEffect transition="in" filter="fade">
                                      <p:cBhvr>
                                        <p:cTn id="111" dur="500"/>
                                        <p:tgtEl>
                                          <p:spTgt spid="30"/>
                                        </p:tgtEl>
                                      </p:cBhvr>
                                    </p:animEffect>
                                  </p:childTnLst>
                                </p:cTn>
                              </p:par>
                              <p:par>
                                <p:cTn id="117" presetID="2" presetClass="entr" presetSubtype="4" fill="hold" grpId="0" nodeType="withEffect">
                                  <p:stCondLst>
                                    <p:cond delay="100"/>
                                  </p:stCondLst>
                                  <p:childTnLst>
                                    <p:set>
                                      <p:cBhvr>
                                        <p:cTn id="113" dur="1" fill="hold">
                                          <p:stCondLst>
                                            <p:cond delay="0"/>
                                          </p:stCondLst>
                                        </p:cTn>
                                        <p:tgtEl>
                                          <p:spTgt spid="31"/>
                                        </p:tgtEl>
                                        <p:attrNameLst>
                                          <p:attrName>style.visibility</p:attrName>
                                        </p:attrNameLst>
                                      </p:cBhvr>
                                      <p:to>
                                        <p:strVal val="visible"/>
                                      </p:to>
                                    </p:set>
                                    <p:anim calcmode="lin" valueType="num">
                                      <p:cBhvr additive="base">
                                        <p:cTn id="114" dur="500" fill="hold"/>
                                        <p:tgtEl>
                                          <p:spTgt spid="31"/>
                                        </p:tgtEl>
                                        <p:attrNameLst>
                                          <p:attrName>ppt_x</p:attrName>
                                        </p:attrNameLst>
                                      </p:cBhvr>
                                      <p:tavLst>
                                        <p:tav tm="0">
                                          <p:val>
                                            <p:strVal val="#ppt_x"/>
                                          </p:val>
                                        </p:tav>
                                        <p:tav tm="100000">
                                          <p:val>
                                            <p:strVal val="#ppt_x"/>
                                          </p:val>
                                        </p:tav>
                                      </p:tavLst>
                                    </p:anim>
                                    <p:anim calcmode="lin" valueType="num">
                                      <p:cBhvr additive="base">
                                        <p:cTn id="115" dur="500" fill="hold"/>
                                        <p:tgtEl>
                                          <p:spTgt spid="31"/>
                                        </p:tgtEl>
                                        <p:attrNameLst>
                                          <p:attrName>ppt_y</p:attrName>
                                        </p:attrNameLst>
                                      </p:cBhvr>
                                      <p:tavLst>
                                        <p:tav tm="0">
                                          <p:val>
                                            <p:strVal val="#ppt_y+0.1"/>
                                          </p:val>
                                        </p:tav>
                                        <p:tav tm="100000">
                                          <p:val>
                                            <p:strVal val="#ppt_y"/>
                                          </p:val>
                                        </p:tav>
                                      </p:tavLst>
                                    </p:anim>
                                    <p:animEffect transition="in" filter="fade">
                                      <p:cBhvr>
                                        <p:cTn id="116" dur="500"/>
                                        <p:tgtEl>
                                          <p:spTgt spid="31"/>
                                        </p:tgtEl>
                                      </p:cBhvr>
                                    </p:animEffect>
                                  </p:childTnLst>
                                </p:cTn>
                              </p:par>
                              <p:par>
                                <p:cTn id="122" presetID="2" presetClass="entr" presetSubtype="4"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additive="base">
                                        <p:cTn id="119" dur="500" fill="hold"/>
                                        <p:tgtEl>
                                          <p:spTgt spid="32"/>
                                        </p:tgtEl>
                                        <p:attrNameLst>
                                          <p:attrName>ppt_x</p:attrName>
                                        </p:attrNameLst>
                                      </p:cBhvr>
                                      <p:tavLst>
                                        <p:tav tm="0">
                                          <p:val>
                                            <p:strVal val="#ppt_x"/>
                                          </p:val>
                                        </p:tav>
                                        <p:tav tm="100000">
                                          <p:val>
                                            <p:strVal val="#ppt_x"/>
                                          </p:val>
                                        </p:tav>
                                      </p:tavLst>
                                    </p:anim>
                                    <p:anim calcmode="lin" valueType="num">
                                      <p:cBhvr additive="base">
                                        <p:cTn id="120" dur="500" fill="hold"/>
                                        <p:tgtEl>
                                          <p:spTgt spid="32"/>
                                        </p:tgtEl>
                                        <p:attrNameLst>
                                          <p:attrName>ppt_y</p:attrName>
                                        </p:attrNameLst>
                                      </p:cBhvr>
                                      <p:tavLst>
                                        <p:tav tm="0">
                                          <p:val>
                                            <p:strVal val="#ppt_y+0.1"/>
                                          </p:val>
                                        </p:tav>
                                        <p:tav tm="100000">
                                          <p:val>
                                            <p:strVal val="#ppt_y"/>
                                          </p:val>
                                        </p:tav>
                                      </p:tavLst>
                                    </p:anim>
                                    <p:animEffect transition="in" filter="fade">
                                      <p:cBhvr>
                                        <p:cTn id="121" dur="500"/>
                                        <p:tgtEl>
                                          <p:spTgt spid="32"/>
                                        </p:tgtEl>
                                      </p:cBhvr>
                                    </p:animEffect>
                                  </p:childTnLst>
                                </p:cTn>
                              </p:par>
                              <p:par>
                                <p:cTn id="127" presetID="2" presetClass="entr" presetSubtype="4" fill="hold" grpId="0" nodeType="withEffect">
                                  <p:stCondLst>
                                    <p:cond delay="100"/>
                                  </p:stCondLst>
                                  <p:childTnLst>
                                    <p:set>
                                      <p:cBhvr>
                                        <p:cTn id="123" dur="1" fill="hold">
                                          <p:stCondLst>
                                            <p:cond delay="0"/>
                                          </p:stCondLst>
                                        </p:cTn>
                                        <p:tgtEl>
                                          <p:spTgt spid="33"/>
                                        </p:tgtEl>
                                        <p:attrNameLst>
                                          <p:attrName>style.visibility</p:attrName>
                                        </p:attrNameLst>
                                      </p:cBhvr>
                                      <p:to>
                                        <p:strVal val="visible"/>
                                      </p:to>
                                    </p:set>
                                    <p:anim calcmode="lin" valueType="num">
                                      <p:cBhvr additive="base">
                                        <p:cTn id="124" dur="500" fill="hold"/>
                                        <p:tgtEl>
                                          <p:spTgt spid="33"/>
                                        </p:tgtEl>
                                        <p:attrNameLst>
                                          <p:attrName>ppt_x</p:attrName>
                                        </p:attrNameLst>
                                      </p:cBhvr>
                                      <p:tavLst>
                                        <p:tav tm="0">
                                          <p:val>
                                            <p:strVal val="#ppt_x"/>
                                          </p:val>
                                        </p:tav>
                                        <p:tav tm="100000">
                                          <p:val>
                                            <p:strVal val="#ppt_x"/>
                                          </p:val>
                                        </p:tav>
                                      </p:tavLst>
                                    </p:anim>
                                    <p:anim calcmode="lin" valueType="num">
                                      <p:cBhvr additive="base">
                                        <p:cTn id="125" dur="500" fill="hold"/>
                                        <p:tgtEl>
                                          <p:spTgt spid="33"/>
                                        </p:tgtEl>
                                        <p:attrNameLst>
                                          <p:attrName>ppt_y</p:attrName>
                                        </p:attrNameLst>
                                      </p:cBhvr>
                                      <p:tavLst>
                                        <p:tav tm="0">
                                          <p:val>
                                            <p:strVal val="#ppt_y+0.1"/>
                                          </p:val>
                                        </p:tav>
                                        <p:tav tm="100000">
                                          <p:val>
                                            <p:strVal val="#ppt_y"/>
                                          </p:val>
                                        </p:tav>
                                      </p:tavLst>
                                    </p:anim>
                                    <p:animEffect transition="in" filter="fade">
                                      <p:cBhvr>
                                        <p:cTn id="126" dur="500"/>
                                        <p:tgtEl>
                                          <p:spTgt spid="33"/>
                                        </p:tgtEl>
                                      </p:cBhvr>
                                    </p:animEffect>
                                  </p:childTnLst>
                                </p:cTn>
                              </p:par>
                              <p:par>
                                <p:cTn id="132" presetID="2" presetClass="entr" presetSubtype="4" fill="hold" grpId="0" nodeType="withEffect">
                                  <p:stCondLst>
                                    <p:cond delay="100"/>
                                  </p:stCondLst>
                                  <p:childTnLst>
                                    <p:set>
                                      <p:cBhvr>
                                        <p:cTn id="128" dur="1" fill="hold">
                                          <p:stCondLst>
                                            <p:cond delay="0"/>
                                          </p:stCondLst>
                                        </p:cTn>
                                        <p:tgtEl>
                                          <p:spTgt spid="34"/>
                                        </p:tgtEl>
                                        <p:attrNameLst>
                                          <p:attrName>style.visibility</p:attrName>
                                        </p:attrNameLst>
                                      </p:cBhvr>
                                      <p:to>
                                        <p:strVal val="visible"/>
                                      </p:to>
                                    </p:set>
                                    <p:anim calcmode="lin" valueType="num">
                                      <p:cBhvr additive="base">
                                        <p:cTn id="129" dur="500" fill="hold"/>
                                        <p:tgtEl>
                                          <p:spTgt spid="34"/>
                                        </p:tgtEl>
                                        <p:attrNameLst>
                                          <p:attrName>ppt_x</p:attrName>
                                        </p:attrNameLst>
                                      </p:cBhvr>
                                      <p:tavLst>
                                        <p:tav tm="0">
                                          <p:val>
                                            <p:strVal val="#ppt_x"/>
                                          </p:val>
                                        </p:tav>
                                        <p:tav tm="100000">
                                          <p:val>
                                            <p:strVal val="#ppt_x"/>
                                          </p:val>
                                        </p:tav>
                                      </p:tavLst>
                                    </p:anim>
                                    <p:anim calcmode="lin" valueType="num">
                                      <p:cBhvr additive="base">
                                        <p:cTn id="130" dur="500" fill="hold"/>
                                        <p:tgtEl>
                                          <p:spTgt spid="34"/>
                                        </p:tgtEl>
                                        <p:attrNameLst>
                                          <p:attrName>ppt_y</p:attrName>
                                        </p:attrNameLst>
                                      </p:cBhvr>
                                      <p:tavLst>
                                        <p:tav tm="0">
                                          <p:val>
                                            <p:strVal val="#ppt_y+0.1"/>
                                          </p:val>
                                        </p:tav>
                                        <p:tav tm="100000">
                                          <p:val>
                                            <p:strVal val="#ppt_y"/>
                                          </p:val>
                                        </p:tav>
                                      </p:tavLst>
                                    </p:anim>
                                    <p:animEffect transition="in" filter="fade">
                                      <p:cBhvr>
                                        <p:cTn id="131" dur="500"/>
                                        <p:tgtEl>
                                          <p:spTgt spid="34"/>
                                        </p:tgtEl>
                                      </p:cBhvr>
                                    </p:animEffect>
                                  </p:childTnLst>
                                </p:cTn>
                              </p:par>
                              <p:par>
                                <p:cTn id="137" presetID="2" presetClass="entr" presetSubtype="4" fill="hold" grpId="0" nodeType="withEffect">
                                  <p:stCondLst>
                                    <p:cond delay="100"/>
                                  </p:stCondLst>
                                  <p:childTnLst>
                                    <p:set>
                                      <p:cBhvr>
                                        <p:cTn id="133" dur="1" fill="hold">
                                          <p:stCondLst>
                                            <p:cond delay="0"/>
                                          </p:stCondLst>
                                        </p:cTn>
                                        <p:tgtEl>
                                          <p:spTgt spid="35"/>
                                        </p:tgtEl>
                                        <p:attrNameLst>
                                          <p:attrName>style.visibility</p:attrName>
                                        </p:attrNameLst>
                                      </p:cBhvr>
                                      <p:to>
                                        <p:strVal val="visible"/>
                                      </p:to>
                                    </p:set>
                                    <p:anim calcmode="lin" valueType="num">
                                      <p:cBhvr additive="base">
                                        <p:cTn id="134" dur="500" fill="hold"/>
                                        <p:tgtEl>
                                          <p:spTgt spid="35"/>
                                        </p:tgtEl>
                                        <p:attrNameLst>
                                          <p:attrName>ppt_x</p:attrName>
                                        </p:attrNameLst>
                                      </p:cBhvr>
                                      <p:tavLst>
                                        <p:tav tm="0">
                                          <p:val>
                                            <p:strVal val="#ppt_x"/>
                                          </p:val>
                                        </p:tav>
                                        <p:tav tm="100000">
                                          <p:val>
                                            <p:strVal val="#ppt_x"/>
                                          </p:val>
                                        </p:tav>
                                      </p:tavLst>
                                    </p:anim>
                                    <p:anim calcmode="lin" valueType="num">
                                      <p:cBhvr additive="base">
                                        <p:cTn id="135" dur="500" fill="hold"/>
                                        <p:tgtEl>
                                          <p:spTgt spid="35"/>
                                        </p:tgtEl>
                                        <p:attrNameLst>
                                          <p:attrName>ppt_y</p:attrName>
                                        </p:attrNameLst>
                                      </p:cBhvr>
                                      <p:tavLst>
                                        <p:tav tm="0">
                                          <p:val>
                                            <p:strVal val="#ppt_y+0.1"/>
                                          </p:val>
                                        </p:tav>
                                        <p:tav tm="100000">
                                          <p:val>
                                            <p:strVal val="#ppt_y"/>
                                          </p:val>
                                        </p:tav>
                                      </p:tavLst>
                                    </p:anim>
                                    <p:animEffect transition="in" filter="fade">
                                      <p:cBhvr>
                                        <p:cTn id="136" dur="500"/>
                                        <p:tgtEl>
                                          <p:spTgt spid="35"/>
                                        </p:tgtEl>
                                      </p:cBhvr>
                                    </p:animEffect>
                                  </p:childTnLst>
                                </p:cTn>
                              </p:par>
                              <p:par>
                                <p:cTn id="142" presetID="2" presetClass="entr" presetSubtype="4" fill="hold" grpId="0" nodeType="withEffect">
                                  <p:stCondLst>
                                    <p:cond delay="150"/>
                                  </p:stCondLst>
                                  <p:childTnLst>
                                    <p:set>
                                      <p:cBhvr>
                                        <p:cTn id="138" dur="1" fill="hold">
                                          <p:stCondLst>
                                            <p:cond delay="0"/>
                                          </p:stCondLst>
                                        </p:cTn>
                                        <p:tgtEl>
                                          <p:spTgt spid="36"/>
                                        </p:tgtEl>
                                        <p:attrNameLst>
                                          <p:attrName>style.visibility</p:attrName>
                                        </p:attrNameLst>
                                      </p:cBhvr>
                                      <p:to>
                                        <p:strVal val="visible"/>
                                      </p:to>
                                    </p:set>
                                    <p:anim calcmode="lin" valueType="num">
                                      <p:cBhvr additive="base">
                                        <p:cTn id="139" dur="500" fill="hold"/>
                                        <p:tgtEl>
                                          <p:spTgt spid="36"/>
                                        </p:tgtEl>
                                        <p:attrNameLst>
                                          <p:attrName>ppt_x</p:attrName>
                                        </p:attrNameLst>
                                      </p:cBhvr>
                                      <p:tavLst>
                                        <p:tav tm="0">
                                          <p:val>
                                            <p:strVal val="#ppt_x"/>
                                          </p:val>
                                        </p:tav>
                                        <p:tav tm="100000">
                                          <p:val>
                                            <p:strVal val="#ppt_x"/>
                                          </p:val>
                                        </p:tav>
                                      </p:tavLst>
                                    </p:anim>
                                    <p:anim calcmode="lin" valueType="num">
                                      <p:cBhvr additive="base">
                                        <p:cTn id="140" dur="500" fill="hold"/>
                                        <p:tgtEl>
                                          <p:spTgt spid="36"/>
                                        </p:tgtEl>
                                        <p:attrNameLst>
                                          <p:attrName>ppt_y</p:attrName>
                                        </p:attrNameLst>
                                      </p:cBhvr>
                                      <p:tavLst>
                                        <p:tav tm="0">
                                          <p:val>
                                            <p:strVal val="#ppt_y+0.1"/>
                                          </p:val>
                                        </p:tav>
                                        <p:tav tm="100000">
                                          <p:val>
                                            <p:strVal val="#ppt_y"/>
                                          </p:val>
                                        </p:tav>
                                      </p:tavLst>
                                    </p:anim>
                                    <p:animEffect transition="in" filter="fade">
                                      <p:cBhvr>
                                        <p:cTn id="141" dur="500"/>
                                        <p:tgtEl>
                                          <p:spTgt spid="36"/>
                                        </p:tgtEl>
                                      </p:cBhvr>
                                    </p:animEffect>
                                  </p:childTnLst>
                                </p:cTn>
                              </p:par>
                              <p:par>
                                <p:cTn id="147" presetID="2" presetClass="entr" presetSubtype="4" fill="hold" grpId="0" nodeType="withEffect">
                                  <p:stCondLst>
                                    <p:cond delay="150"/>
                                  </p:stCondLst>
                                  <p:childTnLst>
                                    <p:set>
                                      <p:cBhvr>
                                        <p:cTn id="143" dur="1" fill="hold">
                                          <p:stCondLst>
                                            <p:cond delay="0"/>
                                          </p:stCondLst>
                                        </p:cTn>
                                        <p:tgtEl>
                                          <p:spTgt spid="37"/>
                                        </p:tgtEl>
                                        <p:attrNameLst>
                                          <p:attrName>style.visibility</p:attrName>
                                        </p:attrNameLst>
                                      </p:cBhvr>
                                      <p:to>
                                        <p:strVal val="visible"/>
                                      </p:to>
                                    </p:set>
                                    <p:anim calcmode="lin" valueType="num">
                                      <p:cBhvr additive="base">
                                        <p:cTn id="144" dur="500" fill="hold"/>
                                        <p:tgtEl>
                                          <p:spTgt spid="37"/>
                                        </p:tgtEl>
                                        <p:attrNameLst>
                                          <p:attrName>ppt_x</p:attrName>
                                        </p:attrNameLst>
                                      </p:cBhvr>
                                      <p:tavLst>
                                        <p:tav tm="0">
                                          <p:val>
                                            <p:strVal val="#ppt_x"/>
                                          </p:val>
                                        </p:tav>
                                        <p:tav tm="100000">
                                          <p:val>
                                            <p:strVal val="#ppt_x"/>
                                          </p:val>
                                        </p:tav>
                                      </p:tavLst>
                                    </p:anim>
                                    <p:anim calcmode="lin" valueType="num">
                                      <p:cBhvr additive="base">
                                        <p:cTn id="145" dur="500" fill="hold"/>
                                        <p:tgtEl>
                                          <p:spTgt spid="37"/>
                                        </p:tgtEl>
                                        <p:attrNameLst>
                                          <p:attrName>ppt_y</p:attrName>
                                        </p:attrNameLst>
                                      </p:cBhvr>
                                      <p:tavLst>
                                        <p:tav tm="0">
                                          <p:val>
                                            <p:strVal val="#ppt_y+0.1"/>
                                          </p:val>
                                        </p:tav>
                                        <p:tav tm="100000">
                                          <p:val>
                                            <p:strVal val="#ppt_y"/>
                                          </p:val>
                                        </p:tav>
                                      </p:tavLst>
                                    </p:anim>
                                    <p:animEffect transition="in" filter="fade">
                                      <p:cBhvr>
                                        <p:cTn id="146" dur="500"/>
                                        <p:tgtEl>
                                          <p:spTgt spid="37"/>
                                        </p:tgtEl>
                                      </p:cBhvr>
                                    </p:animEffect>
                                  </p:childTnLst>
                                </p:cTn>
                              </p:par>
                              <p:par>
                                <p:cTn id="152" presetID="2" presetClass="entr" presetSubtype="4" fill="hold" grpId="0" nodeType="withEffect">
                                  <p:stCondLst>
                                    <p:cond delay="150"/>
                                  </p:stCondLst>
                                  <p:childTnLst>
                                    <p:set>
                                      <p:cBhvr>
                                        <p:cTn id="148" dur="1" fill="hold">
                                          <p:stCondLst>
                                            <p:cond delay="0"/>
                                          </p:stCondLst>
                                        </p:cTn>
                                        <p:tgtEl>
                                          <p:spTgt spid="38"/>
                                        </p:tgtEl>
                                        <p:attrNameLst>
                                          <p:attrName>style.visibility</p:attrName>
                                        </p:attrNameLst>
                                      </p:cBhvr>
                                      <p:to>
                                        <p:strVal val="visible"/>
                                      </p:to>
                                    </p:set>
                                    <p:anim calcmode="lin" valueType="num">
                                      <p:cBhvr additive="base">
                                        <p:cTn id="149" dur="500" fill="hold"/>
                                        <p:tgtEl>
                                          <p:spTgt spid="38"/>
                                        </p:tgtEl>
                                        <p:attrNameLst>
                                          <p:attrName>ppt_x</p:attrName>
                                        </p:attrNameLst>
                                      </p:cBhvr>
                                      <p:tavLst>
                                        <p:tav tm="0">
                                          <p:val>
                                            <p:strVal val="#ppt_x"/>
                                          </p:val>
                                        </p:tav>
                                        <p:tav tm="100000">
                                          <p:val>
                                            <p:strVal val="#ppt_x"/>
                                          </p:val>
                                        </p:tav>
                                      </p:tavLst>
                                    </p:anim>
                                    <p:anim calcmode="lin" valueType="num">
                                      <p:cBhvr additive="base">
                                        <p:cTn id="150" dur="500" fill="hold"/>
                                        <p:tgtEl>
                                          <p:spTgt spid="38"/>
                                        </p:tgtEl>
                                        <p:attrNameLst>
                                          <p:attrName>ppt_y</p:attrName>
                                        </p:attrNameLst>
                                      </p:cBhvr>
                                      <p:tavLst>
                                        <p:tav tm="0">
                                          <p:val>
                                            <p:strVal val="#ppt_y+0.1"/>
                                          </p:val>
                                        </p:tav>
                                        <p:tav tm="100000">
                                          <p:val>
                                            <p:strVal val="#ppt_y"/>
                                          </p:val>
                                        </p:tav>
                                      </p:tavLst>
                                    </p:anim>
                                    <p:animEffect transition="in" filter="fade">
                                      <p:cBhvr>
                                        <p:cTn id="151" dur="500"/>
                                        <p:tgtEl>
                                          <p:spTgt spid="38"/>
                                        </p:tgtEl>
                                      </p:cBhvr>
                                    </p:animEffect>
                                  </p:childTnLst>
                                </p:cTn>
                              </p:par>
                            </p:childTnLst>
                          </p:cTn>
                        </p:par>
                      </p:childTnLst>
                    </p:cTn>
                  </p:par>
                  <p:par>
                    <p:cTn id="153" fill="hold">
                      <p:stCondLst>
                        <p:cond delay="indefinite"/>
                      </p:stCondLst>
                      <p:childTnLst>
                        <p:par>
                          <p:cTn id="154" fill="hold">
                            <p:stCondLst>
                              <p:cond delay="0"/>
                            </p:stCondLst>
                            <p:childTnLst>
                              <p:par>
                                <p:cTn id="159" presetID="2" presetClass="entr" presetSubtype="4" fill="hold" grpId="0" nodeType="clickEffect">
                                  <p:stCondLst>
                                    <p:cond delay="0"/>
                                  </p:stCondLst>
                                  <p:childTnLst>
                                    <p:set>
                                      <p:cBhvr>
                                        <p:cTn id="155" dur="1" fill="hold">
                                          <p:stCondLst>
                                            <p:cond delay="0"/>
                                          </p:stCondLst>
                                        </p:cTn>
                                        <p:tgtEl>
                                          <p:spTgt spid="39"/>
                                        </p:tgtEl>
                                        <p:attrNameLst>
                                          <p:attrName>style.visibility</p:attrName>
                                        </p:attrNameLst>
                                      </p:cBhvr>
                                      <p:to>
                                        <p:strVal val="visible"/>
                                      </p:to>
                                    </p:set>
                                    <p:anim calcmode="lin" valueType="num">
                                      <p:cBhvr additive="base">
                                        <p:cTn id="156" dur="500" fill="hold"/>
                                        <p:tgtEl>
                                          <p:spTgt spid="39"/>
                                        </p:tgtEl>
                                        <p:attrNameLst>
                                          <p:attrName>ppt_x</p:attrName>
                                        </p:attrNameLst>
                                      </p:cBhvr>
                                      <p:tavLst>
                                        <p:tav tm="0">
                                          <p:val>
                                            <p:strVal val="#ppt_x"/>
                                          </p:val>
                                        </p:tav>
                                        <p:tav tm="100000">
                                          <p:val>
                                            <p:strVal val="#ppt_x"/>
                                          </p:val>
                                        </p:tav>
                                      </p:tavLst>
                                    </p:anim>
                                    <p:anim calcmode="lin" valueType="num">
                                      <p:cBhvr additive="base">
                                        <p:cTn id="157" dur="500" fill="hold"/>
                                        <p:tgtEl>
                                          <p:spTgt spid="39"/>
                                        </p:tgtEl>
                                        <p:attrNameLst>
                                          <p:attrName>ppt_y</p:attrName>
                                        </p:attrNameLst>
                                      </p:cBhvr>
                                      <p:tavLst>
                                        <p:tav tm="0">
                                          <p:val>
                                            <p:strVal val="#ppt_y+0.1"/>
                                          </p:val>
                                        </p:tav>
                                        <p:tav tm="100000">
                                          <p:val>
                                            <p:strVal val="#ppt_y"/>
                                          </p:val>
                                        </p:tav>
                                      </p:tavLst>
                                    </p:anim>
                                    <p:animEffect transition="in" filter="fade">
                                      <p:cBhvr>
                                        <p:cTn id="158" dur="500"/>
                                        <p:tgtEl>
                                          <p:spTgt spid="39"/>
                                        </p:tgtEl>
                                      </p:cBhvr>
                                    </p:animEffect>
                                  </p:childTnLst>
                                </p:cTn>
                              </p:par>
                              <p:par>
                                <p:cTn id="164" presetID="2" presetClass="entr" presetSubtype="4" fill="hold" grpId="0" nodeType="withEffect">
                                  <p:stCondLst>
                                    <p:cond delay="0"/>
                                  </p:stCondLst>
                                  <p:childTnLst>
                                    <p:set>
                                      <p:cBhvr>
                                        <p:cTn id="160" dur="1" fill="hold">
                                          <p:stCondLst>
                                            <p:cond delay="0"/>
                                          </p:stCondLst>
                                        </p:cTn>
                                        <p:tgtEl>
                                          <p:spTgt spid="40"/>
                                        </p:tgtEl>
                                        <p:attrNameLst>
                                          <p:attrName>style.visibility</p:attrName>
                                        </p:attrNameLst>
                                      </p:cBhvr>
                                      <p:to>
                                        <p:strVal val="visible"/>
                                      </p:to>
                                    </p:set>
                                    <p:anim calcmode="lin" valueType="num">
                                      <p:cBhvr additive="base">
                                        <p:cTn id="161" dur="500" fill="hold"/>
                                        <p:tgtEl>
                                          <p:spTgt spid="40"/>
                                        </p:tgtEl>
                                        <p:attrNameLst>
                                          <p:attrName>ppt_x</p:attrName>
                                        </p:attrNameLst>
                                      </p:cBhvr>
                                      <p:tavLst>
                                        <p:tav tm="0">
                                          <p:val>
                                            <p:strVal val="#ppt_x"/>
                                          </p:val>
                                        </p:tav>
                                        <p:tav tm="100000">
                                          <p:val>
                                            <p:strVal val="#ppt_x"/>
                                          </p:val>
                                        </p:tav>
                                      </p:tavLst>
                                    </p:anim>
                                    <p:anim calcmode="lin" valueType="num">
                                      <p:cBhvr additive="base">
                                        <p:cTn id="162" dur="500" fill="hold"/>
                                        <p:tgtEl>
                                          <p:spTgt spid="40"/>
                                        </p:tgtEl>
                                        <p:attrNameLst>
                                          <p:attrName>ppt_y</p:attrName>
                                        </p:attrNameLst>
                                      </p:cBhvr>
                                      <p:tavLst>
                                        <p:tav tm="0">
                                          <p:val>
                                            <p:strVal val="#ppt_y+0.1"/>
                                          </p:val>
                                        </p:tav>
                                        <p:tav tm="100000">
                                          <p:val>
                                            <p:strVal val="#ppt_y"/>
                                          </p:val>
                                        </p:tav>
                                      </p:tavLst>
                                    </p:anim>
                                    <p:animEffect transition="in" filter="fade">
                                      <p:cBhvr>
                                        <p:cTn id="163" dur="500"/>
                                        <p:tgtEl>
                                          <p:spTgt spid="40"/>
                                        </p:tgtEl>
                                      </p:cBhvr>
                                    </p:animEffect>
                                  </p:childTnLst>
                                </p:cTn>
                              </p:par>
                              <p:par>
                                <p:cTn id="169" presetID="2" presetClass="entr" presetSubtype="4" fill="hold" grpId="0" nodeType="withEffect">
                                  <p:stCondLst>
                                    <p:cond delay="0"/>
                                  </p:stCondLst>
                                  <p:childTnLst>
                                    <p:set>
                                      <p:cBhvr>
                                        <p:cTn id="165" dur="1" fill="hold">
                                          <p:stCondLst>
                                            <p:cond delay="0"/>
                                          </p:stCondLst>
                                        </p:cTn>
                                        <p:tgtEl>
                                          <p:spTgt spid="41"/>
                                        </p:tgtEl>
                                        <p:attrNameLst>
                                          <p:attrName>style.visibility</p:attrName>
                                        </p:attrNameLst>
                                      </p:cBhvr>
                                      <p:to>
                                        <p:strVal val="visible"/>
                                      </p:to>
                                    </p:set>
                                    <p:anim calcmode="lin" valueType="num">
                                      <p:cBhvr additive="base">
                                        <p:cTn id="166" dur="500" fill="hold"/>
                                        <p:tgtEl>
                                          <p:spTgt spid="41"/>
                                        </p:tgtEl>
                                        <p:attrNameLst>
                                          <p:attrName>ppt_x</p:attrName>
                                        </p:attrNameLst>
                                      </p:cBhvr>
                                      <p:tavLst>
                                        <p:tav tm="0">
                                          <p:val>
                                            <p:strVal val="#ppt_x"/>
                                          </p:val>
                                        </p:tav>
                                        <p:tav tm="100000">
                                          <p:val>
                                            <p:strVal val="#ppt_x"/>
                                          </p:val>
                                        </p:tav>
                                      </p:tavLst>
                                    </p:anim>
                                    <p:anim calcmode="lin" valueType="num">
                                      <p:cBhvr additive="base">
                                        <p:cTn id="167" dur="500" fill="hold"/>
                                        <p:tgtEl>
                                          <p:spTgt spid="41"/>
                                        </p:tgtEl>
                                        <p:attrNameLst>
                                          <p:attrName>ppt_y</p:attrName>
                                        </p:attrNameLst>
                                      </p:cBhvr>
                                      <p:tavLst>
                                        <p:tav tm="0">
                                          <p:val>
                                            <p:strVal val="#ppt_y+0.1"/>
                                          </p:val>
                                        </p:tav>
                                        <p:tav tm="100000">
                                          <p:val>
                                            <p:strVal val="#ppt_y"/>
                                          </p:val>
                                        </p:tav>
                                      </p:tavLst>
                                    </p:anim>
                                    <p:animEffect transition="in" filter="fade">
                                      <p:cBhvr>
                                        <p:cTn id="168" dur="500"/>
                                        <p:tgtEl>
                                          <p:spTgt spid="41"/>
                                        </p:tgtEl>
                                      </p:cBhvr>
                                    </p:animEffect>
                                  </p:childTnLst>
                                </p:cTn>
                              </p:par>
                              <p:par>
                                <p:cTn id="174" presetID="2" presetClass="entr" presetSubtype="4" fill="hold" grpId="0" nodeType="withEffect">
                                  <p:stCondLst>
                                    <p:cond delay="0"/>
                                  </p:stCondLst>
                                  <p:childTnLst>
                                    <p:set>
                                      <p:cBhvr>
                                        <p:cTn id="170" dur="1" fill="hold">
                                          <p:stCondLst>
                                            <p:cond delay="0"/>
                                          </p:stCondLst>
                                        </p:cTn>
                                        <p:tgtEl>
                                          <p:spTgt spid="42"/>
                                        </p:tgtEl>
                                        <p:attrNameLst>
                                          <p:attrName>style.visibility</p:attrName>
                                        </p:attrNameLst>
                                      </p:cBhvr>
                                      <p:to>
                                        <p:strVal val="visible"/>
                                      </p:to>
                                    </p:set>
                                    <p:anim calcmode="lin" valueType="num">
                                      <p:cBhvr additive="base">
                                        <p:cTn id="171" dur="500" fill="hold"/>
                                        <p:tgtEl>
                                          <p:spTgt spid="42"/>
                                        </p:tgtEl>
                                        <p:attrNameLst>
                                          <p:attrName>ppt_x</p:attrName>
                                        </p:attrNameLst>
                                      </p:cBhvr>
                                      <p:tavLst>
                                        <p:tav tm="0">
                                          <p:val>
                                            <p:strVal val="#ppt_x"/>
                                          </p:val>
                                        </p:tav>
                                        <p:tav tm="100000">
                                          <p:val>
                                            <p:strVal val="#ppt_x"/>
                                          </p:val>
                                        </p:tav>
                                      </p:tavLst>
                                    </p:anim>
                                    <p:anim calcmode="lin" valueType="num">
                                      <p:cBhvr additive="base">
                                        <p:cTn id="172" dur="500" fill="hold"/>
                                        <p:tgtEl>
                                          <p:spTgt spid="42"/>
                                        </p:tgtEl>
                                        <p:attrNameLst>
                                          <p:attrName>ppt_y</p:attrName>
                                        </p:attrNameLst>
                                      </p:cBhvr>
                                      <p:tavLst>
                                        <p:tav tm="0">
                                          <p:val>
                                            <p:strVal val="#ppt_y+0.1"/>
                                          </p:val>
                                        </p:tav>
                                        <p:tav tm="100000">
                                          <p:val>
                                            <p:strVal val="#ppt_y"/>
                                          </p:val>
                                        </p:tav>
                                      </p:tavLst>
                                    </p:anim>
                                    <p:animEffect transition="in" filter="fade">
                                      <p:cBhvr>
                                        <p:cTn id="173" dur="500"/>
                                        <p:tgtEl>
                                          <p:spTgt spid="42"/>
                                        </p:tgtEl>
                                      </p:cBhvr>
                                    </p:animEffect>
                                  </p:childTnLst>
                                </p:cTn>
                              </p:par>
                              <p:par>
                                <p:cTn id="179" presetID="2" presetClass="entr" presetSubtype="4" fill="hold" grpId="0" nodeType="withEffect">
                                  <p:stCondLst>
                                    <p:cond delay="0"/>
                                  </p:stCondLst>
                                  <p:childTnLst>
                                    <p:set>
                                      <p:cBhvr>
                                        <p:cTn id="175" dur="1" fill="hold">
                                          <p:stCondLst>
                                            <p:cond delay="0"/>
                                          </p:stCondLst>
                                        </p:cTn>
                                        <p:tgtEl>
                                          <p:spTgt spid="43"/>
                                        </p:tgtEl>
                                        <p:attrNameLst>
                                          <p:attrName>style.visibility</p:attrName>
                                        </p:attrNameLst>
                                      </p:cBhvr>
                                      <p:to>
                                        <p:strVal val="visible"/>
                                      </p:to>
                                    </p:set>
                                    <p:anim calcmode="lin" valueType="num">
                                      <p:cBhvr additive="base">
                                        <p:cTn id="176" dur="500" fill="hold"/>
                                        <p:tgtEl>
                                          <p:spTgt spid="43"/>
                                        </p:tgtEl>
                                        <p:attrNameLst>
                                          <p:attrName>ppt_x</p:attrName>
                                        </p:attrNameLst>
                                      </p:cBhvr>
                                      <p:tavLst>
                                        <p:tav tm="0">
                                          <p:val>
                                            <p:strVal val="#ppt_x"/>
                                          </p:val>
                                        </p:tav>
                                        <p:tav tm="100000">
                                          <p:val>
                                            <p:strVal val="#ppt_x"/>
                                          </p:val>
                                        </p:tav>
                                      </p:tavLst>
                                    </p:anim>
                                    <p:anim calcmode="lin" valueType="num">
                                      <p:cBhvr additive="base">
                                        <p:cTn id="177" dur="500" fill="hold"/>
                                        <p:tgtEl>
                                          <p:spTgt spid="43"/>
                                        </p:tgtEl>
                                        <p:attrNameLst>
                                          <p:attrName>ppt_y</p:attrName>
                                        </p:attrNameLst>
                                      </p:cBhvr>
                                      <p:tavLst>
                                        <p:tav tm="0">
                                          <p:val>
                                            <p:strVal val="#ppt_y+0.1"/>
                                          </p:val>
                                        </p:tav>
                                        <p:tav tm="100000">
                                          <p:val>
                                            <p:strVal val="#ppt_y"/>
                                          </p:val>
                                        </p:tav>
                                      </p:tavLst>
                                    </p:anim>
                                    <p:animEffect transition="in" filter="fade">
                                      <p:cBhvr>
                                        <p:cTn id="178" dur="500"/>
                                        <p:tgtEl>
                                          <p:spTgt spid="43"/>
                                        </p:tgtEl>
                                      </p:cBhvr>
                                    </p:animEffect>
                                  </p:childTnLst>
                                </p:cTn>
                              </p:par>
                              <p:par>
                                <p:cTn id="184" presetID="2" presetClass="entr" presetSubtype="4" fill="hold" grpId="0" nodeType="withEffect">
                                  <p:stCondLst>
                                    <p:cond delay="0"/>
                                  </p:stCondLst>
                                  <p:childTnLst>
                                    <p:set>
                                      <p:cBhvr>
                                        <p:cTn id="180" dur="1" fill="hold">
                                          <p:stCondLst>
                                            <p:cond delay="0"/>
                                          </p:stCondLst>
                                        </p:cTn>
                                        <p:tgtEl>
                                          <p:spTgt spid="44"/>
                                        </p:tgtEl>
                                        <p:attrNameLst>
                                          <p:attrName>style.visibility</p:attrName>
                                        </p:attrNameLst>
                                      </p:cBhvr>
                                      <p:to>
                                        <p:strVal val="visible"/>
                                      </p:to>
                                    </p:set>
                                    <p:anim calcmode="lin" valueType="num">
                                      <p:cBhvr additive="base">
                                        <p:cTn id="181" dur="500" fill="hold"/>
                                        <p:tgtEl>
                                          <p:spTgt spid="44"/>
                                        </p:tgtEl>
                                        <p:attrNameLst>
                                          <p:attrName>ppt_x</p:attrName>
                                        </p:attrNameLst>
                                      </p:cBhvr>
                                      <p:tavLst>
                                        <p:tav tm="0">
                                          <p:val>
                                            <p:strVal val="#ppt_x"/>
                                          </p:val>
                                        </p:tav>
                                        <p:tav tm="100000">
                                          <p:val>
                                            <p:strVal val="#ppt_x"/>
                                          </p:val>
                                        </p:tav>
                                      </p:tavLst>
                                    </p:anim>
                                    <p:anim calcmode="lin" valueType="num">
                                      <p:cBhvr additive="base">
                                        <p:cTn id="182" dur="500" fill="hold"/>
                                        <p:tgtEl>
                                          <p:spTgt spid="44"/>
                                        </p:tgtEl>
                                        <p:attrNameLst>
                                          <p:attrName>ppt_y</p:attrName>
                                        </p:attrNameLst>
                                      </p:cBhvr>
                                      <p:tavLst>
                                        <p:tav tm="0">
                                          <p:val>
                                            <p:strVal val="#ppt_y+0.1"/>
                                          </p:val>
                                        </p:tav>
                                        <p:tav tm="100000">
                                          <p:val>
                                            <p:strVal val="#ppt_y"/>
                                          </p:val>
                                        </p:tav>
                                      </p:tavLst>
                                    </p:anim>
                                    <p:animEffect transition="in" filter="fade">
                                      <p:cBhvr>
                                        <p:cTn id="183" dur="500"/>
                                        <p:tgtEl>
                                          <p:spTgt spid="44"/>
                                        </p:tgtEl>
                                      </p:cBhvr>
                                    </p:animEffect>
                                  </p:childTnLst>
                                </p:cTn>
                              </p:par>
                              <p:par>
                                <p:cTn id="189" presetID="2" presetClass="entr" presetSubtype="4" fill="hold" grpId="0" nodeType="withEffect">
                                  <p:stCondLst>
                                    <p:cond delay="0"/>
                                  </p:stCondLst>
                                  <p:childTnLst>
                                    <p:set>
                                      <p:cBhvr>
                                        <p:cTn id="185" dur="1" fill="hold">
                                          <p:stCondLst>
                                            <p:cond delay="0"/>
                                          </p:stCondLst>
                                        </p:cTn>
                                        <p:tgtEl>
                                          <p:spTgt spid="45"/>
                                        </p:tgtEl>
                                        <p:attrNameLst>
                                          <p:attrName>style.visibility</p:attrName>
                                        </p:attrNameLst>
                                      </p:cBhvr>
                                      <p:to>
                                        <p:strVal val="visible"/>
                                      </p:to>
                                    </p:set>
                                    <p:anim calcmode="lin" valueType="num">
                                      <p:cBhvr additive="base">
                                        <p:cTn id="186" dur="500" fill="hold"/>
                                        <p:tgtEl>
                                          <p:spTgt spid="45"/>
                                        </p:tgtEl>
                                        <p:attrNameLst>
                                          <p:attrName>ppt_x</p:attrName>
                                        </p:attrNameLst>
                                      </p:cBhvr>
                                      <p:tavLst>
                                        <p:tav tm="0">
                                          <p:val>
                                            <p:strVal val="#ppt_x"/>
                                          </p:val>
                                        </p:tav>
                                        <p:tav tm="100000">
                                          <p:val>
                                            <p:strVal val="#ppt_x"/>
                                          </p:val>
                                        </p:tav>
                                      </p:tavLst>
                                    </p:anim>
                                    <p:anim calcmode="lin" valueType="num">
                                      <p:cBhvr additive="base">
                                        <p:cTn id="187" dur="500" fill="hold"/>
                                        <p:tgtEl>
                                          <p:spTgt spid="45"/>
                                        </p:tgtEl>
                                        <p:attrNameLst>
                                          <p:attrName>ppt_y</p:attrName>
                                        </p:attrNameLst>
                                      </p:cBhvr>
                                      <p:tavLst>
                                        <p:tav tm="0">
                                          <p:val>
                                            <p:strVal val="#ppt_y+0.1"/>
                                          </p:val>
                                        </p:tav>
                                        <p:tav tm="100000">
                                          <p:val>
                                            <p:strVal val="#ppt_y"/>
                                          </p:val>
                                        </p:tav>
                                      </p:tavLst>
                                    </p:anim>
                                    <p:animEffect transition="in" filter="fade">
                                      <p:cBhvr>
                                        <p:cTn id="188" dur="500"/>
                                        <p:tgtEl>
                                          <p:spTgt spid="45"/>
                                        </p:tgtEl>
                                      </p:cBhvr>
                                    </p:animEffect>
                                  </p:childTnLst>
                                </p:cTn>
                              </p:par>
                              <p:par>
                                <p:cTn id="194" presetID="2" presetClass="entr" presetSubtype="4" fill="hold" grpId="0" nodeType="withEffect">
                                  <p:stCondLst>
                                    <p:cond delay="100"/>
                                  </p:stCondLst>
                                  <p:childTnLst>
                                    <p:set>
                                      <p:cBhvr>
                                        <p:cTn id="190" dur="1" fill="hold">
                                          <p:stCondLst>
                                            <p:cond delay="0"/>
                                          </p:stCondLst>
                                        </p:cTn>
                                        <p:tgtEl>
                                          <p:spTgt spid="46"/>
                                        </p:tgtEl>
                                        <p:attrNameLst>
                                          <p:attrName>style.visibility</p:attrName>
                                        </p:attrNameLst>
                                      </p:cBhvr>
                                      <p:to>
                                        <p:strVal val="visible"/>
                                      </p:to>
                                    </p:set>
                                    <p:anim calcmode="lin" valueType="num">
                                      <p:cBhvr additive="base">
                                        <p:cTn id="191" dur="500" fill="hold"/>
                                        <p:tgtEl>
                                          <p:spTgt spid="46"/>
                                        </p:tgtEl>
                                        <p:attrNameLst>
                                          <p:attrName>ppt_x</p:attrName>
                                        </p:attrNameLst>
                                      </p:cBhvr>
                                      <p:tavLst>
                                        <p:tav tm="0">
                                          <p:val>
                                            <p:strVal val="#ppt_x"/>
                                          </p:val>
                                        </p:tav>
                                        <p:tav tm="100000">
                                          <p:val>
                                            <p:strVal val="#ppt_x"/>
                                          </p:val>
                                        </p:tav>
                                      </p:tavLst>
                                    </p:anim>
                                    <p:anim calcmode="lin" valueType="num">
                                      <p:cBhvr additive="base">
                                        <p:cTn id="192" dur="500" fill="hold"/>
                                        <p:tgtEl>
                                          <p:spTgt spid="46"/>
                                        </p:tgtEl>
                                        <p:attrNameLst>
                                          <p:attrName>ppt_y</p:attrName>
                                        </p:attrNameLst>
                                      </p:cBhvr>
                                      <p:tavLst>
                                        <p:tav tm="0">
                                          <p:val>
                                            <p:strVal val="#ppt_y+0.1"/>
                                          </p:val>
                                        </p:tav>
                                        <p:tav tm="100000">
                                          <p:val>
                                            <p:strVal val="#ppt_y"/>
                                          </p:val>
                                        </p:tav>
                                      </p:tavLst>
                                    </p:anim>
                                    <p:animEffect transition="in" filter="fade">
                                      <p:cBhvr>
                                        <p:cTn id="193" dur="500"/>
                                        <p:tgtEl>
                                          <p:spTgt spid="46"/>
                                        </p:tgtEl>
                                      </p:cBhvr>
                                    </p:animEffect>
                                  </p:childTnLst>
                                </p:cTn>
                              </p:par>
                            </p:childTnLst>
                          </p:cTn>
                        </p:par>
                      </p:childTnLst>
                    </p:cTn>
                  </p:par>
                  <p:par>
                    <p:cTn id="195" fill="hold">
                      <p:stCondLst>
                        <p:cond delay="indefinite"/>
                      </p:stCondLst>
                      <p:childTnLst>
                        <p:par>
                          <p:cTn id="196" fill="hold">
                            <p:stCondLst>
                              <p:cond delay="0"/>
                            </p:stCondLst>
                            <p:childTnLst>
                              <p:par>
                                <p:cTn id="201" presetID="2" presetClass="entr" presetSubtype="4" fill="hold" grpId="0" nodeType="clickEffect">
                                  <p:stCondLst>
                                    <p:cond delay="0"/>
                                  </p:stCondLst>
                                  <p:childTnLst>
                                    <p:set>
                                      <p:cBhvr>
                                        <p:cTn id="197" dur="1" fill="hold">
                                          <p:stCondLst>
                                            <p:cond delay="0"/>
                                          </p:stCondLst>
                                        </p:cTn>
                                        <p:tgtEl>
                                          <p:spTgt spid="47"/>
                                        </p:tgtEl>
                                        <p:attrNameLst>
                                          <p:attrName>style.visibility</p:attrName>
                                        </p:attrNameLst>
                                      </p:cBhvr>
                                      <p:to>
                                        <p:strVal val="visible"/>
                                      </p:to>
                                    </p:set>
                                    <p:anim calcmode="lin" valueType="num">
                                      <p:cBhvr additive="base">
                                        <p:cTn id="198" dur="500" fill="hold"/>
                                        <p:tgtEl>
                                          <p:spTgt spid="47"/>
                                        </p:tgtEl>
                                        <p:attrNameLst>
                                          <p:attrName>ppt_x</p:attrName>
                                        </p:attrNameLst>
                                      </p:cBhvr>
                                      <p:tavLst>
                                        <p:tav tm="0">
                                          <p:val>
                                            <p:strVal val="#ppt_x"/>
                                          </p:val>
                                        </p:tav>
                                        <p:tav tm="100000">
                                          <p:val>
                                            <p:strVal val="#ppt_x"/>
                                          </p:val>
                                        </p:tav>
                                      </p:tavLst>
                                    </p:anim>
                                    <p:anim calcmode="lin" valueType="num">
                                      <p:cBhvr additive="base">
                                        <p:cTn id="199" dur="500" fill="hold"/>
                                        <p:tgtEl>
                                          <p:spTgt spid="47"/>
                                        </p:tgtEl>
                                        <p:attrNameLst>
                                          <p:attrName>ppt_y</p:attrName>
                                        </p:attrNameLst>
                                      </p:cBhvr>
                                      <p:tavLst>
                                        <p:tav tm="0">
                                          <p:val>
                                            <p:strVal val="#ppt_y+0.1"/>
                                          </p:val>
                                        </p:tav>
                                        <p:tav tm="100000">
                                          <p:val>
                                            <p:strVal val="#ppt_y"/>
                                          </p:val>
                                        </p:tav>
                                      </p:tavLst>
                                    </p:anim>
                                    <p:animEffect transition="in" filter="fade">
                                      <p:cBhvr>
                                        <p:cTn id="200" dur="500"/>
                                        <p:tgtEl>
                                          <p:spTgt spid="47"/>
                                        </p:tgtEl>
                                      </p:cBhvr>
                                    </p:animEffect>
                                  </p:childTnLst>
                                </p:cTn>
                              </p:par>
                              <p:par>
                                <p:cTn id="206" presetID="2" presetClass="entr" presetSubtype="4" fill="hold" grpId="0" nodeType="withEffect">
                                  <p:stCondLst>
                                    <p:cond delay="0"/>
                                  </p:stCondLst>
                                  <p:childTnLst>
                                    <p:set>
                                      <p:cBhvr>
                                        <p:cTn id="202" dur="1" fill="hold">
                                          <p:stCondLst>
                                            <p:cond delay="0"/>
                                          </p:stCondLst>
                                        </p:cTn>
                                        <p:tgtEl>
                                          <p:spTgt spid="48"/>
                                        </p:tgtEl>
                                        <p:attrNameLst>
                                          <p:attrName>style.visibility</p:attrName>
                                        </p:attrNameLst>
                                      </p:cBhvr>
                                      <p:to>
                                        <p:strVal val="visible"/>
                                      </p:to>
                                    </p:set>
                                    <p:anim calcmode="lin" valueType="num">
                                      <p:cBhvr additive="base">
                                        <p:cTn id="203" dur="500" fill="hold"/>
                                        <p:tgtEl>
                                          <p:spTgt spid="48"/>
                                        </p:tgtEl>
                                        <p:attrNameLst>
                                          <p:attrName>ppt_x</p:attrName>
                                        </p:attrNameLst>
                                      </p:cBhvr>
                                      <p:tavLst>
                                        <p:tav tm="0">
                                          <p:val>
                                            <p:strVal val="#ppt_x"/>
                                          </p:val>
                                        </p:tav>
                                        <p:tav tm="100000">
                                          <p:val>
                                            <p:strVal val="#ppt_x"/>
                                          </p:val>
                                        </p:tav>
                                      </p:tavLst>
                                    </p:anim>
                                    <p:anim calcmode="lin" valueType="num">
                                      <p:cBhvr additive="base">
                                        <p:cTn id="204" dur="500" fill="hold"/>
                                        <p:tgtEl>
                                          <p:spTgt spid="48"/>
                                        </p:tgtEl>
                                        <p:attrNameLst>
                                          <p:attrName>ppt_y</p:attrName>
                                        </p:attrNameLst>
                                      </p:cBhvr>
                                      <p:tavLst>
                                        <p:tav tm="0">
                                          <p:val>
                                            <p:strVal val="#ppt_y+0.1"/>
                                          </p:val>
                                        </p:tav>
                                        <p:tav tm="100000">
                                          <p:val>
                                            <p:strVal val="#ppt_y"/>
                                          </p:val>
                                        </p:tav>
                                      </p:tavLst>
                                    </p:anim>
                                    <p:animEffect transition="in" filter="fade">
                                      <p:cBhvr>
                                        <p:cTn id="205" dur="500"/>
                                        <p:tgtEl>
                                          <p:spTgt spid="48"/>
                                        </p:tgtEl>
                                      </p:cBhvr>
                                    </p:animEffect>
                                  </p:childTnLst>
                                </p:cTn>
                              </p:par>
                              <p:par>
                                <p:cTn id="211" presetID="2" presetClass="entr" presetSubtype="4" fill="hold" grpId="0" nodeType="withEffect">
                                  <p:stCondLst>
                                    <p:cond delay="0"/>
                                  </p:stCondLst>
                                  <p:childTnLst>
                                    <p:set>
                                      <p:cBhvr>
                                        <p:cTn id="207" dur="1" fill="hold">
                                          <p:stCondLst>
                                            <p:cond delay="0"/>
                                          </p:stCondLst>
                                        </p:cTn>
                                        <p:tgtEl>
                                          <p:spTgt spid="49"/>
                                        </p:tgtEl>
                                        <p:attrNameLst>
                                          <p:attrName>style.visibility</p:attrName>
                                        </p:attrNameLst>
                                      </p:cBhvr>
                                      <p:to>
                                        <p:strVal val="visible"/>
                                      </p:to>
                                    </p:set>
                                    <p:anim calcmode="lin" valueType="num">
                                      <p:cBhvr additive="base">
                                        <p:cTn id="208" dur="500" fill="hold"/>
                                        <p:tgtEl>
                                          <p:spTgt spid="49"/>
                                        </p:tgtEl>
                                        <p:attrNameLst>
                                          <p:attrName>ppt_x</p:attrName>
                                        </p:attrNameLst>
                                      </p:cBhvr>
                                      <p:tavLst>
                                        <p:tav tm="0">
                                          <p:val>
                                            <p:strVal val="#ppt_x"/>
                                          </p:val>
                                        </p:tav>
                                        <p:tav tm="100000">
                                          <p:val>
                                            <p:strVal val="#ppt_x"/>
                                          </p:val>
                                        </p:tav>
                                      </p:tavLst>
                                    </p:anim>
                                    <p:anim calcmode="lin" valueType="num">
                                      <p:cBhvr additive="base">
                                        <p:cTn id="209" dur="500" fill="hold"/>
                                        <p:tgtEl>
                                          <p:spTgt spid="49"/>
                                        </p:tgtEl>
                                        <p:attrNameLst>
                                          <p:attrName>ppt_y</p:attrName>
                                        </p:attrNameLst>
                                      </p:cBhvr>
                                      <p:tavLst>
                                        <p:tav tm="0">
                                          <p:val>
                                            <p:strVal val="#ppt_y+0.1"/>
                                          </p:val>
                                        </p:tav>
                                        <p:tav tm="100000">
                                          <p:val>
                                            <p:strVal val="#ppt_y"/>
                                          </p:val>
                                        </p:tav>
                                      </p:tavLst>
                                    </p:anim>
                                    <p:animEffect transition="in" filter="fade">
                                      <p:cBhvr>
                                        <p:cTn id="21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Meanwhile: Log Aggregators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Web companies had a different problem - collecting enormous volumes of log data</a:t>
            </a:r>
          </a:p>
        </p:txBody>
      </p:sp>
      <p:sp>
        <p:nvSpPr>
          <p:cNvPr id="11" name="a1u_nd10"/>
          <p:cNvSpPr/>
          <p:nvPr/>
        </p:nvSpPr>
        <p:spPr>
          <a:xfrm>
            <a:off x="457200" y="1325880"/>
            <a:ext cx="1463040" cy="438912"/>
          </a:xfrm>
          <a:prstGeom prst="roundRect">
            <a:avLst>
              <a:gd name="adj" fmla="val 16666"/>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325880"/>
            <a:ext cx="1371600" cy="438912"/>
          </a:xfrm>
          <a:prstGeom prst="rect">
            <a:avLst/>
          </a:prstGeom>
          <a:noFill/>
        </p:spPr>
        <p:txBody>
          <a:bodyPr wrap="square" lIns="0" tIns="0" rIns="0" bIns="0" anchor="ctr">
            <a:spAutoFit/>
          </a:bodyPr>
          <a:lstStyle/>
          <a:p>
            <a:pPr algn="ctr"/>
            <a:r>
              <a:rPr sz="900" b="1">
                <a:solidFill>
                  <a:srgbClr val="1C1917"/>
                </a:solidFill>
                <a:latin typeface="Segoe UI"/>
              </a:rPr>
              <a:t>Web server 1</a:t>
            </a:r>
          </a:p>
        </p:txBody>
      </p:sp>
      <p:cxnSp>
        <p:nvCxnSpPr>
          <p:cNvPr id="13" name="a1u_ar12"/>
          <p:cNvCxnSpPr/>
          <p:nvPr/>
        </p:nvCxnSpPr>
        <p:spPr>
          <a:xfrm>
            <a:off x="1947672" y="1545336"/>
            <a:ext cx="539496" cy="557784"/>
          </a:xfrm>
          <a:prstGeom prst="line">
            <a:avLst/>
          </a:prstGeom>
          <a:ln w="127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a1ud100_nd13"/>
          <p:cNvSpPr/>
          <p:nvPr/>
        </p:nvSpPr>
        <p:spPr>
          <a:xfrm>
            <a:off x="457200" y="1892807"/>
            <a:ext cx="1463040" cy="438912"/>
          </a:xfrm>
          <a:prstGeom prst="roundRect">
            <a:avLst>
              <a:gd name="adj" fmla="val 16666"/>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100_ndt14"/>
          <p:cNvSpPr txBox="1"/>
          <p:nvPr/>
        </p:nvSpPr>
        <p:spPr>
          <a:xfrm>
            <a:off x="502920" y="1892807"/>
            <a:ext cx="1371600" cy="438912"/>
          </a:xfrm>
          <a:prstGeom prst="rect">
            <a:avLst/>
          </a:prstGeom>
          <a:noFill/>
        </p:spPr>
        <p:txBody>
          <a:bodyPr wrap="square" lIns="0" tIns="0" rIns="0" bIns="0" anchor="ctr">
            <a:spAutoFit/>
          </a:bodyPr>
          <a:lstStyle/>
          <a:p>
            <a:pPr algn="ctr"/>
            <a:r>
              <a:rPr sz="900" b="1">
                <a:solidFill>
                  <a:srgbClr val="1C1917"/>
                </a:solidFill>
                <a:latin typeface="Segoe UI"/>
              </a:rPr>
              <a:t>Web server 2</a:t>
            </a:r>
          </a:p>
        </p:txBody>
      </p:sp>
      <p:cxnSp>
        <p:nvCxnSpPr>
          <p:cNvPr id="16" name="a1ud100_ar15"/>
          <p:cNvCxnSpPr/>
          <p:nvPr/>
        </p:nvCxnSpPr>
        <p:spPr>
          <a:xfrm flipV="1">
            <a:off x="1947672" y="2103120"/>
            <a:ext cx="539496" cy="9144"/>
          </a:xfrm>
          <a:prstGeom prst="line">
            <a:avLst/>
          </a:prstGeom>
          <a:ln w="127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a1ud200_nd16"/>
          <p:cNvSpPr/>
          <p:nvPr/>
        </p:nvSpPr>
        <p:spPr>
          <a:xfrm>
            <a:off x="457200" y="2459736"/>
            <a:ext cx="1463040" cy="438912"/>
          </a:xfrm>
          <a:prstGeom prst="roundRect">
            <a:avLst>
              <a:gd name="adj" fmla="val 16666"/>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d200_ndt17"/>
          <p:cNvSpPr txBox="1"/>
          <p:nvPr/>
        </p:nvSpPr>
        <p:spPr>
          <a:xfrm>
            <a:off x="502920" y="2459736"/>
            <a:ext cx="1371600" cy="438912"/>
          </a:xfrm>
          <a:prstGeom prst="rect">
            <a:avLst/>
          </a:prstGeom>
          <a:noFill/>
        </p:spPr>
        <p:txBody>
          <a:bodyPr wrap="square" lIns="0" tIns="0" rIns="0" bIns="0" anchor="ctr">
            <a:spAutoFit/>
          </a:bodyPr>
          <a:lstStyle/>
          <a:p>
            <a:pPr algn="ctr"/>
            <a:r>
              <a:rPr sz="900" b="1">
                <a:solidFill>
                  <a:srgbClr val="1C1917"/>
                </a:solidFill>
                <a:latin typeface="Segoe UI"/>
              </a:rPr>
              <a:t>Web server 3</a:t>
            </a:r>
          </a:p>
        </p:txBody>
      </p:sp>
      <p:cxnSp>
        <p:nvCxnSpPr>
          <p:cNvPr id="19" name="a1ud200_ar18"/>
          <p:cNvCxnSpPr/>
          <p:nvPr/>
        </p:nvCxnSpPr>
        <p:spPr>
          <a:xfrm flipV="1">
            <a:off x="1947672" y="2103120"/>
            <a:ext cx="539496" cy="576071"/>
          </a:xfrm>
          <a:prstGeom prst="line">
            <a:avLst/>
          </a:prstGeom>
          <a:ln w="127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a2u_nd19"/>
          <p:cNvSpPr/>
          <p:nvPr/>
        </p:nvSpPr>
        <p:spPr>
          <a:xfrm>
            <a:off x="2514600" y="1783080"/>
            <a:ext cx="1600200" cy="640080"/>
          </a:xfrm>
          <a:prstGeom prst="roundRect">
            <a:avLst>
              <a:gd name="adj" fmla="val 11428"/>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_ndt20"/>
          <p:cNvSpPr txBox="1"/>
          <p:nvPr/>
        </p:nvSpPr>
        <p:spPr>
          <a:xfrm>
            <a:off x="2560320" y="1819656"/>
            <a:ext cx="1508760" cy="301751"/>
          </a:xfrm>
          <a:prstGeom prst="rect">
            <a:avLst/>
          </a:prstGeom>
          <a:noFill/>
        </p:spPr>
        <p:txBody>
          <a:bodyPr wrap="square" lIns="0" tIns="0" rIns="0" bIns="0" anchor="b">
            <a:spAutoFit/>
          </a:bodyPr>
          <a:lstStyle/>
          <a:p>
            <a:pPr algn="ctr"/>
            <a:r>
              <a:rPr sz="1000" b="1">
                <a:solidFill>
                  <a:srgbClr val="1C1917"/>
                </a:solidFill>
                <a:latin typeface="Segoe UI"/>
              </a:rPr>
              <a:t>Collector</a:t>
            </a:r>
          </a:p>
        </p:txBody>
      </p:sp>
      <p:sp>
        <p:nvSpPr>
          <p:cNvPr id="22" name="a2u_nds21"/>
          <p:cNvSpPr txBox="1"/>
          <p:nvPr/>
        </p:nvSpPr>
        <p:spPr>
          <a:xfrm>
            <a:off x="2560320" y="2130551"/>
            <a:ext cx="1508760" cy="256031"/>
          </a:xfrm>
          <a:prstGeom prst="rect">
            <a:avLst/>
          </a:prstGeom>
          <a:noFill/>
        </p:spPr>
        <p:txBody>
          <a:bodyPr wrap="square" lIns="0" tIns="0" rIns="0" bIns="0" anchor="t">
            <a:spAutoFit/>
          </a:bodyPr>
          <a:lstStyle/>
          <a:p>
            <a:pPr algn="ctr"/>
            <a:r>
              <a:rPr sz="800" b="0">
                <a:solidFill>
                  <a:srgbClr val="A16207"/>
                </a:solidFill>
                <a:latin typeface="Segoe UI"/>
              </a:rPr>
              <a:t>Scribe / Flume</a:t>
            </a:r>
          </a:p>
        </p:txBody>
      </p:sp>
      <p:cxnSp>
        <p:nvCxnSpPr>
          <p:cNvPr id="23" name="a2ud100_ar22"/>
          <p:cNvCxnSpPr/>
          <p:nvPr/>
        </p:nvCxnSpPr>
        <p:spPr>
          <a:xfrm>
            <a:off x="4142232" y="2103120"/>
            <a:ext cx="539496" cy="0"/>
          </a:xfrm>
          <a:prstGeom prst="line">
            <a:avLst/>
          </a:prstGeom>
          <a:ln w="1905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a2ud100_lb23"/>
          <p:cNvSpPr txBox="1"/>
          <p:nvPr/>
        </p:nvSpPr>
        <p:spPr>
          <a:xfrm>
            <a:off x="4069080" y="1847088"/>
            <a:ext cx="685800" cy="201168"/>
          </a:xfrm>
          <a:prstGeom prst="rect">
            <a:avLst/>
          </a:prstGeom>
          <a:noFill/>
        </p:spPr>
        <p:txBody>
          <a:bodyPr wrap="square" lIns="0" tIns="0" rIns="0" bIns="0" anchor="ctr">
            <a:spAutoFit/>
          </a:bodyPr>
          <a:lstStyle/>
          <a:p>
            <a:pPr algn="ctr"/>
            <a:r>
              <a:rPr sz="750" b="0">
                <a:solidFill>
                  <a:srgbClr val="78716C"/>
                </a:solidFill>
                <a:latin typeface="Segoe UI"/>
              </a:rPr>
              <a:t>batches</a:t>
            </a:r>
          </a:p>
        </p:txBody>
      </p:sp>
      <p:sp>
        <p:nvSpPr>
          <p:cNvPr id="25" name="a2ud200_nd24"/>
          <p:cNvSpPr/>
          <p:nvPr/>
        </p:nvSpPr>
        <p:spPr>
          <a:xfrm>
            <a:off x="4709160" y="1783080"/>
            <a:ext cx="1600200" cy="640080"/>
          </a:xfrm>
          <a:prstGeom prst="roundRect">
            <a:avLst>
              <a:gd name="adj" fmla="val 11428"/>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d200_ndt25"/>
          <p:cNvSpPr txBox="1"/>
          <p:nvPr/>
        </p:nvSpPr>
        <p:spPr>
          <a:xfrm>
            <a:off x="4754880" y="1819656"/>
            <a:ext cx="1508760" cy="301751"/>
          </a:xfrm>
          <a:prstGeom prst="rect">
            <a:avLst/>
          </a:prstGeom>
          <a:noFill/>
        </p:spPr>
        <p:txBody>
          <a:bodyPr wrap="square" lIns="0" tIns="0" rIns="0" bIns="0" anchor="b">
            <a:spAutoFit/>
          </a:bodyPr>
          <a:lstStyle/>
          <a:p>
            <a:pPr algn="ctr"/>
            <a:r>
              <a:rPr sz="1000" b="1">
                <a:solidFill>
                  <a:srgbClr val="1C1917"/>
                </a:solidFill>
                <a:latin typeface="Segoe UI"/>
              </a:rPr>
              <a:t>Hadoop (HDFS)</a:t>
            </a:r>
          </a:p>
        </p:txBody>
      </p:sp>
      <p:sp>
        <p:nvSpPr>
          <p:cNvPr id="27" name="a2ud200_nds26"/>
          <p:cNvSpPr txBox="1"/>
          <p:nvPr/>
        </p:nvSpPr>
        <p:spPr>
          <a:xfrm>
            <a:off x="4754880" y="2130551"/>
            <a:ext cx="1508760" cy="256031"/>
          </a:xfrm>
          <a:prstGeom prst="rect">
            <a:avLst/>
          </a:prstGeom>
          <a:noFill/>
        </p:spPr>
        <p:txBody>
          <a:bodyPr wrap="square" lIns="0" tIns="0" rIns="0" bIns="0" anchor="t">
            <a:spAutoFit/>
          </a:bodyPr>
          <a:lstStyle/>
          <a:p>
            <a:pPr algn="ctr"/>
            <a:r>
              <a:rPr sz="800" b="0">
                <a:solidFill>
                  <a:srgbClr val="0E7490"/>
                </a:solidFill>
                <a:latin typeface="Segoe UI"/>
              </a:rPr>
              <a:t>files pile up</a:t>
            </a:r>
          </a:p>
        </p:txBody>
      </p:sp>
      <p:cxnSp>
        <p:nvCxnSpPr>
          <p:cNvPr id="28" name="a3u_ar27"/>
          <p:cNvCxnSpPr/>
          <p:nvPr/>
        </p:nvCxnSpPr>
        <p:spPr>
          <a:xfrm>
            <a:off x="6336792" y="2103120"/>
            <a:ext cx="539496" cy="0"/>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a3u_lb28"/>
          <p:cNvSpPr txBox="1"/>
          <p:nvPr/>
        </p:nvSpPr>
        <p:spPr>
          <a:xfrm>
            <a:off x="6263640" y="1847088"/>
            <a:ext cx="685800" cy="201168"/>
          </a:xfrm>
          <a:prstGeom prst="rect">
            <a:avLst/>
          </a:prstGeom>
          <a:noFill/>
        </p:spPr>
        <p:txBody>
          <a:bodyPr wrap="square" lIns="0" tIns="0" rIns="0" bIns="0" anchor="ctr">
            <a:spAutoFit/>
          </a:bodyPr>
          <a:lstStyle/>
          <a:p>
            <a:pPr algn="ctr"/>
            <a:r>
              <a:rPr sz="750" b="0">
                <a:solidFill>
                  <a:srgbClr val="78716C"/>
                </a:solidFill>
                <a:latin typeface="Segoe UI"/>
              </a:rPr>
              <a:t>nightly</a:t>
            </a:r>
          </a:p>
        </p:txBody>
      </p:sp>
      <p:sp>
        <p:nvSpPr>
          <p:cNvPr id="30" name="a3ud100_nd29"/>
          <p:cNvSpPr/>
          <p:nvPr/>
        </p:nvSpPr>
        <p:spPr>
          <a:xfrm>
            <a:off x="6903720" y="1783080"/>
            <a:ext cx="1783080" cy="640080"/>
          </a:xfrm>
          <a:prstGeom prst="roundRect">
            <a:avLst>
              <a:gd name="adj" fmla="val 11428"/>
            </a:avLst>
          </a:prstGeom>
          <a:solidFill>
            <a:srgbClr val="F7F6F3"/>
          </a:solidFill>
          <a:ln w="15875">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ud100_ndt30"/>
          <p:cNvSpPr txBox="1"/>
          <p:nvPr/>
        </p:nvSpPr>
        <p:spPr>
          <a:xfrm>
            <a:off x="6949440" y="1819656"/>
            <a:ext cx="1691639" cy="301751"/>
          </a:xfrm>
          <a:prstGeom prst="rect">
            <a:avLst/>
          </a:prstGeom>
          <a:noFill/>
        </p:spPr>
        <p:txBody>
          <a:bodyPr wrap="square" lIns="0" tIns="0" rIns="0" bIns="0" anchor="b">
            <a:spAutoFit/>
          </a:bodyPr>
          <a:lstStyle/>
          <a:p>
            <a:pPr algn="ctr"/>
            <a:r>
              <a:rPr sz="1000" b="1">
                <a:solidFill>
                  <a:srgbClr val="1C1917"/>
                </a:solidFill>
                <a:latin typeface="Segoe UI"/>
              </a:rPr>
              <a:t>Reports</a:t>
            </a:r>
          </a:p>
        </p:txBody>
      </p:sp>
      <p:sp>
        <p:nvSpPr>
          <p:cNvPr id="32" name="a3ud100_nds31"/>
          <p:cNvSpPr txBox="1"/>
          <p:nvPr/>
        </p:nvSpPr>
        <p:spPr>
          <a:xfrm>
            <a:off x="6949440" y="2130551"/>
            <a:ext cx="1691639" cy="256031"/>
          </a:xfrm>
          <a:prstGeom prst="rect">
            <a:avLst/>
          </a:prstGeom>
          <a:noFill/>
        </p:spPr>
        <p:txBody>
          <a:bodyPr wrap="square" lIns="0" tIns="0" rIns="0" bIns="0" anchor="t">
            <a:spAutoFit/>
          </a:bodyPr>
          <a:lstStyle/>
          <a:p>
            <a:pPr algn="ctr"/>
            <a:r>
              <a:rPr sz="800" b="0">
                <a:solidFill>
                  <a:srgbClr val="E11D48"/>
                </a:solidFill>
                <a:latin typeface="Segoe UI"/>
              </a:rPr>
              <a:t>hours later</a:t>
            </a:r>
          </a:p>
        </p:txBody>
      </p:sp>
      <p:sp>
        <p:nvSpPr>
          <p:cNvPr id="33" name="a4u_card32"/>
          <p:cNvSpPr/>
          <p:nvPr/>
        </p:nvSpPr>
        <p:spPr>
          <a:xfrm>
            <a:off x="457200" y="2971800"/>
            <a:ext cx="2615184" cy="731520"/>
          </a:xfrm>
          <a:prstGeom prst="roundRect">
            <a:avLst>
              <a:gd name="adj" fmla="val 15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4u_acc33"/>
          <p:cNvSpPr/>
          <p:nvPr/>
        </p:nvSpPr>
        <p:spPr>
          <a:xfrm>
            <a:off x="457200" y="2971800"/>
            <a:ext cx="2615184"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4u_tt34"/>
          <p:cNvSpPr txBox="1"/>
          <p:nvPr/>
        </p:nvSpPr>
        <p:spPr>
          <a:xfrm>
            <a:off x="603504" y="3081528"/>
            <a:ext cx="2340864" cy="256032"/>
          </a:xfrm>
          <a:prstGeom prst="rect">
            <a:avLst/>
          </a:prstGeom>
          <a:noFill/>
        </p:spPr>
        <p:txBody>
          <a:bodyPr wrap="square" lIns="0" tIns="0" rIns="0" bIns="0" anchor="ctr">
            <a:spAutoFit/>
          </a:bodyPr>
          <a:lstStyle/>
          <a:p>
            <a:pPr algn="l"/>
            <a:r>
              <a:rPr sz="1000" b="1">
                <a:solidFill>
                  <a:srgbClr val="1C1917"/>
                </a:solidFill>
                <a:latin typeface="Segoe UI"/>
              </a:rPr>
              <a:t>Facebook Scribe</a:t>
            </a:r>
          </a:p>
        </p:txBody>
      </p:sp>
      <p:sp>
        <p:nvSpPr>
          <p:cNvPr id="36" name="a4ud60_tb35"/>
          <p:cNvSpPr txBox="1"/>
          <p:nvPr/>
        </p:nvSpPr>
        <p:spPr>
          <a:xfrm>
            <a:off x="603504" y="3374136"/>
            <a:ext cx="2340864" cy="274320"/>
          </a:xfrm>
          <a:prstGeom prst="rect">
            <a:avLst/>
          </a:prstGeom>
          <a:noFill/>
        </p:spPr>
        <p:txBody>
          <a:bodyPr wrap="square" lIns="0" tIns="0" rIns="0" bIns="0" anchor="t">
            <a:spAutoFit/>
          </a:bodyPr>
          <a:lstStyle/>
          <a:p>
            <a:pPr algn="l"/>
            <a:r>
              <a:rPr sz="850" b="0">
                <a:solidFill>
                  <a:srgbClr val="44403C"/>
                </a:solidFill>
                <a:latin typeface="Segoe UI"/>
              </a:rPr>
              <a:t>open-sourced 2008</a:t>
            </a:r>
          </a:p>
        </p:txBody>
      </p:sp>
      <p:sp>
        <p:nvSpPr>
          <p:cNvPr id="37" name="a4u_card36"/>
          <p:cNvSpPr/>
          <p:nvPr/>
        </p:nvSpPr>
        <p:spPr>
          <a:xfrm>
            <a:off x="3264408" y="2971800"/>
            <a:ext cx="2615184" cy="731520"/>
          </a:xfrm>
          <a:prstGeom prst="roundRect">
            <a:avLst>
              <a:gd name="adj" fmla="val 15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4u_acc37"/>
          <p:cNvSpPr/>
          <p:nvPr/>
        </p:nvSpPr>
        <p:spPr>
          <a:xfrm>
            <a:off x="3264408" y="2971800"/>
            <a:ext cx="2615184"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4u_tt38"/>
          <p:cNvSpPr txBox="1"/>
          <p:nvPr/>
        </p:nvSpPr>
        <p:spPr>
          <a:xfrm>
            <a:off x="3410712" y="3081528"/>
            <a:ext cx="2340864" cy="256032"/>
          </a:xfrm>
          <a:prstGeom prst="rect">
            <a:avLst/>
          </a:prstGeom>
          <a:noFill/>
        </p:spPr>
        <p:txBody>
          <a:bodyPr wrap="square" lIns="0" tIns="0" rIns="0" bIns="0" anchor="ctr">
            <a:spAutoFit/>
          </a:bodyPr>
          <a:lstStyle/>
          <a:p>
            <a:pPr algn="l"/>
            <a:r>
              <a:rPr sz="1000" b="1">
                <a:solidFill>
                  <a:srgbClr val="1C1917"/>
                </a:solidFill>
                <a:latin typeface="Segoe UI"/>
              </a:rPr>
              <a:t>Cloudera Flume</a:t>
            </a:r>
          </a:p>
        </p:txBody>
      </p:sp>
      <p:sp>
        <p:nvSpPr>
          <p:cNvPr id="40" name="a4ud60_tb39"/>
          <p:cNvSpPr txBox="1"/>
          <p:nvPr/>
        </p:nvSpPr>
        <p:spPr>
          <a:xfrm>
            <a:off x="3410712" y="3374136"/>
            <a:ext cx="2340864" cy="274320"/>
          </a:xfrm>
          <a:prstGeom prst="rect">
            <a:avLst/>
          </a:prstGeom>
          <a:noFill/>
        </p:spPr>
        <p:txBody>
          <a:bodyPr wrap="square" lIns="0" tIns="0" rIns="0" bIns="0" anchor="t">
            <a:spAutoFit/>
          </a:bodyPr>
          <a:lstStyle/>
          <a:p>
            <a:pPr algn="l"/>
            <a:r>
              <a:rPr sz="850" b="0">
                <a:solidFill>
                  <a:srgbClr val="44403C"/>
                </a:solidFill>
                <a:latin typeface="Segoe UI"/>
              </a:rPr>
              <a:t>2011</a:t>
            </a:r>
          </a:p>
        </p:txBody>
      </p:sp>
      <p:sp>
        <p:nvSpPr>
          <p:cNvPr id="41" name="a4u_card40"/>
          <p:cNvSpPr/>
          <p:nvPr/>
        </p:nvSpPr>
        <p:spPr>
          <a:xfrm>
            <a:off x="6071616" y="2971800"/>
            <a:ext cx="2615184" cy="731520"/>
          </a:xfrm>
          <a:prstGeom prst="roundRect">
            <a:avLst>
              <a:gd name="adj" fmla="val 15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4u_acc41"/>
          <p:cNvSpPr/>
          <p:nvPr/>
        </p:nvSpPr>
        <p:spPr>
          <a:xfrm>
            <a:off x="6071616" y="2971800"/>
            <a:ext cx="2615184"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4u_tt42"/>
          <p:cNvSpPr txBox="1"/>
          <p:nvPr/>
        </p:nvSpPr>
        <p:spPr>
          <a:xfrm>
            <a:off x="6217920" y="3081528"/>
            <a:ext cx="2340864" cy="256032"/>
          </a:xfrm>
          <a:prstGeom prst="rect">
            <a:avLst/>
          </a:prstGeom>
          <a:noFill/>
        </p:spPr>
        <p:txBody>
          <a:bodyPr wrap="square" lIns="0" tIns="0" rIns="0" bIns="0" anchor="ctr">
            <a:spAutoFit/>
          </a:bodyPr>
          <a:lstStyle/>
          <a:p>
            <a:pPr algn="l"/>
            <a:r>
              <a:rPr sz="1000" b="1">
                <a:solidFill>
                  <a:srgbClr val="1C1917"/>
                </a:solidFill>
                <a:latin typeface="Segoe UI"/>
              </a:rPr>
              <a:t>Yahoo Data Highway</a:t>
            </a:r>
          </a:p>
        </p:txBody>
      </p:sp>
      <p:sp>
        <p:nvSpPr>
          <p:cNvPr id="44" name="a4ud60_tb43"/>
          <p:cNvSpPr txBox="1"/>
          <p:nvPr/>
        </p:nvSpPr>
        <p:spPr>
          <a:xfrm>
            <a:off x="6217920" y="3374136"/>
            <a:ext cx="2340864" cy="274320"/>
          </a:xfrm>
          <a:prstGeom prst="rect">
            <a:avLst/>
          </a:prstGeom>
          <a:noFill/>
        </p:spPr>
        <p:txBody>
          <a:bodyPr wrap="square" lIns="0" tIns="0" rIns="0" bIns="0" anchor="t">
            <a:spAutoFit/>
          </a:bodyPr>
          <a:lstStyle/>
          <a:p>
            <a:pPr algn="l"/>
            <a:r>
              <a:rPr sz="850" b="0">
                <a:solidFill>
                  <a:srgbClr val="44403C"/>
                </a:solidFill>
                <a:latin typeface="Segoe UI"/>
              </a:rPr>
              <a:t>internal</a:t>
            </a:r>
          </a:p>
        </p:txBody>
      </p:sp>
      <p:sp>
        <p:nvSpPr>
          <p:cNvPr id="45" name="a5u_nb44"/>
          <p:cNvSpPr/>
          <p:nvPr/>
        </p:nvSpPr>
        <p:spPr>
          <a:xfrm>
            <a:off x="457200" y="3858768"/>
            <a:ext cx="8229600" cy="603504"/>
          </a:xfrm>
          <a:prstGeom prst="roundRect">
            <a:avLst>
              <a:gd name="adj" fmla="val 12121"/>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5u_nacc45"/>
          <p:cNvSpPr/>
          <p:nvPr/>
        </p:nvSpPr>
        <p:spPr>
          <a:xfrm>
            <a:off x="457200" y="3858768"/>
            <a:ext cx="54864" cy="603504"/>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5u_nt46"/>
          <p:cNvSpPr txBox="1"/>
          <p:nvPr/>
        </p:nvSpPr>
        <p:spPr>
          <a:xfrm>
            <a:off x="658368" y="3858768"/>
            <a:ext cx="7827264" cy="603504"/>
          </a:xfrm>
          <a:prstGeom prst="rect">
            <a:avLst/>
          </a:prstGeom>
          <a:noFill/>
        </p:spPr>
        <p:txBody>
          <a:bodyPr wrap="square" lIns="0" tIns="0" rIns="0" bIns="0" anchor="ctr">
            <a:spAutoFit/>
          </a:bodyPr>
          <a:lstStyle/>
          <a:p>
            <a:pPr algn="l"/>
            <a:r>
              <a:rPr sz="900" b="1">
                <a:solidFill>
                  <a:srgbClr val="A16207"/>
                </a:solidFill>
                <a:latin typeface="Segoe UI"/>
              </a:rPr>
              <a:t>KEY  </a:t>
            </a:r>
            <a:r>
              <a:rPr sz="900" b="0">
                <a:solidFill>
                  <a:srgbClr val="44403C"/>
                </a:solidFill>
                <a:latin typeface="Segoe UI"/>
              </a:rPr>
              <a:t>Huge volume - but built for OFFLINE use: data landed in Hadoop and was analyzed hours later. Great for tomorrow's report, useless for an alert right now.</a:t>
            </a:r>
          </a:p>
        </p:txBody>
      </p:sp>
      <p:sp>
        <p:nvSpPr>
          <p:cNvPr id="48" name="ft4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36</a:t>
            </a:r>
          </a:p>
        </p:txBody>
      </p:sp>
      <p:sp>
        <p:nvSpPr>
          <p:cNvPr id="49" name="ft4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ft4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51" name="ft5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0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20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6" presetID="2" presetClass="entr" presetSubtype="4"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10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10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20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20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20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childTnLst>
                          </p:cTn>
                        </p:par>
                      </p:childTnLst>
                    </p:cTn>
                  </p:par>
                  <p:par>
                    <p:cTn id="92" fill="hold">
                      <p:stCondLst>
                        <p:cond delay="indefinite"/>
                      </p:stCondLst>
                      <p:childTnLst>
                        <p:par>
                          <p:cTn id="93" fill="hold">
                            <p:stCondLst>
                              <p:cond delay="0"/>
                            </p:stCondLst>
                            <p:childTnLst>
                              <p:par>
                                <p:cTn id="98" presetID="2" presetClass="entr" presetSubtype="4" fill="hold" grpId="0" nodeType="clickEffect">
                                  <p:stCondLst>
                                    <p:cond delay="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ppt_x"/>
                                          </p:val>
                                        </p:tav>
                                        <p:tav tm="100000">
                                          <p:val>
                                            <p:strVal val="#ppt_x"/>
                                          </p:val>
                                        </p:tav>
                                      </p:tavLst>
                                    </p:anim>
                                    <p:anim calcmode="lin" valueType="num">
                                      <p:cBhvr additive="base">
                                        <p:cTn id="96" dur="500" fill="hold"/>
                                        <p:tgtEl>
                                          <p:spTgt spid="28"/>
                                        </p:tgtEl>
                                        <p:attrNameLst>
                                          <p:attrName>ppt_y</p:attrName>
                                        </p:attrNameLst>
                                      </p:cBhvr>
                                      <p:tavLst>
                                        <p:tav tm="0">
                                          <p:val>
                                            <p:strVal val="#ppt_y+0.1"/>
                                          </p:val>
                                        </p:tav>
                                        <p:tav tm="100000">
                                          <p:val>
                                            <p:strVal val="#ppt_y"/>
                                          </p:val>
                                        </p:tav>
                                      </p:tavLst>
                                    </p:anim>
                                    <p:animEffect transition="in" filter="fade">
                                      <p:cBhvr>
                                        <p:cTn id="97" dur="500"/>
                                        <p:tgtEl>
                                          <p:spTgt spid="28"/>
                                        </p:tgtEl>
                                      </p:cBhvr>
                                    </p:animEffect>
                                  </p:childTnLst>
                                </p:cTn>
                              </p:par>
                              <p:par>
                                <p:cTn id="103" presetID="2" presetClass="entr" presetSubtype="4" fill="hold" grpId="0" nodeType="withEffect">
                                  <p:stCondLst>
                                    <p:cond delay="0"/>
                                  </p:stCondLst>
                                  <p:childTnLst>
                                    <p:set>
                                      <p:cBhvr>
                                        <p:cTn id="99" dur="1" fill="hold">
                                          <p:stCondLst>
                                            <p:cond delay="0"/>
                                          </p:stCondLst>
                                        </p:cTn>
                                        <p:tgtEl>
                                          <p:spTgt spid="29"/>
                                        </p:tgtEl>
                                        <p:attrNameLst>
                                          <p:attrName>style.visibility</p:attrName>
                                        </p:attrNameLst>
                                      </p:cBhvr>
                                      <p:to>
                                        <p:strVal val="visible"/>
                                      </p:to>
                                    </p:set>
                                    <p:anim calcmode="lin" valueType="num">
                                      <p:cBhvr additive="base">
                                        <p:cTn id="100" dur="500" fill="hold"/>
                                        <p:tgtEl>
                                          <p:spTgt spid="29"/>
                                        </p:tgtEl>
                                        <p:attrNameLst>
                                          <p:attrName>ppt_x</p:attrName>
                                        </p:attrNameLst>
                                      </p:cBhvr>
                                      <p:tavLst>
                                        <p:tav tm="0">
                                          <p:val>
                                            <p:strVal val="#ppt_x"/>
                                          </p:val>
                                        </p:tav>
                                        <p:tav tm="100000">
                                          <p:val>
                                            <p:strVal val="#ppt_x"/>
                                          </p:val>
                                        </p:tav>
                                      </p:tavLst>
                                    </p:anim>
                                    <p:anim calcmode="lin" valueType="num">
                                      <p:cBhvr additive="base">
                                        <p:cTn id="101" dur="500" fill="hold"/>
                                        <p:tgtEl>
                                          <p:spTgt spid="29"/>
                                        </p:tgtEl>
                                        <p:attrNameLst>
                                          <p:attrName>ppt_y</p:attrName>
                                        </p:attrNameLst>
                                      </p:cBhvr>
                                      <p:tavLst>
                                        <p:tav tm="0">
                                          <p:val>
                                            <p:strVal val="#ppt_y+0.1"/>
                                          </p:val>
                                        </p:tav>
                                        <p:tav tm="100000">
                                          <p:val>
                                            <p:strVal val="#ppt_y"/>
                                          </p:val>
                                        </p:tav>
                                      </p:tavLst>
                                    </p:anim>
                                    <p:animEffect transition="in" filter="fade">
                                      <p:cBhvr>
                                        <p:cTn id="102" dur="500"/>
                                        <p:tgtEl>
                                          <p:spTgt spid="29"/>
                                        </p:tgtEl>
                                      </p:cBhvr>
                                    </p:animEffect>
                                  </p:childTnLst>
                                </p:cTn>
                              </p:par>
                              <p:par>
                                <p:cTn id="108" presetID="2" presetClass="entr" presetSubtype="4" fill="hold" grpId="0" nodeType="withEffect">
                                  <p:stCondLst>
                                    <p:cond delay="10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ppt_x"/>
                                          </p:val>
                                        </p:tav>
                                        <p:tav tm="100000">
                                          <p:val>
                                            <p:strVal val="#ppt_x"/>
                                          </p:val>
                                        </p:tav>
                                      </p:tavLst>
                                    </p:anim>
                                    <p:anim calcmode="lin" valueType="num">
                                      <p:cBhvr additive="base">
                                        <p:cTn id="106" dur="500" fill="hold"/>
                                        <p:tgtEl>
                                          <p:spTgt spid="30"/>
                                        </p:tgtEl>
                                        <p:attrNameLst>
                                          <p:attrName>ppt_y</p:attrName>
                                        </p:attrNameLst>
                                      </p:cBhvr>
                                      <p:tavLst>
                                        <p:tav tm="0">
                                          <p:val>
                                            <p:strVal val="#ppt_y+0.1"/>
                                          </p:val>
                                        </p:tav>
                                        <p:tav tm="100000">
                                          <p:val>
                                            <p:strVal val="#ppt_y"/>
                                          </p:val>
                                        </p:tav>
                                      </p:tavLst>
                                    </p:anim>
                                    <p:animEffect transition="in" filter="fade">
                                      <p:cBhvr>
                                        <p:cTn id="107" dur="500"/>
                                        <p:tgtEl>
                                          <p:spTgt spid="30"/>
                                        </p:tgtEl>
                                      </p:cBhvr>
                                    </p:animEffect>
                                  </p:childTnLst>
                                </p:cTn>
                              </p:par>
                              <p:par>
                                <p:cTn id="113" presetID="2" presetClass="entr" presetSubtype="4" fill="hold" grpId="0" nodeType="withEffect">
                                  <p:stCondLst>
                                    <p:cond delay="10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8" presetID="2" presetClass="entr" presetSubtype="4" fill="hold" grpId="0" nodeType="withEffect">
                                  <p:stCondLst>
                                    <p:cond delay="10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childTnLst>
                          </p:cTn>
                        </p:par>
                      </p:childTnLst>
                    </p:cTn>
                  </p:par>
                  <p:par>
                    <p:cTn id="119" fill="hold">
                      <p:stCondLst>
                        <p:cond delay="indefinite"/>
                      </p:stCondLst>
                      <p:childTnLst>
                        <p:par>
                          <p:cTn id="120" fill="hold">
                            <p:stCondLst>
                              <p:cond delay="0"/>
                            </p:stCondLst>
                            <p:childTnLst>
                              <p:par>
                                <p:cTn id="125" presetID="2" presetClass="entr" presetSubtype="4" fill="hold" grpId="0" nodeType="clickEffect">
                                  <p:stCondLst>
                                    <p:cond delay="0"/>
                                  </p:stCondLst>
                                  <p:childTnLst>
                                    <p:set>
                                      <p:cBhvr>
                                        <p:cTn id="121" dur="1" fill="hold">
                                          <p:stCondLst>
                                            <p:cond delay="0"/>
                                          </p:stCondLst>
                                        </p:cTn>
                                        <p:tgtEl>
                                          <p:spTgt spid="33"/>
                                        </p:tgtEl>
                                        <p:attrNameLst>
                                          <p:attrName>style.visibility</p:attrName>
                                        </p:attrNameLst>
                                      </p:cBhvr>
                                      <p:to>
                                        <p:strVal val="visible"/>
                                      </p:to>
                                    </p:set>
                                    <p:anim calcmode="lin" valueType="num">
                                      <p:cBhvr additive="base">
                                        <p:cTn id="122" dur="500" fill="hold"/>
                                        <p:tgtEl>
                                          <p:spTgt spid="33"/>
                                        </p:tgtEl>
                                        <p:attrNameLst>
                                          <p:attrName>ppt_x</p:attrName>
                                        </p:attrNameLst>
                                      </p:cBhvr>
                                      <p:tavLst>
                                        <p:tav tm="0">
                                          <p:val>
                                            <p:strVal val="#ppt_x"/>
                                          </p:val>
                                        </p:tav>
                                        <p:tav tm="100000">
                                          <p:val>
                                            <p:strVal val="#ppt_x"/>
                                          </p:val>
                                        </p:tav>
                                      </p:tavLst>
                                    </p:anim>
                                    <p:anim calcmode="lin" valueType="num">
                                      <p:cBhvr additive="base">
                                        <p:cTn id="123" dur="500" fill="hold"/>
                                        <p:tgtEl>
                                          <p:spTgt spid="33"/>
                                        </p:tgtEl>
                                        <p:attrNameLst>
                                          <p:attrName>ppt_y</p:attrName>
                                        </p:attrNameLst>
                                      </p:cBhvr>
                                      <p:tavLst>
                                        <p:tav tm="0">
                                          <p:val>
                                            <p:strVal val="#ppt_y+0.1"/>
                                          </p:val>
                                        </p:tav>
                                        <p:tav tm="100000">
                                          <p:val>
                                            <p:strVal val="#ppt_y"/>
                                          </p:val>
                                        </p:tav>
                                      </p:tavLst>
                                    </p:anim>
                                    <p:animEffect transition="in" filter="fade">
                                      <p:cBhvr>
                                        <p:cTn id="124" dur="500"/>
                                        <p:tgtEl>
                                          <p:spTgt spid="33"/>
                                        </p:tgtEl>
                                      </p:cBhvr>
                                    </p:animEffect>
                                  </p:childTnLst>
                                </p:cTn>
                              </p:par>
                              <p:par>
                                <p:cTn id="130" presetID="2" presetClass="entr" presetSubtype="4" fill="hold" grpId="0" nodeType="withEffect">
                                  <p:stCondLst>
                                    <p:cond delay="0"/>
                                  </p:stCondLst>
                                  <p:childTnLst>
                                    <p:set>
                                      <p:cBhvr>
                                        <p:cTn id="126" dur="1" fill="hold">
                                          <p:stCondLst>
                                            <p:cond delay="0"/>
                                          </p:stCondLst>
                                        </p:cTn>
                                        <p:tgtEl>
                                          <p:spTgt spid="34"/>
                                        </p:tgtEl>
                                        <p:attrNameLst>
                                          <p:attrName>style.visibility</p:attrName>
                                        </p:attrNameLst>
                                      </p:cBhvr>
                                      <p:to>
                                        <p:strVal val="visible"/>
                                      </p:to>
                                    </p:set>
                                    <p:anim calcmode="lin" valueType="num">
                                      <p:cBhvr additive="base">
                                        <p:cTn id="127" dur="500" fill="hold"/>
                                        <p:tgtEl>
                                          <p:spTgt spid="34"/>
                                        </p:tgtEl>
                                        <p:attrNameLst>
                                          <p:attrName>ppt_x</p:attrName>
                                        </p:attrNameLst>
                                      </p:cBhvr>
                                      <p:tavLst>
                                        <p:tav tm="0">
                                          <p:val>
                                            <p:strVal val="#ppt_x"/>
                                          </p:val>
                                        </p:tav>
                                        <p:tav tm="100000">
                                          <p:val>
                                            <p:strVal val="#ppt_x"/>
                                          </p:val>
                                        </p:tav>
                                      </p:tavLst>
                                    </p:anim>
                                    <p:anim calcmode="lin" valueType="num">
                                      <p:cBhvr additive="base">
                                        <p:cTn id="128" dur="500" fill="hold"/>
                                        <p:tgtEl>
                                          <p:spTgt spid="34"/>
                                        </p:tgtEl>
                                        <p:attrNameLst>
                                          <p:attrName>ppt_y</p:attrName>
                                        </p:attrNameLst>
                                      </p:cBhvr>
                                      <p:tavLst>
                                        <p:tav tm="0">
                                          <p:val>
                                            <p:strVal val="#ppt_y+0.1"/>
                                          </p:val>
                                        </p:tav>
                                        <p:tav tm="100000">
                                          <p:val>
                                            <p:strVal val="#ppt_y"/>
                                          </p:val>
                                        </p:tav>
                                      </p:tavLst>
                                    </p:anim>
                                    <p:animEffect transition="in" filter="fade">
                                      <p:cBhvr>
                                        <p:cTn id="129" dur="500"/>
                                        <p:tgtEl>
                                          <p:spTgt spid="34"/>
                                        </p:tgtEl>
                                      </p:cBhvr>
                                    </p:animEffect>
                                  </p:childTnLst>
                                </p:cTn>
                              </p:par>
                              <p:par>
                                <p:cTn id="135" presetID="2" presetClass="entr" presetSubtype="4" fill="hold" grpId="0" nodeType="withEffect">
                                  <p:stCondLst>
                                    <p:cond delay="0"/>
                                  </p:stCondLst>
                                  <p:childTnLst>
                                    <p:set>
                                      <p:cBhvr>
                                        <p:cTn id="131" dur="1" fill="hold">
                                          <p:stCondLst>
                                            <p:cond delay="0"/>
                                          </p:stCondLst>
                                        </p:cTn>
                                        <p:tgtEl>
                                          <p:spTgt spid="35"/>
                                        </p:tgtEl>
                                        <p:attrNameLst>
                                          <p:attrName>style.visibility</p:attrName>
                                        </p:attrNameLst>
                                      </p:cBhvr>
                                      <p:to>
                                        <p:strVal val="visible"/>
                                      </p:to>
                                    </p:set>
                                    <p:anim calcmode="lin" valueType="num">
                                      <p:cBhvr additive="base">
                                        <p:cTn id="132" dur="500" fill="hold"/>
                                        <p:tgtEl>
                                          <p:spTgt spid="35"/>
                                        </p:tgtEl>
                                        <p:attrNameLst>
                                          <p:attrName>ppt_x</p:attrName>
                                        </p:attrNameLst>
                                      </p:cBhvr>
                                      <p:tavLst>
                                        <p:tav tm="0">
                                          <p:val>
                                            <p:strVal val="#ppt_x"/>
                                          </p:val>
                                        </p:tav>
                                        <p:tav tm="100000">
                                          <p:val>
                                            <p:strVal val="#ppt_x"/>
                                          </p:val>
                                        </p:tav>
                                      </p:tavLst>
                                    </p:anim>
                                    <p:anim calcmode="lin" valueType="num">
                                      <p:cBhvr additive="base">
                                        <p:cTn id="133" dur="500" fill="hold"/>
                                        <p:tgtEl>
                                          <p:spTgt spid="35"/>
                                        </p:tgtEl>
                                        <p:attrNameLst>
                                          <p:attrName>ppt_y</p:attrName>
                                        </p:attrNameLst>
                                      </p:cBhvr>
                                      <p:tavLst>
                                        <p:tav tm="0">
                                          <p:val>
                                            <p:strVal val="#ppt_y+0.1"/>
                                          </p:val>
                                        </p:tav>
                                        <p:tav tm="100000">
                                          <p:val>
                                            <p:strVal val="#ppt_y"/>
                                          </p:val>
                                        </p:tav>
                                      </p:tavLst>
                                    </p:anim>
                                    <p:animEffect transition="in" filter="fade">
                                      <p:cBhvr>
                                        <p:cTn id="134" dur="500"/>
                                        <p:tgtEl>
                                          <p:spTgt spid="35"/>
                                        </p:tgtEl>
                                      </p:cBhvr>
                                    </p:animEffect>
                                  </p:childTnLst>
                                </p:cTn>
                              </p:par>
                              <p:par>
                                <p:cTn id="140" presetID="2" presetClass="entr" presetSubtype="4" fill="hold" grpId="0" nodeType="withEffect">
                                  <p:stCondLst>
                                    <p:cond delay="0"/>
                                  </p:stCondLst>
                                  <p:childTnLst>
                                    <p:set>
                                      <p:cBhvr>
                                        <p:cTn id="136" dur="1" fill="hold">
                                          <p:stCondLst>
                                            <p:cond delay="0"/>
                                          </p:stCondLst>
                                        </p:cTn>
                                        <p:tgtEl>
                                          <p:spTgt spid="37"/>
                                        </p:tgtEl>
                                        <p:attrNameLst>
                                          <p:attrName>style.visibility</p:attrName>
                                        </p:attrNameLst>
                                      </p:cBhvr>
                                      <p:to>
                                        <p:strVal val="visible"/>
                                      </p:to>
                                    </p:set>
                                    <p:anim calcmode="lin" valueType="num">
                                      <p:cBhvr additive="base">
                                        <p:cTn id="137" dur="500" fill="hold"/>
                                        <p:tgtEl>
                                          <p:spTgt spid="37"/>
                                        </p:tgtEl>
                                        <p:attrNameLst>
                                          <p:attrName>ppt_x</p:attrName>
                                        </p:attrNameLst>
                                      </p:cBhvr>
                                      <p:tavLst>
                                        <p:tav tm="0">
                                          <p:val>
                                            <p:strVal val="#ppt_x"/>
                                          </p:val>
                                        </p:tav>
                                        <p:tav tm="100000">
                                          <p:val>
                                            <p:strVal val="#ppt_x"/>
                                          </p:val>
                                        </p:tav>
                                      </p:tavLst>
                                    </p:anim>
                                    <p:anim calcmode="lin" valueType="num">
                                      <p:cBhvr additive="base">
                                        <p:cTn id="138" dur="500" fill="hold"/>
                                        <p:tgtEl>
                                          <p:spTgt spid="37"/>
                                        </p:tgtEl>
                                        <p:attrNameLst>
                                          <p:attrName>ppt_y</p:attrName>
                                        </p:attrNameLst>
                                      </p:cBhvr>
                                      <p:tavLst>
                                        <p:tav tm="0">
                                          <p:val>
                                            <p:strVal val="#ppt_y+0.1"/>
                                          </p:val>
                                        </p:tav>
                                        <p:tav tm="100000">
                                          <p:val>
                                            <p:strVal val="#ppt_y"/>
                                          </p:val>
                                        </p:tav>
                                      </p:tavLst>
                                    </p:anim>
                                    <p:animEffect transition="in" filter="fade">
                                      <p:cBhvr>
                                        <p:cTn id="139" dur="500"/>
                                        <p:tgtEl>
                                          <p:spTgt spid="37"/>
                                        </p:tgtEl>
                                      </p:cBhvr>
                                    </p:animEffect>
                                  </p:childTnLst>
                                </p:cTn>
                              </p:par>
                              <p:par>
                                <p:cTn id="145" presetID="2" presetClass="entr" presetSubtype="4" fill="hold" grpId="0" nodeType="withEffect">
                                  <p:stCondLst>
                                    <p:cond delay="0"/>
                                  </p:stCondLst>
                                  <p:childTnLst>
                                    <p:set>
                                      <p:cBhvr>
                                        <p:cTn id="141" dur="1" fill="hold">
                                          <p:stCondLst>
                                            <p:cond delay="0"/>
                                          </p:stCondLst>
                                        </p:cTn>
                                        <p:tgtEl>
                                          <p:spTgt spid="38"/>
                                        </p:tgtEl>
                                        <p:attrNameLst>
                                          <p:attrName>style.visibility</p:attrName>
                                        </p:attrNameLst>
                                      </p:cBhvr>
                                      <p:to>
                                        <p:strVal val="visible"/>
                                      </p:to>
                                    </p:set>
                                    <p:anim calcmode="lin" valueType="num">
                                      <p:cBhvr additive="base">
                                        <p:cTn id="142" dur="500" fill="hold"/>
                                        <p:tgtEl>
                                          <p:spTgt spid="38"/>
                                        </p:tgtEl>
                                        <p:attrNameLst>
                                          <p:attrName>ppt_x</p:attrName>
                                        </p:attrNameLst>
                                      </p:cBhvr>
                                      <p:tavLst>
                                        <p:tav tm="0">
                                          <p:val>
                                            <p:strVal val="#ppt_x"/>
                                          </p:val>
                                        </p:tav>
                                        <p:tav tm="100000">
                                          <p:val>
                                            <p:strVal val="#ppt_x"/>
                                          </p:val>
                                        </p:tav>
                                      </p:tavLst>
                                    </p:anim>
                                    <p:anim calcmode="lin" valueType="num">
                                      <p:cBhvr additive="base">
                                        <p:cTn id="143" dur="500" fill="hold"/>
                                        <p:tgtEl>
                                          <p:spTgt spid="38"/>
                                        </p:tgtEl>
                                        <p:attrNameLst>
                                          <p:attrName>ppt_y</p:attrName>
                                        </p:attrNameLst>
                                      </p:cBhvr>
                                      <p:tavLst>
                                        <p:tav tm="0">
                                          <p:val>
                                            <p:strVal val="#ppt_y+0.1"/>
                                          </p:val>
                                        </p:tav>
                                        <p:tav tm="100000">
                                          <p:val>
                                            <p:strVal val="#ppt_y"/>
                                          </p:val>
                                        </p:tav>
                                      </p:tavLst>
                                    </p:anim>
                                    <p:animEffect transition="in" filter="fade">
                                      <p:cBhvr>
                                        <p:cTn id="144" dur="500"/>
                                        <p:tgtEl>
                                          <p:spTgt spid="38"/>
                                        </p:tgtEl>
                                      </p:cBhvr>
                                    </p:animEffect>
                                  </p:childTnLst>
                                </p:cTn>
                              </p:par>
                              <p:par>
                                <p:cTn id="150" presetID="2" presetClass="entr" presetSubtype="4" fill="hold" grpId="0" nodeType="withEffect">
                                  <p:stCondLst>
                                    <p:cond delay="0"/>
                                  </p:stCondLst>
                                  <p:childTnLst>
                                    <p:set>
                                      <p:cBhvr>
                                        <p:cTn id="146" dur="1" fill="hold">
                                          <p:stCondLst>
                                            <p:cond delay="0"/>
                                          </p:stCondLst>
                                        </p:cTn>
                                        <p:tgtEl>
                                          <p:spTgt spid="39"/>
                                        </p:tgtEl>
                                        <p:attrNameLst>
                                          <p:attrName>style.visibility</p:attrName>
                                        </p:attrNameLst>
                                      </p:cBhvr>
                                      <p:to>
                                        <p:strVal val="visible"/>
                                      </p:to>
                                    </p:set>
                                    <p:anim calcmode="lin" valueType="num">
                                      <p:cBhvr additive="base">
                                        <p:cTn id="147" dur="500" fill="hold"/>
                                        <p:tgtEl>
                                          <p:spTgt spid="39"/>
                                        </p:tgtEl>
                                        <p:attrNameLst>
                                          <p:attrName>ppt_x</p:attrName>
                                        </p:attrNameLst>
                                      </p:cBhvr>
                                      <p:tavLst>
                                        <p:tav tm="0">
                                          <p:val>
                                            <p:strVal val="#ppt_x"/>
                                          </p:val>
                                        </p:tav>
                                        <p:tav tm="100000">
                                          <p:val>
                                            <p:strVal val="#ppt_x"/>
                                          </p:val>
                                        </p:tav>
                                      </p:tavLst>
                                    </p:anim>
                                    <p:anim calcmode="lin" valueType="num">
                                      <p:cBhvr additive="base">
                                        <p:cTn id="148" dur="500" fill="hold"/>
                                        <p:tgtEl>
                                          <p:spTgt spid="39"/>
                                        </p:tgtEl>
                                        <p:attrNameLst>
                                          <p:attrName>ppt_y</p:attrName>
                                        </p:attrNameLst>
                                      </p:cBhvr>
                                      <p:tavLst>
                                        <p:tav tm="0">
                                          <p:val>
                                            <p:strVal val="#ppt_y+0.1"/>
                                          </p:val>
                                        </p:tav>
                                        <p:tav tm="100000">
                                          <p:val>
                                            <p:strVal val="#ppt_y"/>
                                          </p:val>
                                        </p:tav>
                                      </p:tavLst>
                                    </p:anim>
                                    <p:animEffect transition="in" filter="fade">
                                      <p:cBhvr>
                                        <p:cTn id="149" dur="500"/>
                                        <p:tgtEl>
                                          <p:spTgt spid="39"/>
                                        </p:tgtEl>
                                      </p:cBhvr>
                                    </p:animEffect>
                                  </p:childTnLst>
                                </p:cTn>
                              </p:par>
                              <p:par>
                                <p:cTn id="155" presetID="2" presetClass="entr" presetSubtype="4" fill="hold" grpId="0" nodeType="withEffect">
                                  <p:stCondLst>
                                    <p:cond delay="0"/>
                                  </p:stCondLst>
                                  <p:childTnLst>
                                    <p:set>
                                      <p:cBhvr>
                                        <p:cTn id="151" dur="1" fill="hold">
                                          <p:stCondLst>
                                            <p:cond delay="0"/>
                                          </p:stCondLst>
                                        </p:cTn>
                                        <p:tgtEl>
                                          <p:spTgt spid="41"/>
                                        </p:tgtEl>
                                        <p:attrNameLst>
                                          <p:attrName>style.visibility</p:attrName>
                                        </p:attrNameLst>
                                      </p:cBhvr>
                                      <p:to>
                                        <p:strVal val="visible"/>
                                      </p:to>
                                    </p:set>
                                    <p:anim calcmode="lin" valueType="num">
                                      <p:cBhvr additive="base">
                                        <p:cTn id="152" dur="500" fill="hold"/>
                                        <p:tgtEl>
                                          <p:spTgt spid="41"/>
                                        </p:tgtEl>
                                        <p:attrNameLst>
                                          <p:attrName>ppt_x</p:attrName>
                                        </p:attrNameLst>
                                      </p:cBhvr>
                                      <p:tavLst>
                                        <p:tav tm="0">
                                          <p:val>
                                            <p:strVal val="#ppt_x"/>
                                          </p:val>
                                        </p:tav>
                                        <p:tav tm="100000">
                                          <p:val>
                                            <p:strVal val="#ppt_x"/>
                                          </p:val>
                                        </p:tav>
                                      </p:tavLst>
                                    </p:anim>
                                    <p:anim calcmode="lin" valueType="num">
                                      <p:cBhvr additive="base">
                                        <p:cTn id="153" dur="500" fill="hold"/>
                                        <p:tgtEl>
                                          <p:spTgt spid="41"/>
                                        </p:tgtEl>
                                        <p:attrNameLst>
                                          <p:attrName>ppt_y</p:attrName>
                                        </p:attrNameLst>
                                      </p:cBhvr>
                                      <p:tavLst>
                                        <p:tav tm="0">
                                          <p:val>
                                            <p:strVal val="#ppt_y+0.1"/>
                                          </p:val>
                                        </p:tav>
                                        <p:tav tm="100000">
                                          <p:val>
                                            <p:strVal val="#ppt_y"/>
                                          </p:val>
                                        </p:tav>
                                      </p:tavLst>
                                    </p:anim>
                                    <p:animEffect transition="in" filter="fade">
                                      <p:cBhvr>
                                        <p:cTn id="154" dur="500"/>
                                        <p:tgtEl>
                                          <p:spTgt spid="41"/>
                                        </p:tgtEl>
                                      </p:cBhvr>
                                    </p:animEffect>
                                  </p:childTnLst>
                                </p:cTn>
                              </p:par>
                              <p:par>
                                <p:cTn id="160" presetID="2" presetClass="entr" presetSubtype="4" fill="hold" grpId="0" nodeType="withEffect">
                                  <p:stCondLst>
                                    <p:cond delay="0"/>
                                  </p:stCondLst>
                                  <p:childTnLst>
                                    <p:set>
                                      <p:cBhvr>
                                        <p:cTn id="156" dur="1" fill="hold">
                                          <p:stCondLst>
                                            <p:cond delay="0"/>
                                          </p:stCondLst>
                                        </p:cTn>
                                        <p:tgtEl>
                                          <p:spTgt spid="42"/>
                                        </p:tgtEl>
                                        <p:attrNameLst>
                                          <p:attrName>style.visibility</p:attrName>
                                        </p:attrNameLst>
                                      </p:cBhvr>
                                      <p:to>
                                        <p:strVal val="visible"/>
                                      </p:to>
                                    </p:set>
                                    <p:anim calcmode="lin" valueType="num">
                                      <p:cBhvr additive="base">
                                        <p:cTn id="157" dur="500" fill="hold"/>
                                        <p:tgtEl>
                                          <p:spTgt spid="42"/>
                                        </p:tgtEl>
                                        <p:attrNameLst>
                                          <p:attrName>ppt_x</p:attrName>
                                        </p:attrNameLst>
                                      </p:cBhvr>
                                      <p:tavLst>
                                        <p:tav tm="0">
                                          <p:val>
                                            <p:strVal val="#ppt_x"/>
                                          </p:val>
                                        </p:tav>
                                        <p:tav tm="100000">
                                          <p:val>
                                            <p:strVal val="#ppt_x"/>
                                          </p:val>
                                        </p:tav>
                                      </p:tavLst>
                                    </p:anim>
                                    <p:anim calcmode="lin" valueType="num">
                                      <p:cBhvr additive="base">
                                        <p:cTn id="158" dur="500" fill="hold"/>
                                        <p:tgtEl>
                                          <p:spTgt spid="42"/>
                                        </p:tgtEl>
                                        <p:attrNameLst>
                                          <p:attrName>ppt_y</p:attrName>
                                        </p:attrNameLst>
                                      </p:cBhvr>
                                      <p:tavLst>
                                        <p:tav tm="0">
                                          <p:val>
                                            <p:strVal val="#ppt_y+0.1"/>
                                          </p:val>
                                        </p:tav>
                                        <p:tav tm="100000">
                                          <p:val>
                                            <p:strVal val="#ppt_y"/>
                                          </p:val>
                                        </p:tav>
                                      </p:tavLst>
                                    </p:anim>
                                    <p:animEffect transition="in" filter="fade">
                                      <p:cBhvr>
                                        <p:cTn id="159" dur="500"/>
                                        <p:tgtEl>
                                          <p:spTgt spid="42"/>
                                        </p:tgtEl>
                                      </p:cBhvr>
                                    </p:animEffect>
                                  </p:childTnLst>
                                </p:cTn>
                              </p:par>
                              <p:par>
                                <p:cTn id="165" presetID="2" presetClass="entr" presetSubtype="4" fill="hold" grpId="0" nodeType="withEffect">
                                  <p:stCondLst>
                                    <p:cond delay="0"/>
                                  </p:stCondLst>
                                  <p:childTnLst>
                                    <p:set>
                                      <p:cBhvr>
                                        <p:cTn id="161" dur="1" fill="hold">
                                          <p:stCondLst>
                                            <p:cond delay="0"/>
                                          </p:stCondLst>
                                        </p:cTn>
                                        <p:tgtEl>
                                          <p:spTgt spid="43"/>
                                        </p:tgtEl>
                                        <p:attrNameLst>
                                          <p:attrName>style.visibility</p:attrName>
                                        </p:attrNameLst>
                                      </p:cBhvr>
                                      <p:to>
                                        <p:strVal val="visible"/>
                                      </p:to>
                                    </p:set>
                                    <p:anim calcmode="lin" valueType="num">
                                      <p:cBhvr additive="base">
                                        <p:cTn id="162" dur="500" fill="hold"/>
                                        <p:tgtEl>
                                          <p:spTgt spid="43"/>
                                        </p:tgtEl>
                                        <p:attrNameLst>
                                          <p:attrName>ppt_x</p:attrName>
                                        </p:attrNameLst>
                                      </p:cBhvr>
                                      <p:tavLst>
                                        <p:tav tm="0">
                                          <p:val>
                                            <p:strVal val="#ppt_x"/>
                                          </p:val>
                                        </p:tav>
                                        <p:tav tm="100000">
                                          <p:val>
                                            <p:strVal val="#ppt_x"/>
                                          </p:val>
                                        </p:tav>
                                      </p:tavLst>
                                    </p:anim>
                                    <p:anim calcmode="lin" valueType="num">
                                      <p:cBhvr additive="base">
                                        <p:cTn id="163" dur="500" fill="hold"/>
                                        <p:tgtEl>
                                          <p:spTgt spid="43"/>
                                        </p:tgtEl>
                                        <p:attrNameLst>
                                          <p:attrName>ppt_y</p:attrName>
                                        </p:attrNameLst>
                                      </p:cBhvr>
                                      <p:tavLst>
                                        <p:tav tm="0">
                                          <p:val>
                                            <p:strVal val="#ppt_y+0.1"/>
                                          </p:val>
                                        </p:tav>
                                        <p:tav tm="100000">
                                          <p:val>
                                            <p:strVal val="#ppt_y"/>
                                          </p:val>
                                        </p:tav>
                                      </p:tavLst>
                                    </p:anim>
                                    <p:animEffect transition="in" filter="fade">
                                      <p:cBhvr>
                                        <p:cTn id="164" dur="500"/>
                                        <p:tgtEl>
                                          <p:spTgt spid="43"/>
                                        </p:tgtEl>
                                      </p:cBhvr>
                                    </p:animEffect>
                                  </p:childTnLst>
                                </p:cTn>
                              </p:par>
                              <p:par>
                                <p:cTn id="170" presetID="2" presetClass="entr" presetSubtype="4" fill="hold" grpId="0" nodeType="withEffect">
                                  <p:stCondLst>
                                    <p:cond delay="60"/>
                                  </p:stCondLst>
                                  <p:childTnLst>
                                    <p:set>
                                      <p:cBhvr>
                                        <p:cTn id="166" dur="1" fill="hold">
                                          <p:stCondLst>
                                            <p:cond delay="0"/>
                                          </p:stCondLst>
                                        </p:cTn>
                                        <p:tgtEl>
                                          <p:spTgt spid="36"/>
                                        </p:tgtEl>
                                        <p:attrNameLst>
                                          <p:attrName>style.visibility</p:attrName>
                                        </p:attrNameLst>
                                      </p:cBhvr>
                                      <p:to>
                                        <p:strVal val="visible"/>
                                      </p:to>
                                    </p:set>
                                    <p:anim calcmode="lin" valueType="num">
                                      <p:cBhvr additive="base">
                                        <p:cTn id="167" dur="500" fill="hold"/>
                                        <p:tgtEl>
                                          <p:spTgt spid="36"/>
                                        </p:tgtEl>
                                        <p:attrNameLst>
                                          <p:attrName>ppt_x</p:attrName>
                                        </p:attrNameLst>
                                      </p:cBhvr>
                                      <p:tavLst>
                                        <p:tav tm="0">
                                          <p:val>
                                            <p:strVal val="#ppt_x"/>
                                          </p:val>
                                        </p:tav>
                                        <p:tav tm="100000">
                                          <p:val>
                                            <p:strVal val="#ppt_x"/>
                                          </p:val>
                                        </p:tav>
                                      </p:tavLst>
                                    </p:anim>
                                    <p:anim calcmode="lin" valueType="num">
                                      <p:cBhvr additive="base">
                                        <p:cTn id="168" dur="500" fill="hold"/>
                                        <p:tgtEl>
                                          <p:spTgt spid="36"/>
                                        </p:tgtEl>
                                        <p:attrNameLst>
                                          <p:attrName>ppt_y</p:attrName>
                                        </p:attrNameLst>
                                      </p:cBhvr>
                                      <p:tavLst>
                                        <p:tav tm="0">
                                          <p:val>
                                            <p:strVal val="#ppt_y+0.1"/>
                                          </p:val>
                                        </p:tav>
                                        <p:tav tm="100000">
                                          <p:val>
                                            <p:strVal val="#ppt_y"/>
                                          </p:val>
                                        </p:tav>
                                      </p:tavLst>
                                    </p:anim>
                                    <p:animEffect transition="in" filter="fade">
                                      <p:cBhvr>
                                        <p:cTn id="169" dur="500"/>
                                        <p:tgtEl>
                                          <p:spTgt spid="36"/>
                                        </p:tgtEl>
                                      </p:cBhvr>
                                    </p:animEffect>
                                  </p:childTnLst>
                                </p:cTn>
                              </p:par>
                              <p:par>
                                <p:cTn id="175" presetID="2" presetClass="entr" presetSubtype="4" fill="hold" grpId="0" nodeType="withEffect">
                                  <p:stCondLst>
                                    <p:cond delay="60"/>
                                  </p:stCondLst>
                                  <p:childTnLst>
                                    <p:set>
                                      <p:cBhvr>
                                        <p:cTn id="171" dur="1" fill="hold">
                                          <p:stCondLst>
                                            <p:cond delay="0"/>
                                          </p:stCondLst>
                                        </p:cTn>
                                        <p:tgtEl>
                                          <p:spTgt spid="40"/>
                                        </p:tgtEl>
                                        <p:attrNameLst>
                                          <p:attrName>style.visibility</p:attrName>
                                        </p:attrNameLst>
                                      </p:cBhvr>
                                      <p:to>
                                        <p:strVal val="visible"/>
                                      </p:to>
                                    </p:set>
                                    <p:anim calcmode="lin" valueType="num">
                                      <p:cBhvr additive="base">
                                        <p:cTn id="172" dur="500" fill="hold"/>
                                        <p:tgtEl>
                                          <p:spTgt spid="40"/>
                                        </p:tgtEl>
                                        <p:attrNameLst>
                                          <p:attrName>ppt_x</p:attrName>
                                        </p:attrNameLst>
                                      </p:cBhvr>
                                      <p:tavLst>
                                        <p:tav tm="0">
                                          <p:val>
                                            <p:strVal val="#ppt_x"/>
                                          </p:val>
                                        </p:tav>
                                        <p:tav tm="100000">
                                          <p:val>
                                            <p:strVal val="#ppt_x"/>
                                          </p:val>
                                        </p:tav>
                                      </p:tavLst>
                                    </p:anim>
                                    <p:anim calcmode="lin" valueType="num">
                                      <p:cBhvr additive="base">
                                        <p:cTn id="173" dur="500" fill="hold"/>
                                        <p:tgtEl>
                                          <p:spTgt spid="40"/>
                                        </p:tgtEl>
                                        <p:attrNameLst>
                                          <p:attrName>ppt_y</p:attrName>
                                        </p:attrNameLst>
                                      </p:cBhvr>
                                      <p:tavLst>
                                        <p:tav tm="0">
                                          <p:val>
                                            <p:strVal val="#ppt_y+0.1"/>
                                          </p:val>
                                        </p:tav>
                                        <p:tav tm="100000">
                                          <p:val>
                                            <p:strVal val="#ppt_y"/>
                                          </p:val>
                                        </p:tav>
                                      </p:tavLst>
                                    </p:anim>
                                    <p:animEffect transition="in" filter="fade">
                                      <p:cBhvr>
                                        <p:cTn id="174" dur="500"/>
                                        <p:tgtEl>
                                          <p:spTgt spid="40"/>
                                        </p:tgtEl>
                                      </p:cBhvr>
                                    </p:animEffect>
                                  </p:childTnLst>
                                </p:cTn>
                              </p:par>
                              <p:par>
                                <p:cTn id="180" presetID="2" presetClass="entr" presetSubtype="4" fill="hold" grpId="0" nodeType="withEffect">
                                  <p:stCondLst>
                                    <p:cond delay="60"/>
                                  </p:stCondLst>
                                  <p:childTnLst>
                                    <p:set>
                                      <p:cBhvr>
                                        <p:cTn id="176" dur="1" fill="hold">
                                          <p:stCondLst>
                                            <p:cond delay="0"/>
                                          </p:stCondLst>
                                        </p:cTn>
                                        <p:tgtEl>
                                          <p:spTgt spid="44"/>
                                        </p:tgtEl>
                                        <p:attrNameLst>
                                          <p:attrName>style.visibility</p:attrName>
                                        </p:attrNameLst>
                                      </p:cBhvr>
                                      <p:to>
                                        <p:strVal val="visible"/>
                                      </p:to>
                                    </p:set>
                                    <p:anim calcmode="lin" valueType="num">
                                      <p:cBhvr additive="base">
                                        <p:cTn id="177" dur="500" fill="hold"/>
                                        <p:tgtEl>
                                          <p:spTgt spid="44"/>
                                        </p:tgtEl>
                                        <p:attrNameLst>
                                          <p:attrName>ppt_x</p:attrName>
                                        </p:attrNameLst>
                                      </p:cBhvr>
                                      <p:tavLst>
                                        <p:tav tm="0">
                                          <p:val>
                                            <p:strVal val="#ppt_x"/>
                                          </p:val>
                                        </p:tav>
                                        <p:tav tm="100000">
                                          <p:val>
                                            <p:strVal val="#ppt_x"/>
                                          </p:val>
                                        </p:tav>
                                      </p:tavLst>
                                    </p:anim>
                                    <p:anim calcmode="lin" valueType="num">
                                      <p:cBhvr additive="base">
                                        <p:cTn id="178" dur="500" fill="hold"/>
                                        <p:tgtEl>
                                          <p:spTgt spid="44"/>
                                        </p:tgtEl>
                                        <p:attrNameLst>
                                          <p:attrName>ppt_y</p:attrName>
                                        </p:attrNameLst>
                                      </p:cBhvr>
                                      <p:tavLst>
                                        <p:tav tm="0">
                                          <p:val>
                                            <p:strVal val="#ppt_y+0.1"/>
                                          </p:val>
                                        </p:tav>
                                        <p:tav tm="100000">
                                          <p:val>
                                            <p:strVal val="#ppt_y"/>
                                          </p:val>
                                        </p:tav>
                                      </p:tavLst>
                                    </p:anim>
                                    <p:animEffect transition="in" filter="fade">
                                      <p:cBhvr>
                                        <p:cTn id="179" dur="500"/>
                                        <p:tgtEl>
                                          <p:spTgt spid="44"/>
                                        </p:tgtEl>
                                      </p:cBhvr>
                                    </p:animEffect>
                                  </p:childTnLst>
                                </p:cTn>
                              </p:par>
                            </p:childTnLst>
                          </p:cTn>
                        </p:par>
                      </p:childTnLst>
                    </p:cTn>
                  </p:par>
                  <p:par>
                    <p:cTn id="181" fill="hold">
                      <p:stCondLst>
                        <p:cond delay="indefinite"/>
                      </p:stCondLst>
                      <p:childTnLst>
                        <p:par>
                          <p:cTn id="182" fill="hold">
                            <p:stCondLst>
                              <p:cond delay="0"/>
                            </p:stCondLst>
                            <p:childTnLst>
                              <p:par>
                                <p:cTn id="187" presetID="2" presetClass="entr" presetSubtype="4" fill="hold" grpId="0" nodeType="clickEffect">
                                  <p:stCondLst>
                                    <p:cond delay="0"/>
                                  </p:stCondLst>
                                  <p:childTnLst>
                                    <p:set>
                                      <p:cBhvr>
                                        <p:cTn id="183" dur="1" fill="hold">
                                          <p:stCondLst>
                                            <p:cond delay="0"/>
                                          </p:stCondLst>
                                        </p:cTn>
                                        <p:tgtEl>
                                          <p:spTgt spid="45"/>
                                        </p:tgtEl>
                                        <p:attrNameLst>
                                          <p:attrName>style.visibility</p:attrName>
                                        </p:attrNameLst>
                                      </p:cBhvr>
                                      <p:to>
                                        <p:strVal val="visible"/>
                                      </p:to>
                                    </p:set>
                                    <p:anim calcmode="lin" valueType="num">
                                      <p:cBhvr additive="base">
                                        <p:cTn id="184" dur="500" fill="hold"/>
                                        <p:tgtEl>
                                          <p:spTgt spid="45"/>
                                        </p:tgtEl>
                                        <p:attrNameLst>
                                          <p:attrName>ppt_x</p:attrName>
                                        </p:attrNameLst>
                                      </p:cBhvr>
                                      <p:tavLst>
                                        <p:tav tm="0">
                                          <p:val>
                                            <p:strVal val="#ppt_x"/>
                                          </p:val>
                                        </p:tav>
                                        <p:tav tm="100000">
                                          <p:val>
                                            <p:strVal val="#ppt_x"/>
                                          </p:val>
                                        </p:tav>
                                      </p:tavLst>
                                    </p:anim>
                                    <p:anim calcmode="lin" valueType="num">
                                      <p:cBhvr additive="base">
                                        <p:cTn id="185" dur="500" fill="hold"/>
                                        <p:tgtEl>
                                          <p:spTgt spid="45"/>
                                        </p:tgtEl>
                                        <p:attrNameLst>
                                          <p:attrName>ppt_y</p:attrName>
                                        </p:attrNameLst>
                                      </p:cBhvr>
                                      <p:tavLst>
                                        <p:tav tm="0">
                                          <p:val>
                                            <p:strVal val="#ppt_y+0.1"/>
                                          </p:val>
                                        </p:tav>
                                        <p:tav tm="100000">
                                          <p:val>
                                            <p:strVal val="#ppt_y"/>
                                          </p:val>
                                        </p:tav>
                                      </p:tavLst>
                                    </p:anim>
                                    <p:animEffect transition="in" filter="fade">
                                      <p:cBhvr>
                                        <p:cTn id="186" dur="500"/>
                                        <p:tgtEl>
                                          <p:spTgt spid="45"/>
                                        </p:tgtEl>
                                      </p:cBhvr>
                                    </p:animEffect>
                                  </p:childTnLst>
                                </p:cTn>
                              </p:par>
                              <p:par>
                                <p:cTn id="192" presetID="2" presetClass="entr" presetSubtype="4" fill="hold" grpId="0" nodeType="withEffect">
                                  <p:stCondLst>
                                    <p:cond delay="0"/>
                                  </p:stCondLst>
                                  <p:childTnLst>
                                    <p:set>
                                      <p:cBhvr>
                                        <p:cTn id="188" dur="1" fill="hold">
                                          <p:stCondLst>
                                            <p:cond delay="0"/>
                                          </p:stCondLst>
                                        </p:cTn>
                                        <p:tgtEl>
                                          <p:spTgt spid="46"/>
                                        </p:tgtEl>
                                        <p:attrNameLst>
                                          <p:attrName>style.visibility</p:attrName>
                                        </p:attrNameLst>
                                      </p:cBhvr>
                                      <p:to>
                                        <p:strVal val="visible"/>
                                      </p:to>
                                    </p:set>
                                    <p:anim calcmode="lin" valueType="num">
                                      <p:cBhvr additive="base">
                                        <p:cTn id="189" dur="500" fill="hold"/>
                                        <p:tgtEl>
                                          <p:spTgt spid="46"/>
                                        </p:tgtEl>
                                        <p:attrNameLst>
                                          <p:attrName>ppt_x</p:attrName>
                                        </p:attrNameLst>
                                      </p:cBhvr>
                                      <p:tavLst>
                                        <p:tav tm="0">
                                          <p:val>
                                            <p:strVal val="#ppt_x"/>
                                          </p:val>
                                        </p:tav>
                                        <p:tav tm="100000">
                                          <p:val>
                                            <p:strVal val="#ppt_x"/>
                                          </p:val>
                                        </p:tav>
                                      </p:tavLst>
                                    </p:anim>
                                    <p:anim calcmode="lin" valueType="num">
                                      <p:cBhvr additive="base">
                                        <p:cTn id="190" dur="500" fill="hold"/>
                                        <p:tgtEl>
                                          <p:spTgt spid="46"/>
                                        </p:tgtEl>
                                        <p:attrNameLst>
                                          <p:attrName>ppt_y</p:attrName>
                                        </p:attrNameLst>
                                      </p:cBhvr>
                                      <p:tavLst>
                                        <p:tav tm="0">
                                          <p:val>
                                            <p:strVal val="#ppt_y+0.1"/>
                                          </p:val>
                                        </p:tav>
                                        <p:tav tm="100000">
                                          <p:val>
                                            <p:strVal val="#ppt_y"/>
                                          </p:val>
                                        </p:tav>
                                      </p:tavLst>
                                    </p:anim>
                                    <p:animEffect transition="in" filter="fade">
                                      <p:cBhvr>
                                        <p:cTn id="191" dur="500"/>
                                        <p:tgtEl>
                                          <p:spTgt spid="46"/>
                                        </p:tgtEl>
                                      </p:cBhvr>
                                    </p:animEffect>
                                  </p:childTnLst>
                                </p:cTn>
                              </p:par>
                              <p:par>
                                <p:cTn id="197" presetID="2" presetClass="entr" presetSubtype="4" fill="hold" grpId="0" nodeType="withEffect">
                                  <p:stCondLst>
                                    <p:cond delay="0"/>
                                  </p:stCondLst>
                                  <p:childTnLst>
                                    <p:set>
                                      <p:cBhvr>
                                        <p:cTn id="193" dur="1" fill="hold">
                                          <p:stCondLst>
                                            <p:cond delay="0"/>
                                          </p:stCondLst>
                                        </p:cTn>
                                        <p:tgtEl>
                                          <p:spTgt spid="47"/>
                                        </p:tgtEl>
                                        <p:attrNameLst>
                                          <p:attrName>style.visibility</p:attrName>
                                        </p:attrNameLst>
                                      </p:cBhvr>
                                      <p:to>
                                        <p:strVal val="visible"/>
                                      </p:to>
                                    </p:set>
                                    <p:anim calcmode="lin" valueType="num">
                                      <p:cBhvr additive="base">
                                        <p:cTn id="194" dur="500" fill="hold"/>
                                        <p:tgtEl>
                                          <p:spTgt spid="47"/>
                                        </p:tgtEl>
                                        <p:attrNameLst>
                                          <p:attrName>ppt_x</p:attrName>
                                        </p:attrNameLst>
                                      </p:cBhvr>
                                      <p:tavLst>
                                        <p:tav tm="0">
                                          <p:val>
                                            <p:strVal val="#ppt_x"/>
                                          </p:val>
                                        </p:tav>
                                        <p:tav tm="100000">
                                          <p:val>
                                            <p:strVal val="#ppt_x"/>
                                          </p:val>
                                        </p:tav>
                                      </p:tavLst>
                                    </p:anim>
                                    <p:anim calcmode="lin" valueType="num">
                                      <p:cBhvr additive="base">
                                        <p:cTn id="195" dur="500" fill="hold"/>
                                        <p:tgtEl>
                                          <p:spTgt spid="47"/>
                                        </p:tgtEl>
                                        <p:attrNameLst>
                                          <p:attrName>ppt_y</p:attrName>
                                        </p:attrNameLst>
                                      </p:cBhvr>
                                      <p:tavLst>
                                        <p:tav tm="0">
                                          <p:val>
                                            <p:strVal val="#ppt_y+0.1"/>
                                          </p:val>
                                        </p:tav>
                                        <p:tav tm="100000">
                                          <p:val>
                                            <p:strVal val="#ppt_y"/>
                                          </p:val>
                                        </p:tav>
                                      </p:tavLst>
                                    </p:anim>
                                    <p:animEffect transition="in" filter="fade">
                                      <p:cBhvr>
                                        <p:cTn id="196"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LinkedIn's Problem, 2010</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Two kinds of data, needed both in real time and in batch, by many systems</a:t>
            </a:r>
          </a:p>
        </p:txBody>
      </p:sp>
      <p:sp>
        <p:nvSpPr>
          <p:cNvPr id="11" name="a1u_card10"/>
          <p:cNvSpPr/>
          <p:nvPr/>
        </p:nvSpPr>
        <p:spPr>
          <a:xfrm>
            <a:off x="457200" y="1234440"/>
            <a:ext cx="4023360" cy="1371600"/>
          </a:xfrm>
          <a:prstGeom prst="roundRect">
            <a:avLst>
              <a:gd name="adj" fmla="val 8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50292" cy="13716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44168"/>
            <a:ext cx="3657600" cy="237744"/>
          </a:xfrm>
          <a:prstGeom prst="rect">
            <a:avLst/>
          </a:prstGeom>
          <a:noFill/>
        </p:spPr>
        <p:txBody>
          <a:bodyPr wrap="square" lIns="0" tIns="0" rIns="0" bIns="0" anchor="ctr">
            <a:spAutoFit/>
          </a:bodyPr>
          <a:lstStyle/>
          <a:p>
            <a:pPr algn="l"/>
            <a:r>
              <a:rPr sz="900" b="1">
                <a:solidFill>
                  <a:srgbClr val="EA580C"/>
                </a:solidFill>
                <a:latin typeface="Segoe UI"/>
              </a:rPr>
              <a:t>ACTIVITY DATA</a:t>
            </a:r>
          </a:p>
        </p:txBody>
      </p:sp>
      <p:sp>
        <p:nvSpPr>
          <p:cNvPr id="14" name="a1ud80_dot13"/>
          <p:cNvSpPr/>
          <p:nvPr/>
        </p:nvSpPr>
        <p:spPr>
          <a:xfrm>
            <a:off x="658368" y="176936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80_b14"/>
          <p:cNvSpPr txBox="1"/>
          <p:nvPr/>
        </p:nvSpPr>
        <p:spPr>
          <a:xfrm>
            <a:off x="877824" y="1673352"/>
            <a:ext cx="3401568" cy="292608"/>
          </a:xfrm>
          <a:prstGeom prst="rect">
            <a:avLst/>
          </a:prstGeom>
          <a:noFill/>
        </p:spPr>
        <p:txBody>
          <a:bodyPr wrap="square" lIns="0" tIns="0" rIns="0" bIns="0" anchor="t">
            <a:spAutoFit/>
          </a:bodyPr>
          <a:lstStyle/>
          <a:p>
            <a:pPr algn="l"/>
            <a:r>
              <a:rPr sz="950" b="0">
                <a:solidFill>
                  <a:srgbClr val="44403C"/>
                </a:solidFill>
                <a:latin typeface="Segoe UI"/>
              </a:rPr>
              <a:t>Logins, page views, clicks, searches</a:t>
            </a:r>
          </a:p>
        </p:txBody>
      </p:sp>
      <p:sp>
        <p:nvSpPr>
          <p:cNvPr id="16" name="a1ud180_dot15"/>
          <p:cNvSpPr/>
          <p:nvPr/>
        </p:nvSpPr>
        <p:spPr>
          <a:xfrm>
            <a:off x="658368" y="2098548"/>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180_b16"/>
          <p:cNvSpPr txBox="1"/>
          <p:nvPr/>
        </p:nvSpPr>
        <p:spPr>
          <a:xfrm>
            <a:off x="877824" y="2002536"/>
            <a:ext cx="3401568" cy="292608"/>
          </a:xfrm>
          <a:prstGeom prst="rect">
            <a:avLst/>
          </a:prstGeom>
          <a:noFill/>
        </p:spPr>
        <p:txBody>
          <a:bodyPr wrap="square" lIns="0" tIns="0" rIns="0" bIns="0" anchor="t">
            <a:spAutoFit/>
          </a:bodyPr>
          <a:lstStyle/>
          <a:p>
            <a:pPr algn="l"/>
            <a:r>
              <a:rPr sz="950" b="0">
                <a:solidFill>
                  <a:srgbClr val="44403C"/>
                </a:solidFill>
                <a:latin typeface="Segoe UI"/>
              </a:rPr>
              <a:t>Likes, shares, comments</a:t>
            </a:r>
          </a:p>
        </p:txBody>
      </p:sp>
      <p:sp>
        <p:nvSpPr>
          <p:cNvPr id="18" name="a2u_card17"/>
          <p:cNvSpPr/>
          <p:nvPr/>
        </p:nvSpPr>
        <p:spPr>
          <a:xfrm>
            <a:off x="457200" y="2743200"/>
            <a:ext cx="4023360" cy="1371600"/>
          </a:xfrm>
          <a:prstGeom prst="roundRect">
            <a:avLst>
              <a:gd name="adj" fmla="val 8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2u_acc18"/>
          <p:cNvSpPr/>
          <p:nvPr/>
        </p:nvSpPr>
        <p:spPr>
          <a:xfrm>
            <a:off x="457200" y="2743200"/>
            <a:ext cx="50292" cy="137160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u_hh19"/>
          <p:cNvSpPr txBox="1"/>
          <p:nvPr/>
        </p:nvSpPr>
        <p:spPr>
          <a:xfrm>
            <a:off x="658368" y="2852928"/>
            <a:ext cx="3657600" cy="237744"/>
          </a:xfrm>
          <a:prstGeom prst="rect">
            <a:avLst/>
          </a:prstGeom>
          <a:noFill/>
        </p:spPr>
        <p:txBody>
          <a:bodyPr wrap="square" lIns="0" tIns="0" rIns="0" bIns="0" anchor="ctr">
            <a:spAutoFit/>
          </a:bodyPr>
          <a:lstStyle/>
          <a:p>
            <a:pPr algn="l"/>
            <a:r>
              <a:rPr sz="900" b="1">
                <a:solidFill>
                  <a:srgbClr val="0E7490"/>
                </a:solidFill>
                <a:latin typeface="Segoe UI"/>
              </a:rPr>
              <a:t>OPERATIONAL METRICS</a:t>
            </a:r>
          </a:p>
        </p:txBody>
      </p:sp>
      <p:sp>
        <p:nvSpPr>
          <p:cNvPr id="21" name="a2ud80_dot20"/>
          <p:cNvSpPr/>
          <p:nvPr/>
        </p:nvSpPr>
        <p:spPr>
          <a:xfrm>
            <a:off x="658368" y="327812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d80_b21"/>
          <p:cNvSpPr txBox="1"/>
          <p:nvPr/>
        </p:nvSpPr>
        <p:spPr>
          <a:xfrm>
            <a:off x="877824" y="3182112"/>
            <a:ext cx="3401568" cy="292608"/>
          </a:xfrm>
          <a:prstGeom prst="rect">
            <a:avLst/>
          </a:prstGeom>
          <a:noFill/>
        </p:spPr>
        <p:txBody>
          <a:bodyPr wrap="square" lIns="0" tIns="0" rIns="0" bIns="0" anchor="t">
            <a:spAutoFit/>
          </a:bodyPr>
          <a:lstStyle/>
          <a:p>
            <a:pPr algn="l"/>
            <a:r>
              <a:rPr sz="950" b="0">
                <a:solidFill>
                  <a:srgbClr val="44403C"/>
                </a:solidFill>
                <a:latin typeface="Segoe UI"/>
              </a:rPr>
              <a:t>Call latency and errors</a:t>
            </a:r>
          </a:p>
        </p:txBody>
      </p:sp>
      <p:sp>
        <p:nvSpPr>
          <p:cNvPr id="23" name="a2ud180_dot22"/>
          <p:cNvSpPr/>
          <p:nvPr/>
        </p:nvSpPr>
        <p:spPr>
          <a:xfrm>
            <a:off x="658368" y="3607308"/>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d180_b23"/>
          <p:cNvSpPr txBox="1"/>
          <p:nvPr/>
        </p:nvSpPr>
        <p:spPr>
          <a:xfrm>
            <a:off x="877824" y="3511296"/>
            <a:ext cx="3401568" cy="292608"/>
          </a:xfrm>
          <a:prstGeom prst="rect">
            <a:avLst/>
          </a:prstGeom>
          <a:noFill/>
        </p:spPr>
        <p:txBody>
          <a:bodyPr wrap="square" lIns="0" tIns="0" rIns="0" bIns="0" anchor="t">
            <a:spAutoFit/>
          </a:bodyPr>
          <a:lstStyle/>
          <a:p>
            <a:pPr algn="l"/>
            <a:r>
              <a:rPr sz="950" b="0">
                <a:solidFill>
                  <a:srgbClr val="44403C"/>
                </a:solidFill>
                <a:latin typeface="Segoe UI"/>
              </a:rPr>
              <a:t>CPU, memory, network, disk</a:t>
            </a:r>
          </a:p>
        </p:txBody>
      </p:sp>
      <p:sp>
        <p:nvSpPr>
          <p:cNvPr id="25" name="a3u_card24"/>
          <p:cNvSpPr/>
          <p:nvPr/>
        </p:nvSpPr>
        <p:spPr>
          <a:xfrm>
            <a:off x="4663440" y="1234440"/>
            <a:ext cx="4023360" cy="2880360"/>
          </a:xfrm>
          <a:prstGeom prst="roundRect">
            <a:avLst>
              <a:gd name="adj" fmla="val 380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3u_acc25"/>
          <p:cNvSpPr/>
          <p:nvPr/>
        </p:nvSpPr>
        <p:spPr>
          <a:xfrm>
            <a:off x="4663440" y="1234440"/>
            <a:ext cx="50292" cy="288036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3u_hh26"/>
          <p:cNvSpPr txBox="1"/>
          <p:nvPr/>
        </p:nvSpPr>
        <p:spPr>
          <a:xfrm>
            <a:off x="4864607" y="1344168"/>
            <a:ext cx="3657600" cy="237744"/>
          </a:xfrm>
          <a:prstGeom prst="rect">
            <a:avLst/>
          </a:prstGeom>
          <a:noFill/>
        </p:spPr>
        <p:txBody>
          <a:bodyPr wrap="square" lIns="0" tIns="0" rIns="0" bIns="0" anchor="ctr">
            <a:spAutoFit/>
          </a:bodyPr>
          <a:lstStyle/>
          <a:p>
            <a:pPr algn="l"/>
            <a:r>
              <a:rPr sz="900" b="1">
                <a:solidFill>
                  <a:srgbClr val="A16207"/>
                </a:solidFill>
                <a:latin typeface="Segoe UI"/>
              </a:rPr>
              <a:t>WHO NEEDED IT</a:t>
            </a:r>
          </a:p>
        </p:txBody>
      </p:sp>
      <p:sp>
        <p:nvSpPr>
          <p:cNvPr id="28" name="a3ud100_lb27"/>
          <p:cNvSpPr txBox="1"/>
          <p:nvPr/>
        </p:nvSpPr>
        <p:spPr>
          <a:xfrm>
            <a:off x="4864608" y="1664208"/>
            <a:ext cx="3657600" cy="201168"/>
          </a:xfrm>
          <a:prstGeom prst="rect">
            <a:avLst/>
          </a:prstGeom>
          <a:noFill/>
        </p:spPr>
        <p:txBody>
          <a:bodyPr wrap="square" lIns="0" tIns="0" rIns="0" bIns="0" anchor="ctr">
            <a:spAutoFit/>
          </a:bodyPr>
          <a:lstStyle/>
          <a:p>
            <a:pPr algn="l"/>
            <a:r>
              <a:rPr sz="850" b="1">
                <a:solidFill>
                  <a:srgbClr val="1C1917"/>
                </a:solidFill>
                <a:latin typeface="Segoe UI"/>
              </a:rPr>
              <a:t>in real time</a:t>
            </a:r>
          </a:p>
        </p:txBody>
      </p:sp>
      <p:sp>
        <p:nvSpPr>
          <p:cNvPr id="29" name="a3ud150_pill28"/>
          <p:cNvSpPr/>
          <p:nvPr/>
        </p:nvSpPr>
        <p:spPr>
          <a:xfrm>
            <a:off x="4864608" y="1920240"/>
            <a:ext cx="1737360"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news feed</a:t>
            </a:r>
          </a:p>
        </p:txBody>
      </p:sp>
      <p:sp>
        <p:nvSpPr>
          <p:cNvPr id="30" name="a3ud240_pill29"/>
          <p:cNvSpPr/>
          <p:nvPr/>
        </p:nvSpPr>
        <p:spPr>
          <a:xfrm>
            <a:off x="6693408" y="1920240"/>
            <a:ext cx="1737360"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search relevance</a:t>
            </a:r>
          </a:p>
        </p:txBody>
      </p:sp>
      <p:sp>
        <p:nvSpPr>
          <p:cNvPr id="31" name="a3ud330_pill30"/>
          <p:cNvSpPr/>
          <p:nvPr/>
        </p:nvSpPr>
        <p:spPr>
          <a:xfrm>
            <a:off x="4864608" y="2304288"/>
            <a:ext cx="1737360"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spam detection</a:t>
            </a:r>
          </a:p>
        </p:txBody>
      </p:sp>
      <p:sp>
        <p:nvSpPr>
          <p:cNvPr id="32" name="a3ud420_pill31"/>
          <p:cNvSpPr/>
          <p:nvPr/>
        </p:nvSpPr>
        <p:spPr>
          <a:xfrm>
            <a:off x="6693408" y="2304288"/>
            <a:ext cx="1737360"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monitoring</a:t>
            </a:r>
          </a:p>
        </p:txBody>
      </p:sp>
      <p:sp>
        <p:nvSpPr>
          <p:cNvPr id="33" name="a3ud500_lb32"/>
          <p:cNvSpPr txBox="1"/>
          <p:nvPr/>
        </p:nvSpPr>
        <p:spPr>
          <a:xfrm>
            <a:off x="4864608" y="2724912"/>
            <a:ext cx="3657600" cy="201168"/>
          </a:xfrm>
          <a:prstGeom prst="rect">
            <a:avLst/>
          </a:prstGeom>
          <a:noFill/>
        </p:spPr>
        <p:txBody>
          <a:bodyPr wrap="square" lIns="0" tIns="0" rIns="0" bIns="0" anchor="ctr">
            <a:spAutoFit/>
          </a:bodyPr>
          <a:lstStyle/>
          <a:p>
            <a:pPr algn="l"/>
            <a:r>
              <a:rPr sz="850" b="1">
                <a:solidFill>
                  <a:srgbClr val="1C1917"/>
                </a:solidFill>
                <a:latin typeface="Segoe UI"/>
              </a:rPr>
              <a:t>in batch</a:t>
            </a:r>
          </a:p>
        </p:txBody>
      </p:sp>
      <p:sp>
        <p:nvSpPr>
          <p:cNvPr id="34" name="a3ud550_pill33"/>
          <p:cNvSpPr/>
          <p:nvPr/>
        </p:nvSpPr>
        <p:spPr>
          <a:xfrm>
            <a:off x="4864608" y="2980944"/>
            <a:ext cx="1737360"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Hadoop</a:t>
            </a:r>
          </a:p>
        </p:txBody>
      </p:sp>
      <p:sp>
        <p:nvSpPr>
          <p:cNvPr id="35" name="a3ud640_pill34"/>
          <p:cNvSpPr/>
          <p:nvPr/>
        </p:nvSpPr>
        <p:spPr>
          <a:xfrm>
            <a:off x="6693408" y="2980944"/>
            <a:ext cx="1737360"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data warehouse</a:t>
            </a:r>
          </a:p>
        </p:txBody>
      </p:sp>
      <p:sp>
        <p:nvSpPr>
          <p:cNvPr id="36" name="a3ud730_pill35"/>
          <p:cNvSpPr/>
          <p:nvPr/>
        </p:nvSpPr>
        <p:spPr>
          <a:xfrm>
            <a:off x="4864608" y="3364991"/>
            <a:ext cx="1737360"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reports</a:t>
            </a:r>
          </a:p>
        </p:txBody>
      </p:sp>
      <p:sp>
        <p:nvSpPr>
          <p:cNvPr id="37" name="a3ud820_pill36"/>
          <p:cNvSpPr/>
          <p:nvPr/>
        </p:nvSpPr>
        <p:spPr>
          <a:xfrm>
            <a:off x="6693408" y="3364991"/>
            <a:ext cx="1737360"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ad analytics</a:t>
            </a:r>
          </a:p>
        </p:txBody>
      </p:sp>
      <p:sp>
        <p:nvSpPr>
          <p:cNvPr id="38" name="a4u_nb37"/>
          <p:cNvSpPr/>
          <p:nvPr/>
        </p:nvSpPr>
        <p:spPr>
          <a:xfrm>
            <a:off x="457200" y="4224528"/>
            <a:ext cx="8229600" cy="438912"/>
          </a:xfrm>
          <a:prstGeom prst="roundRect">
            <a:avLst>
              <a:gd name="adj" fmla="val 16666"/>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4u_nacc38"/>
          <p:cNvSpPr/>
          <p:nvPr/>
        </p:nvSpPr>
        <p:spPr>
          <a:xfrm>
            <a:off x="457200" y="4224528"/>
            <a:ext cx="54864" cy="43891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4u_nt39"/>
          <p:cNvSpPr txBox="1"/>
          <p:nvPr/>
        </p:nvSpPr>
        <p:spPr>
          <a:xfrm>
            <a:off x="658368" y="4224528"/>
            <a:ext cx="7827264" cy="438912"/>
          </a:xfrm>
          <a:prstGeom prst="rect">
            <a:avLst/>
          </a:prstGeom>
          <a:noFill/>
        </p:spPr>
        <p:txBody>
          <a:bodyPr wrap="square" lIns="0" tIns="0" rIns="0" bIns="0" anchor="ctr">
            <a:spAutoFit/>
          </a:bodyPr>
          <a:lstStyle/>
          <a:p>
            <a:pPr algn="l"/>
            <a:r>
              <a:rPr sz="900" b="1">
                <a:solidFill>
                  <a:srgbClr val="9F1239"/>
                </a:solidFill>
                <a:latin typeface="Segoe UI"/>
              </a:rPr>
              <a:t>!  </a:t>
            </a:r>
            <a:r>
              <a:rPr sz="900" b="0">
                <a:solidFill>
                  <a:srgbClr val="44403C"/>
                </a:solidFill>
                <a:latin typeface="Segoe UI"/>
              </a:rPr>
              <a:t>Every pair of systems had its own custom pipeline - the N x M picture from Part 2, at LinkedIn's scale.</a:t>
            </a:r>
          </a:p>
        </p:txBody>
      </p:sp>
      <p:sp>
        <p:nvSpPr>
          <p:cNvPr id="41" name="ft4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37</a:t>
            </a:r>
          </a:p>
        </p:txBody>
      </p:sp>
      <p:sp>
        <p:nvSpPr>
          <p:cNvPr id="42" name="ft4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ft4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4" name="ft4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8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8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8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8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6" presetID="2" presetClass="entr" presetSubtype="4"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ppt_y+0.1"/>
                                          </p:val>
                                        </p:tav>
                                        <p:tav tm="100000">
                                          <p:val>
                                            <p:strVal val="#ppt_y"/>
                                          </p:val>
                                        </p:tav>
                                      </p:tavLst>
                                    </p:anim>
                                    <p:animEffect transition="in" filter="fade">
                                      <p:cBhvr>
                                        <p:cTn id="45" dur="500"/>
                                        <p:tgtEl>
                                          <p:spTgt spid="18"/>
                                        </p:tgtEl>
                                      </p:cBhvr>
                                    </p:animEffect>
                                  </p:childTnLst>
                                </p:cTn>
                              </p:par>
                              <p:par>
                                <p:cTn id="51" presetID="2" presetClass="entr" presetSubtype="4"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ppt_x</p:attrName>
                                        </p:attrNameLst>
                                      </p:cBhvr>
                                      <p:tavLst>
                                        <p:tav tm="0">
                                          <p:val>
                                            <p:strVal val="#ppt_x"/>
                                          </p:val>
                                        </p:tav>
                                        <p:tav tm="100000">
                                          <p:val>
                                            <p:strVal val="#ppt_x"/>
                                          </p:val>
                                        </p:tav>
                                      </p:tavLst>
                                    </p:anim>
                                    <p:anim calcmode="lin" valueType="num">
                                      <p:cBhvr additive="base">
                                        <p:cTn id="49" dur="500" fill="hold"/>
                                        <p:tgtEl>
                                          <p:spTgt spid="19"/>
                                        </p:tgtEl>
                                        <p:attrNameLst>
                                          <p:attrName>ppt_y</p:attrName>
                                        </p:attrNameLst>
                                      </p:cBhvr>
                                      <p:tavLst>
                                        <p:tav tm="0">
                                          <p:val>
                                            <p:strVal val="#ppt_y+0.1"/>
                                          </p:val>
                                        </p:tav>
                                        <p:tav tm="100000">
                                          <p:val>
                                            <p:strVal val="#ppt_y"/>
                                          </p:val>
                                        </p:tav>
                                      </p:tavLst>
                                    </p:anim>
                                    <p:animEffect transition="in" filter="fade">
                                      <p:cBhvr>
                                        <p:cTn id="50" dur="500"/>
                                        <p:tgtEl>
                                          <p:spTgt spid="19"/>
                                        </p:tgtEl>
                                      </p:cBhvr>
                                    </p:animEffect>
                                  </p:childTnLst>
                                </p:cTn>
                              </p:par>
                              <p:par>
                                <p:cTn id="56" presetID="2" presetClass="entr" presetSubtype="4"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par>
                                <p:cTn id="61" presetID="2" presetClass="entr" presetSubtype="4" fill="hold" grpId="0" nodeType="withEffect">
                                  <p:stCondLst>
                                    <p:cond delay="8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8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18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18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childTnLst>
                          </p:cTn>
                        </p:par>
                      </p:childTnLst>
                    </p:cTn>
                  </p:par>
                  <p:par>
                    <p:cTn id="77" fill="hold">
                      <p:stCondLst>
                        <p:cond delay="indefinite"/>
                      </p:stCondLst>
                      <p:childTnLst>
                        <p:par>
                          <p:cTn id="78" fill="hold">
                            <p:stCondLst>
                              <p:cond delay="0"/>
                            </p:stCondLst>
                            <p:childTnLst>
                              <p:par>
                                <p:cTn id="83" presetID="2" presetClass="entr" presetSubtype="4" fill="hold" grpId="0" nodeType="clickEffect">
                                  <p:stCondLst>
                                    <p:cond delay="0"/>
                                  </p:stCondLst>
                                  <p:childTnLst>
                                    <p:set>
                                      <p:cBhvr>
                                        <p:cTn id="79" dur="1" fill="hold">
                                          <p:stCondLst>
                                            <p:cond delay="0"/>
                                          </p:stCondLst>
                                        </p:cTn>
                                        <p:tgtEl>
                                          <p:spTgt spid="25"/>
                                        </p:tgtEl>
                                        <p:attrNameLst>
                                          <p:attrName>style.visibility</p:attrName>
                                        </p:attrNameLst>
                                      </p:cBhvr>
                                      <p:to>
                                        <p:strVal val="visible"/>
                                      </p:to>
                                    </p:set>
                                    <p:anim calcmode="lin" valueType="num">
                                      <p:cBhvr additive="base">
                                        <p:cTn id="80" dur="500" fill="hold"/>
                                        <p:tgtEl>
                                          <p:spTgt spid="25"/>
                                        </p:tgtEl>
                                        <p:attrNameLst>
                                          <p:attrName>ppt_x</p:attrName>
                                        </p:attrNameLst>
                                      </p:cBhvr>
                                      <p:tavLst>
                                        <p:tav tm="0">
                                          <p:val>
                                            <p:strVal val="#ppt_x"/>
                                          </p:val>
                                        </p:tav>
                                        <p:tav tm="100000">
                                          <p:val>
                                            <p:strVal val="#ppt_x"/>
                                          </p:val>
                                        </p:tav>
                                      </p:tavLst>
                                    </p:anim>
                                    <p:anim calcmode="lin" valueType="num">
                                      <p:cBhvr additive="base">
                                        <p:cTn id="81" dur="500" fill="hold"/>
                                        <p:tgtEl>
                                          <p:spTgt spid="25"/>
                                        </p:tgtEl>
                                        <p:attrNameLst>
                                          <p:attrName>ppt_y</p:attrName>
                                        </p:attrNameLst>
                                      </p:cBhvr>
                                      <p:tavLst>
                                        <p:tav tm="0">
                                          <p:val>
                                            <p:strVal val="#ppt_y+0.1"/>
                                          </p:val>
                                        </p:tav>
                                        <p:tav tm="100000">
                                          <p:val>
                                            <p:strVal val="#ppt_y"/>
                                          </p:val>
                                        </p:tav>
                                      </p:tavLst>
                                    </p:anim>
                                    <p:animEffect transition="in" filter="fade">
                                      <p:cBhvr>
                                        <p:cTn id="82" dur="500"/>
                                        <p:tgtEl>
                                          <p:spTgt spid="25"/>
                                        </p:tgtEl>
                                      </p:cBhvr>
                                    </p:animEffect>
                                  </p:childTnLst>
                                </p:cTn>
                              </p:par>
                              <p:par>
                                <p:cTn id="88" presetID="2" presetClass="entr" presetSubtype="4" fill="hold" grpId="0" nodeType="withEffect">
                                  <p:stCondLst>
                                    <p:cond delay="0"/>
                                  </p:stCondLst>
                                  <p:childTnLst>
                                    <p:set>
                                      <p:cBhvr>
                                        <p:cTn id="84" dur="1" fill="hold">
                                          <p:stCondLst>
                                            <p:cond delay="0"/>
                                          </p:stCondLst>
                                        </p:cTn>
                                        <p:tgtEl>
                                          <p:spTgt spid="26"/>
                                        </p:tgtEl>
                                        <p:attrNameLst>
                                          <p:attrName>style.visibility</p:attrName>
                                        </p:attrNameLst>
                                      </p:cBhvr>
                                      <p:to>
                                        <p:strVal val="visible"/>
                                      </p:to>
                                    </p:set>
                                    <p:anim calcmode="lin" valueType="num">
                                      <p:cBhvr additive="base">
                                        <p:cTn id="85" dur="500" fill="hold"/>
                                        <p:tgtEl>
                                          <p:spTgt spid="26"/>
                                        </p:tgtEl>
                                        <p:attrNameLst>
                                          <p:attrName>ppt_x</p:attrName>
                                        </p:attrNameLst>
                                      </p:cBhvr>
                                      <p:tavLst>
                                        <p:tav tm="0">
                                          <p:val>
                                            <p:strVal val="#ppt_x"/>
                                          </p:val>
                                        </p:tav>
                                        <p:tav tm="100000">
                                          <p:val>
                                            <p:strVal val="#ppt_x"/>
                                          </p:val>
                                        </p:tav>
                                      </p:tavLst>
                                    </p:anim>
                                    <p:anim calcmode="lin" valueType="num">
                                      <p:cBhvr additive="base">
                                        <p:cTn id="86" dur="500" fill="hold"/>
                                        <p:tgtEl>
                                          <p:spTgt spid="26"/>
                                        </p:tgtEl>
                                        <p:attrNameLst>
                                          <p:attrName>ppt_y</p:attrName>
                                        </p:attrNameLst>
                                      </p:cBhvr>
                                      <p:tavLst>
                                        <p:tav tm="0">
                                          <p:val>
                                            <p:strVal val="#ppt_y+0.1"/>
                                          </p:val>
                                        </p:tav>
                                        <p:tav tm="100000">
                                          <p:val>
                                            <p:strVal val="#ppt_y"/>
                                          </p:val>
                                        </p:tav>
                                      </p:tavLst>
                                    </p:anim>
                                    <p:animEffect transition="in" filter="fade">
                                      <p:cBhvr>
                                        <p:cTn id="87" dur="500"/>
                                        <p:tgtEl>
                                          <p:spTgt spid="26"/>
                                        </p:tgtEl>
                                      </p:cBhvr>
                                    </p:animEffect>
                                  </p:childTnLst>
                                </p:cTn>
                              </p:par>
                              <p:par>
                                <p:cTn id="93" presetID="2" presetClass="entr" presetSubtype="4" fill="hold" grpId="0" nodeType="withEffect">
                                  <p:stCondLst>
                                    <p:cond delay="0"/>
                                  </p:stCondLst>
                                  <p:childTnLst>
                                    <p:set>
                                      <p:cBhvr>
                                        <p:cTn id="89" dur="1" fill="hold">
                                          <p:stCondLst>
                                            <p:cond delay="0"/>
                                          </p:stCondLst>
                                        </p:cTn>
                                        <p:tgtEl>
                                          <p:spTgt spid="27"/>
                                        </p:tgtEl>
                                        <p:attrNameLst>
                                          <p:attrName>style.visibility</p:attrName>
                                        </p:attrNameLst>
                                      </p:cBhvr>
                                      <p:to>
                                        <p:strVal val="visible"/>
                                      </p:to>
                                    </p:set>
                                    <p:anim calcmode="lin" valueType="num">
                                      <p:cBhvr additive="base">
                                        <p:cTn id="90" dur="500" fill="hold"/>
                                        <p:tgtEl>
                                          <p:spTgt spid="27"/>
                                        </p:tgtEl>
                                        <p:attrNameLst>
                                          <p:attrName>ppt_x</p:attrName>
                                        </p:attrNameLst>
                                      </p:cBhvr>
                                      <p:tavLst>
                                        <p:tav tm="0">
                                          <p:val>
                                            <p:strVal val="#ppt_x"/>
                                          </p:val>
                                        </p:tav>
                                        <p:tav tm="100000">
                                          <p:val>
                                            <p:strVal val="#ppt_x"/>
                                          </p:val>
                                        </p:tav>
                                      </p:tavLst>
                                    </p:anim>
                                    <p:anim calcmode="lin" valueType="num">
                                      <p:cBhvr additive="base">
                                        <p:cTn id="91" dur="500" fill="hold"/>
                                        <p:tgtEl>
                                          <p:spTgt spid="27"/>
                                        </p:tgtEl>
                                        <p:attrNameLst>
                                          <p:attrName>ppt_y</p:attrName>
                                        </p:attrNameLst>
                                      </p:cBhvr>
                                      <p:tavLst>
                                        <p:tav tm="0">
                                          <p:val>
                                            <p:strVal val="#ppt_y+0.1"/>
                                          </p:val>
                                        </p:tav>
                                        <p:tav tm="100000">
                                          <p:val>
                                            <p:strVal val="#ppt_y"/>
                                          </p:val>
                                        </p:tav>
                                      </p:tavLst>
                                    </p:anim>
                                    <p:animEffect transition="in" filter="fade">
                                      <p:cBhvr>
                                        <p:cTn id="92" dur="500"/>
                                        <p:tgtEl>
                                          <p:spTgt spid="27"/>
                                        </p:tgtEl>
                                      </p:cBhvr>
                                    </p:animEffect>
                                  </p:childTnLst>
                                </p:cTn>
                              </p:par>
                              <p:par>
                                <p:cTn id="98" presetID="2" presetClass="entr" presetSubtype="4" fill="hold" grpId="0" nodeType="withEffect">
                                  <p:stCondLst>
                                    <p:cond delay="10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ppt_x"/>
                                          </p:val>
                                        </p:tav>
                                        <p:tav tm="100000">
                                          <p:val>
                                            <p:strVal val="#ppt_x"/>
                                          </p:val>
                                        </p:tav>
                                      </p:tavLst>
                                    </p:anim>
                                    <p:anim calcmode="lin" valueType="num">
                                      <p:cBhvr additive="base">
                                        <p:cTn id="96" dur="500" fill="hold"/>
                                        <p:tgtEl>
                                          <p:spTgt spid="28"/>
                                        </p:tgtEl>
                                        <p:attrNameLst>
                                          <p:attrName>ppt_y</p:attrName>
                                        </p:attrNameLst>
                                      </p:cBhvr>
                                      <p:tavLst>
                                        <p:tav tm="0">
                                          <p:val>
                                            <p:strVal val="#ppt_y+0.1"/>
                                          </p:val>
                                        </p:tav>
                                        <p:tav tm="100000">
                                          <p:val>
                                            <p:strVal val="#ppt_y"/>
                                          </p:val>
                                        </p:tav>
                                      </p:tavLst>
                                    </p:anim>
                                    <p:animEffect transition="in" filter="fade">
                                      <p:cBhvr>
                                        <p:cTn id="97" dur="500"/>
                                        <p:tgtEl>
                                          <p:spTgt spid="28"/>
                                        </p:tgtEl>
                                      </p:cBhvr>
                                    </p:animEffect>
                                  </p:childTnLst>
                                </p:cTn>
                              </p:par>
                              <p:par>
                                <p:cTn id="103" presetID="2" presetClass="entr" presetSubtype="4" fill="hold" grpId="0" nodeType="withEffect">
                                  <p:stCondLst>
                                    <p:cond delay="150"/>
                                  </p:stCondLst>
                                  <p:childTnLst>
                                    <p:set>
                                      <p:cBhvr>
                                        <p:cTn id="99" dur="1" fill="hold">
                                          <p:stCondLst>
                                            <p:cond delay="0"/>
                                          </p:stCondLst>
                                        </p:cTn>
                                        <p:tgtEl>
                                          <p:spTgt spid="29"/>
                                        </p:tgtEl>
                                        <p:attrNameLst>
                                          <p:attrName>style.visibility</p:attrName>
                                        </p:attrNameLst>
                                      </p:cBhvr>
                                      <p:to>
                                        <p:strVal val="visible"/>
                                      </p:to>
                                    </p:set>
                                    <p:anim calcmode="lin" valueType="num">
                                      <p:cBhvr additive="base">
                                        <p:cTn id="100" dur="500" fill="hold"/>
                                        <p:tgtEl>
                                          <p:spTgt spid="29"/>
                                        </p:tgtEl>
                                        <p:attrNameLst>
                                          <p:attrName>ppt_x</p:attrName>
                                        </p:attrNameLst>
                                      </p:cBhvr>
                                      <p:tavLst>
                                        <p:tav tm="0">
                                          <p:val>
                                            <p:strVal val="#ppt_x"/>
                                          </p:val>
                                        </p:tav>
                                        <p:tav tm="100000">
                                          <p:val>
                                            <p:strVal val="#ppt_x"/>
                                          </p:val>
                                        </p:tav>
                                      </p:tavLst>
                                    </p:anim>
                                    <p:anim calcmode="lin" valueType="num">
                                      <p:cBhvr additive="base">
                                        <p:cTn id="101" dur="500" fill="hold"/>
                                        <p:tgtEl>
                                          <p:spTgt spid="29"/>
                                        </p:tgtEl>
                                        <p:attrNameLst>
                                          <p:attrName>ppt_y</p:attrName>
                                        </p:attrNameLst>
                                      </p:cBhvr>
                                      <p:tavLst>
                                        <p:tav tm="0">
                                          <p:val>
                                            <p:strVal val="#ppt_y+0.1"/>
                                          </p:val>
                                        </p:tav>
                                        <p:tav tm="100000">
                                          <p:val>
                                            <p:strVal val="#ppt_y"/>
                                          </p:val>
                                        </p:tav>
                                      </p:tavLst>
                                    </p:anim>
                                    <p:animEffect transition="in" filter="fade">
                                      <p:cBhvr>
                                        <p:cTn id="102" dur="500"/>
                                        <p:tgtEl>
                                          <p:spTgt spid="29"/>
                                        </p:tgtEl>
                                      </p:cBhvr>
                                    </p:animEffect>
                                  </p:childTnLst>
                                </p:cTn>
                              </p:par>
                              <p:par>
                                <p:cTn id="108" presetID="2" presetClass="entr" presetSubtype="4" fill="hold" grpId="0" nodeType="withEffect">
                                  <p:stCondLst>
                                    <p:cond delay="24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ppt_x"/>
                                          </p:val>
                                        </p:tav>
                                        <p:tav tm="100000">
                                          <p:val>
                                            <p:strVal val="#ppt_x"/>
                                          </p:val>
                                        </p:tav>
                                      </p:tavLst>
                                    </p:anim>
                                    <p:anim calcmode="lin" valueType="num">
                                      <p:cBhvr additive="base">
                                        <p:cTn id="106" dur="500" fill="hold"/>
                                        <p:tgtEl>
                                          <p:spTgt spid="30"/>
                                        </p:tgtEl>
                                        <p:attrNameLst>
                                          <p:attrName>ppt_y</p:attrName>
                                        </p:attrNameLst>
                                      </p:cBhvr>
                                      <p:tavLst>
                                        <p:tav tm="0">
                                          <p:val>
                                            <p:strVal val="#ppt_y+0.1"/>
                                          </p:val>
                                        </p:tav>
                                        <p:tav tm="100000">
                                          <p:val>
                                            <p:strVal val="#ppt_y"/>
                                          </p:val>
                                        </p:tav>
                                      </p:tavLst>
                                    </p:anim>
                                    <p:animEffect transition="in" filter="fade">
                                      <p:cBhvr>
                                        <p:cTn id="107" dur="500"/>
                                        <p:tgtEl>
                                          <p:spTgt spid="30"/>
                                        </p:tgtEl>
                                      </p:cBhvr>
                                    </p:animEffect>
                                  </p:childTnLst>
                                </p:cTn>
                              </p:par>
                              <p:par>
                                <p:cTn id="113" presetID="2" presetClass="entr" presetSubtype="4" fill="hold" grpId="0" nodeType="withEffect">
                                  <p:stCondLst>
                                    <p:cond delay="33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8" presetID="2" presetClass="entr" presetSubtype="4" fill="hold" grpId="0" nodeType="withEffect">
                                  <p:stCondLst>
                                    <p:cond delay="42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par>
                                <p:cTn id="123" presetID="2" presetClass="entr" presetSubtype="4" fill="hold" grpId="0" nodeType="withEffect">
                                  <p:stCondLst>
                                    <p:cond delay="50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par>
                                <p:cTn id="128" presetID="2" presetClass="entr" presetSubtype="4" fill="hold" grpId="0" nodeType="withEffect">
                                  <p:stCondLst>
                                    <p:cond delay="55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par>
                                <p:cTn id="133" presetID="2" presetClass="entr" presetSubtype="4" fill="hold" grpId="0" nodeType="withEffect">
                                  <p:stCondLst>
                                    <p:cond delay="64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par>
                                <p:cTn id="138" presetID="2" presetClass="entr" presetSubtype="4" fill="hold" grpId="0" nodeType="withEffect">
                                  <p:stCondLst>
                                    <p:cond delay="730"/>
                                  </p:stCondLst>
                                  <p:childTnLst>
                                    <p:set>
                                      <p:cBhvr>
                                        <p:cTn id="134" dur="1" fill="hold">
                                          <p:stCondLst>
                                            <p:cond delay="0"/>
                                          </p:stCondLst>
                                        </p:cTn>
                                        <p:tgtEl>
                                          <p:spTgt spid="36"/>
                                        </p:tgtEl>
                                        <p:attrNameLst>
                                          <p:attrName>style.visibility</p:attrName>
                                        </p:attrNameLst>
                                      </p:cBhvr>
                                      <p:to>
                                        <p:strVal val="visible"/>
                                      </p:to>
                                    </p:set>
                                    <p:anim calcmode="lin" valueType="num">
                                      <p:cBhvr additive="base">
                                        <p:cTn id="135" dur="500" fill="hold"/>
                                        <p:tgtEl>
                                          <p:spTgt spid="36"/>
                                        </p:tgtEl>
                                        <p:attrNameLst>
                                          <p:attrName>ppt_x</p:attrName>
                                        </p:attrNameLst>
                                      </p:cBhvr>
                                      <p:tavLst>
                                        <p:tav tm="0">
                                          <p:val>
                                            <p:strVal val="#ppt_x"/>
                                          </p:val>
                                        </p:tav>
                                        <p:tav tm="100000">
                                          <p:val>
                                            <p:strVal val="#ppt_x"/>
                                          </p:val>
                                        </p:tav>
                                      </p:tavLst>
                                    </p:anim>
                                    <p:anim calcmode="lin" valueType="num">
                                      <p:cBhvr additive="base">
                                        <p:cTn id="136" dur="500" fill="hold"/>
                                        <p:tgtEl>
                                          <p:spTgt spid="36"/>
                                        </p:tgtEl>
                                        <p:attrNameLst>
                                          <p:attrName>ppt_y</p:attrName>
                                        </p:attrNameLst>
                                      </p:cBhvr>
                                      <p:tavLst>
                                        <p:tav tm="0">
                                          <p:val>
                                            <p:strVal val="#ppt_y+0.1"/>
                                          </p:val>
                                        </p:tav>
                                        <p:tav tm="100000">
                                          <p:val>
                                            <p:strVal val="#ppt_y"/>
                                          </p:val>
                                        </p:tav>
                                      </p:tavLst>
                                    </p:anim>
                                    <p:animEffect transition="in" filter="fade">
                                      <p:cBhvr>
                                        <p:cTn id="137" dur="500"/>
                                        <p:tgtEl>
                                          <p:spTgt spid="36"/>
                                        </p:tgtEl>
                                      </p:cBhvr>
                                    </p:animEffect>
                                  </p:childTnLst>
                                </p:cTn>
                              </p:par>
                              <p:par>
                                <p:cTn id="143" presetID="2" presetClass="entr" presetSubtype="4" fill="hold" grpId="0" nodeType="withEffect">
                                  <p:stCondLst>
                                    <p:cond delay="820"/>
                                  </p:stCondLst>
                                  <p:childTnLst>
                                    <p:set>
                                      <p:cBhvr>
                                        <p:cTn id="139" dur="1" fill="hold">
                                          <p:stCondLst>
                                            <p:cond delay="0"/>
                                          </p:stCondLst>
                                        </p:cTn>
                                        <p:tgtEl>
                                          <p:spTgt spid="37"/>
                                        </p:tgtEl>
                                        <p:attrNameLst>
                                          <p:attrName>style.visibility</p:attrName>
                                        </p:attrNameLst>
                                      </p:cBhvr>
                                      <p:to>
                                        <p:strVal val="visible"/>
                                      </p:to>
                                    </p:set>
                                    <p:anim calcmode="lin" valueType="num">
                                      <p:cBhvr additive="base">
                                        <p:cTn id="140" dur="500" fill="hold"/>
                                        <p:tgtEl>
                                          <p:spTgt spid="37"/>
                                        </p:tgtEl>
                                        <p:attrNameLst>
                                          <p:attrName>ppt_x</p:attrName>
                                        </p:attrNameLst>
                                      </p:cBhvr>
                                      <p:tavLst>
                                        <p:tav tm="0">
                                          <p:val>
                                            <p:strVal val="#ppt_x"/>
                                          </p:val>
                                        </p:tav>
                                        <p:tav tm="100000">
                                          <p:val>
                                            <p:strVal val="#ppt_x"/>
                                          </p:val>
                                        </p:tav>
                                      </p:tavLst>
                                    </p:anim>
                                    <p:anim calcmode="lin" valueType="num">
                                      <p:cBhvr additive="base">
                                        <p:cTn id="141" dur="500" fill="hold"/>
                                        <p:tgtEl>
                                          <p:spTgt spid="37"/>
                                        </p:tgtEl>
                                        <p:attrNameLst>
                                          <p:attrName>ppt_y</p:attrName>
                                        </p:attrNameLst>
                                      </p:cBhvr>
                                      <p:tavLst>
                                        <p:tav tm="0">
                                          <p:val>
                                            <p:strVal val="#ppt_y+0.1"/>
                                          </p:val>
                                        </p:tav>
                                        <p:tav tm="100000">
                                          <p:val>
                                            <p:strVal val="#ppt_y"/>
                                          </p:val>
                                        </p:tav>
                                      </p:tavLst>
                                    </p:anim>
                                    <p:animEffect transition="in" filter="fade">
                                      <p:cBhvr>
                                        <p:cTn id="142" dur="500"/>
                                        <p:tgtEl>
                                          <p:spTgt spid="37"/>
                                        </p:tgtEl>
                                      </p:cBhvr>
                                    </p:animEffect>
                                  </p:childTnLst>
                                </p:cTn>
                              </p:par>
                            </p:childTnLst>
                          </p:cTn>
                        </p:par>
                      </p:childTnLst>
                    </p:cTn>
                  </p:par>
                  <p:par>
                    <p:cTn id="144" fill="hold">
                      <p:stCondLst>
                        <p:cond delay="indefinite"/>
                      </p:stCondLst>
                      <p:childTnLst>
                        <p:par>
                          <p:cTn id="145" fill="hold">
                            <p:stCondLst>
                              <p:cond delay="0"/>
                            </p:stCondLst>
                            <p:childTnLst>
                              <p:par>
                                <p:cTn id="150" presetID="2" presetClass="entr" presetSubtype="4" fill="hold" grpId="0" nodeType="clickEffect">
                                  <p:stCondLst>
                                    <p:cond delay="0"/>
                                  </p:stCondLst>
                                  <p:childTnLst>
                                    <p:set>
                                      <p:cBhvr>
                                        <p:cTn id="146" dur="1" fill="hold">
                                          <p:stCondLst>
                                            <p:cond delay="0"/>
                                          </p:stCondLst>
                                        </p:cTn>
                                        <p:tgtEl>
                                          <p:spTgt spid="38"/>
                                        </p:tgtEl>
                                        <p:attrNameLst>
                                          <p:attrName>style.visibility</p:attrName>
                                        </p:attrNameLst>
                                      </p:cBhvr>
                                      <p:to>
                                        <p:strVal val="visible"/>
                                      </p:to>
                                    </p:set>
                                    <p:anim calcmode="lin" valueType="num">
                                      <p:cBhvr additive="base">
                                        <p:cTn id="147" dur="500" fill="hold"/>
                                        <p:tgtEl>
                                          <p:spTgt spid="38"/>
                                        </p:tgtEl>
                                        <p:attrNameLst>
                                          <p:attrName>ppt_x</p:attrName>
                                        </p:attrNameLst>
                                      </p:cBhvr>
                                      <p:tavLst>
                                        <p:tav tm="0">
                                          <p:val>
                                            <p:strVal val="#ppt_x"/>
                                          </p:val>
                                        </p:tav>
                                        <p:tav tm="100000">
                                          <p:val>
                                            <p:strVal val="#ppt_x"/>
                                          </p:val>
                                        </p:tav>
                                      </p:tavLst>
                                    </p:anim>
                                    <p:anim calcmode="lin" valueType="num">
                                      <p:cBhvr additive="base">
                                        <p:cTn id="148" dur="500" fill="hold"/>
                                        <p:tgtEl>
                                          <p:spTgt spid="38"/>
                                        </p:tgtEl>
                                        <p:attrNameLst>
                                          <p:attrName>ppt_y</p:attrName>
                                        </p:attrNameLst>
                                      </p:cBhvr>
                                      <p:tavLst>
                                        <p:tav tm="0">
                                          <p:val>
                                            <p:strVal val="#ppt_y+0.1"/>
                                          </p:val>
                                        </p:tav>
                                        <p:tav tm="100000">
                                          <p:val>
                                            <p:strVal val="#ppt_y"/>
                                          </p:val>
                                        </p:tav>
                                      </p:tavLst>
                                    </p:anim>
                                    <p:animEffect transition="in" filter="fade">
                                      <p:cBhvr>
                                        <p:cTn id="149" dur="500"/>
                                        <p:tgtEl>
                                          <p:spTgt spid="38"/>
                                        </p:tgtEl>
                                      </p:cBhvr>
                                    </p:animEffect>
                                  </p:childTnLst>
                                </p:cTn>
                              </p:par>
                              <p:par>
                                <p:cTn id="155" presetID="2" presetClass="entr" presetSubtype="4" fill="hold" grpId="0" nodeType="withEffect">
                                  <p:stCondLst>
                                    <p:cond delay="0"/>
                                  </p:stCondLst>
                                  <p:childTnLst>
                                    <p:set>
                                      <p:cBhvr>
                                        <p:cTn id="151" dur="1" fill="hold">
                                          <p:stCondLst>
                                            <p:cond delay="0"/>
                                          </p:stCondLst>
                                        </p:cTn>
                                        <p:tgtEl>
                                          <p:spTgt spid="39"/>
                                        </p:tgtEl>
                                        <p:attrNameLst>
                                          <p:attrName>style.visibility</p:attrName>
                                        </p:attrNameLst>
                                      </p:cBhvr>
                                      <p:to>
                                        <p:strVal val="visible"/>
                                      </p:to>
                                    </p:set>
                                    <p:anim calcmode="lin" valueType="num">
                                      <p:cBhvr additive="base">
                                        <p:cTn id="152" dur="500" fill="hold"/>
                                        <p:tgtEl>
                                          <p:spTgt spid="39"/>
                                        </p:tgtEl>
                                        <p:attrNameLst>
                                          <p:attrName>ppt_x</p:attrName>
                                        </p:attrNameLst>
                                      </p:cBhvr>
                                      <p:tavLst>
                                        <p:tav tm="0">
                                          <p:val>
                                            <p:strVal val="#ppt_x"/>
                                          </p:val>
                                        </p:tav>
                                        <p:tav tm="100000">
                                          <p:val>
                                            <p:strVal val="#ppt_x"/>
                                          </p:val>
                                        </p:tav>
                                      </p:tavLst>
                                    </p:anim>
                                    <p:anim calcmode="lin" valueType="num">
                                      <p:cBhvr additive="base">
                                        <p:cTn id="153" dur="500" fill="hold"/>
                                        <p:tgtEl>
                                          <p:spTgt spid="39"/>
                                        </p:tgtEl>
                                        <p:attrNameLst>
                                          <p:attrName>ppt_y</p:attrName>
                                        </p:attrNameLst>
                                      </p:cBhvr>
                                      <p:tavLst>
                                        <p:tav tm="0">
                                          <p:val>
                                            <p:strVal val="#ppt_y+0.1"/>
                                          </p:val>
                                        </p:tav>
                                        <p:tav tm="100000">
                                          <p:val>
                                            <p:strVal val="#ppt_y"/>
                                          </p:val>
                                        </p:tav>
                                      </p:tavLst>
                                    </p:anim>
                                    <p:animEffect transition="in" filter="fade">
                                      <p:cBhvr>
                                        <p:cTn id="154" dur="500"/>
                                        <p:tgtEl>
                                          <p:spTgt spid="39"/>
                                        </p:tgtEl>
                                      </p:cBhvr>
                                    </p:animEffect>
                                  </p:childTnLst>
                                </p:cTn>
                              </p:par>
                              <p:par>
                                <p:cTn id="160" presetID="2" presetClass="entr" presetSubtype="4" fill="hold" grpId="0" nodeType="withEffect">
                                  <p:stCondLst>
                                    <p:cond delay="0"/>
                                  </p:stCondLst>
                                  <p:childTnLst>
                                    <p:set>
                                      <p:cBhvr>
                                        <p:cTn id="156" dur="1" fill="hold">
                                          <p:stCondLst>
                                            <p:cond delay="0"/>
                                          </p:stCondLst>
                                        </p:cTn>
                                        <p:tgtEl>
                                          <p:spTgt spid="40"/>
                                        </p:tgtEl>
                                        <p:attrNameLst>
                                          <p:attrName>style.visibility</p:attrName>
                                        </p:attrNameLst>
                                      </p:cBhvr>
                                      <p:to>
                                        <p:strVal val="visible"/>
                                      </p:to>
                                    </p:set>
                                    <p:anim calcmode="lin" valueType="num">
                                      <p:cBhvr additive="base">
                                        <p:cTn id="157" dur="500" fill="hold"/>
                                        <p:tgtEl>
                                          <p:spTgt spid="40"/>
                                        </p:tgtEl>
                                        <p:attrNameLst>
                                          <p:attrName>ppt_x</p:attrName>
                                        </p:attrNameLst>
                                      </p:cBhvr>
                                      <p:tavLst>
                                        <p:tav tm="0">
                                          <p:val>
                                            <p:strVal val="#ppt_x"/>
                                          </p:val>
                                        </p:tav>
                                        <p:tav tm="100000">
                                          <p:val>
                                            <p:strVal val="#ppt_x"/>
                                          </p:val>
                                        </p:tav>
                                      </p:tavLst>
                                    </p:anim>
                                    <p:anim calcmode="lin" valueType="num">
                                      <p:cBhvr additive="base">
                                        <p:cTn id="158" dur="500" fill="hold"/>
                                        <p:tgtEl>
                                          <p:spTgt spid="40"/>
                                        </p:tgtEl>
                                        <p:attrNameLst>
                                          <p:attrName>ppt_y</p:attrName>
                                        </p:attrNameLst>
                                      </p:cBhvr>
                                      <p:tavLst>
                                        <p:tav tm="0">
                                          <p:val>
                                            <p:strVal val="#ppt_y+0.1"/>
                                          </p:val>
                                        </p:tav>
                                        <p:tav tm="100000">
                                          <p:val>
                                            <p:strVal val="#ppt_y"/>
                                          </p:val>
                                        </p:tav>
                                      </p:tavLst>
                                    </p:anim>
                                    <p:animEffect transition="in" filter="fade">
                                      <p:cBhvr>
                                        <p:cTn id="15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Why the Existing Tools Did Not Fit</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Kafka set out to combine the best of messaging systems and log aggregators</a:t>
            </a:r>
          </a:p>
        </p:txBody>
      </p:sp>
      <p:sp>
        <p:nvSpPr>
          <p:cNvPr id="11" name="a1f_th10"/>
          <p:cNvSpPr/>
          <p:nvPr/>
        </p:nvSpPr>
        <p:spPr>
          <a:xfrm>
            <a:off x="457200" y="1234440"/>
            <a:ext cx="1645920" cy="402336"/>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tht11"/>
          <p:cNvSpPr txBox="1"/>
          <p:nvPr/>
        </p:nvSpPr>
        <p:spPr>
          <a:xfrm>
            <a:off x="530352" y="1234440"/>
            <a:ext cx="1536192" cy="402336"/>
          </a:xfrm>
          <a:prstGeom prst="rect">
            <a:avLst/>
          </a:prstGeom>
          <a:noFill/>
        </p:spPr>
        <p:txBody>
          <a:bodyPr wrap="square" lIns="0" tIns="0" rIns="0" bIns="0" anchor="ctr">
            <a:spAutoFit/>
          </a:bodyPr>
          <a:lstStyle/>
          <a:p>
            <a:pPr algn="l"/>
            <a:r>
              <a:rPr sz="900" b="1">
                <a:solidFill>
                  <a:srgbClr val="FFFFFF"/>
                </a:solidFill>
                <a:latin typeface="Segoe UI"/>
              </a:rPr>
              <a:t/>
            </a:r>
          </a:p>
        </p:txBody>
      </p:sp>
      <p:sp>
        <p:nvSpPr>
          <p:cNvPr id="13" name="a1wd150_td12"/>
          <p:cNvSpPr/>
          <p:nvPr/>
        </p:nvSpPr>
        <p:spPr>
          <a:xfrm>
            <a:off x="457200" y="1636776"/>
            <a:ext cx="164592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d150_tdt13"/>
          <p:cNvSpPr txBox="1"/>
          <p:nvPr/>
        </p:nvSpPr>
        <p:spPr>
          <a:xfrm>
            <a:off x="530352" y="1636776"/>
            <a:ext cx="1536192" cy="402336"/>
          </a:xfrm>
          <a:prstGeom prst="rect">
            <a:avLst/>
          </a:prstGeom>
          <a:noFill/>
        </p:spPr>
        <p:txBody>
          <a:bodyPr wrap="square" lIns="0" tIns="0" rIns="0" bIns="0" anchor="ctr">
            <a:spAutoFit/>
          </a:bodyPr>
          <a:lstStyle/>
          <a:p>
            <a:pPr algn="l"/>
            <a:r>
              <a:rPr sz="900" b="0">
                <a:solidFill>
                  <a:srgbClr val="44403C"/>
                </a:solidFill>
                <a:latin typeface="Segoe UI"/>
              </a:rPr>
              <a:t>Volume</a:t>
            </a:r>
          </a:p>
        </p:txBody>
      </p:sp>
      <p:sp>
        <p:nvSpPr>
          <p:cNvPr id="15" name="a1wd300_td14"/>
          <p:cNvSpPr/>
          <p:nvPr/>
        </p:nvSpPr>
        <p:spPr>
          <a:xfrm>
            <a:off x="457200" y="2039112"/>
            <a:ext cx="1645920" cy="40233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wd300_tdt15"/>
          <p:cNvSpPr txBox="1"/>
          <p:nvPr/>
        </p:nvSpPr>
        <p:spPr>
          <a:xfrm>
            <a:off x="530352" y="2039112"/>
            <a:ext cx="1536192" cy="402336"/>
          </a:xfrm>
          <a:prstGeom prst="rect">
            <a:avLst/>
          </a:prstGeom>
          <a:noFill/>
        </p:spPr>
        <p:txBody>
          <a:bodyPr wrap="square" lIns="0" tIns="0" rIns="0" bIns="0" anchor="ctr">
            <a:spAutoFit/>
          </a:bodyPr>
          <a:lstStyle/>
          <a:p>
            <a:pPr algn="l"/>
            <a:r>
              <a:rPr sz="900" b="0">
                <a:solidFill>
                  <a:srgbClr val="44403C"/>
                </a:solidFill>
                <a:latin typeface="Segoe UI"/>
              </a:rPr>
              <a:t>Delivery</a:t>
            </a:r>
          </a:p>
        </p:txBody>
      </p:sp>
      <p:sp>
        <p:nvSpPr>
          <p:cNvPr id="17" name="a1wd450_td16"/>
          <p:cNvSpPr/>
          <p:nvPr/>
        </p:nvSpPr>
        <p:spPr>
          <a:xfrm>
            <a:off x="457200" y="2441448"/>
            <a:ext cx="164592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wd450_tdt17"/>
          <p:cNvSpPr txBox="1"/>
          <p:nvPr/>
        </p:nvSpPr>
        <p:spPr>
          <a:xfrm>
            <a:off x="530352" y="2441448"/>
            <a:ext cx="1536192" cy="402336"/>
          </a:xfrm>
          <a:prstGeom prst="rect">
            <a:avLst/>
          </a:prstGeom>
          <a:noFill/>
        </p:spPr>
        <p:txBody>
          <a:bodyPr wrap="square" lIns="0" tIns="0" rIns="0" bIns="0" anchor="ctr">
            <a:spAutoFit/>
          </a:bodyPr>
          <a:lstStyle/>
          <a:p>
            <a:pPr algn="l"/>
            <a:r>
              <a:rPr sz="900" b="0">
                <a:solidFill>
                  <a:srgbClr val="44403C"/>
                </a:solidFill>
                <a:latin typeface="Segoe UI"/>
              </a:rPr>
              <a:t>After reading</a:t>
            </a:r>
          </a:p>
        </p:txBody>
      </p:sp>
      <p:sp>
        <p:nvSpPr>
          <p:cNvPr id="19" name="a1wd600_td18"/>
          <p:cNvSpPr/>
          <p:nvPr/>
        </p:nvSpPr>
        <p:spPr>
          <a:xfrm>
            <a:off x="457200" y="2843784"/>
            <a:ext cx="1645920" cy="40233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wd600_tdt19"/>
          <p:cNvSpPr txBox="1"/>
          <p:nvPr/>
        </p:nvSpPr>
        <p:spPr>
          <a:xfrm>
            <a:off x="530352" y="2843784"/>
            <a:ext cx="1536192" cy="402336"/>
          </a:xfrm>
          <a:prstGeom prst="rect">
            <a:avLst/>
          </a:prstGeom>
          <a:noFill/>
        </p:spPr>
        <p:txBody>
          <a:bodyPr wrap="square" lIns="0" tIns="0" rIns="0" bIns="0" anchor="ctr">
            <a:spAutoFit/>
          </a:bodyPr>
          <a:lstStyle/>
          <a:p>
            <a:pPr algn="l"/>
            <a:r>
              <a:rPr sz="900" b="0">
                <a:solidFill>
                  <a:srgbClr val="44403C"/>
                </a:solidFill>
                <a:latin typeface="Segoe UI"/>
              </a:rPr>
              <a:t>Readers</a:t>
            </a:r>
          </a:p>
        </p:txBody>
      </p:sp>
      <p:sp>
        <p:nvSpPr>
          <p:cNvPr id="21" name="a1wd750_td20"/>
          <p:cNvSpPr/>
          <p:nvPr/>
        </p:nvSpPr>
        <p:spPr>
          <a:xfrm>
            <a:off x="457200" y="3246120"/>
            <a:ext cx="164592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wd750_tdt21"/>
          <p:cNvSpPr txBox="1"/>
          <p:nvPr/>
        </p:nvSpPr>
        <p:spPr>
          <a:xfrm>
            <a:off x="530352" y="3246120"/>
            <a:ext cx="1536192" cy="402336"/>
          </a:xfrm>
          <a:prstGeom prst="rect">
            <a:avLst/>
          </a:prstGeom>
          <a:noFill/>
        </p:spPr>
        <p:txBody>
          <a:bodyPr wrap="square" lIns="0" tIns="0" rIns="0" bIns="0" anchor="ctr">
            <a:spAutoFit/>
          </a:bodyPr>
          <a:lstStyle/>
          <a:p>
            <a:pPr algn="l"/>
            <a:r>
              <a:rPr sz="900" b="0">
                <a:solidFill>
                  <a:srgbClr val="44403C"/>
                </a:solidFill>
                <a:latin typeface="Segoe UI"/>
              </a:rPr>
              <a:t>Across machines</a:t>
            </a:r>
          </a:p>
        </p:txBody>
      </p:sp>
      <p:sp>
        <p:nvSpPr>
          <p:cNvPr id="23" name="a1f_th22"/>
          <p:cNvSpPr/>
          <p:nvPr/>
        </p:nvSpPr>
        <p:spPr>
          <a:xfrm>
            <a:off x="2103120" y="1234440"/>
            <a:ext cx="2148840" cy="402336"/>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f_tht23"/>
          <p:cNvSpPr txBox="1"/>
          <p:nvPr/>
        </p:nvSpPr>
        <p:spPr>
          <a:xfrm>
            <a:off x="2176272" y="1234440"/>
            <a:ext cx="2039112" cy="402336"/>
          </a:xfrm>
          <a:prstGeom prst="rect">
            <a:avLst/>
          </a:prstGeom>
          <a:noFill/>
        </p:spPr>
        <p:txBody>
          <a:bodyPr wrap="square" lIns="0" tIns="0" rIns="0" bIns="0" anchor="ctr">
            <a:spAutoFit/>
          </a:bodyPr>
          <a:lstStyle/>
          <a:p>
            <a:pPr algn="l"/>
            <a:r>
              <a:rPr sz="900" b="1">
                <a:solidFill>
                  <a:srgbClr val="FFFFFF"/>
                </a:solidFill>
                <a:latin typeface="Segoe UI"/>
              </a:rPr>
              <a:t>Traditional messaging</a:t>
            </a:r>
          </a:p>
        </p:txBody>
      </p:sp>
      <p:sp>
        <p:nvSpPr>
          <p:cNvPr id="25" name="a1wd150_td24"/>
          <p:cNvSpPr/>
          <p:nvPr/>
        </p:nvSpPr>
        <p:spPr>
          <a:xfrm>
            <a:off x="2103120" y="1636776"/>
            <a:ext cx="214884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wd150_tdt25"/>
          <p:cNvSpPr txBox="1"/>
          <p:nvPr/>
        </p:nvSpPr>
        <p:spPr>
          <a:xfrm>
            <a:off x="2176272" y="1636776"/>
            <a:ext cx="2039112" cy="402336"/>
          </a:xfrm>
          <a:prstGeom prst="rect">
            <a:avLst/>
          </a:prstGeom>
          <a:noFill/>
        </p:spPr>
        <p:txBody>
          <a:bodyPr wrap="square" lIns="0" tIns="0" rIns="0" bIns="0" anchor="ctr">
            <a:spAutoFit/>
          </a:bodyPr>
          <a:lstStyle/>
          <a:p>
            <a:pPr algn="l"/>
            <a:r>
              <a:rPr sz="900" b="0">
                <a:solidFill>
                  <a:srgbClr val="44403C"/>
                </a:solidFill>
                <a:latin typeface="Segoe UI"/>
              </a:rPr>
              <a:t>Moderate</a:t>
            </a:r>
          </a:p>
        </p:txBody>
      </p:sp>
      <p:sp>
        <p:nvSpPr>
          <p:cNvPr id="27" name="a1wd300_td26"/>
          <p:cNvSpPr/>
          <p:nvPr/>
        </p:nvSpPr>
        <p:spPr>
          <a:xfrm>
            <a:off x="2103120" y="2039112"/>
            <a:ext cx="2148840" cy="40233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1wd300_tdt27"/>
          <p:cNvSpPr txBox="1"/>
          <p:nvPr/>
        </p:nvSpPr>
        <p:spPr>
          <a:xfrm>
            <a:off x="2176272" y="2039112"/>
            <a:ext cx="2039112" cy="402336"/>
          </a:xfrm>
          <a:prstGeom prst="rect">
            <a:avLst/>
          </a:prstGeom>
          <a:noFill/>
        </p:spPr>
        <p:txBody>
          <a:bodyPr wrap="square" lIns="0" tIns="0" rIns="0" bIns="0" anchor="ctr">
            <a:spAutoFit/>
          </a:bodyPr>
          <a:lstStyle/>
          <a:p>
            <a:pPr algn="l"/>
            <a:r>
              <a:rPr sz="900" b="0">
                <a:solidFill>
                  <a:srgbClr val="44403C"/>
                </a:solidFill>
                <a:latin typeface="Segoe UI"/>
              </a:rPr>
              <a:t>Real time</a:t>
            </a:r>
          </a:p>
        </p:txBody>
      </p:sp>
      <p:sp>
        <p:nvSpPr>
          <p:cNvPr id="29" name="a1wd450_td28"/>
          <p:cNvSpPr/>
          <p:nvPr/>
        </p:nvSpPr>
        <p:spPr>
          <a:xfrm>
            <a:off x="2103120" y="2441448"/>
            <a:ext cx="214884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1wd450_tdt29"/>
          <p:cNvSpPr txBox="1"/>
          <p:nvPr/>
        </p:nvSpPr>
        <p:spPr>
          <a:xfrm>
            <a:off x="2176272" y="2441448"/>
            <a:ext cx="2039112" cy="402336"/>
          </a:xfrm>
          <a:prstGeom prst="rect">
            <a:avLst/>
          </a:prstGeom>
          <a:noFill/>
        </p:spPr>
        <p:txBody>
          <a:bodyPr wrap="square" lIns="0" tIns="0" rIns="0" bIns="0" anchor="ctr">
            <a:spAutoFit/>
          </a:bodyPr>
          <a:lstStyle/>
          <a:p>
            <a:pPr algn="l"/>
            <a:r>
              <a:rPr sz="900" b="0">
                <a:solidFill>
                  <a:srgbClr val="44403C"/>
                </a:solidFill>
                <a:latin typeface="Segoe UI"/>
              </a:rPr>
              <a:t>Message deleted</a:t>
            </a:r>
          </a:p>
        </p:txBody>
      </p:sp>
      <p:sp>
        <p:nvSpPr>
          <p:cNvPr id="31" name="a1wd600_td30"/>
          <p:cNvSpPr/>
          <p:nvPr/>
        </p:nvSpPr>
        <p:spPr>
          <a:xfrm>
            <a:off x="2103120" y="2843784"/>
            <a:ext cx="2148840" cy="40233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1wd600_tdt31"/>
          <p:cNvSpPr txBox="1"/>
          <p:nvPr/>
        </p:nvSpPr>
        <p:spPr>
          <a:xfrm>
            <a:off x="2176272" y="2843784"/>
            <a:ext cx="2039112" cy="402336"/>
          </a:xfrm>
          <a:prstGeom prst="rect">
            <a:avLst/>
          </a:prstGeom>
          <a:noFill/>
        </p:spPr>
        <p:txBody>
          <a:bodyPr wrap="square" lIns="0" tIns="0" rIns="0" bIns="0" anchor="ctr">
            <a:spAutoFit/>
          </a:bodyPr>
          <a:lstStyle/>
          <a:p>
            <a:pPr algn="l"/>
            <a:r>
              <a:rPr sz="900" b="0">
                <a:solidFill>
                  <a:srgbClr val="44403C"/>
                </a:solidFill>
                <a:latin typeface="Segoe UI"/>
              </a:rPr>
              <a:t>A copy per subscriber</a:t>
            </a:r>
          </a:p>
        </p:txBody>
      </p:sp>
      <p:sp>
        <p:nvSpPr>
          <p:cNvPr id="33" name="a1wd750_td32"/>
          <p:cNvSpPr/>
          <p:nvPr/>
        </p:nvSpPr>
        <p:spPr>
          <a:xfrm>
            <a:off x="2103120" y="3246120"/>
            <a:ext cx="214884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1wd750_tdt33"/>
          <p:cNvSpPr txBox="1"/>
          <p:nvPr/>
        </p:nvSpPr>
        <p:spPr>
          <a:xfrm>
            <a:off x="2176272" y="3246120"/>
            <a:ext cx="2039112" cy="402336"/>
          </a:xfrm>
          <a:prstGeom prst="rect">
            <a:avLst/>
          </a:prstGeom>
          <a:noFill/>
        </p:spPr>
        <p:txBody>
          <a:bodyPr wrap="square" lIns="0" tIns="0" rIns="0" bIns="0" anchor="ctr">
            <a:spAutoFit/>
          </a:bodyPr>
          <a:lstStyle/>
          <a:p>
            <a:pPr algn="l"/>
            <a:r>
              <a:rPr sz="900" b="0">
                <a:solidFill>
                  <a:srgbClr val="44403C"/>
                </a:solidFill>
                <a:latin typeface="Segoe UI"/>
              </a:rPr>
              <a:t>Hard to scale out</a:t>
            </a:r>
          </a:p>
        </p:txBody>
      </p:sp>
      <p:sp>
        <p:nvSpPr>
          <p:cNvPr id="35" name="a1f_th34"/>
          <p:cNvSpPr/>
          <p:nvPr/>
        </p:nvSpPr>
        <p:spPr>
          <a:xfrm>
            <a:off x="4251960" y="1234440"/>
            <a:ext cx="2148840" cy="40233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1f_tht35"/>
          <p:cNvSpPr txBox="1"/>
          <p:nvPr/>
        </p:nvSpPr>
        <p:spPr>
          <a:xfrm>
            <a:off x="4325112" y="1234440"/>
            <a:ext cx="2039112" cy="402336"/>
          </a:xfrm>
          <a:prstGeom prst="rect">
            <a:avLst/>
          </a:prstGeom>
          <a:noFill/>
        </p:spPr>
        <p:txBody>
          <a:bodyPr wrap="square" lIns="0" tIns="0" rIns="0" bIns="0" anchor="ctr">
            <a:spAutoFit/>
          </a:bodyPr>
          <a:lstStyle/>
          <a:p>
            <a:pPr algn="l"/>
            <a:r>
              <a:rPr sz="900" b="1">
                <a:solidFill>
                  <a:srgbClr val="FFFFFF"/>
                </a:solidFill>
                <a:latin typeface="Segoe UI"/>
              </a:rPr>
              <a:t>Log aggregators</a:t>
            </a:r>
          </a:p>
        </p:txBody>
      </p:sp>
      <p:sp>
        <p:nvSpPr>
          <p:cNvPr id="37" name="a1wd150_td36"/>
          <p:cNvSpPr/>
          <p:nvPr/>
        </p:nvSpPr>
        <p:spPr>
          <a:xfrm>
            <a:off x="4251960" y="1636776"/>
            <a:ext cx="214884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1wd150_tdt37"/>
          <p:cNvSpPr txBox="1"/>
          <p:nvPr/>
        </p:nvSpPr>
        <p:spPr>
          <a:xfrm>
            <a:off x="4325112" y="1636776"/>
            <a:ext cx="2039112" cy="402336"/>
          </a:xfrm>
          <a:prstGeom prst="rect">
            <a:avLst/>
          </a:prstGeom>
          <a:noFill/>
        </p:spPr>
        <p:txBody>
          <a:bodyPr wrap="square" lIns="0" tIns="0" rIns="0" bIns="0" anchor="ctr">
            <a:spAutoFit/>
          </a:bodyPr>
          <a:lstStyle/>
          <a:p>
            <a:pPr algn="l"/>
            <a:r>
              <a:rPr sz="900" b="0">
                <a:solidFill>
                  <a:srgbClr val="44403C"/>
                </a:solidFill>
                <a:latin typeface="Segoe UI"/>
              </a:rPr>
              <a:t>Very high</a:t>
            </a:r>
          </a:p>
        </p:txBody>
      </p:sp>
      <p:sp>
        <p:nvSpPr>
          <p:cNvPr id="39" name="a1wd300_td38"/>
          <p:cNvSpPr/>
          <p:nvPr/>
        </p:nvSpPr>
        <p:spPr>
          <a:xfrm>
            <a:off x="4251960" y="2039112"/>
            <a:ext cx="2148840" cy="40233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1wd300_tdt39"/>
          <p:cNvSpPr txBox="1"/>
          <p:nvPr/>
        </p:nvSpPr>
        <p:spPr>
          <a:xfrm>
            <a:off x="4325112" y="2039112"/>
            <a:ext cx="2039112" cy="402336"/>
          </a:xfrm>
          <a:prstGeom prst="rect">
            <a:avLst/>
          </a:prstGeom>
          <a:noFill/>
        </p:spPr>
        <p:txBody>
          <a:bodyPr wrap="square" lIns="0" tIns="0" rIns="0" bIns="0" anchor="ctr">
            <a:spAutoFit/>
          </a:bodyPr>
          <a:lstStyle/>
          <a:p>
            <a:pPr algn="l"/>
            <a:r>
              <a:rPr sz="900" b="0">
                <a:solidFill>
                  <a:srgbClr val="44403C"/>
                </a:solidFill>
                <a:latin typeface="Segoe UI"/>
              </a:rPr>
              <a:t>Hours later, in batch</a:t>
            </a:r>
          </a:p>
        </p:txBody>
      </p:sp>
      <p:sp>
        <p:nvSpPr>
          <p:cNvPr id="41" name="a1wd450_td40"/>
          <p:cNvSpPr/>
          <p:nvPr/>
        </p:nvSpPr>
        <p:spPr>
          <a:xfrm>
            <a:off x="4251960" y="2441448"/>
            <a:ext cx="214884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1wd450_tdt41"/>
          <p:cNvSpPr txBox="1"/>
          <p:nvPr/>
        </p:nvSpPr>
        <p:spPr>
          <a:xfrm>
            <a:off x="4325112" y="2441448"/>
            <a:ext cx="2039112" cy="402336"/>
          </a:xfrm>
          <a:prstGeom prst="rect">
            <a:avLst/>
          </a:prstGeom>
          <a:noFill/>
        </p:spPr>
        <p:txBody>
          <a:bodyPr wrap="square" lIns="0" tIns="0" rIns="0" bIns="0" anchor="ctr">
            <a:spAutoFit/>
          </a:bodyPr>
          <a:lstStyle/>
          <a:p>
            <a:pPr algn="l"/>
            <a:r>
              <a:rPr sz="900" b="0">
                <a:solidFill>
                  <a:srgbClr val="44403C"/>
                </a:solidFill>
                <a:latin typeface="Segoe UI"/>
              </a:rPr>
              <a:t>Files kept for batch jobs</a:t>
            </a:r>
          </a:p>
        </p:txBody>
      </p:sp>
      <p:sp>
        <p:nvSpPr>
          <p:cNvPr id="43" name="a1wd600_td42"/>
          <p:cNvSpPr/>
          <p:nvPr/>
        </p:nvSpPr>
        <p:spPr>
          <a:xfrm>
            <a:off x="4251960" y="2843784"/>
            <a:ext cx="2148840" cy="40233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1wd600_tdt43"/>
          <p:cNvSpPr txBox="1"/>
          <p:nvPr/>
        </p:nvSpPr>
        <p:spPr>
          <a:xfrm>
            <a:off x="4325112" y="2843784"/>
            <a:ext cx="2039112" cy="402336"/>
          </a:xfrm>
          <a:prstGeom prst="rect">
            <a:avLst/>
          </a:prstGeom>
          <a:noFill/>
        </p:spPr>
        <p:txBody>
          <a:bodyPr wrap="square" lIns="0" tIns="0" rIns="0" bIns="0" anchor="ctr">
            <a:spAutoFit/>
          </a:bodyPr>
          <a:lstStyle/>
          <a:p>
            <a:pPr algn="l"/>
            <a:r>
              <a:rPr sz="900" b="0">
                <a:solidFill>
                  <a:srgbClr val="44403C"/>
                </a:solidFill>
                <a:latin typeface="Segoe UI"/>
              </a:rPr>
              <a:t>Mostly one: Hadoop</a:t>
            </a:r>
          </a:p>
        </p:txBody>
      </p:sp>
      <p:sp>
        <p:nvSpPr>
          <p:cNvPr id="45" name="a1wd750_td44"/>
          <p:cNvSpPr/>
          <p:nvPr/>
        </p:nvSpPr>
        <p:spPr>
          <a:xfrm>
            <a:off x="4251960" y="3246120"/>
            <a:ext cx="214884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1wd750_tdt45"/>
          <p:cNvSpPr txBox="1"/>
          <p:nvPr/>
        </p:nvSpPr>
        <p:spPr>
          <a:xfrm>
            <a:off x="4325112" y="3246120"/>
            <a:ext cx="2039112" cy="402336"/>
          </a:xfrm>
          <a:prstGeom prst="rect">
            <a:avLst/>
          </a:prstGeom>
          <a:noFill/>
        </p:spPr>
        <p:txBody>
          <a:bodyPr wrap="square" lIns="0" tIns="0" rIns="0" bIns="0" anchor="ctr">
            <a:spAutoFit/>
          </a:bodyPr>
          <a:lstStyle/>
          <a:p>
            <a:pPr algn="l"/>
            <a:r>
              <a:rPr sz="900" b="0">
                <a:solidFill>
                  <a:srgbClr val="44403C"/>
                </a:solidFill>
                <a:latin typeface="Segoe UI"/>
              </a:rPr>
              <a:t>Yes</a:t>
            </a:r>
          </a:p>
        </p:txBody>
      </p:sp>
      <p:sp>
        <p:nvSpPr>
          <p:cNvPr id="47" name="a1f_th46"/>
          <p:cNvSpPr/>
          <p:nvPr/>
        </p:nvSpPr>
        <p:spPr>
          <a:xfrm>
            <a:off x="6400800" y="1234440"/>
            <a:ext cx="2286000" cy="402336"/>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1f_tht47"/>
          <p:cNvSpPr txBox="1"/>
          <p:nvPr/>
        </p:nvSpPr>
        <p:spPr>
          <a:xfrm>
            <a:off x="6473952" y="1234440"/>
            <a:ext cx="2176272" cy="402336"/>
          </a:xfrm>
          <a:prstGeom prst="rect">
            <a:avLst/>
          </a:prstGeom>
          <a:noFill/>
        </p:spPr>
        <p:txBody>
          <a:bodyPr wrap="square" lIns="0" tIns="0" rIns="0" bIns="0" anchor="ctr">
            <a:spAutoFit/>
          </a:bodyPr>
          <a:lstStyle/>
          <a:p>
            <a:pPr algn="l"/>
            <a:r>
              <a:rPr sz="900" b="1">
                <a:solidFill>
                  <a:srgbClr val="FFFFFF"/>
                </a:solidFill>
                <a:latin typeface="Segoe UI"/>
              </a:rPr>
              <a:t>What LinkedIn needed</a:t>
            </a:r>
          </a:p>
        </p:txBody>
      </p:sp>
      <p:sp>
        <p:nvSpPr>
          <p:cNvPr id="49" name="a1wd150_td48"/>
          <p:cNvSpPr/>
          <p:nvPr/>
        </p:nvSpPr>
        <p:spPr>
          <a:xfrm>
            <a:off x="6400800" y="1636776"/>
            <a:ext cx="228600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1wd150_tdt49"/>
          <p:cNvSpPr txBox="1"/>
          <p:nvPr/>
        </p:nvSpPr>
        <p:spPr>
          <a:xfrm>
            <a:off x="6473952" y="1636776"/>
            <a:ext cx="2176272" cy="402336"/>
          </a:xfrm>
          <a:prstGeom prst="rect">
            <a:avLst/>
          </a:prstGeom>
          <a:noFill/>
        </p:spPr>
        <p:txBody>
          <a:bodyPr wrap="square" lIns="0" tIns="0" rIns="0" bIns="0" anchor="ctr">
            <a:spAutoFit/>
          </a:bodyPr>
          <a:lstStyle/>
          <a:p>
            <a:pPr algn="l"/>
            <a:r>
              <a:rPr sz="900" b="0">
                <a:solidFill>
                  <a:srgbClr val="44403C"/>
                </a:solidFill>
                <a:latin typeface="Segoe UI"/>
              </a:rPr>
              <a:t>Very high</a:t>
            </a:r>
          </a:p>
        </p:txBody>
      </p:sp>
      <p:sp>
        <p:nvSpPr>
          <p:cNvPr id="51" name="a1wd300_td50"/>
          <p:cNvSpPr/>
          <p:nvPr/>
        </p:nvSpPr>
        <p:spPr>
          <a:xfrm>
            <a:off x="6400800" y="2039112"/>
            <a:ext cx="2286000" cy="40233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1wd300_tdt51"/>
          <p:cNvSpPr txBox="1"/>
          <p:nvPr/>
        </p:nvSpPr>
        <p:spPr>
          <a:xfrm>
            <a:off x="6473952" y="2039112"/>
            <a:ext cx="2176272" cy="402336"/>
          </a:xfrm>
          <a:prstGeom prst="rect">
            <a:avLst/>
          </a:prstGeom>
          <a:noFill/>
        </p:spPr>
        <p:txBody>
          <a:bodyPr wrap="square" lIns="0" tIns="0" rIns="0" bIns="0" anchor="ctr">
            <a:spAutoFit/>
          </a:bodyPr>
          <a:lstStyle/>
          <a:p>
            <a:pPr algn="l"/>
            <a:r>
              <a:rPr sz="900" b="0">
                <a:solidFill>
                  <a:srgbClr val="44403C"/>
                </a:solidFill>
                <a:latin typeface="Segoe UI"/>
              </a:rPr>
              <a:t>Real time</a:t>
            </a:r>
          </a:p>
        </p:txBody>
      </p:sp>
      <p:sp>
        <p:nvSpPr>
          <p:cNvPr id="53" name="a1wd450_td52"/>
          <p:cNvSpPr/>
          <p:nvPr/>
        </p:nvSpPr>
        <p:spPr>
          <a:xfrm>
            <a:off x="6400800" y="2441448"/>
            <a:ext cx="228600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1wd450_tdt53"/>
          <p:cNvSpPr txBox="1"/>
          <p:nvPr/>
        </p:nvSpPr>
        <p:spPr>
          <a:xfrm>
            <a:off x="6473952" y="2441448"/>
            <a:ext cx="2176272" cy="402336"/>
          </a:xfrm>
          <a:prstGeom prst="rect">
            <a:avLst/>
          </a:prstGeom>
          <a:noFill/>
        </p:spPr>
        <p:txBody>
          <a:bodyPr wrap="square" lIns="0" tIns="0" rIns="0" bIns="0" anchor="ctr">
            <a:spAutoFit/>
          </a:bodyPr>
          <a:lstStyle/>
          <a:p>
            <a:pPr algn="l"/>
            <a:r>
              <a:rPr sz="900" b="0">
                <a:solidFill>
                  <a:srgbClr val="44403C"/>
                </a:solidFill>
                <a:latin typeface="Segoe UI"/>
              </a:rPr>
              <a:t>Kept - read again later</a:t>
            </a:r>
          </a:p>
        </p:txBody>
      </p:sp>
      <p:sp>
        <p:nvSpPr>
          <p:cNvPr id="55" name="a1wd600_td54"/>
          <p:cNvSpPr/>
          <p:nvPr/>
        </p:nvSpPr>
        <p:spPr>
          <a:xfrm>
            <a:off x="6400800" y="2843784"/>
            <a:ext cx="2286000" cy="40233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1wd600_tdt55"/>
          <p:cNvSpPr txBox="1"/>
          <p:nvPr/>
        </p:nvSpPr>
        <p:spPr>
          <a:xfrm>
            <a:off x="6473952" y="2843784"/>
            <a:ext cx="2176272" cy="402336"/>
          </a:xfrm>
          <a:prstGeom prst="rect">
            <a:avLst/>
          </a:prstGeom>
          <a:noFill/>
        </p:spPr>
        <p:txBody>
          <a:bodyPr wrap="square" lIns="0" tIns="0" rIns="0" bIns="0" anchor="ctr">
            <a:spAutoFit/>
          </a:bodyPr>
          <a:lstStyle/>
          <a:p>
            <a:pPr algn="l"/>
            <a:r>
              <a:rPr sz="900" b="0">
                <a:solidFill>
                  <a:srgbClr val="44403C"/>
                </a:solidFill>
                <a:latin typeface="Segoe UI"/>
              </a:rPr>
              <a:t>Any number, each at its own pace</a:t>
            </a:r>
          </a:p>
        </p:txBody>
      </p:sp>
      <p:sp>
        <p:nvSpPr>
          <p:cNvPr id="57" name="a1wd750_td56"/>
          <p:cNvSpPr/>
          <p:nvPr/>
        </p:nvSpPr>
        <p:spPr>
          <a:xfrm>
            <a:off x="6400800" y="3246120"/>
            <a:ext cx="228600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1wd750_tdt57"/>
          <p:cNvSpPr txBox="1"/>
          <p:nvPr/>
        </p:nvSpPr>
        <p:spPr>
          <a:xfrm>
            <a:off x="6473952" y="3246120"/>
            <a:ext cx="2176272" cy="402336"/>
          </a:xfrm>
          <a:prstGeom prst="rect">
            <a:avLst/>
          </a:prstGeom>
          <a:noFill/>
        </p:spPr>
        <p:txBody>
          <a:bodyPr wrap="square" lIns="0" tIns="0" rIns="0" bIns="0" anchor="ctr">
            <a:spAutoFit/>
          </a:bodyPr>
          <a:lstStyle/>
          <a:p>
            <a:pPr algn="l"/>
            <a:r>
              <a:rPr sz="900" b="0">
                <a:solidFill>
                  <a:srgbClr val="44403C"/>
                </a:solidFill>
                <a:latin typeface="Segoe UI"/>
              </a:rPr>
              <a:t>Yes - distributed by design</a:t>
            </a:r>
          </a:p>
        </p:txBody>
      </p:sp>
      <p:sp>
        <p:nvSpPr>
          <p:cNvPr id="59" name="a2u_nb58"/>
          <p:cNvSpPr/>
          <p:nvPr/>
        </p:nvSpPr>
        <p:spPr>
          <a:xfrm>
            <a:off x="457200" y="3785616"/>
            <a:ext cx="8229600" cy="603504"/>
          </a:xfrm>
          <a:prstGeom prst="roundRect">
            <a:avLst>
              <a:gd name="adj" fmla="val 12121"/>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2u_nacc59"/>
          <p:cNvSpPr/>
          <p:nvPr/>
        </p:nvSpPr>
        <p:spPr>
          <a:xfrm>
            <a:off x="457200" y="3785616"/>
            <a:ext cx="54864" cy="603504"/>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a2u_nt60"/>
          <p:cNvSpPr txBox="1"/>
          <p:nvPr/>
        </p:nvSpPr>
        <p:spPr>
          <a:xfrm>
            <a:off x="658368" y="3785616"/>
            <a:ext cx="7827264" cy="603504"/>
          </a:xfrm>
          <a:prstGeom prst="rect">
            <a:avLst/>
          </a:prstGeom>
          <a:noFill/>
        </p:spPr>
        <p:txBody>
          <a:bodyPr wrap="square" lIns="0" tIns="0" rIns="0" bIns="0" anchor="ctr">
            <a:spAutoFit/>
          </a:bodyPr>
          <a:lstStyle/>
          <a:p>
            <a:pPr algn="l"/>
            <a:r>
              <a:rPr sz="1000" b="1">
                <a:solidFill>
                  <a:srgbClr val="15803D"/>
                </a:solidFill>
                <a:latin typeface="Segoe UI"/>
              </a:rPr>
              <a:t>KAFKA  </a:t>
            </a:r>
            <a:r>
              <a:rPr sz="1000" b="0">
                <a:solidFill>
                  <a:srgbClr val="44403C"/>
                </a:solidFill>
                <a:latin typeface="Segoe UI"/>
              </a:rPr>
              <a:t>The answer: a distributed LOG - real-time delivery like a messaging system, volume and retention like a log aggregator.</a:t>
            </a:r>
          </a:p>
        </p:txBody>
      </p:sp>
      <p:sp>
        <p:nvSpPr>
          <p:cNvPr id="62" name="ft6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38</a:t>
            </a:r>
          </a:p>
        </p:txBody>
      </p:sp>
      <p:sp>
        <p:nvSpPr>
          <p:cNvPr id="63" name="ft6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ft6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65" name="ft6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500"/>
                                        <p:tgtEl>
                                          <p:spTgt spid="3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fade">
                                      <p:cBhvr>
                                        <p:cTn id="21" dur="500"/>
                                        <p:tgtEl>
                                          <p:spTgt spid="3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47"/>
                                        </p:tgtEl>
                                        <p:attrNameLst>
                                          <p:attrName>style.visibility</p:attrName>
                                        </p:attrNameLst>
                                      </p:cBhvr>
                                      <p:to>
                                        <p:strVal val="visible"/>
                                      </p:to>
                                    </p:set>
                                    <p:animEffect transition="in" filter="fade">
                                      <p:cBhvr>
                                        <p:cTn id="24" dur="500"/>
                                        <p:tgtEl>
                                          <p:spTgt spid="47"/>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fade">
                                      <p:cBhvr>
                                        <p:cTn id="27" dur="500"/>
                                        <p:tgtEl>
                                          <p:spTgt spid="48"/>
                                        </p:tgtEl>
                                      </p:cBhvr>
                                    </p:animEffect>
                                  </p:childTnLst>
                                </p:cTn>
                              </p:par>
                              <p:par>
                                <p:cTn id="31" presetID="22" presetClass="entr" presetSubtype="8" fill="hold" grpId="0" nodeType="withEffect">
                                  <p:stCondLst>
                                    <p:cond delay="15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par>
                                <p:cTn id="34" presetID="22" presetClass="entr" presetSubtype="8" fill="hold" grpId="0" nodeType="withEffect">
                                  <p:stCondLst>
                                    <p:cond delay="15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par>
                                <p:cTn id="37" presetID="22" presetClass="entr" presetSubtype="8" fill="hold" grpId="0" nodeType="withEffect">
                                  <p:stCondLst>
                                    <p:cond delay="150"/>
                                  </p:stCondLst>
                                  <p:childTnLst>
                                    <p:set>
                                      <p:cBhvr>
                                        <p:cTn id="35" dur="1" fill="hold">
                                          <p:stCondLst>
                                            <p:cond delay="0"/>
                                          </p:stCondLst>
                                        </p:cTn>
                                        <p:tgtEl>
                                          <p:spTgt spid="25"/>
                                        </p:tgtEl>
                                        <p:attrNameLst>
                                          <p:attrName>style.visibility</p:attrName>
                                        </p:attrNameLst>
                                      </p:cBhvr>
                                      <p:to>
                                        <p:strVal val="visible"/>
                                      </p:to>
                                    </p:set>
                                    <p:animEffect transition="in" filter="wipe(left)">
                                      <p:cBhvr>
                                        <p:cTn id="36" dur="500"/>
                                        <p:tgtEl>
                                          <p:spTgt spid="25"/>
                                        </p:tgtEl>
                                      </p:cBhvr>
                                    </p:animEffect>
                                  </p:childTnLst>
                                </p:cTn>
                              </p:par>
                              <p:par>
                                <p:cTn id="40" presetID="22" presetClass="entr" presetSubtype="8" fill="hold" grpId="0" nodeType="withEffect">
                                  <p:stCondLst>
                                    <p:cond delay="150"/>
                                  </p:stCondLst>
                                  <p:childTnLst>
                                    <p:set>
                                      <p:cBhvr>
                                        <p:cTn id="38" dur="1" fill="hold">
                                          <p:stCondLst>
                                            <p:cond delay="0"/>
                                          </p:stCondLst>
                                        </p:cTn>
                                        <p:tgtEl>
                                          <p:spTgt spid="26"/>
                                        </p:tgtEl>
                                        <p:attrNameLst>
                                          <p:attrName>style.visibility</p:attrName>
                                        </p:attrNameLst>
                                      </p:cBhvr>
                                      <p:to>
                                        <p:strVal val="visible"/>
                                      </p:to>
                                    </p:set>
                                    <p:animEffect transition="in" filter="wipe(left)">
                                      <p:cBhvr>
                                        <p:cTn id="39" dur="500"/>
                                        <p:tgtEl>
                                          <p:spTgt spid="26"/>
                                        </p:tgtEl>
                                      </p:cBhvr>
                                    </p:animEffect>
                                  </p:childTnLst>
                                </p:cTn>
                              </p:par>
                              <p:par>
                                <p:cTn id="43" presetID="22" presetClass="entr" presetSubtype="8" fill="hold" grpId="0" nodeType="withEffect">
                                  <p:stCondLst>
                                    <p:cond delay="150"/>
                                  </p:stCondLst>
                                  <p:childTnLst>
                                    <p:set>
                                      <p:cBhvr>
                                        <p:cTn id="41" dur="1" fill="hold">
                                          <p:stCondLst>
                                            <p:cond delay="0"/>
                                          </p:stCondLst>
                                        </p:cTn>
                                        <p:tgtEl>
                                          <p:spTgt spid="37"/>
                                        </p:tgtEl>
                                        <p:attrNameLst>
                                          <p:attrName>style.visibility</p:attrName>
                                        </p:attrNameLst>
                                      </p:cBhvr>
                                      <p:to>
                                        <p:strVal val="visible"/>
                                      </p:to>
                                    </p:set>
                                    <p:animEffect transition="in" filter="wipe(left)">
                                      <p:cBhvr>
                                        <p:cTn id="42" dur="500"/>
                                        <p:tgtEl>
                                          <p:spTgt spid="37"/>
                                        </p:tgtEl>
                                      </p:cBhvr>
                                    </p:animEffect>
                                  </p:childTnLst>
                                </p:cTn>
                              </p:par>
                              <p:par>
                                <p:cTn id="46" presetID="22" presetClass="entr" presetSubtype="8" fill="hold" grpId="0" nodeType="withEffect">
                                  <p:stCondLst>
                                    <p:cond delay="150"/>
                                  </p:stCondLst>
                                  <p:childTnLst>
                                    <p:set>
                                      <p:cBhvr>
                                        <p:cTn id="44" dur="1" fill="hold">
                                          <p:stCondLst>
                                            <p:cond delay="0"/>
                                          </p:stCondLst>
                                        </p:cTn>
                                        <p:tgtEl>
                                          <p:spTgt spid="38"/>
                                        </p:tgtEl>
                                        <p:attrNameLst>
                                          <p:attrName>style.visibility</p:attrName>
                                        </p:attrNameLst>
                                      </p:cBhvr>
                                      <p:to>
                                        <p:strVal val="visible"/>
                                      </p:to>
                                    </p:set>
                                    <p:animEffect transition="in" filter="wipe(left)">
                                      <p:cBhvr>
                                        <p:cTn id="45" dur="500"/>
                                        <p:tgtEl>
                                          <p:spTgt spid="38"/>
                                        </p:tgtEl>
                                      </p:cBhvr>
                                    </p:animEffect>
                                  </p:childTnLst>
                                </p:cTn>
                              </p:par>
                              <p:par>
                                <p:cTn id="49" presetID="22" presetClass="entr" presetSubtype="8" fill="hold" grpId="0" nodeType="withEffect">
                                  <p:stCondLst>
                                    <p:cond delay="150"/>
                                  </p:stCondLst>
                                  <p:childTnLst>
                                    <p:set>
                                      <p:cBhvr>
                                        <p:cTn id="47" dur="1" fill="hold">
                                          <p:stCondLst>
                                            <p:cond delay="0"/>
                                          </p:stCondLst>
                                        </p:cTn>
                                        <p:tgtEl>
                                          <p:spTgt spid="49"/>
                                        </p:tgtEl>
                                        <p:attrNameLst>
                                          <p:attrName>style.visibility</p:attrName>
                                        </p:attrNameLst>
                                      </p:cBhvr>
                                      <p:to>
                                        <p:strVal val="visible"/>
                                      </p:to>
                                    </p:set>
                                    <p:animEffect transition="in" filter="wipe(left)">
                                      <p:cBhvr>
                                        <p:cTn id="48" dur="500"/>
                                        <p:tgtEl>
                                          <p:spTgt spid="49"/>
                                        </p:tgtEl>
                                      </p:cBhvr>
                                    </p:animEffect>
                                  </p:childTnLst>
                                </p:cTn>
                              </p:par>
                              <p:par>
                                <p:cTn id="52" presetID="22" presetClass="entr" presetSubtype="8" fill="hold" grpId="0" nodeType="withEffect">
                                  <p:stCondLst>
                                    <p:cond delay="150"/>
                                  </p:stCondLst>
                                  <p:childTnLst>
                                    <p:set>
                                      <p:cBhvr>
                                        <p:cTn id="50" dur="1" fill="hold">
                                          <p:stCondLst>
                                            <p:cond delay="0"/>
                                          </p:stCondLst>
                                        </p:cTn>
                                        <p:tgtEl>
                                          <p:spTgt spid="50"/>
                                        </p:tgtEl>
                                        <p:attrNameLst>
                                          <p:attrName>style.visibility</p:attrName>
                                        </p:attrNameLst>
                                      </p:cBhvr>
                                      <p:to>
                                        <p:strVal val="visible"/>
                                      </p:to>
                                    </p:set>
                                    <p:animEffect transition="in" filter="wipe(left)">
                                      <p:cBhvr>
                                        <p:cTn id="51" dur="500"/>
                                        <p:tgtEl>
                                          <p:spTgt spid="50"/>
                                        </p:tgtEl>
                                      </p:cBhvr>
                                    </p:animEffect>
                                  </p:childTnLst>
                                </p:cTn>
                              </p:par>
                              <p:par>
                                <p:cTn id="55" presetID="22" presetClass="entr" presetSubtype="8" fill="hold" grpId="0" nodeType="withEffect">
                                  <p:stCondLst>
                                    <p:cond delay="300"/>
                                  </p:stCondLst>
                                  <p:childTnLst>
                                    <p:set>
                                      <p:cBhvr>
                                        <p:cTn id="53" dur="1" fill="hold">
                                          <p:stCondLst>
                                            <p:cond delay="0"/>
                                          </p:stCondLst>
                                        </p:cTn>
                                        <p:tgtEl>
                                          <p:spTgt spid="15"/>
                                        </p:tgtEl>
                                        <p:attrNameLst>
                                          <p:attrName>style.visibility</p:attrName>
                                        </p:attrNameLst>
                                      </p:cBhvr>
                                      <p:to>
                                        <p:strVal val="visible"/>
                                      </p:to>
                                    </p:set>
                                    <p:animEffect transition="in" filter="wipe(left)">
                                      <p:cBhvr>
                                        <p:cTn id="54" dur="500"/>
                                        <p:tgtEl>
                                          <p:spTgt spid="15"/>
                                        </p:tgtEl>
                                      </p:cBhvr>
                                    </p:animEffect>
                                  </p:childTnLst>
                                </p:cTn>
                              </p:par>
                              <p:par>
                                <p:cTn id="58" presetID="22" presetClass="entr" presetSubtype="8" fill="hold" grpId="0" nodeType="withEffect">
                                  <p:stCondLst>
                                    <p:cond delay="30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500"/>
                                        <p:tgtEl>
                                          <p:spTgt spid="16"/>
                                        </p:tgtEl>
                                      </p:cBhvr>
                                    </p:animEffect>
                                  </p:childTnLst>
                                </p:cTn>
                              </p:par>
                              <p:par>
                                <p:cTn id="61" presetID="22" presetClass="entr" presetSubtype="8" fill="hold" grpId="0" nodeType="withEffect">
                                  <p:stCondLst>
                                    <p:cond delay="300"/>
                                  </p:stCondLst>
                                  <p:childTnLst>
                                    <p:set>
                                      <p:cBhvr>
                                        <p:cTn id="59" dur="1" fill="hold">
                                          <p:stCondLst>
                                            <p:cond delay="0"/>
                                          </p:stCondLst>
                                        </p:cTn>
                                        <p:tgtEl>
                                          <p:spTgt spid="27"/>
                                        </p:tgtEl>
                                        <p:attrNameLst>
                                          <p:attrName>style.visibility</p:attrName>
                                        </p:attrNameLst>
                                      </p:cBhvr>
                                      <p:to>
                                        <p:strVal val="visible"/>
                                      </p:to>
                                    </p:set>
                                    <p:animEffect transition="in" filter="wipe(left)">
                                      <p:cBhvr>
                                        <p:cTn id="60" dur="500"/>
                                        <p:tgtEl>
                                          <p:spTgt spid="27"/>
                                        </p:tgtEl>
                                      </p:cBhvr>
                                    </p:animEffect>
                                  </p:childTnLst>
                                </p:cTn>
                              </p:par>
                              <p:par>
                                <p:cTn id="64" presetID="22" presetClass="entr" presetSubtype="8" fill="hold" grpId="0" nodeType="withEffect">
                                  <p:stCondLst>
                                    <p:cond delay="300"/>
                                  </p:stCondLst>
                                  <p:childTnLst>
                                    <p:set>
                                      <p:cBhvr>
                                        <p:cTn id="62" dur="1" fill="hold">
                                          <p:stCondLst>
                                            <p:cond delay="0"/>
                                          </p:stCondLst>
                                        </p:cTn>
                                        <p:tgtEl>
                                          <p:spTgt spid="28"/>
                                        </p:tgtEl>
                                        <p:attrNameLst>
                                          <p:attrName>style.visibility</p:attrName>
                                        </p:attrNameLst>
                                      </p:cBhvr>
                                      <p:to>
                                        <p:strVal val="visible"/>
                                      </p:to>
                                    </p:set>
                                    <p:animEffect transition="in" filter="wipe(left)">
                                      <p:cBhvr>
                                        <p:cTn id="63" dur="500"/>
                                        <p:tgtEl>
                                          <p:spTgt spid="28"/>
                                        </p:tgtEl>
                                      </p:cBhvr>
                                    </p:animEffect>
                                  </p:childTnLst>
                                </p:cTn>
                              </p:par>
                              <p:par>
                                <p:cTn id="67" presetID="22" presetClass="entr" presetSubtype="8" fill="hold" grpId="0" nodeType="withEffect">
                                  <p:stCondLst>
                                    <p:cond delay="300"/>
                                  </p:stCondLst>
                                  <p:childTnLst>
                                    <p:set>
                                      <p:cBhvr>
                                        <p:cTn id="65" dur="1" fill="hold">
                                          <p:stCondLst>
                                            <p:cond delay="0"/>
                                          </p:stCondLst>
                                        </p:cTn>
                                        <p:tgtEl>
                                          <p:spTgt spid="39"/>
                                        </p:tgtEl>
                                        <p:attrNameLst>
                                          <p:attrName>style.visibility</p:attrName>
                                        </p:attrNameLst>
                                      </p:cBhvr>
                                      <p:to>
                                        <p:strVal val="visible"/>
                                      </p:to>
                                    </p:set>
                                    <p:animEffect transition="in" filter="wipe(left)">
                                      <p:cBhvr>
                                        <p:cTn id="66" dur="500"/>
                                        <p:tgtEl>
                                          <p:spTgt spid="39"/>
                                        </p:tgtEl>
                                      </p:cBhvr>
                                    </p:animEffect>
                                  </p:childTnLst>
                                </p:cTn>
                              </p:par>
                              <p:par>
                                <p:cTn id="70" presetID="22" presetClass="entr" presetSubtype="8" fill="hold" grpId="0" nodeType="withEffect">
                                  <p:stCondLst>
                                    <p:cond delay="300"/>
                                  </p:stCondLst>
                                  <p:childTnLst>
                                    <p:set>
                                      <p:cBhvr>
                                        <p:cTn id="68" dur="1" fill="hold">
                                          <p:stCondLst>
                                            <p:cond delay="0"/>
                                          </p:stCondLst>
                                        </p:cTn>
                                        <p:tgtEl>
                                          <p:spTgt spid="40"/>
                                        </p:tgtEl>
                                        <p:attrNameLst>
                                          <p:attrName>style.visibility</p:attrName>
                                        </p:attrNameLst>
                                      </p:cBhvr>
                                      <p:to>
                                        <p:strVal val="visible"/>
                                      </p:to>
                                    </p:set>
                                    <p:animEffect transition="in" filter="wipe(left)">
                                      <p:cBhvr>
                                        <p:cTn id="69" dur="500"/>
                                        <p:tgtEl>
                                          <p:spTgt spid="40"/>
                                        </p:tgtEl>
                                      </p:cBhvr>
                                    </p:animEffect>
                                  </p:childTnLst>
                                </p:cTn>
                              </p:par>
                              <p:par>
                                <p:cTn id="73" presetID="22" presetClass="entr" presetSubtype="8" fill="hold" grpId="0" nodeType="withEffect">
                                  <p:stCondLst>
                                    <p:cond delay="300"/>
                                  </p:stCondLst>
                                  <p:childTnLst>
                                    <p:set>
                                      <p:cBhvr>
                                        <p:cTn id="71" dur="1" fill="hold">
                                          <p:stCondLst>
                                            <p:cond delay="0"/>
                                          </p:stCondLst>
                                        </p:cTn>
                                        <p:tgtEl>
                                          <p:spTgt spid="51"/>
                                        </p:tgtEl>
                                        <p:attrNameLst>
                                          <p:attrName>style.visibility</p:attrName>
                                        </p:attrNameLst>
                                      </p:cBhvr>
                                      <p:to>
                                        <p:strVal val="visible"/>
                                      </p:to>
                                    </p:set>
                                    <p:animEffect transition="in" filter="wipe(left)">
                                      <p:cBhvr>
                                        <p:cTn id="72" dur="500"/>
                                        <p:tgtEl>
                                          <p:spTgt spid="51"/>
                                        </p:tgtEl>
                                      </p:cBhvr>
                                    </p:animEffect>
                                  </p:childTnLst>
                                </p:cTn>
                              </p:par>
                              <p:par>
                                <p:cTn id="76" presetID="22" presetClass="entr" presetSubtype="8" fill="hold" grpId="0" nodeType="withEffect">
                                  <p:stCondLst>
                                    <p:cond delay="300"/>
                                  </p:stCondLst>
                                  <p:childTnLst>
                                    <p:set>
                                      <p:cBhvr>
                                        <p:cTn id="74" dur="1" fill="hold">
                                          <p:stCondLst>
                                            <p:cond delay="0"/>
                                          </p:stCondLst>
                                        </p:cTn>
                                        <p:tgtEl>
                                          <p:spTgt spid="52"/>
                                        </p:tgtEl>
                                        <p:attrNameLst>
                                          <p:attrName>style.visibility</p:attrName>
                                        </p:attrNameLst>
                                      </p:cBhvr>
                                      <p:to>
                                        <p:strVal val="visible"/>
                                      </p:to>
                                    </p:set>
                                    <p:animEffect transition="in" filter="wipe(left)">
                                      <p:cBhvr>
                                        <p:cTn id="75" dur="500"/>
                                        <p:tgtEl>
                                          <p:spTgt spid="52"/>
                                        </p:tgtEl>
                                      </p:cBhvr>
                                    </p:animEffect>
                                  </p:childTnLst>
                                </p:cTn>
                              </p:par>
                              <p:par>
                                <p:cTn id="79" presetID="22" presetClass="entr" presetSubtype="8" fill="hold" grpId="0" nodeType="withEffect">
                                  <p:stCondLst>
                                    <p:cond delay="450"/>
                                  </p:stCondLst>
                                  <p:childTnLst>
                                    <p:set>
                                      <p:cBhvr>
                                        <p:cTn id="77" dur="1" fill="hold">
                                          <p:stCondLst>
                                            <p:cond delay="0"/>
                                          </p:stCondLst>
                                        </p:cTn>
                                        <p:tgtEl>
                                          <p:spTgt spid="17"/>
                                        </p:tgtEl>
                                        <p:attrNameLst>
                                          <p:attrName>style.visibility</p:attrName>
                                        </p:attrNameLst>
                                      </p:cBhvr>
                                      <p:to>
                                        <p:strVal val="visible"/>
                                      </p:to>
                                    </p:set>
                                    <p:animEffect transition="in" filter="wipe(left)">
                                      <p:cBhvr>
                                        <p:cTn id="78" dur="500"/>
                                        <p:tgtEl>
                                          <p:spTgt spid="17"/>
                                        </p:tgtEl>
                                      </p:cBhvr>
                                    </p:animEffect>
                                  </p:childTnLst>
                                </p:cTn>
                              </p:par>
                              <p:par>
                                <p:cTn id="82" presetID="22" presetClass="entr" presetSubtype="8" fill="hold" grpId="0" nodeType="withEffect">
                                  <p:stCondLst>
                                    <p:cond delay="450"/>
                                  </p:stCondLst>
                                  <p:childTnLst>
                                    <p:set>
                                      <p:cBhvr>
                                        <p:cTn id="80" dur="1" fill="hold">
                                          <p:stCondLst>
                                            <p:cond delay="0"/>
                                          </p:stCondLst>
                                        </p:cTn>
                                        <p:tgtEl>
                                          <p:spTgt spid="18"/>
                                        </p:tgtEl>
                                        <p:attrNameLst>
                                          <p:attrName>style.visibility</p:attrName>
                                        </p:attrNameLst>
                                      </p:cBhvr>
                                      <p:to>
                                        <p:strVal val="visible"/>
                                      </p:to>
                                    </p:set>
                                    <p:animEffect transition="in" filter="wipe(left)">
                                      <p:cBhvr>
                                        <p:cTn id="81" dur="500"/>
                                        <p:tgtEl>
                                          <p:spTgt spid="18"/>
                                        </p:tgtEl>
                                      </p:cBhvr>
                                    </p:animEffect>
                                  </p:childTnLst>
                                </p:cTn>
                              </p:par>
                              <p:par>
                                <p:cTn id="85" presetID="22" presetClass="entr" presetSubtype="8" fill="hold" grpId="0" nodeType="withEffect">
                                  <p:stCondLst>
                                    <p:cond delay="450"/>
                                  </p:stCondLst>
                                  <p:childTnLst>
                                    <p:set>
                                      <p:cBhvr>
                                        <p:cTn id="83" dur="1" fill="hold">
                                          <p:stCondLst>
                                            <p:cond delay="0"/>
                                          </p:stCondLst>
                                        </p:cTn>
                                        <p:tgtEl>
                                          <p:spTgt spid="29"/>
                                        </p:tgtEl>
                                        <p:attrNameLst>
                                          <p:attrName>style.visibility</p:attrName>
                                        </p:attrNameLst>
                                      </p:cBhvr>
                                      <p:to>
                                        <p:strVal val="visible"/>
                                      </p:to>
                                    </p:set>
                                    <p:animEffect transition="in" filter="wipe(left)">
                                      <p:cBhvr>
                                        <p:cTn id="84" dur="500"/>
                                        <p:tgtEl>
                                          <p:spTgt spid="29"/>
                                        </p:tgtEl>
                                      </p:cBhvr>
                                    </p:animEffect>
                                  </p:childTnLst>
                                </p:cTn>
                              </p:par>
                              <p:par>
                                <p:cTn id="88" presetID="22" presetClass="entr" presetSubtype="8" fill="hold" grpId="0" nodeType="withEffect">
                                  <p:stCondLst>
                                    <p:cond delay="450"/>
                                  </p:stCondLst>
                                  <p:childTnLst>
                                    <p:set>
                                      <p:cBhvr>
                                        <p:cTn id="86" dur="1" fill="hold">
                                          <p:stCondLst>
                                            <p:cond delay="0"/>
                                          </p:stCondLst>
                                        </p:cTn>
                                        <p:tgtEl>
                                          <p:spTgt spid="30"/>
                                        </p:tgtEl>
                                        <p:attrNameLst>
                                          <p:attrName>style.visibility</p:attrName>
                                        </p:attrNameLst>
                                      </p:cBhvr>
                                      <p:to>
                                        <p:strVal val="visible"/>
                                      </p:to>
                                    </p:set>
                                    <p:animEffect transition="in" filter="wipe(left)">
                                      <p:cBhvr>
                                        <p:cTn id="87" dur="500"/>
                                        <p:tgtEl>
                                          <p:spTgt spid="30"/>
                                        </p:tgtEl>
                                      </p:cBhvr>
                                    </p:animEffect>
                                  </p:childTnLst>
                                </p:cTn>
                              </p:par>
                              <p:par>
                                <p:cTn id="91" presetID="22" presetClass="entr" presetSubtype="8" fill="hold" grpId="0" nodeType="withEffect">
                                  <p:stCondLst>
                                    <p:cond delay="450"/>
                                  </p:stCondLst>
                                  <p:childTnLst>
                                    <p:set>
                                      <p:cBhvr>
                                        <p:cTn id="89" dur="1" fill="hold">
                                          <p:stCondLst>
                                            <p:cond delay="0"/>
                                          </p:stCondLst>
                                        </p:cTn>
                                        <p:tgtEl>
                                          <p:spTgt spid="41"/>
                                        </p:tgtEl>
                                        <p:attrNameLst>
                                          <p:attrName>style.visibility</p:attrName>
                                        </p:attrNameLst>
                                      </p:cBhvr>
                                      <p:to>
                                        <p:strVal val="visible"/>
                                      </p:to>
                                    </p:set>
                                    <p:animEffect transition="in" filter="wipe(left)">
                                      <p:cBhvr>
                                        <p:cTn id="90" dur="500"/>
                                        <p:tgtEl>
                                          <p:spTgt spid="41"/>
                                        </p:tgtEl>
                                      </p:cBhvr>
                                    </p:animEffect>
                                  </p:childTnLst>
                                </p:cTn>
                              </p:par>
                              <p:par>
                                <p:cTn id="94" presetID="22" presetClass="entr" presetSubtype="8" fill="hold" grpId="0" nodeType="withEffect">
                                  <p:stCondLst>
                                    <p:cond delay="450"/>
                                  </p:stCondLst>
                                  <p:childTnLst>
                                    <p:set>
                                      <p:cBhvr>
                                        <p:cTn id="92" dur="1" fill="hold">
                                          <p:stCondLst>
                                            <p:cond delay="0"/>
                                          </p:stCondLst>
                                        </p:cTn>
                                        <p:tgtEl>
                                          <p:spTgt spid="42"/>
                                        </p:tgtEl>
                                        <p:attrNameLst>
                                          <p:attrName>style.visibility</p:attrName>
                                        </p:attrNameLst>
                                      </p:cBhvr>
                                      <p:to>
                                        <p:strVal val="visible"/>
                                      </p:to>
                                    </p:set>
                                    <p:animEffect transition="in" filter="wipe(left)">
                                      <p:cBhvr>
                                        <p:cTn id="93" dur="500"/>
                                        <p:tgtEl>
                                          <p:spTgt spid="42"/>
                                        </p:tgtEl>
                                      </p:cBhvr>
                                    </p:animEffect>
                                  </p:childTnLst>
                                </p:cTn>
                              </p:par>
                              <p:par>
                                <p:cTn id="97" presetID="22" presetClass="entr" presetSubtype="8" fill="hold" grpId="0" nodeType="withEffect">
                                  <p:stCondLst>
                                    <p:cond delay="450"/>
                                  </p:stCondLst>
                                  <p:childTnLst>
                                    <p:set>
                                      <p:cBhvr>
                                        <p:cTn id="95" dur="1" fill="hold">
                                          <p:stCondLst>
                                            <p:cond delay="0"/>
                                          </p:stCondLst>
                                        </p:cTn>
                                        <p:tgtEl>
                                          <p:spTgt spid="53"/>
                                        </p:tgtEl>
                                        <p:attrNameLst>
                                          <p:attrName>style.visibility</p:attrName>
                                        </p:attrNameLst>
                                      </p:cBhvr>
                                      <p:to>
                                        <p:strVal val="visible"/>
                                      </p:to>
                                    </p:set>
                                    <p:animEffect transition="in" filter="wipe(left)">
                                      <p:cBhvr>
                                        <p:cTn id="96" dur="500"/>
                                        <p:tgtEl>
                                          <p:spTgt spid="53"/>
                                        </p:tgtEl>
                                      </p:cBhvr>
                                    </p:animEffect>
                                  </p:childTnLst>
                                </p:cTn>
                              </p:par>
                              <p:par>
                                <p:cTn id="100" presetID="22" presetClass="entr" presetSubtype="8" fill="hold" grpId="0" nodeType="withEffect">
                                  <p:stCondLst>
                                    <p:cond delay="450"/>
                                  </p:stCondLst>
                                  <p:childTnLst>
                                    <p:set>
                                      <p:cBhvr>
                                        <p:cTn id="98" dur="1" fill="hold">
                                          <p:stCondLst>
                                            <p:cond delay="0"/>
                                          </p:stCondLst>
                                        </p:cTn>
                                        <p:tgtEl>
                                          <p:spTgt spid="54"/>
                                        </p:tgtEl>
                                        <p:attrNameLst>
                                          <p:attrName>style.visibility</p:attrName>
                                        </p:attrNameLst>
                                      </p:cBhvr>
                                      <p:to>
                                        <p:strVal val="visible"/>
                                      </p:to>
                                    </p:set>
                                    <p:animEffect transition="in" filter="wipe(left)">
                                      <p:cBhvr>
                                        <p:cTn id="99" dur="500"/>
                                        <p:tgtEl>
                                          <p:spTgt spid="54"/>
                                        </p:tgtEl>
                                      </p:cBhvr>
                                    </p:animEffect>
                                  </p:childTnLst>
                                </p:cTn>
                              </p:par>
                              <p:par>
                                <p:cTn id="103" presetID="22" presetClass="entr" presetSubtype="8" fill="hold" grpId="0" nodeType="withEffect">
                                  <p:stCondLst>
                                    <p:cond delay="600"/>
                                  </p:stCondLst>
                                  <p:childTnLst>
                                    <p:set>
                                      <p:cBhvr>
                                        <p:cTn id="101" dur="1" fill="hold">
                                          <p:stCondLst>
                                            <p:cond delay="0"/>
                                          </p:stCondLst>
                                        </p:cTn>
                                        <p:tgtEl>
                                          <p:spTgt spid="19"/>
                                        </p:tgtEl>
                                        <p:attrNameLst>
                                          <p:attrName>style.visibility</p:attrName>
                                        </p:attrNameLst>
                                      </p:cBhvr>
                                      <p:to>
                                        <p:strVal val="visible"/>
                                      </p:to>
                                    </p:set>
                                    <p:animEffect transition="in" filter="wipe(left)">
                                      <p:cBhvr>
                                        <p:cTn id="102" dur="500"/>
                                        <p:tgtEl>
                                          <p:spTgt spid="19"/>
                                        </p:tgtEl>
                                      </p:cBhvr>
                                    </p:animEffect>
                                  </p:childTnLst>
                                </p:cTn>
                              </p:par>
                              <p:par>
                                <p:cTn id="106" presetID="22" presetClass="entr" presetSubtype="8" fill="hold" grpId="0" nodeType="withEffect">
                                  <p:stCondLst>
                                    <p:cond delay="600"/>
                                  </p:stCondLst>
                                  <p:childTnLst>
                                    <p:set>
                                      <p:cBhvr>
                                        <p:cTn id="104" dur="1" fill="hold">
                                          <p:stCondLst>
                                            <p:cond delay="0"/>
                                          </p:stCondLst>
                                        </p:cTn>
                                        <p:tgtEl>
                                          <p:spTgt spid="20"/>
                                        </p:tgtEl>
                                        <p:attrNameLst>
                                          <p:attrName>style.visibility</p:attrName>
                                        </p:attrNameLst>
                                      </p:cBhvr>
                                      <p:to>
                                        <p:strVal val="visible"/>
                                      </p:to>
                                    </p:set>
                                    <p:animEffect transition="in" filter="wipe(left)">
                                      <p:cBhvr>
                                        <p:cTn id="105" dur="500"/>
                                        <p:tgtEl>
                                          <p:spTgt spid="20"/>
                                        </p:tgtEl>
                                      </p:cBhvr>
                                    </p:animEffect>
                                  </p:childTnLst>
                                </p:cTn>
                              </p:par>
                              <p:par>
                                <p:cTn id="109" presetID="22" presetClass="entr" presetSubtype="8" fill="hold" grpId="0" nodeType="withEffect">
                                  <p:stCondLst>
                                    <p:cond delay="600"/>
                                  </p:stCondLst>
                                  <p:childTnLst>
                                    <p:set>
                                      <p:cBhvr>
                                        <p:cTn id="107" dur="1" fill="hold">
                                          <p:stCondLst>
                                            <p:cond delay="0"/>
                                          </p:stCondLst>
                                        </p:cTn>
                                        <p:tgtEl>
                                          <p:spTgt spid="31"/>
                                        </p:tgtEl>
                                        <p:attrNameLst>
                                          <p:attrName>style.visibility</p:attrName>
                                        </p:attrNameLst>
                                      </p:cBhvr>
                                      <p:to>
                                        <p:strVal val="visible"/>
                                      </p:to>
                                    </p:set>
                                    <p:animEffect transition="in" filter="wipe(left)">
                                      <p:cBhvr>
                                        <p:cTn id="108" dur="500"/>
                                        <p:tgtEl>
                                          <p:spTgt spid="31"/>
                                        </p:tgtEl>
                                      </p:cBhvr>
                                    </p:animEffect>
                                  </p:childTnLst>
                                </p:cTn>
                              </p:par>
                              <p:par>
                                <p:cTn id="112" presetID="22" presetClass="entr" presetSubtype="8" fill="hold" grpId="0" nodeType="withEffect">
                                  <p:stCondLst>
                                    <p:cond delay="600"/>
                                  </p:stCondLst>
                                  <p:childTnLst>
                                    <p:set>
                                      <p:cBhvr>
                                        <p:cTn id="110" dur="1" fill="hold">
                                          <p:stCondLst>
                                            <p:cond delay="0"/>
                                          </p:stCondLst>
                                        </p:cTn>
                                        <p:tgtEl>
                                          <p:spTgt spid="32"/>
                                        </p:tgtEl>
                                        <p:attrNameLst>
                                          <p:attrName>style.visibility</p:attrName>
                                        </p:attrNameLst>
                                      </p:cBhvr>
                                      <p:to>
                                        <p:strVal val="visible"/>
                                      </p:to>
                                    </p:set>
                                    <p:animEffect transition="in" filter="wipe(left)">
                                      <p:cBhvr>
                                        <p:cTn id="111" dur="500"/>
                                        <p:tgtEl>
                                          <p:spTgt spid="32"/>
                                        </p:tgtEl>
                                      </p:cBhvr>
                                    </p:animEffect>
                                  </p:childTnLst>
                                </p:cTn>
                              </p:par>
                              <p:par>
                                <p:cTn id="115" presetID="22" presetClass="entr" presetSubtype="8" fill="hold" grpId="0" nodeType="withEffect">
                                  <p:stCondLst>
                                    <p:cond delay="600"/>
                                  </p:stCondLst>
                                  <p:childTnLst>
                                    <p:set>
                                      <p:cBhvr>
                                        <p:cTn id="113" dur="1" fill="hold">
                                          <p:stCondLst>
                                            <p:cond delay="0"/>
                                          </p:stCondLst>
                                        </p:cTn>
                                        <p:tgtEl>
                                          <p:spTgt spid="43"/>
                                        </p:tgtEl>
                                        <p:attrNameLst>
                                          <p:attrName>style.visibility</p:attrName>
                                        </p:attrNameLst>
                                      </p:cBhvr>
                                      <p:to>
                                        <p:strVal val="visible"/>
                                      </p:to>
                                    </p:set>
                                    <p:animEffect transition="in" filter="wipe(left)">
                                      <p:cBhvr>
                                        <p:cTn id="114" dur="500"/>
                                        <p:tgtEl>
                                          <p:spTgt spid="43"/>
                                        </p:tgtEl>
                                      </p:cBhvr>
                                    </p:animEffect>
                                  </p:childTnLst>
                                </p:cTn>
                              </p:par>
                              <p:par>
                                <p:cTn id="118" presetID="22" presetClass="entr" presetSubtype="8" fill="hold" grpId="0" nodeType="withEffect">
                                  <p:stCondLst>
                                    <p:cond delay="600"/>
                                  </p:stCondLst>
                                  <p:childTnLst>
                                    <p:set>
                                      <p:cBhvr>
                                        <p:cTn id="116" dur="1" fill="hold">
                                          <p:stCondLst>
                                            <p:cond delay="0"/>
                                          </p:stCondLst>
                                        </p:cTn>
                                        <p:tgtEl>
                                          <p:spTgt spid="44"/>
                                        </p:tgtEl>
                                        <p:attrNameLst>
                                          <p:attrName>style.visibility</p:attrName>
                                        </p:attrNameLst>
                                      </p:cBhvr>
                                      <p:to>
                                        <p:strVal val="visible"/>
                                      </p:to>
                                    </p:set>
                                    <p:animEffect transition="in" filter="wipe(left)">
                                      <p:cBhvr>
                                        <p:cTn id="117" dur="500"/>
                                        <p:tgtEl>
                                          <p:spTgt spid="44"/>
                                        </p:tgtEl>
                                      </p:cBhvr>
                                    </p:animEffect>
                                  </p:childTnLst>
                                </p:cTn>
                              </p:par>
                              <p:par>
                                <p:cTn id="121" presetID="22" presetClass="entr" presetSubtype="8" fill="hold" grpId="0" nodeType="withEffect">
                                  <p:stCondLst>
                                    <p:cond delay="600"/>
                                  </p:stCondLst>
                                  <p:childTnLst>
                                    <p:set>
                                      <p:cBhvr>
                                        <p:cTn id="119" dur="1" fill="hold">
                                          <p:stCondLst>
                                            <p:cond delay="0"/>
                                          </p:stCondLst>
                                        </p:cTn>
                                        <p:tgtEl>
                                          <p:spTgt spid="55"/>
                                        </p:tgtEl>
                                        <p:attrNameLst>
                                          <p:attrName>style.visibility</p:attrName>
                                        </p:attrNameLst>
                                      </p:cBhvr>
                                      <p:to>
                                        <p:strVal val="visible"/>
                                      </p:to>
                                    </p:set>
                                    <p:animEffect transition="in" filter="wipe(left)">
                                      <p:cBhvr>
                                        <p:cTn id="120" dur="500"/>
                                        <p:tgtEl>
                                          <p:spTgt spid="55"/>
                                        </p:tgtEl>
                                      </p:cBhvr>
                                    </p:animEffect>
                                  </p:childTnLst>
                                </p:cTn>
                              </p:par>
                              <p:par>
                                <p:cTn id="124" presetID="22" presetClass="entr" presetSubtype="8" fill="hold" grpId="0" nodeType="withEffect">
                                  <p:stCondLst>
                                    <p:cond delay="600"/>
                                  </p:stCondLst>
                                  <p:childTnLst>
                                    <p:set>
                                      <p:cBhvr>
                                        <p:cTn id="122" dur="1" fill="hold">
                                          <p:stCondLst>
                                            <p:cond delay="0"/>
                                          </p:stCondLst>
                                        </p:cTn>
                                        <p:tgtEl>
                                          <p:spTgt spid="56"/>
                                        </p:tgtEl>
                                        <p:attrNameLst>
                                          <p:attrName>style.visibility</p:attrName>
                                        </p:attrNameLst>
                                      </p:cBhvr>
                                      <p:to>
                                        <p:strVal val="visible"/>
                                      </p:to>
                                    </p:set>
                                    <p:animEffect transition="in" filter="wipe(left)">
                                      <p:cBhvr>
                                        <p:cTn id="123" dur="500"/>
                                        <p:tgtEl>
                                          <p:spTgt spid="56"/>
                                        </p:tgtEl>
                                      </p:cBhvr>
                                    </p:animEffect>
                                  </p:childTnLst>
                                </p:cTn>
                              </p:par>
                              <p:par>
                                <p:cTn id="127" presetID="22" presetClass="entr" presetSubtype="8" fill="hold" grpId="0" nodeType="withEffect">
                                  <p:stCondLst>
                                    <p:cond delay="750"/>
                                  </p:stCondLst>
                                  <p:childTnLst>
                                    <p:set>
                                      <p:cBhvr>
                                        <p:cTn id="125" dur="1" fill="hold">
                                          <p:stCondLst>
                                            <p:cond delay="0"/>
                                          </p:stCondLst>
                                        </p:cTn>
                                        <p:tgtEl>
                                          <p:spTgt spid="21"/>
                                        </p:tgtEl>
                                        <p:attrNameLst>
                                          <p:attrName>style.visibility</p:attrName>
                                        </p:attrNameLst>
                                      </p:cBhvr>
                                      <p:to>
                                        <p:strVal val="visible"/>
                                      </p:to>
                                    </p:set>
                                    <p:animEffect transition="in" filter="wipe(left)">
                                      <p:cBhvr>
                                        <p:cTn id="126" dur="500"/>
                                        <p:tgtEl>
                                          <p:spTgt spid="21"/>
                                        </p:tgtEl>
                                      </p:cBhvr>
                                    </p:animEffect>
                                  </p:childTnLst>
                                </p:cTn>
                              </p:par>
                              <p:par>
                                <p:cTn id="130" presetID="22" presetClass="entr" presetSubtype="8" fill="hold" grpId="0" nodeType="withEffect">
                                  <p:stCondLst>
                                    <p:cond delay="750"/>
                                  </p:stCondLst>
                                  <p:childTnLst>
                                    <p:set>
                                      <p:cBhvr>
                                        <p:cTn id="128" dur="1" fill="hold">
                                          <p:stCondLst>
                                            <p:cond delay="0"/>
                                          </p:stCondLst>
                                        </p:cTn>
                                        <p:tgtEl>
                                          <p:spTgt spid="22"/>
                                        </p:tgtEl>
                                        <p:attrNameLst>
                                          <p:attrName>style.visibility</p:attrName>
                                        </p:attrNameLst>
                                      </p:cBhvr>
                                      <p:to>
                                        <p:strVal val="visible"/>
                                      </p:to>
                                    </p:set>
                                    <p:animEffect transition="in" filter="wipe(left)">
                                      <p:cBhvr>
                                        <p:cTn id="129" dur="500"/>
                                        <p:tgtEl>
                                          <p:spTgt spid="22"/>
                                        </p:tgtEl>
                                      </p:cBhvr>
                                    </p:animEffect>
                                  </p:childTnLst>
                                </p:cTn>
                              </p:par>
                              <p:par>
                                <p:cTn id="133" presetID="22" presetClass="entr" presetSubtype="8" fill="hold" grpId="0" nodeType="withEffect">
                                  <p:stCondLst>
                                    <p:cond delay="750"/>
                                  </p:stCondLst>
                                  <p:childTnLst>
                                    <p:set>
                                      <p:cBhvr>
                                        <p:cTn id="131" dur="1" fill="hold">
                                          <p:stCondLst>
                                            <p:cond delay="0"/>
                                          </p:stCondLst>
                                        </p:cTn>
                                        <p:tgtEl>
                                          <p:spTgt spid="33"/>
                                        </p:tgtEl>
                                        <p:attrNameLst>
                                          <p:attrName>style.visibility</p:attrName>
                                        </p:attrNameLst>
                                      </p:cBhvr>
                                      <p:to>
                                        <p:strVal val="visible"/>
                                      </p:to>
                                    </p:set>
                                    <p:animEffect transition="in" filter="wipe(left)">
                                      <p:cBhvr>
                                        <p:cTn id="132" dur="500"/>
                                        <p:tgtEl>
                                          <p:spTgt spid="33"/>
                                        </p:tgtEl>
                                      </p:cBhvr>
                                    </p:animEffect>
                                  </p:childTnLst>
                                </p:cTn>
                              </p:par>
                              <p:par>
                                <p:cTn id="136" presetID="22" presetClass="entr" presetSubtype="8" fill="hold" grpId="0" nodeType="withEffect">
                                  <p:stCondLst>
                                    <p:cond delay="750"/>
                                  </p:stCondLst>
                                  <p:childTnLst>
                                    <p:set>
                                      <p:cBhvr>
                                        <p:cTn id="134" dur="1" fill="hold">
                                          <p:stCondLst>
                                            <p:cond delay="0"/>
                                          </p:stCondLst>
                                        </p:cTn>
                                        <p:tgtEl>
                                          <p:spTgt spid="34"/>
                                        </p:tgtEl>
                                        <p:attrNameLst>
                                          <p:attrName>style.visibility</p:attrName>
                                        </p:attrNameLst>
                                      </p:cBhvr>
                                      <p:to>
                                        <p:strVal val="visible"/>
                                      </p:to>
                                    </p:set>
                                    <p:animEffect transition="in" filter="wipe(left)">
                                      <p:cBhvr>
                                        <p:cTn id="135" dur="500"/>
                                        <p:tgtEl>
                                          <p:spTgt spid="34"/>
                                        </p:tgtEl>
                                      </p:cBhvr>
                                    </p:animEffect>
                                  </p:childTnLst>
                                </p:cTn>
                              </p:par>
                              <p:par>
                                <p:cTn id="139" presetID="22" presetClass="entr" presetSubtype="8" fill="hold" grpId="0" nodeType="withEffect">
                                  <p:stCondLst>
                                    <p:cond delay="750"/>
                                  </p:stCondLst>
                                  <p:childTnLst>
                                    <p:set>
                                      <p:cBhvr>
                                        <p:cTn id="137" dur="1" fill="hold">
                                          <p:stCondLst>
                                            <p:cond delay="0"/>
                                          </p:stCondLst>
                                        </p:cTn>
                                        <p:tgtEl>
                                          <p:spTgt spid="45"/>
                                        </p:tgtEl>
                                        <p:attrNameLst>
                                          <p:attrName>style.visibility</p:attrName>
                                        </p:attrNameLst>
                                      </p:cBhvr>
                                      <p:to>
                                        <p:strVal val="visible"/>
                                      </p:to>
                                    </p:set>
                                    <p:animEffect transition="in" filter="wipe(left)">
                                      <p:cBhvr>
                                        <p:cTn id="138" dur="500"/>
                                        <p:tgtEl>
                                          <p:spTgt spid="45"/>
                                        </p:tgtEl>
                                      </p:cBhvr>
                                    </p:animEffect>
                                  </p:childTnLst>
                                </p:cTn>
                              </p:par>
                              <p:par>
                                <p:cTn id="142" presetID="22" presetClass="entr" presetSubtype="8" fill="hold" grpId="0" nodeType="withEffect">
                                  <p:stCondLst>
                                    <p:cond delay="750"/>
                                  </p:stCondLst>
                                  <p:childTnLst>
                                    <p:set>
                                      <p:cBhvr>
                                        <p:cTn id="140" dur="1" fill="hold">
                                          <p:stCondLst>
                                            <p:cond delay="0"/>
                                          </p:stCondLst>
                                        </p:cTn>
                                        <p:tgtEl>
                                          <p:spTgt spid="46"/>
                                        </p:tgtEl>
                                        <p:attrNameLst>
                                          <p:attrName>style.visibility</p:attrName>
                                        </p:attrNameLst>
                                      </p:cBhvr>
                                      <p:to>
                                        <p:strVal val="visible"/>
                                      </p:to>
                                    </p:set>
                                    <p:animEffect transition="in" filter="wipe(left)">
                                      <p:cBhvr>
                                        <p:cTn id="141" dur="500"/>
                                        <p:tgtEl>
                                          <p:spTgt spid="46"/>
                                        </p:tgtEl>
                                      </p:cBhvr>
                                    </p:animEffect>
                                  </p:childTnLst>
                                </p:cTn>
                              </p:par>
                              <p:par>
                                <p:cTn id="145" presetID="22" presetClass="entr" presetSubtype="8" fill="hold" grpId="0" nodeType="withEffect">
                                  <p:stCondLst>
                                    <p:cond delay="750"/>
                                  </p:stCondLst>
                                  <p:childTnLst>
                                    <p:set>
                                      <p:cBhvr>
                                        <p:cTn id="143" dur="1" fill="hold">
                                          <p:stCondLst>
                                            <p:cond delay="0"/>
                                          </p:stCondLst>
                                        </p:cTn>
                                        <p:tgtEl>
                                          <p:spTgt spid="57"/>
                                        </p:tgtEl>
                                        <p:attrNameLst>
                                          <p:attrName>style.visibility</p:attrName>
                                        </p:attrNameLst>
                                      </p:cBhvr>
                                      <p:to>
                                        <p:strVal val="visible"/>
                                      </p:to>
                                    </p:set>
                                    <p:animEffect transition="in" filter="wipe(left)">
                                      <p:cBhvr>
                                        <p:cTn id="144" dur="500"/>
                                        <p:tgtEl>
                                          <p:spTgt spid="57"/>
                                        </p:tgtEl>
                                      </p:cBhvr>
                                    </p:animEffect>
                                  </p:childTnLst>
                                </p:cTn>
                              </p:par>
                              <p:par>
                                <p:cTn id="148" presetID="22" presetClass="entr" presetSubtype="8" fill="hold" grpId="0" nodeType="withEffect">
                                  <p:stCondLst>
                                    <p:cond delay="750"/>
                                  </p:stCondLst>
                                  <p:childTnLst>
                                    <p:set>
                                      <p:cBhvr>
                                        <p:cTn id="146" dur="1" fill="hold">
                                          <p:stCondLst>
                                            <p:cond delay="0"/>
                                          </p:stCondLst>
                                        </p:cTn>
                                        <p:tgtEl>
                                          <p:spTgt spid="58"/>
                                        </p:tgtEl>
                                        <p:attrNameLst>
                                          <p:attrName>style.visibility</p:attrName>
                                        </p:attrNameLst>
                                      </p:cBhvr>
                                      <p:to>
                                        <p:strVal val="visible"/>
                                      </p:to>
                                    </p:set>
                                    <p:animEffect transition="in" filter="wipe(left)">
                                      <p:cBhvr>
                                        <p:cTn id="147" dur="500"/>
                                        <p:tgtEl>
                                          <p:spTgt spid="58"/>
                                        </p:tgtEl>
                                      </p:cBhvr>
                                    </p:animEffect>
                                  </p:childTnLst>
                                </p:cTn>
                              </p:par>
                            </p:childTnLst>
                          </p:cTn>
                        </p:par>
                      </p:childTnLst>
                    </p:cTn>
                  </p:par>
                  <p:par>
                    <p:cTn id="149" fill="hold">
                      <p:stCondLst>
                        <p:cond delay="indefinite"/>
                      </p:stCondLst>
                      <p:childTnLst>
                        <p:par>
                          <p:cTn id="150" fill="hold">
                            <p:stCondLst>
                              <p:cond delay="0"/>
                            </p:stCondLst>
                            <p:childTnLst>
                              <p:par>
                                <p:cTn id="155" presetID="2" presetClass="entr" presetSubtype="4" fill="hold" grpId="0" nodeType="clickEffect">
                                  <p:stCondLst>
                                    <p:cond delay="0"/>
                                  </p:stCondLst>
                                  <p:childTnLst>
                                    <p:set>
                                      <p:cBhvr>
                                        <p:cTn id="151" dur="1" fill="hold">
                                          <p:stCondLst>
                                            <p:cond delay="0"/>
                                          </p:stCondLst>
                                        </p:cTn>
                                        <p:tgtEl>
                                          <p:spTgt spid="59"/>
                                        </p:tgtEl>
                                        <p:attrNameLst>
                                          <p:attrName>style.visibility</p:attrName>
                                        </p:attrNameLst>
                                      </p:cBhvr>
                                      <p:to>
                                        <p:strVal val="visible"/>
                                      </p:to>
                                    </p:set>
                                    <p:anim calcmode="lin" valueType="num">
                                      <p:cBhvr additive="base">
                                        <p:cTn id="152" dur="500" fill="hold"/>
                                        <p:tgtEl>
                                          <p:spTgt spid="59"/>
                                        </p:tgtEl>
                                        <p:attrNameLst>
                                          <p:attrName>ppt_x</p:attrName>
                                        </p:attrNameLst>
                                      </p:cBhvr>
                                      <p:tavLst>
                                        <p:tav tm="0">
                                          <p:val>
                                            <p:strVal val="#ppt_x"/>
                                          </p:val>
                                        </p:tav>
                                        <p:tav tm="100000">
                                          <p:val>
                                            <p:strVal val="#ppt_x"/>
                                          </p:val>
                                        </p:tav>
                                      </p:tavLst>
                                    </p:anim>
                                    <p:anim calcmode="lin" valueType="num">
                                      <p:cBhvr additive="base">
                                        <p:cTn id="153" dur="500" fill="hold"/>
                                        <p:tgtEl>
                                          <p:spTgt spid="59"/>
                                        </p:tgtEl>
                                        <p:attrNameLst>
                                          <p:attrName>ppt_y</p:attrName>
                                        </p:attrNameLst>
                                      </p:cBhvr>
                                      <p:tavLst>
                                        <p:tav tm="0">
                                          <p:val>
                                            <p:strVal val="#ppt_y+0.1"/>
                                          </p:val>
                                        </p:tav>
                                        <p:tav tm="100000">
                                          <p:val>
                                            <p:strVal val="#ppt_y"/>
                                          </p:val>
                                        </p:tav>
                                      </p:tavLst>
                                    </p:anim>
                                    <p:animEffect transition="in" filter="fade">
                                      <p:cBhvr>
                                        <p:cTn id="154" dur="500"/>
                                        <p:tgtEl>
                                          <p:spTgt spid="59"/>
                                        </p:tgtEl>
                                      </p:cBhvr>
                                    </p:animEffect>
                                  </p:childTnLst>
                                </p:cTn>
                              </p:par>
                              <p:par>
                                <p:cTn id="160" presetID="2" presetClass="entr" presetSubtype="4" fill="hold" grpId="0" nodeType="withEffect">
                                  <p:stCondLst>
                                    <p:cond delay="0"/>
                                  </p:stCondLst>
                                  <p:childTnLst>
                                    <p:set>
                                      <p:cBhvr>
                                        <p:cTn id="156" dur="1" fill="hold">
                                          <p:stCondLst>
                                            <p:cond delay="0"/>
                                          </p:stCondLst>
                                        </p:cTn>
                                        <p:tgtEl>
                                          <p:spTgt spid="60"/>
                                        </p:tgtEl>
                                        <p:attrNameLst>
                                          <p:attrName>style.visibility</p:attrName>
                                        </p:attrNameLst>
                                      </p:cBhvr>
                                      <p:to>
                                        <p:strVal val="visible"/>
                                      </p:to>
                                    </p:set>
                                    <p:anim calcmode="lin" valueType="num">
                                      <p:cBhvr additive="base">
                                        <p:cTn id="157" dur="500" fill="hold"/>
                                        <p:tgtEl>
                                          <p:spTgt spid="60"/>
                                        </p:tgtEl>
                                        <p:attrNameLst>
                                          <p:attrName>ppt_x</p:attrName>
                                        </p:attrNameLst>
                                      </p:cBhvr>
                                      <p:tavLst>
                                        <p:tav tm="0">
                                          <p:val>
                                            <p:strVal val="#ppt_x"/>
                                          </p:val>
                                        </p:tav>
                                        <p:tav tm="100000">
                                          <p:val>
                                            <p:strVal val="#ppt_x"/>
                                          </p:val>
                                        </p:tav>
                                      </p:tavLst>
                                    </p:anim>
                                    <p:anim calcmode="lin" valueType="num">
                                      <p:cBhvr additive="base">
                                        <p:cTn id="158" dur="500" fill="hold"/>
                                        <p:tgtEl>
                                          <p:spTgt spid="60"/>
                                        </p:tgtEl>
                                        <p:attrNameLst>
                                          <p:attrName>ppt_y</p:attrName>
                                        </p:attrNameLst>
                                      </p:cBhvr>
                                      <p:tavLst>
                                        <p:tav tm="0">
                                          <p:val>
                                            <p:strVal val="#ppt_y+0.1"/>
                                          </p:val>
                                        </p:tav>
                                        <p:tav tm="100000">
                                          <p:val>
                                            <p:strVal val="#ppt_y"/>
                                          </p:val>
                                        </p:tav>
                                      </p:tavLst>
                                    </p:anim>
                                    <p:animEffect transition="in" filter="fade">
                                      <p:cBhvr>
                                        <p:cTn id="159" dur="500"/>
                                        <p:tgtEl>
                                          <p:spTgt spid="60"/>
                                        </p:tgtEl>
                                      </p:cBhvr>
                                    </p:animEffect>
                                  </p:childTnLst>
                                </p:cTn>
                              </p:par>
                              <p:par>
                                <p:cTn id="165" presetID="2" presetClass="entr" presetSubtype="4" fill="hold" grpId="0" nodeType="withEffect">
                                  <p:stCondLst>
                                    <p:cond delay="0"/>
                                  </p:stCondLst>
                                  <p:childTnLst>
                                    <p:set>
                                      <p:cBhvr>
                                        <p:cTn id="161" dur="1" fill="hold">
                                          <p:stCondLst>
                                            <p:cond delay="0"/>
                                          </p:stCondLst>
                                        </p:cTn>
                                        <p:tgtEl>
                                          <p:spTgt spid="61"/>
                                        </p:tgtEl>
                                        <p:attrNameLst>
                                          <p:attrName>style.visibility</p:attrName>
                                        </p:attrNameLst>
                                      </p:cBhvr>
                                      <p:to>
                                        <p:strVal val="visible"/>
                                      </p:to>
                                    </p:set>
                                    <p:anim calcmode="lin" valueType="num">
                                      <p:cBhvr additive="base">
                                        <p:cTn id="162" dur="500" fill="hold"/>
                                        <p:tgtEl>
                                          <p:spTgt spid="61"/>
                                        </p:tgtEl>
                                        <p:attrNameLst>
                                          <p:attrName>ppt_x</p:attrName>
                                        </p:attrNameLst>
                                      </p:cBhvr>
                                      <p:tavLst>
                                        <p:tav tm="0">
                                          <p:val>
                                            <p:strVal val="#ppt_x"/>
                                          </p:val>
                                        </p:tav>
                                        <p:tav tm="100000">
                                          <p:val>
                                            <p:strVal val="#ppt_x"/>
                                          </p:val>
                                        </p:tav>
                                      </p:tavLst>
                                    </p:anim>
                                    <p:anim calcmode="lin" valueType="num">
                                      <p:cBhvr additive="base">
                                        <p:cTn id="163" dur="500" fill="hold"/>
                                        <p:tgtEl>
                                          <p:spTgt spid="61"/>
                                        </p:tgtEl>
                                        <p:attrNameLst>
                                          <p:attrName>ppt_y</p:attrName>
                                        </p:attrNameLst>
                                      </p:cBhvr>
                                      <p:tavLst>
                                        <p:tav tm="0">
                                          <p:val>
                                            <p:strVal val="#ppt_y+0.1"/>
                                          </p:val>
                                        </p:tav>
                                        <p:tav tm="100000">
                                          <p:val>
                                            <p:strVal val="#ppt_y"/>
                                          </p:val>
                                        </p:tav>
                                      </p:tavLst>
                                    </p:anim>
                                    <p:animEffect transition="in" filter="fade">
                                      <p:cBhvr>
                                        <p:cTn id="16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panel1"/>
          <p:cNvSpPr/>
          <p:nvPr/>
        </p:nvSpPr>
        <p:spPr>
          <a:xfrm>
            <a:off x="0" y="0"/>
            <a:ext cx="2926080" cy="51435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a0f_pl2"/>
          <p:cNvSpPr txBox="1"/>
          <p:nvPr/>
        </p:nvSpPr>
        <p:spPr>
          <a:xfrm>
            <a:off x="502920" y="1005840"/>
            <a:ext cx="2194560" cy="274320"/>
          </a:xfrm>
          <a:prstGeom prst="rect">
            <a:avLst/>
          </a:prstGeom>
          <a:noFill/>
        </p:spPr>
        <p:txBody>
          <a:bodyPr wrap="square" lIns="0" tIns="0" rIns="0" bIns="0" anchor="ctr">
            <a:spAutoFit/>
          </a:bodyPr>
          <a:lstStyle/>
          <a:p>
            <a:pPr algn="l"/>
            <a:r>
              <a:rPr sz="1100" b="1" spc="500">
                <a:solidFill>
                  <a:srgbClr val="18181B"/>
                </a:solidFill>
                <a:latin typeface="Segoe UI"/>
              </a:rPr>
              <a:t>PART</a:t>
            </a:r>
          </a:p>
        </p:txBody>
      </p:sp>
      <p:sp>
        <p:nvSpPr>
          <p:cNvPr id="4" name="a0ud100_n3"/>
          <p:cNvSpPr txBox="1"/>
          <p:nvPr/>
        </p:nvSpPr>
        <p:spPr>
          <a:xfrm>
            <a:off x="411480" y="1280160"/>
            <a:ext cx="2377440" cy="1691640"/>
          </a:xfrm>
          <a:prstGeom prst="rect">
            <a:avLst/>
          </a:prstGeom>
          <a:noFill/>
        </p:spPr>
        <p:txBody>
          <a:bodyPr wrap="square" lIns="0" tIns="0" rIns="0" bIns="0" anchor="ctr">
            <a:spAutoFit/>
          </a:bodyPr>
          <a:lstStyle/>
          <a:p>
            <a:pPr algn="l"/>
            <a:r>
              <a:rPr sz="10450" b="0">
                <a:solidFill>
                  <a:srgbClr val="FFFFFF"/>
                </a:solidFill>
                <a:latin typeface="Bahnschrift SemiBold"/>
              </a:rPr>
              <a:t>04</a:t>
            </a:r>
          </a:p>
        </p:txBody>
      </p:sp>
      <p:sp>
        <p:nvSpPr>
          <p:cNvPr id="5" name="a0wd300_pb4"/>
          <p:cNvSpPr/>
          <p:nvPr/>
        </p:nvSpPr>
        <p:spPr>
          <a:xfrm>
            <a:off x="502920" y="3090672"/>
            <a:ext cx="640080" cy="45720"/>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0fd400_pc5"/>
          <p:cNvSpPr/>
          <p:nvPr/>
        </p:nvSpPr>
        <p:spPr>
          <a:xfrm>
            <a:off x="502920" y="4160520"/>
            <a:ext cx="329184" cy="274320"/>
          </a:xfrm>
          <a:prstGeom prst="roundRect">
            <a:avLst>
              <a:gd name="adj" fmla="val 13333"/>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0fd400_pct6"/>
          <p:cNvSpPr txBox="1"/>
          <p:nvPr/>
        </p:nvSpPr>
        <p:spPr>
          <a:xfrm>
            <a:off x="502920" y="4160520"/>
            <a:ext cx="329184" cy="274320"/>
          </a:xfrm>
          <a:prstGeom prst="rect">
            <a:avLst/>
          </a:prstGeom>
          <a:noFill/>
        </p:spPr>
        <p:txBody>
          <a:bodyPr wrap="square" lIns="0" tIns="0" rIns="0" bIns="0" anchor="ctr">
            <a:spAutoFit/>
          </a:bodyPr>
          <a:lstStyle/>
          <a:p>
            <a:pPr algn="ctr"/>
            <a:r>
              <a:rPr sz="850" b="0">
                <a:solidFill>
                  <a:srgbClr val="FDBA74"/>
                </a:solidFill>
                <a:latin typeface="Consolas"/>
              </a:rPr>
              <a:t>01</a:t>
            </a:r>
          </a:p>
        </p:txBody>
      </p:sp>
      <p:sp>
        <p:nvSpPr>
          <p:cNvPr id="8" name="a0fd480_pc7"/>
          <p:cNvSpPr/>
          <p:nvPr/>
        </p:nvSpPr>
        <p:spPr>
          <a:xfrm>
            <a:off x="877824" y="4160520"/>
            <a:ext cx="329184" cy="274320"/>
          </a:xfrm>
          <a:prstGeom prst="roundRect">
            <a:avLst>
              <a:gd name="adj" fmla="val 13333"/>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0fd480_pct8"/>
          <p:cNvSpPr txBox="1"/>
          <p:nvPr/>
        </p:nvSpPr>
        <p:spPr>
          <a:xfrm>
            <a:off x="877824" y="4160520"/>
            <a:ext cx="329184" cy="274320"/>
          </a:xfrm>
          <a:prstGeom prst="rect">
            <a:avLst/>
          </a:prstGeom>
          <a:noFill/>
        </p:spPr>
        <p:txBody>
          <a:bodyPr wrap="square" lIns="0" tIns="0" rIns="0" bIns="0" anchor="ctr">
            <a:spAutoFit/>
          </a:bodyPr>
          <a:lstStyle/>
          <a:p>
            <a:pPr algn="ctr"/>
            <a:r>
              <a:rPr sz="850" b="0">
                <a:solidFill>
                  <a:srgbClr val="FDBA74"/>
                </a:solidFill>
                <a:latin typeface="Consolas"/>
              </a:rPr>
              <a:t>02</a:t>
            </a:r>
          </a:p>
        </p:txBody>
      </p:sp>
      <p:sp>
        <p:nvSpPr>
          <p:cNvPr id="10" name="a0fd560_pc9"/>
          <p:cNvSpPr/>
          <p:nvPr/>
        </p:nvSpPr>
        <p:spPr>
          <a:xfrm>
            <a:off x="1252728" y="4160520"/>
            <a:ext cx="329184" cy="274320"/>
          </a:xfrm>
          <a:prstGeom prst="roundRect">
            <a:avLst>
              <a:gd name="adj" fmla="val 13333"/>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0fd560_pct10"/>
          <p:cNvSpPr txBox="1"/>
          <p:nvPr/>
        </p:nvSpPr>
        <p:spPr>
          <a:xfrm>
            <a:off x="1252728" y="4160520"/>
            <a:ext cx="329184" cy="274320"/>
          </a:xfrm>
          <a:prstGeom prst="rect">
            <a:avLst/>
          </a:prstGeom>
          <a:noFill/>
        </p:spPr>
        <p:txBody>
          <a:bodyPr wrap="square" lIns="0" tIns="0" rIns="0" bIns="0" anchor="ctr">
            <a:spAutoFit/>
          </a:bodyPr>
          <a:lstStyle/>
          <a:p>
            <a:pPr algn="ctr"/>
            <a:r>
              <a:rPr sz="850" b="0">
                <a:solidFill>
                  <a:srgbClr val="FDBA74"/>
                </a:solidFill>
                <a:latin typeface="Consolas"/>
              </a:rPr>
              <a:t>03</a:t>
            </a:r>
          </a:p>
        </p:txBody>
      </p:sp>
      <p:sp>
        <p:nvSpPr>
          <p:cNvPr id="12" name="a0fd640_pc11"/>
          <p:cNvSpPr/>
          <p:nvPr/>
        </p:nvSpPr>
        <p:spPr>
          <a:xfrm>
            <a:off x="1627632" y="4160520"/>
            <a:ext cx="329184" cy="274320"/>
          </a:xfrm>
          <a:prstGeom prst="roundRect">
            <a:avLst>
              <a:gd name="adj" fmla="val 133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0fd640_pct12"/>
          <p:cNvSpPr txBox="1"/>
          <p:nvPr/>
        </p:nvSpPr>
        <p:spPr>
          <a:xfrm>
            <a:off x="1627632" y="4160520"/>
            <a:ext cx="329184" cy="274320"/>
          </a:xfrm>
          <a:prstGeom prst="rect">
            <a:avLst/>
          </a:prstGeom>
          <a:noFill/>
        </p:spPr>
        <p:txBody>
          <a:bodyPr wrap="square" lIns="0" tIns="0" rIns="0" bIns="0" anchor="ctr">
            <a:spAutoFit/>
          </a:bodyPr>
          <a:lstStyle/>
          <a:p>
            <a:pPr algn="ctr"/>
            <a:r>
              <a:rPr sz="850" b="1">
                <a:solidFill>
                  <a:srgbClr val="C2410C"/>
                </a:solidFill>
                <a:latin typeface="Consolas"/>
              </a:rPr>
              <a:t>04</a:t>
            </a:r>
          </a:p>
        </p:txBody>
      </p:sp>
      <p:sp>
        <p:nvSpPr>
          <p:cNvPr id="14" name="a0ud250_h13"/>
          <p:cNvSpPr txBox="1"/>
          <p:nvPr/>
        </p:nvSpPr>
        <p:spPr>
          <a:xfrm>
            <a:off x="3429000" y="868680"/>
            <a:ext cx="5257800" cy="1188720"/>
          </a:xfrm>
          <a:prstGeom prst="rect">
            <a:avLst/>
          </a:prstGeom>
          <a:noFill/>
        </p:spPr>
        <p:txBody>
          <a:bodyPr wrap="square" lIns="0" tIns="0" rIns="0" bIns="0" anchor="b">
            <a:spAutoFit/>
          </a:bodyPr>
          <a:lstStyle/>
          <a:p>
            <a:pPr algn="l"/>
            <a:r>
              <a:rPr sz="3250" b="0">
                <a:solidFill>
                  <a:srgbClr val="FFFFFF"/>
                </a:solidFill>
                <a:latin typeface="Bahnschrift SemiBold"/>
              </a:rPr>
              <a:t>The Birth of Kafka</a:t>
            </a:r>
          </a:p>
        </p:txBody>
      </p:sp>
      <p:sp>
        <p:nvSpPr>
          <p:cNvPr id="15" name="a0wd450_hb14"/>
          <p:cNvSpPr/>
          <p:nvPr/>
        </p:nvSpPr>
        <p:spPr>
          <a:xfrm>
            <a:off x="3429000" y="2212848"/>
            <a:ext cx="548640"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fd500_t15"/>
          <p:cNvSpPr txBox="1"/>
          <p:nvPr/>
        </p:nvSpPr>
        <p:spPr>
          <a:xfrm>
            <a:off x="3429000" y="2395728"/>
            <a:ext cx="5257800" cy="603504"/>
          </a:xfrm>
          <a:prstGeom prst="rect">
            <a:avLst/>
          </a:prstGeom>
          <a:noFill/>
        </p:spPr>
        <p:txBody>
          <a:bodyPr wrap="square" lIns="0" tIns="0" rIns="0" bIns="0" anchor="t">
            <a:spAutoFit/>
          </a:bodyPr>
          <a:lstStyle/>
          <a:p>
            <a:pPr algn="l"/>
            <a:r>
              <a:rPr sz="1400" b="0">
                <a:solidFill>
                  <a:srgbClr val="D6D3D1"/>
                </a:solidFill>
                <a:latin typeface="Segoe UI"/>
              </a:rPr>
              <a:t>One system instead of many - built on the idea of a log</a:t>
            </a:r>
          </a:p>
        </p:txBody>
      </p:sp>
      <p:sp>
        <p:nvSpPr>
          <p:cNvPr id="17" name="a0ud700_dd16"/>
          <p:cNvSpPr/>
          <p:nvPr/>
        </p:nvSpPr>
        <p:spPr>
          <a:xfrm>
            <a:off x="3429000" y="323697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0ud700_di17"/>
          <p:cNvSpPr txBox="1"/>
          <p:nvPr/>
        </p:nvSpPr>
        <p:spPr>
          <a:xfrm>
            <a:off x="3666744" y="3154680"/>
            <a:ext cx="5020056" cy="274320"/>
          </a:xfrm>
          <a:prstGeom prst="rect">
            <a:avLst/>
          </a:prstGeom>
          <a:noFill/>
        </p:spPr>
        <p:txBody>
          <a:bodyPr wrap="square" lIns="0" tIns="0" rIns="0" bIns="0" anchor="ctr">
            <a:spAutoFit/>
          </a:bodyPr>
          <a:lstStyle/>
          <a:p>
            <a:pPr algn="l"/>
            <a:r>
              <a:rPr sz="1200" b="0">
                <a:solidFill>
                  <a:srgbClr val="E7E5E4"/>
                </a:solidFill>
                <a:latin typeface="Segoe UI"/>
              </a:rPr>
              <a:t>LinkedIn</a:t>
            </a:r>
          </a:p>
        </p:txBody>
      </p:sp>
      <p:sp>
        <p:nvSpPr>
          <p:cNvPr id="19" name="a0ud820_dd18"/>
          <p:cNvSpPr/>
          <p:nvPr/>
        </p:nvSpPr>
        <p:spPr>
          <a:xfrm>
            <a:off x="3429000" y="360273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ud820_di19"/>
          <p:cNvSpPr txBox="1"/>
          <p:nvPr/>
        </p:nvSpPr>
        <p:spPr>
          <a:xfrm>
            <a:off x="3666744" y="3520440"/>
            <a:ext cx="5020056" cy="274320"/>
          </a:xfrm>
          <a:prstGeom prst="rect">
            <a:avLst/>
          </a:prstGeom>
          <a:noFill/>
        </p:spPr>
        <p:txBody>
          <a:bodyPr wrap="square" lIns="0" tIns="0" rIns="0" bIns="0" anchor="ctr">
            <a:spAutoFit/>
          </a:bodyPr>
          <a:lstStyle/>
          <a:p>
            <a:pPr algn="l"/>
            <a:r>
              <a:rPr sz="1200" b="0">
                <a:solidFill>
                  <a:srgbClr val="E7E5E4"/>
                </a:solidFill>
                <a:latin typeface="Segoe UI"/>
              </a:rPr>
              <a:t>Logs</a:t>
            </a:r>
          </a:p>
        </p:txBody>
      </p:sp>
      <p:sp>
        <p:nvSpPr>
          <p:cNvPr id="21" name="a0ud940_dd20"/>
          <p:cNvSpPr/>
          <p:nvPr/>
        </p:nvSpPr>
        <p:spPr>
          <a:xfrm>
            <a:off x="3429000" y="396849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0ud940_di21"/>
          <p:cNvSpPr txBox="1"/>
          <p:nvPr/>
        </p:nvSpPr>
        <p:spPr>
          <a:xfrm>
            <a:off x="3666744" y="3886200"/>
            <a:ext cx="5020056" cy="274320"/>
          </a:xfrm>
          <a:prstGeom prst="rect">
            <a:avLst/>
          </a:prstGeom>
          <a:noFill/>
        </p:spPr>
        <p:txBody>
          <a:bodyPr wrap="square" lIns="0" tIns="0" rIns="0" bIns="0" anchor="ctr">
            <a:spAutoFit/>
          </a:bodyPr>
          <a:lstStyle/>
          <a:p>
            <a:pPr algn="l"/>
            <a:r>
              <a:rPr sz="1200" b="0">
                <a:solidFill>
                  <a:srgbClr val="E7E5E4"/>
                </a:solidFill>
                <a:latin typeface="Segoe UI"/>
              </a:rPr>
              <a:t>Commit log</a:t>
            </a:r>
          </a:p>
        </p:txBody>
      </p:sp>
      <p:sp>
        <p:nvSpPr>
          <p:cNvPr id="23" name="a0ud1060_dd22"/>
          <p:cNvSpPr/>
          <p:nvPr/>
        </p:nvSpPr>
        <p:spPr>
          <a:xfrm>
            <a:off x="3429000" y="433425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ud1060_di23"/>
          <p:cNvSpPr txBox="1"/>
          <p:nvPr/>
        </p:nvSpPr>
        <p:spPr>
          <a:xfrm>
            <a:off x="3666744" y="4251960"/>
            <a:ext cx="5020056" cy="274320"/>
          </a:xfrm>
          <a:prstGeom prst="rect">
            <a:avLst/>
          </a:prstGeom>
          <a:noFill/>
        </p:spPr>
        <p:txBody>
          <a:bodyPr wrap="square" lIns="0" tIns="0" rIns="0" bIns="0" anchor="ctr">
            <a:spAutoFit/>
          </a:bodyPr>
          <a:lstStyle/>
          <a:p>
            <a:pPr algn="l"/>
            <a:r>
              <a:rPr sz="1200" b="0">
                <a:solidFill>
                  <a:srgbClr val="E7E5E4"/>
                </a:solidFill>
                <a:latin typeface="Segoe UI"/>
              </a:rPr>
              <a:t>Queue vs log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12" presetID="2" presetClass="entr" presetSubtype="4" fill="hold" grpId="0" nodeType="withEffect">
                                  <p:stCondLst>
                                    <p:cond delay="10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ppt_x</p:attrName>
                                        </p:attrNameLst>
                                      </p:cBhvr>
                                      <p:tavLst>
                                        <p:tav tm="0">
                                          <p:val>
                                            <p:strVal val="#ppt_x"/>
                                          </p:val>
                                        </p:tav>
                                        <p:tav tm="100000">
                                          <p:val>
                                            <p:strVal val="#ppt_x"/>
                                          </p:val>
                                        </p:tav>
                                      </p:tavLst>
                                    </p:anim>
                                    <p:anim calcmode="lin" valueType="num">
                                      <p:cBhvr additive="base">
                                        <p:cTn id="10" dur="500" fill="hold"/>
                                        <p:tgtEl>
                                          <p:spTgt spid="4"/>
                                        </p:tgtEl>
                                        <p:attrNameLst>
                                          <p:attrName>ppt_y</p:attrName>
                                        </p:attrNameLst>
                                      </p:cBhvr>
                                      <p:tavLst>
                                        <p:tav tm="0">
                                          <p:val>
                                            <p:strVal val="#ppt_y+0.1"/>
                                          </p:val>
                                        </p:tav>
                                        <p:tav tm="100000">
                                          <p:val>
                                            <p:strVal val="#ppt_y"/>
                                          </p:val>
                                        </p:tav>
                                      </p:tavLst>
                                    </p:anim>
                                    <p:animEffect transition="in" filter="fade">
                                      <p:cBhvr>
                                        <p:cTn id="11" dur="500"/>
                                        <p:tgtEl>
                                          <p:spTgt spid="4"/>
                                        </p:tgtEl>
                                      </p:cBhvr>
                                    </p:animEffect>
                                  </p:childTnLst>
                                </p:cTn>
                              </p:par>
                              <p:par>
                                <p:cTn id="17" presetID="2" presetClass="entr" presetSubtype="4" fill="hold" grpId="0" nodeType="withEffect">
                                  <p:stCondLst>
                                    <p:cond delay="250"/>
                                  </p:stCondLst>
                                  <p:childTnLst>
                                    <p:set>
                                      <p:cBhvr>
                                        <p:cTn id="13" dur="1" fill="hold">
                                          <p:stCondLst>
                                            <p:cond delay="0"/>
                                          </p:stCondLst>
                                        </p:cTn>
                                        <p:tgtEl>
                                          <p:spTgt spid="14"/>
                                        </p:tgtEl>
                                        <p:attrNameLst>
                                          <p:attrName>style.visibility</p:attrName>
                                        </p:attrNameLst>
                                      </p:cBhvr>
                                      <p:to>
                                        <p:strVal val="visible"/>
                                      </p:to>
                                    </p:set>
                                    <p:anim calcmode="lin" valueType="num">
                                      <p:cBhvr additive="base">
                                        <p:cTn id="14" dur="500" fill="hold"/>
                                        <p:tgtEl>
                                          <p:spTgt spid="14"/>
                                        </p:tgtEl>
                                        <p:attrNameLst>
                                          <p:attrName>ppt_x</p:attrName>
                                        </p:attrNameLst>
                                      </p:cBhvr>
                                      <p:tavLst>
                                        <p:tav tm="0">
                                          <p:val>
                                            <p:strVal val="#ppt_x"/>
                                          </p:val>
                                        </p:tav>
                                        <p:tav tm="100000">
                                          <p:val>
                                            <p:strVal val="#ppt_x"/>
                                          </p:val>
                                        </p:tav>
                                      </p:tavLst>
                                    </p:anim>
                                    <p:anim calcmode="lin" valueType="num">
                                      <p:cBhvr additive="base">
                                        <p:cTn id="15" dur="500" fill="hold"/>
                                        <p:tgtEl>
                                          <p:spTgt spid="14"/>
                                        </p:tgtEl>
                                        <p:attrNameLst>
                                          <p:attrName>ppt_y</p:attrName>
                                        </p:attrNameLst>
                                      </p:cBhvr>
                                      <p:tavLst>
                                        <p:tav tm="0">
                                          <p:val>
                                            <p:strVal val="#ppt_y+0.1"/>
                                          </p:val>
                                        </p:tav>
                                        <p:tav tm="100000">
                                          <p:val>
                                            <p:strVal val="#ppt_y"/>
                                          </p:val>
                                        </p:tav>
                                      </p:tavLst>
                                    </p:anim>
                                    <p:animEffect transition="in" filter="fade">
                                      <p:cBhvr>
                                        <p:cTn id="16" dur="500"/>
                                        <p:tgtEl>
                                          <p:spTgt spid="14"/>
                                        </p:tgtEl>
                                      </p:cBhvr>
                                    </p:animEffect>
                                  </p:childTnLst>
                                </p:cTn>
                              </p:par>
                              <p:par>
                                <p:cTn id="20" presetID="22" presetClass="entr" presetSubtype="8" fill="hold" grpId="0" nodeType="withEffect">
                                  <p:stCondLst>
                                    <p:cond delay="30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par>
                                <p:cTn id="23" presetID="10" presetClass="entr" presetSubtype="0" fill="hold" grpId="0" nodeType="withEffect">
                                  <p:stCondLst>
                                    <p:cond delay="4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6" presetID="10" presetClass="entr" presetSubtype="0" fill="hold" grpId="0" nodeType="withEffect">
                                  <p:stCondLst>
                                    <p:cond delay="4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9" presetID="22" presetClass="entr" presetSubtype="8" fill="hold" grpId="0" nodeType="withEffect">
                                  <p:stCondLst>
                                    <p:cond delay="450"/>
                                  </p:stCondLst>
                                  <p:childTnLst>
                                    <p:set>
                                      <p:cBhvr>
                                        <p:cTn id="27" dur="1" fill="hold">
                                          <p:stCondLst>
                                            <p:cond delay="0"/>
                                          </p:stCondLst>
                                        </p:cTn>
                                        <p:tgtEl>
                                          <p:spTgt spid="15"/>
                                        </p:tgtEl>
                                        <p:attrNameLst>
                                          <p:attrName>style.visibility</p:attrName>
                                        </p:attrNameLst>
                                      </p:cBhvr>
                                      <p:to>
                                        <p:strVal val="visible"/>
                                      </p:to>
                                    </p:set>
                                    <p:animEffect transition="in" filter="wipe(left)">
                                      <p:cBhvr>
                                        <p:cTn id="28" dur="500"/>
                                        <p:tgtEl>
                                          <p:spTgt spid="15"/>
                                        </p:tgtEl>
                                      </p:cBhvr>
                                    </p:animEffect>
                                  </p:childTnLst>
                                </p:cTn>
                              </p:par>
                              <p:par>
                                <p:cTn id="32"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5" presetID="10" presetClass="entr" presetSubtype="0" fill="hold" grpId="0" nodeType="withEffect">
                                  <p:stCondLst>
                                    <p:cond delay="48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8" presetID="10" presetClass="entr" presetSubtype="0" fill="hold" grpId="0" nodeType="withEffect">
                                  <p:stCondLst>
                                    <p:cond delay="5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41" presetID="10" presetClass="entr" presetSubtype="0" fill="hold" grpId="0" nodeType="withEffect">
                                  <p:stCondLst>
                                    <p:cond delay="56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par>
                                <p:cTn id="44" presetID="10" presetClass="entr" presetSubtype="0" fill="hold" grpId="0" nodeType="withEffect">
                                  <p:stCondLst>
                                    <p:cond delay="56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par>
                                <p:cTn id="47" presetID="10" presetClass="entr" presetSubtype="0" fill="hold" grpId="0" nodeType="withEffect">
                                  <p:stCondLst>
                                    <p:cond delay="64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par>
                                <p:cTn id="50" presetID="10" presetClass="entr" presetSubtype="0" fill="hold" grpId="0" nodeType="withEffect">
                                  <p:stCondLst>
                                    <p:cond delay="64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childTnLst>
                                </p:cTn>
                              </p:par>
                              <p:par>
                                <p:cTn id="55" presetID="2" presetClass="entr" presetSubtype="4" fill="hold" grpId="0" nodeType="withEffect">
                                  <p:stCondLst>
                                    <p:cond delay="70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1"/>
                                          </p:val>
                                        </p:tav>
                                        <p:tav tm="100000">
                                          <p:val>
                                            <p:strVal val="#ppt_y"/>
                                          </p:val>
                                        </p:tav>
                                      </p:tavLst>
                                    </p:anim>
                                    <p:animEffect transition="in" filter="fade">
                                      <p:cBhvr>
                                        <p:cTn id="54" dur="500"/>
                                        <p:tgtEl>
                                          <p:spTgt spid="17"/>
                                        </p:tgtEl>
                                      </p:cBhvr>
                                    </p:animEffect>
                                  </p:childTnLst>
                                </p:cTn>
                              </p:par>
                              <p:par>
                                <p:cTn id="60" presetID="2" presetClass="entr" presetSubtype="4" fill="hold" grpId="0" nodeType="withEffect">
                                  <p:stCondLst>
                                    <p:cond delay="70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1"/>
                                          </p:val>
                                        </p:tav>
                                        <p:tav tm="100000">
                                          <p:val>
                                            <p:strVal val="#ppt_y"/>
                                          </p:val>
                                        </p:tav>
                                      </p:tavLst>
                                    </p:anim>
                                    <p:animEffect transition="in" filter="fade">
                                      <p:cBhvr>
                                        <p:cTn id="59" dur="500"/>
                                        <p:tgtEl>
                                          <p:spTgt spid="18"/>
                                        </p:tgtEl>
                                      </p:cBhvr>
                                    </p:animEffect>
                                  </p:childTnLst>
                                </p:cTn>
                              </p:par>
                              <p:par>
                                <p:cTn id="65" presetID="2" presetClass="entr" presetSubtype="4" fill="hold" grpId="0" nodeType="withEffect">
                                  <p:stCondLst>
                                    <p:cond delay="82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1"/>
                                          </p:val>
                                        </p:tav>
                                        <p:tav tm="100000">
                                          <p:val>
                                            <p:strVal val="#ppt_y"/>
                                          </p:val>
                                        </p:tav>
                                      </p:tavLst>
                                    </p:anim>
                                    <p:animEffect transition="in" filter="fade">
                                      <p:cBhvr>
                                        <p:cTn id="64" dur="500"/>
                                        <p:tgtEl>
                                          <p:spTgt spid="19"/>
                                        </p:tgtEl>
                                      </p:cBhvr>
                                    </p:animEffect>
                                  </p:childTnLst>
                                </p:cTn>
                              </p:par>
                              <p:par>
                                <p:cTn id="70" presetID="2" presetClass="entr" presetSubtype="4" fill="hold" grpId="0" nodeType="withEffect">
                                  <p:stCondLst>
                                    <p:cond delay="82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1"/>
                                          </p:val>
                                        </p:tav>
                                        <p:tav tm="100000">
                                          <p:val>
                                            <p:strVal val="#ppt_y"/>
                                          </p:val>
                                        </p:tav>
                                      </p:tavLst>
                                    </p:anim>
                                    <p:animEffect transition="in" filter="fade">
                                      <p:cBhvr>
                                        <p:cTn id="69" dur="500"/>
                                        <p:tgtEl>
                                          <p:spTgt spid="20"/>
                                        </p:tgtEl>
                                      </p:cBhvr>
                                    </p:animEffect>
                                  </p:childTnLst>
                                </p:cTn>
                              </p:par>
                              <p:par>
                                <p:cTn id="75" presetID="2" presetClass="entr" presetSubtype="4" fill="hold" grpId="0" nodeType="withEffect">
                                  <p:stCondLst>
                                    <p:cond delay="9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1"/>
                                          </p:val>
                                        </p:tav>
                                        <p:tav tm="100000">
                                          <p:val>
                                            <p:strVal val="#ppt_y"/>
                                          </p:val>
                                        </p:tav>
                                      </p:tavLst>
                                    </p:anim>
                                    <p:animEffect transition="in" filter="fade">
                                      <p:cBhvr>
                                        <p:cTn id="74" dur="500"/>
                                        <p:tgtEl>
                                          <p:spTgt spid="21"/>
                                        </p:tgtEl>
                                      </p:cBhvr>
                                    </p:animEffect>
                                  </p:childTnLst>
                                </p:cTn>
                              </p:par>
                              <p:par>
                                <p:cTn id="80" presetID="2" presetClass="entr" presetSubtype="4" fill="hold" grpId="0" nodeType="withEffect">
                                  <p:stCondLst>
                                    <p:cond delay="9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1"/>
                                          </p:val>
                                        </p:tav>
                                        <p:tav tm="100000">
                                          <p:val>
                                            <p:strVal val="#ppt_y"/>
                                          </p:val>
                                        </p:tav>
                                      </p:tavLst>
                                    </p:anim>
                                    <p:animEffect transition="in" filter="fade">
                                      <p:cBhvr>
                                        <p:cTn id="79" dur="500"/>
                                        <p:tgtEl>
                                          <p:spTgt spid="22"/>
                                        </p:tgtEl>
                                      </p:cBhvr>
                                    </p:animEffect>
                                  </p:childTnLst>
                                </p:cTn>
                              </p:par>
                              <p:par>
                                <p:cTn id="85" presetID="2" presetClass="entr" presetSubtype="4" fill="hold" grpId="0" nodeType="withEffect">
                                  <p:stCondLst>
                                    <p:cond delay="10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1"/>
                                          </p:val>
                                        </p:tav>
                                        <p:tav tm="100000">
                                          <p:val>
                                            <p:strVal val="#ppt_y"/>
                                          </p:val>
                                        </p:tav>
                                      </p:tavLst>
                                    </p:anim>
                                    <p:animEffect transition="in" filter="fade">
                                      <p:cBhvr>
                                        <p:cTn id="84" dur="500"/>
                                        <p:tgtEl>
                                          <p:spTgt spid="23"/>
                                        </p:tgtEl>
                                      </p:cBhvr>
                                    </p:animEffect>
                                  </p:childTnLst>
                                </p:cTn>
                              </p:par>
                              <p:par>
                                <p:cTn id="90" presetID="2" presetClass="entr" presetSubtype="4" fill="hold" grpId="0" nodeType="withEffect">
                                  <p:stCondLst>
                                    <p:cond delay="10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1"/>
                                          </p:val>
                                        </p:tav>
                                        <p:tav tm="100000">
                                          <p:val>
                                            <p:strVal val="#ppt_y"/>
                                          </p:val>
                                        </p:tav>
                                      </p:tavLst>
                                    </p:anim>
                                    <p:animEffect transition="in" filter="fade">
                                      <p:cBhvr>
                                        <p:cTn id="8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Enter Apache Kafka</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publish/subscribe system designed to solve exactly this problem</a:t>
            </a:r>
          </a:p>
        </p:txBody>
      </p:sp>
      <p:sp>
        <p:nvSpPr>
          <p:cNvPr id="11" name="a1u_nd10"/>
          <p:cNvSpPr/>
          <p:nvPr/>
        </p:nvSpPr>
        <p:spPr>
          <a:xfrm>
            <a:off x="457200" y="1234440"/>
            <a:ext cx="1554480" cy="420624"/>
          </a:xfrm>
          <a:prstGeom prst="roundRect">
            <a:avLst>
              <a:gd name="adj" fmla="val 1739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234440"/>
            <a:ext cx="1463039" cy="420624"/>
          </a:xfrm>
          <a:prstGeom prst="rect">
            <a:avLst/>
          </a:prstGeom>
          <a:noFill/>
        </p:spPr>
        <p:txBody>
          <a:bodyPr wrap="square" lIns="0" tIns="0" rIns="0" bIns="0" anchor="ctr">
            <a:spAutoFit/>
          </a:bodyPr>
          <a:lstStyle/>
          <a:p>
            <a:pPr algn="ctr"/>
            <a:r>
              <a:rPr sz="850" b="1">
                <a:solidFill>
                  <a:srgbClr val="1C1917"/>
                </a:solidFill>
                <a:latin typeface="Segoe UI"/>
              </a:rPr>
              <a:t>Frontend server</a:t>
            </a:r>
          </a:p>
        </p:txBody>
      </p:sp>
      <p:cxnSp>
        <p:nvCxnSpPr>
          <p:cNvPr id="13" name="a2f_ar12"/>
          <p:cNvCxnSpPr/>
          <p:nvPr/>
        </p:nvCxnSpPr>
        <p:spPr>
          <a:xfrm>
            <a:off x="2039112" y="1444752"/>
            <a:ext cx="859536" cy="1115568"/>
          </a:xfrm>
          <a:prstGeom prst="line">
            <a:avLst/>
          </a:prstGeom>
          <a:ln w="127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a1ud70_nd13"/>
          <p:cNvSpPr/>
          <p:nvPr/>
        </p:nvSpPr>
        <p:spPr>
          <a:xfrm>
            <a:off x="457200" y="1783080"/>
            <a:ext cx="1554480" cy="420624"/>
          </a:xfrm>
          <a:prstGeom prst="roundRect">
            <a:avLst>
              <a:gd name="adj" fmla="val 1739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70_ndt14"/>
          <p:cNvSpPr txBox="1"/>
          <p:nvPr/>
        </p:nvSpPr>
        <p:spPr>
          <a:xfrm>
            <a:off x="502920" y="1783080"/>
            <a:ext cx="1463039" cy="420624"/>
          </a:xfrm>
          <a:prstGeom prst="rect">
            <a:avLst/>
          </a:prstGeom>
          <a:noFill/>
        </p:spPr>
        <p:txBody>
          <a:bodyPr wrap="square" lIns="0" tIns="0" rIns="0" bIns="0" anchor="ctr">
            <a:spAutoFit/>
          </a:bodyPr>
          <a:lstStyle/>
          <a:p>
            <a:pPr algn="ctr"/>
            <a:r>
              <a:rPr sz="850" b="1">
                <a:solidFill>
                  <a:srgbClr val="1C1917"/>
                </a:solidFill>
                <a:latin typeface="Segoe UI"/>
              </a:rPr>
              <a:t>Database server</a:t>
            </a:r>
          </a:p>
        </p:txBody>
      </p:sp>
      <p:cxnSp>
        <p:nvCxnSpPr>
          <p:cNvPr id="16" name="a2fd70_ar15"/>
          <p:cNvCxnSpPr/>
          <p:nvPr/>
        </p:nvCxnSpPr>
        <p:spPr>
          <a:xfrm>
            <a:off x="2039112" y="1993392"/>
            <a:ext cx="859536" cy="566928"/>
          </a:xfrm>
          <a:prstGeom prst="line">
            <a:avLst/>
          </a:prstGeom>
          <a:ln w="127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a1ud140_nd16"/>
          <p:cNvSpPr/>
          <p:nvPr/>
        </p:nvSpPr>
        <p:spPr>
          <a:xfrm>
            <a:off x="457200" y="2331720"/>
            <a:ext cx="1554480" cy="420624"/>
          </a:xfrm>
          <a:prstGeom prst="roundRect">
            <a:avLst>
              <a:gd name="adj" fmla="val 1739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d140_ndt17"/>
          <p:cNvSpPr txBox="1"/>
          <p:nvPr/>
        </p:nvSpPr>
        <p:spPr>
          <a:xfrm>
            <a:off x="502920" y="2331720"/>
            <a:ext cx="1463039" cy="420624"/>
          </a:xfrm>
          <a:prstGeom prst="rect">
            <a:avLst/>
          </a:prstGeom>
          <a:noFill/>
        </p:spPr>
        <p:txBody>
          <a:bodyPr wrap="square" lIns="0" tIns="0" rIns="0" bIns="0" anchor="ctr">
            <a:spAutoFit/>
          </a:bodyPr>
          <a:lstStyle/>
          <a:p>
            <a:pPr algn="ctr"/>
            <a:r>
              <a:rPr sz="850" b="1">
                <a:solidFill>
                  <a:srgbClr val="1C1917"/>
                </a:solidFill>
                <a:latin typeface="Segoe UI"/>
              </a:rPr>
              <a:t>Chat server</a:t>
            </a:r>
          </a:p>
        </p:txBody>
      </p:sp>
      <p:cxnSp>
        <p:nvCxnSpPr>
          <p:cNvPr id="19" name="a2fd140_ar18"/>
          <p:cNvCxnSpPr/>
          <p:nvPr/>
        </p:nvCxnSpPr>
        <p:spPr>
          <a:xfrm>
            <a:off x="2039112" y="2542032"/>
            <a:ext cx="859536" cy="18288"/>
          </a:xfrm>
          <a:prstGeom prst="line">
            <a:avLst/>
          </a:prstGeom>
          <a:ln w="127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a1ud210_nd19"/>
          <p:cNvSpPr/>
          <p:nvPr/>
        </p:nvSpPr>
        <p:spPr>
          <a:xfrm>
            <a:off x="457200" y="2880360"/>
            <a:ext cx="1554480" cy="420624"/>
          </a:xfrm>
          <a:prstGeom prst="roundRect">
            <a:avLst>
              <a:gd name="adj" fmla="val 1739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210_ndt20"/>
          <p:cNvSpPr txBox="1"/>
          <p:nvPr/>
        </p:nvSpPr>
        <p:spPr>
          <a:xfrm>
            <a:off x="502920" y="2880360"/>
            <a:ext cx="1463039" cy="420624"/>
          </a:xfrm>
          <a:prstGeom prst="rect">
            <a:avLst/>
          </a:prstGeom>
          <a:noFill/>
        </p:spPr>
        <p:txBody>
          <a:bodyPr wrap="square" lIns="0" tIns="0" rIns="0" bIns="0" anchor="ctr">
            <a:spAutoFit/>
          </a:bodyPr>
          <a:lstStyle/>
          <a:p>
            <a:pPr algn="ctr"/>
            <a:r>
              <a:rPr sz="850" b="1">
                <a:solidFill>
                  <a:srgbClr val="1C1917"/>
                </a:solidFill>
                <a:latin typeface="Segoe UI"/>
              </a:rPr>
              <a:t>Mail server</a:t>
            </a:r>
          </a:p>
        </p:txBody>
      </p:sp>
      <p:cxnSp>
        <p:nvCxnSpPr>
          <p:cNvPr id="22" name="a2fd210_ar21"/>
          <p:cNvCxnSpPr/>
          <p:nvPr/>
        </p:nvCxnSpPr>
        <p:spPr>
          <a:xfrm flipV="1">
            <a:off x="2039112" y="2560320"/>
            <a:ext cx="859536" cy="530352"/>
          </a:xfrm>
          <a:prstGeom prst="line">
            <a:avLst/>
          </a:prstGeom>
          <a:ln w="127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a1ud280_nd22"/>
          <p:cNvSpPr/>
          <p:nvPr/>
        </p:nvSpPr>
        <p:spPr>
          <a:xfrm>
            <a:off x="457200" y="3429000"/>
            <a:ext cx="1554480" cy="420624"/>
          </a:xfrm>
          <a:prstGeom prst="roundRect">
            <a:avLst>
              <a:gd name="adj" fmla="val 1739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ud280_ndt23"/>
          <p:cNvSpPr txBox="1"/>
          <p:nvPr/>
        </p:nvSpPr>
        <p:spPr>
          <a:xfrm>
            <a:off x="502920" y="3429000"/>
            <a:ext cx="1463039" cy="420624"/>
          </a:xfrm>
          <a:prstGeom prst="rect">
            <a:avLst/>
          </a:prstGeom>
          <a:noFill/>
        </p:spPr>
        <p:txBody>
          <a:bodyPr wrap="square" lIns="0" tIns="0" rIns="0" bIns="0" anchor="ctr">
            <a:spAutoFit/>
          </a:bodyPr>
          <a:lstStyle/>
          <a:p>
            <a:pPr algn="ctr"/>
            <a:r>
              <a:rPr sz="850" b="1">
                <a:solidFill>
                  <a:srgbClr val="1C1917"/>
                </a:solidFill>
                <a:latin typeface="Segoe UI"/>
              </a:rPr>
              <a:t>Payment server</a:t>
            </a:r>
          </a:p>
        </p:txBody>
      </p:sp>
      <p:cxnSp>
        <p:nvCxnSpPr>
          <p:cNvPr id="25" name="a2fd280_ar24"/>
          <p:cNvCxnSpPr/>
          <p:nvPr/>
        </p:nvCxnSpPr>
        <p:spPr>
          <a:xfrm flipV="1">
            <a:off x="2039112" y="2560320"/>
            <a:ext cx="859536" cy="1078992"/>
          </a:xfrm>
          <a:prstGeom prst="line">
            <a:avLst/>
          </a:prstGeom>
          <a:ln w="127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a1ud300_card25"/>
          <p:cNvSpPr/>
          <p:nvPr/>
        </p:nvSpPr>
        <p:spPr>
          <a:xfrm>
            <a:off x="2926080" y="1325880"/>
            <a:ext cx="2743200" cy="2468880"/>
          </a:xfrm>
          <a:prstGeom prst="roundRect">
            <a:avLst>
              <a:gd name="adj" fmla="val 4444"/>
            </a:avLst>
          </a:prstGeom>
          <a:solidFill>
            <a:srgbClr val="F7F6F3"/>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ud300_kf26"/>
          <p:cNvSpPr txBox="1"/>
          <p:nvPr/>
        </p:nvSpPr>
        <p:spPr>
          <a:xfrm>
            <a:off x="2926080" y="1417320"/>
            <a:ext cx="2743200" cy="329184"/>
          </a:xfrm>
          <a:prstGeom prst="rect">
            <a:avLst/>
          </a:prstGeom>
          <a:noFill/>
        </p:spPr>
        <p:txBody>
          <a:bodyPr wrap="square" lIns="0" tIns="0" rIns="0" bIns="0" anchor="ctr">
            <a:spAutoFit/>
          </a:bodyPr>
          <a:lstStyle/>
          <a:p>
            <a:pPr algn="ctr"/>
            <a:r>
              <a:rPr sz="1450" b="1">
                <a:solidFill>
                  <a:srgbClr val="C2410C"/>
                </a:solidFill>
                <a:latin typeface="Segoe UI"/>
              </a:rPr>
              <a:t>Apache Kafka</a:t>
            </a:r>
          </a:p>
        </p:txBody>
      </p:sp>
      <p:sp>
        <p:nvSpPr>
          <p:cNvPr id="28" name="a2ud200_pill27"/>
          <p:cNvSpPr/>
          <p:nvPr/>
        </p:nvSpPr>
        <p:spPr>
          <a:xfrm>
            <a:off x="3291840" y="1847088"/>
            <a:ext cx="2011680"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00" b="1">
                <a:solidFill>
                  <a:srgbClr val="C2410C"/>
                </a:solidFill>
                <a:latin typeface="Consolas"/>
              </a:rPr>
              <a:t>receive</a:t>
            </a:r>
          </a:p>
        </p:txBody>
      </p:sp>
      <p:sp>
        <p:nvSpPr>
          <p:cNvPr id="29" name="a2ud300_pill28"/>
          <p:cNvSpPr/>
          <p:nvPr/>
        </p:nvSpPr>
        <p:spPr>
          <a:xfrm>
            <a:off x="3291840" y="2212848"/>
            <a:ext cx="2011680"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00" b="1">
                <a:solidFill>
                  <a:srgbClr val="C2410C"/>
                </a:solidFill>
                <a:latin typeface="Consolas"/>
              </a:rPr>
              <a:t>organize</a:t>
            </a:r>
          </a:p>
        </p:txBody>
      </p:sp>
      <p:sp>
        <p:nvSpPr>
          <p:cNvPr id="30" name="a2ud400_pill29"/>
          <p:cNvSpPr/>
          <p:nvPr/>
        </p:nvSpPr>
        <p:spPr>
          <a:xfrm>
            <a:off x="3291840" y="2578608"/>
            <a:ext cx="2011680"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00" b="1">
                <a:solidFill>
                  <a:srgbClr val="C2410C"/>
                </a:solidFill>
                <a:latin typeface="Consolas"/>
              </a:rPr>
              <a:t>store</a:t>
            </a:r>
          </a:p>
        </p:txBody>
      </p:sp>
      <p:sp>
        <p:nvSpPr>
          <p:cNvPr id="31" name="a2ud500_pill30"/>
          <p:cNvSpPr/>
          <p:nvPr/>
        </p:nvSpPr>
        <p:spPr>
          <a:xfrm>
            <a:off x="3291840" y="2944368"/>
            <a:ext cx="2011680"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00" b="1">
                <a:solidFill>
                  <a:srgbClr val="C2410C"/>
                </a:solidFill>
                <a:latin typeface="Consolas"/>
              </a:rPr>
              <a:t>process</a:t>
            </a:r>
          </a:p>
        </p:txBody>
      </p:sp>
      <p:sp>
        <p:nvSpPr>
          <p:cNvPr id="32" name="a2ud600_pill31"/>
          <p:cNvSpPr/>
          <p:nvPr/>
        </p:nvSpPr>
        <p:spPr>
          <a:xfrm>
            <a:off x="3291840" y="3310128"/>
            <a:ext cx="2011680"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00" b="1">
                <a:solidFill>
                  <a:srgbClr val="C2410C"/>
                </a:solidFill>
                <a:latin typeface="Consolas"/>
              </a:rPr>
              <a:t>report</a:t>
            </a:r>
          </a:p>
        </p:txBody>
      </p:sp>
      <p:sp>
        <p:nvSpPr>
          <p:cNvPr id="33" name="a3u_nd32"/>
          <p:cNvSpPr/>
          <p:nvPr/>
        </p:nvSpPr>
        <p:spPr>
          <a:xfrm>
            <a:off x="6675120" y="1234440"/>
            <a:ext cx="2011680" cy="420624"/>
          </a:xfrm>
          <a:prstGeom prst="roundRect">
            <a:avLst>
              <a:gd name="adj" fmla="val 17391"/>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3u_ndt33"/>
          <p:cNvSpPr txBox="1"/>
          <p:nvPr/>
        </p:nvSpPr>
        <p:spPr>
          <a:xfrm>
            <a:off x="6720840" y="1234440"/>
            <a:ext cx="1920240" cy="420624"/>
          </a:xfrm>
          <a:prstGeom prst="rect">
            <a:avLst/>
          </a:prstGeom>
          <a:noFill/>
        </p:spPr>
        <p:txBody>
          <a:bodyPr wrap="square" lIns="0" tIns="0" rIns="0" bIns="0" anchor="ctr">
            <a:spAutoFit/>
          </a:bodyPr>
          <a:lstStyle/>
          <a:p>
            <a:pPr algn="ctr"/>
            <a:r>
              <a:rPr sz="850" b="1">
                <a:solidFill>
                  <a:srgbClr val="1C1917"/>
                </a:solidFill>
                <a:latin typeface="Segoe UI"/>
              </a:rPr>
              <a:t>Metrics server</a:t>
            </a:r>
          </a:p>
        </p:txBody>
      </p:sp>
      <p:cxnSp>
        <p:nvCxnSpPr>
          <p:cNvPr id="35" name="a3f_ar34"/>
          <p:cNvCxnSpPr/>
          <p:nvPr/>
        </p:nvCxnSpPr>
        <p:spPr>
          <a:xfrm flipV="1">
            <a:off x="5696712" y="1444752"/>
            <a:ext cx="950976" cy="1115568"/>
          </a:xfrm>
          <a:prstGeom prst="line">
            <a:avLst/>
          </a:prstGeom>
          <a:ln w="1270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a3ud70_nd35"/>
          <p:cNvSpPr/>
          <p:nvPr/>
        </p:nvSpPr>
        <p:spPr>
          <a:xfrm>
            <a:off x="6675120" y="1783080"/>
            <a:ext cx="2011680" cy="420624"/>
          </a:xfrm>
          <a:prstGeom prst="roundRect">
            <a:avLst>
              <a:gd name="adj" fmla="val 17391"/>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3ud70_ndt36"/>
          <p:cNvSpPr txBox="1"/>
          <p:nvPr/>
        </p:nvSpPr>
        <p:spPr>
          <a:xfrm>
            <a:off x="6720840" y="1783080"/>
            <a:ext cx="1920240" cy="420624"/>
          </a:xfrm>
          <a:prstGeom prst="rect">
            <a:avLst/>
          </a:prstGeom>
          <a:noFill/>
        </p:spPr>
        <p:txBody>
          <a:bodyPr wrap="square" lIns="0" tIns="0" rIns="0" bIns="0" anchor="ctr">
            <a:spAutoFit/>
          </a:bodyPr>
          <a:lstStyle/>
          <a:p>
            <a:pPr algn="ctr"/>
            <a:r>
              <a:rPr sz="850" b="1">
                <a:solidFill>
                  <a:srgbClr val="1C1917"/>
                </a:solidFill>
                <a:latin typeface="Segoe UI"/>
              </a:rPr>
              <a:t>Security analysis</a:t>
            </a:r>
          </a:p>
        </p:txBody>
      </p:sp>
      <p:cxnSp>
        <p:nvCxnSpPr>
          <p:cNvPr id="38" name="a3fd70_ar37"/>
          <p:cNvCxnSpPr/>
          <p:nvPr/>
        </p:nvCxnSpPr>
        <p:spPr>
          <a:xfrm flipV="1">
            <a:off x="5696712" y="1993392"/>
            <a:ext cx="950976" cy="566928"/>
          </a:xfrm>
          <a:prstGeom prst="line">
            <a:avLst/>
          </a:prstGeom>
          <a:ln w="1270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a3ud140_nd38"/>
          <p:cNvSpPr/>
          <p:nvPr/>
        </p:nvSpPr>
        <p:spPr>
          <a:xfrm>
            <a:off x="6675120" y="2331720"/>
            <a:ext cx="2011680" cy="420624"/>
          </a:xfrm>
          <a:prstGeom prst="roundRect">
            <a:avLst>
              <a:gd name="adj" fmla="val 17391"/>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3ud140_ndt39"/>
          <p:cNvSpPr txBox="1"/>
          <p:nvPr/>
        </p:nvSpPr>
        <p:spPr>
          <a:xfrm>
            <a:off x="6720840" y="2331720"/>
            <a:ext cx="1920240" cy="420624"/>
          </a:xfrm>
          <a:prstGeom prst="rect">
            <a:avLst/>
          </a:prstGeom>
          <a:noFill/>
        </p:spPr>
        <p:txBody>
          <a:bodyPr wrap="square" lIns="0" tIns="0" rIns="0" bIns="0" anchor="ctr">
            <a:spAutoFit/>
          </a:bodyPr>
          <a:lstStyle/>
          <a:p>
            <a:pPr algn="ctr"/>
            <a:r>
              <a:rPr sz="850" b="1">
                <a:solidFill>
                  <a:srgbClr val="1C1917"/>
                </a:solidFill>
                <a:latin typeface="Segoe UI"/>
              </a:rPr>
              <a:t>Log search</a:t>
            </a:r>
          </a:p>
        </p:txBody>
      </p:sp>
      <p:cxnSp>
        <p:nvCxnSpPr>
          <p:cNvPr id="41" name="a3fd140_ar40"/>
          <p:cNvCxnSpPr/>
          <p:nvPr/>
        </p:nvCxnSpPr>
        <p:spPr>
          <a:xfrm flipV="1">
            <a:off x="5696712" y="2542032"/>
            <a:ext cx="950976" cy="18288"/>
          </a:xfrm>
          <a:prstGeom prst="line">
            <a:avLst/>
          </a:prstGeom>
          <a:ln w="1270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a3ud210_nd41"/>
          <p:cNvSpPr/>
          <p:nvPr/>
        </p:nvSpPr>
        <p:spPr>
          <a:xfrm>
            <a:off x="6675120" y="2880360"/>
            <a:ext cx="2011680" cy="420624"/>
          </a:xfrm>
          <a:prstGeom prst="roundRect">
            <a:avLst>
              <a:gd name="adj" fmla="val 17391"/>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3ud210_ndt42"/>
          <p:cNvSpPr txBox="1"/>
          <p:nvPr/>
        </p:nvSpPr>
        <p:spPr>
          <a:xfrm>
            <a:off x="6720840" y="2880360"/>
            <a:ext cx="1920240" cy="420624"/>
          </a:xfrm>
          <a:prstGeom prst="rect">
            <a:avLst/>
          </a:prstGeom>
          <a:noFill/>
        </p:spPr>
        <p:txBody>
          <a:bodyPr wrap="square" lIns="0" tIns="0" rIns="0" bIns="0" anchor="ctr">
            <a:spAutoFit/>
          </a:bodyPr>
          <a:lstStyle/>
          <a:p>
            <a:pPr algn="ctr"/>
            <a:r>
              <a:rPr sz="850" b="1">
                <a:solidFill>
                  <a:srgbClr val="1C1917"/>
                </a:solidFill>
                <a:latin typeface="Segoe UI"/>
              </a:rPr>
              <a:t>ML &amp; AI server</a:t>
            </a:r>
          </a:p>
        </p:txBody>
      </p:sp>
      <p:cxnSp>
        <p:nvCxnSpPr>
          <p:cNvPr id="44" name="a3fd210_ar43"/>
          <p:cNvCxnSpPr/>
          <p:nvPr/>
        </p:nvCxnSpPr>
        <p:spPr>
          <a:xfrm>
            <a:off x="5696712" y="2560320"/>
            <a:ext cx="950976" cy="530352"/>
          </a:xfrm>
          <a:prstGeom prst="line">
            <a:avLst/>
          </a:prstGeom>
          <a:ln w="1270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a3ud280_nd44"/>
          <p:cNvSpPr/>
          <p:nvPr/>
        </p:nvSpPr>
        <p:spPr>
          <a:xfrm>
            <a:off x="6675120" y="3429000"/>
            <a:ext cx="2011680" cy="420624"/>
          </a:xfrm>
          <a:prstGeom prst="roundRect">
            <a:avLst>
              <a:gd name="adj" fmla="val 17391"/>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3ud280_ndt45"/>
          <p:cNvSpPr txBox="1"/>
          <p:nvPr/>
        </p:nvSpPr>
        <p:spPr>
          <a:xfrm>
            <a:off x="6720840" y="3429000"/>
            <a:ext cx="1920240" cy="420624"/>
          </a:xfrm>
          <a:prstGeom prst="rect">
            <a:avLst/>
          </a:prstGeom>
          <a:noFill/>
        </p:spPr>
        <p:txBody>
          <a:bodyPr wrap="square" lIns="0" tIns="0" rIns="0" bIns="0" anchor="ctr">
            <a:spAutoFit/>
          </a:bodyPr>
          <a:lstStyle/>
          <a:p>
            <a:pPr algn="ctr"/>
            <a:r>
              <a:rPr sz="850" b="1">
                <a:solidFill>
                  <a:srgbClr val="1C1917"/>
                </a:solidFill>
                <a:latin typeface="Segoe UI"/>
              </a:rPr>
              <a:t>Management reports</a:t>
            </a:r>
          </a:p>
        </p:txBody>
      </p:sp>
      <p:cxnSp>
        <p:nvCxnSpPr>
          <p:cNvPr id="47" name="a3fd280_ar46"/>
          <p:cNvCxnSpPr/>
          <p:nvPr/>
        </p:nvCxnSpPr>
        <p:spPr>
          <a:xfrm>
            <a:off x="5696712" y="2560320"/>
            <a:ext cx="950976" cy="1078992"/>
          </a:xfrm>
          <a:prstGeom prst="line">
            <a:avLst/>
          </a:prstGeom>
          <a:ln w="1270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a4u_nb47"/>
          <p:cNvSpPr/>
          <p:nvPr/>
        </p:nvSpPr>
        <p:spPr>
          <a:xfrm>
            <a:off x="457200" y="4023360"/>
            <a:ext cx="8229600" cy="502920"/>
          </a:xfrm>
          <a:prstGeom prst="roundRect">
            <a:avLst>
              <a:gd name="adj" fmla="val 14545"/>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4u_nacc48"/>
          <p:cNvSpPr/>
          <p:nvPr/>
        </p:nvSpPr>
        <p:spPr>
          <a:xfrm>
            <a:off x="457200" y="4023360"/>
            <a:ext cx="54864" cy="5029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4u_nt49"/>
          <p:cNvSpPr txBox="1"/>
          <p:nvPr/>
        </p:nvSpPr>
        <p:spPr>
          <a:xfrm>
            <a:off x="658368" y="4023360"/>
            <a:ext cx="7827264" cy="502920"/>
          </a:xfrm>
          <a:prstGeom prst="rect">
            <a:avLst/>
          </a:prstGeom>
          <a:noFill/>
        </p:spPr>
        <p:txBody>
          <a:bodyPr wrap="square" lIns="0" tIns="0" rIns="0" bIns="0" anchor="ctr">
            <a:spAutoFit/>
          </a:bodyPr>
          <a:lstStyle/>
          <a:p>
            <a:pPr algn="l"/>
            <a:r>
              <a:rPr sz="900" b="1">
                <a:solidFill>
                  <a:srgbClr val="C2410C"/>
                </a:solidFill>
                <a:latin typeface="Segoe UI"/>
              </a:rPr>
              <a:t>KEY  </a:t>
            </a:r>
            <a:r>
              <a:rPr sz="900" b="0">
                <a:solidFill>
                  <a:srgbClr val="44403C"/>
                </a:solidFill>
                <a:latin typeface="Segoe UI"/>
              </a:rPr>
              <a:t>Instead of many queue systems, ONE system receives, organizes, stores and processes the messages, and produces the reports.</a:t>
            </a:r>
          </a:p>
        </p:txBody>
      </p:sp>
      <p:sp>
        <p:nvSpPr>
          <p:cNvPr id="51" name="ft5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40</a:t>
            </a:r>
          </a:p>
        </p:txBody>
      </p:sp>
      <p:sp>
        <p:nvSpPr>
          <p:cNvPr id="52" name="ft5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ft5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54" name="ft5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7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ppt_y+0.1"/>
                                          </p:val>
                                        </p:tav>
                                        <p:tav tm="100000">
                                          <p:val>
                                            <p:strVal val="#ppt_y"/>
                                          </p:val>
                                        </p:tav>
                                      </p:tavLst>
                                    </p:anim>
                                    <p:animEffect transition="in" filter="fade">
                                      <p:cBhvr>
                                        <p:cTn id="18" dur="500"/>
                                        <p:tgtEl>
                                          <p:spTgt spid="14"/>
                                        </p:tgtEl>
                                      </p:cBhvr>
                                    </p:animEffect>
                                  </p:childTnLst>
                                </p:cTn>
                              </p:par>
                              <p:par>
                                <p:cTn id="24" presetID="2" presetClass="entr" presetSubtype="4" fill="hold" grpId="0" nodeType="withEffect">
                                  <p:stCondLst>
                                    <p:cond delay="7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14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500" fill="hold"/>
                                        <p:tgtEl>
                                          <p:spTgt spid="17"/>
                                        </p:tgtEl>
                                        <p:attrNameLst>
                                          <p:attrName>ppt_x</p:attrName>
                                        </p:attrNameLst>
                                      </p:cBhvr>
                                      <p:tavLst>
                                        <p:tav tm="0">
                                          <p:val>
                                            <p:strVal val="#ppt_x"/>
                                          </p:val>
                                        </p:tav>
                                        <p:tav tm="100000">
                                          <p:val>
                                            <p:strVal val="#ppt_x"/>
                                          </p:val>
                                        </p:tav>
                                      </p:tavLst>
                                    </p:anim>
                                    <p:anim calcmode="lin" valueType="num">
                                      <p:cBhvr additive="base">
                                        <p:cTn id="27" dur="500" fill="hold"/>
                                        <p:tgtEl>
                                          <p:spTgt spid="17"/>
                                        </p:tgtEl>
                                        <p:attrNameLst>
                                          <p:attrName>ppt_y</p:attrName>
                                        </p:attrNameLst>
                                      </p:cBhvr>
                                      <p:tavLst>
                                        <p:tav tm="0">
                                          <p:val>
                                            <p:strVal val="#ppt_y+0.1"/>
                                          </p:val>
                                        </p:tav>
                                        <p:tav tm="100000">
                                          <p:val>
                                            <p:strVal val="#ppt_y"/>
                                          </p:val>
                                        </p:tav>
                                      </p:tavLst>
                                    </p:anim>
                                    <p:animEffect transition="in" filter="fade">
                                      <p:cBhvr>
                                        <p:cTn id="28" dur="500"/>
                                        <p:tgtEl>
                                          <p:spTgt spid="17"/>
                                        </p:tgtEl>
                                      </p:cBhvr>
                                    </p:animEffect>
                                  </p:childTnLst>
                                </p:cTn>
                              </p:par>
                              <p:par>
                                <p:cTn id="34" presetID="2" presetClass="entr" presetSubtype="4" fill="hold" grpId="0" nodeType="withEffect">
                                  <p:stCondLst>
                                    <p:cond delay="14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ppt_y+0.1"/>
                                          </p:val>
                                        </p:tav>
                                        <p:tav tm="100000">
                                          <p:val>
                                            <p:strVal val="#ppt_y"/>
                                          </p:val>
                                        </p:tav>
                                      </p:tavLst>
                                    </p:anim>
                                    <p:animEffect transition="in" filter="fade">
                                      <p:cBhvr>
                                        <p:cTn id="33" dur="500"/>
                                        <p:tgtEl>
                                          <p:spTgt spid="18"/>
                                        </p:tgtEl>
                                      </p:cBhvr>
                                    </p:animEffect>
                                  </p:childTnLst>
                                </p:cTn>
                              </p:par>
                              <p:par>
                                <p:cTn id="39" presetID="2" presetClass="entr" presetSubtype="4" fill="hold" grpId="0" nodeType="withEffect">
                                  <p:stCondLst>
                                    <p:cond delay="210"/>
                                  </p:stCondLst>
                                  <p:childTnLst>
                                    <p:set>
                                      <p:cBhvr>
                                        <p:cTn id="35" dur="1" fill="hold">
                                          <p:stCondLst>
                                            <p:cond delay="0"/>
                                          </p:stCondLst>
                                        </p:cTn>
                                        <p:tgtEl>
                                          <p:spTgt spid="20"/>
                                        </p:tgtEl>
                                        <p:attrNameLst>
                                          <p:attrName>style.visibility</p:attrName>
                                        </p:attrNameLst>
                                      </p:cBhvr>
                                      <p:to>
                                        <p:strVal val="visible"/>
                                      </p:to>
                                    </p:set>
                                    <p:anim calcmode="lin" valueType="num">
                                      <p:cBhvr additive="base">
                                        <p:cTn id="36" dur="500" fill="hold"/>
                                        <p:tgtEl>
                                          <p:spTgt spid="20"/>
                                        </p:tgtEl>
                                        <p:attrNameLst>
                                          <p:attrName>ppt_x</p:attrName>
                                        </p:attrNameLst>
                                      </p:cBhvr>
                                      <p:tavLst>
                                        <p:tav tm="0">
                                          <p:val>
                                            <p:strVal val="#ppt_x"/>
                                          </p:val>
                                        </p:tav>
                                        <p:tav tm="100000">
                                          <p:val>
                                            <p:strVal val="#ppt_x"/>
                                          </p:val>
                                        </p:tav>
                                      </p:tavLst>
                                    </p:anim>
                                    <p:anim calcmode="lin" valueType="num">
                                      <p:cBhvr additive="base">
                                        <p:cTn id="37" dur="500" fill="hold"/>
                                        <p:tgtEl>
                                          <p:spTgt spid="20"/>
                                        </p:tgtEl>
                                        <p:attrNameLst>
                                          <p:attrName>ppt_y</p:attrName>
                                        </p:attrNameLst>
                                      </p:cBhvr>
                                      <p:tavLst>
                                        <p:tav tm="0">
                                          <p:val>
                                            <p:strVal val="#ppt_y+0.1"/>
                                          </p:val>
                                        </p:tav>
                                        <p:tav tm="100000">
                                          <p:val>
                                            <p:strVal val="#ppt_y"/>
                                          </p:val>
                                        </p:tav>
                                      </p:tavLst>
                                    </p:anim>
                                    <p:animEffect transition="in" filter="fade">
                                      <p:cBhvr>
                                        <p:cTn id="38" dur="500"/>
                                        <p:tgtEl>
                                          <p:spTgt spid="20"/>
                                        </p:tgtEl>
                                      </p:cBhvr>
                                    </p:animEffect>
                                  </p:childTnLst>
                                </p:cTn>
                              </p:par>
                              <p:par>
                                <p:cTn id="44" presetID="2" presetClass="entr" presetSubtype="4" fill="hold" grpId="0" nodeType="withEffect">
                                  <p:stCondLst>
                                    <p:cond delay="21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500" fill="hold"/>
                                        <p:tgtEl>
                                          <p:spTgt spid="21"/>
                                        </p:tgtEl>
                                        <p:attrNameLst>
                                          <p:attrName>ppt_x</p:attrName>
                                        </p:attrNameLst>
                                      </p:cBhvr>
                                      <p:tavLst>
                                        <p:tav tm="0">
                                          <p:val>
                                            <p:strVal val="#ppt_x"/>
                                          </p:val>
                                        </p:tav>
                                        <p:tav tm="100000">
                                          <p:val>
                                            <p:strVal val="#ppt_x"/>
                                          </p:val>
                                        </p:tav>
                                      </p:tavLst>
                                    </p:anim>
                                    <p:anim calcmode="lin" valueType="num">
                                      <p:cBhvr additive="base">
                                        <p:cTn id="42" dur="500" fill="hold"/>
                                        <p:tgtEl>
                                          <p:spTgt spid="21"/>
                                        </p:tgtEl>
                                        <p:attrNameLst>
                                          <p:attrName>ppt_y</p:attrName>
                                        </p:attrNameLst>
                                      </p:cBhvr>
                                      <p:tavLst>
                                        <p:tav tm="0">
                                          <p:val>
                                            <p:strVal val="#ppt_y+0.1"/>
                                          </p:val>
                                        </p:tav>
                                        <p:tav tm="100000">
                                          <p:val>
                                            <p:strVal val="#ppt_y"/>
                                          </p:val>
                                        </p:tav>
                                      </p:tavLst>
                                    </p:anim>
                                    <p:animEffect transition="in" filter="fade">
                                      <p:cBhvr>
                                        <p:cTn id="43" dur="500"/>
                                        <p:tgtEl>
                                          <p:spTgt spid="21"/>
                                        </p:tgtEl>
                                      </p:cBhvr>
                                    </p:animEffect>
                                  </p:childTnLst>
                                </p:cTn>
                              </p:par>
                              <p:par>
                                <p:cTn id="49" presetID="2" presetClass="entr" presetSubtype="4" fill="hold" grpId="0" nodeType="withEffect">
                                  <p:stCondLst>
                                    <p:cond delay="280"/>
                                  </p:stCondLst>
                                  <p:childTnLst>
                                    <p:set>
                                      <p:cBhvr>
                                        <p:cTn id="45" dur="1" fill="hold">
                                          <p:stCondLst>
                                            <p:cond delay="0"/>
                                          </p:stCondLst>
                                        </p:cTn>
                                        <p:tgtEl>
                                          <p:spTgt spid="23"/>
                                        </p:tgtEl>
                                        <p:attrNameLst>
                                          <p:attrName>style.visibility</p:attrName>
                                        </p:attrNameLst>
                                      </p:cBhvr>
                                      <p:to>
                                        <p:strVal val="visible"/>
                                      </p:to>
                                    </p:set>
                                    <p:anim calcmode="lin" valueType="num">
                                      <p:cBhvr additive="base">
                                        <p:cTn id="46" dur="500" fill="hold"/>
                                        <p:tgtEl>
                                          <p:spTgt spid="23"/>
                                        </p:tgtEl>
                                        <p:attrNameLst>
                                          <p:attrName>ppt_x</p:attrName>
                                        </p:attrNameLst>
                                      </p:cBhvr>
                                      <p:tavLst>
                                        <p:tav tm="0">
                                          <p:val>
                                            <p:strVal val="#ppt_x"/>
                                          </p:val>
                                        </p:tav>
                                        <p:tav tm="100000">
                                          <p:val>
                                            <p:strVal val="#ppt_x"/>
                                          </p:val>
                                        </p:tav>
                                      </p:tavLst>
                                    </p:anim>
                                    <p:anim calcmode="lin" valueType="num">
                                      <p:cBhvr additive="base">
                                        <p:cTn id="47" dur="500" fill="hold"/>
                                        <p:tgtEl>
                                          <p:spTgt spid="23"/>
                                        </p:tgtEl>
                                        <p:attrNameLst>
                                          <p:attrName>ppt_y</p:attrName>
                                        </p:attrNameLst>
                                      </p:cBhvr>
                                      <p:tavLst>
                                        <p:tav tm="0">
                                          <p:val>
                                            <p:strVal val="#ppt_y+0.1"/>
                                          </p:val>
                                        </p:tav>
                                        <p:tav tm="100000">
                                          <p:val>
                                            <p:strVal val="#ppt_y"/>
                                          </p:val>
                                        </p:tav>
                                      </p:tavLst>
                                    </p:anim>
                                    <p:animEffect transition="in" filter="fade">
                                      <p:cBhvr>
                                        <p:cTn id="48" dur="500"/>
                                        <p:tgtEl>
                                          <p:spTgt spid="23"/>
                                        </p:tgtEl>
                                      </p:cBhvr>
                                    </p:animEffect>
                                  </p:childTnLst>
                                </p:cTn>
                              </p:par>
                              <p:par>
                                <p:cTn id="54" presetID="2" presetClass="entr" presetSubtype="4" fill="hold" grpId="0" nodeType="withEffect">
                                  <p:stCondLst>
                                    <p:cond delay="280"/>
                                  </p:stCondLst>
                                  <p:childTnLst>
                                    <p:set>
                                      <p:cBhvr>
                                        <p:cTn id="50" dur="1" fill="hold">
                                          <p:stCondLst>
                                            <p:cond delay="0"/>
                                          </p:stCondLst>
                                        </p:cTn>
                                        <p:tgtEl>
                                          <p:spTgt spid="24"/>
                                        </p:tgtEl>
                                        <p:attrNameLst>
                                          <p:attrName>style.visibility</p:attrName>
                                        </p:attrNameLst>
                                      </p:cBhvr>
                                      <p:to>
                                        <p:strVal val="visible"/>
                                      </p:to>
                                    </p:set>
                                    <p:anim calcmode="lin" valueType="num">
                                      <p:cBhvr additive="base">
                                        <p:cTn id="51" dur="500" fill="hold"/>
                                        <p:tgtEl>
                                          <p:spTgt spid="24"/>
                                        </p:tgtEl>
                                        <p:attrNameLst>
                                          <p:attrName>ppt_x</p:attrName>
                                        </p:attrNameLst>
                                      </p:cBhvr>
                                      <p:tavLst>
                                        <p:tav tm="0">
                                          <p:val>
                                            <p:strVal val="#ppt_x"/>
                                          </p:val>
                                        </p:tav>
                                        <p:tav tm="100000">
                                          <p:val>
                                            <p:strVal val="#ppt_x"/>
                                          </p:val>
                                        </p:tav>
                                      </p:tavLst>
                                    </p:anim>
                                    <p:anim calcmode="lin" valueType="num">
                                      <p:cBhvr additive="base">
                                        <p:cTn id="52" dur="500" fill="hold"/>
                                        <p:tgtEl>
                                          <p:spTgt spid="24"/>
                                        </p:tgtEl>
                                        <p:attrNameLst>
                                          <p:attrName>ppt_y</p:attrName>
                                        </p:attrNameLst>
                                      </p:cBhvr>
                                      <p:tavLst>
                                        <p:tav tm="0">
                                          <p:val>
                                            <p:strVal val="#ppt_y+0.1"/>
                                          </p:val>
                                        </p:tav>
                                        <p:tav tm="100000">
                                          <p:val>
                                            <p:strVal val="#ppt_y"/>
                                          </p:val>
                                        </p:tav>
                                      </p:tavLst>
                                    </p:anim>
                                    <p:animEffect transition="in" filter="fade">
                                      <p:cBhvr>
                                        <p:cTn id="53" dur="500"/>
                                        <p:tgtEl>
                                          <p:spTgt spid="24"/>
                                        </p:tgtEl>
                                      </p:cBhvr>
                                    </p:animEffect>
                                  </p:childTnLst>
                                </p:cTn>
                              </p:par>
                              <p:par>
                                <p:cTn id="59" presetID="2" presetClass="entr" presetSubtype="4" fill="hold" grpId="0" nodeType="withEffect">
                                  <p:stCondLst>
                                    <p:cond delay="300"/>
                                  </p:stCondLst>
                                  <p:childTnLst>
                                    <p:set>
                                      <p:cBhvr>
                                        <p:cTn id="55" dur="1" fill="hold">
                                          <p:stCondLst>
                                            <p:cond delay="0"/>
                                          </p:stCondLst>
                                        </p:cTn>
                                        <p:tgtEl>
                                          <p:spTgt spid="26"/>
                                        </p:tgtEl>
                                        <p:attrNameLst>
                                          <p:attrName>style.visibility</p:attrName>
                                        </p:attrNameLst>
                                      </p:cBhvr>
                                      <p:to>
                                        <p:strVal val="visible"/>
                                      </p:to>
                                    </p:set>
                                    <p:anim calcmode="lin" valueType="num">
                                      <p:cBhvr additive="base">
                                        <p:cTn id="56" dur="500" fill="hold"/>
                                        <p:tgtEl>
                                          <p:spTgt spid="26"/>
                                        </p:tgtEl>
                                        <p:attrNameLst>
                                          <p:attrName>ppt_x</p:attrName>
                                        </p:attrNameLst>
                                      </p:cBhvr>
                                      <p:tavLst>
                                        <p:tav tm="0">
                                          <p:val>
                                            <p:strVal val="#ppt_x"/>
                                          </p:val>
                                        </p:tav>
                                        <p:tav tm="100000">
                                          <p:val>
                                            <p:strVal val="#ppt_x"/>
                                          </p:val>
                                        </p:tav>
                                      </p:tavLst>
                                    </p:anim>
                                    <p:anim calcmode="lin" valueType="num">
                                      <p:cBhvr additive="base">
                                        <p:cTn id="57" dur="500" fill="hold"/>
                                        <p:tgtEl>
                                          <p:spTgt spid="26"/>
                                        </p:tgtEl>
                                        <p:attrNameLst>
                                          <p:attrName>ppt_y</p:attrName>
                                        </p:attrNameLst>
                                      </p:cBhvr>
                                      <p:tavLst>
                                        <p:tav tm="0">
                                          <p:val>
                                            <p:strVal val="#ppt_y+0.1"/>
                                          </p:val>
                                        </p:tav>
                                        <p:tav tm="100000">
                                          <p:val>
                                            <p:strVal val="#ppt_y"/>
                                          </p:val>
                                        </p:tav>
                                      </p:tavLst>
                                    </p:anim>
                                    <p:animEffect transition="in" filter="fade">
                                      <p:cBhvr>
                                        <p:cTn id="58" dur="500"/>
                                        <p:tgtEl>
                                          <p:spTgt spid="26"/>
                                        </p:tgtEl>
                                      </p:cBhvr>
                                    </p:animEffect>
                                  </p:childTnLst>
                                </p:cTn>
                              </p:par>
                              <p:par>
                                <p:cTn id="64" presetID="2" presetClass="entr" presetSubtype="4" fill="hold" grpId="0" nodeType="withEffect">
                                  <p:stCondLst>
                                    <p:cond delay="300"/>
                                  </p:stCondLst>
                                  <p:childTnLst>
                                    <p:set>
                                      <p:cBhvr>
                                        <p:cTn id="60" dur="1" fill="hold">
                                          <p:stCondLst>
                                            <p:cond delay="0"/>
                                          </p:stCondLst>
                                        </p:cTn>
                                        <p:tgtEl>
                                          <p:spTgt spid="27"/>
                                        </p:tgtEl>
                                        <p:attrNameLst>
                                          <p:attrName>style.visibility</p:attrName>
                                        </p:attrNameLst>
                                      </p:cBhvr>
                                      <p:to>
                                        <p:strVal val="visible"/>
                                      </p:to>
                                    </p:set>
                                    <p:anim calcmode="lin" valueType="num">
                                      <p:cBhvr additive="base">
                                        <p:cTn id="61" dur="500" fill="hold"/>
                                        <p:tgtEl>
                                          <p:spTgt spid="27"/>
                                        </p:tgtEl>
                                        <p:attrNameLst>
                                          <p:attrName>ppt_x</p:attrName>
                                        </p:attrNameLst>
                                      </p:cBhvr>
                                      <p:tavLst>
                                        <p:tav tm="0">
                                          <p:val>
                                            <p:strVal val="#ppt_x"/>
                                          </p:val>
                                        </p:tav>
                                        <p:tav tm="100000">
                                          <p:val>
                                            <p:strVal val="#ppt_x"/>
                                          </p:val>
                                        </p:tav>
                                      </p:tavLst>
                                    </p:anim>
                                    <p:anim calcmode="lin" valueType="num">
                                      <p:cBhvr additive="base">
                                        <p:cTn id="62" dur="500" fill="hold"/>
                                        <p:tgtEl>
                                          <p:spTgt spid="27"/>
                                        </p:tgtEl>
                                        <p:attrNameLst>
                                          <p:attrName>ppt_y</p:attrName>
                                        </p:attrNameLst>
                                      </p:cBhvr>
                                      <p:tavLst>
                                        <p:tav tm="0">
                                          <p:val>
                                            <p:strVal val="#ppt_y+0.1"/>
                                          </p:val>
                                        </p:tav>
                                        <p:tav tm="100000">
                                          <p:val>
                                            <p:strVal val="#ppt_y"/>
                                          </p:val>
                                        </p:tav>
                                      </p:tavLst>
                                    </p:anim>
                                    <p:animEffect transition="in" filter="fade">
                                      <p:cBhvr>
                                        <p:cTn id="63" dur="500"/>
                                        <p:tgtEl>
                                          <p:spTgt spid="27"/>
                                        </p:tgtEl>
                                      </p:cBhvr>
                                    </p:animEffect>
                                  </p:childTnLst>
                                </p:cTn>
                              </p:par>
                            </p:childTnLst>
                          </p:cTn>
                        </p:par>
                      </p:childTnLst>
                    </p:cTn>
                  </p:par>
                  <p:par>
                    <p:cTn id="65" fill="hold">
                      <p:stCondLst>
                        <p:cond delay="indefinite"/>
                      </p:stCondLst>
                      <p:childTnLst>
                        <p:par>
                          <p:cTn id="66" fill="hold">
                            <p:stCondLst>
                              <p:cond delay="0"/>
                            </p:stCondLst>
                            <p:childTnLst>
                              <p:par>
                                <p:cTn id="69" presetID="10" presetClass="entr" presetSubtype="0" fill="hold" grpId="0" nodeType="click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500"/>
                                        <p:tgtEl>
                                          <p:spTgt spid="13"/>
                                        </p:tgtEl>
                                      </p:cBhvr>
                                    </p:animEffect>
                                  </p:childTnLst>
                                </p:cTn>
                              </p:par>
                              <p:par>
                                <p:cTn id="72" presetID="10" presetClass="entr" presetSubtype="0" fill="hold" grpId="0" nodeType="withEffect">
                                  <p:stCondLst>
                                    <p:cond delay="70"/>
                                  </p:stCondLst>
                                  <p:childTnLst>
                                    <p:set>
                                      <p:cBhvr>
                                        <p:cTn id="70" dur="1" fill="hold">
                                          <p:stCondLst>
                                            <p:cond delay="0"/>
                                          </p:stCondLst>
                                        </p:cTn>
                                        <p:tgtEl>
                                          <p:spTgt spid="16"/>
                                        </p:tgtEl>
                                        <p:attrNameLst>
                                          <p:attrName>style.visibility</p:attrName>
                                        </p:attrNameLst>
                                      </p:cBhvr>
                                      <p:to>
                                        <p:strVal val="visible"/>
                                      </p:to>
                                    </p:set>
                                    <p:animEffect transition="in" filter="fade">
                                      <p:cBhvr>
                                        <p:cTn id="71" dur="500"/>
                                        <p:tgtEl>
                                          <p:spTgt spid="16"/>
                                        </p:tgtEl>
                                      </p:cBhvr>
                                    </p:animEffect>
                                  </p:childTnLst>
                                </p:cTn>
                              </p:par>
                              <p:par>
                                <p:cTn id="75" presetID="10" presetClass="entr" presetSubtype="0" fill="hold" grpId="0" nodeType="withEffect">
                                  <p:stCondLst>
                                    <p:cond delay="14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childTnLst>
                                </p:cTn>
                              </p:par>
                              <p:par>
                                <p:cTn id="80" presetID="2" presetClass="entr" presetSubtype="4" fill="hold" grpId="0" nodeType="withEffect">
                                  <p:stCondLst>
                                    <p:cond delay="200"/>
                                  </p:stCondLst>
                                  <p:childTnLst>
                                    <p:set>
                                      <p:cBhvr>
                                        <p:cTn id="76" dur="1" fill="hold">
                                          <p:stCondLst>
                                            <p:cond delay="0"/>
                                          </p:stCondLst>
                                        </p:cTn>
                                        <p:tgtEl>
                                          <p:spTgt spid="28"/>
                                        </p:tgtEl>
                                        <p:attrNameLst>
                                          <p:attrName>style.visibility</p:attrName>
                                        </p:attrNameLst>
                                      </p:cBhvr>
                                      <p:to>
                                        <p:strVal val="visible"/>
                                      </p:to>
                                    </p:set>
                                    <p:anim calcmode="lin" valueType="num">
                                      <p:cBhvr additive="base">
                                        <p:cTn id="77" dur="500" fill="hold"/>
                                        <p:tgtEl>
                                          <p:spTgt spid="28"/>
                                        </p:tgtEl>
                                        <p:attrNameLst>
                                          <p:attrName>ppt_x</p:attrName>
                                        </p:attrNameLst>
                                      </p:cBhvr>
                                      <p:tavLst>
                                        <p:tav tm="0">
                                          <p:val>
                                            <p:strVal val="#ppt_x"/>
                                          </p:val>
                                        </p:tav>
                                        <p:tav tm="100000">
                                          <p:val>
                                            <p:strVal val="#ppt_x"/>
                                          </p:val>
                                        </p:tav>
                                      </p:tavLst>
                                    </p:anim>
                                    <p:anim calcmode="lin" valueType="num">
                                      <p:cBhvr additive="base">
                                        <p:cTn id="78" dur="500" fill="hold"/>
                                        <p:tgtEl>
                                          <p:spTgt spid="28"/>
                                        </p:tgtEl>
                                        <p:attrNameLst>
                                          <p:attrName>ppt_y</p:attrName>
                                        </p:attrNameLst>
                                      </p:cBhvr>
                                      <p:tavLst>
                                        <p:tav tm="0">
                                          <p:val>
                                            <p:strVal val="#ppt_y+0.1"/>
                                          </p:val>
                                        </p:tav>
                                        <p:tav tm="100000">
                                          <p:val>
                                            <p:strVal val="#ppt_y"/>
                                          </p:val>
                                        </p:tav>
                                      </p:tavLst>
                                    </p:anim>
                                    <p:animEffect transition="in" filter="fade">
                                      <p:cBhvr>
                                        <p:cTn id="79" dur="500"/>
                                        <p:tgtEl>
                                          <p:spTgt spid="28"/>
                                        </p:tgtEl>
                                      </p:cBhvr>
                                    </p:animEffect>
                                  </p:childTnLst>
                                </p:cTn>
                              </p:par>
                              <p:par>
                                <p:cTn id="83" presetID="10" presetClass="entr" presetSubtype="0" fill="hold" grpId="0" nodeType="withEffect">
                                  <p:stCondLst>
                                    <p:cond delay="21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00"/>
                                        <p:tgtEl>
                                          <p:spTgt spid="22"/>
                                        </p:tgtEl>
                                      </p:cBhvr>
                                    </p:animEffect>
                                  </p:childTnLst>
                                </p:cTn>
                              </p:par>
                              <p:par>
                                <p:cTn id="86" presetID="10" presetClass="entr" presetSubtype="0" fill="hold" grpId="0" nodeType="withEffect">
                                  <p:stCondLst>
                                    <p:cond delay="280"/>
                                  </p:stCondLst>
                                  <p:childTnLst>
                                    <p:set>
                                      <p:cBhvr>
                                        <p:cTn id="84" dur="1" fill="hold">
                                          <p:stCondLst>
                                            <p:cond delay="0"/>
                                          </p:stCondLst>
                                        </p:cTn>
                                        <p:tgtEl>
                                          <p:spTgt spid="25"/>
                                        </p:tgtEl>
                                        <p:attrNameLst>
                                          <p:attrName>style.visibility</p:attrName>
                                        </p:attrNameLst>
                                      </p:cBhvr>
                                      <p:to>
                                        <p:strVal val="visible"/>
                                      </p:to>
                                    </p:set>
                                    <p:animEffect transition="in" filter="fade">
                                      <p:cBhvr>
                                        <p:cTn id="85" dur="500"/>
                                        <p:tgtEl>
                                          <p:spTgt spid="25"/>
                                        </p:tgtEl>
                                      </p:cBhvr>
                                    </p:animEffect>
                                  </p:childTnLst>
                                </p:cTn>
                              </p:par>
                              <p:par>
                                <p:cTn id="91" presetID="2" presetClass="entr" presetSubtype="4" fill="hold" grpId="0" nodeType="withEffect">
                                  <p:stCondLst>
                                    <p:cond delay="300"/>
                                  </p:stCondLst>
                                  <p:childTnLst>
                                    <p:set>
                                      <p:cBhvr>
                                        <p:cTn id="87" dur="1" fill="hold">
                                          <p:stCondLst>
                                            <p:cond delay="0"/>
                                          </p:stCondLst>
                                        </p:cTn>
                                        <p:tgtEl>
                                          <p:spTgt spid="29"/>
                                        </p:tgtEl>
                                        <p:attrNameLst>
                                          <p:attrName>style.visibility</p:attrName>
                                        </p:attrNameLst>
                                      </p:cBhvr>
                                      <p:to>
                                        <p:strVal val="visible"/>
                                      </p:to>
                                    </p:set>
                                    <p:anim calcmode="lin" valueType="num">
                                      <p:cBhvr additive="base">
                                        <p:cTn id="88" dur="500" fill="hold"/>
                                        <p:tgtEl>
                                          <p:spTgt spid="29"/>
                                        </p:tgtEl>
                                        <p:attrNameLst>
                                          <p:attrName>ppt_x</p:attrName>
                                        </p:attrNameLst>
                                      </p:cBhvr>
                                      <p:tavLst>
                                        <p:tav tm="0">
                                          <p:val>
                                            <p:strVal val="#ppt_x"/>
                                          </p:val>
                                        </p:tav>
                                        <p:tav tm="100000">
                                          <p:val>
                                            <p:strVal val="#ppt_x"/>
                                          </p:val>
                                        </p:tav>
                                      </p:tavLst>
                                    </p:anim>
                                    <p:anim calcmode="lin" valueType="num">
                                      <p:cBhvr additive="base">
                                        <p:cTn id="89" dur="500" fill="hold"/>
                                        <p:tgtEl>
                                          <p:spTgt spid="29"/>
                                        </p:tgtEl>
                                        <p:attrNameLst>
                                          <p:attrName>ppt_y</p:attrName>
                                        </p:attrNameLst>
                                      </p:cBhvr>
                                      <p:tavLst>
                                        <p:tav tm="0">
                                          <p:val>
                                            <p:strVal val="#ppt_y+0.1"/>
                                          </p:val>
                                        </p:tav>
                                        <p:tav tm="100000">
                                          <p:val>
                                            <p:strVal val="#ppt_y"/>
                                          </p:val>
                                        </p:tav>
                                      </p:tavLst>
                                    </p:anim>
                                    <p:animEffect transition="in" filter="fade">
                                      <p:cBhvr>
                                        <p:cTn id="90" dur="500"/>
                                        <p:tgtEl>
                                          <p:spTgt spid="29"/>
                                        </p:tgtEl>
                                      </p:cBhvr>
                                    </p:animEffect>
                                  </p:childTnLst>
                                </p:cTn>
                              </p:par>
                              <p:par>
                                <p:cTn id="96" presetID="2" presetClass="entr" presetSubtype="4" fill="hold" grpId="0" nodeType="withEffect">
                                  <p:stCondLst>
                                    <p:cond delay="400"/>
                                  </p:stCondLst>
                                  <p:childTnLst>
                                    <p:set>
                                      <p:cBhvr>
                                        <p:cTn id="92" dur="1" fill="hold">
                                          <p:stCondLst>
                                            <p:cond delay="0"/>
                                          </p:stCondLst>
                                        </p:cTn>
                                        <p:tgtEl>
                                          <p:spTgt spid="30"/>
                                        </p:tgtEl>
                                        <p:attrNameLst>
                                          <p:attrName>style.visibility</p:attrName>
                                        </p:attrNameLst>
                                      </p:cBhvr>
                                      <p:to>
                                        <p:strVal val="visible"/>
                                      </p:to>
                                    </p:set>
                                    <p:anim calcmode="lin" valueType="num">
                                      <p:cBhvr additive="base">
                                        <p:cTn id="93" dur="500" fill="hold"/>
                                        <p:tgtEl>
                                          <p:spTgt spid="30"/>
                                        </p:tgtEl>
                                        <p:attrNameLst>
                                          <p:attrName>ppt_x</p:attrName>
                                        </p:attrNameLst>
                                      </p:cBhvr>
                                      <p:tavLst>
                                        <p:tav tm="0">
                                          <p:val>
                                            <p:strVal val="#ppt_x"/>
                                          </p:val>
                                        </p:tav>
                                        <p:tav tm="100000">
                                          <p:val>
                                            <p:strVal val="#ppt_x"/>
                                          </p:val>
                                        </p:tav>
                                      </p:tavLst>
                                    </p:anim>
                                    <p:anim calcmode="lin" valueType="num">
                                      <p:cBhvr additive="base">
                                        <p:cTn id="94" dur="500" fill="hold"/>
                                        <p:tgtEl>
                                          <p:spTgt spid="30"/>
                                        </p:tgtEl>
                                        <p:attrNameLst>
                                          <p:attrName>ppt_y</p:attrName>
                                        </p:attrNameLst>
                                      </p:cBhvr>
                                      <p:tavLst>
                                        <p:tav tm="0">
                                          <p:val>
                                            <p:strVal val="#ppt_y+0.1"/>
                                          </p:val>
                                        </p:tav>
                                        <p:tav tm="100000">
                                          <p:val>
                                            <p:strVal val="#ppt_y"/>
                                          </p:val>
                                        </p:tav>
                                      </p:tavLst>
                                    </p:anim>
                                    <p:animEffect transition="in" filter="fade">
                                      <p:cBhvr>
                                        <p:cTn id="95" dur="500"/>
                                        <p:tgtEl>
                                          <p:spTgt spid="30"/>
                                        </p:tgtEl>
                                      </p:cBhvr>
                                    </p:animEffect>
                                  </p:childTnLst>
                                </p:cTn>
                              </p:par>
                              <p:par>
                                <p:cTn id="101" presetID="2" presetClass="entr" presetSubtype="4" fill="hold" grpId="0" nodeType="withEffect">
                                  <p:stCondLst>
                                    <p:cond delay="500"/>
                                  </p:stCondLst>
                                  <p:childTnLst>
                                    <p:set>
                                      <p:cBhvr>
                                        <p:cTn id="97" dur="1" fill="hold">
                                          <p:stCondLst>
                                            <p:cond delay="0"/>
                                          </p:stCondLst>
                                        </p:cTn>
                                        <p:tgtEl>
                                          <p:spTgt spid="31"/>
                                        </p:tgtEl>
                                        <p:attrNameLst>
                                          <p:attrName>style.visibility</p:attrName>
                                        </p:attrNameLst>
                                      </p:cBhvr>
                                      <p:to>
                                        <p:strVal val="visible"/>
                                      </p:to>
                                    </p:set>
                                    <p:anim calcmode="lin" valueType="num">
                                      <p:cBhvr additive="base">
                                        <p:cTn id="98" dur="500" fill="hold"/>
                                        <p:tgtEl>
                                          <p:spTgt spid="31"/>
                                        </p:tgtEl>
                                        <p:attrNameLst>
                                          <p:attrName>ppt_x</p:attrName>
                                        </p:attrNameLst>
                                      </p:cBhvr>
                                      <p:tavLst>
                                        <p:tav tm="0">
                                          <p:val>
                                            <p:strVal val="#ppt_x"/>
                                          </p:val>
                                        </p:tav>
                                        <p:tav tm="100000">
                                          <p:val>
                                            <p:strVal val="#ppt_x"/>
                                          </p:val>
                                        </p:tav>
                                      </p:tavLst>
                                    </p:anim>
                                    <p:anim calcmode="lin" valueType="num">
                                      <p:cBhvr additive="base">
                                        <p:cTn id="99" dur="500" fill="hold"/>
                                        <p:tgtEl>
                                          <p:spTgt spid="31"/>
                                        </p:tgtEl>
                                        <p:attrNameLst>
                                          <p:attrName>ppt_y</p:attrName>
                                        </p:attrNameLst>
                                      </p:cBhvr>
                                      <p:tavLst>
                                        <p:tav tm="0">
                                          <p:val>
                                            <p:strVal val="#ppt_y+0.1"/>
                                          </p:val>
                                        </p:tav>
                                        <p:tav tm="100000">
                                          <p:val>
                                            <p:strVal val="#ppt_y"/>
                                          </p:val>
                                        </p:tav>
                                      </p:tavLst>
                                    </p:anim>
                                    <p:animEffect transition="in" filter="fade">
                                      <p:cBhvr>
                                        <p:cTn id="100" dur="500"/>
                                        <p:tgtEl>
                                          <p:spTgt spid="31"/>
                                        </p:tgtEl>
                                      </p:cBhvr>
                                    </p:animEffect>
                                  </p:childTnLst>
                                </p:cTn>
                              </p:par>
                              <p:par>
                                <p:cTn id="106" presetID="2" presetClass="entr" presetSubtype="4" fill="hold" grpId="0" nodeType="withEffect">
                                  <p:stCondLst>
                                    <p:cond delay="600"/>
                                  </p:stCondLst>
                                  <p:childTnLst>
                                    <p:set>
                                      <p:cBhvr>
                                        <p:cTn id="102" dur="1" fill="hold">
                                          <p:stCondLst>
                                            <p:cond delay="0"/>
                                          </p:stCondLst>
                                        </p:cTn>
                                        <p:tgtEl>
                                          <p:spTgt spid="32"/>
                                        </p:tgtEl>
                                        <p:attrNameLst>
                                          <p:attrName>style.visibility</p:attrName>
                                        </p:attrNameLst>
                                      </p:cBhvr>
                                      <p:to>
                                        <p:strVal val="visible"/>
                                      </p:to>
                                    </p:set>
                                    <p:anim calcmode="lin" valueType="num">
                                      <p:cBhvr additive="base">
                                        <p:cTn id="103" dur="500" fill="hold"/>
                                        <p:tgtEl>
                                          <p:spTgt spid="32"/>
                                        </p:tgtEl>
                                        <p:attrNameLst>
                                          <p:attrName>ppt_x</p:attrName>
                                        </p:attrNameLst>
                                      </p:cBhvr>
                                      <p:tavLst>
                                        <p:tav tm="0">
                                          <p:val>
                                            <p:strVal val="#ppt_x"/>
                                          </p:val>
                                        </p:tav>
                                        <p:tav tm="100000">
                                          <p:val>
                                            <p:strVal val="#ppt_x"/>
                                          </p:val>
                                        </p:tav>
                                      </p:tavLst>
                                    </p:anim>
                                    <p:anim calcmode="lin" valueType="num">
                                      <p:cBhvr additive="base">
                                        <p:cTn id="104" dur="500" fill="hold"/>
                                        <p:tgtEl>
                                          <p:spTgt spid="32"/>
                                        </p:tgtEl>
                                        <p:attrNameLst>
                                          <p:attrName>ppt_y</p:attrName>
                                        </p:attrNameLst>
                                      </p:cBhvr>
                                      <p:tavLst>
                                        <p:tav tm="0">
                                          <p:val>
                                            <p:strVal val="#ppt_y+0.1"/>
                                          </p:val>
                                        </p:tav>
                                        <p:tav tm="100000">
                                          <p:val>
                                            <p:strVal val="#ppt_y"/>
                                          </p:val>
                                        </p:tav>
                                      </p:tavLst>
                                    </p:anim>
                                    <p:animEffect transition="in" filter="fade">
                                      <p:cBhvr>
                                        <p:cTn id="105" dur="500"/>
                                        <p:tgtEl>
                                          <p:spTgt spid="32"/>
                                        </p:tgtEl>
                                      </p:cBhvr>
                                    </p:animEffect>
                                  </p:childTnLst>
                                </p:cTn>
                              </p:par>
                            </p:childTnLst>
                          </p:cTn>
                        </p:par>
                      </p:childTnLst>
                    </p:cTn>
                  </p:par>
                  <p:par>
                    <p:cTn id="107" fill="hold">
                      <p:stCondLst>
                        <p:cond delay="indefinite"/>
                      </p:stCondLst>
                      <p:childTnLst>
                        <p:par>
                          <p:cTn id="108" fill="hold">
                            <p:stCondLst>
                              <p:cond delay="0"/>
                            </p:stCondLst>
                            <p:childTnLst>
                              <p:par>
                                <p:cTn id="113" presetID="2" presetClass="entr" presetSubtype="4" fill="hold" grpId="0" nodeType="clickEffect">
                                  <p:stCondLst>
                                    <p:cond delay="0"/>
                                  </p:stCondLst>
                                  <p:childTnLst>
                                    <p:set>
                                      <p:cBhvr>
                                        <p:cTn id="109" dur="1" fill="hold">
                                          <p:stCondLst>
                                            <p:cond delay="0"/>
                                          </p:stCondLst>
                                        </p:cTn>
                                        <p:tgtEl>
                                          <p:spTgt spid="33"/>
                                        </p:tgtEl>
                                        <p:attrNameLst>
                                          <p:attrName>style.visibility</p:attrName>
                                        </p:attrNameLst>
                                      </p:cBhvr>
                                      <p:to>
                                        <p:strVal val="visible"/>
                                      </p:to>
                                    </p:set>
                                    <p:anim calcmode="lin" valueType="num">
                                      <p:cBhvr additive="base">
                                        <p:cTn id="110" dur="500" fill="hold"/>
                                        <p:tgtEl>
                                          <p:spTgt spid="33"/>
                                        </p:tgtEl>
                                        <p:attrNameLst>
                                          <p:attrName>ppt_x</p:attrName>
                                        </p:attrNameLst>
                                      </p:cBhvr>
                                      <p:tavLst>
                                        <p:tav tm="0">
                                          <p:val>
                                            <p:strVal val="#ppt_x"/>
                                          </p:val>
                                        </p:tav>
                                        <p:tav tm="100000">
                                          <p:val>
                                            <p:strVal val="#ppt_x"/>
                                          </p:val>
                                        </p:tav>
                                      </p:tavLst>
                                    </p:anim>
                                    <p:anim calcmode="lin" valueType="num">
                                      <p:cBhvr additive="base">
                                        <p:cTn id="111" dur="500" fill="hold"/>
                                        <p:tgtEl>
                                          <p:spTgt spid="33"/>
                                        </p:tgtEl>
                                        <p:attrNameLst>
                                          <p:attrName>ppt_y</p:attrName>
                                        </p:attrNameLst>
                                      </p:cBhvr>
                                      <p:tavLst>
                                        <p:tav tm="0">
                                          <p:val>
                                            <p:strVal val="#ppt_y+0.1"/>
                                          </p:val>
                                        </p:tav>
                                        <p:tav tm="100000">
                                          <p:val>
                                            <p:strVal val="#ppt_y"/>
                                          </p:val>
                                        </p:tav>
                                      </p:tavLst>
                                    </p:anim>
                                    <p:animEffect transition="in" filter="fade">
                                      <p:cBhvr>
                                        <p:cTn id="112" dur="500"/>
                                        <p:tgtEl>
                                          <p:spTgt spid="33"/>
                                        </p:tgtEl>
                                      </p:cBhvr>
                                    </p:animEffect>
                                  </p:childTnLst>
                                </p:cTn>
                              </p:par>
                              <p:par>
                                <p:cTn id="118" presetID="2" presetClass="entr" presetSubtype="4" fill="hold" grpId="0" nodeType="withEffect">
                                  <p:stCondLst>
                                    <p:cond delay="0"/>
                                  </p:stCondLst>
                                  <p:childTnLst>
                                    <p:set>
                                      <p:cBhvr>
                                        <p:cTn id="114" dur="1" fill="hold">
                                          <p:stCondLst>
                                            <p:cond delay="0"/>
                                          </p:stCondLst>
                                        </p:cTn>
                                        <p:tgtEl>
                                          <p:spTgt spid="34"/>
                                        </p:tgtEl>
                                        <p:attrNameLst>
                                          <p:attrName>style.visibility</p:attrName>
                                        </p:attrNameLst>
                                      </p:cBhvr>
                                      <p:to>
                                        <p:strVal val="visible"/>
                                      </p:to>
                                    </p:set>
                                    <p:anim calcmode="lin" valueType="num">
                                      <p:cBhvr additive="base">
                                        <p:cTn id="115" dur="500" fill="hold"/>
                                        <p:tgtEl>
                                          <p:spTgt spid="34"/>
                                        </p:tgtEl>
                                        <p:attrNameLst>
                                          <p:attrName>ppt_x</p:attrName>
                                        </p:attrNameLst>
                                      </p:cBhvr>
                                      <p:tavLst>
                                        <p:tav tm="0">
                                          <p:val>
                                            <p:strVal val="#ppt_x"/>
                                          </p:val>
                                        </p:tav>
                                        <p:tav tm="100000">
                                          <p:val>
                                            <p:strVal val="#ppt_x"/>
                                          </p:val>
                                        </p:tav>
                                      </p:tavLst>
                                    </p:anim>
                                    <p:anim calcmode="lin" valueType="num">
                                      <p:cBhvr additive="base">
                                        <p:cTn id="116" dur="500" fill="hold"/>
                                        <p:tgtEl>
                                          <p:spTgt spid="34"/>
                                        </p:tgtEl>
                                        <p:attrNameLst>
                                          <p:attrName>ppt_y</p:attrName>
                                        </p:attrNameLst>
                                      </p:cBhvr>
                                      <p:tavLst>
                                        <p:tav tm="0">
                                          <p:val>
                                            <p:strVal val="#ppt_y+0.1"/>
                                          </p:val>
                                        </p:tav>
                                        <p:tav tm="100000">
                                          <p:val>
                                            <p:strVal val="#ppt_y"/>
                                          </p:val>
                                        </p:tav>
                                      </p:tavLst>
                                    </p:anim>
                                    <p:animEffect transition="in" filter="fade">
                                      <p:cBhvr>
                                        <p:cTn id="117" dur="500"/>
                                        <p:tgtEl>
                                          <p:spTgt spid="34"/>
                                        </p:tgtEl>
                                      </p:cBhvr>
                                    </p:animEffect>
                                  </p:childTnLst>
                                </p:cTn>
                              </p:par>
                              <p:par>
                                <p:cTn id="121" presetID="10" presetClass="entr" presetSubtype="0" fill="hold" grpId="0" nodeType="withEffect">
                                  <p:stCondLst>
                                    <p:cond delay="0"/>
                                  </p:stCondLst>
                                  <p:childTnLst>
                                    <p:set>
                                      <p:cBhvr>
                                        <p:cTn id="119" dur="1" fill="hold">
                                          <p:stCondLst>
                                            <p:cond delay="0"/>
                                          </p:stCondLst>
                                        </p:cTn>
                                        <p:tgtEl>
                                          <p:spTgt spid="35"/>
                                        </p:tgtEl>
                                        <p:attrNameLst>
                                          <p:attrName>style.visibility</p:attrName>
                                        </p:attrNameLst>
                                      </p:cBhvr>
                                      <p:to>
                                        <p:strVal val="visible"/>
                                      </p:to>
                                    </p:set>
                                    <p:animEffect transition="in" filter="fade">
                                      <p:cBhvr>
                                        <p:cTn id="120" dur="500"/>
                                        <p:tgtEl>
                                          <p:spTgt spid="35"/>
                                        </p:tgtEl>
                                      </p:cBhvr>
                                    </p:animEffect>
                                  </p:childTnLst>
                                </p:cTn>
                              </p:par>
                              <p:par>
                                <p:cTn id="126" presetID="2" presetClass="entr" presetSubtype="4" fill="hold" grpId="0" nodeType="withEffect">
                                  <p:stCondLst>
                                    <p:cond delay="70"/>
                                  </p:stCondLst>
                                  <p:childTnLst>
                                    <p:set>
                                      <p:cBhvr>
                                        <p:cTn id="122" dur="1" fill="hold">
                                          <p:stCondLst>
                                            <p:cond delay="0"/>
                                          </p:stCondLst>
                                        </p:cTn>
                                        <p:tgtEl>
                                          <p:spTgt spid="36"/>
                                        </p:tgtEl>
                                        <p:attrNameLst>
                                          <p:attrName>style.visibility</p:attrName>
                                        </p:attrNameLst>
                                      </p:cBhvr>
                                      <p:to>
                                        <p:strVal val="visible"/>
                                      </p:to>
                                    </p:set>
                                    <p:anim calcmode="lin" valueType="num">
                                      <p:cBhvr additive="base">
                                        <p:cTn id="123" dur="500" fill="hold"/>
                                        <p:tgtEl>
                                          <p:spTgt spid="36"/>
                                        </p:tgtEl>
                                        <p:attrNameLst>
                                          <p:attrName>ppt_x</p:attrName>
                                        </p:attrNameLst>
                                      </p:cBhvr>
                                      <p:tavLst>
                                        <p:tav tm="0">
                                          <p:val>
                                            <p:strVal val="#ppt_x"/>
                                          </p:val>
                                        </p:tav>
                                        <p:tav tm="100000">
                                          <p:val>
                                            <p:strVal val="#ppt_x"/>
                                          </p:val>
                                        </p:tav>
                                      </p:tavLst>
                                    </p:anim>
                                    <p:anim calcmode="lin" valueType="num">
                                      <p:cBhvr additive="base">
                                        <p:cTn id="124" dur="500" fill="hold"/>
                                        <p:tgtEl>
                                          <p:spTgt spid="36"/>
                                        </p:tgtEl>
                                        <p:attrNameLst>
                                          <p:attrName>ppt_y</p:attrName>
                                        </p:attrNameLst>
                                      </p:cBhvr>
                                      <p:tavLst>
                                        <p:tav tm="0">
                                          <p:val>
                                            <p:strVal val="#ppt_y+0.1"/>
                                          </p:val>
                                        </p:tav>
                                        <p:tav tm="100000">
                                          <p:val>
                                            <p:strVal val="#ppt_y"/>
                                          </p:val>
                                        </p:tav>
                                      </p:tavLst>
                                    </p:anim>
                                    <p:animEffect transition="in" filter="fade">
                                      <p:cBhvr>
                                        <p:cTn id="125" dur="500"/>
                                        <p:tgtEl>
                                          <p:spTgt spid="36"/>
                                        </p:tgtEl>
                                      </p:cBhvr>
                                    </p:animEffect>
                                  </p:childTnLst>
                                </p:cTn>
                              </p:par>
                              <p:par>
                                <p:cTn id="131" presetID="2" presetClass="entr" presetSubtype="4" fill="hold" grpId="0" nodeType="withEffect">
                                  <p:stCondLst>
                                    <p:cond delay="70"/>
                                  </p:stCondLst>
                                  <p:childTnLst>
                                    <p:set>
                                      <p:cBhvr>
                                        <p:cTn id="127" dur="1" fill="hold">
                                          <p:stCondLst>
                                            <p:cond delay="0"/>
                                          </p:stCondLst>
                                        </p:cTn>
                                        <p:tgtEl>
                                          <p:spTgt spid="37"/>
                                        </p:tgtEl>
                                        <p:attrNameLst>
                                          <p:attrName>style.visibility</p:attrName>
                                        </p:attrNameLst>
                                      </p:cBhvr>
                                      <p:to>
                                        <p:strVal val="visible"/>
                                      </p:to>
                                    </p:set>
                                    <p:anim calcmode="lin" valueType="num">
                                      <p:cBhvr additive="base">
                                        <p:cTn id="128" dur="500" fill="hold"/>
                                        <p:tgtEl>
                                          <p:spTgt spid="37"/>
                                        </p:tgtEl>
                                        <p:attrNameLst>
                                          <p:attrName>ppt_x</p:attrName>
                                        </p:attrNameLst>
                                      </p:cBhvr>
                                      <p:tavLst>
                                        <p:tav tm="0">
                                          <p:val>
                                            <p:strVal val="#ppt_x"/>
                                          </p:val>
                                        </p:tav>
                                        <p:tav tm="100000">
                                          <p:val>
                                            <p:strVal val="#ppt_x"/>
                                          </p:val>
                                        </p:tav>
                                      </p:tavLst>
                                    </p:anim>
                                    <p:anim calcmode="lin" valueType="num">
                                      <p:cBhvr additive="base">
                                        <p:cTn id="129" dur="500" fill="hold"/>
                                        <p:tgtEl>
                                          <p:spTgt spid="37"/>
                                        </p:tgtEl>
                                        <p:attrNameLst>
                                          <p:attrName>ppt_y</p:attrName>
                                        </p:attrNameLst>
                                      </p:cBhvr>
                                      <p:tavLst>
                                        <p:tav tm="0">
                                          <p:val>
                                            <p:strVal val="#ppt_y+0.1"/>
                                          </p:val>
                                        </p:tav>
                                        <p:tav tm="100000">
                                          <p:val>
                                            <p:strVal val="#ppt_y"/>
                                          </p:val>
                                        </p:tav>
                                      </p:tavLst>
                                    </p:anim>
                                    <p:animEffect transition="in" filter="fade">
                                      <p:cBhvr>
                                        <p:cTn id="130" dur="500"/>
                                        <p:tgtEl>
                                          <p:spTgt spid="37"/>
                                        </p:tgtEl>
                                      </p:cBhvr>
                                    </p:animEffect>
                                  </p:childTnLst>
                                </p:cTn>
                              </p:par>
                              <p:par>
                                <p:cTn id="134" presetID="10" presetClass="entr" presetSubtype="0" fill="hold" grpId="0" nodeType="withEffect">
                                  <p:stCondLst>
                                    <p:cond delay="70"/>
                                  </p:stCondLst>
                                  <p:childTnLst>
                                    <p:set>
                                      <p:cBhvr>
                                        <p:cTn id="132" dur="1" fill="hold">
                                          <p:stCondLst>
                                            <p:cond delay="0"/>
                                          </p:stCondLst>
                                        </p:cTn>
                                        <p:tgtEl>
                                          <p:spTgt spid="38"/>
                                        </p:tgtEl>
                                        <p:attrNameLst>
                                          <p:attrName>style.visibility</p:attrName>
                                        </p:attrNameLst>
                                      </p:cBhvr>
                                      <p:to>
                                        <p:strVal val="visible"/>
                                      </p:to>
                                    </p:set>
                                    <p:animEffect transition="in" filter="fade">
                                      <p:cBhvr>
                                        <p:cTn id="133" dur="500"/>
                                        <p:tgtEl>
                                          <p:spTgt spid="38"/>
                                        </p:tgtEl>
                                      </p:cBhvr>
                                    </p:animEffect>
                                  </p:childTnLst>
                                </p:cTn>
                              </p:par>
                              <p:par>
                                <p:cTn id="139" presetID="2" presetClass="entr" presetSubtype="4" fill="hold" grpId="0" nodeType="withEffect">
                                  <p:stCondLst>
                                    <p:cond delay="140"/>
                                  </p:stCondLst>
                                  <p:childTnLst>
                                    <p:set>
                                      <p:cBhvr>
                                        <p:cTn id="135" dur="1" fill="hold">
                                          <p:stCondLst>
                                            <p:cond delay="0"/>
                                          </p:stCondLst>
                                        </p:cTn>
                                        <p:tgtEl>
                                          <p:spTgt spid="39"/>
                                        </p:tgtEl>
                                        <p:attrNameLst>
                                          <p:attrName>style.visibility</p:attrName>
                                        </p:attrNameLst>
                                      </p:cBhvr>
                                      <p:to>
                                        <p:strVal val="visible"/>
                                      </p:to>
                                    </p:set>
                                    <p:anim calcmode="lin" valueType="num">
                                      <p:cBhvr additive="base">
                                        <p:cTn id="136" dur="500" fill="hold"/>
                                        <p:tgtEl>
                                          <p:spTgt spid="39"/>
                                        </p:tgtEl>
                                        <p:attrNameLst>
                                          <p:attrName>ppt_x</p:attrName>
                                        </p:attrNameLst>
                                      </p:cBhvr>
                                      <p:tavLst>
                                        <p:tav tm="0">
                                          <p:val>
                                            <p:strVal val="#ppt_x"/>
                                          </p:val>
                                        </p:tav>
                                        <p:tav tm="100000">
                                          <p:val>
                                            <p:strVal val="#ppt_x"/>
                                          </p:val>
                                        </p:tav>
                                      </p:tavLst>
                                    </p:anim>
                                    <p:anim calcmode="lin" valueType="num">
                                      <p:cBhvr additive="base">
                                        <p:cTn id="137" dur="500" fill="hold"/>
                                        <p:tgtEl>
                                          <p:spTgt spid="39"/>
                                        </p:tgtEl>
                                        <p:attrNameLst>
                                          <p:attrName>ppt_y</p:attrName>
                                        </p:attrNameLst>
                                      </p:cBhvr>
                                      <p:tavLst>
                                        <p:tav tm="0">
                                          <p:val>
                                            <p:strVal val="#ppt_y+0.1"/>
                                          </p:val>
                                        </p:tav>
                                        <p:tav tm="100000">
                                          <p:val>
                                            <p:strVal val="#ppt_y"/>
                                          </p:val>
                                        </p:tav>
                                      </p:tavLst>
                                    </p:anim>
                                    <p:animEffect transition="in" filter="fade">
                                      <p:cBhvr>
                                        <p:cTn id="138" dur="500"/>
                                        <p:tgtEl>
                                          <p:spTgt spid="39"/>
                                        </p:tgtEl>
                                      </p:cBhvr>
                                    </p:animEffect>
                                  </p:childTnLst>
                                </p:cTn>
                              </p:par>
                              <p:par>
                                <p:cTn id="144" presetID="2" presetClass="entr" presetSubtype="4" fill="hold" grpId="0" nodeType="withEffect">
                                  <p:stCondLst>
                                    <p:cond delay="140"/>
                                  </p:stCondLst>
                                  <p:childTnLst>
                                    <p:set>
                                      <p:cBhvr>
                                        <p:cTn id="140" dur="1" fill="hold">
                                          <p:stCondLst>
                                            <p:cond delay="0"/>
                                          </p:stCondLst>
                                        </p:cTn>
                                        <p:tgtEl>
                                          <p:spTgt spid="40"/>
                                        </p:tgtEl>
                                        <p:attrNameLst>
                                          <p:attrName>style.visibility</p:attrName>
                                        </p:attrNameLst>
                                      </p:cBhvr>
                                      <p:to>
                                        <p:strVal val="visible"/>
                                      </p:to>
                                    </p:set>
                                    <p:anim calcmode="lin" valueType="num">
                                      <p:cBhvr additive="base">
                                        <p:cTn id="141" dur="500" fill="hold"/>
                                        <p:tgtEl>
                                          <p:spTgt spid="40"/>
                                        </p:tgtEl>
                                        <p:attrNameLst>
                                          <p:attrName>ppt_x</p:attrName>
                                        </p:attrNameLst>
                                      </p:cBhvr>
                                      <p:tavLst>
                                        <p:tav tm="0">
                                          <p:val>
                                            <p:strVal val="#ppt_x"/>
                                          </p:val>
                                        </p:tav>
                                        <p:tav tm="100000">
                                          <p:val>
                                            <p:strVal val="#ppt_x"/>
                                          </p:val>
                                        </p:tav>
                                      </p:tavLst>
                                    </p:anim>
                                    <p:anim calcmode="lin" valueType="num">
                                      <p:cBhvr additive="base">
                                        <p:cTn id="142" dur="500" fill="hold"/>
                                        <p:tgtEl>
                                          <p:spTgt spid="40"/>
                                        </p:tgtEl>
                                        <p:attrNameLst>
                                          <p:attrName>ppt_y</p:attrName>
                                        </p:attrNameLst>
                                      </p:cBhvr>
                                      <p:tavLst>
                                        <p:tav tm="0">
                                          <p:val>
                                            <p:strVal val="#ppt_y+0.1"/>
                                          </p:val>
                                        </p:tav>
                                        <p:tav tm="100000">
                                          <p:val>
                                            <p:strVal val="#ppt_y"/>
                                          </p:val>
                                        </p:tav>
                                      </p:tavLst>
                                    </p:anim>
                                    <p:animEffect transition="in" filter="fade">
                                      <p:cBhvr>
                                        <p:cTn id="143" dur="500"/>
                                        <p:tgtEl>
                                          <p:spTgt spid="40"/>
                                        </p:tgtEl>
                                      </p:cBhvr>
                                    </p:animEffect>
                                  </p:childTnLst>
                                </p:cTn>
                              </p:par>
                              <p:par>
                                <p:cTn id="147" presetID="10" presetClass="entr" presetSubtype="0" fill="hold" grpId="0" nodeType="withEffect">
                                  <p:stCondLst>
                                    <p:cond delay="140"/>
                                  </p:stCondLst>
                                  <p:childTnLst>
                                    <p:set>
                                      <p:cBhvr>
                                        <p:cTn id="145" dur="1" fill="hold">
                                          <p:stCondLst>
                                            <p:cond delay="0"/>
                                          </p:stCondLst>
                                        </p:cTn>
                                        <p:tgtEl>
                                          <p:spTgt spid="41"/>
                                        </p:tgtEl>
                                        <p:attrNameLst>
                                          <p:attrName>style.visibility</p:attrName>
                                        </p:attrNameLst>
                                      </p:cBhvr>
                                      <p:to>
                                        <p:strVal val="visible"/>
                                      </p:to>
                                    </p:set>
                                    <p:animEffect transition="in" filter="fade">
                                      <p:cBhvr>
                                        <p:cTn id="146" dur="500"/>
                                        <p:tgtEl>
                                          <p:spTgt spid="41"/>
                                        </p:tgtEl>
                                      </p:cBhvr>
                                    </p:animEffect>
                                  </p:childTnLst>
                                </p:cTn>
                              </p:par>
                              <p:par>
                                <p:cTn id="152" presetID="2" presetClass="entr" presetSubtype="4" fill="hold" grpId="0" nodeType="withEffect">
                                  <p:stCondLst>
                                    <p:cond delay="210"/>
                                  </p:stCondLst>
                                  <p:childTnLst>
                                    <p:set>
                                      <p:cBhvr>
                                        <p:cTn id="148" dur="1" fill="hold">
                                          <p:stCondLst>
                                            <p:cond delay="0"/>
                                          </p:stCondLst>
                                        </p:cTn>
                                        <p:tgtEl>
                                          <p:spTgt spid="42"/>
                                        </p:tgtEl>
                                        <p:attrNameLst>
                                          <p:attrName>style.visibility</p:attrName>
                                        </p:attrNameLst>
                                      </p:cBhvr>
                                      <p:to>
                                        <p:strVal val="visible"/>
                                      </p:to>
                                    </p:set>
                                    <p:anim calcmode="lin" valueType="num">
                                      <p:cBhvr additive="base">
                                        <p:cTn id="149" dur="500" fill="hold"/>
                                        <p:tgtEl>
                                          <p:spTgt spid="42"/>
                                        </p:tgtEl>
                                        <p:attrNameLst>
                                          <p:attrName>ppt_x</p:attrName>
                                        </p:attrNameLst>
                                      </p:cBhvr>
                                      <p:tavLst>
                                        <p:tav tm="0">
                                          <p:val>
                                            <p:strVal val="#ppt_x"/>
                                          </p:val>
                                        </p:tav>
                                        <p:tav tm="100000">
                                          <p:val>
                                            <p:strVal val="#ppt_x"/>
                                          </p:val>
                                        </p:tav>
                                      </p:tavLst>
                                    </p:anim>
                                    <p:anim calcmode="lin" valueType="num">
                                      <p:cBhvr additive="base">
                                        <p:cTn id="150" dur="500" fill="hold"/>
                                        <p:tgtEl>
                                          <p:spTgt spid="42"/>
                                        </p:tgtEl>
                                        <p:attrNameLst>
                                          <p:attrName>ppt_y</p:attrName>
                                        </p:attrNameLst>
                                      </p:cBhvr>
                                      <p:tavLst>
                                        <p:tav tm="0">
                                          <p:val>
                                            <p:strVal val="#ppt_y+0.1"/>
                                          </p:val>
                                        </p:tav>
                                        <p:tav tm="100000">
                                          <p:val>
                                            <p:strVal val="#ppt_y"/>
                                          </p:val>
                                        </p:tav>
                                      </p:tavLst>
                                    </p:anim>
                                    <p:animEffect transition="in" filter="fade">
                                      <p:cBhvr>
                                        <p:cTn id="151" dur="500"/>
                                        <p:tgtEl>
                                          <p:spTgt spid="42"/>
                                        </p:tgtEl>
                                      </p:cBhvr>
                                    </p:animEffect>
                                  </p:childTnLst>
                                </p:cTn>
                              </p:par>
                              <p:par>
                                <p:cTn id="157" presetID="2" presetClass="entr" presetSubtype="4" fill="hold" grpId="0" nodeType="withEffect">
                                  <p:stCondLst>
                                    <p:cond delay="210"/>
                                  </p:stCondLst>
                                  <p:childTnLst>
                                    <p:set>
                                      <p:cBhvr>
                                        <p:cTn id="153" dur="1" fill="hold">
                                          <p:stCondLst>
                                            <p:cond delay="0"/>
                                          </p:stCondLst>
                                        </p:cTn>
                                        <p:tgtEl>
                                          <p:spTgt spid="43"/>
                                        </p:tgtEl>
                                        <p:attrNameLst>
                                          <p:attrName>style.visibility</p:attrName>
                                        </p:attrNameLst>
                                      </p:cBhvr>
                                      <p:to>
                                        <p:strVal val="visible"/>
                                      </p:to>
                                    </p:set>
                                    <p:anim calcmode="lin" valueType="num">
                                      <p:cBhvr additive="base">
                                        <p:cTn id="154" dur="500" fill="hold"/>
                                        <p:tgtEl>
                                          <p:spTgt spid="43"/>
                                        </p:tgtEl>
                                        <p:attrNameLst>
                                          <p:attrName>ppt_x</p:attrName>
                                        </p:attrNameLst>
                                      </p:cBhvr>
                                      <p:tavLst>
                                        <p:tav tm="0">
                                          <p:val>
                                            <p:strVal val="#ppt_x"/>
                                          </p:val>
                                        </p:tav>
                                        <p:tav tm="100000">
                                          <p:val>
                                            <p:strVal val="#ppt_x"/>
                                          </p:val>
                                        </p:tav>
                                      </p:tavLst>
                                    </p:anim>
                                    <p:anim calcmode="lin" valueType="num">
                                      <p:cBhvr additive="base">
                                        <p:cTn id="155" dur="500" fill="hold"/>
                                        <p:tgtEl>
                                          <p:spTgt spid="43"/>
                                        </p:tgtEl>
                                        <p:attrNameLst>
                                          <p:attrName>ppt_y</p:attrName>
                                        </p:attrNameLst>
                                      </p:cBhvr>
                                      <p:tavLst>
                                        <p:tav tm="0">
                                          <p:val>
                                            <p:strVal val="#ppt_y+0.1"/>
                                          </p:val>
                                        </p:tav>
                                        <p:tav tm="100000">
                                          <p:val>
                                            <p:strVal val="#ppt_y"/>
                                          </p:val>
                                        </p:tav>
                                      </p:tavLst>
                                    </p:anim>
                                    <p:animEffect transition="in" filter="fade">
                                      <p:cBhvr>
                                        <p:cTn id="156" dur="500"/>
                                        <p:tgtEl>
                                          <p:spTgt spid="43"/>
                                        </p:tgtEl>
                                      </p:cBhvr>
                                    </p:animEffect>
                                  </p:childTnLst>
                                </p:cTn>
                              </p:par>
                              <p:par>
                                <p:cTn id="160" presetID="10" presetClass="entr" presetSubtype="0" fill="hold" grpId="0" nodeType="withEffect">
                                  <p:stCondLst>
                                    <p:cond delay="210"/>
                                  </p:stCondLst>
                                  <p:childTnLst>
                                    <p:set>
                                      <p:cBhvr>
                                        <p:cTn id="158" dur="1" fill="hold">
                                          <p:stCondLst>
                                            <p:cond delay="0"/>
                                          </p:stCondLst>
                                        </p:cTn>
                                        <p:tgtEl>
                                          <p:spTgt spid="44"/>
                                        </p:tgtEl>
                                        <p:attrNameLst>
                                          <p:attrName>style.visibility</p:attrName>
                                        </p:attrNameLst>
                                      </p:cBhvr>
                                      <p:to>
                                        <p:strVal val="visible"/>
                                      </p:to>
                                    </p:set>
                                    <p:animEffect transition="in" filter="fade">
                                      <p:cBhvr>
                                        <p:cTn id="159" dur="500"/>
                                        <p:tgtEl>
                                          <p:spTgt spid="44"/>
                                        </p:tgtEl>
                                      </p:cBhvr>
                                    </p:animEffect>
                                  </p:childTnLst>
                                </p:cTn>
                              </p:par>
                              <p:par>
                                <p:cTn id="165" presetID="2" presetClass="entr" presetSubtype="4" fill="hold" grpId="0" nodeType="withEffect">
                                  <p:stCondLst>
                                    <p:cond delay="280"/>
                                  </p:stCondLst>
                                  <p:childTnLst>
                                    <p:set>
                                      <p:cBhvr>
                                        <p:cTn id="161" dur="1" fill="hold">
                                          <p:stCondLst>
                                            <p:cond delay="0"/>
                                          </p:stCondLst>
                                        </p:cTn>
                                        <p:tgtEl>
                                          <p:spTgt spid="45"/>
                                        </p:tgtEl>
                                        <p:attrNameLst>
                                          <p:attrName>style.visibility</p:attrName>
                                        </p:attrNameLst>
                                      </p:cBhvr>
                                      <p:to>
                                        <p:strVal val="visible"/>
                                      </p:to>
                                    </p:set>
                                    <p:anim calcmode="lin" valueType="num">
                                      <p:cBhvr additive="base">
                                        <p:cTn id="162" dur="500" fill="hold"/>
                                        <p:tgtEl>
                                          <p:spTgt spid="45"/>
                                        </p:tgtEl>
                                        <p:attrNameLst>
                                          <p:attrName>ppt_x</p:attrName>
                                        </p:attrNameLst>
                                      </p:cBhvr>
                                      <p:tavLst>
                                        <p:tav tm="0">
                                          <p:val>
                                            <p:strVal val="#ppt_x"/>
                                          </p:val>
                                        </p:tav>
                                        <p:tav tm="100000">
                                          <p:val>
                                            <p:strVal val="#ppt_x"/>
                                          </p:val>
                                        </p:tav>
                                      </p:tavLst>
                                    </p:anim>
                                    <p:anim calcmode="lin" valueType="num">
                                      <p:cBhvr additive="base">
                                        <p:cTn id="163" dur="500" fill="hold"/>
                                        <p:tgtEl>
                                          <p:spTgt spid="45"/>
                                        </p:tgtEl>
                                        <p:attrNameLst>
                                          <p:attrName>ppt_y</p:attrName>
                                        </p:attrNameLst>
                                      </p:cBhvr>
                                      <p:tavLst>
                                        <p:tav tm="0">
                                          <p:val>
                                            <p:strVal val="#ppt_y+0.1"/>
                                          </p:val>
                                        </p:tav>
                                        <p:tav tm="100000">
                                          <p:val>
                                            <p:strVal val="#ppt_y"/>
                                          </p:val>
                                        </p:tav>
                                      </p:tavLst>
                                    </p:anim>
                                    <p:animEffect transition="in" filter="fade">
                                      <p:cBhvr>
                                        <p:cTn id="164" dur="500"/>
                                        <p:tgtEl>
                                          <p:spTgt spid="45"/>
                                        </p:tgtEl>
                                      </p:cBhvr>
                                    </p:animEffect>
                                  </p:childTnLst>
                                </p:cTn>
                              </p:par>
                              <p:par>
                                <p:cTn id="170" presetID="2" presetClass="entr" presetSubtype="4" fill="hold" grpId="0" nodeType="withEffect">
                                  <p:stCondLst>
                                    <p:cond delay="280"/>
                                  </p:stCondLst>
                                  <p:childTnLst>
                                    <p:set>
                                      <p:cBhvr>
                                        <p:cTn id="166" dur="1" fill="hold">
                                          <p:stCondLst>
                                            <p:cond delay="0"/>
                                          </p:stCondLst>
                                        </p:cTn>
                                        <p:tgtEl>
                                          <p:spTgt spid="46"/>
                                        </p:tgtEl>
                                        <p:attrNameLst>
                                          <p:attrName>style.visibility</p:attrName>
                                        </p:attrNameLst>
                                      </p:cBhvr>
                                      <p:to>
                                        <p:strVal val="visible"/>
                                      </p:to>
                                    </p:set>
                                    <p:anim calcmode="lin" valueType="num">
                                      <p:cBhvr additive="base">
                                        <p:cTn id="167" dur="500" fill="hold"/>
                                        <p:tgtEl>
                                          <p:spTgt spid="46"/>
                                        </p:tgtEl>
                                        <p:attrNameLst>
                                          <p:attrName>ppt_x</p:attrName>
                                        </p:attrNameLst>
                                      </p:cBhvr>
                                      <p:tavLst>
                                        <p:tav tm="0">
                                          <p:val>
                                            <p:strVal val="#ppt_x"/>
                                          </p:val>
                                        </p:tav>
                                        <p:tav tm="100000">
                                          <p:val>
                                            <p:strVal val="#ppt_x"/>
                                          </p:val>
                                        </p:tav>
                                      </p:tavLst>
                                    </p:anim>
                                    <p:anim calcmode="lin" valueType="num">
                                      <p:cBhvr additive="base">
                                        <p:cTn id="168" dur="500" fill="hold"/>
                                        <p:tgtEl>
                                          <p:spTgt spid="46"/>
                                        </p:tgtEl>
                                        <p:attrNameLst>
                                          <p:attrName>ppt_y</p:attrName>
                                        </p:attrNameLst>
                                      </p:cBhvr>
                                      <p:tavLst>
                                        <p:tav tm="0">
                                          <p:val>
                                            <p:strVal val="#ppt_y+0.1"/>
                                          </p:val>
                                        </p:tav>
                                        <p:tav tm="100000">
                                          <p:val>
                                            <p:strVal val="#ppt_y"/>
                                          </p:val>
                                        </p:tav>
                                      </p:tavLst>
                                    </p:anim>
                                    <p:animEffect transition="in" filter="fade">
                                      <p:cBhvr>
                                        <p:cTn id="169" dur="500"/>
                                        <p:tgtEl>
                                          <p:spTgt spid="46"/>
                                        </p:tgtEl>
                                      </p:cBhvr>
                                    </p:animEffect>
                                  </p:childTnLst>
                                </p:cTn>
                              </p:par>
                              <p:par>
                                <p:cTn id="173" presetID="10" presetClass="entr" presetSubtype="0" fill="hold" grpId="0" nodeType="withEffect">
                                  <p:stCondLst>
                                    <p:cond delay="280"/>
                                  </p:stCondLst>
                                  <p:childTnLst>
                                    <p:set>
                                      <p:cBhvr>
                                        <p:cTn id="171" dur="1" fill="hold">
                                          <p:stCondLst>
                                            <p:cond delay="0"/>
                                          </p:stCondLst>
                                        </p:cTn>
                                        <p:tgtEl>
                                          <p:spTgt spid="47"/>
                                        </p:tgtEl>
                                        <p:attrNameLst>
                                          <p:attrName>style.visibility</p:attrName>
                                        </p:attrNameLst>
                                      </p:cBhvr>
                                      <p:to>
                                        <p:strVal val="visible"/>
                                      </p:to>
                                    </p:set>
                                    <p:animEffect transition="in" filter="fade">
                                      <p:cBhvr>
                                        <p:cTn id="172" dur="500"/>
                                        <p:tgtEl>
                                          <p:spTgt spid="47"/>
                                        </p:tgtEl>
                                      </p:cBhvr>
                                    </p:animEffect>
                                  </p:childTnLst>
                                </p:cTn>
                              </p:par>
                            </p:childTnLst>
                          </p:cTn>
                        </p:par>
                      </p:childTnLst>
                    </p:cTn>
                  </p:par>
                  <p:par>
                    <p:cTn id="174" fill="hold">
                      <p:stCondLst>
                        <p:cond delay="indefinite"/>
                      </p:stCondLst>
                      <p:childTnLst>
                        <p:par>
                          <p:cTn id="175" fill="hold">
                            <p:stCondLst>
                              <p:cond delay="0"/>
                            </p:stCondLst>
                            <p:childTnLst>
                              <p:par>
                                <p:cTn id="180" presetID="2" presetClass="entr" presetSubtype="4" fill="hold" grpId="0" nodeType="clickEffect">
                                  <p:stCondLst>
                                    <p:cond delay="0"/>
                                  </p:stCondLst>
                                  <p:childTnLst>
                                    <p:set>
                                      <p:cBhvr>
                                        <p:cTn id="176" dur="1" fill="hold">
                                          <p:stCondLst>
                                            <p:cond delay="0"/>
                                          </p:stCondLst>
                                        </p:cTn>
                                        <p:tgtEl>
                                          <p:spTgt spid="48"/>
                                        </p:tgtEl>
                                        <p:attrNameLst>
                                          <p:attrName>style.visibility</p:attrName>
                                        </p:attrNameLst>
                                      </p:cBhvr>
                                      <p:to>
                                        <p:strVal val="visible"/>
                                      </p:to>
                                    </p:set>
                                    <p:anim calcmode="lin" valueType="num">
                                      <p:cBhvr additive="base">
                                        <p:cTn id="177" dur="500" fill="hold"/>
                                        <p:tgtEl>
                                          <p:spTgt spid="48"/>
                                        </p:tgtEl>
                                        <p:attrNameLst>
                                          <p:attrName>ppt_x</p:attrName>
                                        </p:attrNameLst>
                                      </p:cBhvr>
                                      <p:tavLst>
                                        <p:tav tm="0">
                                          <p:val>
                                            <p:strVal val="#ppt_x"/>
                                          </p:val>
                                        </p:tav>
                                        <p:tav tm="100000">
                                          <p:val>
                                            <p:strVal val="#ppt_x"/>
                                          </p:val>
                                        </p:tav>
                                      </p:tavLst>
                                    </p:anim>
                                    <p:anim calcmode="lin" valueType="num">
                                      <p:cBhvr additive="base">
                                        <p:cTn id="178" dur="500" fill="hold"/>
                                        <p:tgtEl>
                                          <p:spTgt spid="48"/>
                                        </p:tgtEl>
                                        <p:attrNameLst>
                                          <p:attrName>ppt_y</p:attrName>
                                        </p:attrNameLst>
                                      </p:cBhvr>
                                      <p:tavLst>
                                        <p:tav tm="0">
                                          <p:val>
                                            <p:strVal val="#ppt_y+0.1"/>
                                          </p:val>
                                        </p:tav>
                                        <p:tav tm="100000">
                                          <p:val>
                                            <p:strVal val="#ppt_y"/>
                                          </p:val>
                                        </p:tav>
                                      </p:tavLst>
                                    </p:anim>
                                    <p:animEffect transition="in" filter="fade">
                                      <p:cBhvr>
                                        <p:cTn id="179" dur="500"/>
                                        <p:tgtEl>
                                          <p:spTgt spid="48"/>
                                        </p:tgtEl>
                                      </p:cBhvr>
                                    </p:animEffect>
                                  </p:childTnLst>
                                </p:cTn>
                              </p:par>
                              <p:par>
                                <p:cTn id="185" presetID="2" presetClass="entr" presetSubtype="4" fill="hold" grpId="0" nodeType="withEffect">
                                  <p:stCondLst>
                                    <p:cond delay="0"/>
                                  </p:stCondLst>
                                  <p:childTnLst>
                                    <p:set>
                                      <p:cBhvr>
                                        <p:cTn id="181" dur="1" fill="hold">
                                          <p:stCondLst>
                                            <p:cond delay="0"/>
                                          </p:stCondLst>
                                        </p:cTn>
                                        <p:tgtEl>
                                          <p:spTgt spid="49"/>
                                        </p:tgtEl>
                                        <p:attrNameLst>
                                          <p:attrName>style.visibility</p:attrName>
                                        </p:attrNameLst>
                                      </p:cBhvr>
                                      <p:to>
                                        <p:strVal val="visible"/>
                                      </p:to>
                                    </p:set>
                                    <p:anim calcmode="lin" valueType="num">
                                      <p:cBhvr additive="base">
                                        <p:cTn id="182" dur="500" fill="hold"/>
                                        <p:tgtEl>
                                          <p:spTgt spid="49"/>
                                        </p:tgtEl>
                                        <p:attrNameLst>
                                          <p:attrName>ppt_x</p:attrName>
                                        </p:attrNameLst>
                                      </p:cBhvr>
                                      <p:tavLst>
                                        <p:tav tm="0">
                                          <p:val>
                                            <p:strVal val="#ppt_x"/>
                                          </p:val>
                                        </p:tav>
                                        <p:tav tm="100000">
                                          <p:val>
                                            <p:strVal val="#ppt_x"/>
                                          </p:val>
                                        </p:tav>
                                      </p:tavLst>
                                    </p:anim>
                                    <p:anim calcmode="lin" valueType="num">
                                      <p:cBhvr additive="base">
                                        <p:cTn id="183" dur="500" fill="hold"/>
                                        <p:tgtEl>
                                          <p:spTgt spid="49"/>
                                        </p:tgtEl>
                                        <p:attrNameLst>
                                          <p:attrName>ppt_y</p:attrName>
                                        </p:attrNameLst>
                                      </p:cBhvr>
                                      <p:tavLst>
                                        <p:tav tm="0">
                                          <p:val>
                                            <p:strVal val="#ppt_y+0.1"/>
                                          </p:val>
                                        </p:tav>
                                        <p:tav tm="100000">
                                          <p:val>
                                            <p:strVal val="#ppt_y"/>
                                          </p:val>
                                        </p:tav>
                                      </p:tavLst>
                                    </p:anim>
                                    <p:animEffect transition="in" filter="fade">
                                      <p:cBhvr>
                                        <p:cTn id="184" dur="500"/>
                                        <p:tgtEl>
                                          <p:spTgt spid="49"/>
                                        </p:tgtEl>
                                      </p:cBhvr>
                                    </p:animEffect>
                                  </p:childTnLst>
                                </p:cTn>
                              </p:par>
                              <p:par>
                                <p:cTn id="190" presetID="2" presetClass="entr" presetSubtype="4" fill="hold" grpId="0" nodeType="withEffect">
                                  <p:stCondLst>
                                    <p:cond delay="0"/>
                                  </p:stCondLst>
                                  <p:childTnLst>
                                    <p:set>
                                      <p:cBhvr>
                                        <p:cTn id="186" dur="1" fill="hold">
                                          <p:stCondLst>
                                            <p:cond delay="0"/>
                                          </p:stCondLst>
                                        </p:cTn>
                                        <p:tgtEl>
                                          <p:spTgt spid="50"/>
                                        </p:tgtEl>
                                        <p:attrNameLst>
                                          <p:attrName>style.visibility</p:attrName>
                                        </p:attrNameLst>
                                      </p:cBhvr>
                                      <p:to>
                                        <p:strVal val="visible"/>
                                      </p:to>
                                    </p:set>
                                    <p:anim calcmode="lin" valueType="num">
                                      <p:cBhvr additive="base">
                                        <p:cTn id="187" dur="500" fill="hold"/>
                                        <p:tgtEl>
                                          <p:spTgt spid="50"/>
                                        </p:tgtEl>
                                        <p:attrNameLst>
                                          <p:attrName>ppt_x</p:attrName>
                                        </p:attrNameLst>
                                      </p:cBhvr>
                                      <p:tavLst>
                                        <p:tav tm="0">
                                          <p:val>
                                            <p:strVal val="#ppt_x"/>
                                          </p:val>
                                        </p:tav>
                                        <p:tav tm="100000">
                                          <p:val>
                                            <p:strVal val="#ppt_x"/>
                                          </p:val>
                                        </p:tav>
                                      </p:tavLst>
                                    </p:anim>
                                    <p:anim calcmode="lin" valueType="num">
                                      <p:cBhvr additive="base">
                                        <p:cTn id="188" dur="500" fill="hold"/>
                                        <p:tgtEl>
                                          <p:spTgt spid="50"/>
                                        </p:tgtEl>
                                        <p:attrNameLst>
                                          <p:attrName>ppt_y</p:attrName>
                                        </p:attrNameLst>
                                      </p:cBhvr>
                                      <p:tavLst>
                                        <p:tav tm="0">
                                          <p:val>
                                            <p:strVal val="#ppt_y+0.1"/>
                                          </p:val>
                                        </p:tav>
                                        <p:tav tm="100000">
                                          <p:val>
                                            <p:strVal val="#ppt_y"/>
                                          </p:val>
                                        </p:tav>
                                      </p:tavLst>
                                    </p:anim>
                                    <p:animEffect transition="in" filter="fade">
                                      <p:cBhvr>
                                        <p:cTn id="189"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Kafka Through the Years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From a LinkedIn project to the backbone of modern data systems</a:t>
            </a:r>
          </a:p>
        </p:txBody>
      </p:sp>
      <p:cxnSp>
        <p:nvCxnSpPr>
          <p:cNvPr id="11" name="a1f_ln10"/>
          <p:cNvCxnSpPr/>
          <p:nvPr/>
        </p:nvCxnSpPr>
        <p:spPr>
          <a:xfrm>
            <a:off x="502920" y="2395728"/>
            <a:ext cx="8138160" cy="0"/>
          </a:xfrm>
          <a:prstGeom prst="line">
            <a:avLst/>
          </a:prstGeom>
          <a:ln w="25400">
            <a:solidFill>
              <a:srgbClr val="E7E5E0"/>
            </a:solidFill>
          </a:ln>
        </p:spPr>
        <p:style>
          <a:lnRef idx="2">
            <a:schemeClr val="accent1"/>
          </a:lnRef>
          <a:fillRef idx="0">
            <a:schemeClr val="accent1"/>
          </a:fillRef>
          <a:effectRef idx="1">
            <a:schemeClr val="accent1"/>
          </a:effectRef>
          <a:fontRef idx="minor">
            <a:schemeClr val="tx1"/>
          </a:fontRef>
        </p:style>
      </p:cxnSp>
      <p:sp>
        <p:nvSpPr>
          <p:cNvPr id="12" name="a1u_dot11"/>
          <p:cNvSpPr/>
          <p:nvPr/>
        </p:nvSpPr>
        <p:spPr>
          <a:xfrm>
            <a:off x="786384" y="2313432"/>
            <a:ext cx="164592" cy="16459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3" name="a1u_wr12"/>
          <p:cNvCxnSpPr/>
          <p:nvPr/>
        </p:nvCxnSpPr>
        <p:spPr>
          <a:xfrm flipV="1">
            <a:off x="868680" y="2157984"/>
            <a:ext cx="0" cy="128016"/>
          </a:xfrm>
          <a:prstGeom prst="line">
            <a:avLst/>
          </a:prstGeom>
          <a:ln w="12700">
            <a:solidFill>
              <a:srgbClr val="EA580C"/>
            </a:solidFill>
          </a:ln>
        </p:spPr>
        <p:style>
          <a:lnRef idx="2">
            <a:schemeClr val="accent1"/>
          </a:lnRef>
          <a:fillRef idx="0">
            <a:schemeClr val="accent1"/>
          </a:fillRef>
          <a:effectRef idx="1">
            <a:schemeClr val="accent1"/>
          </a:effectRef>
          <a:fontRef idx="minor">
            <a:schemeClr val="tx1"/>
          </a:fontRef>
        </p:style>
      </p:cxnSp>
      <p:sp>
        <p:nvSpPr>
          <p:cNvPr id="14" name="a1u_yr13"/>
          <p:cNvSpPr txBox="1"/>
          <p:nvPr/>
        </p:nvSpPr>
        <p:spPr>
          <a:xfrm>
            <a:off x="457200" y="1371600"/>
            <a:ext cx="1645920" cy="256032"/>
          </a:xfrm>
          <a:prstGeom prst="rect">
            <a:avLst/>
          </a:prstGeom>
          <a:noFill/>
        </p:spPr>
        <p:txBody>
          <a:bodyPr wrap="square" lIns="0" tIns="0" rIns="0" bIns="0" anchor="ctr">
            <a:spAutoFit/>
          </a:bodyPr>
          <a:lstStyle/>
          <a:p>
            <a:pPr algn="ctr"/>
            <a:r>
              <a:rPr sz="1050" b="1">
                <a:solidFill>
                  <a:srgbClr val="EA580C"/>
                </a:solidFill>
                <a:latin typeface="Segoe UI"/>
              </a:rPr>
              <a:t>2010</a:t>
            </a:r>
          </a:p>
        </p:txBody>
      </p:sp>
      <p:sp>
        <p:nvSpPr>
          <p:cNvPr id="15" name="a1u_nm14"/>
          <p:cNvSpPr txBox="1"/>
          <p:nvPr/>
        </p:nvSpPr>
        <p:spPr>
          <a:xfrm>
            <a:off x="457200" y="1627632"/>
            <a:ext cx="1645920" cy="237744"/>
          </a:xfrm>
          <a:prstGeom prst="rect">
            <a:avLst/>
          </a:prstGeom>
          <a:noFill/>
        </p:spPr>
        <p:txBody>
          <a:bodyPr wrap="square" lIns="0" tIns="0" rIns="0" bIns="0" anchor="ctr">
            <a:spAutoFit/>
          </a:bodyPr>
          <a:lstStyle/>
          <a:p>
            <a:pPr algn="ctr"/>
            <a:r>
              <a:rPr sz="850" b="1">
                <a:solidFill>
                  <a:srgbClr val="1C1917"/>
                </a:solidFill>
                <a:latin typeface="Segoe UI"/>
              </a:rPr>
              <a:t>Born at LinkedIn</a:t>
            </a:r>
          </a:p>
        </p:txBody>
      </p:sp>
      <p:sp>
        <p:nvSpPr>
          <p:cNvPr id="16" name="a1u_ds15"/>
          <p:cNvSpPr txBox="1"/>
          <p:nvPr/>
        </p:nvSpPr>
        <p:spPr>
          <a:xfrm>
            <a:off x="521208" y="1856232"/>
            <a:ext cx="1517904" cy="365760"/>
          </a:xfrm>
          <a:prstGeom prst="rect">
            <a:avLst/>
          </a:prstGeom>
          <a:noFill/>
        </p:spPr>
        <p:txBody>
          <a:bodyPr wrap="square" lIns="0" tIns="0" rIns="0" bIns="0" anchor="t">
            <a:spAutoFit/>
          </a:bodyPr>
          <a:lstStyle/>
          <a:p>
            <a:pPr algn="ctr"/>
            <a:r>
              <a:rPr sz="800" b="0">
                <a:solidFill>
                  <a:srgbClr val="78716C"/>
                </a:solidFill>
                <a:latin typeface="Segoe UI"/>
              </a:rPr>
              <a:t>Jay Kreps, Neha Narkhede, Jun Rao</a:t>
            </a:r>
          </a:p>
        </p:txBody>
      </p:sp>
      <p:sp>
        <p:nvSpPr>
          <p:cNvPr id="17" name="a1ud120_dot16"/>
          <p:cNvSpPr/>
          <p:nvPr/>
        </p:nvSpPr>
        <p:spPr>
          <a:xfrm>
            <a:off x="1712214" y="2313432"/>
            <a:ext cx="164592" cy="16459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8" name="a1ud120_wr17"/>
          <p:cNvCxnSpPr/>
          <p:nvPr/>
        </p:nvCxnSpPr>
        <p:spPr>
          <a:xfrm>
            <a:off x="1794510" y="2505456"/>
            <a:ext cx="0" cy="109728"/>
          </a:xfrm>
          <a:prstGeom prst="line">
            <a:avLst/>
          </a:prstGeom>
          <a:ln w="12700">
            <a:solidFill>
              <a:srgbClr val="EA580C"/>
            </a:solidFill>
          </a:ln>
        </p:spPr>
        <p:style>
          <a:lnRef idx="2">
            <a:schemeClr val="accent1"/>
          </a:lnRef>
          <a:fillRef idx="0">
            <a:schemeClr val="accent1"/>
          </a:fillRef>
          <a:effectRef idx="1">
            <a:schemeClr val="accent1"/>
          </a:effectRef>
          <a:fontRef idx="minor">
            <a:schemeClr val="tx1"/>
          </a:fontRef>
        </p:style>
      </p:cxnSp>
      <p:sp>
        <p:nvSpPr>
          <p:cNvPr id="19" name="a1ud120_yr18"/>
          <p:cNvSpPr txBox="1"/>
          <p:nvPr/>
        </p:nvSpPr>
        <p:spPr>
          <a:xfrm>
            <a:off x="971550" y="2615184"/>
            <a:ext cx="1645920" cy="256032"/>
          </a:xfrm>
          <a:prstGeom prst="rect">
            <a:avLst/>
          </a:prstGeom>
          <a:noFill/>
        </p:spPr>
        <p:txBody>
          <a:bodyPr wrap="square" lIns="0" tIns="0" rIns="0" bIns="0" anchor="ctr">
            <a:spAutoFit/>
          </a:bodyPr>
          <a:lstStyle/>
          <a:p>
            <a:pPr algn="ctr"/>
            <a:r>
              <a:rPr sz="1050" b="1">
                <a:solidFill>
                  <a:srgbClr val="EA580C"/>
                </a:solidFill>
                <a:latin typeface="Segoe UI"/>
              </a:rPr>
              <a:t>2011</a:t>
            </a:r>
          </a:p>
        </p:txBody>
      </p:sp>
      <p:sp>
        <p:nvSpPr>
          <p:cNvPr id="20" name="a1ud120_nm19"/>
          <p:cNvSpPr txBox="1"/>
          <p:nvPr/>
        </p:nvSpPr>
        <p:spPr>
          <a:xfrm>
            <a:off x="971550" y="2871216"/>
            <a:ext cx="1645920" cy="237744"/>
          </a:xfrm>
          <a:prstGeom prst="rect">
            <a:avLst/>
          </a:prstGeom>
          <a:noFill/>
        </p:spPr>
        <p:txBody>
          <a:bodyPr wrap="square" lIns="0" tIns="0" rIns="0" bIns="0" anchor="ctr">
            <a:spAutoFit/>
          </a:bodyPr>
          <a:lstStyle/>
          <a:p>
            <a:pPr algn="ctr"/>
            <a:r>
              <a:rPr sz="850" b="1">
                <a:solidFill>
                  <a:srgbClr val="1C1917"/>
                </a:solidFill>
                <a:latin typeface="Segoe UI"/>
              </a:rPr>
              <a:t>Open source</a:t>
            </a:r>
          </a:p>
        </p:txBody>
      </p:sp>
      <p:sp>
        <p:nvSpPr>
          <p:cNvPr id="21" name="a1ud120_ds20"/>
          <p:cNvSpPr txBox="1"/>
          <p:nvPr/>
        </p:nvSpPr>
        <p:spPr>
          <a:xfrm>
            <a:off x="1035558" y="3099816"/>
            <a:ext cx="1517904" cy="365760"/>
          </a:xfrm>
          <a:prstGeom prst="rect">
            <a:avLst/>
          </a:prstGeom>
          <a:noFill/>
        </p:spPr>
        <p:txBody>
          <a:bodyPr wrap="square" lIns="0" tIns="0" rIns="0" bIns="0" anchor="t">
            <a:spAutoFit/>
          </a:bodyPr>
          <a:lstStyle/>
          <a:p>
            <a:pPr algn="ctr"/>
            <a:r>
              <a:rPr sz="800" b="0">
                <a:solidFill>
                  <a:srgbClr val="78716C"/>
                </a:solidFill>
                <a:latin typeface="Segoe UI"/>
              </a:rPr>
              <a:t>and the first Kafka paper</a:t>
            </a:r>
          </a:p>
        </p:txBody>
      </p:sp>
      <p:sp>
        <p:nvSpPr>
          <p:cNvPr id="22" name="a1ud240_dot21"/>
          <p:cNvSpPr/>
          <p:nvPr/>
        </p:nvSpPr>
        <p:spPr>
          <a:xfrm>
            <a:off x="2638044" y="2313432"/>
            <a:ext cx="164592" cy="164592"/>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3" name="a1ud240_wr22"/>
          <p:cNvCxnSpPr/>
          <p:nvPr/>
        </p:nvCxnSpPr>
        <p:spPr>
          <a:xfrm flipV="1">
            <a:off x="2720340" y="2157984"/>
            <a:ext cx="0" cy="128016"/>
          </a:xfrm>
          <a:prstGeom prst="line">
            <a:avLst/>
          </a:prstGeom>
          <a:ln w="12700">
            <a:solidFill>
              <a:srgbClr val="0E7490"/>
            </a:solidFill>
          </a:ln>
        </p:spPr>
        <p:style>
          <a:lnRef idx="2">
            <a:schemeClr val="accent1"/>
          </a:lnRef>
          <a:fillRef idx="0">
            <a:schemeClr val="accent1"/>
          </a:fillRef>
          <a:effectRef idx="1">
            <a:schemeClr val="accent1"/>
          </a:effectRef>
          <a:fontRef idx="minor">
            <a:schemeClr val="tx1"/>
          </a:fontRef>
        </p:style>
      </p:cxnSp>
      <p:sp>
        <p:nvSpPr>
          <p:cNvPr id="24" name="a1ud240_yr23"/>
          <p:cNvSpPr txBox="1"/>
          <p:nvPr/>
        </p:nvSpPr>
        <p:spPr>
          <a:xfrm>
            <a:off x="1897380" y="1371600"/>
            <a:ext cx="1645920" cy="256032"/>
          </a:xfrm>
          <a:prstGeom prst="rect">
            <a:avLst/>
          </a:prstGeom>
          <a:noFill/>
        </p:spPr>
        <p:txBody>
          <a:bodyPr wrap="square" lIns="0" tIns="0" rIns="0" bIns="0" anchor="ctr">
            <a:spAutoFit/>
          </a:bodyPr>
          <a:lstStyle/>
          <a:p>
            <a:pPr algn="ctr"/>
            <a:r>
              <a:rPr sz="1050" b="1">
                <a:solidFill>
                  <a:srgbClr val="0E7490"/>
                </a:solidFill>
                <a:latin typeface="Segoe UI"/>
              </a:rPr>
              <a:t>2012</a:t>
            </a:r>
          </a:p>
        </p:txBody>
      </p:sp>
      <p:sp>
        <p:nvSpPr>
          <p:cNvPr id="25" name="a1ud240_nm24"/>
          <p:cNvSpPr txBox="1"/>
          <p:nvPr/>
        </p:nvSpPr>
        <p:spPr>
          <a:xfrm>
            <a:off x="1897380" y="1627632"/>
            <a:ext cx="1645920" cy="237744"/>
          </a:xfrm>
          <a:prstGeom prst="rect">
            <a:avLst/>
          </a:prstGeom>
          <a:noFill/>
        </p:spPr>
        <p:txBody>
          <a:bodyPr wrap="square" lIns="0" tIns="0" rIns="0" bIns="0" anchor="ctr">
            <a:spAutoFit/>
          </a:bodyPr>
          <a:lstStyle/>
          <a:p>
            <a:pPr algn="ctr"/>
            <a:r>
              <a:rPr sz="850" b="1">
                <a:solidFill>
                  <a:srgbClr val="1C1917"/>
                </a:solidFill>
                <a:latin typeface="Segoe UI"/>
              </a:rPr>
              <a:t>Apache top-level</a:t>
            </a:r>
          </a:p>
        </p:txBody>
      </p:sp>
      <p:sp>
        <p:nvSpPr>
          <p:cNvPr id="26" name="a1ud240_ds25"/>
          <p:cNvSpPr txBox="1"/>
          <p:nvPr/>
        </p:nvSpPr>
        <p:spPr>
          <a:xfrm>
            <a:off x="1961388" y="1856232"/>
            <a:ext cx="1517904" cy="365760"/>
          </a:xfrm>
          <a:prstGeom prst="rect">
            <a:avLst/>
          </a:prstGeom>
          <a:noFill/>
        </p:spPr>
        <p:txBody>
          <a:bodyPr wrap="square" lIns="0" tIns="0" rIns="0" bIns="0" anchor="t">
            <a:spAutoFit/>
          </a:bodyPr>
          <a:lstStyle/>
          <a:p>
            <a:pPr algn="ctr"/>
            <a:r>
              <a:rPr sz="800" b="0">
                <a:solidFill>
                  <a:srgbClr val="78716C"/>
                </a:solidFill>
                <a:latin typeface="Segoe UI"/>
              </a:rPr>
              <a:t>a full Apache project</a:t>
            </a:r>
          </a:p>
        </p:txBody>
      </p:sp>
      <p:sp>
        <p:nvSpPr>
          <p:cNvPr id="27" name="a2u_dot26"/>
          <p:cNvSpPr/>
          <p:nvPr/>
        </p:nvSpPr>
        <p:spPr>
          <a:xfrm>
            <a:off x="3563874" y="2313432"/>
            <a:ext cx="164592" cy="164592"/>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8" name="a2u_wr27"/>
          <p:cNvCxnSpPr/>
          <p:nvPr/>
        </p:nvCxnSpPr>
        <p:spPr>
          <a:xfrm>
            <a:off x="3646170" y="2505456"/>
            <a:ext cx="0" cy="109728"/>
          </a:xfrm>
          <a:prstGeom prst="line">
            <a:avLst/>
          </a:prstGeom>
          <a:ln w="12700">
            <a:solidFill>
              <a:srgbClr val="0E7490"/>
            </a:solidFill>
          </a:ln>
        </p:spPr>
        <p:style>
          <a:lnRef idx="2">
            <a:schemeClr val="accent1"/>
          </a:lnRef>
          <a:fillRef idx="0">
            <a:schemeClr val="accent1"/>
          </a:fillRef>
          <a:effectRef idx="1">
            <a:schemeClr val="accent1"/>
          </a:effectRef>
          <a:fontRef idx="minor">
            <a:schemeClr val="tx1"/>
          </a:fontRef>
        </p:style>
      </p:cxnSp>
      <p:sp>
        <p:nvSpPr>
          <p:cNvPr id="29" name="a2u_yr28"/>
          <p:cNvSpPr txBox="1"/>
          <p:nvPr/>
        </p:nvSpPr>
        <p:spPr>
          <a:xfrm>
            <a:off x="2823210" y="2615184"/>
            <a:ext cx="1645920" cy="256032"/>
          </a:xfrm>
          <a:prstGeom prst="rect">
            <a:avLst/>
          </a:prstGeom>
          <a:noFill/>
        </p:spPr>
        <p:txBody>
          <a:bodyPr wrap="square" lIns="0" tIns="0" rIns="0" bIns="0" anchor="ctr">
            <a:spAutoFit/>
          </a:bodyPr>
          <a:lstStyle/>
          <a:p>
            <a:pPr algn="ctr"/>
            <a:r>
              <a:rPr sz="1050" b="1">
                <a:solidFill>
                  <a:srgbClr val="0E7490"/>
                </a:solidFill>
                <a:latin typeface="Segoe UI"/>
              </a:rPr>
              <a:t>2014</a:t>
            </a:r>
          </a:p>
        </p:txBody>
      </p:sp>
      <p:sp>
        <p:nvSpPr>
          <p:cNvPr id="30" name="a2u_nm29"/>
          <p:cNvSpPr txBox="1"/>
          <p:nvPr/>
        </p:nvSpPr>
        <p:spPr>
          <a:xfrm>
            <a:off x="2823210" y="2871216"/>
            <a:ext cx="1645920" cy="237744"/>
          </a:xfrm>
          <a:prstGeom prst="rect">
            <a:avLst/>
          </a:prstGeom>
          <a:noFill/>
        </p:spPr>
        <p:txBody>
          <a:bodyPr wrap="square" lIns="0" tIns="0" rIns="0" bIns="0" anchor="ctr">
            <a:spAutoFit/>
          </a:bodyPr>
          <a:lstStyle/>
          <a:p>
            <a:pPr algn="ctr"/>
            <a:r>
              <a:rPr sz="850" b="1">
                <a:solidFill>
                  <a:srgbClr val="1C1917"/>
                </a:solidFill>
                <a:latin typeface="Segoe UI"/>
              </a:rPr>
              <a:t>Confluent</a:t>
            </a:r>
          </a:p>
        </p:txBody>
      </p:sp>
      <p:sp>
        <p:nvSpPr>
          <p:cNvPr id="31" name="a2u_ds30"/>
          <p:cNvSpPr txBox="1"/>
          <p:nvPr/>
        </p:nvSpPr>
        <p:spPr>
          <a:xfrm>
            <a:off x="2887218" y="3099816"/>
            <a:ext cx="1517904" cy="365760"/>
          </a:xfrm>
          <a:prstGeom prst="rect">
            <a:avLst/>
          </a:prstGeom>
          <a:noFill/>
        </p:spPr>
        <p:txBody>
          <a:bodyPr wrap="square" lIns="0" tIns="0" rIns="0" bIns="0" anchor="t">
            <a:spAutoFit/>
          </a:bodyPr>
          <a:lstStyle/>
          <a:p>
            <a:pPr algn="ctr"/>
            <a:r>
              <a:rPr sz="800" b="0">
                <a:solidFill>
                  <a:srgbClr val="78716C"/>
                </a:solidFill>
                <a:latin typeface="Segoe UI"/>
              </a:rPr>
              <a:t>founded by Kafka's creators</a:t>
            </a:r>
          </a:p>
        </p:txBody>
      </p:sp>
      <p:sp>
        <p:nvSpPr>
          <p:cNvPr id="32" name="a2ud120_dot31"/>
          <p:cNvSpPr/>
          <p:nvPr/>
        </p:nvSpPr>
        <p:spPr>
          <a:xfrm>
            <a:off x="4489704" y="2313432"/>
            <a:ext cx="164592" cy="164592"/>
          </a:xfrm>
          <a:prstGeom prst="ellipse">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3" name="a2ud120_wr32"/>
          <p:cNvCxnSpPr/>
          <p:nvPr/>
        </p:nvCxnSpPr>
        <p:spPr>
          <a:xfrm flipV="1">
            <a:off x="4572000" y="2157984"/>
            <a:ext cx="0" cy="128016"/>
          </a:xfrm>
          <a:prstGeom prst="line">
            <a:avLst/>
          </a:prstGeom>
          <a:ln w="12700">
            <a:solidFill>
              <a:srgbClr val="A16207"/>
            </a:solidFill>
          </a:ln>
        </p:spPr>
        <p:style>
          <a:lnRef idx="2">
            <a:schemeClr val="accent1"/>
          </a:lnRef>
          <a:fillRef idx="0">
            <a:schemeClr val="accent1"/>
          </a:fillRef>
          <a:effectRef idx="1">
            <a:schemeClr val="accent1"/>
          </a:effectRef>
          <a:fontRef idx="minor">
            <a:schemeClr val="tx1"/>
          </a:fontRef>
        </p:style>
      </p:cxnSp>
      <p:sp>
        <p:nvSpPr>
          <p:cNvPr id="34" name="a2ud120_yr33"/>
          <p:cNvSpPr txBox="1"/>
          <p:nvPr/>
        </p:nvSpPr>
        <p:spPr>
          <a:xfrm>
            <a:off x="3749040" y="1371600"/>
            <a:ext cx="1645920" cy="256032"/>
          </a:xfrm>
          <a:prstGeom prst="rect">
            <a:avLst/>
          </a:prstGeom>
          <a:noFill/>
        </p:spPr>
        <p:txBody>
          <a:bodyPr wrap="square" lIns="0" tIns="0" rIns="0" bIns="0" anchor="ctr">
            <a:spAutoFit/>
          </a:bodyPr>
          <a:lstStyle/>
          <a:p>
            <a:pPr algn="ctr"/>
            <a:r>
              <a:rPr sz="1050" b="1">
                <a:solidFill>
                  <a:srgbClr val="A16207"/>
                </a:solidFill>
                <a:latin typeface="Segoe UI"/>
              </a:rPr>
              <a:t>2015</a:t>
            </a:r>
          </a:p>
        </p:txBody>
      </p:sp>
      <p:sp>
        <p:nvSpPr>
          <p:cNvPr id="35" name="a2ud120_nm34"/>
          <p:cNvSpPr txBox="1"/>
          <p:nvPr/>
        </p:nvSpPr>
        <p:spPr>
          <a:xfrm>
            <a:off x="3749040" y="1627632"/>
            <a:ext cx="1645920" cy="237744"/>
          </a:xfrm>
          <a:prstGeom prst="rect">
            <a:avLst/>
          </a:prstGeom>
          <a:noFill/>
        </p:spPr>
        <p:txBody>
          <a:bodyPr wrap="square" lIns="0" tIns="0" rIns="0" bIns="0" anchor="ctr">
            <a:spAutoFit/>
          </a:bodyPr>
          <a:lstStyle/>
          <a:p>
            <a:pPr algn="ctr"/>
            <a:r>
              <a:rPr sz="850" b="1">
                <a:solidFill>
                  <a:srgbClr val="1C1917"/>
                </a:solidFill>
                <a:latin typeface="Segoe UI"/>
              </a:rPr>
              <a:t>Kafka Connect</a:t>
            </a:r>
          </a:p>
        </p:txBody>
      </p:sp>
      <p:sp>
        <p:nvSpPr>
          <p:cNvPr id="36" name="a2ud120_ds35"/>
          <p:cNvSpPr txBox="1"/>
          <p:nvPr/>
        </p:nvSpPr>
        <p:spPr>
          <a:xfrm>
            <a:off x="3813048" y="1856232"/>
            <a:ext cx="1517904" cy="365760"/>
          </a:xfrm>
          <a:prstGeom prst="rect">
            <a:avLst/>
          </a:prstGeom>
          <a:noFill/>
        </p:spPr>
        <p:txBody>
          <a:bodyPr wrap="square" lIns="0" tIns="0" rIns="0" bIns="0" anchor="t">
            <a:spAutoFit/>
          </a:bodyPr>
          <a:lstStyle/>
          <a:p>
            <a:pPr algn="ctr"/>
            <a:r>
              <a:rPr sz="800" b="0">
                <a:solidFill>
                  <a:srgbClr val="78716C"/>
                </a:solidFill>
                <a:latin typeface="Segoe UI"/>
              </a:rPr>
              <a:t>import and export data</a:t>
            </a:r>
          </a:p>
        </p:txBody>
      </p:sp>
      <p:sp>
        <p:nvSpPr>
          <p:cNvPr id="37" name="a2ud240_dot36"/>
          <p:cNvSpPr/>
          <p:nvPr/>
        </p:nvSpPr>
        <p:spPr>
          <a:xfrm>
            <a:off x="5415534" y="2313432"/>
            <a:ext cx="164592" cy="164592"/>
          </a:xfrm>
          <a:prstGeom prst="ellipse">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8" name="a2ud240_wr37"/>
          <p:cNvCxnSpPr/>
          <p:nvPr/>
        </p:nvCxnSpPr>
        <p:spPr>
          <a:xfrm>
            <a:off x="5497830" y="2505456"/>
            <a:ext cx="0" cy="109728"/>
          </a:xfrm>
          <a:prstGeom prst="line">
            <a:avLst/>
          </a:prstGeom>
          <a:ln w="12700">
            <a:solidFill>
              <a:srgbClr val="A16207"/>
            </a:solidFill>
          </a:ln>
        </p:spPr>
        <p:style>
          <a:lnRef idx="2">
            <a:schemeClr val="accent1"/>
          </a:lnRef>
          <a:fillRef idx="0">
            <a:schemeClr val="accent1"/>
          </a:fillRef>
          <a:effectRef idx="1">
            <a:schemeClr val="accent1"/>
          </a:effectRef>
          <a:fontRef idx="minor">
            <a:schemeClr val="tx1"/>
          </a:fontRef>
        </p:style>
      </p:cxnSp>
      <p:sp>
        <p:nvSpPr>
          <p:cNvPr id="39" name="a2ud240_yr38"/>
          <p:cNvSpPr txBox="1"/>
          <p:nvPr/>
        </p:nvSpPr>
        <p:spPr>
          <a:xfrm>
            <a:off x="4674870" y="2615184"/>
            <a:ext cx="1645920" cy="256032"/>
          </a:xfrm>
          <a:prstGeom prst="rect">
            <a:avLst/>
          </a:prstGeom>
          <a:noFill/>
        </p:spPr>
        <p:txBody>
          <a:bodyPr wrap="square" lIns="0" tIns="0" rIns="0" bIns="0" anchor="ctr">
            <a:spAutoFit/>
          </a:bodyPr>
          <a:lstStyle/>
          <a:p>
            <a:pPr algn="ctr"/>
            <a:r>
              <a:rPr sz="1050" b="1">
                <a:solidFill>
                  <a:srgbClr val="A16207"/>
                </a:solidFill>
                <a:latin typeface="Segoe UI"/>
              </a:rPr>
              <a:t>2016</a:t>
            </a:r>
          </a:p>
        </p:txBody>
      </p:sp>
      <p:sp>
        <p:nvSpPr>
          <p:cNvPr id="40" name="a2ud240_nm39"/>
          <p:cNvSpPr txBox="1"/>
          <p:nvPr/>
        </p:nvSpPr>
        <p:spPr>
          <a:xfrm>
            <a:off x="4674870" y="2871216"/>
            <a:ext cx="1645920" cy="237744"/>
          </a:xfrm>
          <a:prstGeom prst="rect">
            <a:avLst/>
          </a:prstGeom>
          <a:noFill/>
        </p:spPr>
        <p:txBody>
          <a:bodyPr wrap="square" lIns="0" tIns="0" rIns="0" bIns="0" anchor="ctr">
            <a:spAutoFit/>
          </a:bodyPr>
          <a:lstStyle/>
          <a:p>
            <a:pPr algn="ctr"/>
            <a:r>
              <a:rPr sz="850" b="1">
                <a:solidFill>
                  <a:srgbClr val="1C1917"/>
                </a:solidFill>
                <a:latin typeface="Segoe UI"/>
              </a:rPr>
              <a:t>Kafka Streams</a:t>
            </a:r>
          </a:p>
        </p:txBody>
      </p:sp>
      <p:sp>
        <p:nvSpPr>
          <p:cNvPr id="41" name="a2ud240_ds40"/>
          <p:cNvSpPr txBox="1"/>
          <p:nvPr/>
        </p:nvSpPr>
        <p:spPr>
          <a:xfrm>
            <a:off x="4738878" y="3099816"/>
            <a:ext cx="1517904" cy="365760"/>
          </a:xfrm>
          <a:prstGeom prst="rect">
            <a:avLst/>
          </a:prstGeom>
          <a:noFill/>
        </p:spPr>
        <p:txBody>
          <a:bodyPr wrap="square" lIns="0" tIns="0" rIns="0" bIns="0" anchor="t">
            <a:spAutoFit/>
          </a:bodyPr>
          <a:lstStyle/>
          <a:p>
            <a:pPr algn="ctr"/>
            <a:r>
              <a:rPr sz="800" b="0">
                <a:solidFill>
                  <a:srgbClr val="78716C"/>
                </a:solidFill>
                <a:latin typeface="Segoe UI"/>
              </a:rPr>
              <a:t>process streams in Java</a:t>
            </a:r>
          </a:p>
        </p:txBody>
      </p:sp>
      <p:sp>
        <p:nvSpPr>
          <p:cNvPr id="42" name="a3u_dot41"/>
          <p:cNvSpPr/>
          <p:nvPr/>
        </p:nvSpPr>
        <p:spPr>
          <a:xfrm>
            <a:off x="6341364" y="2313432"/>
            <a:ext cx="164592" cy="164592"/>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3" name="a3u_wr42"/>
          <p:cNvCxnSpPr/>
          <p:nvPr/>
        </p:nvCxnSpPr>
        <p:spPr>
          <a:xfrm flipV="1">
            <a:off x="6423660" y="2157984"/>
            <a:ext cx="0" cy="128016"/>
          </a:xfrm>
          <a:prstGeom prst="line">
            <a:avLst/>
          </a:prstGeom>
          <a:ln w="12700">
            <a:solidFill>
              <a:srgbClr val="4F46E5"/>
            </a:solidFill>
          </a:ln>
        </p:spPr>
        <p:style>
          <a:lnRef idx="2">
            <a:schemeClr val="accent1"/>
          </a:lnRef>
          <a:fillRef idx="0">
            <a:schemeClr val="accent1"/>
          </a:fillRef>
          <a:effectRef idx="1">
            <a:schemeClr val="accent1"/>
          </a:effectRef>
          <a:fontRef idx="minor">
            <a:schemeClr val="tx1"/>
          </a:fontRef>
        </p:style>
      </p:cxnSp>
      <p:sp>
        <p:nvSpPr>
          <p:cNvPr id="44" name="a3u_yr43"/>
          <p:cNvSpPr txBox="1"/>
          <p:nvPr/>
        </p:nvSpPr>
        <p:spPr>
          <a:xfrm>
            <a:off x="5600700" y="1371600"/>
            <a:ext cx="1645920" cy="256032"/>
          </a:xfrm>
          <a:prstGeom prst="rect">
            <a:avLst/>
          </a:prstGeom>
          <a:noFill/>
        </p:spPr>
        <p:txBody>
          <a:bodyPr wrap="square" lIns="0" tIns="0" rIns="0" bIns="0" anchor="ctr">
            <a:spAutoFit/>
          </a:bodyPr>
          <a:lstStyle/>
          <a:p>
            <a:pPr algn="ctr"/>
            <a:r>
              <a:rPr sz="1050" b="1">
                <a:solidFill>
                  <a:srgbClr val="4F46E5"/>
                </a:solidFill>
                <a:latin typeface="Segoe UI"/>
              </a:rPr>
              <a:t>2017</a:t>
            </a:r>
          </a:p>
        </p:txBody>
      </p:sp>
      <p:sp>
        <p:nvSpPr>
          <p:cNvPr id="45" name="a3u_nm44"/>
          <p:cNvSpPr txBox="1"/>
          <p:nvPr/>
        </p:nvSpPr>
        <p:spPr>
          <a:xfrm>
            <a:off x="5600700" y="1627632"/>
            <a:ext cx="1645920" cy="237744"/>
          </a:xfrm>
          <a:prstGeom prst="rect">
            <a:avLst/>
          </a:prstGeom>
          <a:noFill/>
        </p:spPr>
        <p:txBody>
          <a:bodyPr wrap="square" lIns="0" tIns="0" rIns="0" bIns="0" anchor="ctr">
            <a:spAutoFit/>
          </a:bodyPr>
          <a:lstStyle/>
          <a:p>
            <a:pPr algn="ctr"/>
            <a:r>
              <a:rPr sz="850" b="1">
                <a:solidFill>
                  <a:srgbClr val="1C1917"/>
                </a:solidFill>
                <a:latin typeface="Segoe UI"/>
              </a:rPr>
              <a:t>Kafka 1.0</a:t>
            </a:r>
          </a:p>
        </p:txBody>
      </p:sp>
      <p:sp>
        <p:nvSpPr>
          <p:cNvPr id="46" name="a3u_ds45"/>
          <p:cNvSpPr txBox="1"/>
          <p:nvPr/>
        </p:nvSpPr>
        <p:spPr>
          <a:xfrm>
            <a:off x="5664708" y="1856232"/>
            <a:ext cx="1517904" cy="365760"/>
          </a:xfrm>
          <a:prstGeom prst="rect">
            <a:avLst/>
          </a:prstGeom>
          <a:noFill/>
        </p:spPr>
        <p:txBody>
          <a:bodyPr wrap="square" lIns="0" tIns="0" rIns="0" bIns="0" anchor="t">
            <a:spAutoFit/>
          </a:bodyPr>
          <a:lstStyle/>
          <a:p>
            <a:pPr algn="ctr"/>
            <a:r>
              <a:rPr sz="800" b="0">
                <a:solidFill>
                  <a:srgbClr val="78716C"/>
                </a:solidFill>
                <a:latin typeface="Segoe UI"/>
              </a:rPr>
              <a:t>and exactly-once processing</a:t>
            </a:r>
          </a:p>
        </p:txBody>
      </p:sp>
      <p:sp>
        <p:nvSpPr>
          <p:cNvPr id="47" name="a3ud120_dot46"/>
          <p:cNvSpPr/>
          <p:nvPr/>
        </p:nvSpPr>
        <p:spPr>
          <a:xfrm>
            <a:off x="7267194" y="2313432"/>
            <a:ext cx="164592" cy="164592"/>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8" name="a3ud120_wr47"/>
          <p:cNvCxnSpPr/>
          <p:nvPr/>
        </p:nvCxnSpPr>
        <p:spPr>
          <a:xfrm>
            <a:off x="7349490" y="2505456"/>
            <a:ext cx="0" cy="109728"/>
          </a:xfrm>
          <a:prstGeom prst="line">
            <a:avLst/>
          </a:prstGeom>
          <a:ln w="12700">
            <a:solidFill>
              <a:srgbClr val="4F46E5"/>
            </a:solidFill>
          </a:ln>
        </p:spPr>
        <p:style>
          <a:lnRef idx="2">
            <a:schemeClr val="accent1"/>
          </a:lnRef>
          <a:fillRef idx="0">
            <a:schemeClr val="accent1"/>
          </a:fillRef>
          <a:effectRef idx="1">
            <a:schemeClr val="accent1"/>
          </a:effectRef>
          <a:fontRef idx="minor">
            <a:schemeClr val="tx1"/>
          </a:fontRef>
        </p:style>
      </p:cxnSp>
      <p:sp>
        <p:nvSpPr>
          <p:cNvPr id="49" name="a3ud120_yr48"/>
          <p:cNvSpPr txBox="1"/>
          <p:nvPr/>
        </p:nvSpPr>
        <p:spPr>
          <a:xfrm>
            <a:off x="6526530" y="2615184"/>
            <a:ext cx="1645920" cy="256032"/>
          </a:xfrm>
          <a:prstGeom prst="rect">
            <a:avLst/>
          </a:prstGeom>
          <a:noFill/>
        </p:spPr>
        <p:txBody>
          <a:bodyPr wrap="square" lIns="0" tIns="0" rIns="0" bIns="0" anchor="ctr">
            <a:spAutoFit/>
          </a:bodyPr>
          <a:lstStyle/>
          <a:p>
            <a:pPr algn="ctr"/>
            <a:r>
              <a:rPr sz="1050" b="1">
                <a:solidFill>
                  <a:srgbClr val="4F46E5"/>
                </a:solidFill>
                <a:latin typeface="Segoe UI"/>
              </a:rPr>
              <a:t>2022</a:t>
            </a:r>
          </a:p>
        </p:txBody>
      </p:sp>
      <p:sp>
        <p:nvSpPr>
          <p:cNvPr id="50" name="a3ud120_nm49"/>
          <p:cNvSpPr txBox="1"/>
          <p:nvPr/>
        </p:nvSpPr>
        <p:spPr>
          <a:xfrm>
            <a:off x="6526530" y="2871216"/>
            <a:ext cx="1645920" cy="237744"/>
          </a:xfrm>
          <a:prstGeom prst="rect">
            <a:avLst/>
          </a:prstGeom>
          <a:noFill/>
        </p:spPr>
        <p:txBody>
          <a:bodyPr wrap="square" lIns="0" tIns="0" rIns="0" bIns="0" anchor="ctr">
            <a:spAutoFit/>
          </a:bodyPr>
          <a:lstStyle/>
          <a:p>
            <a:pPr algn="ctr"/>
            <a:r>
              <a:rPr sz="850" b="1">
                <a:solidFill>
                  <a:srgbClr val="1C1917"/>
                </a:solidFill>
                <a:latin typeface="Segoe UI"/>
              </a:rPr>
              <a:t>KRaft ready</a:t>
            </a:r>
          </a:p>
        </p:txBody>
      </p:sp>
      <p:sp>
        <p:nvSpPr>
          <p:cNvPr id="51" name="a3ud120_ds50"/>
          <p:cNvSpPr txBox="1"/>
          <p:nvPr/>
        </p:nvSpPr>
        <p:spPr>
          <a:xfrm>
            <a:off x="6590538" y="3099816"/>
            <a:ext cx="1517904" cy="365760"/>
          </a:xfrm>
          <a:prstGeom prst="rect">
            <a:avLst/>
          </a:prstGeom>
          <a:noFill/>
        </p:spPr>
        <p:txBody>
          <a:bodyPr wrap="square" lIns="0" tIns="0" rIns="0" bIns="0" anchor="t">
            <a:spAutoFit/>
          </a:bodyPr>
          <a:lstStyle/>
          <a:p>
            <a:pPr algn="ctr"/>
            <a:r>
              <a:rPr sz="800" b="0">
                <a:solidFill>
                  <a:srgbClr val="78716C"/>
                </a:solidFill>
                <a:latin typeface="Segoe UI"/>
              </a:rPr>
              <a:t>Kafka manages its own metadata</a:t>
            </a:r>
          </a:p>
        </p:txBody>
      </p:sp>
      <p:sp>
        <p:nvSpPr>
          <p:cNvPr id="52" name="a3ud240_dot51"/>
          <p:cNvSpPr/>
          <p:nvPr/>
        </p:nvSpPr>
        <p:spPr>
          <a:xfrm>
            <a:off x="8193024" y="2313432"/>
            <a:ext cx="164592" cy="164592"/>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3" name="a3ud240_wr52"/>
          <p:cNvCxnSpPr/>
          <p:nvPr/>
        </p:nvCxnSpPr>
        <p:spPr>
          <a:xfrm flipV="1">
            <a:off x="8275320" y="2157984"/>
            <a:ext cx="0" cy="128016"/>
          </a:xfrm>
          <a:prstGeom prst="line">
            <a:avLst/>
          </a:prstGeom>
          <a:ln w="12700">
            <a:solidFill>
              <a:srgbClr val="15803D"/>
            </a:solidFill>
          </a:ln>
        </p:spPr>
        <p:style>
          <a:lnRef idx="2">
            <a:schemeClr val="accent1"/>
          </a:lnRef>
          <a:fillRef idx="0">
            <a:schemeClr val="accent1"/>
          </a:fillRef>
          <a:effectRef idx="1">
            <a:schemeClr val="accent1"/>
          </a:effectRef>
          <a:fontRef idx="minor">
            <a:schemeClr val="tx1"/>
          </a:fontRef>
        </p:style>
      </p:cxnSp>
      <p:sp>
        <p:nvSpPr>
          <p:cNvPr id="54" name="a3ud240_yr53"/>
          <p:cNvSpPr txBox="1"/>
          <p:nvPr/>
        </p:nvSpPr>
        <p:spPr>
          <a:xfrm>
            <a:off x="7040880" y="1371600"/>
            <a:ext cx="1645920" cy="256032"/>
          </a:xfrm>
          <a:prstGeom prst="rect">
            <a:avLst/>
          </a:prstGeom>
          <a:noFill/>
        </p:spPr>
        <p:txBody>
          <a:bodyPr wrap="square" lIns="0" tIns="0" rIns="0" bIns="0" anchor="ctr">
            <a:spAutoFit/>
          </a:bodyPr>
          <a:lstStyle/>
          <a:p>
            <a:pPr algn="ctr"/>
            <a:r>
              <a:rPr sz="1050" b="1">
                <a:solidFill>
                  <a:srgbClr val="15803D"/>
                </a:solidFill>
                <a:latin typeface="Segoe UI"/>
              </a:rPr>
              <a:t>2025</a:t>
            </a:r>
          </a:p>
        </p:txBody>
      </p:sp>
      <p:sp>
        <p:nvSpPr>
          <p:cNvPr id="55" name="a3ud240_nm54"/>
          <p:cNvSpPr txBox="1"/>
          <p:nvPr/>
        </p:nvSpPr>
        <p:spPr>
          <a:xfrm>
            <a:off x="7040880" y="1627632"/>
            <a:ext cx="1645920" cy="237744"/>
          </a:xfrm>
          <a:prstGeom prst="rect">
            <a:avLst/>
          </a:prstGeom>
          <a:noFill/>
        </p:spPr>
        <p:txBody>
          <a:bodyPr wrap="square" lIns="0" tIns="0" rIns="0" bIns="0" anchor="ctr">
            <a:spAutoFit/>
          </a:bodyPr>
          <a:lstStyle/>
          <a:p>
            <a:pPr algn="ctr"/>
            <a:r>
              <a:rPr sz="850" b="1">
                <a:solidFill>
                  <a:srgbClr val="1C1917"/>
                </a:solidFill>
                <a:latin typeface="Segoe UI"/>
              </a:rPr>
              <a:t>Kafka 4.0</a:t>
            </a:r>
          </a:p>
        </p:txBody>
      </p:sp>
      <p:sp>
        <p:nvSpPr>
          <p:cNvPr id="56" name="a3ud240_ds55"/>
          <p:cNvSpPr txBox="1"/>
          <p:nvPr/>
        </p:nvSpPr>
        <p:spPr>
          <a:xfrm>
            <a:off x="7104888" y="1856232"/>
            <a:ext cx="1517904" cy="365760"/>
          </a:xfrm>
          <a:prstGeom prst="rect">
            <a:avLst/>
          </a:prstGeom>
          <a:noFill/>
        </p:spPr>
        <p:txBody>
          <a:bodyPr wrap="square" lIns="0" tIns="0" rIns="0" bIns="0" anchor="t">
            <a:spAutoFit/>
          </a:bodyPr>
          <a:lstStyle/>
          <a:p>
            <a:pPr algn="ctr"/>
            <a:r>
              <a:rPr sz="800" b="0">
                <a:solidFill>
                  <a:srgbClr val="78716C"/>
                </a:solidFill>
                <a:latin typeface="Segoe UI"/>
              </a:rPr>
              <a:t>ZooKeeper removed for good</a:t>
            </a:r>
          </a:p>
        </p:txBody>
      </p:sp>
      <p:sp>
        <p:nvSpPr>
          <p:cNvPr id="57" name="a4u_nb56"/>
          <p:cNvSpPr/>
          <p:nvPr/>
        </p:nvSpPr>
        <p:spPr>
          <a:xfrm>
            <a:off x="457200" y="3840480"/>
            <a:ext cx="8229600" cy="603504"/>
          </a:xfrm>
          <a:prstGeom prst="roundRect">
            <a:avLst>
              <a:gd name="adj" fmla="val 12121"/>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4u_nacc57"/>
          <p:cNvSpPr/>
          <p:nvPr/>
        </p:nvSpPr>
        <p:spPr>
          <a:xfrm>
            <a:off x="457200" y="3840480"/>
            <a:ext cx="54864" cy="60350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4u_nt58"/>
          <p:cNvSpPr txBox="1"/>
          <p:nvPr/>
        </p:nvSpPr>
        <p:spPr>
          <a:xfrm>
            <a:off x="658368" y="3840480"/>
            <a:ext cx="7827264" cy="603504"/>
          </a:xfrm>
          <a:prstGeom prst="rect">
            <a:avLst/>
          </a:prstGeom>
          <a:noFill/>
        </p:spPr>
        <p:txBody>
          <a:bodyPr wrap="square" lIns="0" tIns="0" rIns="0" bIns="0" anchor="ctr">
            <a:spAutoFit/>
          </a:bodyPr>
          <a:lstStyle/>
          <a:p>
            <a:pPr algn="l"/>
            <a:r>
              <a:rPr sz="950" b="1">
                <a:solidFill>
                  <a:srgbClr val="C2410C"/>
                </a:solidFill>
                <a:latin typeface="Segoe UI"/>
              </a:rPr>
              <a:t>NAME  </a:t>
            </a:r>
            <a:r>
              <a:rPr sz="950" b="0">
                <a:solidFill>
                  <a:srgbClr val="44403C"/>
                </a:solidFill>
                <a:latin typeface="Segoe UI"/>
              </a:rPr>
              <a:t>Why the name? Jay Kreps named it after the writer Franz Kafka: it is 'a system optimized for writing', and he liked Kafka's work.</a:t>
            </a:r>
          </a:p>
        </p:txBody>
      </p:sp>
      <p:sp>
        <p:nvSpPr>
          <p:cNvPr id="60" name="ft5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41</a:t>
            </a:r>
          </a:p>
        </p:txBody>
      </p:sp>
      <p:sp>
        <p:nvSpPr>
          <p:cNvPr id="61" name="ft6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ft6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63" name="ft6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2" presetID="2" presetClass="entr" presetSubtype="4"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 calcmode="lin" valueType="num">
                                      <p:cBhvr additive="base">
                                        <p:cTn id="9" dur="500" fill="hold"/>
                                        <p:tgtEl>
                                          <p:spTgt spid="12"/>
                                        </p:tgtEl>
                                        <p:attrNameLst>
                                          <p:attrName>ppt_x</p:attrName>
                                        </p:attrNameLst>
                                      </p:cBhvr>
                                      <p:tavLst>
                                        <p:tav tm="0">
                                          <p:val>
                                            <p:strVal val="#ppt_x"/>
                                          </p:val>
                                        </p:tav>
                                        <p:tav tm="100000">
                                          <p:val>
                                            <p:strVal val="#ppt_x"/>
                                          </p:val>
                                        </p:tav>
                                      </p:tavLst>
                                    </p:anim>
                                    <p:anim calcmode="lin" valueType="num">
                                      <p:cBhvr additive="base">
                                        <p:cTn id="10" dur="500" fill="hold"/>
                                        <p:tgtEl>
                                          <p:spTgt spid="12"/>
                                        </p:tgtEl>
                                        <p:attrNameLst>
                                          <p:attrName>ppt_y</p:attrName>
                                        </p:attrNameLst>
                                      </p:cBhvr>
                                      <p:tavLst>
                                        <p:tav tm="0">
                                          <p:val>
                                            <p:strVal val="#ppt_y+0.1"/>
                                          </p:val>
                                        </p:tav>
                                        <p:tav tm="100000">
                                          <p:val>
                                            <p:strVal val="#ppt_y"/>
                                          </p:val>
                                        </p:tav>
                                      </p:tavLst>
                                    </p:anim>
                                    <p:animEffect transition="in" filter="fade">
                                      <p:cBhvr>
                                        <p:cTn id="11" dur="500"/>
                                        <p:tgtEl>
                                          <p:spTgt spid="12"/>
                                        </p:tgtEl>
                                      </p:cBhvr>
                                    </p:animEffect>
                                  </p:childTnLst>
                                </p:cTn>
                              </p:par>
                              <p:par>
                                <p:cTn id="17" presetID="2" presetClass="entr" presetSubtype="4"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500" fill="hold"/>
                                        <p:tgtEl>
                                          <p:spTgt spid="13"/>
                                        </p:tgtEl>
                                        <p:attrNameLst>
                                          <p:attrName>ppt_x</p:attrName>
                                        </p:attrNameLst>
                                      </p:cBhvr>
                                      <p:tavLst>
                                        <p:tav tm="0">
                                          <p:val>
                                            <p:strVal val="#ppt_x"/>
                                          </p:val>
                                        </p:tav>
                                        <p:tav tm="100000">
                                          <p:val>
                                            <p:strVal val="#ppt_x"/>
                                          </p:val>
                                        </p:tav>
                                      </p:tavLst>
                                    </p:anim>
                                    <p:anim calcmode="lin" valueType="num">
                                      <p:cBhvr additive="base">
                                        <p:cTn id="15" dur="500" fill="hold"/>
                                        <p:tgtEl>
                                          <p:spTgt spid="13"/>
                                        </p:tgtEl>
                                        <p:attrNameLst>
                                          <p:attrName>ppt_y</p:attrName>
                                        </p:attrNameLst>
                                      </p:cBhvr>
                                      <p:tavLst>
                                        <p:tav tm="0">
                                          <p:val>
                                            <p:strVal val="#ppt_y+0.1"/>
                                          </p:val>
                                        </p:tav>
                                        <p:tav tm="100000">
                                          <p:val>
                                            <p:strVal val="#ppt_y"/>
                                          </p:val>
                                        </p:tav>
                                      </p:tavLst>
                                    </p:anim>
                                    <p:animEffect transition="in" filter="fade">
                                      <p:cBhvr>
                                        <p:cTn id="16" dur="500"/>
                                        <p:tgtEl>
                                          <p:spTgt spid="13"/>
                                        </p:tgtEl>
                                      </p:cBhvr>
                                    </p:animEffect>
                                  </p:childTnLst>
                                </p:cTn>
                              </p:par>
                              <p:par>
                                <p:cTn id="22" presetID="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ppt_y+0.1"/>
                                          </p:val>
                                        </p:tav>
                                        <p:tav tm="100000">
                                          <p:val>
                                            <p:strVal val="#ppt_y"/>
                                          </p:val>
                                        </p:tav>
                                      </p:tavLst>
                                    </p:anim>
                                    <p:animEffect transition="in" filter="fade">
                                      <p:cBhvr>
                                        <p:cTn id="21" dur="500"/>
                                        <p:tgtEl>
                                          <p:spTgt spid="14"/>
                                        </p:tgtEl>
                                      </p:cBhvr>
                                    </p:animEffect>
                                  </p:childTnLst>
                                </p:cTn>
                              </p:par>
                              <p:par>
                                <p:cTn id="27" presetID="2" presetClass="entr" presetSubtype="4"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additive="base">
                                        <p:cTn id="24" dur="500" fill="hold"/>
                                        <p:tgtEl>
                                          <p:spTgt spid="15"/>
                                        </p:tgtEl>
                                        <p:attrNameLst>
                                          <p:attrName>ppt_x</p:attrName>
                                        </p:attrNameLst>
                                      </p:cBhvr>
                                      <p:tavLst>
                                        <p:tav tm="0">
                                          <p:val>
                                            <p:strVal val="#ppt_x"/>
                                          </p:val>
                                        </p:tav>
                                        <p:tav tm="100000">
                                          <p:val>
                                            <p:strVal val="#ppt_x"/>
                                          </p:val>
                                        </p:tav>
                                      </p:tavLst>
                                    </p:anim>
                                    <p:anim calcmode="lin" valueType="num">
                                      <p:cBhvr additive="base">
                                        <p:cTn id="25" dur="500" fill="hold"/>
                                        <p:tgtEl>
                                          <p:spTgt spid="15"/>
                                        </p:tgtEl>
                                        <p:attrNameLst>
                                          <p:attrName>ppt_y</p:attrName>
                                        </p:attrNameLst>
                                      </p:cBhvr>
                                      <p:tavLst>
                                        <p:tav tm="0">
                                          <p:val>
                                            <p:strVal val="#ppt_y+0.1"/>
                                          </p:val>
                                        </p:tav>
                                        <p:tav tm="100000">
                                          <p:val>
                                            <p:strVal val="#ppt_y"/>
                                          </p:val>
                                        </p:tav>
                                      </p:tavLst>
                                    </p:anim>
                                    <p:animEffect transition="in" filter="fade">
                                      <p:cBhvr>
                                        <p:cTn id="26" dur="500"/>
                                        <p:tgtEl>
                                          <p:spTgt spid="15"/>
                                        </p:tgtEl>
                                      </p:cBhvr>
                                    </p:animEffect>
                                  </p:childTnLst>
                                </p:cTn>
                              </p:par>
                              <p:par>
                                <p:cTn id="32" presetID="2" presetClass="entr" presetSubtype="4"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ppt_x"/>
                                          </p:val>
                                        </p:tav>
                                        <p:tav tm="100000">
                                          <p:val>
                                            <p:strVal val="#ppt_x"/>
                                          </p:val>
                                        </p:tav>
                                      </p:tavLst>
                                    </p:anim>
                                    <p:anim calcmode="lin" valueType="num">
                                      <p:cBhvr additive="base">
                                        <p:cTn id="30" dur="500" fill="hold"/>
                                        <p:tgtEl>
                                          <p:spTgt spid="16"/>
                                        </p:tgtEl>
                                        <p:attrNameLst>
                                          <p:attrName>ppt_y</p:attrName>
                                        </p:attrNameLst>
                                      </p:cBhvr>
                                      <p:tavLst>
                                        <p:tav tm="0">
                                          <p:val>
                                            <p:strVal val="#ppt_y+0.1"/>
                                          </p:val>
                                        </p:tav>
                                        <p:tav tm="100000">
                                          <p:val>
                                            <p:strVal val="#ppt_y"/>
                                          </p:val>
                                        </p:tav>
                                      </p:tavLst>
                                    </p:anim>
                                    <p:animEffect transition="in" filter="fade">
                                      <p:cBhvr>
                                        <p:cTn id="31" dur="500"/>
                                        <p:tgtEl>
                                          <p:spTgt spid="16"/>
                                        </p:tgtEl>
                                      </p:cBhvr>
                                    </p:animEffect>
                                  </p:childTnLst>
                                </p:cTn>
                              </p:par>
                              <p:par>
                                <p:cTn id="37" presetID="2" presetClass="entr" presetSubtype="4" fill="hold" grpId="0" nodeType="withEffect">
                                  <p:stCondLst>
                                    <p:cond delay="120"/>
                                  </p:stCondLst>
                                  <p:childTnLst>
                                    <p:set>
                                      <p:cBhvr>
                                        <p:cTn id="33" dur="1" fill="hold">
                                          <p:stCondLst>
                                            <p:cond delay="0"/>
                                          </p:stCondLst>
                                        </p:cTn>
                                        <p:tgtEl>
                                          <p:spTgt spid="17"/>
                                        </p:tgtEl>
                                        <p:attrNameLst>
                                          <p:attrName>style.visibility</p:attrName>
                                        </p:attrNameLst>
                                      </p:cBhvr>
                                      <p:to>
                                        <p:strVal val="visible"/>
                                      </p:to>
                                    </p:set>
                                    <p:anim calcmode="lin" valueType="num">
                                      <p:cBhvr additive="base">
                                        <p:cTn id="34" dur="500" fill="hold"/>
                                        <p:tgtEl>
                                          <p:spTgt spid="17"/>
                                        </p:tgtEl>
                                        <p:attrNameLst>
                                          <p:attrName>ppt_x</p:attrName>
                                        </p:attrNameLst>
                                      </p:cBhvr>
                                      <p:tavLst>
                                        <p:tav tm="0">
                                          <p:val>
                                            <p:strVal val="#ppt_x"/>
                                          </p:val>
                                        </p:tav>
                                        <p:tav tm="100000">
                                          <p:val>
                                            <p:strVal val="#ppt_x"/>
                                          </p:val>
                                        </p:tav>
                                      </p:tavLst>
                                    </p:anim>
                                    <p:anim calcmode="lin" valueType="num">
                                      <p:cBhvr additive="base">
                                        <p:cTn id="35" dur="500" fill="hold"/>
                                        <p:tgtEl>
                                          <p:spTgt spid="17"/>
                                        </p:tgtEl>
                                        <p:attrNameLst>
                                          <p:attrName>ppt_y</p:attrName>
                                        </p:attrNameLst>
                                      </p:cBhvr>
                                      <p:tavLst>
                                        <p:tav tm="0">
                                          <p:val>
                                            <p:strVal val="#ppt_y+0.1"/>
                                          </p:val>
                                        </p:tav>
                                        <p:tav tm="100000">
                                          <p:val>
                                            <p:strVal val="#ppt_y"/>
                                          </p:val>
                                        </p:tav>
                                      </p:tavLst>
                                    </p:anim>
                                    <p:animEffect transition="in" filter="fade">
                                      <p:cBhvr>
                                        <p:cTn id="36" dur="500"/>
                                        <p:tgtEl>
                                          <p:spTgt spid="17"/>
                                        </p:tgtEl>
                                      </p:cBhvr>
                                    </p:animEffect>
                                  </p:childTnLst>
                                </p:cTn>
                              </p:par>
                              <p:par>
                                <p:cTn id="42" presetID="2" presetClass="entr" presetSubtype="4" fill="hold" grpId="0" nodeType="withEffect">
                                  <p:stCondLst>
                                    <p:cond delay="12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ppt_x"/>
                                          </p:val>
                                        </p:tav>
                                        <p:tav tm="100000">
                                          <p:val>
                                            <p:strVal val="#ppt_x"/>
                                          </p:val>
                                        </p:tav>
                                      </p:tavLst>
                                    </p:anim>
                                    <p:anim calcmode="lin" valueType="num">
                                      <p:cBhvr additive="base">
                                        <p:cTn id="40" dur="500" fill="hold"/>
                                        <p:tgtEl>
                                          <p:spTgt spid="18"/>
                                        </p:tgtEl>
                                        <p:attrNameLst>
                                          <p:attrName>ppt_y</p:attrName>
                                        </p:attrNameLst>
                                      </p:cBhvr>
                                      <p:tavLst>
                                        <p:tav tm="0">
                                          <p:val>
                                            <p:strVal val="#ppt_y+0.1"/>
                                          </p:val>
                                        </p:tav>
                                        <p:tav tm="100000">
                                          <p:val>
                                            <p:strVal val="#ppt_y"/>
                                          </p:val>
                                        </p:tav>
                                      </p:tavLst>
                                    </p:anim>
                                    <p:animEffect transition="in" filter="fade">
                                      <p:cBhvr>
                                        <p:cTn id="41" dur="500"/>
                                        <p:tgtEl>
                                          <p:spTgt spid="18"/>
                                        </p:tgtEl>
                                      </p:cBhvr>
                                    </p:animEffect>
                                  </p:childTnLst>
                                </p:cTn>
                              </p:par>
                              <p:par>
                                <p:cTn id="47" presetID="2" presetClass="entr" presetSubtype="4" fill="hold" grpId="0" nodeType="withEffect">
                                  <p:stCondLst>
                                    <p:cond delay="120"/>
                                  </p:stCondLst>
                                  <p:childTnLst>
                                    <p:set>
                                      <p:cBhvr>
                                        <p:cTn id="43" dur="1" fill="hold">
                                          <p:stCondLst>
                                            <p:cond delay="0"/>
                                          </p:stCondLst>
                                        </p:cTn>
                                        <p:tgtEl>
                                          <p:spTgt spid="19"/>
                                        </p:tgtEl>
                                        <p:attrNameLst>
                                          <p:attrName>style.visibility</p:attrName>
                                        </p:attrNameLst>
                                      </p:cBhvr>
                                      <p:to>
                                        <p:strVal val="visible"/>
                                      </p:to>
                                    </p:set>
                                    <p:anim calcmode="lin" valueType="num">
                                      <p:cBhvr additive="base">
                                        <p:cTn id="44" dur="500" fill="hold"/>
                                        <p:tgtEl>
                                          <p:spTgt spid="19"/>
                                        </p:tgtEl>
                                        <p:attrNameLst>
                                          <p:attrName>ppt_x</p:attrName>
                                        </p:attrNameLst>
                                      </p:cBhvr>
                                      <p:tavLst>
                                        <p:tav tm="0">
                                          <p:val>
                                            <p:strVal val="#ppt_x"/>
                                          </p:val>
                                        </p:tav>
                                        <p:tav tm="100000">
                                          <p:val>
                                            <p:strVal val="#ppt_x"/>
                                          </p:val>
                                        </p:tav>
                                      </p:tavLst>
                                    </p:anim>
                                    <p:anim calcmode="lin" valueType="num">
                                      <p:cBhvr additive="base">
                                        <p:cTn id="45" dur="500" fill="hold"/>
                                        <p:tgtEl>
                                          <p:spTgt spid="19"/>
                                        </p:tgtEl>
                                        <p:attrNameLst>
                                          <p:attrName>ppt_y</p:attrName>
                                        </p:attrNameLst>
                                      </p:cBhvr>
                                      <p:tavLst>
                                        <p:tav tm="0">
                                          <p:val>
                                            <p:strVal val="#ppt_y+0.1"/>
                                          </p:val>
                                        </p:tav>
                                        <p:tav tm="100000">
                                          <p:val>
                                            <p:strVal val="#ppt_y"/>
                                          </p:val>
                                        </p:tav>
                                      </p:tavLst>
                                    </p:anim>
                                    <p:animEffect transition="in" filter="fade">
                                      <p:cBhvr>
                                        <p:cTn id="46" dur="500"/>
                                        <p:tgtEl>
                                          <p:spTgt spid="19"/>
                                        </p:tgtEl>
                                      </p:cBhvr>
                                    </p:animEffect>
                                  </p:childTnLst>
                                </p:cTn>
                              </p:par>
                              <p:par>
                                <p:cTn id="52" presetID="2" presetClass="entr" presetSubtype="4" fill="hold" grpId="0" nodeType="withEffect">
                                  <p:stCondLst>
                                    <p:cond delay="12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ppt_x"/>
                                          </p:val>
                                        </p:tav>
                                        <p:tav tm="100000">
                                          <p:val>
                                            <p:strVal val="#ppt_x"/>
                                          </p:val>
                                        </p:tav>
                                      </p:tavLst>
                                    </p:anim>
                                    <p:anim calcmode="lin" valueType="num">
                                      <p:cBhvr additive="base">
                                        <p:cTn id="50" dur="500" fill="hold"/>
                                        <p:tgtEl>
                                          <p:spTgt spid="20"/>
                                        </p:tgtEl>
                                        <p:attrNameLst>
                                          <p:attrName>ppt_y</p:attrName>
                                        </p:attrNameLst>
                                      </p:cBhvr>
                                      <p:tavLst>
                                        <p:tav tm="0">
                                          <p:val>
                                            <p:strVal val="#ppt_y+0.1"/>
                                          </p:val>
                                        </p:tav>
                                        <p:tav tm="100000">
                                          <p:val>
                                            <p:strVal val="#ppt_y"/>
                                          </p:val>
                                        </p:tav>
                                      </p:tavLst>
                                    </p:anim>
                                    <p:animEffect transition="in" filter="fade">
                                      <p:cBhvr>
                                        <p:cTn id="51" dur="500"/>
                                        <p:tgtEl>
                                          <p:spTgt spid="20"/>
                                        </p:tgtEl>
                                      </p:cBhvr>
                                    </p:animEffect>
                                  </p:childTnLst>
                                </p:cTn>
                              </p:par>
                              <p:par>
                                <p:cTn id="57" presetID="2" presetClass="entr" presetSubtype="4" fill="hold" grpId="0" nodeType="withEffect">
                                  <p:stCondLst>
                                    <p:cond delay="120"/>
                                  </p:stCondLst>
                                  <p:childTnLst>
                                    <p:set>
                                      <p:cBhvr>
                                        <p:cTn id="53" dur="1" fill="hold">
                                          <p:stCondLst>
                                            <p:cond delay="0"/>
                                          </p:stCondLst>
                                        </p:cTn>
                                        <p:tgtEl>
                                          <p:spTgt spid="21"/>
                                        </p:tgtEl>
                                        <p:attrNameLst>
                                          <p:attrName>style.visibility</p:attrName>
                                        </p:attrNameLst>
                                      </p:cBhvr>
                                      <p:to>
                                        <p:strVal val="visible"/>
                                      </p:to>
                                    </p:set>
                                    <p:anim calcmode="lin" valueType="num">
                                      <p:cBhvr additive="base">
                                        <p:cTn id="54" dur="500" fill="hold"/>
                                        <p:tgtEl>
                                          <p:spTgt spid="21"/>
                                        </p:tgtEl>
                                        <p:attrNameLst>
                                          <p:attrName>ppt_x</p:attrName>
                                        </p:attrNameLst>
                                      </p:cBhvr>
                                      <p:tavLst>
                                        <p:tav tm="0">
                                          <p:val>
                                            <p:strVal val="#ppt_x"/>
                                          </p:val>
                                        </p:tav>
                                        <p:tav tm="100000">
                                          <p:val>
                                            <p:strVal val="#ppt_x"/>
                                          </p:val>
                                        </p:tav>
                                      </p:tavLst>
                                    </p:anim>
                                    <p:anim calcmode="lin" valueType="num">
                                      <p:cBhvr additive="base">
                                        <p:cTn id="55" dur="500" fill="hold"/>
                                        <p:tgtEl>
                                          <p:spTgt spid="21"/>
                                        </p:tgtEl>
                                        <p:attrNameLst>
                                          <p:attrName>ppt_y</p:attrName>
                                        </p:attrNameLst>
                                      </p:cBhvr>
                                      <p:tavLst>
                                        <p:tav tm="0">
                                          <p:val>
                                            <p:strVal val="#ppt_y+0.1"/>
                                          </p:val>
                                        </p:tav>
                                        <p:tav tm="100000">
                                          <p:val>
                                            <p:strVal val="#ppt_y"/>
                                          </p:val>
                                        </p:tav>
                                      </p:tavLst>
                                    </p:anim>
                                    <p:animEffect transition="in" filter="fade">
                                      <p:cBhvr>
                                        <p:cTn id="56" dur="500"/>
                                        <p:tgtEl>
                                          <p:spTgt spid="21"/>
                                        </p:tgtEl>
                                      </p:cBhvr>
                                    </p:animEffect>
                                  </p:childTnLst>
                                </p:cTn>
                              </p:par>
                              <p:par>
                                <p:cTn id="62" presetID="2" presetClass="entr" presetSubtype="4" fill="hold" grpId="0" nodeType="withEffect">
                                  <p:stCondLst>
                                    <p:cond delay="240"/>
                                  </p:stCondLst>
                                  <p:childTnLst>
                                    <p:set>
                                      <p:cBhvr>
                                        <p:cTn id="58" dur="1" fill="hold">
                                          <p:stCondLst>
                                            <p:cond delay="0"/>
                                          </p:stCondLst>
                                        </p:cTn>
                                        <p:tgtEl>
                                          <p:spTgt spid="22"/>
                                        </p:tgtEl>
                                        <p:attrNameLst>
                                          <p:attrName>style.visibility</p:attrName>
                                        </p:attrNameLst>
                                      </p:cBhvr>
                                      <p:to>
                                        <p:strVal val="visible"/>
                                      </p:to>
                                    </p:set>
                                    <p:anim calcmode="lin" valueType="num">
                                      <p:cBhvr additive="base">
                                        <p:cTn id="59" dur="500" fill="hold"/>
                                        <p:tgtEl>
                                          <p:spTgt spid="22"/>
                                        </p:tgtEl>
                                        <p:attrNameLst>
                                          <p:attrName>ppt_x</p:attrName>
                                        </p:attrNameLst>
                                      </p:cBhvr>
                                      <p:tavLst>
                                        <p:tav tm="0">
                                          <p:val>
                                            <p:strVal val="#ppt_x"/>
                                          </p:val>
                                        </p:tav>
                                        <p:tav tm="100000">
                                          <p:val>
                                            <p:strVal val="#ppt_x"/>
                                          </p:val>
                                        </p:tav>
                                      </p:tavLst>
                                    </p:anim>
                                    <p:anim calcmode="lin" valueType="num">
                                      <p:cBhvr additive="base">
                                        <p:cTn id="60" dur="500" fill="hold"/>
                                        <p:tgtEl>
                                          <p:spTgt spid="22"/>
                                        </p:tgtEl>
                                        <p:attrNameLst>
                                          <p:attrName>ppt_y</p:attrName>
                                        </p:attrNameLst>
                                      </p:cBhvr>
                                      <p:tavLst>
                                        <p:tav tm="0">
                                          <p:val>
                                            <p:strVal val="#ppt_y+0.1"/>
                                          </p:val>
                                        </p:tav>
                                        <p:tav tm="100000">
                                          <p:val>
                                            <p:strVal val="#ppt_y"/>
                                          </p:val>
                                        </p:tav>
                                      </p:tavLst>
                                    </p:anim>
                                    <p:animEffect transition="in" filter="fade">
                                      <p:cBhvr>
                                        <p:cTn id="61" dur="500"/>
                                        <p:tgtEl>
                                          <p:spTgt spid="22"/>
                                        </p:tgtEl>
                                      </p:cBhvr>
                                    </p:animEffect>
                                  </p:childTnLst>
                                </p:cTn>
                              </p:par>
                              <p:par>
                                <p:cTn id="67" presetID="2" presetClass="entr" presetSubtype="4" fill="hold" grpId="0" nodeType="withEffect">
                                  <p:stCondLst>
                                    <p:cond delay="240"/>
                                  </p:stCondLst>
                                  <p:childTnLst>
                                    <p:set>
                                      <p:cBhvr>
                                        <p:cTn id="63" dur="1" fill="hold">
                                          <p:stCondLst>
                                            <p:cond delay="0"/>
                                          </p:stCondLst>
                                        </p:cTn>
                                        <p:tgtEl>
                                          <p:spTgt spid="23"/>
                                        </p:tgtEl>
                                        <p:attrNameLst>
                                          <p:attrName>style.visibility</p:attrName>
                                        </p:attrNameLst>
                                      </p:cBhvr>
                                      <p:to>
                                        <p:strVal val="visible"/>
                                      </p:to>
                                    </p:set>
                                    <p:anim calcmode="lin" valueType="num">
                                      <p:cBhvr additive="base">
                                        <p:cTn id="64" dur="500" fill="hold"/>
                                        <p:tgtEl>
                                          <p:spTgt spid="23"/>
                                        </p:tgtEl>
                                        <p:attrNameLst>
                                          <p:attrName>ppt_x</p:attrName>
                                        </p:attrNameLst>
                                      </p:cBhvr>
                                      <p:tavLst>
                                        <p:tav tm="0">
                                          <p:val>
                                            <p:strVal val="#ppt_x"/>
                                          </p:val>
                                        </p:tav>
                                        <p:tav tm="100000">
                                          <p:val>
                                            <p:strVal val="#ppt_x"/>
                                          </p:val>
                                        </p:tav>
                                      </p:tavLst>
                                    </p:anim>
                                    <p:anim calcmode="lin" valueType="num">
                                      <p:cBhvr additive="base">
                                        <p:cTn id="65" dur="500" fill="hold"/>
                                        <p:tgtEl>
                                          <p:spTgt spid="23"/>
                                        </p:tgtEl>
                                        <p:attrNameLst>
                                          <p:attrName>ppt_y</p:attrName>
                                        </p:attrNameLst>
                                      </p:cBhvr>
                                      <p:tavLst>
                                        <p:tav tm="0">
                                          <p:val>
                                            <p:strVal val="#ppt_y+0.1"/>
                                          </p:val>
                                        </p:tav>
                                        <p:tav tm="100000">
                                          <p:val>
                                            <p:strVal val="#ppt_y"/>
                                          </p:val>
                                        </p:tav>
                                      </p:tavLst>
                                    </p:anim>
                                    <p:animEffect transition="in" filter="fade">
                                      <p:cBhvr>
                                        <p:cTn id="66" dur="500"/>
                                        <p:tgtEl>
                                          <p:spTgt spid="23"/>
                                        </p:tgtEl>
                                      </p:cBhvr>
                                    </p:animEffect>
                                  </p:childTnLst>
                                </p:cTn>
                              </p:par>
                              <p:par>
                                <p:cTn id="72" presetID="2" presetClass="entr" presetSubtype="4" fill="hold" grpId="0" nodeType="withEffect">
                                  <p:stCondLst>
                                    <p:cond delay="240"/>
                                  </p:stCondLst>
                                  <p:childTnLst>
                                    <p:set>
                                      <p:cBhvr>
                                        <p:cTn id="68" dur="1" fill="hold">
                                          <p:stCondLst>
                                            <p:cond delay="0"/>
                                          </p:stCondLst>
                                        </p:cTn>
                                        <p:tgtEl>
                                          <p:spTgt spid="24"/>
                                        </p:tgtEl>
                                        <p:attrNameLst>
                                          <p:attrName>style.visibility</p:attrName>
                                        </p:attrNameLst>
                                      </p:cBhvr>
                                      <p:to>
                                        <p:strVal val="visible"/>
                                      </p:to>
                                    </p:set>
                                    <p:anim calcmode="lin" valueType="num">
                                      <p:cBhvr additive="base">
                                        <p:cTn id="69" dur="500" fill="hold"/>
                                        <p:tgtEl>
                                          <p:spTgt spid="24"/>
                                        </p:tgtEl>
                                        <p:attrNameLst>
                                          <p:attrName>ppt_x</p:attrName>
                                        </p:attrNameLst>
                                      </p:cBhvr>
                                      <p:tavLst>
                                        <p:tav tm="0">
                                          <p:val>
                                            <p:strVal val="#ppt_x"/>
                                          </p:val>
                                        </p:tav>
                                        <p:tav tm="100000">
                                          <p:val>
                                            <p:strVal val="#ppt_x"/>
                                          </p:val>
                                        </p:tav>
                                      </p:tavLst>
                                    </p:anim>
                                    <p:anim calcmode="lin" valueType="num">
                                      <p:cBhvr additive="base">
                                        <p:cTn id="70" dur="500" fill="hold"/>
                                        <p:tgtEl>
                                          <p:spTgt spid="24"/>
                                        </p:tgtEl>
                                        <p:attrNameLst>
                                          <p:attrName>ppt_y</p:attrName>
                                        </p:attrNameLst>
                                      </p:cBhvr>
                                      <p:tavLst>
                                        <p:tav tm="0">
                                          <p:val>
                                            <p:strVal val="#ppt_y+0.1"/>
                                          </p:val>
                                        </p:tav>
                                        <p:tav tm="100000">
                                          <p:val>
                                            <p:strVal val="#ppt_y"/>
                                          </p:val>
                                        </p:tav>
                                      </p:tavLst>
                                    </p:anim>
                                    <p:animEffect transition="in" filter="fade">
                                      <p:cBhvr>
                                        <p:cTn id="71" dur="500"/>
                                        <p:tgtEl>
                                          <p:spTgt spid="24"/>
                                        </p:tgtEl>
                                      </p:cBhvr>
                                    </p:animEffect>
                                  </p:childTnLst>
                                </p:cTn>
                              </p:par>
                              <p:par>
                                <p:cTn id="77" presetID="2" presetClass="entr" presetSubtype="4" fill="hold" grpId="0" nodeType="withEffect">
                                  <p:stCondLst>
                                    <p:cond delay="240"/>
                                  </p:stCondLst>
                                  <p:childTnLst>
                                    <p:set>
                                      <p:cBhvr>
                                        <p:cTn id="73" dur="1" fill="hold">
                                          <p:stCondLst>
                                            <p:cond delay="0"/>
                                          </p:stCondLst>
                                        </p:cTn>
                                        <p:tgtEl>
                                          <p:spTgt spid="25"/>
                                        </p:tgtEl>
                                        <p:attrNameLst>
                                          <p:attrName>style.visibility</p:attrName>
                                        </p:attrNameLst>
                                      </p:cBhvr>
                                      <p:to>
                                        <p:strVal val="visible"/>
                                      </p:to>
                                    </p:set>
                                    <p:anim calcmode="lin" valueType="num">
                                      <p:cBhvr additive="base">
                                        <p:cTn id="74" dur="500" fill="hold"/>
                                        <p:tgtEl>
                                          <p:spTgt spid="25"/>
                                        </p:tgtEl>
                                        <p:attrNameLst>
                                          <p:attrName>ppt_x</p:attrName>
                                        </p:attrNameLst>
                                      </p:cBhvr>
                                      <p:tavLst>
                                        <p:tav tm="0">
                                          <p:val>
                                            <p:strVal val="#ppt_x"/>
                                          </p:val>
                                        </p:tav>
                                        <p:tav tm="100000">
                                          <p:val>
                                            <p:strVal val="#ppt_x"/>
                                          </p:val>
                                        </p:tav>
                                      </p:tavLst>
                                    </p:anim>
                                    <p:anim calcmode="lin" valueType="num">
                                      <p:cBhvr additive="base">
                                        <p:cTn id="75" dur="500" fill="hold"/>
                                        <p:tgtEl>
                                          <p:spTgt spid="25"/>
                                        </p:tgtEl>
                                        <p:attrNameLst>
                                          <p:attrName>ppt_y</p:attrName>
                                        </p:attrNameLst>
                                      </p:cBhvr>
                                      <p:tavLst>
                                        <p:tav tm="0">
                                          <p:val>
                                            <p:strVal val="#ppt_y+0.1"/>
                                          </p:val>
                                        </p:tav>
                                        <p:tav tm="100000">
                                          <p:val>
                                            <p:strVal val="#ppt_y"/>
                                          </p:val>
                                        </p:tav>
                                      </p:tavLst>
                                    </p:anim>
                                    <p:animEffect transition="in" filter="fade">
                                      <p:cBhvr>
                                        <p:cTn id="76" dur="500"/>
                                        <p:tgtEl>
                                          <p:spTgt spid="25"/>
                                        </p:tgtEl>
                                      </p:cBhvr>
                                    </p:animEffect>
                                  </p:childTnLst>
                                </p:cTn>
                              </p:par>
                              <p:par>
                                <p:cTn id="82" presetID="2" presetClass="entr" presetSubtype="4" fill="hold" grpId="0" nodeType="withEffect">
                                  <p:stCondLst>
                                    <p:cond delay="240"/>
                                  </p:stCondLst>
                                  <p:childTnLst>
                                    <p:set>
                                      <p:cBhvr>
                                        <p:cTn id="78" dur="1" fill="hold">
                                          <p:stCondLst>
                                            <p:cond delay="0"/>
                                          </p:stCondLst>
                                        </p:cTn>
                                        <p:tgtEl>
                                          <p:spTgt spid="26"/>
                                        </p:tgtEl>
                                        <p:attrNameLst>
                                          <p:attrName>style.visibility</p:attrName>
                                        </p:attrNameLst>
                                      </p:cBhvr>
                                      <p:to>
                                        <p:strVal val="visible"/>
                                      </p:to>
                                    </p:set>
                                    <p:anim calcmode="lin" valueType="num">
                                      <p:cBhvr additive="base">
                                        <p:cTn id="79" dur="500" fill="hold"/>
                                        <p:tgtEl>
                                          <p:spTgt spid="26"/>
                                        </p:tgtEl>
                                        <p:attrNameLst>
                                          <p:attrName>ppt_x</p:attrName>
                                        </p:attrNameLst>
                                      </p:cBhvr>
                                      <p:tavLst>
                                        <p:tav tm="0">
                                          <p:val>
                                            <p:strVal val="#ppt_x"/>
                                          </p:val>
                                        </p:tav>
                                        <p:tav tm="100000">
                                          <p:val>
                                            <p:strVal val="#ppt_x"/>
                                          </p:val>
                                        </p:tav>
                                      </p:tavLst>
                                    </p:anim>
                                    <p:anim calcmode="lin" valueType="num">
                                      <p:cBhvr additive="base">
                                        <p:cTn id="80" dur="500" fill="hold"/>
                                        <p:tgtEl>
                                          <p:spTgt spid="26"/>
                                        </p:tgtEl>
                                        <p:attrNameLst>
                                          <p:attrName>ppt_y</p:attrName>
                                        </p:attrNameLst>
                                      </p:cBhvr>
                                      <p:tavLst>
                                        <p:tav tm="0">
                                          <p:val>
                                            <p:strVal val="#ppt_y+0.1"/>
                                          </p:val>
                                        </p:tav>
                                        <p:tav tm="100000">
                                          <p:val>
                                            <p:strVal val="#ppt_y"/>
                                          </p:val>
                                        </p:tav>
                                      </p:tavLst>
                                    </p:anim>
                                    <p:animEffect transition="in" filter="fade">
                                      <p:cBhvr>
                                        <p:cTn id="81" dur="500"/>
                                        <p:tgtEl>
                                          <p:spTgt spid="26"/>
                                        </p:tgtEl>
                                      </p:cBhvr>
                                    </p:animEffect>
                                  </p:childTnLst>
                                </p:cTn>
                              </p:par>
                            </p:childTnLst>
                          </p:cTn>
                        </p:par>
                      </p:childTnLst>
                    </p:cTn>
                  </p:par>
                  <p:par>
                    <p:cTn id="83" fill="hold">
                      <p:stCondLst>
                        <p:cond delay="indefinite"/>
                      </p:stCondLst>
                      <p:childTnLst>
                        <p:par>
                          <p:cTn id="84" fill="hold">
                            <p:stCondLst>
                              <p:cond delay="0"/>
                            </p:stCondLst>
                            <p:childTnLst>
                              <p:par>
                                <p:cTn id="89" presetID="2" presetClass="entr" presetSubtype="4" fill="hold" grpId="0" nodeType="clickEffect">
                                  <p:stCondLst>
                                    <p:cond delay="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1"/>
                                          </p:val>
                                        </p:tav>
                                        <p:tav tm="100000">
                                          <p:val>
                                            <p:strVal val="#ppt_y"/>
                                          </p:val>
                                        </p:tav>
                                      </p:tavLst>
                                    </p:anim>
                                    <p:animEffect transition="in" filter="fade">
                                      <p:cBhvr>
                                        <p:cTn id="98" dur="500"/>
                                        <p:tgtEl>
                                          <p:spTgt spid="29"/>
                                        </p:tgtEl>
                                      </p:cBhvr>
                                    </p:animEffect>
                                  </p:childTnLst>
                                </p:cTn>
                              </p:par>
                              <p:par>
                                <p:cTn id="104" presetID="2" presetClass="entr" presetSubtype="4" fill="hold" grpId="0" nodeType="withEffect">
                                  <p:stCondLst>
                                    <p:cond delay="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ppt_x</p:attrName>
                                        </p:attrNameLst>
                                      </p:cBhvr>
                                      <p:tavLst>
                                        <p:tav tm="0">
                                          <p:val>
                                            <p:strVal val="#ppt_x"/>
                                          </p:val>
                                        </p:tav>
                                        <p:tav tm="100000">
                                          <p:val>
                                            <p:strVal val="#ppt_x"/>
                                          </p:val>
                                        </p:tav>
                                      </p:tavLst>
                                    </p:anim>
                                    <p:anim calcmode="lin" valueType="num">
                                      <p:cBhvr additive="base">
                                        <p:cTn id="102" dur="500" fill="hold"/>
                                        <p:tgtEl>
                                          <p:spTgt spid="30"/>
                                        </p:tgtEl>
                                        <p:attrNameLst>
                                          <p:attrName>ppt_y</p:attrName>
                                        </p:attrNameLst>
                                      </p:cBhvr>
                                      <p:tavLst>
                                        <p:tav tm="0">
                                          <p:val>
                                            <p:strVal val="#ppt_y+0.1"/>
                                          </p:val>
                                        </p:tav>
                                        <p:tav tm="100000">
                                          <p:val>
                                            <p:strVal val="#ppt_y"/>
                                          </p:val>
                                        </p:tav>
                                      </p:tavLst>
                                    </p:anim>
                                    <p:animEffect transition="in" filter="fade">
                                      <p:cBhvr>
                                        <p:cTn id="103" dur="500"/>
                                        <p:tgtEl>
                                          <p:spTgt spid="30"/>
                                        </p:tgtEl>
                                      </p:cBhvr>
                                    </p:animEffect>
                                  </p:childTnLst>
                                </p:cTn>
                              </p:par>
                              <p:par>
                                <p:cTn id="109" presetID="2" presetClass="entr" presetSubtype="4" fill="hold" grpId="0" nodeType="withEffect">
                                  <p:stCondLst>
                                    <p:cond delay="0"/>
                                  </p:stCondLst>
                                  <p:childTnLst>
                                    <p:set>
                                      <p:cBhvr>
                                        <p:cTn id="105" dur="1" fill="hold">
                                          <p:stCondLst>
                                            <p:cond delay="0"/>
                                          </p:stCondLst>
                                        </p:cTn>
                                        <p:tgtEl>
                                          <p:spTgt spid="31"/>
                                        </p:tgtEl>
                                        <p:attrNameLst>
                                          <p:attrName>style.visibility</p:attrName>
                                        </p:attrNameLst>
                                      </p:cBhvr>
                                      <p:to>
                                        <p:strVal val="visible"/>
                                      </p:to>
                                    </p:set>
                                    <p:anim calcmode="lin" valueType="num">
                                      <p:cBhvr additive="base">
                                        <p:cTn id="106" dur="500" fill="hold"/>
                                        <p:tgtEl>
                                          <p:spTgt spid="31"/>
                                        </p:tgtEl>
                                        <p:attrNameLst>
                                          <p:attrName>ppt_x</p:attrName>
                                        </p:attrNameLst>
                                      </p:cBhvr>
                                      <p:tavLst>
                                        <p:tav tm="0">
                                          <p:val>
                                            <p:strVal val="#ppt_x"/>
                                          </p:val>
                                        </p:tav>
                                        <p:tav tm="100000">
                                          <p:val>
                                            <p:strVal val="#ppt_x"/>
                                          </p:val>
                                        </p:tav>
                                      </p:tavLst>
                                    </p:anim>
                                    <p:anim calcmode="lin" valueType="num">
                                      <p:cBhvr additive="base">
                                        <p:cTn id="107" dur="500" fill="hold"/>
                                        <p:tgtEl>
                                          <p:spTgt spid="31"/>
                                        </p:tgtEl>
                                        <p:attrNameLst>
                                          <p:attrName>ppt_y</p:attrName>
                                        </p:attrNameLst>
                                      </p:cBhvr>
                                      <p:tavLst>
                                        <p:tav tm="0">
                                          <p:val>
                                            <p:strVal val="#ppt_y+0.1"/>
                                          </p:val>
                                        </p:tav>
                                        <p:tav tm="100000">
                                          <p:val>
                                            <p:strVal val="#ppt_y"/>
                                          </p:val>
                                        </p:tav>
                                      </p:tavLst>
                                    </p:anim>
                                    <p:animEffect transition="in" filter="fade">
                                      <p:cBhvr>
                                        <p:cTn id="108" dur="500"/>
                                        <p:tgtEl>
                                          <p:spTgt spid="31"/>
                                        </p:tgtEl>
                                      </p:cBhvr>
                                    </p:animEffect>
                                  </p:childTnLst>
                                </p:cTn>
                              </p:par>
                              <p:par>
                                <p:cTn id="114" presetID="2" presetClass="entr" presetSubtype="4" fill="hold" grpId="0" nodeType="withEffect">
                                  <p:stCondLst>
                                    <p:cond delay="120"/>
                                  </p:stCondLst>
                                  <p:childTnLst>
                                    <p:set>
                                      <p:cBhvr>
                                        <p:cTn id="110" dur="1" fill="hold">
                                          <p:stCondLst>
                                            <p:cond delay="0"/>
                                          </p:stCondLst>
                                        </p:cTn>
                                        <p:tgtEl>
                                          <p:spTgt spid="32"/>
                                        </p:tgtEl>
                                        <p:attrNameLst>
                                          <p:attrName>style.visibility</p:attrName>
                                        </p:attrNameLst>
                                      </p:cBhvr>
                                      <p:to>
                                        <p:strVal val="visible"/>
                                      </p:to>
                                    </p:set>
                                    <p:anim calcmode="lin" valueType="num">
                                      <p:cBhvr additive="base">
                                        <p:cTn id="111" dur="500" fill="hold"/>
                                        <p:tgtEl>
                                          <p:spTgt spid="32"/>
                                        </p:tgtEl>
                                        <p:attrNameLst>
                                          <p:attrName>ppt_x</p:attrName>
                                        </p:attrNameLst>
                                      </p:cBhvr>
                                      <p:tavLst>
                                        <p:tav tm="0">
                                          <p:val>
                                            <p:strVal val="#ppt_x"/>
                                          </p:val>
                                        </p:tav>
                                        <p:tav tm="100000">
                                          <p:val>
                                            <p:strVal val="#ppt_x"/>
                                          </p:val>
                                        </p:tav>
                                      </p:tavLst>
                                    </p:anim>
                                    <p:anim calcmode="lin" valueType="num">
                                      <p:cBhvr additive="base">
                                        <p:cTn id="112" dur="500" fill="hold"/>
                                        <p:tgtEl>
                                          <p:spTgt spid="32"/>
                                        </p:tgtEl>
                                        <p:attrNameLst>
                                          <p:attrName>ppt_y</p:attrName>
                                        </p:attrNameLst>
                                      </p:cBhvr>
                                      <p:tavLst>
                                        <p:tav tm="0">
                                          <p:val>
                                            <p:strVal val="#ppt_y+0.1"/>
                                          </p:val>
                                        </p:tav>
                                        <p:tav tm="100000">
                                          <p:val>
                                            <p:strVal val="#ppt_y"/>
                                          </p:val>
                                        </p:tav>
                                      </p:tavLst>
                                    </p:anim>
                                    <p:animEffect transition="in" filter="fade">
                                      <p:cBhvr>
                                        <p:cTn id="113" dur="500"/>
                                        <p:tgtEl>
                                          <p:spTgt spid="32"/>
                                        </p:tgtEl>
                                      </p:cBhvr>
                                    </p:animEffect>
                                  </p:childTnLst>
                                </p:cTn>
                              </p:par>
                              <p:par>
                                <p:cTn id="119" presetID="2" presetClass="entr" presetSubtype="4" fill="hold" grpId="0" nodeType="withEffect">
                                  <p:stCondLst>
                                    <p:cond delay="120"/>
                                  </p:stCondLst>
                                  <p:childTnLst>
                                    <p:set>
                                      <p:cBhvr>
                                        <p:cTn id="115" dur="1" fill="hold">
                                          <p:stCondLst>
                                            <p:cond delay="0"/>
                                          </p:stCondLst>
                                        </p:cTn>
                                        <p:tgtEl>
                                          <p:spTgt spid="33"/>
                                        </p:tgtEl>
                                        <p:attrNameLst>
                                          <p:attrName>style.visibility</p:attrName>
                                        </p:attrNameLst>
                                      </p:cBhvr>
                                      <p:to>
                                        <p:strVal val="visible"/>
                                      </p:to>
                                    </p:set>
                                    <p:anim calcmode="lin" valueType="num">
                                      <p:cBhvr additive="base">
                                        <p:cTn id="116" dur="500" fill="hold"/>
                                        <p:tgtEl>
                                          <p:spTgt spid="33"/>
                                        </p:tgtEl>
                                        <p:attrNameLst>
                                          <p:attrName>ppt_x</p:attrName>
                                        </p:attrNameLst>
                                      </p:cBhvr>
                                      <p:tavLst>
                                        <p:tav tm="0">
                                          <p:val>
                                            <p:strVal val="#ppt_x"/>
                                          </p:val>
                                        </p:tav>
                                        <p:tav tm="100000">
                                          <p:val>
                                            <p:strVal val="#ppt_x"/>
                                          </p:val>
                                        </p:tav>
                                      </p:tavLst>
                                    </p:anim>
                                    <p:anim calcmode="lin" valueType="num">
                                      <p:cBhvr additive="base">
                                        <p:cTn id="117" dur="500" fill="hold"/>
                                        <p:tgtEl>
                                          <p:spTgt spid="33"/>
                                        </p:tgtEl>
                                        <p:attrNameLst>
                                          <p:attrName>ppt_y</p:attrName>
                                        </p:attrNameLst>
                                      </p:cBhvr>
                                      <p:tavLst>
                                        <p:tav tm="0">
                                          <p:val>
                                            <p:strVal val="#ppt_y+0.1"/>
                                          </p:val>
                                        </p:tav>
                                        <p:tav tm="100000">
                                          <p:val>
                                            <p:strVal val="#ppt_y"/>
                                          </p:val>
                                        </p:tav>
                                      </p:tavLst>
                                    </p:anim>
                                    <p:animEffect transition="in" filter="fade">
                                      <p:cBhvr>
                                        <p:cTn id="118" dur="500"/>
                                        <p:tgtEl>
                                          <p:spTgt spid="33"/>
                                        </p:tgtEl>
                                      </p:cBhvr>
                                    </p:animEffect>
                                  </p:childTnLst>
                                </p:cTn>
                              </p:par>
                              <p:par>
                                <p:cTn id="124" presetID="2" presetClass="entr" presetSubtype="4" fill="hold" grpId="0" nodeType="withEffect">
                                  <p:stCondLst>
                                    <p:cond delay="12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ppt_x</p:attrName>
                                        </p:attrNameLst>
                                      </p:cBhvr>
                                      <p:tavLst>
                                        <p:tav tm="0">
                                          <p:val>
                                            <p:strVal val="#ppt_x"/>
                                          </p:val>
                                        </p:tav>
                                        <p:tav tm="100000">
                                          <p:val>
                                            <p:strVal val="#ppt_x"/>
                                          </p:val>
                                        </p:tav>
                                      </p:tavLst>
                                    </p:anim>
                                    <p:anim calcmode="lin" valueType="num">
                                      <p:cBhvr additive="base">
                                        <p:cTn id="122" dur="500" fill="hold"/>
                                        <p:tgtEl>
                                          <p:spTgt spid="34"/>
                                        </p:tgtEl>
                                        <p:attrNameLst>
                                          <p:attrName>ppt_y</p:attrName>
                                        </p:attrNameLst>
                                      </p:cBhvr>
                                      <p:tavLst>
                                        <p:tav tm="0">
                                          <p:val>
                                            <p:strVal val="#ppt_y+0.1"/>
                                          </p:val>
                                        </p:tav>
                                        <p:tav tm="100000">
                                          <p:val>
                                            <p:strVal val="#ppt_y"/>
                                          </p:val>
                                        </p:tav>
                                      </p:tavLst>
                                    </p:anim>
                                    <p:animEffect transition="in" filter="fade">
                                      <p:cBhvr>
                                        <p:cTn id="123" dur="500"/>
                                        <p:tgtEl>
                                          <p:spTgt spid="34"/>
                                        </p:tgtEl>
                                      </p:cBhvr>
                                    </p:animEffect>
                                  </p:childTnLst>
                                </p:cTn>
                              </p:par>
                              <p:par>
                                <p:cTn id="129" presetID="2" presetClass="entr" presetSubtype="4" fill="hold" grpId="0" nodeType="withEffect">
                                  <p:stCondLst>
                                    <p:cond delay="120"/>
                                  </p:stCondLst>
                                  <p:childTnLst>
                                    <p:set>
                                      <p:cBhvr>
                                        <p:cTn id="125" dur="1" fill="hold">
                                          <p:stCondLst>
                                            <p:cond delay="0"/>
                                          </p:stCondLst>
                                        </p:cTn>
                                        <p:tgtEl>
                                          <p:spTgt spid="35"/>
                                        </p:tgtEl>
                                        <p:attrNameLst>
                                          <p:attrName>style.visibility</p:attrName>
                                        </p:attrNameLst>
                                      </p:cBhvr>
                                      <p:to>
                                        <p:strVal val="visible"/>
                                      </p:to>
                                    </p:set>
                                    <p:anim calcmode="lin" valueType="num">
                                      <p:cBhvr additive="base">
                                        <p:cTn id="126" dur="500" fill="hold"/>
                                        <p:tgtEl>
                                          <p:spTgt spid="35"/>
                                        </p:tgtEl>
                                        <p:attrNameLst>
                                          <p:attrName>ppt_x</p:attrName>
                                        </p:attrNameLst>
                                      </p:cBhvr>
                                      <p:tavLst>
                                        <p:tav tm="0">
                                          <p:val>
                                            <p:strVal val="#ppt_x"/>
                                          </p:val>
                                        </p:tav>
                                        <p:tav tm="100000">
                                          <p:val>
                                            <p:strVal val="#ppt_x"/>
                                          </p:val>
                                        </p:tav>
                                      </p:tavLst>
                                    </p:anim>
                                    <p:anim calcmode="lin" valueType="num">
                                      <p:cBhvr additive="base">
                                        <p:cTn id="127" dur="500" fill="hold"/>
                                        <p:tgtEl>
                                          <p:spTgt spid="35"/>
                                        </p:tgtEl>
                                        <p:attrNameLst>
                                          <p:attrName>ppt_y</p:attrName>
                                        </p:attrNameLst>
                                      </p:cBhvr>
                                      <p:tavLst>
                                        <p:tav tm="0">
                                          <p:val>
                                            <p:strVal val="#ppt_y+0.1"/>
                                          </p:val>
                                        </p:tav>
                                        <p:tav tm="100000">
                                          <p:val>
                                            <p:strVal val="#ppt_y"/>
                                          </p:val>
                                        </p:tav>
                                      </p:tavLst>
                                    </p:anim>
                                    <p:animEffect transition="in" filter="fade">
                                      <p:cBhvr>
                                        <p:cTn id="128" dur="500"/>
                                        <p:tgtEl>
                                          <p:spTgt spid="35"/>
                                        </p:tgtEl>
                                      </p:cBhvr>
                                    </p:animEffect>
                                  </p:childTnLst>
                                </p:cTn>
                              </p:par>
                              <p:par>
                                <p:cTn id="134" presetID="2" presetClass="entr" presetSubtype="4" fill="hold" grpId="0" nodeType="withEffect">
                                  <p:stCondLst>
                                    <p:cond delay="120"/>
                                  </p:stCondLst>
                                  <p:childTnLst>
                                    <p:set>
                                      <p:cBhvr>
                                        <p:cTn id="130" dur="1" fill="hold">
                                          <p:stCondLst>
                                            <p:cond delay="0"/>
                                          </p:stCondLst>
                                        </p:cTn>
                                        <p:tgtEl>
                                          <p:spTgt spid="36"/>
                                        </p:tgtEl>
                                        <p:attrNameLst>
                                          <p:attrName>style.visibility</p:attrName>
                                        </p:attrNameLst>
                                      </p:cBhvr>
                                      <p:to>
                                        <p:strVal val="visible"/>
                                      </p:to>
                                    </p:set>
                                    <p:anim calcmode="lin" valueType="num">
                                      <p:cBhvr additive="base">
                                        <p:cTn id="131" dur="500" fill="hold"/>
                                        <p:tgtEl>
                                          <p:spTgt spid="36"/>
                                        </p:tgtEl>
                                        <p:attrNameLst>
                                          <p:attrName>ppt_x</p:attrName>
                                        </p:attrNameLst>
                                      </p:cBhvr>
                                      <p:tavLst>
                                        <p:tav tm="0">
                                          <p:val>
                                            <p:strVal val="#ppt_x"/>
                                          </p:val>
                                        </p:tav>
                                        <p:tav tm="100000">
                                          <p:val>
                                            <p:strVal val="#ppt_x"/>
                                          </p:val>
                                        </p:tav>
                                      </p:tavLst>
                                    </p:anim>
                                    <p:anim calcmode="lin" valueType="num">
                                      <p:cBhvr additive="base">
                                        <p:cTn id="132" dur="500" fill="hold"/>
                                        <p:tgtEl>
                                          <p:spTgt spid="36"/>
                                        </p:tgtEl>
                                        <p:attrNameLst>
                                          <p:attrName>ppt_y</p:attrName>
                                        </p:attrNameLst>
                                      </p:cBhvr>
                                      <p:tavLst>
                                        <p:tav tm="0">
                                          <p:val>
                                            <p:strVal val="#ppt_y+0.1"/>
                                          </p:val>
                                        </p:tav>
                                        <p:tav tm="100000">
                                          <p:val>
                                            <p:strVal val="#ppt_y"/>
                                          </p:val>
                                        </p:tav>
                                      </p:tavLst>
                                    </p:anim>
                                    <p:animEffect transition="in" filter="fade">
                                      <p:cBhvr>
                                        <p:cTn id="133" dur="500"/>
                                        <p:tgtEl>
                                          <p:spTgt spid="36"/>
                                        </p:tgtEl>
                                      </p:cBhvr>
                                    </p:animEffect>
                                  </p:childTnLst>
                                </p:cTn>
                              </p:par>
                              <p:par>
                                <p:cTn id="139" presetID="2" presetClass="entr" presetSubtype="4" fill="hold" grpId="0" nodeType="withEffect">
                                  <p:stCondLst>
                                    <p:cond delay="240"/>
                                  </p:stCondLst>
                                  <p:childTnLst>
                                    <p:set>
                                      <p:cBhvr>
                                        <p:cTn id="135" dur="1" fill="hold">
                                          <p:stCondLst>
                                            <p:cond delay="0"/>
                                          </p:stCondLst>
                                        </p:cTn>
                                        <p:tgtEl>
                                          <p:spTgt spid="37"/>
                                        </p:tgtEl>
                                        <p:attrNameLst>
                                          <p:attrName>style.visibility</p:attrName>
                                        </p:attrNameLst>
                                      </p:cBhvr>
                                      <p:to>
                                        <p:strVal val="visible"/>
                                      </p:to>
                                    </p:set>
                                    <p:anim calcmode="lin" valueType="num">
                                      <p:cBhvr additive="base">
                                        <p:cTn id="136" dur="500" fill="hold"/>
                                        <p:tgtEl>
                                          <p:spTgt spid="37"/>
                                        </p:tgtEl>
                                        <p:attrNameLst>
                                          <p:attrName>ppt_x</p:attrName>
                                        </p:attrNameLst>
                                      </p:cBhvr>
                                      <p:tavLst>
                                        <p:tav tm="0">
                                          <p:val>
                                            <p:strVal val="#ppt_x"/>
                                          </p:val>
                                        </p:tav>
                                        <p:tav tm="100000">
                                          <p:val>
                                            <p:strVal val="#ppt_x"/>
                                          </p:val>
                                        </p:tav>
                                      </p:tavLst>
                                    </p:anim>
                                    <p:anim calcmode="lin" valueType="num">
                                      <p:cBhvr additive="base">
                                        <p:cTn id="137" dur="500" fill="hold"/>
                                        <p:tgtEl>
                                          <p:spTgt spid="37"/>
                                        </p:tgtEl>
                                        <p:attrNameLst>
                                          <p:attrName>ppt_y</p:attrName>
                                        </p:attrNameLst>
                                      </p:cBhvr>
                                      <p:tavLst>
                                        <p:tav tm="0">
                                          <p:val>
                                            <p:strVal val="#ppt_y+0.1"/>
                                          </p:val>
                                        </p:tav>
                                        <p:tav tm="100000">
                                          <p:val>
                                            <p:strVal val="#ppt_y"/>
                                          </p:val>
                                        </p:tav>
                                      </p:tavLst>
                                    </p:anim>
                                    <p:animEffect transition="in" filter="fade">
                                      <p:cBhvr>
                                        <p:cTn id="138" dur="500"/>
                                        <p:tgtEl>
                                          <p:spTgt spid="37"/>
                                        </p:tgtEl>
                                      </p:cBhvr>
                                    </p:animEffect>
                                  </p:childTnLst>
                                </p:cTn>
                              </p:par>
                              <p:par>
                                <p:cTn id="144" presetID="2" presetClass="entr" presetSubtype="4" fill="hold" grpId="0" nodeType="withEffect">
                                  <p:stCondLst>
                                    <p:cond delay="240"/>
                                  </p:stCondLst>
                                  <p:childTnLst>
                                    <p:set>
                                      <p:cBhvr>
                                        <p:cTn id="140" dur="1" fill="hold">
                                          <p:stCondLst>
                                            <p:cond delay="0"/>
                                          </p:stCondLst>
                                        </p:cTn>
                                        <p:tgtEl>
                                          <p:spTgt spid="38"/>
                                        </p:tgtEl>
                                        <p:attrNameLst>
                                          <p:attrName>style.visibility</p:attrName>
                                        </p:attrNameLst>
                                      </p:cBhvr>
                                      <p:to>
                                        <p:strVal val="visible"/>
                                      </p:to>
                                    </p:set>
                                    <p:anim calcmode="lin" valueType="num">
                                      <p:cBhvr additive="base">
                                        <p:cTn id="141" dur="500" fill="hold"/>
                                        <p:tgtEl>
                                          <p:spTgt spid="38"/>
                                        </p:tgtEl>
                                        <p:attrNameLst>
                                          <p:attrName>ppt_x</p:attrName>
                                        </p:attrNameLst>
                                      </p:cBhvr>
                                      <p:tavLst>
                                        <p:tav tm="0">
                                          <p:val>
                                            <p:strVal val="#ppt_x"/>
                                          </p:val>
                                        </p:tav>
                                        <p:tav tm="100000">
                                          <p:val>
                                            <p:strVal val="#ppt_x"/>
                                          </p:val>
                                        </p:tav>
                                      </p:tavLst>
                                    </p:anim>
                                    <p:anim calcmode="lin" valueType="num">
                                      <p:cBhvr additive="base">
                                        <p:cTn id="142" dur="500" fill="hold"/>
                                        <p:tgtEl>
                                          <p:spTgt spid="38"/>
                                        </p:tgtEl>
                                        <p:attrNameLst>
                                          <p:attrName>ppt_y</p:attrName>
                                        </p:attrNameLst>
                                      </p:cBhvr>
                                      <p:tavLst>
                                        <p:tav tm="0">
                                          <p:val>
                                            <p:strVal val="#ppt_y+0.1"/>
                                          </p:val>
                                        </p:tav>
                                        <p:tav tm="100000">
                                          <p:val>
                                            <p:strVal val="#ppt_y"/>
                                          </p:val>
                                        </p:tav>
                                      </p:tavLst>
                                    </p:anim>
                                    <p:animEffect transition="in" filter="fade">
                                      <p:cBhvr>
                                        <p:cTn id="143" dur="500"/>
                                        <p:tgtEl>
                                          <p:spTgt spid="38"/>
                                        </p:tgtEl>
                                      </p:cBhvr>
                                    </p:animEffect>
                                  </p:childTnLst>
                                </p:cTn>
                              </p:par>
                              <p:par>
                                <p:cTn id="149" presetID="2" presetClass="entr" presetSubtype="4" fill="hold" grpId="0" nodeType="withEffect">
                                  <p:stCondLst>
                                    <p:cond delay="240"/>
                                  </p:stCondLst>
                                  <p:childTnLst>
                                    <p:set>
                                      <p:cBhvr>
                                        <p:cTn id="145" dur="1" fill="hold">
                                          <p:stCondLst>
                                            <p:cond delay="0"/>
                                          </p:stCondLst>
                                        </p:cTn>
                                        <p:tgtEl>
                                          <p:spTgt spid="39"/>
                                        </p:tgtEl>
                                        <p:attrNameLst>
                                          <p:attrName>style.visibility</p:attrName>
                                        </p:attrNameLst>
                                      </p:cBhvr>
                                      <p:to>
                                        <p:strVal val="visible"/>
                                      </p:to>
                                    </p:set>
                                    <p:anim calcmode="lin" valueType="num">
                                      <p:cBhvr additive="base">
                                        <p:cTn id="146" dur="500" fill="hold"/>
                                        <p:tgtEl>
                                          <p:spTgt spid="39"/>
                                        </p:tgtEl>
                                        <p:attrNameLst>
                                          <p:attrName>ppt_x</p:attrName>
                                        </p:attrNameLst>
                                      </p:cBhvr>
                                      <p:tavLst>
                                        <p:tav tm="0">
                                          <p:val>
                                            <p:strVal val="#ppt_x"/>
                                          </p:val>
                                        </p:tav>
                                        <p:tav tm="100000">
                                          <p:val>
                                            <p:strVal val="#ppt_x"/>
                                          </p:val>
                                        </p:tav>
                                      </p:tavLst>
                                    </p:anim>
                                    <p:anim calcmode="lin" valueType="num">
                                      <p:cBhvr additive="base">
                                        <p:cTn id="147" dur="500" fill="hold"/>
                                        <p:tgtEl>
                                          <p:spTgt spid="39"/>
                                        </p:tgtEl>
                                        <p:attrNameLst>
                                          <p:attrName>ppt_y</p:attrName>
                                        </p:attrNameLst>
                                      </p:cBhvr>
                                      <p:tavLst>
                                        <p:tav tm="0">
                                          <p:val>
                                            <p:strVal val="#ppt_y+0.1"/>
                                          </p:val>
                                        </p:tav>
                                        <p:tav tm="100000">
                                          <p:val>
                                            <p:strVal val="#ppt_y"/>
                                          </p:val>
                                        </p:tav>
                                      </p:tavLst>
                                    </p:anim>
                                    <p:animEffect transition="in" filter="fade">
                                      <p:cBhvr>
                                        <p:cTn id="148" dur="500"/>
                                        <p:tgtEl>
                                          <p:spTgt spid="39"/>
                                        </p:tgtEl>
                                      </p:cBhvr>
                                    </p:animEffect>
                                  </p:childTnLst>
                                </p:cTn>
                              </p:par>
                              <p:par>
                                <p:cTn id="154" presetID="2" presetClass="entr" presetSubtype="4" fill="hold" grpId="0" nodeType="withEffect">
                                  <p:stCondLst>
                                    <p:cond delay="240"/>
                                  </p:stCondLst>
                                  <p:childTnLst>
                                    <p:set>
                                      <p:cBhvr>
                                        <p:cTn id="150" dur="1" fill="hold">
                                          <p:stCondLst>
                                            <p:cond delay="0"/>
                                          </p:stCondLst>
                                        </p:cTn>
                                        <p:tgtEl>
                                          <p:spTgt spid="40"/>
                                        </p:tgtEl>
                                        <p:attrNameLst>
                                          <p:attrName>style.visibility</p:attrName>
                                        </p:attrNameLst>
                                      </p:cBhvr>
                                      <p:to>
                                        <p:strVal val="visible"/>
                                      </p:to>
                                    </p:set>
                                    <p:anim calcmode="lin" valueType="num">
                                      <p:cBhvr additive="base">
                                        <p:cTn id="151" dur="500" fill="hold"/>
                                        <p:tgtEl>
                                          <p:spTgt spid="40"/>
                                        </p:tgtEl>
                                        <p:attrNameLst>
                                          <p:attrName>ppt_x</p:attrName>
                                        </p:attrNameLst>
                                      </p:cBhvr>
                                      <p:tavLst>
                                        <p:tav tm="0">
                                          <p:val>
                                            <p:strVal val="#ppt_x"/>
                                          </p:val>
                                        </p:tav>
                                        <p:tav tm="100000">
                                          <p:val>
                                            <p:strVal val="#ppt_x"/>
                                          </p:val>
                                        </p:tav>
                                      </p:tavLst>
                                    </p:anim>
                                    <p:anim calcmode="lin" valueType="num">
                                      <p:cBhvr additive="base">
                                        <p:cTn id="152" dur="500" fill="hold"/>
                                        <p:tgtEl>
                                          <p:spTgt spid="40"/>
                                        </p:tgtEl>
                                        <p:attrNameLst>
                                          <p:attrName>ppt_y</p:attrName>
                                        </p:attrNameLst>
                                      </p:cBhvr>
                                      <p:tavLst>
                                        <p:tav tm="0">
                                          <p:val>
                                            <p:strVal val="#ppt_y+0.1"/>
                                          </p:val>
                                        </p:tav>
                                        <p:tav tm="100000">
                                          <p:val>
                                            <p:strVal val="#ppt_y"/>
                                          </p:val>
                                        </p:tav>
                                      </p:tavLst>
                                    </p:anim>
                                    <p:animEffect transition="in" filter="fade">
                                      <p:cBhvr>
                                        <p:cTn id="153" dur="500"/>
                                        <p:tgtEl>
                                          <p:spTgt spid="40"/>
                                        </p:tgtEl>
                                      </p:cBhvr>
                                    </p:animEffect>
                                  </p:childTnLst>
                                </p:cTn>
                              </p:par>
                              <p:par>
                                <p:cTn id="159" presetID="2" presetClass="entr" presetSubtype="4" fill="hold" grpId="0" nodeType="withEffect">
                                  <p:stCondLst>
                                    <p:cond delay="240"/>
                                  </p:stCondLst>
                                  <p:childTnLst>
                                    <p:set>
                                      <p:cBhvr>
                                        <p:cTn id="155" dur="1" fill="hold">
                                          <p:stCondLst>
                                            <p:cond delay="0"/>
                                          </p:stCondLst>
                                        </p:cTn>
                                        <p:tgtEl>
                                          <p:spTgt spid="41"/>
                                        </p:tgtEl>
                                        <p:attrNameLst>
                                          <p:attrName>style.visibility</p:attrName>
                                        </p:attrNameLst>
                                      </p:cBhvr>
                                      <p:to>
                                        <p:strVal val="visible"/>
                                      </p:to>
                                    </p:set>
                                    <p:anim calcmode="lin" valueType="num">
                                      <p:cBhvr additive="base">
                                        <p:cTn id="156" dur="500" fill="hold"/>
                                        <p:tgtEl>
                                          <p:spTgt spid="41"/>
                                        </p:tgtEl>
                                        <p:attrNameLst>
                                          <p:attrName>ppt_x</p:attrName>
                                        </p:attrNameLst>
                                      </p:cBhvr>
                                      <p:tavLst>
                                        <p:tav tm="0">
                                          <p:val>
                                            <p:strVal val="#ppt_x"/>
                                          </p:val>
                                        </p:tav>
                                        <p:tav tm="100000">
                                          <p:val>
                                            <p:strVal val="#ppt_x"/>
                                          </p:val>
                                        </p:tav>
                                      </p:tavLst>
                                    </p:anim>
                                    <p:anim calcmode="lin" valueType="num">
                                      <p:cBhvr additive="base">
                                        <p:cTn id="157" dur="500" fill="hold"/>
                                        <p:tgtEl>
                                          <p:spTgt spid="41"/>
                                        </p:tgtEl>
                                        <p:attrNameLst>
                                          <p:attrName>ppt_y</p:attrName>
                                        </p:attrNameLst>
                                      </p:cBhvr>
                                      <p:tavLst>
                                        <p:tav tm="0">
                                          <p:val>
                                            <p:strVal val="#ppt_y+0.1"/>
                                          </p:val>
                                        </p:tav>
                                        <p:tav tm="100000">
                                          <p:val>
                                            <p:strVal val="#ppt_y"/>
                                          </p:val>
                                        </p:tav>
                                      </p:tavLst>
                                    </p:anim>
                                    <p:animEffect transition="in" filter="fade">
                                      <p:cBhvr>
                                        <p:cTn id="158" dur="500"/>
                                        <p:tgtEl>
                                          <p:spTgt spid="41"/>
                                        </p:tgtEl>
                                      </p:cBhvr>
                                    </p:animEffect>
                                  </p:childTnLst>
                                </p:cTn>
                              </p:par>
                            </p:childTnLst>
                          </p:cTn>
                        </p:par>
                      </p:childTnLst>
                    </p:cTn>
                  </p:par>
                  <p:par>
                    <p:cTn id="160" fill="hold">
                      <p:stCondLst>
                        <p:cond delay="indefinite"/>
                      </p:stCondLst>
                      <p:childTnLst>
                        <p:par>
                          <p:cTn id="161" fill="hold">
                            <p:stCondLst>
                              <p:cond delay="0"/>
                            </p:stCondLst>
                            <p:childTnLst>
                              <p:par>
                                <p:cTn id="166" presetID="2" presetClass="entr" presetSubtype="4" fill="hold" grpId="0" nodeType="clickEffect">
                                  <p:stCondLst>
                                    <p:cond delay="0"/>
                                  </p:stCondLst>
                                  <p:childTnLst>
                                    <p:set>
                                      <p:cBhvr>
                                        <p:cTn id="162" dur="1" fill="hold">
                                          <p:stCondLst>
                                            <p:cond delay="0"/>
                                          </p:stCondLst>
                                        </p:cTn>
                                        <p:tgtEl>
                                          <p:spTgt spid="42"/>
                                        </p:tgtEl>
                                        <p:attrNameLst>
                                          <p:attrName>style.visibility</p:attrName>
                                        </p:attrNameLst>
                                      </p:cBhvr>
                                      <p:to>
                                        <p:strVal val="visible"/>
                                      </p:to>
                                    </p:set>
                                    <p:anim calcmode="lin" valueType="num">
                                      <p:cBhvr additive="base">
                                        <p:cTn id="163" dur="500" fill="hold"/>
                                        <p:tgtEl>
                                          <p:spTgt spid="42"/>
                                        </p:tgtEl>
                                        <p:attrNameLst>
                                          <p:attrName>ppt_x</p:attrName>
                                        </p:attrNameLst>
                                      </p:cBhvr>
                                      <p:tavLst>
                                        <p:tav tm="0">
                                          <p:val>
                                            <p:strVal val="#ppt_x"/>
                                          </p:val>
                                        </p:tav>
                                        <p:tav tm="100000">
                                          <p:val>
                                            <p:strVal val="#ppt_x"/>
                                          </p:val>
                                        </p:tav>
                                      </p:tavLst>
                                    </p:anim>
                                    <p:anim calcmode="lin" valueType="num">
                                      <p:cBhvr additive="base">
                                        <p:cTn id="164" dur="500" fill="hold"/>
                                        <p:tgtEl>
                                          <p:spTgt spid="42"/>
                                        </p:tgtEl>
                                        <p:attrNameLst>
                                          <p:attrName>ppt_y</p:attrName>
                                        </p:attrNameLst>
                                      </p:cBhvr>
                                      <p:tavLst>
                                        <p:tav tm="0">
                                          <p:val>
                                            <p:strVal val="#ppt_y+0.1"/>
                                          </p:val>
                                        </p:tav>
                                        <p:tav tm="100000">
                                          <p:val>
                                            <p:strVal val="#ppt_y"/>
                                          </p:val>
                                        </p:tav>
                                      </p:tavLst>
                                    </p:anim>
                                    <p:animEffect transition="in" filter="fade">
                                      <p:cBhvr>
                                        <p:cTn id="165" dur="500"/>
                                        <p:tgtEl>
                                          <p:spTgt spid="42"/>
                                        </p:tgtEl>
                                      </p:cBhvr>
                                    </p:animEffect>
                                  </p:childTnLst>
                                </p:cTn>
                              </p:par>
                              <p:par>
                                <p:cTn id="171" presetID="2" presetClass="entr" presetSubtype="4" fill="hold" grpId="0" nodeType="withEffect">
                                  <p:stCondLst>
                                    <p:cond delay="0"/>
                                  </p:stCondLst>
                                  <p:childTnLst>
                                    <p:set>
                                      <p:cBhvr>
                                        <p:cTn id="167" dur="1" fill="hold">
                                          <p:stCondLst>
                                            <p:cond delay="0"/>
                                          </p:stCondLst>
                                        </p:cTn>
                                        <p:tgtEl>
                                          <p:spTgt spid="43"/>
                                        </p:tgtEl>
                                        <p:attrNameLst>
                                          <p:attrName>style.visibility</p:attrName>
                                        </p:attrNameLst>
                                      </p:cBhvr>
                                      <p:to>
                                        <p:strVal val="visible"/>
                                      </p:to>
                                    </p:set>
                                    <p:anim calcmode="lin" valueType="num">
                                      <p:cBhvr additive="base">
                                        <p:cTn id="168" dur="500" fill="hold"/>
                                        <p:tgtEl>
                                          <p:spTgt spid="43"/>
                                        </p:tgtEl>
                                        <p:attrNameLst>
                                          <p:attrName>ppt_x</p:attrName>
                                        </p:attrNameLst>
                                      </p:cBhvr>
                                      <p:tavLst>
                                        <p:tav tm="0">
                                          <p:val>
                                            <p:strVal val="#ppt_x"/>
                                          </p:val>
                                        </p:tav>
                                        <p:tav tm="100000">
                                          <p:val>
                                            <p:strVal val="#ppt_x"/>
                                          </p:val>
                                        </p:tav>
                                      </p:tavLst>
                                    </p:anim>
                                    <p:anim calcmode="lin" valueType="num">
                                      <p:cBhvr additive="base">
                                        <p:cTn id="169" dur="500" fill="hold"/>
                                        <p:tgtEl>
                                          <p:spTgt spid="43"/>
                                        </p:tgtEl>
                                        <p:attrNameLst>
                                          <p:attrName>ppt_y</p:attrName>
                                        </p:attrNameLst>
                                      </p:cBhvr>
                                      <p:tavLst>
                                        <p:tav tm="0">
                                          <p:val>
                                            <p:strVal val="#ppt_y+0.1"/>
                                          </p:val>
                                        </p:tav>
                                        <p:tav tm="100000">
                                          <p:val>
                                            <p:strVal val="#ppt_y"/>
                                          </p:val>
                                        </p:tav>
                                      </p:tavLst>
                                    </p:anim>
                                    <p:animEffect transition="in" filter="fade">
                                      <p:cBhvr>
                                        <p:cTn id="170" dur="500"/>
                                        <p:tgtEl>
                                          <p:spTgt spid="43"/>
                                        </p:tgtEl>
                                      </p:cBhvr>
                                    </p:animEffect>
                                  </p:childTnLst>
                                </p:cTn>
                              </p:par>
                              <p:par>
                                <p:cTn id="176" presetID="2" presetClass="entr" presetSubtype="4" fill="hold" grpId="0" nodeType="withEffect">
                                  <p:stCondLst>
                                    <p:cond delay="0"/>
                                  </p:stCondLst>
                                  <p:childTnLst>
                                    <p:set>
                                      <p:cBhvr>
                                        <p:cTn id="172" dur="1" fill="hold">
                                          <p:stCondLst>
                                            <p:cond delay="0"/>
                                          </p:stCondLst>
                                        </p:cTn>
                                        <p:tgtEl>
                                          <p:spTgt spid="44"/>
                                        </p:tgtEl>
                                        <p:attrNameLst>
                                          <p:attrName>style.visibility</p:attrName>
                                        </p:attrNameLst>
                                      </p:cBhvr>
                                      <p:to>
                                        <p:strVal val="visible"/>
                                      </p:to>
                                    </p:set>
                                    <p:anim calcmode="lin" valueType="num">
                                      <p:cBhvr additive="base">
                                        <p:cTn id="173" dur="500" fill="hold"/>
                                        <p:tgtEl>
                                          <p:spTgt spid="44"/>
                                        </p:tgtEl>
                                        <p:attrNameLst>
                                          <p:attrName>ppt_x</p:attrName>
                                        </p:attrNameLst>
                                      </p:cBhvr>
                                      <p:tavLst>
                                        <p:tav tm="0">
                                          <p:val>
                                            <p:strVal val="#ppt_x"/>
                                          </p:val>
                                        </p:tav>
                                        <p:tav tm="100000">
                                          <p:val>
                                            <p:strVal val="#ppt_x"/>
                                          </p:val>
                                        </p:tav>
                                      </p:tavLst>
                                    </p:anim>
                                    <p:anim calcmode="lin" valueType="num">
                                      <p:cBhvr additive="base">
                                        <p:cTn id="174" dur="500" fill="hold"/>
                                        <p:tgtEl>
                                          <p:spTgt spid="44"/>
                                        </p:tgtEl>
                                        <p:attrNameLst>
                                          <p:attrName>ppt_y</p:attrName>
                                        </p:attrNameLst>
                                      </p:cBhvr>
                                      <p:tavLst>
                                        <p:tav tm="0">
                                          <p:val>
                                            <p:strVal val="#ppt_y+0.1"/>
                                          </p:val>
                                        </p:tav>
                                        <p:tav tm="100000">
                                          <p:val>
                                            <p:strVal val="#ppt_y"/>
                                          </p:val>
                                        </p:tav>
                                      </p:tavLst>
                                    </p:anim>
                                    <p:animEffect transition="in" filter="fade">
                                      <p:cBhvr>
                                        <p:cTn id="175" dur="500"/>
                                        <p:tgtEl>
                                          <p:spTgt spid="44"/>
                                        </p:tgtEl>
                                      </p:cBhvr>
                                    </p:animEffect>
                                  </p:childTnLst>
                                </p:cTn>
                              </p:par>
                              <p:par>
                                <p:cTn id="181" presetID="2" presetClass="entr" presetSubtype="4" fill="hold" grpId="0" nodeType="withEffect">
                                  <p:stCondLst>
                                    <p:cond delay="0"/>
                                  </p:stCondLst>
                                  <p:childTnLst>
                                    <p:set>
                                      <p:cBhvr>
                                        <p:cTn id="177" dur="1" fill="hold">
                                          <p:stCondLst>
                                            <p:cond delay="0"/>
                                          </p:stCondLst>
                                        </p:cTn>
                                        <p:tgtEl>
                                          <p:spTgt spid="45"/>
                                        </p:tgtEl>
                                        <p:attrNameLst>
                                          <p:attrName>style.visibility</p:attrName>
                                        </p:attrNameLst>
                                      </p:cBhvr>
                                      <p:to>
                                        <p:strVal val="visible"/>
                                      </p:to>
                                    </p:set>
                                    <p:anim calcmode="lin" valueType="num">
                                      <p:cBhvr additive="base">
                                        <p:cTn id="178" dur="500" fill="hold"/>
                                        <p:tgtEl>
                                          <p:spTgt spid="45"/>
                                        </p:tgtEl>
                                        <p:attrNameLst>
                                          <p:attrName>ppt_x</p:attrName>
                                        </p:attrNameLst>
                                      </p:cBhvr>
                                      <p:tavLst>
                                        <p:tav tm="0">
                                          <p:val>
                                            <p:strVal val="#ppt_x"/>
                                          </p:val>
                                        </p:tav>
                                        <p:tav tm="100000">
                                          <p:val>
                                            <p:strVal val="#ppt_x"/>
                                          </p:val>
                                        </p:tav>
                                      </p:tavLst>
                                    </p:anim>
                                    <p:anim calcmode="lin" valueType="num">
                                      <p:cBhvr additive="base">
                                        <p:cTn id="179" dur="500" fill="hold"/>
                                        <p:tgtEl>
                                          <p:spTgt spid="45"/>
                                        </p:tgtEl>
                                        <p:attrNameLst>
                                          <p:attrName>ppt_y</p:attrName>
                                        </p:attrNameLst>
                                      </p:cBhvr>
                                      <p:tavLst>
                                        <p:tav tm="0">
                                          <p:val>
                                            <p:strVal val="#ppt_y+0.1"/>
                                          </p:val>
                                        </p:tav>
                                        <p:tav tm="100000">
                                          <p:val>
                                            <p:strVal val="#ppt_y"/>
                                          </p:val>
                                        </p:tav>
                                      </p:tavLst>
                                    </p:anim>
                                    <p:animEffect transition="in" filter="fade">
                                      <p:cBhvr>
                                        <p:cTn id="180" dur="500"/>
                                        <p:tgtEl>
                                          <p:spTgt spid="45"/>
                                        </p:tgtEl>
                                      </p:cBhvr>
                                    </p:animEffect>
                                  </p:childTnLst>
                                </p:cTn>
                              </p:par>
                              <p:par>
                                <p:cTn id="186" presetID="2" presetClass="entr" presetSubtype="4" fill="hold" grpId="0" nodeType="withEffect">
                                  <p:stCondLst>
                                    <p:cond delay="0"/>
                                  </p:stCondLst>
                                  <p:childTnLst>
                                    <p:set>
                                      <p:cBhvr>
                                        <p:cTn id="182" dur="1" fill="hold">
                                          <p:stCondLst>
                                            <p:cond delay="0"/>
                                          </p:stCondLst>
                                        </p:cTn>
                                        <p:tgtEl>
                                          <p:spTgt spid="46"/>
                                        </p:tgtEl>
                                        <p:attrNameLst>
                                          <p:attrName>style.visibility</p:attrName>
                                        </p:attrNameLst>
                                      </p:cBhvr>
                                      <p:to>
                                        <p:strVal val="visible"/>
                                      </p:to>
                                    </p:set>
                                    <p:anim calcmode="lin" valueType="num">
                                      <p:cBhvr additive="base">
                                        <p:cTn id="183" dur="500" fill="hold"/>
                                        <p:tgtEl>
                                          <p:spTgt spid="46"/>
                                        </p:tgtEl>
                                        <p:attrNameLst>
                                          <p:attrName>ppt_x</p:attrName>
                                        </p:attrNameLst>
                                      </p:cBhvr>
                                      <p:tavLst>
                                        <p:tav tm="0">
                                          <p:val>
                                            <p:strVal val="#ppt_x"/>
                                          </p:val>
                                        </p:tav>
                                        <p:tav tm="100000">
                                          <p:val>
                                            <p:strVal val="#ppt_x"/>
                                          </p:val>
                                        </p:tav>
                                      </p:tavLst>
                                    </p:anim>
                                    <p:anim calcmode="lin" valueType="num">
                                      <p:cBhvr additive="base">
                                        <p:cTn id="184" dur="500" fill="hold"/>
                                        <p:tgtEl>
                                          <p:spTgt spid="46"/>
                                        </p:tgtEl>
                                        <p:attrNameLst>
                                          <p:attrName>ppt_y</p:attrName>
                                        </p:attrNameLst>
                                      </p:cBhvr>
                                      <p:tavLst>
                                        <p:tav tm="0">
                                          <p:val>
                                            <p:strVal val="#ppt_y+0.1"/>
                                          </p:val>
                                        </p:tav>
                                        <p:tav tm="100000">
                                          <p:val>
                                            <p:strVal val="#ppt_y"/>
                                          </p:val>
                                        </p:tav>
                                      </p:tavLst>
                                    </p:anim>
                                    <p:animEffect transition="in" filter="fade">
                                      <p:cBhvr>
                                        <p:cTn id="185" dur="500"/>
                                        <p:tgtEl>
                                          <p:spTgt spid="46"/>
                                        </p:tgtEl>
                                      </p:cBhvr>
                                    </p:animEffect>
                                  </p:childTnLst>
                                </p:cTn>
                              </p:par>
                              <p:par>
                                <p:cTn id="191" presetID="2" presetClass="entr" presetSubtype="4" fill="hold" grpId="0" nodeType="withEffect">
                                  <p:stCondLst>
                                    <p:cond delay="120"/>
                                  </p:stCondLst>
                                  <p:childTnLst>
                                    <p:set>
                                      <p:cBhvr>
                                        <p:cTn id="187" dur="1" fill="hold">
                                          <p:stCondLst>
                                            <p:cond delay="0"/>
                                          </p:stCondLst>
                                        </p:cTn>
                                        <p:tgtEl>
                                          <p:spTgt spid="47"/>
                                        </p:tgtEl>
                                        <p:attrNameLst>
                                          <p:attrName>style.visibility</p:attrName>
                                        </p:attrNameLst>
                                      </p:cBhvr>
                                      <p:to>
                                        <p:strVal val="visible"/>
                                      </p:to>
                                    </p:set>
                                    <p:anim calcmode="lin" valueType="num">
                                      <p:cBhvr additive="base">
                                        <p:cTn id="188" dur="500" fill="hold"/>
                                        <p:tgtEl>
                                          <p:spTgt spid="47"/>
                                        </p:tgtEl>
                                        <p:attrNameLst>
                                          <p:attrName>ppt_x</p:attrName>
                                        </p:attrNameLst>
                                      </p:cBhvr>
                                      <p:tavLst>
                                        <p:tav tm="0">
                                          <p:val>
                                            <p:strVal val="#ppt_x"/>
                                          </p:val>
                                        </p:tav>
                                        <p:tav tm="100000">
                                          <p:val>
                                            <p:strVal val="#ppt_x"/>
                                          </p:val>
                                        </p:tav>
                                      </p:tavLst>
                                    </p:anim>
                                    <p:anim calcmode="lin" valueType="num">
                                      <p:cBhvr additive="base">
                                        <p:cTn id="189" dur="500" fill="hold"/>
                                        <p:tgtEl>
                                          <p:spTgt spid="47"/>
                                        </p:tgtEl>
                                        <p:attrNameLst>
                                          <p:attrName>ppt_y</p:attrName>
                                        </p:attrNameLst>
                                      </p:cBhvr>
                                      <p:tavLst>
                                        <p:tav tm="0">
                                          <p:val>
                                            <p:strVal val="#ppt_y+0.1"/>
                                          </p:val>
                                        </p:tav>
                                        <p:tav tm="100000">
                                          <p:val>
                                            <p:strVal val="#ppt_y"/>
                                          </p:val>
                                        </p:tav>
                                      </p:tavLst>
                                    </p:anim>
                                    <p:animEffect transition="in" filter="fade">
                                      <p:cBhvr>
                                        <p:cTn id="190" dur="500"/>
                                        <p:tgtEl>
                                          <p:spTgt spid="47"/>
                                        </p:tgtEl>
                                      </p:cBhvr>
                                    </p:animEffect>
                                  </p:childTnLst>
                                </p:cTn>
                              </p:par>
                              <p:par>
                                <p:cTn id="196" presetID="2" presetClass="entr" presetSubtype="4" fill="hold" grpId="0" nodeType="withEffect">
                                  <p:stCondLst>
                                    <p:cond delay="120"/>
                                  </p:stCondLst>
                                  <p:childTnLst>
                                    <p:set>
                                      <p:cBhvr>
                                        <p:cTn id="192" dur="1" fill="hold">
                                          <p:stCondLst>
                                            <p:cond delay="0"/>
                                          </p:stCondLst>
                                        </p:cTn>
                                        <p:tgtEl>
                                          <p:spTgt spid="48"/>
                                        </p:tgtEl>
                                        <p:attrNameLst>
                                          <p:attrName>style.visibility</p:attrName>
                                        </p:attrNameLst>
                                      </p:cBhvr>
                                      <p:to>
                                        <p:strVal val="visible"/>
                                      </p:to>
                                    </p:set>
                                    <p:anim calcmode="lin" valueType="num">
                                      <p:cBhvr additive="base">
                                        <p:cTn id="193" dur="500" fill="hold"/>
                                        <p:tgtEl>
                                          <p:spTgt spid="48"/>
                                        </p:tgtEl>
                                        <p:attrNameLst>
                                          <p:attrName>ppt_x</p:attrName>
                                        </p:attrNameLst>
                                      </p:cBhvr>
                                      <p:tavLst>
                                        <p:tav tm="0">
                                          <p:val>
                                            <p:strVal val="#ppt_x"/>
                                          </p:val>
                                        </p:tav>
                                        <p:tav tm="100000">
                                          <p:val>
                                            <p:strVal val="#ppt_x"/>
                                          </p:val>
                                        </p:tav>
                                      </p:tavLst>
                                    </p:anim>
                                    <p:anim calcmode="lin" valueType="num">
                                      <p:cBhvr additive="base">
                                        <p:cTn id="194" dur="500" fill="hold"/>
                                        <p:tgtEl>
                                          <p:spTgt spid="48"/>
                                        </p:tgtEl>
                                        <p:attrNameLst>
                                          <p:attrName>ppt_y</p:attrName>
                                        </p:attrNameLst>
                                      </p:cBhvr>
                                      <p:tavLst>
                                        <p:tav tm="0">
                                          <p:val>
                                            <p:strVal val="#ppt_y+0.1"/>
                                          </p:val>
                                        </p:tav>
                                        <p:tav tm="100000">
                                          <p:val>
                                            <p:strVal val="#ppt_y"/>
                                          </p:val>
                                        </p:tav>
                                      </p:tavLst>
                                    </p:anim>
                                    <p:animEffect transition="in" filter="fade">
                                      <p:cBhvr>
                                        <p:cTn id="195" dur="500"/>
                                        <p:tgtEl>
                                          <p:spTgt spid="48"/>
                                        </p:tgtEl>
                                      </p:cBhvr>
                                    </p:animEffect>
                                  </p:childTnLst>
                                </p:cTn>
                              </p:par>
                              <p:par>
                                <p:cTn id="201" presetID="2" presetClass="entr" presetSubtype="4" fill="hold" grpId="0" nodeType="withEffect">
                                  <p:stCondLst>
                                    <p:cond delay="120"/>
                                  </p:stCondLst>
                                  <p:childTnLst>
                                    <p:set>
                                      <p:cBhvr>
                                        <p:cTn id="197" dur="1" fill="hold">
                                          <p:stCondLst>
                                            <p:cond delay="0"/>
                                          </p:stCondLst>
                                        </p:cTn>
                                        <p:tgtEl>
                                          <p:spTgt spid="49"/>
                                        </p:tgtEl>
                                        <p:attrNameLst>
                                          <p:attrName>style.visibility</p:attrName>
                                        </p:attrNameLst>
                                      </p:cBhvr>
                                      <p:to>
                                        <p:strVal val="visible"/>
                                      </p:to>
                                    </p:set>
                                    <p:anim calcmode="lin" valueType="num">
                                      <p:cBhvr additive="base">
                                        <p:cTn id="198" dur="500" fill="hold"/>
                                        <p:tgtEl>
                                          <p:spTgt spid="49"/>
                                        </p:tgtEl>
                                        <p:attrNameLst>
                                          <p:attrName>ppt_x</p:attrName>
                                        </p:attrNameLst>
                                      </p:cBhvr>
                                      <p:tavLst>
                                        <p:tav tm="0">
                                          <p:val>
                                            <p:strVal val="#ppt_x"/>
                                          </p:val>
                                        </p:tav>
                                        <p:tav tm="100000">
                                          <p:val>
                                            <p:strVal val="#ppt_x"/>
                                          </p:val>
                                        </p:tav>
                                      </p:tavLst>
                                    </p:anim>
                                    <p:anim calcmode="lin" valueType="num">
                                      <p:cBhvr additive="base">
                                        <p:cTn id="199" dur="500" fill="hold"/>
                                        <p:tgtEl>
                                          <p:spTgt spid="49"/>
                                        </p:tgtEl>
                                        <p:attrNameLst>
                                          <p:attrName>ppt_y</p:attrName>
                                        </p:attrNameLst>
                                      </p:cBhvr>
                                      <p:tavLst>
                                        <p:tav tm="0">
                                          <p:val>
                                            <p:strVal val="#ppt_y+0.1"/>
                                          </p:val>
                                        </p:tav>
                                        <p:tav tm="100000">
                                          <p:val>
                                            <p:strVal val="#ppt_y"/>
                                          </p:val>
                                        </p:tav>
                                      </p:tavLst>
                                    </p:anim>
                                    <p:animEffect transition="in" filter="fade">
                                      <p:cBhvr>
                                        <p:cTn id="200" dur="500"/>
                                        <p:tgtEl>
                                          <p:spTgt spid="49"/>
                                        </p:tgtEl>
                                      </p:cBhvr>
                                    </p:animEffect>
                                  </p:childTnLst>
                                </p:cTn>
                              </p:par>
                              <p:par>
                                <p:cTn id="206" presetID="2" presetClass="entr" presetSubtype="4" fill="hold" grpId="0" nodeType="withEffect">
                                  <p:stCondLst>
                                    <p:cond delay="120"/>
                                  </p:stCondLst>
                                  <p:childTnLst>
                                    <p:set>
                                      <p:cBhvr>
                                        <p:cTn id="202" dur="1" fill="hold">
                                          <p:stCondLst>
                                            <p:cond delay="0"/>
                                          </p:stCondLst>
                                        </p:cTn>
                                        <p:tgtEl>
                                          <p:spTgt spid="50"/>
                                        </p:tgtEl>
                                        <p:attrNameLst>
                                          <p:attrName>style.visibility</p:attrName>
                                        </p:attrNameLst>
                                      </p:cBhvr>
                                      <p:to>
                                        <p:strVal val="visible"/>
                                      </p:to>
                                    </p:set>
                                    <p:anim calcmode="lin" valueType="num">
                                      <p:cBhvr additive="base">
                                        <p:cTn id="203" dur="500" fill="hold"/>
                                        <p:tgtEl>
                                          <p:spTgt spid="50"/>
                                        </p:tgtEl>
                                        <p:attrNameLst>
                                          <p:attrName>ppt_x</p:attrName>
                                        </p:attrNameLst>
                                      </p:cBhvr>
                                      <p:tavLst>
                                        <p:tav tm="0">
                                          <p:val>
                                            <p:strVal val="#ppt_x"/>
                                          </p:val>
                                        </p:tav>
                                        <p:tav tm="100000">
                                          <p:val>
                                            <p:strVal val="#ppt_x"/>
                                          </p:val>
                                        </p:tav>
                                      </p:tavLst>
                                    </p:anim>
                                    <p:anim calcmode="lin" valueType="num">
                                      <p:cBhvr additive="base">
                                        <p:cTn id="204" dur="500" fill="hold"/>
                                        <p:tgtEl>
                                          <p:spTgt spid="50"/>
                                        </p:tgtEl>
                                        <p:attrNameLst>
                                          <p:attrName>ppt_y</p:attrName>
                                        </p:attrNameLst>
                                      </p:cBhvr>
                                      <p:tavLst>
                                        <p:tav tm="0">
                                          <p:val>
                                            <p:strVal val="#ppt_y+0.1"/>
                                          </p:val>
                                        </p:tav>
                                        <p:tav tm="100000">
                                          <p:val>
                                            <p:strVal val="#ppt_y"/>
                                          </p:val>
                                        </p:tav>
                                      </p:tavLst>
                                    </p:anim>
                                    <p:animEffect transition="in" filter="fade">
                                      <p:cBhvr>
                                        <p:cTn id="205" dur="500"/>
                                        <p:tgtEl>
                                          <p:spTgt spid="50"/>
                                        </p:tgtEl>
                                      </p:cBhvr>
                                    </p:animEffect>
                                  </p:childTnLst>
                                </p:cTn>
                              </p:par>
                              <p:par>
                                <p:cTn id="211" presetID="2" presetClass="entr" presetSubtype="4" fill="hold" grpId="0" nodeType="withEffect">
                                  <p:stCondLst>
                                    <p:cond delay="120"/>
                                  </p:stCondLst>
                                  <p:childTnLst>
                                    <p:set>
                                      <p:cBhvr>
                                        <p:cTn id="207" dur="1" fill="hold">
                                          <p:stCondLst>
                                            <p:cond delay="0"/>
                                          </p:stCondLst>
                                        </p:cTn>
                                        <p:tgtEl>
                                          <p:spTgt spid="51"/>
                                        </p:tgtEl>
                                        <p:attrNameLst>
                                          <p:attrName>style.visibility</p:attrName>
                                        </p:attrNameLst>
                                      </p:cBhvr>
                                      <p:to>
                                        <p:strVal val="visible"/>
                                      </p:to>
                                    </p:set>
                                    <p:anim calcmode="lin" valueType="num">
                                      <p:cBhvr additive="base">
                                        <p:cTn id="208" dur="500" fill="hold"/>
                                        <p:tgtEl>
                                          <p:spTgt spid="51"/>
                                        </p:tgtEl>
                                        <p:attrNameLst>
                                          <p:attrName>ppt_x</p:attrName>
                                        </p:attrNameLst>
                                      </p:cBhvr>
                                      <p:tavLst>
                                        <p:tav tm="0">
                                          <p:val>
                                            <p:strVal val="#ppt_x"/>
                                          </p:val>
                                        </p:tav>
                                        <p:tav tm="100000">
                                          <p:val>
                                            <p:strVal val="#ppt_x"/>
                                          </p:val>
                                        </p:tav>
                                      </p:tavLst>
                                    </p:anim>
                                    <p:anim calcmode="lin" valueType="num">
                                      <p:cBhvr additive="base">
                                        <p:cTn id="209" dur="500" fill="hold"/>
                                        <p:tgtEl>
                                          <p:spTgt spid="51"/>
                                        </p:tgtEl>
                                        <p:attrNameLst>
                                          <p:attrName>ppt_y</p:attrName>
                                        </p:attrNameLst>
                                      </p:cBhvr>
                                      <p:tavLst>
                                        <p:tav tm="0">
                                          <p:val>
                                            <p:strVal val="#ppt_y+0.1"/>
                                          </p:val>
                                        </p:tav>
                                        <p:tav tm="100000">
                                          <p:val>
                                            <p:strVal val="#ppt_y"/>
                                          </p:val>
                                        </p:tav>
                                      </p:tavLst>
                                    </p:anim>
                                    <p:animEffect transition="in" filter="fade">
                                      <p:cBhvr>
                                        <p:cTn id="210" dur="500"/>
                                        <p:tgtEl>
                                          <p:spTgt spid="51"/>
                                        </p:tgtEl>
                                      </p:cBhvr>
                                    </p:animEffect>
                                  </p:childTnLst>
                                </p:cTn>
                              </p:par>
                              <p:par>
                                <p:cTn id="216" presetID="2" presetClass="entr" presetSubtype="4" fill="hold" grpId="0" nodeType="withEffect">
                                  <p:stCondLst>
                                    <p:cond delay="240"/>
                                  </p:stCondLst>
                                  <p:childTnLst>
                                    <p:set>
                                      <p:cBhvr>
                                        <p:cTn id="212" dur="1" fill="hold">
                                          <p:stCondLst>
                                            <p:cond delay="0"/>
                                          </p:stCondLst>
                                        </p:cTn>
                                        <p:tgtEl>
                                          <p:spTgt spid="52"/>
                                        </p:tgtEl>
                                        <p:attrNameLst>
                                          <p:attrName>style.visibility</p:attrName>
                                        </p:attrNameLst>
                                      </p:cBhvr>
                                      <p:to>
                                        <p:strVal val="visible"/>
                                      </p:to>
                                    </p:set>
                                    <p:anim calcmode="lin" valueType="num">
                                      <p:cBhvr additive="base">
                                        <p:cTn id="213" dur="500" fill="hold"/>
                                        <p:tgtEl>
                                          <p:spTgt spid="52"/>
                                        </p:tgtEl>
                                        <p:attrNameLst>
                                          <p:attrName>ppt_x</p:attrName>
                                        </p:attrNameLst>
                                      </p:cBhvr>
                                      <p:tavLst>
                                        <p:tav tm="0">
                                          <p:val>
                                            <p:strVal val="#ppt_x"/>
                                          </p:val>
                                        </p:tav>
                                        <p:tav tm="100000">
                                          <p:val>
                                            <p:strVal val="#ppt_x"/>
                                          </p:val>
                                        </p:tav>
                                      </p:tavLst>
                                    </p:anim>
                                    <p:anim calcmode="lin" valueType="num">
                                      <p:cBhvr additive="base">
                                        <p:cTn id="214" dur="500" fill="hold"/>
                                        <p:tgtEl>
                                          <p:spTgt spid="52"/>
                                        </p:tgtEl>
                                        <p:attrNameLst>
                                          <p:attrName>ppt_y</p:attrName>
                                        </p:attrNameLst>
                                      </p:cBhvr>
                                      <p:tavLst>
                                        <p:tav tm="0">
                                          <p:val>
                                            <p:strVal val="#ppt_y+0.1"/>
                                          </p:val>
                                        </p:tav>
                                        <p:tav tm="100000">
                                          <p:val>
                                            <p:strVal val="#ppt_y"/>
                                          </p:val>
                                        </p:tav>
                                      </p:tavLst>
                                    </p:anim>
                                    <p:animEffect transition="in" filter="fade">
                                      <p:cBhvr>
                                        <p:cTn id="215" dur="500"/>
                                        <p:tgtEl>
                                          <p:spTgt spid="52"/>
                                        </p:tgtEl>
                                      </p:cBhvr>
                                    </p:animEffect>
                                  </p:childTnLst>
                                </p:cTn>
                              </p:par>
                              <p:par>
                                <p:cTn id="221" presetID="2" presetClass="entr" presetSubtype="4" fill="hold" grpId="0" nodeType="withEffect">
                                  <p:stCondLst>
                                    <p:cond delay="240"/>
                                  </p:stCondLst>
                                  <p:childTnLst>
                                    <p:set>
                                      <p:cBhvr>
                                        <p:cTn id="217" dur="1" fill="hold">
                                          <p:stCondLst>
                                            <p:cond delay="0"/>
                                          </p:stCondLst>
                                        </p:cTn>
                                        <p:tgtEl>
                                          <p:spTgt spid="53"/>
                                        </p:tgtEl>
                                        <p:attrNameLst>
                                          <p:attrName>style.visibility</p:attrName>
                                        </p:attrNameLst>
                                      </p:cBhvr>
                                      <p:to>
                                        <p:strVal val="visible"/>
                                      </p:to>
                                    </p:set>
                                    <p:anim calcmode="lin" valueType="num">
                                      <p:cBhvr additive="base">
                                        <p:cTn id="218" dur="500" fill="hold"/>
                                        <p:tgtEl>
                                          <p:spTgt spid="53"/>
                                        </p:tgtEl>
                                        <p:attrNameLst>
                                          <p:attrName>ppt_x</p:attrName>
                                        </p:attrNameLst>
                                      </p:cBhvr>
                                      <p:tavLst>
                                        <p:tav tm="0">
                                          <p:val>
                                            <p:strVal val="#ppt_x"/>
                                          </p:val>
                                        </p:tav>
                                        <p:tav tm="100000">
                                          <p:val>
                                            <p:strVal val="#ppt_x"/>
                                          </p:val>
                                        </p:tav>
                                      </p:tavLst>
                                    </p:anim>
                                    <p:anim calcmode="lin" valueType="num">
                                      <p:cBhvr additive="base">
                                        <p:cTn id="219" dur="500" fill="hold"/>
                                        <p:tgtEl>
                                          <p:spTgt spid="53"/>
                                        </p:tgtEl>
                                        <p:attrNameLst>
                                          <p:attrName>ppt_y</p:attrName>
                                        </p:attrNameLst>
                                      </p:cBhvr>
                                      <p:tavLst>
                                        <p:tav tm="0">
                                          <p:val>
                                            <p:strVal val="#ppt_y+0.1"/>
                                          </p:val>
                                        </p:tav>
                                        <p:tav tm="100000">
                                          <p:val>
                                            <p:strVal val="#ppt_y"/>
                                          </p:val>
                                        </p:tav>
                                      </p:tavLst>
                                    </p:anim>
                                    <p:animEffect transition="in" filter="fade">
                                      <p:cBhvr>
                                        <p:cTn id="220" dur="500"/>
                                        <p:tgtEl>
                                          <p:spTgt spid="53"/>
                                        </p:tgtEl>
                                      </p:cBhvr>
                                    </p:animEffect>
                                  </p:childTnLst>
                                </p:cTn>
                              </p:par>
                              <p:par>
                                <p:cTn id="226" presetID="2" presetClass="entr" presetSubtype="4" fill="hold" grpId="0" nodeType="withEffect">
                                  <p:stCondLst>
                                    <p:cond delay="240"/>
                                  </p:stCondLst>
                                  <p:childTnLst>
                                    <p:set>
                                      <p:cBhvr>
                                        <p:cTn id="222" dur="1" fill="hold">
                                          <p:stCondLst>
                                            <p:cond delay="0"/>
                                          </p:stCondLst>
                                        </p:cTn>
                                        <p:tgtEl>
                                          <p:spTgt spid="54"/>
                                        </p:tgtEl>
                                        <p:attrNameLst>
                                          <p:attrName>style.visibility</p:attrName>
                                        </p:attrNameLst>
                                      </p:cBhvr>
                                      <p:to>
                                        <p:strVal val="visible"/>
                                      </p:to>
                                    </p:set>
                                    <p:anim calcmode="lin" valueType="num">
                                      <p:cBhvr additive="base">
                                        <p:cTn id="223" dur="500" fill="hold"/>
                                        <p:tgtEl>
                                          <p:spTgt spid="54"/>
                                        </p:tgtEl>
                                        <p:attrNameLst>
                                          <p:attrName>ppt_x</p:attrName>
                                        </p:attrNameLst>
                                      </p:cBhvr>
                                      <p:tavLst>
                                        <p:tav tm="0">
                                          <p:val>
                                            <p:strVal val="#ppt_x"/>
                                          </p:val>
                                        </p:tav>
                                        <p:tav tm="100000">
                                          <p:val>
                                            <p:strVal val="#ppt_x"/>
                                          </p:val>
                                        </p:tav>
                                      </p:tavLst>
                                    </p:anim>
                                    <p:anim calcmode="lin" valueType="num">
                                      <p:cBhvr additive="base">
                                        <p:cTn id="224" dur="500" fill="hold"/>
                                        <p:tgtEl>
                                          <p:spTgt spid="54"/>
                                        </p:tgtEl>
                                        <p:attrNameLst>
                                          <p:attrName>ppt_y</p:attrName>
                                        </p:attrNameLst>
                                      </p:cBhvr>
                                      <p:tavLst>
                                        <p:tav tm="0">
                                          <p:val>
                                            <p:strVal val="#ppt_y+0.1"/>
                                          </p:val>
                                        </p:tav>
                                        <p:tav tm="100000">
                                          <p:val>
                                            <p:strVal val="#ppt_y"/>
                                          </p:val>
                                        </p:tav>
                                      </p:tavLst>
                                    </p:anim>
                                    <p:animEffect transition="in" filter="fade">
                                      <p:cBhvr>
                                        <p:cTn id="225" dur="500"/>
                                        <p:tgtEl>
                                          <p:spTgt spid="54"/>
                                        </p:tgtEl>
                                      </p:cBhvr>
                                    </p:animEffect>
                                  </p:childTnLst>
                                </p:cTn>
                              </p:par>
                              <p:par>
                                <p:cTn id="231" presetID="2" presetClass="entr" presetSubtype="4" fill="hold" grpId="0" nodeType="withEffect">
                                  <p:stCondLst>
                                    <p:cond delay="240"/>
                                  </p:stCondLst>
                                  <p:childTnLst>
                                    <p:set>
                                      <p:cBhvr>
                                        <p:cTn id="227" dur="1" fill="hold">
                                          <p:stCondLst>
                                            <p:cond delay="0"/>
                                          </p:stCondLst>
                                        </p:cTn>
                                        <p:tgtEl>
                                          <p:spTgt spid="55"/>
                                        </p:tgtEl>
                                        <p:attrNameLst>
                                          <p:attrName>style.visibility</p:attrName>
                                        </p:attrNameLst>
                                      </p:cBhvr>
                                      <p:to>
                                        <p:strVal val="visible"/>
                                      </p:to>
                                    </p:set>
                                    <p:anim calcmode="lin" valueType="num">
                                      <p:cBhvr additive="base">
                                        <p:cTn id="228" dur="500" fill="hold"/>
                                        <p:tgtEl>
                                          <p:spTgt spid="55"/>
                                        </p:tgtEl>
                                        <p:attrNameLst>
                                          <p:attrName>ppt_x</p:attrName>
                                        </p:attrNameLst>
                                      </p:cBhvr>
                                      <p:tavLst>
                                        <p:tav tm="0">
                                          <p:val>
                                            <p:strVal val="#ppt_x"/>
                                          </p:val>
                                        </p:tav>
                                        <p:tav tm="100000">
                                          <p:val>
                                            <p:strVal val="#ppt_x"/>
                                          </p:val>
                                        </p:tav>
                                      </p:tavLst>
                                    </p:anim>
                                    <p:anim calcmode="lin" valueType="num">
                                      <p:cBhvr additive="base">
                                        <p:cTn id="229" dur="500" fill="hold"/>
                                        <p:tgtEl>
                                          <p:spTgt spid="55"/>
                                        </p:tgtEl>
                                        <p:attrNameLst>
                                          <p:attrName>ppt_y</p:attrName>
                                        </p:attrNameLst>
                                      </p:cBhvr>
                                      <p:tavLst>
                                        <p:tav tm="0">
                                          <p:val>
                                            <p:strVal val="#ppt_y+0.1"/>
                                          </p:val>
                                        </p:tav>
                                        <p:tav tm="100000">
                                          <p:val>
                                            <p:strVal val="#ppt_y"/>
                                          </p:val>
                                        </p:tav>
                                      </p:tavLst>
                                    </p:anim>
                                    <p:animEffect transition="in" filter="fade">
                                      <p:cBhvr>
                                        <p:cTn id="230" dur="500"/>
                                        <p:tgtEl>
                                          <p:spTgt spid="55"/>
                                        </p:tgtEl>
                                      </p:cBhvr>
                                    </p:animEffect>
                                  </p:childTnLst>
                                </p:cTn>
                              </p:par>
                              <p:par>
                                <p:cTn id="236" presetID="2" presetClass="entr" presetSubtype="4" fill="hold" grpId="0" nodeType="withEffect">
                                  <p:stCondLst>
                                    <p:cond delay="240"/>
                                  </p:stCondLst>
                                  <p:childTnLst>
                                    <p:set>
                                      <p:cBhvr>
                                        <p:cTn id="232" dur="1" fill="hold">
                                          <p:stCondLst>
                                            <p:cond delay="0"/>
                                          </p:stCondLst>
                                        </p:cTn>
                                        <p:tgtEl>
                                          <p:spTgt spid="56"/>
                                        </p:tgtEl>
                                        <p:attrNameLst>
                                          <p:attrName>style.visibility</p:attrName>
                                        </p:attrNameLst>
                                      </p:cBhvr>
                                      <p:to>
                                        <p:strVal val="visible"/>
                                      </p:to>
                                    </p:set>
                                    <p:anim calcmode="lin" valueType="num">
                                      <p:cBhvr additive="base">
                                        <p:cTn id="233" dur="500" fill="hold"/>
                                        <p:tgtEl>
                                          <p:spTgt spid="56"/>
                                        </p:tgtEl>
                                        <p:attrNameLst>
                                          <p:attrName>ppt_x</p:attrName>
                                        </p:attrNameLst>
                                      </p:cBhvr>
                                      <p:tavLst>
                                        <p:tav tm="0">
                                          <p:val>
                                            <p:strVal val="#ppt_x"/>
                                          </p:val>
                                        </p:tav>
                                        <p:tav tm="100000">
                                          <p:val>
                                            <p:strVal val="#ppt_x"/>
                                          </p:val>
                                        </p:tav>
                                      </p:tavLst>
                                    </p:anim>
                                    <p:anim calcmode="lin" valueType="num">
                                      <p:cBhvr additive="base">
                                        <p:cTn id="234" dur="500" fill="hold"/>
                                        <p:tgtEl>
                                          <p:spTgt spid="56"/>
                                        </p:tgtEl>
                                        <p:attrNameLst>
                                          <p:attrName>ppt_y</p:attrName>
                                        </p:attrNameLst>
                                      </p:cBhvr>
                                      <p:tavLst>
                                        <p:tav tm="0">
                                          <p:val>
                                            <p:strVal val="#ppt_y+0.1"/>
                                          </p:val>
                                        </p:tav>
                                        <p:tav tm="100000">
                                          <p:val>
                                            <p:strVal val="#ppt_y"/>
                                          </p:val>
                                        </p:tav>
                                      </p:tavLst>
                                    </p:anim>
                                    <p:animEffect transition="in" filter="fade">
                                      <p:cBhvr>
                                        <p:cTn id="235" dur="500"/>
                                        <p:tgtEl>
                                          <p:spTgt spid="56"/>
                                        </p:tgtEl>
                                      </p:cBhvr>
                                    </p:animEffect>
                                  </p:childTnLst>
                                </p:cTn>
                              </p:par>
                            </p:childTnLst>
                          </p:cTn>
                        </p:par>
                      </p:childTnLst>
                    </p:cTn>
                  </p:par>
                  <p:par>
                    <p:cTn id="237" fill="hold">
                      <p:stCondLst>
                        <p:cond delay="indefinite"/>
                      </p:stCondLst>
                      <p:childTnLst>
                        <p:par>
                          <p:cTn id="238" fill="hold">
                            <p:stCondLst>
                              <p:cond delay="0"/>
                            </p:stCondLst>
                            <p:childTnLst>
                              <p:par>
                                <p:cTn id="243" presetID="2" presetClass="entr" presetSubtype="4" fill="hold" grpId="0" nodeType="clickEffect">
                                  <p:stCondLst>
                                    <p:cond delay="0"/>
                                  </p:stCondLst>
                                  <p:childTnLst>
                                    <p:set>
                                      <p:cBhvr>
                                        <p:cTn id="239" dur="1" fill="hold">
                                          <p:stCondLst>
                                            <p:cond delay="0"/>
                                          </p:stCondLst>
                                        </p:cTn>
                                        <p:tgtEl>
                                          <p:spTgt spid="57"/>
                                        </p:tgtEl>
                                        <p:attrNameLst>
                                          <p:attrName>style.visibility</p:attrName>
                                        </p:attrNameLst>
                                      </p:cBhvr>
                                      <p:to>
                                        <p:strVal val="visible"/>
                                      </p:to>
                                    </p:set>
                                    <p:anim calcmode="lin" valueType="num">
                                      <p:cBhvr additive="base">
                                        <p:cTn id="240" dur="500" fill="hold"/>
                                        <p:tgtEl>
                                          <p:spTgt spid="57"/>
                                        </p:tgtEl>
                                        <p:attrNameLst>
                                          <p:attrName>ppt_x</p:attrName>
                                        </p:attrNameLst>
                                      </p:cBhvr>
                                      <p:tavLst>
                                        <p:tav tm="0">
                                          <p:val>
                                            <p:strVal val="#ppt_x"/>
                                          </p:val>
                                        </p:tav>
                                        <p:tav tm="100000">
                                          <p:val>
                                            <p:strVal val="#ppt_x"/>
                                          </p:val>
                                        </p:tav>
                                      </p:tavLst>
                                    </p:anim>
                                    <p:anim calcmode="lin" valueType="num">
                                      <p:cBhvr additive="base">
                                        <p:cTn id="241" dur="500" fill="hold"/>
                                        <p:tgtEl>
                                          <p:spTgt spid="57"/>
                                        </p:tgtEl>
                                        <p:attrNameLst>
                                          <p:attrName>ppt_y</p:attrName>
                                        </p:attrNameLst>
                                      </p:cBhvr>
                                      <p:tavLst>
                                        <p:tav tm="0">
                                          <p:val>
                                            <p:strVal val="#ppt_y+0.1"/>
                                          </p:val>
                                        </p:tav>
                                        <p:tav tm="100000">
                                          <p:val>
                                            <p:strVal val="#ppt_y"/>
                                          </p:val>
                                        </p:tav>
                                      </p:tavLst>
                                    </p:anim>
                                    <p:animEffect transition="in" filter="fade">
                                      <p:cBhvr>
                                        <p:cTn id="242" dur="500"/>
                                        <p:tgtEl>
                                          <p:spTgt spid="57"/>
                                        </p:tgtEl>
                                      </p:cBhvr>
                                    </p:animEffect>
                                  </p:childTnLst>
                                </p:cTn>
                              </p:par>
                              <p:par>
                                <p:cTn id="248" presetID="2" presetClass="entr" presetSubtype="4" fill="hold" grpId="0" nodeType="withEffect">
                                  <p:stCondLst>
                                    <p:cond delay="0"/>
                                  </p:stCondLst>
                                  <p:childTnLst>
                                    <p:set>
                                      <p:cBhvr>
                                        <p:cTn id="244" dur="1" fill="hold">
                                          <p:stCondLst>
                                            <p:cond delay="0"/>
                                          </p:stCondLst>
                                        </p:cTn>
                                        <p:tgtEl>
                                          <p:spTgt spid="58"/>
                                        </p:tgtEl>
                                        <p:attrNameLst>
                                          <p:attrName>style.visibility</p:attrName>
                                        </p:attrNameLst>
                                      </p:cBhvr>
                                      <p:to>
                                        <p:strVal val="visible"/>
                                      </p:to>
                                    </p:set>
                                    <p:anim calcmode="lin" valueType="num">
                                      <p:cBhvr additive="base">
                                        <p:cTn id="245" dur="500" fill="hold"/>
                                        <p:tgtEl>
                                          <p:spTgt spid="58"/>
                                        </p:tgtEl>
                                        <p:attrNameLst>
                                          <p:attrName>ppt_x</p:attrName>
                                        </p:attrNameLst>
                                      </p:cBhvr>
                                      <p:tavLst>
                                        <p:tav tm="0">
                                          <p:val>
                                            <p:strVal val="#ppt_x"/>
                                          </p:val>
                                        </p:tav>
                                        <p:tav tm="100000">
                                          <p:val>
                                            <p:strVal val="#ppt_x"/>
                                          </p:val>
                                        </p:tav>
                                      </p:tavLst>
                                    </p:anim>
                                    <p:anim calcmode="lin" valueType="num">
                                      <p:cBhvr additive="base">
                                        <p:cTn id="246" dur="500" fill="hold"/>
                                        <p:tgtEl>
                                          <p:spTgt spid="58"/>
                                        </p:tgtEl>
                                        <p:attrNameLst>
                                          <p:attrName>ppt_y</p:attrName>
                                        </p:attrNameLst>
                                      </p:cBhvr>
                                      <p:tavLst>
                                        <p:tav tm="0">
                                          <p:val>
                                            <p:strVal val="#ppt_y+0.1"/>
                                          </p:val>
                                        </p:tav>
                                        <p:tav tm="100000">
                                          <p:val>
                                            <p:strVal val="#ppt_y"/>
                                          </p:val>
                                        </p:tav>
                                      </p:tavLst>
                                    </p:anim>
                                    <p:animEffect transition="in" filter="fade">
                                      <p:cBhvr>
                                        <p:cTn id="247" dur="500"/>
                                        <p:tgtEl>
                                          <p:spTgt spid="58"/>
                                        </p:tgtEl>
                                      </p:cBhvr>
                                    </p:animEffect>
                                  </p:childTnLst>
                                </p:cTn>
                              </p:par>
                              <p:par>
                                <p:cTn id="253" presetID="2" presetClass="entr" presetSubtype="4" fill="hold" grpId="0" nodeType="withEffect">
                                  <p:stCondLst>
                                    <p:cond delay="0"/>
                                  </p:stCondLst>
                                  <p:childTnLst>
                                    <p:set>
                                      <p:cBhvr>
                                        <p:cTn id="249" dur="1" fill="hold">
                                          <p:stCondLst>
                                            <p:cond delay="0"/>
                                          </p:stCondLst>
                                        </p:cTn>
                                        <p:tgtEl>
                                          <p:spTgt spid="59"/>
                                        </p:tgtEl>
                                        <p:attrNameLst>
                                          <p:attrName>style.visibility</p:attrName>
                                        </p:attrNameLst>
                                      </p:cBhvr>
                                      <p:to>
                                        <p:strVal val="visible"/>
                                      </p:to>
                                    </p:set>
                                    <p:anim calcmode="lin" valueType="num">
                                      <p:cBhvr additive="base">
                                        <p:cTn id="250" dur="500" fill="hold"/>
                                        <p:tgtEl>
                                          <p:spTgt spid="59"/>
                                        </p:tgtEl>
                                        <p:attrNameLst>
                                          <p:attrName>ppt_x</p:attrName>
                                        </p:attrNameLst>
                                      </p:cBhvr>
                                      <p:tavLst>
                                        <p:tav tm="0">
                                          <p:val>
                                            <p:strVal val="#ppt_x"/>
                                          </p:val>
                                        </p:tav>
                                        <p:tav tm="100000">
                                          <p:val>
                                            <p:strVal val="#ppt_x"/>
                                          </p:val>
                                        </p:tav>
                                      </p:tavLst>
                                    </p:anim>
                                    <p:anim calcmode="lin" valueType="num">
                                      <p:cBhvr additive="base">
                                        <p:cTn id="251" dur="500" fill="hold"/>
                                        <p:tgtEl>
                                          <p:spTgt spid="59"/>
                                        </p:tgtEl>
                                        <p:attrNameLst>
                                          <p:attrName>ppt_y</p:attrName>
                                        </p:attrNameLst>
                                      </p:cBhvr>
                                      <p:tavLst>
                                        <p:tav tm="0">
                                          <p:val>
                                            <p:strVal val="#ppt_y+0.1"/>
                                          </p:val>
                                        </p:tav>
                                        <p:tav tm="100000">
                                          <p:val>
                                            <p:strVal val="#ppt_y"/>
                                          </p:val>
                                        </p:tav>
                                      </p:tavLst>
                                    </p:anim>
                                    <p:animEffect transition="in" filter="fade">
                                      <p:cBhvr>
                                        <p:cTn id="252"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Kafka Took a Different Path</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Not a traditional messaging system - inspired by something every developer uses daily</a:t>
            </a:r>
          </a:p>
        </p:txBody>
      </p:sp>
      <p:sp>
        <p:nvSpPr>
          <p:cNvPr id="11" name="a1u_card10"/>
          <p:cNvSpPr/>
          <p:nvPr/>
        </p:nvSpPr>
        <p:spPr>
          <a:xfrm>
            <a:off x="457200" y="1280160"/>
            <a:ext cx="8229600" cy="694944"/>
          </a:xfrm>
          <a:prstGeom prst="roundRect">
            <a:avLst>
              <a:gd name="adj" fmla="val 1578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tag11"/>
          <p:cNvSpPr/>
          <p:nvPr/>
        </p:nvSpPr>
        <p:spPr>
          <a:xfrm>
            <a:off x="640080" y="1408176"/>
            <a:ext cx="731520" cy="438912"/>
          </a:xfrm>
          <a:prstGeom prst="roundRect">
            <a:avLst>
              <a:gd name="adj" fmla="val 16666"/>
            </a:avLst>
          </a:prstGeom>
          <a:solidFill>
            <a:srgbClr val="FFE4E6"/>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tagt12"/>
          <p:cNvSpPr txBox="1"/>
          <p:nvPr/>
        </p:nvSpPr>
        <p:spPr>
          <a:xfrm>
            <a:off x="640080" y="1408176"/>
            <a:ext cx="731520" cy="438912"/>
          </a:xfrm>
          <a:prstGeom prst="rect">
            <a:avLst/>
          </a:prstGeom>
          <a:noFill/>
        </p:spPr>
        <p:txBody>
          <a:bodyPr wrap="square" lIns="0" tIns="0" rIns="0" bIns="0" anchor="ctr">
            <a:spAutoFit/>
          </a:bodyPr>
          <a:lstStyle/>
          <a:p>
            <a:pPr algn="ctr"/>
            <a:r>
              <a:rPr sz="1200" b="1">
                <a:solidFill>
                  <a:srgbClr val="E11D48"/>
                </a:solidFill>
                <a:latin typeface="Segoe UI"/>
              </a:rPr>
              <a:t>NO</a:t>
            </a:r>
          </a:p>
        </p:txBody>
      </p:sp>
      <p:sp>
        <p:nvSpPr>
          <p:cNvPr id="14" name="a1ud100_st13"/>
          <p:cNvSpPr txBox="1"/>
          <p:nvPr/>
        </p:nvSpPr>
        <p:spPr>
          <a:xfrm>
            <a:off x="1600200" y="1280160"/>
            <a:ext cx="6903720" cy="694944"/>
          </a:xfrm>
          <a:prstGeom prst="rect">
            <a:avLst/>
          </a:prstGeom>
          <a:noFill/>
        </p:spPr>
        <p:txBody>
          <a:bodyPr wrap="square" lIns="0" tIns="0" rIns="0" bIns="0" anchor="ctr">
            <a:spAutoFit/>
          </a:bodyPr>
          <a:lstStyle/>
          <a:p>
            <a:pPr algn="l"/>
            <a:r>
              <a:rPr sz="1400" b="1">
                <a:solidFill>
                  <a:srgbClr val="1C1917"/>
                </a:solidFill>
                <a:latin typeface="Segoe UI"/>
              </a:rPr>
              <a:t>Kafka was NOT designed as a traditional messaging system</a:t>
            </a:r>
          </a:p>
        </p:txBody>
      </p:sp>
      <p:sp>
        <p:nvSpPr>
          <p:cNvPr id="15" name="a2u_card14"/>
          <p:cNvSpPr/>
          <p:nvPr/>
        </p:nvSpPr>
        <p:spPr>
          <a:xfrm>
            <a:off x="457200" y="2121408"/>
            <a:ext cx="8229600" cy="694944"/>
          </a:xfrm>
          <a:prstGeom prst="roundRect">
            <a:avLst>
              <a:gd name="adj" fmla="val 1578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_tag15"/>
          <p:cNvSpPr/>
          <p:nvPr/>
        </p:nvSpPr>
        <p:spPr>
          <a:xfrm>
            <a:off x="640080" y="2249424"/>
            <a:ext cx="731520" cy="438912"/>
          </a:xfrm>
          <a:prstGeom prst="roundRect">
            <a:avLst>
              <a:gd name="adj" fmla="val 16666"/>
            </a:avLst>
          </a:prstGeom>
          <a:solidFill>
            <a:srgbClr val="FFE4E6"/>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_tagt16"/>
          <p:cNvSpPr txBox="1"/>
          <p:nvPr/>
        </p:nvSpPr>
        <p:spPr>
          <a:xfrm>
            <a:off x="640080" y="2249424"/>
            <a:ext cx="731520" cy="438912"/>
          </a:xfrm>
          <a:prstGeom prst="rect">
            <a:avLst/>
          </a:prstGeom>
          <a:noFill/>
        </p:spPr>
        <p:txBody>
          <a:bodyPr wrap="square" lIns="0" tIns="0" rIns="0" bIns="0" anchor="ctr">
            <a:spAutoFit/>
          </a:bodyPr>
          <a:lstStyle/>
          <a:p>
            <a:pPr algn="ctr"/>
            <a:r>
              <a:rPr sz="1200" b="1">
                <a:solidFill>
                  <a:srgbClr val="E11D48"/>
                </a:solidFill>
                <a:latin typeface="Segoe UI"/>
              </a:rPr>
              <a:t>NO</a:t>
            </a:r>
          </a:p>
        </p:txBody>
      </p:sp>
      <p:sp>
        <p:nvSpPr>
          <p:cNvPr id="18" name="a2ud100_st17"/>
          <p:cNvSpPr txBox="1"/>
          <p:nvPr/>
        </p:nvSpPr>
        <p:spPr>
          <a:xfrm>
            <a:off x="1600200" y="2121408"/>
            <a:ext cx="6903720" cy="694944"/>
          </a:xfrm>
          <a:prstGeom prst="rect">
            <a:avLst/>
          </a:prstGeom>
          <a:noFill/>
        </p:spPr>
        <p:txBody>
          <a:bodyPr wrap="square" lIns="0" tIns="0" rIns="0" bIns="0" anchor="ctr">
            <a:spAutoFit/>
          </a:bodyPr>
          <a:lstStyle/>
          <a:p>
            <a:pPr algn="l"/>
            <a:r>
              <a:rPr sz="1400" b="1">
                <a:solidFill>
                  <a:srgbClr val="1C1917"/>
                </a:solidFill>
                <a:latin typeface="Segoe UI"/>
              </a:rPr>
              <a:t>Kafka was NOT designed on the AMQP specification - it has its own protocol</a:t>
            </a:r>
          </a:p>
        </p:txBody>
      </p:sp>
      <p:sp>
        <p:nvSpPr>
          <p:cNvPr id="19" name="a3u_card18"/>
          <p:cNvSpPr/>
          <p:nvPr/>
        </p:nvSpPr>
        <p:spPr>
          <a:xfrm>
            <a:off x="457200" y="2962656"/>
            <a:ext cx="8229600" cy="694944"/>
          </a:xfrm>
          <a:prstGeom prst="roundRect">
            <a:avLst>
              <a:gd name="adj" fmla="val 1578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3u_tag19"/>
          <p:cNvSpPr/>
          <p:nvPr/>
        </p:nvSpPr>
        <p:spPr>
          <a:xfrm>
            <a:off x="640080" y="3090672"/>
            <a:ext cx="731520" cy="438912"/>
          </a:xfrm>
          <a:prstGeom prst="roundRect">
            <a:avLst>
              <a:gd name="adj" fmla="val 16666"/>
            </a:avLst>
          </a:prstGeom>
          <a:solidFill>
            <a:srgbClr val="DCFCE7"/>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3u_tagt20"/>
          <p:cNvSpPr txBox="1"/>
          <p:nvPr/>
        </p:nvSpPr>
        <p:spPr>
          <a:xfrm>
            <a:off x="640080" y="3090672"/>
            <a:ext cx="731520" cy="438912"/>
          </a:xfrm>
          <a:prstGeom prst="rect">
            <a:avLst/>
          </a:prstGeom>
          <a:noFill/>
        </p:spPr>
        <p:txBody>
          <a:bodyPr wrap="square" lIns="0" tIns="0" rIns="0" bIns="0" anchor="ctr">
            <a:spAutoFit/>
          </a:bodyPr>
          <a:lstStyle/>
          <a:p>
            <a:pPr algn="ctr"/>
            <a:r>
              <a:rPr sz="1200" b="1">
                <a:solidFill>
                  <a:srgbClr val="15803D"/>
                </a:solidFill>
                <a:latin typeface="Segoe UI"/>
              </a:rPr>
              <a:t>YES</a:t>
            </a:r>
          </a:p>
        </p:txBody>
      </p:sp>
      <p:sp>
        <p:nvSpPr>
          <p:cNvPr id="22" name="a3ud100_st21"/>
          <p:cNvSpPr txBox="1"/>
          <p:nvPr/>
        </p:nvSpPr>
        <p:spPr>
          <a:xfrm>
            <a:off x="1600200" y="2962656"/>
            <a:ext cx="6903720" cy="694944"/>
          </a:xfrm>
          <a:prstGeom prst="rect">
            <a:avLst/>
          </a:prstGeom>
          <a:noFill/>
        </p:spPr>
        <p:txBody>
          <a:bodyPr wrap="square" lIns="0" tIns="0" rIns="0" bIns="0" anchor="ctr">
            <a:spAutoFit/>
          </a:bodyPr>
          <a:lstStyle/>
          <a:p>
            <a:pPr algn="l"/>
            <a:r>
              <a:rPr sz="1400" b="1">
                <a:solidFill>
                  <a:srgbClr val="1C1917"/>
                </a:solidFill>
                <a:latin typeface="Segoe UI"/>
              </a:rPr>
              <a:t>Kafka was designed based on LOGGERS - the logs every application writes</a:t>
            </a:r>
          </a:p>
        </p:txBody>
      </p:sp>
      <p:sp>
        <p:nvSpPr>
          <p:cNvPr id="23" name="a4u_nb22"/>
          <p:cNvSpPr/>
          <p:nvPr/>
        </p:nvSpPr>
        <p:spPr>
          <a:xfrm>
            <a:off x="457200" y="3886200"/>
            <a:ext cx="8229600" cy="502920"/>
          </a:xfrm>
          <a:prstGeom prst="roundRect">
            <a:avLst>
              <a:gd name="adj" fmla="val 14545"/>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4u_nacc23"/>
          <p:cNvSpPr/>
          <p:nvPr/>
        </p:nvSpPr>
        <p:spPr>
          <a:xfrm>
            <a:off x="457200" y="3886200"/>
            <a:ext cx="54864" cy="5029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4u_nt24"/>
          <p:cNvSpPr txBox="1"/>
          <p:nvPr/>
        </p:nvSpPr>
        <p:spPr>
          <a:xfrm>
            <a:off x="658368" y="3886200"/>
            <a:ext cx="7827264" cy="502920"/>
          </a:xfrm>
          <a:prstGeom prst="rect">
            <a:avLst/>
          </a:prstGeom>
          <a:noFill/>
        </p:spPr>
        <p:txBody>
          <a:bodyPr wrap="square" lIns="0" tIns="0" rIns="0" bIns="0" anchor="ctr">
            <a:spAutoFit/>
          </a:bodyPr>
          <a:lstStyle/>
          <a:p>
            <a:pPr algn="l"/>
            <a:r>
              <a:rPr sz="1000" b="1">
                <a:solidFill>
                  <a:srgbClr val="C2410C"/>
                </a:solidFill>
                <a:latin typeface="Segoe UI"/>
              </a:rPr>
              <a:t>NEXT  </a:t>
            </a:r>
            <a:r>
              <a:rPr sz="1000" b="0">
                <a:solidFill>
                  <a:srgbClr val="44403C"/>
                </a:solidFill>
                <a:latin typeface="Segoe UI"/>
              </a:rPr>
              <a:t>So to understand Kafka, we first need to understand logs.</a:t>
            </a:r>
          </a:p>
        </p:txBody>
      </p:sp>
      <p:sp>
        <p:nvSpPr>
          <p:cNvPr id="26" name="ft25"/>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42</a:t>
            </a:r>
          </a:p>
        </p:txBody>
      </p:sp>
      <p:sp>
        <p:nvSpPr>
          <p:cNvPr id="27" name="ft26"/>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ft27"/>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29" name="ft28"/>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31" presetID="2" presetClass="entr" presetSubtype="4"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ppt_y+0.1"/>
                                          </p:val>
                                        </p:tav>
                                        <p:tav tm="100000">
                                          <p:val>
                                            <p:strVal val="#ppt_y"/>
                                          </p:val>
                                        </p:tav>
                                      </p:tavLst>
                                    </p:anim>
                                    <p:animEffect transition="in" filter="fade">
                                      <p:cBhvr>
                                        <p:cTn id="30" dur="500"/>
                                        <p:tgtEl>
                                          <p:spTgt spid="15"/>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ppt_y+0.1"/>
                                          </p:val>
                                        </p:tav>
                                        <p:tav tm="100000">
                                          <p:val>
                                            <p:strVal val="#ppt_y"/>
                                          </p:val>
                                        </p:tav>
                                      </p:tavLst>
                                    </p:anim>
                                    <p:animEffect transition="in" filter="fade">
                                      <p:cBhvr>
                                        <p:cTn id="40" dur="500"/>
                                        <p:tgtEl>
                                          <p:spTgt spid="17"/>
                                        </p:tgtEl>
                                      </p:cBhvr>
                                    </p:animEffect>
                                  </p:childTnLst>
                                </p:cTn>
                              </p:par>
                              <p:par>
                                <p:cTn id="46" presetID="2" presetClass="entr" presetSubtype="4" fill="hold" grpId="0" nodeType="withEffect">
                                  <p:stCondLst>
                                    <p:cond delay="10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ppt_y+0.1"/>
                                          </p:val>
                                        </p:tav>
                                        <p:tav tm="100000">
                                          <p:val>
                                            <p:strVal val="#ppt_y"/>
                                          </p:val>
                                        </p:tav>
                                      </p:tavLst>
                                    </p:anim>
                                    <p:animEffect transition="in" filter="fade">
                                      <p:cBhvr>
                                        <p:cTn id="45"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53" presetID="2" presetClass="entr" presetSubtype="4"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ppt_x"/>
                                          </p:val>
                                        </p:tav>
                                        <p:tav tm="100000">
                                          <p:val>
                                            <p:strVal val="#ppt_x"/>
                                          </p:val>
                                        </p:tav>
                                      </p:tavLst>
                                    </p:anim>
                                    <p:anim calcmode="lin" valueType="num">
                                      <p:cBhvr additive="base">
                                        <p:cTn id="51" dur="500" fill="hold"/>
                                        <p:tgtEl>
                                          <p:spTgt spid="19"/>
                                        </p:tgtEl>
                                        <p:attrNameLst>
                                          <p:attrName>ppt_y</p:attrName>
                                        </p:attrNameLst>
                                      </p:cBhvr>
                                      <p:tavLst>
                                        <p:tav tm="0">
                                          <p:val>
                                            <p:strVal val="#ppt_y+0.1"/>
                                          </p:val>
                                        </p:tav>
                                        <p:tav tm="100000">
                                          <p:val>
                                            <p:strVal val="#ppt_y"/>
                                          </p:val>
                                        </p:tav>
                                      </p:tavLst>
                                    </p:anim>
                                    <p:animEffect transition="in" filter="fade">
                                      <p:cBhvr>
                                        <p:cTn id="52" dur="500"/>
                                        <p:tgtEl>
                                          <p:spTgt spid="19"/>
                                        </p:tgtEl>
                                      </p:cBhvr>
                                    </p:animEffect>
                                  </p:childTnLst>
                                </p:cTn>
                              </p:par>
                              <p:par>
                                <p:cTn id="58" presetID="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ppt_y+0.1"/>
                                          </p:val>
                                        </p:tav>
                                        <p:tav tm="100000">
                                          <p:val>
                                            <p:strVal val="#ppt_y"/>
                                          </p:val>
                                        </p:tav>
                                      </p:tavLst>
                                    </p:anim>
                                    <p:animEffect transition="in" filter="fade">
                                      <p:cBhvr>
                                        <p:cTn id="57" dur="500"/>
                                        <p:tgtEl>
                                          <p:spTgt spid="20"/>
                                        </p:tgtEl>
                                      </p:cBhvr>
                                    </p:animEffect>
                                  </p:childTnLst>
                                </p:cTn>
                              </p:par>
                              <p:par>
                                <p:cTn id="63" presetID="2" presetClass="entr" presetSubtype="4"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additive="base">
                                        <p:cTn id="60" dur="500" fill="hold"/>
                                        <p:tgtEl>
                                          <p:spTgt spid="21"/>
                                        </p:tgtEl>
                                        <p:attrNameLst>
                                          <p:attrName>ppt_x</p:attrName>
                                        </p:attrNameLst>
                                      </p:cBhvr>
                                      <p:tavLst>
                                        <p:tav tm="0">
                                          <p:val>
                                            <p:strVal val="#ppt_x"/>
                                          </p:val>
                                        </p:tav>
                                        <p:tav tm="100000">
                                          <p:val>
                                            <p:strVal val="#ppt_x"/>
                                          </p:val>
                                        </p:tav>
                                      </p:tavLst>
                                    </p:anim>
                                    <p:anim calcmode="lin" valueType="num">
                                      <p:cBhvr additive="base">
                                        <p:cTn id="61" dur="500" fill="hold"/>
                                        <p:tgtEl>
                                          <p:spTgt spid="21"/>
                                        </p:tgtEl>
                                        <p:attrNameLst>
                                          <p:attrName>ppt_y</p:attrName>
                                        </p:attrNameLst>
                                      </p:cBhvr>
                                      <p:tavLst>
                                        <p:tav tm="0">
                                          <p:val>
                                            <p:strVal val="#ppt_y+0.1"/>
                                          </p:val>
                                        </p:tav>
                                        <p:tav tm="100000">
                                          <p:val>
                                            <p:strVal val="#ppt_y"/>
                                          </p:val>
                                        </p:tav>
                                      </p:tavLst>
                                    </p:anim>
                                    <p:animEffect transition="in" filter="fade">
                                      <p:cBhvr>
                                        <p:cTn id="62" dur="500"/>
                                        <p:tgtEl>
                                          <p:spTgt spid="21"/>
                                        </p:tgtEl>
                                      </p:cBhvr>
                                    </p:animEffect>
                                  </p:childTnLst>
                                </p:cTn>
                              </p:par>
                              <p:par>
                                <p:cTn id="68" presetID="2" presetClass="entr" presetSubtype="4" fill="hold" grpId="0" nodeType="withEffect">
                                  <p:stCondLst>
                                    <p:cond delay="100"/>
                                  </p:stCondLst>
                                  <p:childTnLst>
                                    <p:set>
                                      <p:cBhvr>
                                        <p:cTn id="64" dur="1" fill="hold">
                                          <p:stCondLst>
                                            <p:cond delay="0"/>
                                          </p:stCondLst>
                                        </p:cTn>
                                        <p:tgtEl>
                                          <p:spTgt spid="22"/>
                                        </p:tgtEl>
                                        <p:attrNameLst>
                                          <p:attrName>style.visibility</p:attrName>
                                        </p:attrNameLst>
                                      </p:cBhvr>
                                      <p:to>
                                        <p:strVal val="visible"/>
                                      </p:to>
                                    </p:set>
                                    <p:anim calcmode="lin" valueType="num">
                                      <p:cBhvr additive="base">
                                        <p:cTn id="65" dur="500" fill="hold"/>
                                        <p:tgtEl>
                                          <p:spTgt spid="22"/>
                                        </p:tgtEl>
                                        <p:attrNameLst>
                                          <p:attrName>ppt_x</p:attrName>
                                        </p:attrNameLst>
                                      </p:cBhvr>
                                      <p:tavLst>
                                        <p:tav tm="0">
                                          <p:val>
                                            <p:strVal val="#ppt_x"/>
                                          </p:val>
                                        </p:tav>
                                        <p:tav tm="100000">
                                          <p:val>
                                            <p:strVal val="#ppt_x"/>
                                          </p:val>
                                        </p:tav>
                                      </p:tavLst>
                                    </p:anim>
                                    <p:anim calcmode="lin" valueType="num">
                                      <p:cBhvr additive="base">
                                        <p:cTn id="66" dur="500" fill="hold"/>
                                        <p:tgtEl>
                                          <p:spTgt spid="22"/>
                                        </p:tgtEl>
                                        <p:attrNameLst>
                                          <p:attrName>ppt_y</p:attrName>
                                        </p:attrNameLst>
                                      </p:cBhvr>
                                      <p:tavLst>
                                        <p:tav tm="0">
                                          <p:val>
                                            <p:strVal val="#ppt_y+0.1"/>
                                          </p:val>
                                        </p:tav>
                                        <p:tav tm="100000">
                                          <p:val>
                                            <p:strVal val="#ppt_y"/>
                                          </p:val>
                                        </p:tav>
                                      </p:tavLst>
                                    </p:anim>
                                    <p:animEffect transition="in" filter="fade">
                                      <p:cBhvr>
                                        <p:cTn id="67"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5" presetID="2" presetClass="entr" presetSubtype="4"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500" fill="hold"/>
                                        <p:tgtEl>
                                          <p:spTgt spid="23"/>
                                        </p:tgtEl>
                                        <p:attrNameLst>
                                          <p:attrName>ppt_x</p:attrName>
                                        </p:attrNameLst>
                                      </p:cBhvr>
                                      <p:tavLst>
                                        <p:tav tm="0">
                                          <p:val>
                                            <p:strVal val="#ppt_x"/>
                                          </p:val>
                                        </p:tav>
                                        <p:tav tm="100000">
                                          <p:val>
                                            <p:strVal val="#ppt_x"/>
                                          </p:val>
                                        </p:tav>
                                      </p:tavLst>
                                    </p:anim>
                                    <p:anim calcmode="lin" valueType="num">
                                      <p:cBhvr additive="base">
                                        <p:cTn id="73" dur="500" fill="hold"/>
                                        <p:tgtEl>
                                          <p:spTgt spid="23"/>
                                        </p:tgtEl>
                                        <p:attrNameLst>
                                          <p:attrName>ppt_y</p:attrName>
                                        </p:attrNameLst>
                                      </p:cBhvr>
                                      <p:tavLst>
                                        <p:tav tm="0">
                                          <p:val>
                                            <p:strVal val="#ppt_y+0.1"/>
                                          </p:val>
                                        </p:tav>
                                        <p:tav tm="100000">
                                          <p:val>
                                            <p:strVal val="#ppt_y"/>
                                          </p:val>
                                        </p:tav>
                                      </p:tavLst>
                                    </p:anim>
                                    <p:animEffect transition="in" filter="fade">
                                      <p:cBhvr>
                                        <p:cTn id="74" dur="500"/>
                                        <p:tgtEl>
                                          <p:spTgt spid="23"/>
                                        </p:tgtEl>
                                      </p:cBhvr>
                                    </p:animEffect>
                                  </p:childTnLst>
                                </p:cTn>
                              </p:par>
                              <p:par>
                                <p:cTn id="80" presetID="2" presetClass="entr" presetSubtype="4"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500" fill="hold"/>
                                        <p:tgtEl>
                                          <p:spTgt spid="24"/>
                                        </p:tgtEl>
                                        <p:attrNameLst>
                                          <p:attrName>ppt_x</p:attrName>
                                        </p:attrNameLst>
                                      </p:cBhvr>
                                      <p:tavLst>
                                        <p:tav tm="0">
                                          <p:val>
                                            <p:strVal val="#ppt_x"/>
                                          </p:val>
                                        </p:tav>
                                        <p:tav tm="100000">
                                          <p:val>
                                            <p:strVal val="#ppt_x"/>
                                          </p:val>
                                        </p:tav>
                                      </p:tavLst>
                                    </p:anim>
                                    <p:anim calcmode="lin" valueType="num">
                                      <p:cBhvr additive="base">
                                        <p:cTn id="78" dur="500" fill="hold"/>
                                        <p:tgtEl>
                                          <p:spTgt spid="24"/>
                                        </p:tgtEl>
                                        <p:attrNameLst>
                                          <p:attrName>ppt_y</p:attrName>
                                        </p:attrNameLst>
                                      </p:cBhvr>
                                      <p:tavLst>
                                        <p:tav tm="0">
                                          <p:val>
                                            <p:strVal val="#ppt_y+0.1"/>
                                          </p:val>
                                        </p:tav>
                                        <p:tav tm="100000">
                                          <p:val>
                                            <p:strVal val="#ppt_y"/>
                                          </p:val>
                                        </p:tav>
                                      </p:tavLst>
                                    </p:anim>
                                    <p:animEffect transition="in" filter="fade">
                                      <p:cBhvr>
                                        <p:cTn id="79" dur="500"/>
                                        <p:tgtEl>
                                          <p:spTgt spid="24"/>
                                        </p:tgtEl>
                                      </p:cBhvr>
                                    </p:animEffect>
                                  </p:childTnLst>
                                </p:cTn>
                              </p:par>
                              <p:par>
                                <p:cTn id="85" presetID="2" presetClass="entr" presetSubtype="4"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ppt_y+0.1"/>
                                          </p:val>
                                        </p:tav>
                                        <p:tav tm="100000">
                                          <p:val>
                                            <p:strVal val="#ppt_y"/>
                                          </p:val>
                                        </p:tav>
                                      </p:tavLst>
                                    </p:anim>
                                    <p:animEffect transition="in" filter="fade">
                                      <p:cBhvr>
                                        <p:cTn id="8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What Is a Log?</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Tracking the activities of an application and storing them - in memory or a file - to analyze later</a:t>
            </a:r>
          </a:p>
        </p:txBody>
      </p:sp>
      <p:sp>
        <p:nvSpPr>
          <p:cNvPr id="11" name="a1f_codebg10"/>
          <p:cNvSpPr/>
          <p:nvPr/>
        </p:nvSpPr>
        <p:spPr>
          <a:xfrm>
            <a:off x="457200" y="1234440"/>
            <a:ext cx="4846320" cy="1700784"/>
          </a:xfrm>
          <a:prstGeom prst="roundRect">
            <a:avLst>
              <a:gd name="adj" fmla="val 4301"/>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codeh11"/>
          <p:cNvSpPr txBox="1"/>
          <p:nvPr/>
        </p:nvSpPr>
        <p:spPr>
          <a:xfrm>
            <a:off x="621792" y="1289304"/>
            <a:ext cx="4517136" cy="219456"/>
          </a:xfrm>
          <a:prstGeom prst="rect">
            <a:avLst/>
          </a:prstGeom>
          <a:noFill/>
        </p:spPr>
        <p:txBody>
          <a:bodyPr wrap="square" lIns="0" tIns="0" rIns="0" bIns="0" anchor="ctr">
            <a:spAutoFit/>
          </a:bodyPr>
          <a:lstStyle/>
          <a:p>
            <a:pPr algn="l"/>
            <a:r>
              <a:rPr sz="950" b="1">
                <a:solidFill>
                  <a:srgbClr val="A8A29E"/>
                </a:solidFill>
                <a:latin typeface="Consolas"/>
              </a:rPr>
              <a:t>system.log</a:t>
            </a:r>
          </a:p>
        </p:txBody>
      </p:sp>
      <p:sp>
        <p:nvSpPr>
          <p:cNvPr id="13" name="a1f_codesep12"/>
          <p:cNvSpPr/>
          <p:nvPr/>
        </p:nvSpPr>
        <p:spPr>
          <a:xfrm>
            <a:off x="621792" y="1563624"/>
            <a:ext cx="4517136"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_code13"/>
          <p:cNvSpPr txBox="1"/>
          <p:nvPr/>
        </p:nvSpPr>
        <p:spPr>
          <a:xfrm>
            <a:off x="621792" y="1673352"/>
            <a:ext cx="4517136" cy="274320"/>
          </a:xfrm>
          <a:prstGeom prst="rect">
            <a:avLst/>
          </a:prstGeom>
          <a:noFill/>
        </p:spPr>
        <p:txBody>
          <a:bodyPr wrap="none" lIns="0" tIns="0" rIns="0" bIns="0" anchor="ctr">
            <a:spAutoFit/>
          </a:bodyPr>
          <a:lstStyle/>
          <a:p>
            <a:pPr algn="l"/>
            <a:r>
              <a:rPr sz="1050" b="0">
                <a:solidFill>
                  <a:srgbClr val="8A8580"/>
                </a:solidFill>
                <a:latin typeface="Consolas"/>
              </a:rPr>
              <a:t>2016-06-16 17:02:13 TRACE Trace log message</a:t>
            </a:r>
          </a:p>
        </p:txBody>
      </p:sp>
      <p:sp>
        <p:nvSpPr>
          <p:cNvPr id="15" name="a1wd250_code14"/>
          <p:cNvSpPr txBox="1"/>
          <p:nvPr/>
        </p:nvSpPr>
        <p:spPr>
          <a:xfrm>
            <a:off x="621792" y="1947672"/>
            <a:ext cx="4517136" cy="274320"/>
          </a:xfrm>
          <a:prstGeom prst="rect">
            <a:avLst/>
          </a:prstGeom>
          <a:noFill/>
        </p:spPr>
        <p:txBody>
          <a:bodyPr wrap="none" lIns="0" tIns="0" rIns="0" bIns="0" anchor="ctr">
            <a:spAutoFit/>
          </a:bodyPr>
          <a:lstStyle/>
          <a:p>
            <a:pPr algn="l"/>
            <a:r>
              <a:rPr sz="1050" b="0">
                <a:solidFill>
                  <a:srgbClr val="E7E5E4"/>
                </a:solidFill>
                <a:latin typeface="Consolas"/>
              </a:rPr>
              <a:t>2016-06-16 17:02:13 DEBUG Debug log message</a:t>
            </a:r>
          </a:p>
        </p:txBody>
      </p:sp>
      <p:sp>
        <p:nvSpPr>
          <p:cNvPr id="16" name="a1wd500_code15"/>
          <p:cNvSpPr txBox="1"/>
          <p:nvPr/>
        </p:nvSpPr>
        <p:spPr>
          <a:xfrm>
            <a:off x="621792" y="2221992"/>
            <a:ext cx="4517136" cy="274320"/>
          </a:xfrm>
          <a:prstGeom prst="rect">
            <a:avLst/>
          </a:prstGeom>
          <a:noFill/>
        </p:spPr>
        <p:txBody>
          <a:bodyPr wrap="none" lIns="0" tIns="0" rIns="0" bIns="0" anchor="ctr">
            <a:spAutoFit/>
          </a:bodyPr>
          <a:lstStyle/>
          <a:p>
            <a:pPr algn="l"/>
            <a:r>
              <a:rPr sz="1050" b="0">
                <a:solidFill>
                  <a:srgbClr val="67E8F9"/>
                </a:solidFill>
                <a:latin typeface="Consolas"/>
              </a:rPr>
              <a:t>2016-06-16 17:02:13 INFO  Info log message</a:t>
            </a:r>
          </a:p>
        </p:txBody>
      </p:sp>
      <p:sp>
        <p:nvSpPr>
          <p:cNvPr id="17" name="a1wd750_code16"/>
          <p:cNvSpPr txBox="1"/>
          <p:nvPr/>
        </p:nvSpPr>
        <p:spPr>
          <a:xfrm>
            <a:off x="621792" y="2496312"/>
            <a:ext cx="4517136" cy="274320"/>
          </a:xfrm>
          <a:prstGeom prst="rect">
            <a:avLst/>
          </a:prstGeom>
          <a:noFill/>
        </p:spPr>
        <p:txBody>
          <a:bodyPr wrap="none" lIns="0" tIns="0" rIns="0" bIns="0" anchor="ctr">
            <a:spAutoFit/>
          </a:bodyPr>
          <a:lstStyle/>
          <a:p>
            <a:pPr algn="l"/>
            <a:r>
              <a:rPr sz="1050" b="0">
                <a:solidFill>
                  <a:srgbClr val="FDA4AF"/>
                </a:solidFill>
                <a:latin typeface="Consolas"/>
              </a:rPr>
              <a:t>2016-06-16 17:02:13 ERROR Error log message</a:t>
            </a:r>
          </a:p>
        </p:txBody>
      </p:sp>
      <p:sp>
        <p:nvSpPr>
          <p:cNvPr id="18" name="a2f_lb17"/>
          <p:cNvSpPr txBox="1"/>
          <p:nvPr/>
        </p:nvSpPr>
        <p:spPr>
          <a:xfrm>
            <a:off x="457200" y="3099816"/>
            <a:ext cx="4846320" cy="201168"/>
          </a:xfrm>
          <a:prstGeom prst="rect">
            <a:avLst/>
          </a:prstGeom>
          <a:noFill/>
        </p:spPr>
        <p:txBody>
          <a:bodyPr wrap="square" lIns="0" tIns="0" rIns="0" bIns="0" anchor="ctr">
            <a:spAutoFit/>
          </a:bodyPr>
          <a:lstStyle/>
          <a:p>
            <a:pPr algn="l"/>
            <a:r>
              <a:rPr sz="950" b="1">
                <a:solidFill>
                  <a:srgbClr val="44403C"/>
                </a:solidFill>
                <a:latin typeface="Segoe UI"/>
              </a:rPr>
              <a:t>What a log tells you:</a:t>
            </a:r>
          </a:p>
        </p:txBody>
      </p:sp>
      <p:sp>
        <p:nvSpPr>
          <p:cNvPr id="19" name="a2u_pill18"/>
          <p:cNvSpPr/>
          <p:nvPr/>
        </p:nvSpPr>
        <p:spPr>
          <a:xfrm>
            <a:off x="457200" y="3392424"/>
            <a:ext cx="896112"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warnings</a:t>
            </a:r>
          </a:p>
        </p:txBody>
      </p:sp>
      <p:sp>
        <p:nvSpPr>
          <p:cNvPr id="20" name="a2ud90_pill19"/>
          <p:cNvSpPr/>
          <p:nvPr/>
        </p:nvSpPr>
        <p:spPr>
          <a:xfrm>
            <a:off x="1444752" y="3392424"/>
            <a:ext cx="896112"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information</a:t>
            </a:r>
          </a:p>
        </p:txBody>
      </p:sp>
      <p:sp>
        <p:nvSpPr>
          <p:cNvPr id="21" name="a2ud180_pill20"/>
          <p:cNvSpPr/>
          <p:nvPr/>
        </p:nvSpPr>
        <p:spPr>
          <a:xfrm>
            <a:off x="2432304" y="3392424"/>
            <a:ext cx="896112"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bugs</a:t>
            </a:r>
          </a:p>
        </p:txBody>
      </p:sp>
      <p:sp>
        <p:nvSpPr>
          <p:cNvPr id="22" name="a2ud270_pill21"/>
          <p:cNvSpPr/>
          <p:nvPr/>
        </p:nvSpPr>
        <p:spPr>
          <a:xfrm>
            <a:off x="3419856" y="3392424"/>
            <a:ext cx="896112"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tracking</a:t>
            </a:r>
          </a:p>
        </p:txBody>
      </p:sp>
      <p:sp>
        <p:nvSpPr>
          <p:cNvPr id="23" name="a2ud360_pill22"/>
          <p:cNvSpPr/>
          <p:nvPr/>
        </p:nvSpPr>
        <p:spPr>
          <a:xfrm>
            <a:off x="4407408" y="3392424"/>
            <a:ext cx="896112"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tracing</a:t>
            </a:r>
          </a:p>
        </p:txBody>
      </p:sp>
      <p:sp>
        <p:nvSpPr>
          <p:cNvPr id="24" name="a3u_card23"/>
          <p:cNvSpPr/>
          <p:nvPr/>
        </p:nvSpPr>
        <p:spPr>
          <a:xfrm>
            <a:off x="5577840" y="1234440"/>
            <a:ext cx="3108960" cy="2514600"/>
          </a:xfrm>
          <a:prstGeom prst="roundRect">
            <a:avLst>
              <a:gd name="adj" fmla="val 436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3u_acc24"/>
          <p:cNvSpPr/>
          <p:nvPr/>
        </p:nvSpPr>
        <p:spPr>
          <a:xfrm>
            <a:off x="5577840" y="1234440"/>
            <a:ext cx="50292" cy="25146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3u_hh25"/>
          <p:cNvSpPr txBox="1"/>
          <p:nvPr/>
        </p:nvSpPr>
        <p:spPr>
          <a:xfrm>
            <a:off x="5779007" y="1344168"/>
            <a:ext cx="2743200" cy="237744"/>
          </a:xfrm>
          <a:prstGeom prst="rect">
            <a:avLst/>
          </a:prstGeom>
          <a:noFill/>
        </p:spPr>
        <p:txBody>
          <a:bodyPr wrap="square" lIns="0" tIns="0" rIns="0" bIns="0" anchor="ctr">
            <a:spAutoFit/>
          </a:bodyPr>
          <a:lstStyle/>
          <a:p>
            <a:pPr algn="l"/>
            <a:r>
              <a:rPr sz="900" b="1">
                <a:solidFill>
                  <a:srgbClr val="EA580C"/>
                </a:solidFill>
                <a:latin typeface="Segoe UI"/>
              </a:rPr>
              <a:t>LOGGING FRAMEWORKS (JAVA)</a:t>
            </a:r>
          </a:p>
        </p:txBody>
      </p:sp>
      <p:sp>
        <p:nvSpPr>
          <p:cNvPr id="27" name="a3ud80_dot26"/>
          <p:cNvSpPr/>
          <p:nvPr/>
        </p:nvSpPr>
        <p:spPr>
          <a:xfrm>
            <a:off x="5779007" y="181508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ud80_b27"/>
          <p:cNvSpPr txBox="1"/>
          <p:nvPr/>
        </p:nvSpPr>
        <p:spPr>
          <a:xfrm>
            <a:off x="5998464" y="1719072"/>
            <a:ext cx="2487168" cy="438912"/>
          </a:xfrm>
          <a:prstGeom prst="rect">
            <a:avLst/>
          </a:prstGeom>
          <a:noFill/>
        </p:spPr>
        <p:txBody>
          <a:bodyPr wrap="square" lIns="0" tIns="0" rIns="0" bIns="0" anchor="t">
            <a:spAutoFit/>
          </a:bodyPr>
          <a:lstStyle/>
          <a:p>
            <a:pPr algn="l"/>
            <a:r>
              <a:rPr sz="950" b="1">
                <a:solidFill>
                  <a:srgbClr val="1C1917"/>
                </a:solidFill>
                <a:latin typeface="Segoe UI"/>
              </a:rPr>
              <a:t>Log4j 2  </a:t>
            </a:r>
            <a:r>
              <a:rPr sz="950" b="0">
                <a:solidFill>
                  <a:srgbClr val="44403C"/>
                </a:solidFill>
                <a:latin typeface="Segoe UI"/>
              </a:rPr>
              <a:t>from Apache</a:t>
            </a:r>
          </a:p>
        </p:txBody>
      </p:sp>
      <p:sp>
        <p:nvSpPr>
          <p:cNvPr id="29" name="a3ud180_dot28"/>
          <p:cNvSpPr/>
          <p:nvPr/>
        </p:nvSpPr>
        <p:spPr>
          <a:xfrm>
            <a:off x="5779007" y="229057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d180_b29"/>
          <p:cNvSpPr txBox="1"/>
          <p:nvPr/>
        </p:nvSpPr>
        <p:spPr>
          <a:xfrm>
            <a:off x="5998464" y="2194560"/>
            <a:ext cx="2487168" cy="438912"/>
          </a:xfrm>
          <a:prstGeom prst="rect">
            <a:avLst/>
          </a:prstGeom>
          <a:noFill/>
        </p:spPr>
        <p:txBody>
          <a:bodyPr wrap="square" lIns="0" tIns="0" rIns="0" bIns="0" anchor="t">
            <a:spAutoFit/>
          </a:bodyPr>
          <a:lstStyle/>
          <a:p>
            <a:pPr algn="l"/>
            <a:r>
              <a:rPr sz="950" b="1">
                <a:solidFill>
                  <a:srgbClr val="1C1917"/>
                </a:solidFill>
                <a:latin typeface="Segoe UI"/>
              </a:rPr>
              <a:t>Logback  </a:t>
            </a:r>
            <a:r>
              <a:rPr sz="950" b="0">
                <a:solidFill>
                  <a:srgbClr val="44403C"/>
                </a:solidFill>
                <a:latin typeface="Segoe UI"/>
              </a:rPr>
              <a:t>a popular successor to Log4j</a:t>
            </a:r>
          </a:p>
        </p:txBody>
      </p:sp>
      <p:sp>
        <p:nvSpPr>
          <p:cNvPr id="31" name="a3ud280_dot30"/>
          <p:cNvSpPr/>
          <p:nvPr/>
        </p:nvSpPr>
        <p:spPr>
          <a:xfrm>
            <a:off x="5779007" y="2766060"/>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3ud280_b31"/>
          <p:cNvSpPr txBox="1"/>
          <p:nvPr/>
        </p:nvSpPr>
        <p:spPr>
          <a:xfrm>
            <a:off x="5998464" y="2670048"/>
            <a:ext cx="2487168" cy="438912"/>
          </a:xfrm>
          <a:prstGeom prst="rect">
            <a:avLst/>
          </a:prstGeom>
          <a:noFill/>
        </p:spPr>
        <p:txBody>
          <a:bodyPr wrap="square" lIns="0" tIns="0" rIns="0" bIns="0" anchor="t">
            <a:spAutoFit/>
          </a:bodyPr>
          <a:lstStyle/>
          <a:p>
            <a:pPr algn="l"/>
            <a:r>
              <a:rPr sz="950" b="1">
                <a:solidFill>
                  <a:srgbClr val="1C1917"/>
                </a:solidFill>
                <a:latin typeface="Segoe UI"/>
              </a:rPr>
              <a:t>SLF4J  </a:t>
            </a:r>
            <a:r>
              <a:rPr sz="950" b="0">
                <a:solidFill>
                  <a:srgbClr val="44403C"/>
                </a:solidFill>
                <a:latin typeface="Segoe UI"/>
              </a:rPr>
              <a:t>a facade over the others</a:t>
            </a:r>
          </a:p>
        </p:txBody>
      </p:sp>
      <p:sp>
        <p:nvSpPr>
          <p:cNvPr id="33" name="a3ud380_dot32"/>
          <p:cNvSpPr/>
          <p:nvPr/>
        </p:nvSpPr>
        <p:spPr>
          <a:xfrm>
            <a:off x="5779007" y="3241548"/>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3ud380_b33"/>
          <p:cNvSpPr txBox="1"/>
          <p:nvPr/>
        </p:nvSpPr>
        <p:spPr>
          <a:xfrm>
            <a:off x="5998464" y="3145536"/>
            <a:ext cx="2487168" cy="438912"/>
          </a:xfrm>
          <a:prstGeom prst="rect">
            <a:avLst/>
          </a:prstGeom>
          <a:noFill/>
        </p:spPr>
        <p:txBody>
          <a:bodyPr wrap="square" lIns="0" tIns="0" rIns="0" bIns="0" anchor="t">
            <a:spAutoFit/>
          </a:bodyPr>
          <a:lstStyle/>
          <a:p>
            <a:pPr algn="l"/>
            <a:r>
              <a:rPr sz="950" b="1">
                <a:solidFill>
                  <a:srgbClr val="1C1917"/>
                </a:solidFill>
                <a:latin typeface="Segoe UI"/>
              </a:rPr>
              <a:t>java.util.logging  </a:t>
            </a:r>
            <a:r>
              <a:rPr sz="950" b="0">
                <a:solidFill>
                  <a:srgbClr val="44403C"/>
                </a:solidFill>
                <a:latin typeface="Segoe UI"/>
              </a:rPr>
              <a:t>built into the JDK</a:t>
            </a:r>
          </a:p>
        </p:txBody>
      </p:sp>
      <p:sp>
        <p:nvSpPr>
          <p:cNvPr id="35" name="a4u_nb34"/>
          <p:cNvSpPr/>
          <p:nvPr/>
        </p:nvSpPr>
        <p:spPr>
          <a:xfrm>
            <a:off x="457200" y="3931920"/>
            <a:ext cx="8229600" cy="548640"/>
          </a:xfrm>
          <a:prstGeom prst="roundRect">
            <a:avLst>
              <a:gd name="adj" fmla="val 1333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4u_nacc35"/>
          <p:cNvSpPr/>
          <p:nvPr/>
        </p:nvSpPr>
        <p:spPr>
          <a:xfrm>
            <a:off x="457200" y="3931920"/>
            <a:ext cx="54864" cy="54864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4u_nt36"/>
          <p:cNvSpPr txBox="1"/>
          <p:nvPr/>
        </p:nvSpPr>
        <p:spPr>
          <a:xfrm>
            <a:off x="658368" y="3931920"/>
            <a:ext cx="7827264" cy="548640"/>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A log gives complete information about a running system: what just happened, or what is happening right now.</a:t>
            </a:r>
          </a:p>
        </p:txBody>
      </p:sp>
      <p:sp>
        <p:nvSpPr>
          <p:cNvPr id="38" name="ft3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43</a:t>
            </a:r>
          </a:p>
        </p:txBody>
      </p:sp>
      <p:sp>
        <p:nvSpPr>
          <p:cNvPr id="39" name="ft3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ft3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1" name="ft4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25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50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75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30" presetID="10"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5" presetID="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ppt_y+0.1"/>
                                          </p:val>
                                        </p:tav>
                                        <p:tav tm="100000">
                                          <p:val>
                                            <p:strVal val="#ppt_y"/>
                                          </p:val>
                                        </p:tav>
                                      </p:tavLst>
                                    </p:anim>
                                    <p:animEffect transition="in" filter="fade">
                                      <p:cBhvr>
                                        <p:cTn id="34" dur="500"/>
                                        <p:tgtEl>
                                          <p:spTgt spid="19"/>
                                        </p:tgtEl>
                                      </p:cBhvr>
                                    </p:animEffect>
                                  </p:childTnLst>
                                </p:cTn>
                              </p:par>
                              <p:par>
                                <p:cTn id="40" presetID="2" presetClass="entr" presetSubtype="4" fill="hold" grpId="0" nodeType="withEffect">
                                  <p:stCondLst>
                                    <p:cond delay="9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ppt_y+0.1"/>
                                          </p:val>
                                        </p:tav>
                                        <p:tav tm="100000">
                                          <p:val>
                                            <p:strVal val="#ppt_y"/>
                                          </p:val>
                                        </p:tav>
                                      </p:tavLst>
                                    </p:anim>
                                    <p:animEffect transition="in" filter="fade">
                                      <p:cBhvr>
                                        <p:cTn id="39" dur="500"/>
                                        <p:tgtEl>
                                          <p:spTgt spid="20"/>
                                        </p:tgtEl>
                                      </p:cBhvr>
                                    </p:animEffect>
                                  </p:childTnLst>
                                </p:cTn>
                              </p:par>
                              <p:par>
                                <p:cTn id="45" presetID="2" presetClass="entr" presetSubtype="4" fill="hold" grpId="0" nodeType="withEffect">
                                  <p:stCondLst>
                                    <p:cond delay="180"/>
                                  </p:stCondLst>
                                  <p:childTnLst>
                                    <p:set>
                                      <p:cBhvr>
                                        <p:cTn id="41" dur="1" fill="hold">
                                          <p:stCondLst>
                                            <p:cond delay="0"/>
                                          </p:stCondLst>
                                        </p:cTn>
                                        <p:tgtEl>
                                          <p:spTgt spid="21"/>
                                        </p:tgtEl>
                                        <p:attrNameLst>
                                          <p:attrName>style.visibility</p:attrName>
                                        </p:attrNameLst>
                                      </p:cBhvr>
                                      <p:to>
                                        <p:strVal val="visible"/>
                                      </p:to>
                                    </p:set>
                                    <p:anim calcmode="lin" valueType="num">
                                      <p:cBhvr additive="base">
                                        <p:cTn id="42" dur="500" fill="hold"/>
                                        <p:tgtEl>
                                          <p:spTgt spid="21"/>
                                        </p:tgtEl>
                                        <p:attrNameLst>
                                          <p:attrName>ppt_x</p:attrName>
                                        </p:attrNameLst>
                                      </p:cBhvr>
                                      <p:tavLst>
                                        <p:tav tm="0">
                                          <p:val>
                                            <p:strVal val="#ppt_x"/>
                                          </p:val>
                                        </p:tav>
                                        <p:tav tm="100000">
                                          <p:val>
                                            <p:strVal val="#ppt_x"/>
                                          </p:val>
                                        </p:tav>
                                      </p:tavLst>
                                    </p:anim>
                                    <p:anim calcmode="lin" valueType="num">
                                      <p:cBhvr additive="base">
                                        <p:cTn id="43" dur="500" fill="hold"/>
                                        <p:tgtEl>
                                          <p:spTgt spid="21"/>
                                        </p:tgtEl>
                                        <p:attrNameLst>
                                          <p:attrName>ppt_y</p:attrName>
                                        </p:attrNameLst>
                                      </p:cBhvr>
                                      <p:tavLst>
                                        <p:tav tm="0">
                                          <p:val>
                                            <p:strVal val="#ppt_y+0.1"/>
                                          </p:val>
                                        </p:tav>
                                        <p:tav tm="100000">
                                          <p:val>
                                            <p:strVal val="#ppt_y"/>
                                          </p:val>
                                        </p:tav>
                                      </p:tavLst>
                                    </p:anim>
                                    <p:animEffect transition="in" filter="fade">
                                      <p:cBhvr>
                                        <p:cTn id="44" dur="500"/>
                                        <p:tgtEl>
                                          <p:spTgt spid="21"/>
                                        </p:tgtEl>
                                      </p:cBhvr>
                                    </p:animEffect>
                                  </p:childTnLst>
                                </p:cTn>
                              </p:par>
                              <p:par>
                                <p:cTn id="50" presetID="2" presetClass="entr" presetSubtype="4" fill="hold" grpId="0" nodeType="withEffect">
                                  <p:stCondLst>
                                    <p:cond delay="270"/>
                                  </p:stCondLst>
                                  <p:childTnLst>
                                    <p:set>
                                      <p:cBhvr>
                                        <p:cTn id="46" dur="1" fill="hold">
                                          <p:stCondLst>
                                            <p:cond delay="0"/>
                                          </p:stCondLst>
                                        </p:cTn>
                                        <p:tgtEl>
                                          <p:spTgt spid="22"/>
                                        </p:tgtEl>
                                        <p:attrNameLst>
                                          <p:attrName>style.visibility</p:attrName>
                                        </p:attrNameLst>
                                      </p:cBhvr>
                                      <p:to>
                                        <p:strVal val="visible"/>
                                      </p:to>
                                    </p:set>
                                    <p:anim calcmode="lin" valueType="num">
                                      <p:cBhvr additive="base">
                                        <p:cTn id="47" dur="500" fill="hold"/>
                                        <p:tgtEl>
                                          <p:spTgt spid="22"/>
                                        </p:tgtEl>
                                        <p:attrNameLst>
                                          <p:attrName>ppt_x</p:attrName>
                                        </p:attrNameLst>
                                      </p:cBhvr>
                                      <p:tavLst>
                                        <p:tav tm="0">
                                          <p:val>
                                            <p:strVal val="#ppt_x"/>
                                          </p:val>
                                        </p:tav>
                                        <p:tav tm="100000">
                                          <p:val>
                                            <p:strVal val="#ppt_x"/>
                                          </p:val>
                                        </p:tav>
                                      </p:tavLst>
                                    </p:anim>
                                    <p:anim calcmode="lin" valueType="num">
                                      <p:cBhvr additive="base">
                                        <p:cTn id="48" dur="500" fill="hold"/>
                                        <p:tgtEl>
                                          <p:spTgt spid="22"/>
                                        </p:tgtEl>
                                        <p:attrNameLst>
                                          <p:attrName>ppt_y</p:attrName>
                                        </p:attrNameLst>
                                      </p:cBhvr>
                                      <p:tavLst>
                                        <p:tav tm="0">
                                          <p:val>
                                            <p:strVal val="#ppt_y+0.1"/>
                                          </p:val>
                                        </p:tav>
                                        <p:tav tm="100000">
                                          <p:val>
                                            <p:strVal val="#ppt_y"/>
                                          </p:val>
                                        </p:tav>
                                      </p:tavLst>
                                    </p:anim>
                                    <p:animEffect transition="in" filter="fade">
                                      <p:cBhvr>
                                        <p:cTn id="49" dur="500"/>
                                        <p:tgtEl>
                                          <p:spTgt spid="22"/>
                                        </p:tgtEl>
                                      </p:cBhvr>
                                    </p:animEffect>
                                  </p:childTnLst>
                                </p:cTn>
                              </p:par>
                              <p:par>
                                <p:cTn id="55" presetID="2" presetClass="entr" presetSubtype="4" fill="hold" grpId="0" nodeType="withEffect">
                                  <p:stCondLst>
                                    <p:cond delay="360"/>
                                  </p:stCondLst>
                                  <p:childTnLst>
                                    <p:set>
                                      <p:cBhvr>
                                        <p:cTn id="51" dur="1" fill="hold">
                                          <p:stCondLst>
                                            <p:cond delay="0"/>
                                          </p:stCondLst>
                                        </p:cTn>
                                        <p:tgtEl>
                                          <p:spTgt spid="23"/>
                                        </p:tgtEl>
                                        <p:attrNameLst>
                                          <p:attrName>style.visibility</p:attrName>
                                        </p:attrNameLst>
                                      </p:cBhvr>
                                      <p:to>
                                        <p:strVal val="visible"/>
                                      </p:to>
                                    </p:set>
                                    <p:anim calcmode="lin" valueType="num">
                                      <p:cBhvr additive="base">
                                        <p:cTn id="52" dur="500" fill="hold"/>
                                        <p:tgtEl>
                                          <p:spTgt spid="23"/>
                                        </p:tgtEl>
                                        <p:attrNameLst>
                                          <p:attrName>ppt_x</p:attrName>
                                        </p:attrNameLst>
                                      </p:cBhvr>
                                      <p:tavLst>
                                        <p:tav tm="0">
                                          <p:val>
                                            <p:strVal val="#ppt_x"/>
                                          </p:val>
                                        </p:tav>
                                        <p:tav tm="100000">
                                          <p:val>
                                            <p:strVal val="#ppt_x"/>
                                          </p:val>
                                        </p:tav>
                                      </p:tavLst>
                                    </p:anim>
                                    <p:anim calcmode="lin" valueType="num">
                                      <p:cBhvr additive="base">
                                        <p:cTn id="53" dur="500" fill="hold"/>
                                        <p:tgtEl>
                                          <p:spTgt spid="23"/>
                                        </p:tgtEl>
                                        <p:attrNameLst>
                                          <p:attrName>ppt_y</p:attrName>
                                        </p:attrNameLst>
                                      </p:cBhvr>
                                      <p:tavLst>
                                        <p:tav tm="0">
                                          <p:val>
                                            <p:strVal val="#ppt_y+0.1"/>
                                          </p:val>
                                        </p:tav>
                                        <p:tav tm="100000">
                                          <p:val>
                                            <p:strVal val="#ppt_y"/>
                                          </p:val>
                                        </p:tav>
                                      </p:tavLst>
                                    </p:anim>
                                    <p:animEffect transition="in" filter="fade">
                                      <p:cBhvr>
                                        <p:cTn id="54"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62" presetID="2" presetClass="entr" presetSubtype="4"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anim calcmode="lin" valueType="num">
                                      <p:cBhvr additive="base">
                                        <p:cTn id="59" dur="500" fill="hold"/>
                                        <p:tgtEl>
                                          <p:spTgt spid="24"/>
                                        </p:tgtEl>
                                        <p:attrNameLst>
                                          <p:attrName>ppt_x</p:attrName>
                                        </p:attrNameLst>
                                      </p:cBhvr>
                                      <p:tavLst>
                                        <p:tav tm="0">
                                          <p:val>
                                            <p:strVal val="#ppt_x"/>
                                          </p:val>
                                        </p:tav>
                                        <p:tav tm="100000">
                                          <p:val>
                                            <p:strVal val="#ppt_x"/>
                                          </p:val>
                                        </p:tav>
                                      </p:tavLst>
                                    </p:anim>
                                    <p:anim calcmode="lin" valueType="num">
                                      <p:cBhvr additive="base">
                                        <p:cTn id="60" dur="500" fill="hold"/>
                                        <p:tgtEl>
                                          <p:spTgt spid="24"/>
                                        </p:tgtEl>
                                        <p:attrNameLst>
                                          <p:attrName>ppt_y</p:attrName>
                                        </p:attrNameLst>
                                      </p:cBhvr>
                                      <p:tavLst>
                                        <p:tav tm="0">
                                          <p:val>
                                            <p:strVal val="#ppt_y+0.1"/>
                                          </p:val>
                                        </p:tav>
                                        <p:tav tm="100000">
                                          <p:val>
                                            <p:strVal val="#ppt_y"/>
                                          </p:val>
                                        </p:tav>
                                      </p:tavLst>
                                    </p:anim>
                                    <p:animEffect transition="in" filter="fade">
                                      <p:cBhvr>
                                        <p:cTn id="61" dur="500"/>
                                        <p:tgtEl>
                                          <p:spTgt spid="24"/>
                                        </p:tgtEl>
                                      </p:cBhvr>
                                    </p:animEffect>
                                  </p:childTnLst>
                                </p:cTn>
                              </p:par>
                              <p:par>
                                <p:cTn id="67" presetID="2" presetClass="entr" presetSubtype="4"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 calcmode="lin" valueType="num">
                                      <p:cBhvr additive="base">
                                        <p:cTn id="64" dur="500" fill="hold"/>
                                        <p:tgtEl>
                                          <p:spTgt spid="25"/>
                                        </p:tgtEl>
                                        <p:attrNameLst>
                                          <p:attrName>ppt_x</p:attrName>
                                        </p:attrNameLst>
                                      </p:cBhvr>
                                      <p:tavLst>
                                        <p:tav tm="0">
                                          <p:val>
                                            <p:strVal val="#ppt_x"/>
                                          </p:val>
                                        </p:tav>
                                        <p:tav tm="100000">
                                          <p:val>
                                            <p:strVal val="#ppt_x"/>
                                          </p:val>
                                        </p:tav>
                                      </p:tavLst>
                                    </p:anim>
                                    <p:anim calcmode="lin" valueType="num">
                                      <p:cBhvr additive="base">
                                        <p:cTn id="65" dur="500" fill="hold"/>
                                        <p:tgtEl>
                                          <p:spTgt spid="25"/>
                                        </p:tgtEl>
                                        <p:attrNameLst>
                                          <p:attrName>ppt_y</p:attrName>
                                        </p:attrNameLst>
                                      </p:cBhvr>
                                      <p:tavLst>
                                        <p:tav tm="0">
                                          <p:val>
                                            <p:strVal val="#ppt_y+0.1"/>
                                          </p:val>
                                        </p:tav>
                                        <p:tav tm="100000">
                                          <p:val>
                                            <p:strVal val="#ppt_y"/>
                                          </p:val>
                                        </p:tav>
                                      </p:tavLst>
                                    </p:anim>
                                    <p:animEffect transition="in" filter="fade">
                                      <p:cBhvr>
                                        <p:cTn id="66" dur="500"/>
                                        <p:tgtEl>
                                          <p:spTgt spid="25"/>
                                        </p:tgtEl>
                                      </p:cBhvr>
                                    </p:animEffect>
                                  </p:childTnLst>
                                </p:cTn>
                              </p:par>
                              <p:par>
                                <p:cTn id="72" presetID="2" presetClass="entr" presetSubtype="4"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 calcmode="lin" valueType="num">
                                      <p:cBhvr additive="base">
                                        <p:cTn id="69" dur="500" fill="hold"/>
                                        <p:tgtEl>
                                          <p:spTgt spid="26"/>
                                        </p:tgtEl>
                                        <p:attrNameLst>
                                          <p:attrName>ppt_x</p:attrName>
                                        </p:attrNameLst>
                                      </p:cBhvr>
                                      <p:tavLst>
                                        <p:tav tm="0">
                                          <p:val>
                                            <p:strVal val="#ppt_x"/>
                                          </p:val>
                                        </p:tav>
                                        <p:tav tm="100000">
                                          <p:val>
                                            <p:strVal val="#ppt_x"/>
                                          </p:val>
                                        </p:tav>
                                      </p:tavLst>
                                    </p:anim>
                                    <p:anim calcmode="lin" valueType="num">
                                      <p:cBhvr additive="base">
                                        <p:cTn id="70" dur="500" fill="hold"/>
                                        <p:tgtEl>
                                          <p:spTgt spid="26"/>
                                        </p:tgtEl>
                                        <p:attrNameLst>
                                          <p:attrName>ppt_y</p:attrName>
                                        </p:attrNameLst>
                                      </p:cBhvr>
                                      <p:tavLst>
                                        <p:tav tm="0">
                                          <p:val>
                                            <p:strVal val="#ppt_y+0.1"/>
                                          </p:val>
                                        </p:tav>
                                        <p:tav tm="100000">
                                          <p:val>
                                            <p:strVal val="#ppt_y"/>
                                          </p:val>
                                        </p:tav>
                                      </p:tavLst>
                                    </p:anim>
                                    <p:animEffect transition="in" filter="fade">
                                      <p:cBhvr>
                                        <p:cTn id="71" dur="500"/>
                                        <p:tgtEl>
                                          <p:spTgt spid="26"/>
                                        </p:tgtEl>
                                      </p:cBhvr>
                                    </p:animEffect>
                                  </p:childTnLst>
                                </p:cTn>
                              </p:par>
                              <p:par>
                                <p:cTn id="77" presetID="2" presetClass="entr" presetSubtype="4" fill="hold" grpId="0" nodeType="withEffect">
                                  <p:stCondLst>
                                    <p:cond delay="80"/>
                                  </p:stCondLst>
                                  <p:childTnLst>
                                    <p:set>
                                      <p:cBhvr>
                                        <p:cTn id="73" dur="1" fill="hold">
                                          <p:stCondLst>
                                            <p:cond delay="0"/>
                                          </p:stCondLst>
                                        </p:cTn>
                                        <p:tgtEl>
                                          <p:spTgt spid="27"/>
                                        </p:tgtEl>
                                        <p:attrNameLst>
                                          <p:attrName>style.visibility</p:attrName>
                                        </p:attrNameLst>
                                      </p:cBhvr>
                                      <p:to>
                                        <p:strVal val="visible"/>
                                      </p:to>
                                    </p:set>
                                    <p:anim calcmode="lin" valueType="num">
                                      <p:cBhvr additive="base">
                                        <p:cTn id="74" dur="500" fill="hold"/>
                                        <p:tgtEl>
                                          <p:spTgt spid="27"/>
                                        </p:tgtEl>
                                        <p:attrNameLst>
                                          <p:attrName>ppt_x</p:attrName>
                                        </p:attrNameLst>
                                      </p:cBhvr>
                                      <p:tavLst>
                                        <p:tav tm="0">
                                          <p:val>
                                            <p:strVal val="#ppt_x"/>
                                          </p:val>
                                        </p:tav>
                                        <p:tav tm="100000">
                                          <p:val>
                                            <p:strVal val="#ppt_x"/>
                                          </p:val>
                                        </p:tav>
                                      </p:tavLst>
                                    </p:anim>
                                    <p:anim calcmode="lin" valueType="num">
                                      <p:cBhvr additive="base">
                                        <p:cTn id="75" dur="500" fill="hold"/>
                                        <p:tgtEl>
                                          <p:spTgt spid="27"/>
                                        </p:tgtEl>
                                        <p:attrNameLst>
                                          <p:attrName>ppt_y</p:attrName>
                                        </p:attrNameLst>
                                      </p:cBhvr>
                                      <p:tavLst>
                                        <p:tav tm="0">
                                          <p:val>
                                            <p:strVal val="#ppt_y+0.1"/>
                                          </p:val>
                                        </p:tav>
                                        <p:tav tm="100000">
                                          <p:val>
                                            <p:strVal val="#ppt_y"/>
                                          </p:val>
                                        </p:tav>
                                      </p:tavLst>
                                    </p:anim>
                                    <p:animEffect transition="in" filter="fade">
                                      <p:cBhvr>
                                        <p:cTn id="76" dur="500"/>
                                        <p:tgtEl>
                                          <p:spTgt spid="27"/>
                                        </p:tgtEl>
                                      </p:cBhvr>
                                    </p:animEffect>
                                  </p:childTnLst>
                                </p:cTn>
                              </p:par>
                              <p:par>
                                <p:cTn id="82" presetID="2" presetClass="entr" presetSubtype="4" fill="hold" grpId="0" nodeType="withEffect">
                                  <p:stCondLst>
                                    <p:cond delay="80"/>
                                  </p:stCondLst>
                                  <p:childTnLst>
                                    <p:set>
                                      <p:cBhvr>
                                        <p:cTn id="78" dur="1" fill="hold">
                                          <p:stCondLst>
                                            <p:cond delay="0"/>
                                          </p:stCondLst>
                                        </p:cTn>
                                        <p:tgtEl>
                                          <p:spTgt spid="28"/>
                                        </p:tgtEl>
                                        <p:attrNameLst>
                                          <p:attrName>style.visibility</p:attrName>
                                        </p:attrNameLst>
                                      </p:cBhvr>
                                      <p:to>
                                        <p:strVal val="visible"/>
                                      </p:to>
                                    </p:set>
                                    <p:anim calcmode="lin" valueType="num">
                                      <p:cBhvr additive="base">
                                        <p:cTn id="79" dur="500" fill="hold"/>
                                        <p:tgtEl>
                                          <p:spTgt spid="28"/>
                                        </p:tgtEl>
                                        <p:attrNameLst>
                                          <p:attrName>ppt_x</p:attrName>
                                        </p:attrNameLst>
                                      </p:cBhvr>
                                      <p:tavLst>
                                        <p:tav tm="0">
                                          <p:val>
                                            <p:strVal val="#ppt_x"/>
                                          </p:val>
                                        </p:tav>
                                        <p:tav tm="100000">
                                          <p:val>
                                            <p:strVal val="#ppt_x"/>
                                          </p:val>
                                        </p:tav>
                                      </p:tavLst>
                                    </p:anim>
                                    <p:anim calcmode="lin" valueType="num">
                                      <p:cBhvr additive="base">
                                        <p:cTn id="80" dur="500" fill="hold"/>
                                        <p:tgtEl>
                                          <p:spTgt spid="28"/>
                                        </p:tgtEl>
                                        <p:attrNameLst>
                                          <p:attrName>ppt_y</p:attrName>
                                        </p:attrNameLst>
                                      </p:cBhvr>
                                      <p:tavLst>
                                        <p:tav tm="0">
                                          <p:val>
                                            <p:strVal val="#ppt_y+0.1"/>
                                          </p:val>
                                        </p:tav>
                                        <p:tav tm="100000">
                                          <p:val>
                                            <p:strVal val="#ppt_y"/>
                                          </p:val>
                                        </p:tav>
                                      </p:tavLst>
                                    </p:anim>
                                    <p:animEffect transition="in" filter="fade">
                                      <p:cBhvr>
                                        <p:cTn id="81" dur="500"/>
                                        <p:tgtEl>
                                          <p:spTgt spid="28"/>
                                        </p:tgtEl>
                                      </p:cBhvr>
                                    </p:animEffect>
                                  </p:childTnLst>
                                </p:cTn>
                              </p:par>
                              <p:par>
                                <p:cTn id="87" presetID="2" presetClass="entr" presetSubtype="4" fill="hold" grpId="0" nodeType="withEffect">
                                  <p:stCondLst>
                                    <p:cond delay="180"/>
                                  </p:stCondLst>
                                  <p:childTnLst>
                                    <p:set>
                                      <p:cBhvr>
                                        <p:cTn id="83" dur="1" fill="hold">
                                          <p:stCondLst>
                                            <p:cond delay="0"/>
                                          </p:stCondLst>
                                        </p:cTn>
                                        <p:tgtEl>
                                          <p:spTgt spid="29"/>
                                        </p:tgtEl>
                                        <p:attrNameLst>
                                          <p:attrName>style.visibility</p:attrName>
                                        </p:attrNameLst>
                                      </p:cBhvr>
                                      <p:to>
                                        <p:strVal val="visible"/>
                                      </p:to>
                                    </p:set>
                                    <p:anim calcmode="lin" valueType="num">
                                      <p:cBhvr additive="base">
                                        <p:cTn id="84" dur="500" fill="hold"/>
                                        <p:tgtEl>
                                          <p:spTgt spid="29"/>
                                        </p:tgtEl>
                                        <p:attrNameLst>
                                          <p:attrName>ppt_x</p:attrName>
                                        </p:attrNameLst>
                                      </p:cBhvr>
                                      <p:tavLst>
                                        <p:tav tm="0">
                                          <p:val>
                                            <p:strVal val="#ppt_x"/>
                                          </p:val>
                                        </p:tav>
                                        <p:tav tm="100000">
                                          <p:val>
                                            <p:strVal val="#ppt_x"/>
                                          </p:val>
                                        </p:tav>
                                      </p:tavLst>
                                    </p:anim>
                                    <p:anim calcmode="lin" valueType="num">
                                      <p:cBhvr additive="base">
                                        <p:cTn id="85" dur="500" fill="hold"/>
                                        <p:tgtEl>
                                          <p:spTgt spid="29"/>
                                        </p:tgtEl>
                                        <p:attrNameLst>
                                          <p:attrName>ppt_y</p:attrName>
                                        </p:attrNameLst>
                                      </p:cBhvr>
                                      <p:tavLst>
                                        <p:tav tm="0">
                                          <p:val>
                                            <p:strVal val="#ppt_y+0.1"/>
                                          </p:val>
                                        </p:tav>
                                        <p:tav tm="100000">
                                          <p:val>
                                            <p:strVal val="#ppt_y"/>
                                          </p:val>
                                        </p:tav>
                                      </p:tavLst>
                                    </p:anim>
                                    <p:animEffect transition="in" filter="fade">
                                      <p:cBhvr>
                                        <p:cTn id="86" dur="500"/>
                                        <p:tgtEl>
                                          <p:spTgt spid="29"/>
                                        </p:tgtEl>
                                      </p:cBhvr>
                                    </p:animEffect>
                                  </p:childTnLst>
                                </p:cTn>
                              </p:par>
                              <p:par>
                                <p:cTn id="92" presetID="2" presetClass="entr" presetSubtype="4" fill="hold" grpId="0" nodeType="withEffect">
                                  <p:stCondLst>
                                    <p:cond delay="180"/>
                                  </p:stCondLst>
                                  <p:childTnLst>
                                    <p:set>
                                      <p:cBhvr>
                                        <p:cTn id="88" dur="1" fill="hold">
                                          <p:stCondLst>
                                            <p:cond delay="0"/>
                                          </p:stCondLst>
                                        </p:cTn>
                                        <p:tgtEl>
                                          <p:spTgt spid="30"/>
                                        </p:tgtEl>
                                        <p:attrNameLst>
                                          <p:attrName>style.visibility</p:attrName>
                                        </p:attrNameLst>
                                      </p:cBhvr>
                                      <p:to>
                                        <p:strVal val="visible"/>
                                      </p:to>
                                    </p:set>
                                    <p:anim calcmode="lin" valueType="num">
                                      <p:cBhvr additive="base">
                                        <p:cTn id="89" dur="500" fill="hold"/>
                                        <p:tgtEl>
                                          <p:spTgt spid="30"/>
                                        </p:tgtEl>
                                        <p:attrNameLst>
                                          <p:attrName>ppt_x</p:attrName>
                                        </p:attrNameLst>
                                      </p:cBhvr>
                                      <p:tavLst>
                                        <p:tav tm="0">
                                          <p:val>
                                            <p:strVal val="#ppt_x"/>
                                          </p:val>
                                        </p:tav>
                                        <p:tav tm="100000">
                                          <p:val>
                                            <p:strVal val="#ppt_x"/>
                                          </p:val>
                                        </p:tav>
                                      </p:tavLst>
                                    </p:anim>
                                    <p:anim calcmode="lin" valueType="num">
                                      <p:cBhvr additive="base">
                                        <p:cTn id="90" dur="500" fill="hold"/>
                                        <p:tgtEl>
                                          <p:spTgt spid="30"/>
                                        </p:tgtEl>
                                        <p:attrNameLst>
                                          <p:attrName>ppt_y</p:attrName>
                                        </p:attrNameLst>
                                      </p:cBhvr>
                                      <p:tavLst>
                                        <p:tav tm="0">
                                          <p:val>
                                            <p:strVal val="#ppt_y+0.1"/>
                                          </p:val>
                                        </p:tav>
                                        <p:tav tm="100000">
                                          <p:val>
                                            <p:strVal val="#ppt_y"/>
                                          </p:val>
                                        </p:tav>
                                      </p:tavLst>
                                    </p:anim>
                                    <p:animEffect transition="in" filter="fade">
                                      <p:cBhvr>
                                        <p:cTn id="91" dur="500"/>
                                        <p:tgtEl>
                                          <p:spTgt spid="30"/>
                                        </p:tgtEl>
                                      </p:cBhvr>
                                    </p:animEffect>
                                  </p:childTnLst>
                                </p:cTn>
                              </p:par>
                              <p:par>
                                <p:cTn id="97" presetID="2" presetClass="entr" presetSubtype="4" fill="hold" grpId="0" nodeType="withEffect">
                                  <p:stCondLst>
                                    <p:cond delay="280"/>
                                  </p:stCondLst>
                                  <p:childTnLst>
                                    <p:set>
                                      <p:cBhvr>
                                        <p:cTn id="93" dur="1" fill="hold">
                                          <p:stCondLst>
                                            <p:cond delay="0"/>
                                          </p:stCondLst>
                                        </p:cTn>
                                        <p:tgtEl>
                                          <p:spTgt spid="31"/>
                                        </p:tgtEl>
                                        <p:attrNameLst>
                                          <p:attrName>style.visibility</p:attrName>
                                        </p:attrNameLst>
                                      </p:cBhvr>
                                      <p:to>
                                        <p:strVal val="visible"/>
                                      </p:to>
                                    </p:set>
                                    <p:anim calcmode="lin" valueType="num">
                                      <p:cBhvr additive="base">
                                        <p:cTn id="94" dur="500" fill="hold"/>
                                        <p:tgtEl>
                                          <p:spTgt spid="31"/>
                                        </p:tgtEl>
                                        <p:attrNameLst>
                                          <p:attrName>ppt_x</p:attrName>
                                        </p:attrNameLst>
                                      </p:cBhvr>
                                      <p:tavLst>
                                        <p:tav tm="0">
                                          <p:val>
                                            <p:strVal val="#ppt_x"/>
                                          </p:val>
                                        </p:tav>
                                        <p:tav tm="100000">
                                          <p:val>
                                            <p:strVal val="#ppt_x"/>
                                          </p:val>
                                        </p:tav>
                                      </p:tavLst>
                                    </p:anim>
                                    <p:anim calcmode="lin" valueType="num">
                                      <p:cBhvr additive="base">
                                        <p:cTn id="95" dur="500" fill="hold"/>
                                        <p:tgtEl>
                                          <p:spTgt spid="31"/>
                                        </p:tgtEl>
                                        <p:attrNameLst>
                                          <p:attrName>ppt_y</p:attrName>
                                        </p:attrNameLst>
                                      </p:cBhvr>
                                      <p:tavLst>
                                        <p:tav tm="0">
                                          <p:val>
                                            <p:strVal val="#ppt_y+0.1"/>
                                          </p:val>
                                        </p:tav>
                                        <p:tav tm="100000">
                                          <p:val>
                                            <p:strVal val="#ppt_y"/>
                                          </p:val>
                                        </p:tav>
                                      </p:tavLst>
                                    </p:anim>
                                    <p:animEffect transition="in" filter="fade">
                                      <p:cBhvr>
                                        <p:cTn id="96" dur="500"/>
                                        <p:tgtEl>
                                          <p:spTgt spid="31"/>
                                        </p:tgtEl>
                                      </p:cBhvr>
                                    </p:animEffect>
                                  </p:childTnLst>
                                </p:cTn>
                              </p:par>
                              <p:par>
                                <p:cTn id="102" presetID="2" presetClass="entr" presetSubtype="4" fill="hold" grpId="0" nodeType="withEffect">
                                  <p:stCondLst>
                                    <p:cond delay="280"/>
                                  </p:stCondLst>
                                  <p:childTnLst>
                                    <p:set>
                                      <p:cBhvr>
                                        <p:cTn id="98" dur="1" fill="hold">
                                          <p:stCondLst>
                                            <p:cond delay="0"/>
                                          </p:stCondLst>
                                        </p:cTn>
                                        <p:tgtEl>
                                          <p:spTgt spid="32"/>
                                        </p:tgtEl>
                                        <p:attrNameLst>
                                          <p:attrName>style.visibility</p:attrName>
                                        </p:attrNameLst>
                                      </p:cBhvr>
                                      <p:to>
                                        <p:strVal val="visible"/>
                                      </p:to>
                                    </p:set>
                                    <p:anim calcmode="lin" valueType="num">
                                      <p:cBhvr additive="base">
                                        <p:cTn id="99" dur="500" fill="hold"/>
                                        <p:tgtEl>
                                          <p:spTgt spid="32"/>
                                        </p:tgtEl>
                                        <p:attrNameLst>
                                          <p:attrName>ppt_x</p:attrName>
                                        </p:attrNameLst>
                                      </p:cBhvr>
                                      <p:tavLst>
                                        <p:tav tm="0">
                                          <p:val>
                                            <p:strVal val="#ppt_x"/>
                                          </p:val>
                                        </p:tav>
                                        <p:tav tm="100000">
                                          <p:val>
                                            <p:strVal val="#ppt_x"/>
                                          </p:val>
                                        </p:tav>
                                      </p:tavLst>
                                    </p:anim>
                                    <p:anim calcmode="lin" valueType="num">
                                      <p:cBhvr additive="base">
                                        <p:cTn id="100" dur="500" fill="hold"/>
                                        <p:tgtEl>
                                          <p:spTgt spid="32"/>
                                        </p:tgtEl>
                                        <p:attrNameLst>
                                          <p:attrName>ppt_y</p:attrName>
                                        </p:attrNameLst>
                                      </p:cBhvr>
                                      <p:tavLst>
                                        <p:tav tm="0">
                                          <p:val>
                                            <p:strVal val="#ppt_y+0.1"/>
                                          </p:val>
                                        </p:tav>
                                        <p:tav tm="100000">
                                          <p:val>
                                            <p:strVal val="#ppt_y"/>
                                          </p:val>
                                        </p:tav>
                                      </p:tavLst>
                                    </p:anim>
                                    <p:animEffect transition="in" filter="fade">
                                      <p:cBhvr>
                                        <p:cTn id="101" dur="500"/>
                                        <p:tgtEl>
                                          <p:spTgt spid="32"/>
                                        </p:tgtEl>
                                      </p:cBhvr>
                                    </p:animEffect>
                                  </p:childTnLst>
                                </p:cTn>
                              </p:par>
                              <p:par>
                                <p:cTn id="107" presetID="2" presetClass="entr" presetSubtype="4" fill="hold" grpId="0" nodeType="withEffect">
                                  <p:stCondLst>
                                    <p:cond delay="380"/>
                                  </p:stCondLst>
                                  <p:childTnLst>
                                    <p:set>
                                      <p:cBhvr>
                                        <p:cTn id="103" dur="1" fill="hold">
                                          <p:stCondLst>
                                            <p:cond delay="0"/>
                                          </p:stCondLst>
                                        </p:cTn>
                                        <p:tgtEl>
                                          <p:spTgt spid="33"/>
                                        </p:tgtEl>
                                        <p:attrNameLst>
                                          <p:attrName>style.visibility</p:attrName>
                                        </p:attrNameLst>
                                      </p:cBhvr>
                                      <p:to>
                                        <p:strVal val="visible"/>
                                      </p:to>
                                    </p:set>
                                    <p:anim calcmode="lin" valueType="num">
                                      <p:cBhvr additive="base">
                                        <p:cTn id="104" dur="500" fill="hold"/>
                                        <p:tgtEl>
                                          <p:spTgt spid="33"/>
                                        </p:tgtEl>
                                        <p:attrNameLst>
                                          <p:attrName>ppt_x</p:attrName>
                                        </p:attrNameLst>
                                      </p:cBhvr>
                                      <p:tavLst>
                                        <p:tav tm="0">
                                          <p:val>
                                            <p:strVal val="#ppt_x"/>
                                          </p:val>
                                        </p:tav>
                                        <p:tav tm="100000">
                                          <p:val>
                                            <p:strVal val="#ppt_x"/>
                                          </p:val>
                                        </p:tav>
                                      </p:tavLst>
                                    </p:anim>
                                    <p:anim calcmode="lin" valueType="num">
                                      <p:cBhvr additive="base">
                                        <p:cTn id="105" dur="500" fill="hold"/>
                                        <p:tgtEl>
                                          <p:spTgt spid="33"/>
                                        </p:tgtEl>
                                        <p:attrNameLst>
                                          <p:attrName>ppt_y</p:attrName>
                                        </p:attrNameLst>
                                      </p:cBhvr>
                                      <p:tavLst>
                                        <p:tav tm="0">
                                          <p:val>
                                            <p:strVal val="#ppt_y+0.1"/>
                                          </p:val>
                                        </p:tav>
                                        <p:tav tm="100000">
                                          <p:val>
                                            <p:strVal val="#ppt_y"/>
                                          </p:val>
                                        </p:tav>
                                      </p:tavLst>
                                    </p:anim>
                                    <p:animEffect transition="in" filter="fade">
                                      <p:cBhvr>
                                        <p:cTn id="106" dur="500"/>
                                        <p:tgtEl>
                                          <p:spTgt spid="33"/>
                                        </p:tgtEl>
                                      </p:cBhvr>
                                    </p:animEffect>
                                  </p:childTnLst>
                                </p:cTn>
                              </p:par>
                              <p:par>
                                <p:cTn id="112" presetID="2" presetClass="entr" presetSubtype="4" fill="hold" grpId="0" nodeType="withEffect">
                                  <p:stCondLst>
                                    <p:cond delay="380"/>
                                  </p:stCondLst>
                                  <p:childTnLst>
                                    <p:set>
                                      <p:cBhvr>
                                        <p:cTn id="108" dur="1" fill="hold">
                                          <p:stCondLst>
                                            <p:cond delay="0"/>
                                          </p:stCondLst>
                                        </p:cTn>
                                        <p:tgtEl>
                                          <p:spTgt spid="34"/>
                                        </p:tgtEl>
                                        <p:attrNameLst>
                                          <p:attrName>style.visibility</p:attrName>
                                        </p:attrNameLst>
                                      </p:cBhvr>
                                      <p:to>
                                        <p:strVal val="visible"/>
                                      </p:to>
                                    </p:set>
                                    <p:anim calcmode="lin" valueType="num">
                                      <p:cBhvr additive="base">
                                        <p:cTn id="109" dur="500" fill="hold"/>
                                        <p:tgtEl>
                                          <p:spTgt spid="34"/>
                                        </p:tgtEl>
                                        <p:attrNameLst>
                                          <p:attrName>ppt_x</p:attrName>
                                        </p:attrNameLst>
                                      </p:cBhvr>
                                      <p:tavLst>
                                        <p:tav tm="0">
                                          <p:val>
                                            <p:strVal val="#ppt_x"/>
                                          </p:val>
                                        </p:tav>
                                        <p:tav tm="100000">
                                          <p:val>
                                            <p:strVal val="#ppt_x"/>
                                          </p:val>
                                        </p:tav>
                                      </p:tavLst>
                                    </p:anim>
                                    <p:anim calcmode="lin" valueType="num">
                                      <p:cBhvr additive="base">
                                        <p:cTn id="110" dur="500" fill="hold"/>
                                        <p:tgtEl>
                                          <p:spTgt spid="34"/>
                                        </p:tgtEl>
                                        <p:attrNameLst>
                                          <p:attrName>ppt_y</p:attrName>
                                        </p:attrNameLst>
                                      </p:cBhvr>
                                      <p:tavLst>
                                        <p:tav tm="0">
                                          <p:val>
                                            <p:strVal val="#ppt_y+0.1"/>
                                          </p:val>
                                        </p:tav>
                                        <p:tav tm="100000">
                                          <p:val>
                                            <p:strVal val="#ppt_y"/>
                                          </p:val>
                                        </p:tav>
                                      </p:tavLst>
                                    </p:anim>
                                    <p:animEffect transition="in" filter="fade">
                                      <p:cBhvr>
                                        <p:cTn id="111" dur="500"/>
                                        <p:tgtEl>
                                          <p:spTgt spid="34"/>
                                        </p:tgtEl>
                                      </p:cBhvr>
                                    </p:animEffect>
                                  </p:childTnLst>
                                </p:cTn>
                              </p:par>
                            </p:childTnLst>
                          </p:cTn>
                        </p:par>
                      </p:childTnLst>
                    </p:cTn>
                  </p:par>
                  <p:par>
                    <p:cTn id="113" fill="hold">
                      <p:stCondLst>
                        <p:cond delay="indefinite"/>
                      </p:stCondLst>
                      <p:childTnLst>
                        <p:par>
                          <p:cTn id="114" fill="hold">
                            <p:stCondLst>
                              <p:cond delay="0"/>
                            </p:stCondLst>
                            <p:childTnLst>
                              <p:par>
                                <p:cTn id="119" presetID="2" presetClass="entr" presetSubtype="4" fill="hold" grpId="0" nodeType="clickEffect">
                                  <p:stCondLst>
                                    <p:cond delay="0"/>
                                  </p:stCondLst>
                                  <p:childTnLst>
                                    <p:set>
                                      <p:cBhvr>
                                        <p:cTn id="115" dur="1" fill="hold">
                                          <p:stCondLst>
                                            <p:cond delay="0"/>
                                          </p:stCondLst>
                                        </p:cTn>
                                        <p:tgtEl>
                                          <p:spTgt spid="35"/>
                                        </p:tgtEl>
                                        <p:attrNameLst>
                                          <p:attrName>style.visibility</p:attrName>
                                        </p:attrNameLst>
                                      </p:cBhvr>
                                      <p:to>
                                        <p:strVal val="visible"/>
                                      </p:to>
                                    </p:set>
                                    <p:anim calcmode="lin" valueType="num">
                                      <p:cBhvr additive="base">
                                        <p:cTn id="116" dur="500" fill="hold"/>
                                        <p:tgtEl>
                                          <p:spTgt spid="35"/>
                                        </p:tgtEl>
                                        <p:attrNameLst>
                                          <p:attrName>ppt_x</p:attrName>
                                        </p:attrNameLst>
                                      </p:cBhvr>
                                      <p:tavLst>
                                        <p:tav tm="0">
                                          <p:val>
                                            <p:strVal val="#ppt_x"/>
                                          </p:val>
                                        </p:tav>
                                        <p:tav tm="100000">
                                          <p:val>
                                            <p:strVal val="#ppt_x"/>
                                          </p:val>
                                        </p:tav>
                                      </p:tavLst>
                                    </p:anim>
                                    <p:anim calcmode="lin" valueType="num">
                                      <p:cBhvr additive="base">
                                        <p:cTn id="117" dur="500" fill="hold"/>
                                        <p:tgtEl>
                                          <p:spTgt spid="35"/>
                                        </p:tgtEl>
                                        <p:attrNameLst>
                                          <p:attrName>ppt_y</p:attrName>
                                        </p:attrNameLst>
                                      </p:cBhvr>
                                      <p:tavLst>
                                        <p:tav tm="0">
                                          <p:val>
                                            <p:strVal val="#ppt_y+0.1"/>
                                          </p:val>
                                        </p:tav>
                                        <p:tav tm="100000">
                                          <p:val>
                                            <p:strVal val="#ppt_y"/>
                                          </p:val>
                                        </p:tav>
                                      </p:tavLst>
                                    </p:anim>
                                    <p:animEffect transition="in" filter="fade">
                                      <p:cBhvr>
                                        <p:cTn id="118" dur="500"/>
                                        <p:tgtEl>
                                          <p:spTgt spid="35"/>
                                        </p:tgtEl>
                                      </p:cBhvr>
                                    </p:animEffect>
                                  </p:childTnLst>
                                </p:cTn>
                              </p:par>
                              <p:par>
                                <p:cTn id="124" presetID="2" presetClass="entr" presetSubtype="4" fill="hold" grpId="0" nodeType="withEffect">
                                  <p:stCondLst>
                                    <p:cond delay="0"/>
                                  </p:stCondLst>
                                  <p:childTnLst>
                                    <p:set>
                                      <p:cBhvr>
                                        <p:cTn id="120" dur="1" fill="hold">
                                          <p:stCondLst>
                                            <p:cond delay="0"/>
                                          </p:stCondLst>
                                        </p:cTn>
                                        <p:tgtEl>
                                          <p:spTgt spid="36"/>
                                        </p:tgtEl>
                                        <p:attrNameLst>
                                          <p:attrName>style.visibility</p:attrName>
                                        </p:attrNameLst>
                                      </p:cBhvr>
                                      <p:to>
                                        <p:strVal val="visible"/>
                                      </p:to>
                                    </p:set>
                                    <p:anim calcmode="lin" valueType="num">
                                      <p:cBhvr additive="base">
                                        <p:cTn id="121" dur="500" fill="hold"/>
                                        <p:tgtEl>
                                          <p:spTgt spid="36"/>
                                        </p:tgtEl>
                                        <p:attrNameLst>
                                          <p:attrName>ppt_x</p:attrName>
                                        </p:attrNameLst>
                                      </p:cBhvr>
                                      <p:tavLst>
                                        <p:tav tm="0">
                                          <p:val>
                                            <p:strVal val="#ppt_x"/>
                                          </p:val>
                                        </p:tav>
                                        <p:tav tm="100000">
                                          <p:val>
                                            <p:strVal val="#ppt_x"/>
                                          </p:val>
                                        </p:tav>
                                      </p:tavLst>
                                    </p:anim>
                                    <p:anim calcmode="lin" valueType="num">
                                      <p:cBhvr additive="base">
                                        <p:cTn id="122" dur="500" fill="hold"/>
                                        <p:tgtEl>
                                          <p:spTgt spid="36"/>
                                        </p:tgtEl>
                                        <p:attrNameLst>
                                          <p:attrName>ppt_y</p:attrName>
                                        </p:attrNameLst>
                                      </p:cBhvr>
                                      <p:tavLst>
                                        <p:tav tm="0">
                                          <p:val>
                                            <p:strVal val="#ppt_y+0.1"/>
                                          </p:val>
                                        </p:tav>
                                        <p:tav tm="100000">
                                          <p:val>
                                            <p:strVal val="#ppt_y"/>
                                          </p:val>
                                        </p:tav>
                                      </p:tavLst>
                                    </p:anim>
                                    <p:animEffect transition="in" filter="fade">
                                      <p:cBhvr>
                                        <p:cTn id="123" dur="500"/>
                                        <p:tgtEl>
                                          <p:spTgt spid="36"/>
                                        </p:tgtEl>
                                      </p:cBhvr>
                                    </p:animEffect>
                                  </p:childTnLst>
                                </p:cTn>
                              </p:par>
                              <p:par>
                                <p:cTn id="129" presetID="2" presetClass="entr" presetSubtype="4" fill="hold" grpId="0" nodeType="withEffect">
                                  <p:stCondLst>
                                    <p:cond delay="0"/>
                                  </p:stCondLst>
                                  <p:childTnLst>
                                    <p:set>
                                      <p:cBhvr>
                                        <p:cTn id="125" dur="1" fill="hold">
                                          <p:stCondLst>
                                            <p:cond delay="0"/>
                                          </p:stCondLst>
                                        </p:cTn>
                                        <p:tgtEl>
                                          <p:spTgt spid="37"/>
                                        </p:tgtEl>
                                        <p:attrNameLst>
                                          <p:attrName>style.visibility</p:attrName>
                                        </p:attrNameLst>
                                      </p:cBhvr>
                                      <p:to>
                                        <p:strVal val="visible"/>
                                      </p:to>
                                    </p:set>
                                    <p:anim calcmode="lin" valueType="num">
                                      <p:cBhvr additive="base">
                                        <p:cTn id="126" dur="500" fill="hold"/>
                                        <p:tgtEl>
                                          <p:spTgt spid="37"/>
                                        </p:tgtEl>
                                        <p:attrNameLst>
                                          <p:attrName>ppt_x</p:attrName>
                                        </p:attrNameLst>
                                      </p:cBhvr>
                                      <p:tavLst>
                                        <p:tav tm="0">
                                          <p:val>
                                            <p:strVal val="#ppt_x"/>
                                          </p:val>
                                        </p:tav>
                                        <p:tav tm="100000">
                                          <p:val>
                                            <p:strVal val="#ppt_x"/>
                                          </p:val>
                                        </p:tav>
                                      </p:tavLst>
                                    </p:anim>
                                    <p:anim calcmode="lin" valueType="num">
                                      <p:cBhvr additive="base">
                                        <p:cTn id="127" dur="500" fill="hold"/>
                                        <p:tgtEl>
                                          <p:spTgt spid="37"/>
                                        </p:tgtEl>
                                        <p:attrNameLst>
                                          <p:attrName>ppt_y</p:attrName>
                                        </p:attrNameLst>
                                      </p:cBhvr>
                                      <p:tavLst>
                                        <p:tav tm="0">
                                          <p:val>
                                            <p:strVal val="#ppt_y+0.1"/>
                                          </p:val>
                                        </p:tav>
                                        <p:tav tm="100000">
                                          <p:val>
                                            <p:strVal val="#ppt_y"/>
                                          </p:val>
                                        </p:tav>
                                      </p:tavLst>
                                    </p:anim>
                                    <p:animEffect transition="in" filter="fade">
                                      <p:cBhvr>
                                        <p:cTn id="128"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Log Files vs Normal Files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 difference that Kafka is built on</a:t>
            </a:r>
          </a:p>
        </p:txBody>
      </p:sp>
      <p:sp>
        <p:nvSpPr>
          <p:cNvPr id="11" name="a1u_card10"/>
          <p:cNvSpPr/>
          <p:nvPr/>
        </p:nvSpPr>
        <p:spPr>
          <a:xfrm>
            <a:off x="457200" y="1234440"/>
            <a:ext cx="4023360" cy="1783080"/>
          </a:xfrm>
          <a:prstGeom prst="roundRect">
            <a:avLst>
              <a:gd name="adj" fmla="val 615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50292" cy="17830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44168"/>
            <a:ext cx="3657600" cy="237744"/>
          </a:xfrm>
          <a:prstGeom prst="rect">
            <a:avLst/>
          </a:prstGeom>
          <a:noFill/>
        </p:spPr>
        <p:txBody>
          <a:bodyPr wrap="square" lIns="0" tIns="0" rIns="0" bIns="0" anchor="ctr">
            <a:spAutoFit/>
          </a:bodyPr>
          <a:lstStyle/>
          <a:p>
            <a:pPr algn="l"/>
            <a:r>
              <a:rPr sz="900" b="1">
                <a:solidFill>
                  <a:srgbClr val="0E7490"/>
                </a:solidFill>
                <a:latin typeface="Segoe UI"/>
              </a:rPr>
              <a:t>LOG FILE  ·  APPEND ONLY</a:t>
            </a:r>
          </a:p>
        </p:txBody>
      </p:sp>
      <p:sp>
        <p:nvSpPr>
          <p:cNvPr id="14" name="a1wd150_fl13"/>
          <p:cNvSpPr txBox="1"/>
          <p:nvPr/>
        </p:nvSpPr>
        <p:spPr>
          <a:xfrm>
            <a:off x="685800" y="1645920"/>
            <a:ext cx="3703320" cy="256032"/>
          </a:xfrm>
          <a:prstGeom prst="rect">
            <a:avLst/>
          </a:prstGeom>
          <a:noFill/>
        </p:spPr>
        <p:txBody>
          <a:bodyPr wrap="none" lIns="0" tIns="0" rIns="0" bIns="0" anchor="ctr">
            <a:spAutoFit/>
          </a:bodyPr>
          <a:lstStyle/>
          <a:p>
            <a:pPr algn="l"/>
            <a:r>
              <a:rPr sz="950" b="0">
                <a:solidFill>
                  <a:srgbClr val="44403C"/>
                </a:solidFill>
                <a:latin typeface="Consolas"/>
              </a:rPr>
              <a:t>10:00:01  user 101 logged in</a:t>
            </a:r>
          </a:p>
        </p:txBody>
      </p:sp>
      <p:sp>
        <p:nvSpPr>
          <p:cNvPr id="15" name="a1wd300_fl14"/>
          <p:cNvSpPr txBox="1"/>
          <p:nvPr/>
        </p:nvSpPr>
        <p:spPr>
          <a:xfrm>
            <a:off x="685800" y="1947672"/>
            <a:ext cx="3703320" cy="256032"/>
          </a:xfrm>
          <a:prstGeom prst="rect">
            <a:avLst/>
          </a:prstGeom>
          <a:noFill/>
        </p:spPr>
        <p:txBody>
          <a:bodyPr wrap="none" lIns="0" tIns="0" rIns="0" bIns="0" anchor="ctr">
            <a:spAutoFit/>
          </a:bodyPr>
          <a:lstStyle/>
          <a:p>
            <a:pPr algn="l"/>
            <a:r>
              <a:rPr sz="950" b="0">
                <a:solidFill>
                  <a:srgbClr val="44403C"/>
                </a:solidFill>
                <a:latin typeface="Consolas"/>
              </a:rPr>
              <a:t>10:00:07  searched 'laptop'</a:t>
            </a:r>
          </a:p>
        </p:txBody>
      </p:sp>
      <p:sp>
        <p:nvSpPr>
          <p:cNvPr id="16" name="a1wd450_fl15"/>
          <p:cNvSpPr txBox="1"/>
          <p:nvPr/>
        </p:nvSpPr>
        <p:spPr>
          <a:xfrm>
            <a:off x="685800" y="2249424"/>
            <a:ext cx="3703320" cy="256032"/>
          </a:xfrm>
          <a:prstGeom prst="rect">
            <a:avLst/>
          </a:prstGeom>
          <a:noFill/>
        </p:spPr>
        <p:txBody>
          <a:bodyPr wrap="none" lIns="0" tIns="0" rIns="0" bIns="0" anchor="ctr">
            <a:spAutoFit/>
          </a:bodyPr>
          <a:lstStyle/>
          <a:p>
            <a:pPr algn="l"/>
            <a:r>
              <a:rPr sz="950" b="0">
                <a:solidFill>
                  <a:srgbClr val="44403C"/>
                </a:solidFill>
                <a:latin typeface="Consolas"/>
              </a:rPr>
              <a:t>10:00:15  clicked 'Dell XPS'</a:t>
            </a:r>
          </a:p>
        </p:txBody>
      </p:sp>
      <p:sp>
        <p:nvSpPr>
          <p:cNvPr id="17" name="a1wd600_fl16"/>
          <p:cNvSpPr txBox="1"/>
          <p:nvPr/>
        </p:nvSpPr>
        <p:spPr>
          <a:xfrm>
            <a:off x="685800" y="2551176"/>
            <a:ext cx="3703320" cy="256032"/>
          </a:xfrm>
          <a:prstGeom prst="rect">
            <a:avLst/>
          </a:prstGeom>
          <a:noFill/>
        </p:spPr>
        <p:txBody>
          <a:bodyPr wrap="none" lIns="0" tIns="0" rIns="0" bIns="0" anchor="ctr">
            <a:spAutoFit/>
          </a:bodyPr>
          <a:lstStyle/>
          <a:p>
            <a:pPr algn="l"/>
            <a:r>
              <a:rPr sz="950" b="1">
                <a:solidFill>
                  <a:srgbClr val="0E7490"/>
                </a:solidFill>
                <a:latin typeface="Consolas"/>
              </a:rPr>
              <a:t>10:00:21  added to cart      + appended at the END</a:t>
            </a:r>
          </a:p>
        </p:txBody>
      </p:sp>
      <p:sp>
        <p:nvSpPr>
          <p:cNvPr id="18" name="a2u_card17"/>
          <p:cNvSpPr/>
          <p:nvPr/>
        </p:nvSpPr>
        <p:spPr>
          <a:xfrm>
            <a:off x="4663440" y="1234440"/>
            <a:ext cx="4023360" cy="1783080"/>
          </a:xfrm>
          <a:prstGeom prst="roundRect">
            <a:avLst>
              <a:gd name="adj" fmla="val 615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2u_acc18"/>
          <p:cNvSpPr/>
          <p:nvPr/>
        </p:nvSpPr>
        <p:spPr>
          <a:xfrm>
            <a:off x="4663440" y="1234440"/>
            <a:ext cx="50292" cy="178308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u_hh19"/>
          <p:cNvSpPr txBox="1"/>
          <p:nvPr/>
        </p:nvSpPr>
        <p:spPr>
          <a:xfrm>
            <a:off x="4864607" y="1344168"/>
            <a:ext cx="3657600" cy="237744"/>
          </a:xfrm>
          <a:prstGeom prst="rect">
            <a:avLst/>
          </a:prstGeom>
          <a:noFill/>
        </p:spPr>
        <p:txBody>
          <a:bodyPr wrap="square" lIns="0" tIns="0" rIns="0" bIns="0" anchor="ctr">
            <a:spAutoFit/>
          </a:bodyPr>
          <a:lstStyle/>
          <a:p>
            <a:pPr algn="l"/>
            <a:r>
              <a:rPr sz="900" b="1">
                <a:solidFill>
                  <a:srgbClr val="A16207"/>
                </a:solidFill>
                <a:latin typeface="Segoe UI"/>
              </a:rPr>
              <a:t>NORMAL FILE  ·  EDIT MODE</a:t>
            </a:r>
          </a:p>
        </p:txBody>
      </p:sp>
      <p:sp>
        <p:nvSpPr>
          <p:cNvPr id="21" name="a2wd150_fl20"/>
          <p:cNvSpPr txBox="1"/>
          <p:nvPr/>
        </p:nvSpPr>
        <p:spPr>
          <a:xfrm>
            <a:off x="4892040" y="1645920"/>
            <a:ext cx="3703320" cy="256032"/>
          </a:xfrm>
          <a:prstGeom prst="rect">
            <a:avLst/>
          </a:prstGeom>
          <a:noFill/>
        </p:spPr>
        <p:txBody>
          <a:bodyPr wrap="none" lIns="0" tIns="0" rIns="0" bIns="0" anchor="ctr">
            <a:spAutoFit/>
          </a:bodyPr>
          <a:lstStyle/>
          <a:p>
            <a:pPr algn="l"/>
            <a:r>
              <a:rPr sz="950" b="0">
                <a:solidFill>
                  <a:srgbClr val="44403C"/>
                </a:solidFill>
                <a:latin typeface="Consolas"/>
              </a:rPr>
              <a:t>name  : Priya</a:t>
            </a:r>
          </a:p>
        </p:txBody>
      </p:sp>
      <p:sp>
        <p:nvSpPr>
          <p:cNvPr id="22" name="a2wd300_fl21"/>
          <p:cNvSpPr txBox="1"/>
          <p:nvPr/>
        </p:nvSpPr>
        <p:spPr>
          <a:xfrm>
            <a:off x="4892040" y="1947672"/>
            <a:ext cx="3703320" cy="256032"/>
          </a:xfrm>
          <a:prstGeom prst="rect">
            <a:avLst/>
          </a:prstGeom>
          <a:noFill/>
        </p:spPr>
        <p:txBody>
          <a:bodyPr wrap="none" lIns="0" tIns="0" rIns="0" bIns="0" anchor="ctr">
            <a:spAutoFit/>
          </a:bodyPr>
          <a:lstStyle/>
          <a:p>
            <a:pPr algn="l"/>
            <a:r>
              <a:rPr sz="950" b="1">
                <a:solidFill>
                  <a:srgbClr val="A16207"/>
                </a:solidFill>
                <a:latin typeface="Consolas"/>
              </a:rPr>
              <a:t>city  : Chennai -&gt; Bengaluru  (edited in place)</a:t>
            </a:r>
          </a:p>
        </p:txBody>
      </p:sp>
      <p:sp>
        <p:nvSpPr>
          <p:cNvPr id="23" name="a2wd450_fl22"/>
          <p:cNvSpPr txBox="1"/>
          <p:nvPr/>
        </p:nvSpPr>
        <p:spPr>
          <a:xfrm>
            <a:off x="4892040" y="2249424"/>
            <a:ext cx="3703320" cy="256032"/>
          </a:xfrm>
          <a:prstGeom prst="rect">
            <a:avLst/>
          </a:prstGeom>
          <a:noFill/>
        </p:spPr>
        <p:txBody>
          <a:bodyPr wrap="none" lIns="0" tIns="0" rIns="0" bIns="0" anchor="ctr">
            <a:spAutoFit/>
          </a:bodyPr>
          <a:lstStyle/>
          <a:p>
            <a:pPr algn="l"/>
            <a:r>
              <a:rPr sz="950" b="0">
                <a:solidFill>
                  <a:srgbClr val="44403C"/>
                </a:solidFill>
                <a:latin typeface="Consolas"/>
              </a:rPr>
              <a:t>phone : 98xxxxxx01</a:t>
            </a:r>
          </a:p>
        </p:txBody>
      </p:sp>
      <p:sp>
        <p:nvSpPr>
          <p:cNvPr id="24" name="a3f_th23"/>
          <p:cNvSpPr/>
          <p:nvPr/>
        </p:nvSpPr>
        <p:spPr>
          <a:xfrm>
            <a:off x="457200" y="3154680"/>
            <a:ext cx="1645920" cy="32918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3f_tht24"/>
          <p:cNvSpPr txBox="1"/>
          <p:nvPr/>
        </p:nvSpPr>
        <p:spPr>
          <a:xfrm>
            <a:off x="530352" y="3154680"/>
            <a:ext cx="1536192" cy="329184"/>
          </a:xfrm>
          <a:prstGeom prst="rect">
            <a:avLst/>
          </a:prstGeom>
          <a:noFill/>
        </p:spPr>
        <p:txBody>
          <a:bodyPr wrap="square" lIns="0" tIns="0" rIns="0" bIns="0" anchor="ctr">
            <a:spAutoFit/>
          </a:bodyPr>
          <a:lstStyle/>
          <a:p>
            <a:pPr algn="l"/>
            <a:r>
              <a:rPr sz="900" b="1">
                <a:solidFill>
                  <a:srgbClr val="FFFFFF"/>
                </a:solidFill>
                <a:latin typeface="Segoe UI"/>
              </a:rPr>
              <a:t/>
            </a:r>
          </a:p>
        </p:txBody>
      </p:sp>
      <p:sp>
        <p:nvSpPr>
          <p:cNvPr id="26" name="a3wd150_td25"/>
          <p:cNvSpPr/>
          <p:nvPr/>
        </p:nvSpPr>
        <p:spPr>
          <a:xfrm>
            <a:off x="457200" y="3483864"/>
            <a:ext cx="164592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3wd150_tdt26"/>
          <p:cNvSpPr txBox="1"/>
          <p:nvPr/>
        </p:nvSpPr>
        <p:spPr>
          <a:xfrm>
            <a:off x="530352" y="3483864"/>
            <a:ext cx="1536192" cy="329184"/>
          </a:xfrm>
          <a:prstGeom prst="rect">
            <a:avLst/>
          </a:prstGeom>
          <a:noFill/>
        </p:spPr>
        <p:txBody>
          <a:bodyPr wrap="square" lIns="0" tIns="0" rIns="0" bIns="0" anchor="ctr">
            <a:spAutoFit/>
          </a:bodyPr>
          <a:lstStyle/>
          <a:p>
            <a:pPr algn="l"/>
            <a:r>
              <a:rPr sz="900" b="0">
                <a:solidFill>
                  <a:srgbClr val="44403C"/>
                </a:solidFill>
                <a:latin typeface="Segoe UI"/>
              </a:rPr>
              <a:t>Writing</a:t>
            </a:r>
          </a:p>
        </p:txBody>
      </p:sp>
      <p:sp>
        <p:nvSpPr>
          <p:cNvPr id="28" name="a3wd300_td27"/>
          <p:cNvSpPr/>
          <p:nvPr/>
        </p:nvSpPr>
        <p:spPr>
          <a:xfrm>
            <a:off x="457200" y="3813048"/>
            <a:ext cx="1645920"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3wd300_tdt28"/>
          <p:cNvSpPr txBox="1"/>
          <p:nvPr/>
        </p:nvSpPr>
        <p:spPr>
          <a:xfrm>
            <a:off x="530352" y="3813048"/>
            <a:ext cx="1536192" cy="329184"/>
          </a:xfrm>
          <a:prstGeom prst="rect">
            <a:avLst/>
          </a:prstGeom>
          <a:noFill/>
        </p:spPr>
        <p:txBody>
          <a:bodyPr wrap="square" lIns="0" tIns="0" rIns="0" bIns="0" anchor="ctr">
            <a:spAutoFit/>
          </a:bodyPr>
          <a:lstStyle/>
          <a:p>
            <a:pPr algn="l"/>
            <a:r>
              <a:rPr sz="900" b="0">
                <a:solidFill>
                  <a:srgbClr val="44403C"/>
                </a:solidFill>
                <a:latin typeface="Segoe UI"/>
              </a:rPr>
              <a:t>Once written</a:t>
            </a:r>
          </a:p>
        </p:txBody>
      </p:sp>
      <p:sp>
        <p:nvSpPr>
          <p:cNvPr id="30" name="a3wd450_td29"/>
          <p:cNvSpPr/>
          <p:nvPr/>
        </p:nvSpPr>
        <p:spPr>
          <a:xfrm>
            <a:off x="457200" y="4142232"/>
            <a:ext cx="164592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wd450_tdt30"/>
          <p:cNvSpPr txBox="1"/>
          <p:nvPr/>
        </p:nvSpPr>
        <p:spPr>
          <a:xfrm>
            <a:off x="530352" y="4142232"/>
            <a:ext cx="1536192" cy="329184"/>
          </a:xfrm>
          <a:prstGeom prst="rect">
            <a:avLst/>
          </a:prstGeom>
          <a:noFill/>
        </p:spPr>
        <p:txBody>
          <a:bodyPr wrap="square" lIns="0" tIns="0" rIns="0" bIns="0" anchor="ctr">
            <a:spAutoFit/>
          </a:bodyPr>
          <a:lstStyle/>
          <a:p>
            <a:pPr algn="l"/>
            <a:r>
              <a:rPr sz="900" b="0">
                <a:solidFill>
                  <a:srgbClr val="44403C"/>
                </a:solidFill>
                <a:latin typeface="Segoe UI"/>
              </a:rPr>
              <a:t>Order</a:t>
            </a:r>
          </a:p>
        </p:txBody>
      </p:sp>
      <p:sp>
        <p:nvSpPr>
          <p:cNvPr id="32" name="a3f_th31"/>
          <p:cNvSpPr/>
          <p:nvPr/>
        </p:nvSpPr>
        <p:spPr>
          <a:xfrm>
            <a:off x="2103120" y="3154680"/>
            <a:ext cx="3291840" cy="3291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3f_tht32"/>
          <p:cNvSpPr txBox="1"/>
          <p:nvPr/>
        </p:nvSpPr>
        <p:spPr>
          <a:xfrm>
            <a:off x="2176272" y="3154680"/>
            <a:ext cx="3182112" cy="329184"/>
          </a:xfrm>
          <a:prstGeom prst="rect">
            <a:avLst/>
          </a:prstGeom>
          <a:noFill/>
        </p:spPr>
        <p:txBody>
          <a:bodyPr wrap="square" lIns="0" tIns="0" rIns="0" bIns="0" anchor="ctr">
            <a:spAutoFit/>
          </a:bodyPr>
          <a:lstStyle/>
          <a:p>
            <a:pPr algn="l"/>
            <a:r>
              <a:rPr sz="900" b="1">
                <a:solidFill>
                  <a:srgbClr val="FFFFFF"/>
                </a:solidFill>
                <a:latin typeface="Segoe UI"/>
              </a:rPr>
              <a:t>Log file</a:t>
            </a:r>
          </a:p>
        </p:txBody>
      </p:sp>
      <p:sp>
        <p:nvSpPr>
          <p:cNvPr id="34" name="a3wd150_td33"/>
          <p:cNvSpPr/>
          <p:nvPr/>
        </p:nvSpPr>
        <p:spPr>
          <a:xfrm>
            <a:off x="2103120" y="3483864"/>
            <a:ext cx="329184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3wd150_tdt34"/>
          <p:cNvSpPr txBox="1"/>
          <p:nvPr/>
        </p:nvSpPr>
        <p:spPr>
          <a:xfrm>
            <a:off x="2176272" y="3483864"/>
            <a:ext cx="3182112" cy="329184"/>
          </a:xfrm>
          <a:prstGeom prst="rect">
            <a:avLst/>
          </a:prstGeom>
          <a:noFill/>
        </p:spPr>
        <p:txBody>
          <a:bodyPr wrap="square" lIns="0" tIns="0" rIns="0" bIns="0" anchor="ctr">
            <a:spAutoFit/>
          </a:bodyPr>
          <a:lstStyle/>
          <a:p>
            <a:pPr algn="l"/>
            <a:r>
              <a:rPr sz="900" b="0">
                <a:solidFill>
                  <a:srgbClr val="44403C"/>
                </a:solidFill>
                <a:latin typeface="Segoe UI"/>
              </a:rPr>
              <a:t>Append only - new entries go at the end</a:t>
            </a:r>
          </a:p>
        </p:txBody>
      </p:sp>
      <p:sp>
        <p:nvSpPr>
          <p:cNvPr id="36" name="a3wd300_td35"/>
          <p:cNvSpPr/>
          <p:nvPr/>
        </p:nvSpPr>
        <p:spPr>
          <a:xfrm>
            <a:off x="2103120" y="3813048"/>
            <a:ext cx="3291840"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3wd300_tdt36"/>
          <p:cNvSpPr txBox="1"/>
          <p:nvPr/>
        </p:nvSpPr>
        <p:spPr>
          <a:xfrm>
            <a:off x="2176272" y="3813048"/>
            <a:ext cx="3182112" cy="329184"/>
          </a:xfrm>
          <a:prstGeom prst="rect">
            <a:avLst/>
          </a:prstGeom>
          <a:noFill/>
        </p:spPr>
        <p:txBody>
          <a:bodyPr wrap="square" lIns="0" tIns="0" rIns="0" bIns="0" anchor="ctr">
            <a:spAutoFit/>
          </a:bodyPr>
          <a:lstStyle/>
          <a:p>
            <a:pPr algn="l"/>
            <a:r>
              <a:rPr sz="900" b="0">
                <a:solidFill>
                  <a:srgbClr val="44403C"/>
                </a:solidFill>
                <a:latin typeface="Segoe UI"/>
              </a:rPr>
              <a:t>Immutable - read only, never changed</a:t>
            </a:r>
          </a:p>
        </p:txBody>
      </p:sp>
      <p:sp>
        <p:nvSpPr>
          <p:cNvPr id="38" name="a3wd450_td37"/>
          <p:cNvSpPr/>
          <p:nvPr/>
        </p:nvSpPr>
        <p:spPr>
          <a:xfrm>
            <a:off x="2103120" y="4142232"/>
            <a:ext cx="329184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3wd450_tdt38"/>
          <p:cNvSpPr txBox="1"/>
          <p:nvPr/>
        </p:nvSpPr>
        <p:spPr>
          <a:xfrm>
            <a:off x="2176272" y="4142232"/>
            <a:ext cx="3182112" cy="329184"/>
          </a:xfrm>
          <a:prstGeom prst="rect">
            <a:avLst/>
          </a:prstGeom>
          <a:noFill/>
        </p:spPr>
        <p:txBody>
          <a:bodyPr wrap="square" lIns="0" tIns="0" rIns="0" bIns="0" anchor="ctr">
            <a:spAutoFit/>
          </a:bodyPr>
          <a:lstStyle/>
          <a:p>
            <a:pPr algn="l"/>
            <a:r>
              <a:rPr sz="900" b="0">
                <a:solidFill>
                  <a:srgbClr val="44403C"/>
                </a:solidFill>
                <a:latin typeface="Segoe UI"/>
              </a:rPr>
              <a:t>Time order is the whole point</a:t>
            </a:r>
          </a:p>
        </p:txBody>
      </p:sp>
      <p:sp>
        <p:nvSpPr>
          <p:cNvPr id="40" name="a3f_th39"/>
          <p:cNvSpPr/>
          <p:nvPr/>
        </p:nvSpPr>
        <p:spPr>
          <a:xfrm>
            <a:off x="5394960" y="3154680"/>
            <a:ext cx="3291840" cy="329184"/>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3f_tht40"/>
          <p:cNvSpPr txBox="1"/>
          <p:nvPr/>
        </p:nvSpPr>
        <p:spPr>
          <a:xfrm>
            <a:off x="5468112" y="3154680"/>
            <a:ext cx="3182112" cy="329184"/>
          </a:xfrm>
          <a:prstGeom prst="rect">
            <a:avLst/>
          </a:prstGeom>
          <a:noFill/>
        </p:spPr>
        <p:txBody>
          <a:bodyPr wrap="square" lIns="0" tIns="0" rIns="0" bIns="0" anchor="ctr">
            <a:spAutoFit/>
          </a:bodyPr>
          <a:lstStyle/>
          <a:p>
            <a:pPr algn="l"/>
            <a:r>
              <a:rPr sz="900" b="1">
                <a:solidFill>
                  <a:srgbClr val="FFFFFF"/>
                </a:solidFill>
                <a:latin typeface="Segoe UI"/>
              </a:rPr>
              <a:t>Normal file</a:t>
            </a:r>
          </a:p>
        </p:txBody>
      </p:sp>
      <p:sp>
        <p:nvSpPr>
          <p:cNvPr id="42" name="a3wd150_td41"/>
          <p:cNvSpPr/>
          <p:nvPr/>
        </p:nvSpPr>
        <p:spPr>
          <a:xfrm>
            <a:off x="5394960" y="3483864"/>
            <a:ext cx="329184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3wd150_tdt42"/>
          <p:cNvSpPr txBox="1"/>
          <p:nvPr/>
        </p:nvSpPr>
        <p:spPr>
          <a:xfrm>
            <a:off x="5468112" y="3483864"/>
            <a:ext cx="3182112" cy="329184"/>
          </a:xfrm>
          <a:prstGeom prst="rect">
            <a:avLst/>
          </a:prstGeom>
          <a:noFill/>
        </p:spPr>
        <p:txBody>
          <a:bodyPr wrap="square" lIns="0" tIns="0" rIns="0" bIns="0" anchor="ctr">
            <a:spAutoFit/>
          </a:bodyPr>
          <a:lstStyle/>
          <a:p>
            <a:pPr algn="l"/>
            <a:r>
              <a:rPr sz="900" b="0">
                <a:solidFill>
                  <a:srgbClr val="44403C"/>
                </a:solidFill>
                <a:latin typeface="Segoe UI"/>
              </a:rPr>
              <a:t>Edit or replace anywhere</a:t>
            </a:r>
          </a:p>
        </p:txBody>
      </p:sp>
      <p:sp>
        <p:nvSpPr>
          <p:cNvPr id="44" name="a3wd300_td43"/>
          <p:cNvSpPr/>
          <p:nvPr/>
        </p:nvSpPr>
        <p:spPr>
          <a:xfrm>
            <a:off x="5394960" y="3813048"/>
            <a:ext cx="3291840"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3wd300_tdt44"/>
          <p:cNvSpPr txBox="1"/>
          <p:nvPr/>
        </p:nvSpPr>
        <p:spPr>
          <a:xfrm>
            <a:off x="5468112" y="3813048"/>
            <a:ext cx="3182112" cy="329184"/>
          </a:xfrm>
          <a:prstGeom prst="rect">
            <a:avLst/>
          </a:prstGeom>
          <a:noFill/>
        </p:spPr>
        <p:txBody>
          <a:bodyPr wrap="square" lIns="0" tIns="0" rIns="0" bIns="0" anchor="ctr">
            <a:spAutoFit/>
          </a:bodyPr>
          <a:lstStyle/>
          <a:p>
            <a:pPr algn="l"/>
            <a:r>
              <a:rPr sz="900" b="0">
                <a:solidFill>
                  <a:srgbClr val="44403C"/>
                </a:solidFill>
                <a:latin typeface="Segoe UI"/>
              </a:rPr>
              <a:t>Can be changed later</a:t>
            </a:r>
          </a:p>
        </p:txBody>
      </p:sp>
      <p:sp>
        <p:nvSpPr>
          <p:cNvPr id="46" name="a3wd450_td45"/>
          <p:cNvSpPr/>
          <p:nvPr/>
        </p:nvSpPr>
        <p:spPr>
          <a:xfrm>
            <a:off x="5394960" y="4142232"/>
            <a:ext cx="329184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3wd450_tdt46"/>
          <p:cNvSpPr txBox="1"/>
          <p:nvPr/>
        </p:nvSpPr>
        <p:spPr>
          <a:xfrm>
            <a:off x="5468112" y="4142232"/>
            <a:ext cx="3182112" cy="329184"/>
          </a:xfrm>
          <a:prstGeom prst="rect">
            <a:avLst/>
          </a:prstGeom>
          <a:noFill/>
        </p:spPr>
        <p:txBody>
          <a:bodyPr wrap="square" lIns="0" tIns="0" rIns="0" bIns="0" anchor="ctr">
            <a:spAutoFit/>
          </a:bodyPr>
          <a:lstStyle/>
          <a:p>
            <a:pPr algn="l"/>
            <a:r>
              <a:rPr sz="900" b="0">
                <a:solidFill>
                  <a:srgbClr val="44403C"/>
                </a:solidFill>
                <a:latin typeface="Segoe UI"/>
              </a:rPr>
              <a:t>No meaningful order</a:t>
            </a:r>
          </a:p>
        </p:txBody>
      </p:sp>
      <p:sp>
        <p:nvSpPr>
          <p:cNvPr id="48" name="ft4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44</a:t>
            </a:r>
          </a:p>
        </p:txBody>
      </p:sp>
      <p:sp>
        <p:nvSpPr>
          <p:cNvPr id="49" name="ft4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ft4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51" name="ft5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2" presetID="22" presetClass="entr" presetSubtype="8" fill="hold" grpId="0" nodeType="withEffect">
                                  <p:stCondLst>
                                    <p:cond delay="15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500"/>
                                        <p:tgtEl>
                                          <p:spTgt spid="14"/>
                                        </p:tgtEl>
                                      </p:cBhvr>
                                    </p:animEffect>
                                  </p:childTnLst>
                                </p:cTn>
                              </p:par>
                              <p:par>
                                <p:cTn id="25" presetID="22" presetClass="entr" presetSubtype="8" fill="hold" grpId="0" nodeType="withEffect">
                                  <p:stCondLst>
                                    <p:cond delay="30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500"/>
                                        <p:tgtEl>
                                          <p:spTgt spid="15"/>
                                        </p:tgtEl>
                                      </p:cBhvr>
                                    </p:animEffect>
                                  </p:childTnLst>
                                </p:cTn>
                              </p:par>
                              <p:par>
                                <p:cTn id="28" presetID="22" presetClass="entr" presetSubtype="8" fill="hold" grpId="0" nodeType="withEffect">
                                  <p:stCondLst>
                                    <p:cond delay="45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par>
                                <p:cTn id="31" presetID="22" presetClass="entr" presetSubtype="8" fill="hold" grpId="0" nodeType="withEffect">
                                  <p:stCondLst>
                                    <p:cond delay="60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8" presetID="2" presetClass="entr" presetSubtype="4"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additive="base">
                                        <p:cTn id="35" dur="500" fill="hold"/>
                                        <p:tgtEl>
                                          <p:spTgt spid="18"/>
                                        </p:tgtEl>
                                        <p:attrNameLst>
                                          <p:attrName>ppt_x</p:attrName>
                                        </p:attrNameLst>
                                      </p:cBhvr>
                                      <p:tavLst>
                                        <p:tav tm="0">
                                          <p:val>
                                            <p:strVal val="#ppt_x"/>
                                          </p:val>
                                        </p:tav>
                                        <p:tav tm="100000">
                                          <p:val>
                                            <p:strVal val="#ppt_x"/>
                                          </p:val>
                                        </p:tav>
                                      </p:tavLst>
                                    </p:anim>
                                    <p:anim calcmode="lin" valueType="num">
                                      <p:cBhvr additive="base">
                                        <p:cTn id="36" dur="500" fill="hold"/>
                                        <p:tgtEl>
                                          <p:spTgt spid="18"/>
                                        </p:tgtEl>
                                        <p:attrNameLst>
                                          <p:attrName>ppt_y</p:attrName>
                                        </p:attrNameLst>
                                      </p:cBhvr>
                                      <p:tavLst>
                                        <p:tav tm="0">
                                          <p:val>
                                            <p:strVal val="#ppt_y+0.1"/>
                                          </p:val>
                                        </p:tav>
                                        <p:tav tm="100000">
                                          <p:val>
                                            <p:strVal val="#ppt_y"/>
                                          </p:val>
                                        </p:tav>
                                      </p:tavLst>
                                    </p:anim>
                                    <p:animEffect transition="in" filter="fade">
                                      <p:cBhvr>
                                        <p:cTn id="37" dur="500"/>
                                        <p:tgtEl>
                                          <p:spTgt spid="18"/>
                                        </p:tgtEl>
                                      </p:cBhvr>
                                    </p:animEffect>
                                  </p:childTnLst>
                                </p:cTn>
                              </p:par>
                              <p:par>
                                <p:cTn id="43" presetID="2" presetClass="entr" presetSubtype="4"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additive="base">
                                        <p:cTn id="40" dur="500" fill="hold"/>
                                        <p:tgtEl>
                                          <p:spTgt spid="19"/>
                                        </p:tgtEl>
                                        <p:attrNameLst>
                                          <p:attrName>ppt_x</p:attrName>
                                        </p:attrNameLst>
                                      </p:cBhvr>
                                      <p:tavLst>
                                        <p:tav tm="0">
                                          <p:val>
                                            <p:strVal val="#ppt_x"/>
                                          </p:val>
                                        </p:tav>
                                        <p:tav tm="100000">
                                          <p:val>
                                            <p:strVal val="#ppt_x"/>
                                          </p:val>
                                        </p:tav>
                                      </p:tavLst>
                                    </p:anim>
                                    <p:anim calcmode="lin" valueType="num">
                                      <p:cBhvr additive="base">
                                        <p:cTn id="41" dur="500" fill="hold"/>
                                        <p:tgtEl>
                                          <p:spTgt spid="19"/>
                                        </p:tgtEl>
                                        <p:attrNameLst>
                                          <p:attrName>ppt_y</p:attrName>
                                        </p:attrNameLst>
                                      </p:cBhvr>
                                      <p:tavLst>
                                        <p:tav tm="0">
                                          <p:val>
                                            <p:strVal val="#ppt_y+0.1"/>
                                          </p:val>
                                        </p:tav>
                                        <p:tav tm="100000">
                                          <p:val>
                                            <p:strVal val="#ppt_y"/>
                                          </p:val>
                                        </p:tav>
                                      </p:tavLst>
                                    </p:anim>
                                    <p:animEffect transition="in" filter="fade">
                                      <p:cBhvr>
                                        <p:cTn id="42" dur="500"/>
                                        <p:tgtEl>
                                          <p:spTgt spid="19"/>
                                        </p:tgtEl>
                                      </p:cBhvr>
                                    </p:animEffect>
                                  </p:childTnLst>
                                </p:cTn>
                              </p:par>
                              <p:par>
                                <p:cTn id="48" presetID="2" presetClass="entr" presetSubtype="4"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additive="base">
                                        <p:cTn id="45" dur="500" fill="hold"/>
                                        <p:tgtEl>
                                          <p:spTgt spid="20"/>
                                        </p:tgtEl>
                                        <p:attrNameLst>
                                          <p:attrName>ppt_x</p:attrName>
                                        </p:attrNameLst>
                                      </p:cBhvr>
                                      <p:tavLst>
                                        <p:tav tm="0">
                                          <p:val>
                                            <p:strVal val="#ppt_x"/>
                                          </p:val>
                                        </p:tav>
                                        <p:tav tm="100000">
                                          <p:val>
                                            <p:strVal val="#ppt_x"/>
                                          </p:val>
                                        </p:tav>
                                      </p:tavLst>
                                    </p:anim>
                                    <p:anim calcmode="lin" valueType="num">
                                      <p:cBhvr additive="base">
                                        <p:cTn id="46" dur="500" fill="hold"/>
                                        <p:tgtEl>
                                          <p:spTgt spid="20"/>
                                        </p:tgtEl>
                                        <p:attrNameLst>
                                          <p:attrName>ppt_y</p:attrName>
                                        </p:attrNameLst>
                                      </p:cBhvr>
                                      <p:tavLst>
                                        <p:tav tm="0">
                                          <p:val>
                                            <p:strVal val="#ppt_y+0.1"/>
                                          </p:val>
                                        </p:tav>
                                        <p:tav tm="100000">
                                          <p:val>
                                            <p:strVal val="#ppt_y"/>
                                          </p:val>
                                        </p:tav>
                                      </p:tavLst>
                                    </p:anim>
                                    <p:animEffect transition="in" filter="fade">
                                      <p:cBhvr>
                                        <p:cTn id="47" dur="500"/>
                                        <p:tgtEl>
                                          <p:spTgt spid="20"/>
                                        </p:tgtEl>
                                      </p:cBhvr>
                                    </p:animEffect>
                                  </p:childTnLst>
                                </p:cTn>
                              </p:par>
                              <p:par>
                                <p:cTn id="51" presetID="22" presetClass="entr" presetSubtype="8" fill="hold" grpId="0" nodeType="withEffect">
                                  <p:stCondLst>
                                    <p:cond delay="15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50" dur="500"/>
                                        <p:tgtEl>
                                          <p:spTgt spid="21"/>
                                        </p:tgtEl>
                                      </p:cBhvr>
                                    </p:animEffect>
                                  </p:childTnLst>
                                </p:cTn>
                              </p:par>
                              <p:par>
                                <p:cTn id="54" presetID="22" presetClass="entr" presetSubtype="8" fill="hold" grpId="0" nodeType="withEffect">
                                  <p:stCondLst>
                                    <p:cond delay="30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3" dur="500"/>
                                        <p:tgtEl>
                                          <p:spTgt spid="22"/>
                                        </p:tgtEl>
                                      </p:cBhvr>
                                    </p:animEffect>
                                  </p:childTnLst>
                                </p:cTn>
                              </p:par>
                              <p:par>
                                <p:cTn id="57" presetID="22" presetClass="entr" presetSubtype="8" fill="hold" grpId="0" nodeType="withEffect">
                                  <p:stCondLst>
                                    <p:cond delay="45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6" dur="500"/>
                                        <p:tgtEl>
                                          <p:spTgt spid="23"/>
                                        </p:tgtEl>
                                      </p:cBhvr>
                                    </p:animEffect>
                                  </p:childTnLst>
                                </p:cTn>
                              </p:par>
                            </p:childTnLst>
                          </p:cTn>
                        </p:par>
                      </p:childTnLst>
                    </p:cTn>
                  </p:par>
                  <p:par>
                    <p:cTn id="58" fill="hold">
                      <p:stCondLst>
                        <p:cond delay="indefinite"/>
                      </p:stCondLst>
                      <p:childTnLst>
                        <p:par>
                          <p:cTn id="59" fill="hold">
                            <p:stCondLst>
                              <p:cond delay="0"/>
                            </p:stCondLst>
                            <p:childTnLst>
                              <p:par>
                                <p:cTn id="62" presetID="10" presetClass="entr" presetSubtype="0"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par>
                                <p:cTn id="65"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8" presetID="10" presetClass="entr" presetSubtype="0"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500"/>
                                        <p:tgtEl>
                                          <p:spTgt spid="32"/>
                                        </p:tgtEl>
                                      </p:cBhvr>
                                    </p:animEffect>
                                  </p:childTnLst>
                                </p:cTn>
                              </p:par>
                              <p:par>
                                <p:cTn id="71" presetID="10" presetClass="entr" presetSubtype="0"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500"/>
                                        <p:tgtEl>
                                          <p:spTgt spid="33"/>
                                        </p:tgtEl>
                                      </p:cBhvr>
                                    </p:animEffect>
                                  </p:childTnLst>
                                </p:cTn>
                              </p:par>
                              <p:par>
                                <p:cTn id="74" presetID="10" presetClass="entr" presetSubtype="0"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animEffect transition="in" filter="fade">
                                      <p:cBhvr>
                                        <p:cTn id="73" dur="500"/>
                                        <p:tgtEl>
                                          <p:spTgt spid="40"/>
                                        </p:tgtEl>
                                      </p:cBhvr>
                                    </p:animEffect>
                                  </p:childTnLst>
                                </p:cTn>
                              </p:par>
                              <p:par>
                                <p:cTn id="77" presetID="10" presetClass="entr" presetSubtype="0" fill="hold" grpId="0" nodeType="with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fade">
                                      <p:cBhvr>
                                        <p:cTn id="76" dur="500"/>
                                        <p:tgtEl>
                                          <p:spTgt spid="41"/>
                                        </p:tgtEl>
                                      </p:cBhvr>
                                    </p:animEffect>
                                  </p:childTnLst>
                                </p:cTn>
                              </p:par>
                              <p:par>
                                <p:cTn id="80" presetID="22" presetClass="entr" presetSubtype="8" fill="hold" grpId="0" nodeType="withEffect">
                                  <p:stCondLst>
                                    <p:cond delay="150"/>
                                  </p:stCondLst>
                                  <p:childTnLst>
                                    <p:set>
                                      <p:cBhvr>
                                        <p:cTn id="78" dur="1" fill="hold">
                                          <p:stCondLst>
                                            <p:cond delay="0"/>
                                          </p:stCondLst>
                                        </p:cTn>
                                        <p:tgtEl>
                                          <p:spTgt spid="26"/>
                                        </p:tgtEl>
                                        <p:attrNameLst>
                                          <p:attrName>style.visibility</p:attrName>
                                        </p:attrNameLst>
                                      </p:cBhvr>
                                      <p:to>
                                        <p:strVal val="visible"/>
                                      </p:to>
                                    </p:set>
                                    <p:animEffect transition="in" filter="wipe(left)">
                                      <p:cBhvr>
                                        <p:cTn id="79" dur="500"/>
                                        <p:tgtEl>
                                          <p:spTgt spid="26"/>
                                        </p:tgtEl>
                                      </p:cBhvr>
                                    </p:animEffect>
                                  </p:childTnLst>
                                </p:cTn>
                              </p:par>
                              <p:par>
                                <p:cTn id="83" presetID="22" presetClass="entr" presetSubtype="8" fill="hold" grpId="0" nodeType="withEffect">
                                  <p:stCondLst>
                                    <p:cond delay="150"/>
                                  </p:stCondLst>
                                  <p:childTnLst>
                                    <p:set>
                                      <p:cBhvr>
                                        <p:cTn id="81" dur="1" fill="hold">
                                          <p:stCondLst>
                                            <p:cond delay="0"/>
                                          </p:stCondLst>
                                        </p:cTn>
                                        <p:tgtEl>
                                          <p:spTgt spid="27"/>
                                        </p:tgtEl>
                                        <p:attrNameLst>
                                          <p:attrName>style.visibility</p:attrName>
                                        </p:attrNameLst>
                                      </p:cBhvr>
                                      <p:to>
                                        <p:strVal val="visible"/>
                                      </p:to>
                                    </p:set>
                                    <p:animEffect transition="in" filter="wipe(left)">
                                      <p:cBhvr>
                                        <p:cTn id="82" dur="500"/>
                                        <p:tgtEl>
                                          <p:spTgt spid="27"/>
                                        </p:tgtEl>
                                      </p:cBhvr>
                                    </p:animEffect>
                                  </p:childTnLst>
                                </p:cTn>
                              </p:par>
                              <p:par>
                                <p:cTn id="86" presetID="22" presetClass="entr" presetSubtype="8" fill="hold" grpId="0" nodeType="withEffect">
                                  <p:stCondLst>
                                    <p:cond delay="150"/>
                                  </p:stCondLst>
                                  <p:childTnLst>
                                    <p:set>
                                      <p:cBhvr>
                                        <p:cTn id="84" dur="1" fill="hold">
                                          <p:stCondLst>
                                            <p:cond delay="0"/>
                                          </p:stCondLst>
                                        </p:cTn>
                                        <p:tgtEl>
                                          <p:spTgt spid="34"/>
                                        </p:tgtEl>
                                        <p:attrNameLst>
                                          <p:attrName>style.visibility</p:attrName>
                                        </p:attrNameLst>
                                      </p:cBhvr>
                                      <p:to>
                                        <p:strVal val="visible"/>
                                      </p:to>
                                    </p:set>
                                    <p:animEffect transition="in" filter="wipe(left)">
                                      <p:cBhvr>
                                        <p:cTn id="85" dur="500"/>
                                        <p:tgtEl>
                                          <p:spTgt spid="34"/>
                                        </p:tgtEl>
                                      </p:cBhvr>
                                    </p:animEffect>
                                  </p:childTnLst>
                                </p:cTn>
                              </p:par>
                              <p:par>
                                <p:cTn id="89" presetID="22" presetClass="entr" presetSubtype="8" fill="hold" grpId="0" nodeType="withEffect">
                                  <p:stCondLst>
                                    <p:cond delay="150"/>
                                  </p:stCondLst>
                                  <p:childTnLst>
                                    <p:set>
                                      <p:cBhvr>
                                        <p:cTn id="87" dur="1" fill="hold">
                                          <p:stCondLst>
                                            <p:cond delay="0"/>
                                          </p:stCondLst>
                                        </p:cTn>
                                        <p:tgtEl>
                                          <p:spTgt spid="35"/>
                                        </p:tgtEl>
                                        <p:attrNameLst>
                                          <p:attrName>style.visibility</p:attrName>
                                        </p:attrNameLst>
                                      </p:cBhvr>
                                      <p:to>
                                        <p:strVal val="visible"/>
                                      </p:to>
                                    </p:set>
                                    <p:animEffect transition="in" filter="wipe(left)">
                                      <p:cBhvr>
                                        <p:cTn id="88" dur="500"/>
                                        <p:tgtEl>
                                          <p:spTgt spid="35"/>
                                        </p:tgtEl>
                                      </p:cBhvr>
                                    </p:animEffect>
                                  </p:childTnLst>
                                </p:cTn>
                              </p:par>
                              <p:par>
                                <p:cTn id="92" presetID="22" presetClass="entr" presetSubtype="8" fill="hold" grpId="0" nodeType="withEffect">
                                  <p:stCondLst>
                                    <p:cond delay="150"/>
                                  </p:stCondLst>
                                  <p:childTnLst>
                                    <p:set>
                                      <p:cBhvr>
                                        <p:cTn id="90" dur="1" fill="hold">
                                          <p:stCondLst>
                                            <p:cond delay="0"/>
                                          </p:stCondLst>
                                        </p:cTn>
                                        <p:tgtEl>
                                          <p:spTgt spid="42"/>
                                        </p:tgtEl>
                                        <p:attrNameLst>
                                          <p:attrName>style.visibility</p:attrName>
                                        </p:attrNameLst>
                                      </p:cBhvr>
                                      <p:to>
                                        <p:strVal val="visible"/>
                                      </p:to>
                                    </p:set>
                                    <p:animEffect transition="in" filter="wipe(left)">
                                      <p:cBhvr>
                                        <p:cTn id="91" dur="500"/>
                                        <p:tgtEl>
                                          <p:spTgt spid="42"/>
                                        </p:tgtEl>
                                      </p:cBhvr>
                                    </p:animEffect>
                                  </p:childTnLst>
                                </p:cTn>
                              </p:par>
                              <p:par>
                                <p:cTn id="95" presetID="22" presetClass="entr" presetSubtype="8" fill="hold" grpId="0" nodeType="withEffect">
                                  <p:stCondLst>
                                    <p:cond delay="150"/>
                                  </p:stCondLst>
                                  <p:childTnLst>
                                    <p:set>
                                      <p:cBhvr>
                                        <p:cTn id="93" dur="1" fill="hold">
                                          <p:stCondLst>
                                            <p:cond delay="0"/>
                                          </p:stCondLst>
                                        </p:cTn>
                                        <p:tgtEl>
                                          <p:spTgt spid="43"/>
                                        </p:tgtEl>
                                        <p:attrNameLst>
                                          <p:attrName>style.visibility</p:attrName>
                                        </p:attrNameLst>
                                      </p:cBhvr>
                                      <p:to>
                                        <p:strVal val="visible"/>
                                      </p:to>
                                    </p:set>
                                    <p:animEffect transition="in" filter="wipe(left)">
                                      <p:cBhvr>
                                        <p:cTn id="94" dur="500"/>
                                        <p:tgtEl>
                                          <p:spTgt spid="43"/>
                                        </p:tgtEl>
                                      </p:cBhvr>
                                    </p:animEffect>
                                  </p:childTnLst>
                                </p:cTn>
                              </p:par>
                              <p:par>
                                <p:cTn id="98" presetID="22" presetClass="entr" presetSubtype="8" fill="hold" grpId="0" nodeType="withEffect">
                                  <p:stCondLst>
                                    <p:cond delay="300"/>
                                  </p:stCondLst>
                                  <p:childTnLst>
                                    <p:set>
                                      <p:cBhvr>
                                        <p:cTn id="96" dur="1" fill="hold">
                                          <p:stCondLst>
                                            <p:cond delay="0"/>
                                          </p:stCondLst>
                                        </p:cTn>
                                        <p:tgtEl>
                                          <p:spTgt spid="28"/>
                                        </p:tgtEl>
                                        <p:attrNameLst>
                                          <p:attrName>style.visibility</p:attrName>
                                        </p:attrNameLst>
                                      </p:cBhvr>
                                      <p:to>
                                        <p:strVal val="visible"/>
                                      </p:to>
                                    </p:set>
                                    <p:animEffect transition="in" filter="wipe(left)">
                                      <p:cBhvr>
                                        <p:cTn id="97" dur="500"/>
                                        <p:tgtEl>
                                          <p:spTgt spid="28"/>
                                        </p:tgtEl>
                                      </p:cBhvr>
                                    </p:animEffect>
                                  </p:childTnLst>
                                </p:cTn>
                              </p:par>
                              <p:par>
                                <p:cTn id="101" presetID="22" presetClass="entr" presetSubtype="8" fill="hold" grpId="0" nodeType="withEffect">
                                  <p:stCondLst>
                                    <p:cond delay="300"/>
                                  </p:stCondLst>
                                  <p:childTnLst>
                                    <p:set>
                                      <p:cBhvr>
                                        <p:cTn id="99" dur="1" fill="hold">
                                          <p:stCondLst>
                                            <p:cond delay="0"/>
                                          </p:stCondLst>
                                        </p:cTn>
                                        <p:tgtEl>
                                          <p:spTgt spid="29"/>
                                        </p:tgtEl>
                                        <p:attrNameLst>
                                          <p:attrName>style.visibility</p:attrName>
                                        </p:attrNameLst>
                                      </p:cBhvr>
                                      <p:to>
                                        <p:strVal val="visible"/>
                                      </p:to>
                                    </p:set>
                                    <p:animEffect transition="in" filter="wipe(left)">
                                      <p:cBhvr>
                                        <p:cTn id="100" dur="500"/>
                                        <p:tgtEl>
                                          <p:spTgt spid="29"/>
                                        </p:tgtEl>
                                      </p:cBhvr>
                                    </p:animEffect>
                                  </p:childTnLst>
                                </p:cTn>
                              </p:par>
                              <p:par>
                                <p:cTn id="104" presetID="22" presetClass="entr" presetSubtype="8" fill="hold" grpId="0" nodeType="withEffect">
                                  <p:stCondLst>
                                    <p:cond delay="300"/>
                                  </p:stCondLst>
                                  <p:childTnLst>
                                    <p:set>
                                      <p:cBhvr>
                                        <p:cTn id="102" dur="1" fill="hold">
                                          <p:stCondLst>
                                            <p:cond delay="0"/>
                                          </p:stCondLst>
                                        </p:cTn>
                                        <p:tgtEl>
                                          <p:spTgt spid="36"/>
                                        </p:tgtEl>
                                        <p:attrNameLst>
                                          <p:attrName>style.visibility</p:attrName>
                                        </p:attrNameLst>
                                      </p:cBhvr>
                                      <p:to>
                                        <p:strVal val="visible"/>
                                      </p:to>
                                    </p:set>
                                    <p:animEffect transition="in" filter="wipe(left)">
                                      <p:cBhvr>
                                        <p:cTn id="103" dur="500"/>
                                        <p:tgtEl>
                                          <p:spTgt spid="36"/>
                                        </p:tgtEl>
                                      </p:cBhvr>
                                    </p:animEffect>
                                  </p:childTnLst>
                                </p:cTn>
                              </p:par>
                              <p:par>
                                <p:cTn id="107" presetID="22" presetClass="entr" presetSubtype="8" fill="hold" grpId="0" nodeType="withEffect">
                                  <p:stCondLst>
                                    <p:cond delay="300"/>
                                  </p:stCondLst>
                                  <p:childTnLst>
                                    <p:set>
                                      <p:cBhvr>
                                        <p:cTn id="105" dur="1" fill="hold">
                                          <p:stCondLst>
                                            <p:cond delay="0"/>
                                          </p:stCondLst>
                                        </p:cTn>
                                        <p:tgtEl>
                                          <p:spTgt spid="37"/>
                                        </p:tgtEl>
                                        <p:attrNameLst>
                                          <p:attrName>style.visibility</p:attrName>
                                        </p:attrNameLst>
                                      </p:cBhvr>
                                      <p:to>
                                        <p:strVal val="visible"/>
                                      </p:to>
                                    </p:set>
                                    <p:animEffect transition="in" filter="wipe(left)">
                                      <p:cBhvr>
                                        <p:cTn id="106" dur="500"/>
                                        <p:tgtEl>
                                          <p:spTgt spid="37"/>
                                        </p:tgtEl>
                                      </p:cBhvr>
                                    </p:animEffect>
                                  </p:childTnLst>
                                </p:cTn>
                              </p:par>
                              <p:par>
                                <p:cTn id="110" presetID="22" presetClass="entr" presetSubtype="8" fill="hold" grpId="0" nodeType="withEffect">
                                  <p:stCondLst>
                                    <p:cond delay="300"/>
                                  </p:stCondLst>
                                  <p:childTnLst>
                                    <p:set>
                                      <p:cBhvr>
                                        <p:cTn id="108" dur="1" fill="hold">
                                          <p:stCondLst>
                                            <p:cond delay="0"/>
                                          </p:stCondLst>
                                        </p:cTn>
                                        <p:tgtEl>
                                          <p:spTgt spid="44"/>
                                        </p:tgtEl>
                                        <p:attrNameLst>
                                          <p:attrName>style.visibility</p:attrName>
                                        </p:attrNameLst>
                                      </p:cBhvr>
                                      <p:to>
                                        <p:strVal val="visible"/>
                                      </p:to>
                                    </p:set>
                                    <p:animEffect transition="in" filter="wipe(left)">
                                      <p:cBhvr>
                                        <p:cTn id="109" dur="500"/>
                                        <p:tgtEl>
                                          <p:spTgt spid="44"/>
                                        </p:tgtEl>
                                      </p:cBhvr>
                                    </p:animEffect>
                                  </p:childTnLst>
                                </p:cTn>
                              </p:par>
                              <p:par>
                                <p:cTn id="113" presetID="22" presetClass="entr" presetSubtype="8" fill="hold" grpId="0" nodeType="withEffect">
                                  <p:stCondLst>
                                    <p:cond delay="300"/>
                                  </p:stCondLst>
                                  <p:childTnLst>
                                    <p:set>
                                      <p:cBhvr>
                                        <p:cTn id="111" dur="1" fill="hold">
                                          <p:stCondLst>
                                            <p:cond delay="0"/>
                                          </p:stCondLst>
                                        </p:cTn>
                                        <p:tgtEl>
                                          <p:spTgt spid="45"/>
                                        </p:tgtEl>
                                        <p:attrNameLst>
                                          <p:attrName>style.visibility</p:attrName>
                                        </p:attrNameLst>
                                      </p:cBhvr>
                                      <p:to>
                                        <p:strVal val="visible"/>
                                      </p:to>
                                    </p:set>
                                    <p:animEffect transition="in" filter="wipe(left)">
                                      <p:cBhvr>
                                        <p:cTn id="112" dur="500"/>
                                        <p:tgtEl>
                                          <p:spTgt spid="45"/>
                                        </p:tgtEl>
                                      </p:cBhvr>
                                    </p:animEffect>
                                  </p:childTnLst>
                                </p:cTn>
                              </p:par>
                              <p:par>
                                <p:cTn id="116" presetID="22" presetClass="entr" presetSubtype="8" fill="hold" grpId="0" nodeType="withEffect">
                                  <p:stCondLst>
                                    <p:cond delay="450"/>
                                  </p:stCondLst>
                                  <p:childTnLst>
                                    <p:set>
                                      <p:cBhvr>
                                        <p:cTn id="114" dur="1" fill="hold">
                                          <p:stCondLst>
                                            <p:cond delay="0"/>
                                          </p:stCondLst>
                                        </p:cTn>
                                        <p:tgtEl>
                                          <p:spTgt spid="30"/>
                                        </p:tgtEl>
                                        <p:attrNameLst>
                                          <p:attrName>style.visibility</p:attrName>
                                        </p:attrNameLst>
                                      </p:cBhvr>
                                      <p:to>
                                        <p:strVal val="visible"/>
                                      </p:to>
                                    </p:set>
                                    <p:animEffect transition="in" filter="wipe(left)">
                                      <p:cBhvr>
                                        <p:cTn id="115" dur="500"/>
                                        <p:tgtEl>
                                          <p:spTgt spid="30"/>
                                        </p:tgtEl>
                                      </p:cBhvr>
                                    </p:animEffect>
                                  </p:childTnLst>
                                </p:cTn>
                              </p:par>
                              <p:par>
                                <p:cTn id="119" presetID="22" presetClass="entr" presetSubtype="8" fill="hold" grpId="0" nodeType="withEffect">
                                  <p:stCondLst>
                                    <p:cond delay="450"/>
                                  </p:stCondLst>
                                  <p:childTnLst>
                                    <p:set>
                                      <p:cBhvr>
                                        <p:cTn id="117" dur="1" fill="hold">
                                          <p:stCondLst>
                                            <p:cond delay="0"/>
                                          </p:stCondLst>
                                        </p:cTn>
                                        <p:tgtEl>
                                          <p:spTgt spid="31"/>
                                        </p:tgtEl>
                                        <p:attrNameLst>
                                          <p:attrName>style.visibility</p:attrName>
                                        </p:attrNameLst>
                                      </p:cBhvr>
                                      <p:to>
                                        <p:strVal val="visible"/>
                                      </p:to>
                                    </p:set>
                                    <p:animEffect transition="in" filter="wipe(left)">
                                      <p:cBhvr>
                                        <p:cTn id="118" dur="500"/>
                                        <p:tgtEl>
                                          <p:spTgt spid="31"/>
                                        </p:tgtEl>
                                      </p:cBhvr>
                                    </p:animEffect>
                                  </p:childTnLst>
                                </p:cTn>
                              </p:par>
                              <p:par>
                                <p:cTn id="122" presetID="22" presetClass="entr" presetSubtype="8" fill="hold" grpId="0" nodeType="withEffect">
                                  <p:stCondLst>
                                    <p:cond delay="450"/>
                                  </p:stCondLst>
                                  <p:childTnLst>
                                    <p:set>
                                      <p:cBhvr>
                                        <p:cTn id="120" dur="1" fill="hold">
                                          <p:stCondLst>
                                            <p:cond delay="0"/>
                                          </p:stCondLst>
                                        </p:cTn>
                                        <p:tgtEl>
                                          <p:spTgt spid="38"/>
                                        </p:tgtEl>
                                        <p:attrNameLst>
                                          <p:attrName>style.visibility</p:attrName>
                                        </p:attrNameLst>
                                      </p:cBhvr>
                                      <p:to>
                                        <p:strVal val="visible"/>
                                      </p:to>
                                    </p:set>
                                    <p:animEffect transition="in" filter="wipe(left)">
                                      <p:cBhvr>
                                        <p:cTn id="121" dur="500"/>
                                        <p:tgtEl>
                                          <p:spTgt spid="38"/>
                                        </p:tgtEl>
                                      </p:cBhvr>
                                    </p:animEffect>
                                  </p:childTnLst>
                                </p:cTn>
                              </p:par>
                              <p:par>
                                <p:cTn id="125" presetID="22" presetClass="entr" presetSubtype="8" fill="hold" grpId="0" nodeType="withEffect">
                                  <p:stCondLst>
                                    <p:cond delay="450"/>
                                  </p:stCondLst>
                                  <p:childTnLst>
                                    <p:set>
                                      <p:cBhvr>
                                        <p:cTn id="123" dur="1" fill="hold">
                                          <p:stCondLst>
                                            <p:cond delay="0"/>
                                          </p:stCondLst>
                                        </p:cTn>
                                        <p:tgtEl>
                                          <p:spTgt spid="39"/>
                                        </p:tgtEl>
                                        <p:attrNameLst>
                                          <p:attrName>style.visibility</p:attrName>
                                        </p:attrNameLst>
                                      </p:cBhvr>
                                      <p:to>
                                        <p:strVal val="visible"/>
                                      </p:to>
                                    </p:set>
                                    <p:animEffect transition="in" filter="wipe(left)">
                                      <p:cBhvr>
                                        <p:cTn id="124" dur="500"/>
                                        <p:tgtEl>
                                          <p:spTgt spid="39"/>
                                        </p:tgtEl>
                                      </p:cBhvr>
                                    </p:animEffect>
                                  </p:childTnLst>
                                </p:cTn>
                              </p:par>
                              <p:par>
                                <p:cTn id="128" presetID="22" presetClass="entr" presetSubtype="8" fill="hold" grpId="0" nodeType="withEffect">
                                  <p:stCondLst>
                                    <p:cond delay="450"/>
                                  </p:stCondLst>
                                  <p:childTnLst>
                                    <p:set>
                                      <p:cBhvr>
                                        <p:cTn id="126" dur="1" fill="hold">
                                          <p:stCondLst>
                                            <p:cond delay="0"/>
                                          </p:stCondLst>
                                        </p:cTn>
                                        <p:tgtEl>
                                          <p:spTgt spid="46"/>
                                        </p:tgtEl>
                                        <p:attrNameLst>
                                          <p:attrName>style.visibility</p:attrName>
                                        </p:attrNameLst>
                                      </p:cBhvr>
                                      <p:to>
                                        <p:strVal val="visible"/>
                                      </p:to>
                                    </p:set>
                                    <p:animEffect transition="in" filter="wipe(left)">
                                      <p:cBhvr>
                                        <p:cTn id="127" dur="500"/>
                                        <p:tgtEl>
                                          <p:spTgt spid="46"/>
                                        </p:tgtEl>
                                      </p:cBhvr>
                                    </p:animEffect>
                                  </p:childTnLst>
                                </p:cTn>
                              </p:par>
                              <p:par>
                                <p:cTn id="131" presetID="22" presetClass="entr" presetSubtype="8" fill="hold" grpId="0" nodeType="withEffect">
                                  <p:stCondLst>
                                    <p:cond delay="450"/>
                                  </p:stCondLst>
                                  <p:childTnLst>
                                    <p:set>
                                      <p:cBhvr>
                                        <p:cTn id="129" dur="1" fill="hold">
                                          <p:stCondLst>
                                            <p:cond delay="0"/>
                                          </p:stCondLst>
                                        </p:cTn>
                                        <p:tgtEl>
                                          <p:spTgt spid="47"/>
                                        </p:tgtEl>
                                        <p:attrNameLst>
                                          <p:attrName>style.visibility</p:attrName>
                                        </p:attrNameLst>
                                      </p:cBhvr>
                                      <p:to>
                                        <p:strVal val="visible"/>
                                      </p:to>
                                    </p:set>
                                    <p:animEffect transition="in" filter="wipe(left)">
                                      <p:cBhvr>
                                        <p:cTn id="13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Log: The Simplest Data Structure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Not just a text file for humans - a data structure that systems can build on</a:t>
            </a:r>
          </a:p>
        </p:txBody>
      </p:sp>
      <p:sp>
        <p:nvSpPr>
          <p:cNvPr id="11" name="a1u_card10"/>
          <p:cNvSpPr/>
          <p:nvPr/>
        </p:nvSpPr>
        <p:spPr>
          <a:xfrm>
            <a:off x="457200" y="1234440"/>
            <a:ext cx="8229600" cy="868680"/>
          </a:xfrm>
          <a:prstGeom prst="roundRect">
            <a:avLst>
              <a:gd name="adj" fmla="val 1263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50292" cy="86868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q12"/>
          <p:cNvSpPr txBox="1"/>
          <p:nvPr/>
        </p:nvSpPr>
        <p:spPr>
          <a:xfrm>
            <a:off x="685800" y="1280160"/>
            <a:ext cx="7863840" cy="475488"/>
          </a:xfrm>
          <a:prstGeom prst="rect">
            <a:avLst/>
          </a:prstGeom>
          <a:noFill/>
        </p:spPr>
        <p:txBody>
          <a:bodyPr wrap="square" lIns="0" tIns="0" rIns="0" bIns="0" anchor="ctr">
            <a:spAutoFit/>
          </a:bodyPr>
          <a:lstStyle/>
          <a:p>
            <a:pPr algn="l"/>
            <a:r>
              <a:rPr sz="1450" b="1" i="1">
                <a:solidFill>
                  <a:srgbClr val="C2410C"/>
                </a:solidFill>
                <a:latin typeface="Segoe UI"/>
              </a:rPr>
              <a:t>"An append-only, totally-ordered sequence of records ordered by time."</a:t>
            </a:r>
          </a:p>
        </p:txBody>
      </p:sp>
      <p:sp>
        <p:nvSpPr>
          <p:cNvPr id="14" name="a1u_src13"/>
          <p:cNvSpPr txBox="1"/>
          <p:nvPr/>
        </p:nvSpPr>
        <p:spPr>
          <a:xfrm>
            <a:off x="685800" y="1755648"/>
            <a:ext cx="7863840" cy="256032"/>
          </a:xfrm>
          <a:prstGeom prst="rect">
            <a:avLst/>
          </a:prstGeom>
          <a:noFill/>
        </p:spPr>
        <p:txBody>
          <a:bodyPr wrap="square" lIns="0" tIns="0" rIns="0" bIns="0" anchor="ctr">
            <a:spAutoFit/>
          </a:bodyPr>
          <a:lstStyle/>
          <a:p>
            <a:pPr algn="l"/>
            <a:r>
              <a:rPr sz="850" b="0">
                <a:solidFill>
                  <a:srgbClr val="78716C"/>
                </a:solidFill>
                <a:latin typeface="Segoe UI"/>
              </a:rPr>
              <a:t>Jay Kreps, The Log (LinkedIn Engineering, 2013)</a:t>
            </a:r>
          </a:p>
        </p:txBody>
      </p:sp>
      <p:sp>
        <p:nvSpPr>
          <p:cNvPr id="15" name="a2f_lb14"/>
          <p:cNvSpPr txBox="1"/>
          <p:nvPr/>
        </p:nvSpPr>
        <p:spPr>
          <a:xfrm>
            <a:off x="731520" y="2258568"/>
            <a:ext cx="2743200" cy="201168"/>
          </a:xfrm>
          <a:prstGeom prst="rect">
            <a:avLst/>
          </a:prstGeom>
          <a:noFill/>
        </p:spPr>
        <p:txBody>
          <a:bodyPr wrap="square" lIns="0" tIns="0" rIns="0" bIns="0" anchor="ctr">
            <a:spAutoFit/>
          </a:bodyPr>
          <a:lstStyle/>
          <a:p>
            <a:pPr algn="l"/>
            <a:r>
              <a:rPr sz="800" b="1">
                <a:solidFill>
                  <a:srgbClr val="78716C"/>
                </a:solidFill>
                <a:latin typeface="Segoe UI"/>
              </a:rPr>
              <a:t>first record</a:t>
            </a:r>
          </a:p>
        </p:txBody>
      </p:sp>
      <p:sp>
        <p:nvSpPr>
          <p:cNvPr id="16" name="a2w_cell15"/>
          <p:cNvSpPr/>
          <p:nvPr/>
        </p:nvSpPr>
        <p:spPr>
          <a:xfrm>
            <a:off x="731520" y="2487168"/>
            <a:ext cx="566928" cy="420624"/>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w_cellt16"/>
          <p:cNvSpPr txBox="1"/>
          <p:nvPr/>
        </p:nvSpPr>
        <p:spPr>
          <a:xfrm>
            <a:off x="731520" y="2487168"/>
            <a:ext cx="566928" cy="420624"/>
          </a:xfrm>
          <a:prstGeom prst="rect">
            <a:avLst/>
          </a:prstGeom>
          <a:noFill/>
        </p:spPr>
        <p:txBody>
          <a:bodyPr wrap="square" lIns="0" tIns="0" rIns="0" bIns="0" anchor="ctr">
            <a:spAutoFit/>
          </a:bodyPr>
          <a:lstStyle/>
          <a:p>
            <a:pPr algn="ctr"/>
            <a:r>
              <a:rPr sz="1000" b="1">
                <a:solidFill>
                  <a:srgbClr val="C2410C"/>
                </a:solidFill>
                <a:latin typeface="Consolas"/>
              </a:rPr>
              <a:t>0</a:t>
            </a:r>
          </a:p>
        </p:txBody>
      </p:sp>
      <p:sp>
        <p:nvSpPr>
          <p:cNvPr id="18" name="a2wd50_cell17"/>
          <p:cNvSpPr/>
          <p:nvPr/>
        </p:nvSpPr>
        <p:spPr>
          <a:xfrm>
            <a:off x="1298448" y="2487168"/>
            <a:ext cx="566928" cy="420624"/>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2wd50_cellt18"/>
          <p:cNvSpPr txBox="1"/>
          <p:nvPr/>
        </p:nvSpPr>
        <p:spPr>
          <a:xfrm>
            <a:off x="1298448" y="2487168"/>
            <a:ext cx="566928" cy="420624"/>
          </a:xfrm>
          <a:prstGeom prst="rect">
            <a:avLst/>
          </a:prstGeom>
          <a:noFill/>
        </p:spPr>
        <p:txBody>
          <a:bodyPr wrap="square" lIns="0" tIns="0" rIns="0" bIns="0" anchor="ctr">
            <a:spAutoFit/>
          </a:bodyPr>
          <a:lstStyle/>
          <a:p>
            <a:pPr algn="ctr"/>
            <a:r>
              <a:rPr sz="1000" b="1">
                <a:solidFill>
                  <a:srgbClr val="C2410C"/>
                </a:solidFill>
                <a:latin typeface="Consolas"/>
              </a:rPr>
              <a:t>1</a:t>
            </a:r>
          </a:p>
        </p:txBody>
      </p:sp>
      <p:sp>
        <p:nvSpPr>
          <p:cNvPr id="20" name="a2wd100_cell19"/>
          <p:cNvSpPr/>
          <p:nvPr/>
        </p:nvSpPr>
        <p:spPr>
          <a:xfrm>
            <a:off x="1865376" y="2487168"/>
            <a:ext cx="566928" cy="420624"/>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wd100_cellt20"/>
          <p:cNvSpPr txBox="1"/>
          <p:nvPr/>
        </p:nvSpPr>
        <p:spPr>
          <a:xfrm>
            <a:off x="1865376" y="2487168"/>
            <a:ext cx="566928" cy="420624"/>
          </a:xfrm>
          <a:prstGeom prst="rect">
            <a:avLst/>
          </a:prstGeom>
          <a:noFill/>
        </p:spPr>
        <p:txBody>
          <a:bodyPr wrap="square" lIns="0" tIns="0" rIns="0" bIns="0" anchor="ctr">
            <a:spAutoFit/>
          </a:bodyPr>
          <a:lstStyle/>
          <a:p>
            <a:pPr algn="ctr"/>
            <a:r>
              <a:rPr sz="1000" b="1">
                <a:solidFill>
                  <a:srgbClr val="C2410C"/>
                </a:solidFill>
                <a:latin typeface="Consolas"/>
              </a:rPr>
              <a:t>2</a:t>
            </a:r>
          </a:p>
        </p:txBody>
      </p:sp>
      <p:sp>
        <p:nvSpPr>
          <p:cNvPr id="22" name="a2wd150_cell21"/>
          <p:cNvSpPr/>
          <p:nvPr/>
        </p:nvSpPr>
        <p:spPr>
          <a:xfrm>
            <a:off x="2432304" y="2487168"/>
            <a:ext cx="566928" cy="420624"/>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wd150_cellt22"/>
          <p:cNvSpPr txBox="1"/>
          <p:nvPr/>
        </p:nvSpPr>
        <p:spPr>
          <a:xfrm>
            <a:off x="2432304" y="2487168"/>
            <a:ext cx="566928" cy="420624"/>
          </a:xfrm>
          <a:prstGeom prst="rect">
            <a:avLst/>
          </a:prstGeom>
          <a:noFill/>
        </p:spPr>
        <p:txBody>
          <a:bodyPr wrap="square" lIns="0" tIns="0" rIns="0" bIns="0" anchor="ctr">
            <a:spAutoFit/>
          </a:bodyPr>
          <a:lstStyle/>
          <a:p>
            <a:pPr algn="ctr"/>
            <a:r>
              <a:rPr sz="1000" b="1">
                <a:solidFill>
                  <a:srgbClr val="C2410C"/>
                </a:solidFill>
                <a:latin typeface="Consolas"/>
              </a:rPr>
              <a:t>3</a:t>
            </a:r>
          </a:p>
        </p:txBody>
      </p:sp>
      <p:sp>
        <p:nvSpPr>
          <p:cNvPr id="24" name="a2wd200_cell23"/>
          <p:cNvSpPr/>
          <p:nvPr/>
        </p:nvSpPr>
        <p:spPr>
          <a:xfrm>
            <a:off x="2999232" y="2487168"/>
            <a:ext cx="566928" cy="420624"/>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wd200_cellt24"/>
          <p:cNvSpPr txBox="1"/>
          <p:nvPr/>
        </p:nvSpPr>
        <p:spPr>
          <a:xfrm>
            <a:off x="2999232" y="2487168"/>
            <a:ext cx="566928" cy="420624"/>
          </a:xfrm>
          <a:prstGeom prst="rect">
            <a:avLst/>
          </a:prstGeom>
          <a:noFill/>
        </p:spPr>
        <p:txBody>
          <a:bodyPr wrap="square" lIns="0" tIns="0" rIns="0" bIns="0" anchor="ctr">
            <a:spAutoFit/>
          </a:bodyPr>
          <a:lstStyle/>
          <a:p>
            <a:pPr algn="ctr"/>
            <a:r>
              <a:rPr sz="1000" b="1">
                <a:solidFill>
                  <a:srgbClr val="C2410C"/>
                </a:solidFill>
                <a:latin typeface="Consolas"/>
              </a:rPr>
              <a:t>4</a:t>
            </a:r>
          </a:p>
        </p:txBody>
      </p:sp>
      <p:sp>
        <p:nvSpPr>
          <p:cNvPr id="26" name="a2wd250_cell25"/>
          <p:cNvSpPr/>
          <p:nvPr/>
        </p:nvSpPr>
        <p:spPr>
          <a:xfrm>
            <a:off x="3566160" y="2487168"/>
            <a:ext cx="566928" cy="420624"/>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wd250_cellt26"/>
          <p:cNvSpPr txBox="1"/>
          <p:nvPr/>
        </p:nvSpPr>
        <p:spPr>
          <a:xfrm>
            <a:off x="3566160" y="2487168"/>
            <a:ext cx="566928" cy="420624"/>
          </a:xfrm>
          <a:prstGeom prst="rect">
            <a:avLst/>
          </a:prstGeom>
          <a:noFill/>
        </p:spPr>
        <p:txBody>
          <a:bodyPr wrap="square" lIns="0" tIns="0" rIns="0" bIns="0" anchor="ctr">
            <a:spAutoFit/>
          </a:bodyPr>
          <a:lstStyle/>
          <a:p>
            <a:pPr algn="ctr"/>
            <a:r>
              <a:rPr sz="1000" b="1">
                <a:solidFill>
                  <a:srgbClr val="C2410C"/>
                </a:solidFill>
                <a:latin typeface="Consolas"/>
              </a:rPr>
              <a:t>5</a:t>
            </a:r>
          </a:p>
        </p:txBody>
      </p:sp>
      <p:sp>
        <p:nvSpPr>
          <p:cNvPr id="28" name="a2wd300_cell27"/>
          <p:cNvSpPr/>
          <p:nvPr/>
        </p:nvSpPr>
        <p:spPr>
          <a:xfrm>
            <a:off x="4133087" y="2487168"/>
            <a:ext cx="566928" cy="420624"/>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wd300_cellt28"/>
          <p:cNvSpPr txBox="1"/>
          <p:nvPr/>
        </p:nvSpPr>
        <p:spPr>
          <a:xfrm>
            <a:off x="4133087" y="2487168"/>
            <a:ext cx="566928" cy="420624"/>
          </a:xfrm>
          <a:prstGeom prst="rect">
            <a:avLst/>
          </a:prstGeom>
          <a:noFill/>
        </p:spPr>
        <p:txBody>
          <a:bodyPr wrap="square" lIns="0" tIns="0" rIns="0" bIns="0" anchor="ctr">
            <a:spAutoFit/>
          </a:bodyPr>
          <a:lstStyle/>
          <a:p>
            <a:pPr algn="ctr"/>
            <a:r>
              <a:rPr sz="1000" b="1">
                <a:solidFill>
                  <a:srgbClr val="C2410C"/>
                </a:solidFill>
                <a:latin typeface="Consolas"/>
              </a:rPr>
              <a:t>6</a:t>
            </a:r>
          </a:p>
        </p:txBody>
      </p:sp>
      <p:sp>
        <p:nvSpPr>
          <p:cNvPr id="30" name="a2wd350_cell29"/>
          <p:cNvSpPr/>
          <p:nvPr/>
        </p:nvSpPr>
        <p:spPr>
          <a:xfrm>
            <a:off x="4700016" y="2487168"/>
            <a:ext cx="566928" cy="420624"/>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2wd350_cellt30"/>
          <p:cNvSpPr txBox="1"/>
          <p:nvPr/>
        </p:nvSpPr>
        <p:spPr>
          <a:xfrm>
            <a:off x="4700016" y="2487168"/>
            <a:ext cx="566928" cy="420624"/>
          </a:xfrm>
          <a:prstGeom prst="rect">
            <a:avLst/>
          </a:prstGeom>
          <a:noFill/>
        </p:spPr>
        <p:txBody>
          <a:bodyPr wrap="square" lIns="0" tIns="0" rIns="0" bIns="0" anchor="ctr">
            <a:spAutoFit/>
          </a:bodyPr>
          <a:lstStyle/>
          <a:p>
            <a:pPr algn="ctr"/>
            <a:r>
              <a:rPr sz="1000" b="1">
                <a:solidFill>
                  <a:srgbClr val="C2410C"/>
                </a:solidFill>
                <a:latin typeface="Consolas"/>
              </a:rPr>
              <a:t>7</a:t>
            </a:r>
          </a:p>
        </p:txBody>
      </p:sp>
      <p:sp>
        <p:nvSpPr>
          <p:cNvPr id="32" name="a2wd400_cell31"/>
          <p:cNvSpPr/>
          <p:nvPr/>
        </p:nvSpPr>
        <p:spPr>
          <a:xfrm>
            <a:off x="5266944" y="2487168"/>
            <a:ext cx="566928" cy="420624"/>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wd400_cellt32"/>
          <p:cNvSpPr txBox="1"/>
          <p:nvPr/>
        </p:nvSpPr>
        <p:spPr>
          <a:xfrm>
            <a:off x="5266944" y="2487168"/>
            <a:ext cx="566928" cy="420624"/>
          </a:xfrm>
          <a:prstGeom prst="rect">
            <a:avLst/>
          </a:prstGeom>
          <a:noFill/>
        </p:spPr>
        <p:txBody>
          <a:bodyPr wrap="square" lIns="0" tIns="0" rIns="0" bIns="0" anchor="ctr">
            <a:spAutoFit/>
          </a:bodyPr>
          <a:lstStyle/>
          <a:p>
            <a:pPr algn="ctr"/>
            <a:r>
              <a:rPr sz="1000" b="1">
                <a:solidFill>
                  <a:srgbClr val="C2410C"/>
                </a:solidFill>
                <a:latin typeface="Consolas"/>
              </a:rPr>
              <a:t>8</a:t>
            </a:r>
          </a:p>
        </p:txBody>
      </p:sp>
      <p:sp>
        <p:nvSpPr>
          <p:cNvPr id="34" name="a2wd450_cell33"/>
          <p:cNvSpPr/>
          <p:nvPr/>
        </p:nvSpPr>
        <p:spPr>
          <a:xfrm>
            <a:off x="5833872" y="2487168"/>
            <a:ext cx="566928" cy="420624"/>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2wd450_cellt34"/>
          <p:cNvSpPr txBox="1"/>
          <p:nvPr/>
        </p:nvSpPr>
        <p:spPr>
          <a:xfrm>
            <a:off x="5833872" y="2487168"/>
            <a:ext cx="566928" cy="420624"/>
          </a:xfrm>
          <a:prstGeom prst="rect">
            <a:avLst/>
          </a:prstGeom>
          <a:noFill/>
        </p:spPr>
        <p:txBody>
          <a:bodyPr wrap="square" lIns="0" tIns="0" rIns="0" bIns="0" anchor="ctr">
            <a:spAutoFit/>
          </a:bodyPr>
          <a:lstStyle/>
          <a:p>
            <a:pPr algn="ctr"/>
            <a:r>
              <a:rPr sz="1000" b="1">
                <a:solidFill>
                  <a:srgbClr val="C2410C"/>
                </a:solidFill>
                <a:latin typeface="Consolas"/>
              </a:rPr>
              <a:t>9</a:t>
            </a:r>
          </a:p>
        </p:txBody>
      </p:sp>
      <p:cxnSp>
        <p:nvCxnSpPr>
          <p:cNvPr id="36" name="a2fd500_ar35"/>
          <p:cNvCxnSpPr/>
          <p:nvPr/>
        </p:nvCxnSpPr>
        <p:spPr>
          <a:xfrm>
            <a:off x="6446520" y="2697480"/>
            <a:ext cx="502920"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a2fd500_lb36"/>
          <p:cNvSpPr txBox="1"/>
          <p:nvPr/>
        </p:nvSpPr>
        <p:spPr>
          <a:xfrm>
            <a:off x="6995160" y="2560320"/>
            <a:ext cx="1691640" cy="292608"/>
          </a:xfrm>
          <a:prstGeom prst="rect">
            <a:avLst/>
          </a:prstGeom>
          <a:noFill/>
        </p:spPr>
        <p:txBody>
          <a:bodyPr wrap="square" lIns="0" tIns="0" rIns="0" bIns="0" anchor="ctr">
            <a:spAutoFit/>
          </a:bodyPr>
          <a:lstStyle/>
          <a:p>
            <a:pPr algn="l"/>
            <a:r>
              <a:rPr sz="850" b="1">
                <a:solidFill>
                  <a:srgbClr val="C2410C"/>
                </a:solidFill>
                <a:latin typeface="Segoe UI"/>
              </a:rPr>
              <a:t>next record is written here</a:t>
            </a:r>
          </a:p>
        </p:txBody>
      </p:sp>
      <p:cxnSp>
        <p:nvCxnSpPr>
          <p:cNvPr id="38" name="a3u_ar37"/>
          <p:cNvCxnSpPr/>
          <p:nvPr/>
        </p:nvCxnSpPr>
        <p:spPr>
          <a:xfrm flipV="1">
            <a:off x="2715768" y="2944368"/>
            <a:ext cx="0" cy="365760"/>
          </a:xfrm>
          <a:prstGeom prst="line">
            <a:avLst/>
          </a:prstGeom>
          <a:ln w="158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a3u_lb38"/>
          <p:cNvSpPr txBox="1"/>
          <p:nvPr/>
        </p:nvSpPr>
        <p:spPr>
          <a:xfrm>
            <a:off x="1984248" y="3328416"/>
            <a:ext cx="1463040" cy="201168"/>
          </a:xfrm>
          <a:prstGeom prst="rect">
            <a:avLst/>
          </a:prstGeom>
          <a:noFill/>
        </p:spPr>
        <p:txBody>
          <a:bodyPr wrap="square" lIns="0" tIns="0" rIns="0" bIns="0" anchor="ctr">
            <a:spAutoFit/>
          </a:bodyPr>
          <a:lstStyle/>
          <a:p>
            <a:pPr algn="ctr"/>
            <a:r>
              <a:rPr sz="850" b="1">
                <a:solidFill>
                  <a:srgbClr val="0E7490"/>
                </a:solidFill>
                <a:latin typeface="Segoe UI"/>
              </a:rPr>
              <a:t>reader A is at 3</a:t>
            </a:r>
          </a:p>
        </p:txBody>
      </p:sp>
      <p:cxnSp>
        <p:nvCxnSpPr>
          <p:cNvPr id="40" name="a3u_ar39"/>
          <p:cNvCxnSpPr/>
          <p:nvPr/>
        </p:nvCxnSpPr>
        <p:spPr>
          <a:xfrm flipV="1">
            <a:off x="5550407" y="2944368"/>
            <a:ext cx="0" cy="365760"/>
          </a:xfrm>
          <a:prstGeom prst="line">
            <a:avLst/>
          </a:prstGeom>
          <a:ln w="1587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a3u_lb40"/>
          <p:cNvSpPr txBox="1"/>
          <p:nvPr/>
        </p:nvSpPr>
        <p:spPr>
          <a:xfrm>
            <a:off x="4818888" y="3328416"/>
            <a:ext cx="1463040" cy="201168"/>
          </a:xfrm>
          <a:prstGeom prst="rect">
            <a:avLst/>
          </a:prstGeom>
          <a:noFill/>
        </p:spPr>
        <p:txBody>
          <a:bodyPr wrap="square" lIns="0" tIns="0" rIns="0" bIns="0" anchor="ctr">
            <a:spAutoFit/>
          </a:bodyPr>
          <a:lstStyle/>
          <a:p>
            <a:pPr algn="ctr"/>
            <a:r>
              <a:rPr sz="850" b="1">
                <a:solidFill>
                  <a:srgbClr val="A16207"/>
                </a:solidFill>
                <a:latin typeface="Segoe UI"/>
              </a:rPr>
              <a:t>reader B is at 8</a:t>
            </a:r>
          </a:p>
        </p:txBody>
      </p:sp>
      <p:sp>
        <p:nvSpPr>
          <p:cNvPr id="42" name="a4u_nb41"/>
          <p:cNvSpPr/>
          <p:nvPr/>
        </p:nvSpPr>
        <p:spPr>
          <a:xfrm>
            <a:off x="457200" y="3749039"/>
            <a:ext cx="8229600" cy="640080"/>
          </a:xfrm>
          <a:prstGeom prst="roundRect">
            <a:avLst>
              <a:gd name="adj" fmla="val 11428"/>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4u_nacc42"/>
          <p:cNvSpPr/>
          <p:nvPr/>
        </p:nvSpPr>
        <p:spPr>
          <a:xfrm>
            <a:off x="457200" y="3749039"/>
            <a:ext cx="54864" cy="6400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4u_nt43"/>
          <p:cNvSpPr txBox="1"/>
          <p:nvPr/>
        </p:nvSpPr>
        <p:spPr>
          <a:xfrm>
            <a:off x="658368" y="3749039"/>
            <a:ext cx="7827264" cy="640080"/>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Writers only append. Each reader keeps its own position (an offset) and moves forward at its own pace - or goes back and reads again.</a:t>
            </a:r>
          </a:p>
        </p:txBody>
      </p:sp>
      <p:sp>
        <p:nvSpPr>
          <p:cNvPr id="45" name="ft4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45</a:t>
            </a:r>
          </a:p>
        </p:txBody>
      </p:sp>
      <p:sp>
        <p:nvSpPr>
          <p:cNvPr id="46" name="ft4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ft4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8" name="ft4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9"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32" presetID="22" presetClass="entr" presetSubtype="8"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left)">
                                      <p:cBhvr>
                                        <p:cTn id="31" dur="500"/>
                                        <p:tgtEl>
                                          <p:spTgt spid="16"/>
                                        </p:tgtEl>
                                      </p:cBhvr>
                                    </p:animEffect>
                                  </p:childTnLst>
                                </p:cTn>
                              </p:par>
                              <p:par>
                                <p:cTn id="35" presetID="22" presetClass="entr" presetSubtype="8"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par>
                                <p:cTn id="38" presetID="22" presetClass="entr" presetSubtype="8" fill="hold" grpId="0" nodeType="withEffect">
                                  <p:stCondLst>
                                    <p:cond delay="5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par>
                                <p:cTn id="41" presetID="22" presetClass="entr" presetSubtype="8" fill="hold" grpId="0" nodeType="withEffect">
                                  <p:stCondLst>
                                    <p:cond delay="5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500"/>
                                        <p:tgtEl>
                                          <p:spTgt spid="19"/>
                                        </p:tgtEl>
                                      </p:cBhvr>
                                    </p:animEffect>
                                  </p:childTnLst>
                                </p:cTn>
                              </p:par>
                              <p:par>
                                <p:cTn id="44" presetID="22" presetClass="entr" presetSubtype="8" fill="hold" grpId="0" nodeType="withEffect">
                                  <p:stCondLst>
                                    <p:cond delay="10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par>
                                <p:cTn id="47" presetID="22" presetClass="entr" presetSubtype="8" fill="hold" grpId="0" nodeType="withEffect">
                                  <p:stCondLst>
                                    <p:cond delay="100"/>
                                  </p:stCondLst>
                                  <p:childTnLst>
                                    <p:set>
                                      <p:cBhvr>
                                        <p:cTn id="45" dur="1" fill="hold">
                                          <p:stCondLst>
                                            <p:cond delay="0"/>
                                          </p:stCondLst>
                                        </p:cTn>
                                        <p:tgtEl>
                                          <p:spTgt spid="21"/>
                                        </p:tgtEl>
                                        <p:attrNameLst>
                                          <p:attrName>style.visibility</p:attrName>
                                        </p:attrNameLst>
                                      </p:cBhvr>
                                      <p:to>
                                        <p:strVal val="visible"/>
                                      </p:to>
                                    </p:set>
                                    <p:animEffect transition="in" filter="wipe(left)">
                                      <p:cBhvr>
                                        <p:cTn id="46" dur="500"/>
                                        <p:tgtEl>
                                          <p:spTgt spid="21"/>
                                        </p:tgtEl>
                                      </p:cBhvr>
                                    </p:animEffect>
                                  </p:childTnLst>
                                </p:cTn>
                              </p:par>
                              <p:par>
                                <p:cTn id="50" presetID="22" presetClass="entr" presetSubtype="8" fill="hold" grpId="0" nodeType="withEffect">
                                  <p:stCondLst>
                                    <p:cond delay="150"/>
                                  </p:stCondLst>
                                  <p:childTnLst>
                                    <p:set>
                                      <p:cBhvr>
                                        <p:cTn id="48" dur="1" fill="hold">
                                          <p:stCondLst>
                                            <p:cond delay="0"/>
                                          </p:stCondLst>
                                        </p:cTn>
                                        <p:tgtEl>
                                          <p:spTgt spid="22"/>
                                        </p:tgtEl>
                                        <p:attrNameLst>
                                          <p:attrName>style.visibility</p:attrName>
                                        </p:attrNameLst>
                                      </p:cBhvr>
                                      <p:to>
                                        <p:strVal val="visible"/>
                                      </p:to>
                                    </p:set>
                                    <p:animEffect transition="in" filter="wipe(left)">
                                      <p:cBhvr>
                                        <p:cTn id="49" dur="500"/>
                                        <p:tgtEl>
                                          <p:spTgt spid="22"/>
                                        </p:tgtEl>
                                      </p:cBhvr>
                                    </p:animEffect>
                                  </p:childTnLst>
                                </p:cTn>
                              </p:par>
                              <p:par>
                                <p:cTn id="53" presetID="22" presetClass="entr" presetSubtype="8" fill="hold" grpId="0" nodeType="withEffect">
                                  <p:stCondLst>
                                    <p:cond delay="150"/>
                                  </p:stCondLst>
                                  <p:childTnLst>
                                    <p:set>
                                      <p:cBhvr>
                                        <p:cTn id="51" dur="1" fill="hold">
                                          <p:stCondLst>
                                            <p:cond delay="0"/>
                                          </p:stCondLst>
                                        </p:cTn>
                                        <p:tgtEl>
                                          <p:spTgt spid="23"/>
                                        </p:tgtEl>
                                        <p:attrNameLst>
                                          <p:attrName>style.visibility</p:attrName>
                                        </p:attrNameLst>
                                      </p:cBhvr>
                                      <p:to>
                                        <p:strVal val="visible"/>
                                      </p:to>
                                    </p:set>
                                    <p:animEffect transition="in" filter="wipe(left)">
                                      <p:cBhvr>
                                        <p:cTn id="52" dur="500"/>
                                        <p:tgtEl>
                                          <p:spTgt spid="23"/>
                                        </p:tgtEl>
                                      </p:cBhvr>
                                    </p:animEffect>
                                  </p:childTnLst>
                                </p:cTn>
                              </p:par>
                              <p:par>
                                <p:cTn id="56" presetID="22" presetClass="entr" presetSubtype="8" fill="hold" grpId="0" nodeType="withEffect">
                                  <p:stCondLst>
                                    <p:cond delay="200"/>
                                  </p:stCondLst>
                                  <p:childTnLst>
                                    <p:set>
                                      <p:cBhvr>
                                        <p:cTn id="54" dur="1" fill="hold">
                                          <p:stCondLst>
                                            <p:cond delay="0"/>
                                          </p:stCondLst>
                                        </p:cTn>
                                        <p:tgtEl>
                                          <p:spTgt spid="24"/>
                                        </p:tgtEl>
                                        <p:attrNameLst>
                                          <p:attrName>style.visibility</p:attrName>
                                        </p:attrNameLst>
                                      </p:cBhvr>
                                      <p:to>
                                        <p:strVal val="visible"/>
                                      </p:to>
                                    </p:set>
                                    <p:animEffect transition="in" filter="wipe(left)">
                                      <p:cBhvr>
                                        <p:cTn id="55" dur="500"/>
                                        <p:tgtEl>
                                          <p:spTgt spid="24"/>
                                        </p:tgtEl>
                                      </p:cBhvr>
                                    </p:animEffect>
                                  </p:childTnLst>
                                </p:cTn>
                              </p:par>
                              <p:par>
                                <p:cTn id="59" presetID="22" presetClass="entr" presetSubtype="8" fill="hold" grpId="0" nodeType="withEffect">
                                  <p:stCondLst>
                                    <p:cond delay="200"/>
                                  </p:stCondLst>
                                  <p:childTnLst>
                                    <p:set>
                                      <p:cBhvr>
                                        <p:cTn id="57" dur="1" fill="hold">
                                          <p:stCondLst>
                                            <p:cond delay="0"/>
                                          </p:stCondLst>
                                        </p:cTn>
                                        <p:tgtEl>
                                          <p:spTgt spid="25"/>
                                        </p:tgtEl>
                                        <p:attrNameLst>
                                          <p:attrName>style.visibility</p:attrName>
                                        </p:attrNameLst>
                                      </p:cBhvr>
                                      <p:to>
                                        <p:strVal val="visible"/>
                                      </p:to>
                                    </p:set>
                                    <p:animEffect transition="in" filter="wipe(left)">
                                      <p:cBhvr>
                                        <p:cTn id="58" dur="500"/>
                                        <p:tgtEl>
                                          <p:spTgt spid="25"/>
                                        </p:tgtEl>
                                      </p:cBhvr>
                                    </p:animEffect>
                                  </p:childTnLst>
                                </p:cTn>
                              </p:par>
                              <p:par>
                                <p:cTn id="62" presetID="22" presetClass="entr" presetSubtype="8" fill="hold" grpId="0" nodeType="withEffect">
                                  <p:stCondLst>
                                    <p:cond delay="250"/>
                                  </p:stCondLst>
                                  <p:childTnLst>
                                    <p:set>
                                      <p:cBhvr>
                                        <p:cTn id="60" dur="1" fill="hold">
                                          <p:stCondLst>
                                            <p:cond delay="0"/>
                                          </p:stCondLst>
                                        </p:cTn>
                                        <p:tgtEl>
                                          <p:spTgt spid="26"/>
                                        </p:tgtEl>
                                        <p:attrNameLst>
                                          <p:attrName>style.visibility</p:attrName>
                                        </p:attrNameLst>
                                      </p:cBhvr>
                                      <p:to>
                                        <p:strVal val="visible"/>
                                      </p:to>
                                    </p:set>
                                    <p:animEffect transition="in" filter="wipe(left)">
                                      <p:cBhvr>
                                        <p:cTn id="61" dur="500"/>
                                        <p:tgtEl>
                                          <p:spTgt spid="26"/>
                                        </p:tgtEl>
                                      </p:cBhvr>
                                    </p:animEffect>
                                  </p:childTnLst>
                                </p:cTn>
                              </p:par>
                              <p:par>
                                <p:cTn id="65" presetID="22" presetClass="entr" presetSubtype="8" fill="hold" grpId="0" nodeType="withEffect">
                                  <p:stCondLst>
                                    <p:cond delay="250"/>
                                  </p:stCondLst>
                                  <p:childTnLst>
                                    <p:set>
                                      <p:cBhvr>
                                        <p:cTn id="63" dur="1" fill="hold">
                                          <p:stCondLst>
                                            <p:cond delay="0"/>
                                          </p:stCondLst>
                                        </p:cTn>
                                        <p:tgtEl>
                                          <p:spTgt spid="27"/>
                                        </p:tgtEl>
                                        <p:attrNameLst>
                                          <p:attrName>style.visibility</p:attrName>
                                        </p:attrNameLst>
                                      </p:cBhvr>
                                      <p:to>
                                        <p:strVal val="visible"/>
                                      </p:to>
                                    </p:set>
                                    <p:animEffect transition="in" filter="wipe(left)">
                                      <p:cBhvr>
                                        <p:cTn id="64" dur="500"/>
                                        <p:tgtEl>
                                          <p:spTgt spid="27"/>
                                        </p:tgtEl>
                                      </p:cBhvr>
                                    </p:animEffect>
                                  </p:childTnLst>
                                </p:cTn>
                              </p:par>
                              <p:par>
                                <p:cTn id="68" presetID="22" presetClass="entr" presetSubtype="8" fill="hold" grpId="0" nodeType="withEffect">
                                  <p:stCondLst>
                                    <p:cond delay="300"/>
                                  </p:stCondLst>
                                  <p:childTnLst>
                                    <p:set>
                                      <p:cBhvr>
                                        <p:cTn id="66" dur="1" fill="hold">
                                          <p:stCondLst>
                                            <p:cond delay="0"/>
                                          </p:stCondLst>
                                        </p:cTn>
                                        <p:tgtEl>
                                          <p:spTgt spid="28"/>
                                        </p:tgtEl>
                                        <p:attrNameLst>
                                          <p:attrName>style.visibility</p:attrName>
                                        </p:attrNameLst>
                                      </p:cBhvr>
                                      <p:to>
                                        <p:strVal val="visible"/>
                                      </p:to>
                                    </p:set>
                                    <p:animEffect transition="in" filter="wipe(left)">
                                      <p:cBhvr>
                                        <p:cTn id="67" dur="500"/>
                                        <p:tgtEl>
                                          <p:spTgt spid="28"/>
                                        </p:tgtEl>
                                      </p:cBhvr>
                                    </p:animEffect>
                                  </p:childTnLst>
                                </p:cTn>
                              </p:par>
                              <p:par>
                                <p:cTn id="71" presetID="22" presetClass="entr" presetSubtype="8" fill="hold" grpId="0" nodeType="withEffect">
                                  <p:stCondLst>
                                    <p:cond delay="300"/>
                                  </p:stCondLst>
                                  <p:childTnLst>
                                    <p:set>
                                      <p:cBhvr>
                                        <p:cTn id="69" dur="1" fill="hold">
                                          <p:stCondLst>
                                            <p:cond delay="0"/>
                                          </p:stCondLst>
                                        </p:cTn>
                                        <p:tgtEl>
                                          <p:spTgt spid="29"/>
                                        </p:tgtEl>
                                        <p:attrNameLst>
                                          <p:attrName>style.visibility</p:attrName>
                                        </p:attrNameLst>
                                      </p:cBhvr>
                                      <p:to>
                                        <p:strVal val="visible"/>
                                      </p:to>
                                    </p:set>
                                    <p:animEffect transition="in" filter="wipe(left)">
                                      <p:cBhvr>
                                        <p:cTn id="70" dur="500"/>
                                        <p:tgtEl>
                                          <p:spTgt spid="29"/>
                                        </p:tgtEl>
                                      </p:cBhvr>
                                    </p:animEffect>
                                  </p:childTnLst>
                                </p:cTn>
                              </p:par>
                              <p:par>
                                <p:cTn id="74" presetID="22" presetClass="entr" presetSubtype="8" fill="hold" grpId="0" nodeType="withEffect">
                                  <p:stCondLst>
                                    <p:cond delay="350"/>
                                  </p:stCondLst>
                                  <p:childTnLst>
                                    <p:set>
                                      <p:cBhvr>
                                        <p:cTn id="72" dur="1" fill="hold">
                                          <p:stCondLst>
                                            <p:cond delay="0"/>
                                          </p:stCondLst>
                                        </p:cTn>
                                        <p:tgtEl>
                                          <p:spTgt spid="30"/>
                                        </p:tgtEl>
                                        <p:attrNameLst>
                                          <p:attrName>style.visibility</p:attrName>
                                        </p:attrNameLst>
                                      </p:cBhvr>
                                      <p:to>
                                        <p:strVal val="visible"/>
                                      </p:to>
                                    </p:set>
                                    <p:animEffect transition="in" filter="wipe(left)">
                                      <p:cBhvr>
                                        <p:cTn id="73" dur="500"/>
                                        <p:tgtEl>
                                          <p:spTgt spid="30"/>
                                        </p:tgtEl>
                                      </p:cBhvr>
                                    </p:animEffect>
                                  </p:childTnLst>
                                </p:cTn>
                              </p:par>
                              <p:par>
                                <p:cTn id="77" presetID="22" presetClass="entr" presetSubtype="8" fill="hold" grpId="0" nodeType="withEffect">
                                  <p:stCondLst>
                                    <p:cond delay="350"/>
                                  </p:stCondLst>
                                  <p:childTnLst>
                                    <p:set>
                                      <p:cBhvr>
                                        <p:cTn id="75" dur="1" fill="hold">
                                          <p:stCondLst>
                                            <p:cond delay="0"/>
                                          </p:stCondLst>
                                        </p:cTn>
                                        <p:tgtEl>
                                          <p:spTgt spid="31"/>
                                        </p:tgtEl>
                                        <p:attrNameLst>
                                          <p:attrName>style.visibility</p:attrName>
                                        </p:attrNameLst>
                                      </p:cBhvr>
                                      <p:to>
                                        <p:strVal val="visible"/>
                                      </p:to>
                                    </p:set>
                                    <p:animEffect transition="in" filter="wipe(left)">
                                      <p:cBhvr>
                                        <p:cTn id="76" dur="500"/>
                                        <p:tgtEl>
                                          <p:spTgt spid="31"/>
                                        </p:tgtEl>
                                      </p:cBhvr>
                                    </p:animEffect>
                                  </p:childTnLst>
                                </p:cTn>
                              </p:par>
                              <p:par>
                                <p:cTn id="80" presetID="22" presetClass="entr" presetSubtype="8" fill="hold" grpId="0" nodeType="withEffect">
                                  <p:stCondLst>
                                    <p:cond delay="400"/>
                                  </p:stCondLst>
                                  <p:childTnLst>
                                    <p:set>
                                      <p:cBhvr>
                                        <p:cTn id="78" dur="1" fill="hold">
                                          <p:stCondLst>
                                            <p:cond delay="0"/>
                                          </p:stCondLst>
                                        </p:cTn>
                                        <p:tgtEl>
                                          <p:spTgt spid="32"/>
                                        </p:tgtEl>
                                        <p:attrNameLst>
                                          <p:attrName>style.visibility</p:attrName>
                                        </p:attrNameLst>
                                      </p:cBhvr>
                                      <p:to>
                                        <p:strVal val="visible"/>
                                      </p:to>
                                    </p:set>
                                    <p:animEffect transition="in" filter="wipe(left)">
                                      <p:cBhvr>
                                        <p:cTn id="79" dur="500"/>
                                        <p:tgtEl>
                                          <p:spTgt spid="32"/>
                                        </p:tgtEl>
                                      </p:cBhvr>
                                    </p:animEffect>
                                  </p:childTnLst>
                                </p:cTn>
                              </p:par>
                              <p:par>
                                <p:cTn id="83" presetID="22" presetClass="entr" presetSubtype="8" fill="hold" grpId="0" nodeType="withEffect">
                                  <p:stCondLst>
                                    <p:cond delay="400"/>
                                  </p:stCondLst>
                                  <p:childTnLst>
                                    <p:set>
                                      <p:cBhvr>
                                        <p:cTn id="81" dur="1" fill="hold">
                                          <p:stCondLst>
                                            <p:cond delay="0"/>
                                          </p:stCondLst>
                                        </p:cTn>
                                        <p:tgtEl>
                                          <p:spTgt spid="33"/>
                                        </p:tgtEl>
                                        <p:attrNameLst>
                                          <p:attrName>style.visibility</p:attrName>
                                        </p:attrNameLst>
                                      </p:cBhvr>
                                      <p:to>
                                        <p:strVal val="visible"/>
                                      </p:to>
                                    </p:set>
                                    <p:animEffect transition="in" filter="wipe(left)">
                                      <p:cBhvr>
                                        <p:cTn id="82" dur="500"/>
                                        <p:tgtEl>
                                          <p:spTgt spid="33"/>
                                        </p:tgtEl>
                                      </p:cBhvr>
                                    </p:animEffect>
                                  </p:childTnLst>
                                </p:cTn>
                              </p:par>
                              <p:par>
                                <p:cTn id="86" presetID="22" presetClass="entr" presetSubtype="8" fill="hold" grpId="0" nodeType="withEffect">
                                  <p:stCondLst>
                                    <p:cond delay="450"/>
                                  </p:stCondLst>
                                  <p:childTnLst>
                                    <p:set>
                                      <p:cBhvr>
                                        <p:cTn id="84" dur="1" fill="hold">
                                          <p:stCondLst>
                                            <p:cond delay="0"/>
                                          </p:stCondLst>
                                        </p:cTn>
                                        <p:tgtEl>
                                          <p:spTgt spid="34"/>
                                        </p:tgtEl>
                                        <p:attrNameLst>
                                          <p:attrName>style.visibility</p:attrName>
                                        </p:attrNameLst>
                                      </p:cBhvr>
                                      <p:to>
                                        <p:strVal val="visible"/>
                                      </p:to>
                                    </p:set>
                                    <p:animEffect transition="in" filter="wipe(left)">
                                      <p:cBhvr>
                                        <p:cTn id="85" dur="500"/>
                                        <p:tgtEl>
                                          <p:spTgt spid="34"/>
                                        </p:tgtEl>
                                      </p:cBhvr>
                                    </p:animEffect>
                                  </p:childTnLst>
                                </p:cTn>
                              </p:par>
                              <p:par>
                                <p:cTn id="89" presetID="22" presetClass="entr" presetSubtype="8" fill="hold" grpId="0" nodeType="withEffect">
                                  <p:stCondLst>
                                    <p:cond delay="450"/>
                                  </p:stCondLst>
                                  <p:childTnLst>
                                    <p:set>
                                      <p:cBhvr>
                                        <p:cTn id="87" dur="1" fill="hold">
                                          <p:stCondLst>
                                            <p:cond delay="0"/>
                                          </p:stCondLst>
                                        </p:cTn>
                                        <p:tgtEl>
                                          <p:spTgt spid="35"/>
                                        </p:tgtEl>
                                        <p:attrNameLst>
                                          <p:attrName>style.visibility</p:attrName>
                                        </p:attrNameLst>
                                      </p:cBhvr>
                                      <p:to>
                                        <p:strVal val="visible"/>
                                      </p:to>
                                    </p:set>
                                    <p:animEffect transition="in" filter="wipe(left)">
                                      <p:cBhvr>
                                        <p:cTn id="88" dur="500"/>
                                        <p:tgtEl>
                                          <p:spTgt spid="35"/>
                                        </p:tgtEl>
                                      </p:cBhvr>
                                    </p:animEffect>
                                  </p:childTnLst>
                                </p:cTn>
                              </p:par>
                              <p:par>
                                <p:cTn id="92" presetID="10" presetClass="entr" presetSubtype="0" fill="hold" grpId="0" nodeType="withEffect">
                                  <p:stCondLst>
                                    <p:cond delay="50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500"/>
                                        <p:tgtEl>
                                          <p:spTgt spid="36"/>
                                        </p:tgtEl>
                                      </p:cBhvr>
                                    </p:animEffect>
                                  </p:childTnLst>
                                </p:cTn>
                              </p:par>
                              <p:par>
                                <p:cTn id="95" presetID="10" presetClass="entr" presetSubtype="0" fill="hold" grpId="0" nodeType="withEffect">
                                  <p:stCondLst>
                                    <p:cond delay="50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500"/>
                                        <p:tgtEl>
                                          <p:spTgt spid="37"/>
                                        </p:tgtEl>
                                      </p:cBhvr>
                                    </p:animEffect>
                                  </p:childTnLst>
                                </p:cTn>
                              </p:par>
                            </p:childTnLst>
                          </p:cTn>
                        </p:par>
                      </p:childTnLst>
                    </p:cTn>
                  </p:par>
                  <p:par>
                    <p:cTn id="96" fill="hold">
                      <p:stCondLst>
                        <p:cond delay="indefinite"/>
                      </p:stCondLst>
                      <p:childTnLst>
                        <p:par>
                          <p:cTn id="97" fill="hold">
                            <p:stCondLst>
                              <p:cond delay="0"/>
                            </p:stCondLst>
                            <p:childTnLst>
                              <p:par>
                                <p:cTn id="102" presetID="2" presetClass="entr" presetSubtype="4" fill="hold" grpId="0" nodeType="clickEffect">
                                  <p:stCondLst>
                                    <p:cond delay="0"/>
                                  </p:stCondLst>
                                  <p:childTnLst>
                                    <p:set>
                                      <p:cBhvr>
                                        <p:cTn id="98" dur="1" fill="hold">
                                          <p:stCondLst>
                                            <p:cond delay="0"/>
                                          </p:stCondLst>
                                        </p:cTn>
                                        <p:tgtEl>
                                          <p:spTgt spid="38"/>
                                        </p:tgtEl>
                                        <p:attrNameLst>
                                          <p:attrName>style.visibility</p:attrName>
                                        </p:attrNameLst>
                                      </p:cBhvr>
                                      <p:to>
                                        <p:strVal val="visible"/>
                                      </p:to>
                                    </p:set>
                                    <p:anim calcmode="lin" valueType="num">
                                      <p:cBhvr additive="base">
                                        <p:cTn id="99" dur="500" fill="hold"/>
                                        <p:tgtEl>
                                          <p:spTgt spid="38"/>
                                        </p:tgtEl>
                                        <p:attrNameLst>
                                          <p:attrName>ppt_x</p:attrName>
                                        </p:attrNameLst>
                                      </p:cBhvr>
                                      <p:tavLst>
                                        <p:tav tm="0">
                                          <p:val>
                                            <p:strVal val="#ppt_x"/>
                                          </p:val>
                                        </p:tav>
                                        <p:tav tm="100000">
                                          <p:val>
                                            <p:strVal val="#ppt_x"/>
                                          </p:val>
                                        </p:tav>
                                      </p:tavLst>
                                    </p:anim>
                                    <p:anim calcmode="lin" valueType="num">
                                      <p:cBhvr additive="base">
                                        <p:cTn id="100" dur="500" fill="hold"/>
                                        <p:tgtEl>
                                          <p:spTgt spid="38"/>
                                        </p:tgtEl>
                                        <p:attrNameLst>
                                          <p:attrName>ppt_y</p:attrName>
                                        </p:attrNameLst>
                                      </p:cBhvr>
                                      <p:tavLst>
                                        <p:tav tm="0">
                                          <p:val>
                                            <p:strVal val="#ppt_y+0.1"/>
                                          </p:val>
                                        </p:tav>
                                        <p:tav tm="100000">
                                          <p:val>
                                            <p:strVal val="#ppt_y"/>
                                          </p:val>
                                        </p:tav>
                                      </p:tavLst>
                                    </p:anim>
                                    <p:animEffect transition="in" filter="fade">
                                      <p:cBhvr>
                                        <p:cTn id="101" dur="500"/>
                                        <p:tgtEl>
                                          <p:spTgt spid="38"/>
                                        </p:tgtEl>
                                      </p:cBhvr>
                                    </p:animEffect>
                                  </p:childTnLst>
                                </p:cTn>
                              </p:par>
                              <p:par>
                                <p:cTn id="107" presetID="2" presetClass="entr" presetSubtype="4" fill="hold" grpId="0" nodeType="withEffect">
                                  <p:stCondLst>
                                    <p:cond delay="0"/>
                                  </p:stCondLst>
                                  <p:childTnLst>
                                    <p:set>
                                      <p:cBhvr>
                                        <p:cTn id="103" dur="1" fill="hold">
                                          <p:stCondLst>
                                            <p:cond delay="0"/>
                                          </p:stCondLst>
                                        </p:cTn>
                                        <p:tgtEl>
                                          <p:spTgt spid="39"/>
                                        </p:tgtEl>
                                        <p:attrNameLst>
                                          <p:attrName>style.visibility</p:attrName>
                                        </p:attrNameLst>
                                      </p:cBhvr>
                                      <p:to>
                                        <p:strVal val="visible"/>
                                      </p:to>
                                    </p:set>
                                    <p:anim calcmode="lin" valueType="num">
                                      <p:cBhvr additive="base">
                                        <p:cTn id="104" dur="500" fill="hold"/>
                                        <p:tgtEl>
                                          <p:spTgt spid="39"/>
                                        </p:tgtEl>
                                        <p:attrNameLst>
                                          <p:attrName>ppt_x</p:attrName>
                                        </p:attrNameLst>
                                      </p:cBhvr>
                                      <p:tavLst>
                                        <p:tav tm="0">
                                          <p:val>
                                            <p:strVal val="#ppt_x"/>
                                          </p:val>
                                        </p:tav>
                                        <p:tav tm="100000">
                                          <p:val>
                                            <p:strVal val="#ppt_x"/>
                                          </p:val>
                                        </p:tav>
                                      </p:tavLst>
                                    </p:anim>
                                    <p:anim calcmode="lin" valueType="num">
                                      <p:cBhvr additive="base">
                                        <p:cTn id="105" dur="500" fill="hold"/>
                                        <p:tgtEl>
                                          <p:spTgt spid="39"/>
                                        </p:tgtEl>
                                        <p:attrNameLst>
                                          <p:attrName>ppt_y</p:attrName>
                                        </p:attrNameLst>
                                      </p:cBhvr>
                                      <p:tavLst>
                                        <p:tav tm="0">
                                          <p:val>
                                            <p:strVal val="#ppt_y+0.1"/>
                                          </p:val>
                                        </p:tav>
                                        <p:tav tm="100000">
                                          <p:val>
                                            <p:strVal val="#ppt_y"/>
                                          </p:val>
                                        </p:tav>
                                      </p:tavLst>
                                    </p:anim>
                                    <p:animEffect transition="in" filter="fade">
                                      <p:cBhvr>
                                        <p:cTn id="106" dur="500"/>
                                        <p:tgtEl>
                                          <p:spTgt spid="39"/>
                                        </p:tgtEl>
                                      </p:cBhvr>
                                    </p:animEffect>
                                  </p:childTnLst>
                                </p:cTn>
                              </p:par>
                              <p:par>
                                <p:cTn id="112" presetID="2" presetClass="entr" presetSubtype="4"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 calcmode="lin" valueType="num">
                                      <p:cBhvr additive="base">
                                        <p:cTn id="109" dur="500" fill="hold"/>
                                        <p:tgtEl>
                                          <p:spTgt spid="40"/>
                                        </p:tgtEl>
                                        <p:attrNameLst>
                                          <p:attrName>ppt_x</p:attrName>
                                        </p:attrNameLst>
                                      </p:cBhvr>
                                      <p:tavLst>
                                        <p:tav tm="0">
                                          <p:val>
                                            <p:strVal val="#ppt_x"/>
                                          </p:val>
                                        </p:tav>
                                        <p:tav tm="100000">
                                          <p:val>
                                            <p:strVal val="#ppt_x"/>
                                          </p:val>
                                        </p:tav>
                                      </p:tavLst>
                                    </p:anim>
                                    <p:anim calcmode="lin" valueType="num">
                                      <p:cBhvr additive="base">
                                        <p:cTn id="110" dur="500" fill="hold"/>
                                        <p:tgtEl>
                                          <p:spTgt spid="40"/>
                                        </p:tgtEl>
                                        <p:attrNameLst>
                                          <p:attrName>ppt_y</p:attrName>
                                        </p:attrNameLst>
                                      </p:cBhvr>
                                      <p:tavLst>
                                        <p:tav tm="0">
                                          <p:val>
                                            <p:strVal val="#ppt_y+0.1"/>
                                          </p:val>
                                        </p:tav>
                                        <p:tav tm="100000">
                                          <p:val>
                                            <p:strVal val="#ppt_y"/>
                                          </p:val>
                                        </p:tav>
                                      </p:tavLst>
                                    </p:anim>
                                    <p:animEffect transition="in" filter="fade">
                                      <p:cBhvr>
                                        <p:cTn id="111" dur="500"/>
                                        <p:tgtEl>
                                          <p:spTgt spid="40"/>
                                        </p:tgtEl>
                                      </p:cBhvr>
                                    </p:animEffect>
                                  </p:childTnLst>
                                </p:cTn>
                              </p:par>
                              <p:par>
                                <p:cTn id="117" presetID="2" presetClass="entr" presetSubtype="4" fill="hold" grpId="0" nodeType="withEffect">
                                  <p:stCondLst>
                                    <p:cond delay="0"/>
                                  </p:stCondLst>
                                  <p:childTnLst>
                                    <p:set>
                                      <p:cBhvr>
                                        <p:cTn id="113" dur="1" fill="hold">
                                          <p:stCondLst>
                                            <p:cond delay="0"/>
                                          </p:stCondLst>
                                        </p:cTn>
                                        <p:tgtEl>
                                          <p:spTgt spid="41"/>
                                        </p:tgtEl>
                                        <p:attrNameLst>
                                          <p:attrName>style.visibility</p:attrName>
                                        </p:attrNameLst>
                                      </p:cBhvr>
                                      <p:to>
                                        <p:strVal val="visible"/>
                                      </p:to>
                                    </p:set>
                                    <p:anim calcmode="lin" valueType="num">
                                      <p:cBhvr additive="base">
                                        <p:cTn id="114" dur="500" fill="hold"/>
                                        <p:tgtEl>
                                          <p:spTgt spid="41"/>
                                        </p:tgtEl>
                                        <p:attrNameLst>
                                          <p:attrName>ppt_x</p:attrName>
                                        </p:attrNameLst>
                                      </p:cBhvr>
                                      <p:tavLst>
                                        <p:tav tm="0">
                                          <p:val>
                                            <p:strVal val="#ppt_x"/>
                                          </p:val>
                                        </p:tav>
                                        <p:tav tm="100000">
                                          <p:val>
                                            <p:strVal val="#ppt_x"/>
                                          </p:val>
                                        </p:tav>
                                      </p:tavLst>
                                    </p:anim>
                                    <p:anim calcmode="lin" valueType="num">
                                      <p:cBhvr additive="base">
                                        <p:cTn id="115" dur="500" fill="hold"/>
                                        <p:tgtEl>
                                          <p:spTgt spid="41"/>
                                        </p:tgtEl>
                                        <p:attrNameLst>
                                          <p:attrName>ppt_y</p:attrName>
                                        </p:attrNameLst>
                                      </p:cBhvr>
                                      <p:tavLst>
                                        <p:tav tm="0">
                                          <p:val>
                                            <p:strVal val="#ppt_y+0.1"/>
                                          </p:val>
                                        </p:tav>
                                        <p:tav tm="100000">
                                          <p:val>
                                            <p:strVal val="#ppt_y"/>
                                          </p:val>
                                        </p:tav>
                                      </p:tavLst>
                                    </p:anim>
                                    <p:animEffect transition="in" filter="fade">
                                      <p:cBhvr>
                                        <p:cTn id="116" dur="500"/>
                                        <p:tgtEl>
                                          <p:spTgt spid="41"/>
                                        </p:tgtEl>
                                      </p:cBhvr>
                                    </p:animEffect>
                                  </p:childTnLst>
                                </p:cTn>
                              </p:par>
                            </p:childTnLst>
                          </p:cTn>
                        </p:par>
                      </p:childTnLst>
                    </p:cTn>
                  </p:par>
                  <p:par>
                    <p:cTn id="118" fill="hold">
                      <p:stCondLst>
                        <p:cond delay="indefinite"/>
                      </p:stCondLst>
                      <p:childTnLst>
                        <p:par>
                          <p:cTn id="119" fill="hold">
                            <p:stCondLst>
                              <p:cond delay="0"/>
                            </p:stCondLst>
                            <p:childTnLst>
                              <p:par>
                                <p:cTn id="124" presetID="2" presetClass="entr" presetSubtype="4" fill="hold" grpId="0" nodeType="clickEffect">
                                  <p:stCondLst>
                                    <p:cond delay="0"/>
                                  </p:stCondLst>
                                  <p:childTnLst>
                                    <p:set>
                                      <p:cBhvr>
                                        <p:cTn id="120" dur="1" fill="hold">
                                          <p:stCondLst>
                                            <p:cond delay="0"/>
                                          </p:stCondLst>
                                        </p:cTn>
                                        <p:tgtEl>
                                          <p:spTgt spid="42"/>
                                        </p:tgtEl>
                                        <p:attrNameLst>
                                          <p:attrName>style.visibility</p:attrName>
                                        </p:attrNameLst>
                                      </p:cBhvr>
                                      <p:to>
                                        <p:strVal val="visible"/>
                                      </p:to>
                                    </p:set>
                                    <p:anim calcmode="lin" valueType="num">
                                      <p:cBhvr additive="base">
                                        <p:cTn id="121" dur="500" fill="hold"/>
                                        <p:tgtEl>
                                          <p:spTgt spid="42"/>
                                        </p:tgtEl>
                                        <p:attrNameLst>
                                          <p:attrName>ppt_x</p:attrName>
                                        </p:attrNameLst>
                                      </p:cBhvr>
                                      <p:tavLst>
                                        <p:tav tm="0">
                                          <p:val>
                                            <p:strVal val="#ppt_x"/>
                                          </p:val>
                                        </p:tav>
                                        <p:tav tm="100000">
                                          <p:val>
                                            <p:strVal val="#ppt_x"/>
                                          </p:val>
                                        </p:tav>
                                      </p:tavLst>
                                    </p:anim>
                                    <p:anim calcmode="lin" valueType="num">
                                      <p:cBhvr additive="base">
                                        <p:cTn id="122" dur="500" fill="hold"/>
                                        <p:tgtEl>
                                          <p:spTgt spid="42"/>
                                        </p:tgtEl>
                                        <p:attrNameLst>
                                          <p:attrName>ppt_y</p:attrName>
                                        </p:attrNameLst>
                                      </p:cBhvr>
                                      <p:tavLst>
                                        <p:tav tm="0">
                                          <p:val>
                                            <p:strVal val="#ppt_y+0.1"/>
                                          </p:val>
                                        </p:tav>
                                        <p:tav tm="100000">
                                          <p:val>
                                            <p:strVal val="#ppt_y"/>
                                          </p:val>
                                        </p:tav>
                                      </p:tavLst>
                                    </p:anim>
                                    <p:animEffect transition="in" filter="fade">
                                      <p:cBhvr>
                                        <p:cTn id="123" dur="500"/>
                                        <p:tgtEl>
                                          <p:spTgt spid="42"/>
                                        </p:tgtEl>
                                      </p:cBhvr>
                                    </p:animEffect>
                                  </p:childTnLst>
                                </p:cTn>
                              </p:par>
                              <p:par>
                                <p:cTn id="129" presetID="2" presetClass="entr" presetSubtype="4" fill="hold" grpId="0" nodeType="withEffect">
                                  <p:stCondLst>
                                    <p:cond delay="0"/>
                                  </p:stCondLst>
                                  <p:childTnLst>
                                    <p:set>
                                      <p:cBhvr>
                                        <p:cTn id="125" dur="1" fill="hold">
                                          <p:stCondLst>
                                            <p:cond delay="0"/>
                                          </p:stCondLst>
                                        </p:cTn>
                                        <p:tgtEl>
                                          <p:spTgt spid="43"/>
                                        </p:tgtEl>
                                        <p:attrNameLst>
                                          <p:attrName>style.visibility</p:attrName>
                                        </p:attrNameLst>
                                      </p:cBhvr>
                                      <p:to>
                                        <p:strVal val="visible"/>
                                      </p:to>
                                    </p:set>
                                    <p:anim calcmode="lin" valueType="num">
                                      <p:cBhvr additive="base">
                                        <p:cTn id="126" dur="500" fill="hold"/>
                                        <p:tgtEl>
                                          <p:spTgt spid="43"/>
                                        </p:tgtEl>
                                        <p:attrNameLst>
                                          <p:attrName>ppt_x</p:attrName>
                                        </p:attrNameLst>
                                      </p:cBhvr>
                                      <p:tavLst>
                                        <p:tav tm="0">
                                          <p:val>
                                            <p:strVal val="#ppt_x"/>
                                          </p:val>
                                        </p:tav>
                                        <p:tav tm="100000">
                                          <p:val>
                                            <p:strVal val="#ppt_x"/>
                                          </p:val>
                                        </p:tav>
                                      </p:tavLst>
                                    </p:anim>
                                    <p:anim calcmode="lin" valueType="num">
                                      <p:cBhvr additive="base">
                                        <p:cTn id="127" dur="500" fill="hold"/>
                                        <p:tgtEl>
                                          <p:spTgt spid="43"/>
                                        </p:tgtEl>
                                        <p:attrNameLst>
                                          <p:attrName>ppt_y</p:attrName>
                                        </p:attrNameLst>
                                      </p:cBhvr>
                                      <p:tavLst>
                                        <p:tav tm="0">
                                          <p:val>
                                            <p:strVal val="#ppt_y+0.1"/>
                                          </p:val>
                                        </p:tav>
                                        <p:tav tm="100000">
                                          <p:val>
                                            <p:strVal val="#ppt_y"/>
                                          </p:val>
                                        </p:tav>
                                      </p:tavLst>
                                    </p:anim>
                                    <p:animEffect transition="in" filter="fade">
                                      <p:cBhvr>
                                        <p:cTn id="128" dur="500"/>
                                        <p:tgtEl>
                                          <p:spTgt spid="43"/>
                                        </p:tgtEl>
                                      </p:cBhvr>
                                    </p:animEffect>
                                  </p:childTnLst>
                                </p:cTn>
                              </p:par>
                              <p:par>
                                <p:cTn id="134" presetID="2" presetClass="entr" presetSubtype="4" fill="hold" grpId="0" nodeType="withEffect">
                                  <p:stCondLst>
                                    <p:cond delay="0"/>
                                  </p:stCondLst>
                                  <p:childTnLst>
                                    <p:set>
                                      <p:cBhvr>
                                        <p:cTn id="130" dur="1" fill="hold">
                                          <p:stCondLst>
                                            <p:cond delay="0"/>
                                          </p:stCondLst>
                                        </p:cTn>
                                        <p:tgtEl>
                                          <p:spTgt spid="44"/>
                                        </p:tgtEl>
                                        <p:attrNameLst>
                                          <p:attrName>style.visibility</p:attrName>
                                        </p:attrNameLst>
                                      </p:cBhvr>
                                      <p:to>
                                        <p:strVal val="visible"/>
                                      </p:to>
                                    </p:set>
                                    <p:anim calcmode="lin" valueType="num">
                                      <p:cBhvr additive="base">
                                        <p:cTn id="131" dur="500" fill="hold"/>
                                        <p:tgtEl>
                                          <p:spTgt spid="44"/>
                                        </p:tgtEl>
                                        <p:attrNameLst>
                                          <p:attrName>ppt_x</p:attrName>
                                        </p:attrNameLst>
                                      </p:cBhvr>
                                      <p:tavLst>
                                        <p:tav tm="0">
                                          <p:val>
                                            <p:strVal val="#ppt_x"/>
                                          </p:val>
                                        </p:tav>
                                        <p:tav tm="100000">
                                          <p:val>
                                            <p:strVal val="#ppt_x"/>
                                          </p:val>
                                        </p:tav>
                                      </p:tavLst>
                                    </p:anim>
                                    <p:anim calcmode="lin" valueType="num">
                                      <p:cBhvr additive="base">
                                        <p:cTn id="132" dur="500" fill="hold"/>
                                        <p:tgtEl>
                                          <p:spTgt spid="44"/>
                                        </p:tgtEl>
                                        <p:attrNameLst>
                                          <p:attrName>ppt_y</p:attrName>
                                        </p:attrNameLst>
                                      </p:cBhvr>
                                      <p:tavLst>
                                        <p:tav tm="0">
                                          <p:val>
                                            <p:strVal val="#ppt_y+0.1"/>
                                          </p:val>
                                        </p:tav>
                                        <p:tav tm="100000">
                                          <p:val>
                                            <p:strVal val="#ppt_y"/>
                                          </p:val>
                                        </p:tav>
                                      </p:tavLst>
                                    </p:anim>
                                    <p:animEffect transition="in" filter="fade">
                                      <p:cBhvr>
                                        <p:cTn id="13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Is Kafka Just a Logger Like Log4j?</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Somewhat yes - it is a log. But Kafka goes far beyond a log file</a:t>
            </a:r>
          </a:p>
        </p:txBody>
      </p:sp>
      <p:sp>
        <p:nvSpPr>
          <p:cNvPr id="11" name="a1f_th10"/>
          <p:cNvSpPr/>
          <p:nvPr/>
        </p:nvSpPr>
        <p:spPr>
          <a:xfrm>
            <a:off x="457200" y="1234440"/>
            <a:ext cx="1645920" cy="402336"/>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tht11"/>
          <p:cNvSpPr txBox="1"/>
          <p:nvPr/>
        </p:nvSpPr>
        <p:spPr>
          <a:xfrm>
            <a:off x="530352" y="1234440"/>
            <a:ext cx="1536192" cy="402336"/>
          </a:xfrm>
          <a:prstGeom prst="rect">
            <a:avLst/>
          </a:prstGeom>
          <a:noFill/>
        </p:spPr>
        <p:txBody>
          <a:bodyPr wrap="square" lIns="0" tIns="0" rIns="0" bIns="0" anchor="ctr">
            <a:spAutoFit/>
          </a:bodyPr>
          <a:lstStyle/>
          <a:p>
            <a:pPr algn="l"/>
            <a:r>
              <a:rPr sz="900" b="1">
                <a:solidFill>
                  <a:srgbClr val="FFFFFF"/>
                </a:solidFill>
                <a:latin typeface="Segoe UI"/>
              </a:rPr>
              <a:t/>
            </a:r>
          </a:p>
        </p:txBody>
      </p:sp>
      <p:sp>
        <p:nvSpPr>
          <p:cNvPr id="13" name="a1wd150_td12"/>
          <p:cNvSpPr/>
          <p:nvPr/>
        </p:nvSpPr>
        <p:spPr>
          <a:xfrm>
            <a:off x="457200" y="1636776"/>
            <a:ext cx="164592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d150_tdt13"/>
          <p:cNvSpPr txBox="1"/>
          <p:nvPr/>
        </p:nvSpPr>
        <p:spPr>
          <a:xfrm>
            <a:off x="530352" y="1636776"/>
            <a:ext cx="1536192" cy="402336"/>
          </a:xfrm>
          <a:prstGeom prst="rect">
            <a:avLst/>
          </a:prstGeom>
          <a:noFill/>
        </p:spPr>
        <p:txBody>
          <a:bodyPr wrap="square" lIns="0" tIns="0" rIns="0" bIns="0" anchor="ctr">
            <a:spAutoFit/>
          </a:bodyPr>
          <a:lstStyle/>
          <a:p>
            <a:pPr algn="l"/>
            <a:r>
              <a:rPr sz="900" b="0">
                <a:solidFill>
                  <a:srgbClr val="44403C"/>
                </a:solidFill>
                <a:latin typeface="Segoe UI"/>
              </a:rPr>
              <a:t>Written by</a:t>
            </a:r>
          </a:p>
        </p:txBody>
      </p:sp>
      <p:sp>
        <p:nvSpPr>
          <p:cNvPr id="15" name="a1wd300_td14"/>
          <p:cNvSpPr/>
          <p:nvPr/>
        </p:nvSpPr>
        <p:spPr>
          <a:xfrm>
            <a:off x="457200" y="2039112"/>
            <a:ext cx="1645920" cy="40233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wd300_tdt15"/>
          <p:cNvSpPr txBox="1"/>
          <p:nvPr/>
        </p:nvSpPr>
        <p:spPr>
          <a:xfrm>
            <a:off x="530352" y="2039112"/>
            <a:ext cx="1536192" cy="402336"/>
          </a:xfrm>
          <a:prstGeom prst="rect">
            <a:avLst/>
          </a:prstGeom>
          <a:noFill/>
        </p:spPr>
        <p:txBody>
          <a:bodyPr wrap="square" lIns="0" tIns="0" rIns="0" bIns="0" anchor="ctr">
            <a:spAutoFit/>
          </a:bodyPr>
          <a:lstStyle/>
          <a:p>
            <a:pPr algn="l"/>
            <a:r>
              <a:rPr sz="900" b="0">
                <a:solidFill>
                  <a:srgbClr val="44403C"/>
                </a:solidFill>
                <a:latin typeface="Segoe UI"/>
              </a:rPr>
              <a:t>Stored in</a:t>
            </a:r>
          </a:p>
        </p:txBody>
      </p:sp>
      <p:sp>
        <p:nvSpPr>
          <p:cNvPr id="17" name="a1wd450_td16"/>
          <p:cNvSpPr/>
          <p:nvPr/>
        </p:nvSpPr>
        <p:spPr>
          <a:xfrm>
            <a:off x="457200" y="2441448"/>
            <a:ext cx="164592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wd450_tdt17"/>
          <p:cNvSpPr txBox="1"/>
          <p:nvPr/>
        </p:nvSpPr>
        <p:spPr>
          <a:xfrm>
            <a:off x="530352" y="2441448"/>
            <a:ext cx="1536192" cy="402336"/>
          </a:xfrm>
          <a:prstGeom prst="rect">
            <a:avLst/>
          </a:prstGeom>
          <a:noFill/>
        </p:spPr>
        <p:txBody>
          <a:bodyPr wrap="square" lIns="0" tIns="0" rIns="0" bIns="0" anchor="ctr">
            <a:spAutoFit/>
          </a:bodyPr>
          <a:lstStyle/>
          <a:p>
            <a:pPr algn="l"/>
            <a:r>
              <a:rPr sz="900" b="0">
                <a:solidFill>
                  <a:srgbClr val="44403C"/>
                </a:solidFill>
                <a:latin typeface="Segoe UI"/>
              </a:rPr>
              <a:t>Read by</a:t>
            </a:r>
          </a:p>
        </p:txBody>
      </p:sp>
      <p:sp>
        <p:nvSpPr>
          <p:cNvPr id="19" name="a1wd600_td18"/>
          <p:cNvSpPr/>
          <p:nvPr/>
        </p:nvSpPr>
        <p:spPr>
          <a:xfrm>
            <a:off x="457200" y="2843784"/>
            <a:ext cx="1645920" cy="40233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wd600_tdt19"/>
          <p:cNvSpPr txBox="1"/>
          <p:nvPr/>
        </p:nvSpPr>
        <p:spPr>
          <a:xfrm>
            <a:off x="530352" y="2843784"/>
            <a:ext cx="1536192" cy="402336"/>
          </a:xfrm>
          <a:prstGeom prst="rect">
            <a:avLst/>
          </a:prstGeom>
          <a:noFill/>
        </p:spPr>
        <p:txBody>
          <a:bodyPr wrap="square" lIns="0" tIns="0" rIns="0" bIns="0" anchor="ctr">
            <a:spAutoFit/>
          </a:bodyPr>
          <a:lstStyle/>
          <a:p>
            <a:pPr algn="l"/>
            <a:r>
              <a:rPr sz="900" b="0">
                <a:solidFill>
                  <a:srgbClr val="44403C"/>
                </a:solidFill>
                <a:latin typeface="Segoe UI"/>
              </a:rPr>
              <a:t>Kept for</a:t>
            </a:r>
          </a:p>
        </p:txBody>
      </p:sp>
      <p:sp>
        <p:nvSpPr>
          <p:cNvPr id="21" name="a1wd750_td20"/>
          <p:cNvSpPr/>
          <p:nvPr/>
        </p:nvSpPr>
        <p:spPr>
          <a:xfrm>
            <a:off x="457200" y="3246120"/>
            <a:ext cx="164592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wd750_tdt21"/>
          <p:cNvSpPr txBox="1"/>
          <p:nvPr/>
        </p:nvSpPr>
        <p:spPr>
          <a:xfrm>
            <a:off x="530352" y="3246120"/>
            <a:ext cx="1536192" cy="402336"/>
          </a:xfrm>
          <a:prstGeom prst="rect">
            <a:avLst/>
          </a:prstGeom>
          <a:noFill/>
        </p:spPr>
        <p:txBody>
          <a:bodyPr wrap="square" lIns="0" tIns="0" rIns="0" bIns="0" anchor="ctr">
            <a:spAutoFit/>
          </a:bodyPr>
          <a:lstStyle/>
          <a:p>
            <a:pPr algn="l"/>
            <a:r>
              <a:rPr sz="900" b="0">
                <a:solidFill>
                  <a:srgbClr val="44403C"/>
                </a:solidFill>
                <a:latin typeface="Segoe UI"/>
              </a:rPr>
              <a:t>Contains</a:t>
            </a:r>
          </a:p>
        </p:txBody>
      </p:sp>
      <p:sp>
        <p:nvSpPr>
          <p:cNvPr id="23" name="a1f_th22"/>
          <p:cNvSpPr/>
          <p:nvPr/>
        </p:nvSpPr>
        <p:spPr>
          <a:xfrm>
            <a:off x="2103120" y="1234440"/>
            <a:ext cx="3108960" cy="402336"/>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f_tht23"/>
          <p:cNvSpPr txBox="1"/>
          <p:nvPr/>
        </p:nvSpPr>
        <p:spPr>
          <a:xfrm>
            <a:off x="2176272" y="1234440"/>
            <a:ext cx="2999232" cy="402336"/>
          </a:xfrm>
          <a:prstGeom prst="rect">
            <a:avLst/>
          </a:prstGeom>
          <a:noFill/>
        </p:spPr>
        <p:txBody>
          <a:bodyPr wrap="square" lIns="0" tIns="0" rIns="0" bIns="0" anchor="ctr">
            <a:spAutoFit/>
          </a:bodyPr>
          <a:lstStyle/>
          <a:p>
            <a:pPr algn="l"/>
            <a:r>
              <a:rPr sz="900" b="1">
                <a:solidFill>
                  <a:srgbClr val="FFFFFF"/>
                </a:solidFill>
                <a:latin typeface="Segoe UI"/>
              </a:rPr>
              <a:t>Log4j / SLF4J log file</a:t>
            </a:r>
          </a:p>
        </p:txBody>
      </p:sp>
      <p:sp>
        <p:nvSpPr>
          <p:cNvPr id="25" name="a1wd150_td24"/>
          <p:cNvSpPr/>
          <p:nvPr/>
        </p:nvSpPr>
        <p:spPr>
          <a:xfrm>
            <a:off x="2103120" y="1636776"/>
            <a:ext cx="310896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wd150_tdt25"/>
          <p:cNvSpPr txBox="1"/>
          <p:nvPr/>
        </p:nvSpPr>
        <p:spPr>
          <a:xfrm>
            <a:off x="2176272" y="1636776"/>
            <a:ext cx="2999232" cy="402336"/>
          </a:xfrm>
          <a:prstGeom prst="rect">
            <a:avLst/>
          </a:prstGeom>
          <a:noFill/>
        </p:spPr>
        <p:txBody>
          <a:bodyPr wrap="square" lIns="0" tIns="0" rIns="0" bIns="0" anchor="ctr">
            <a:spAutoFit/>
          </a:bodyPr>
          <a:lstStyle/>
          <a:p>
            <a:pPr algn="l"/>
            <a:r>
              <a:rPr sz="900" b="0">
                <a:solidFill>
                  <a:srgbClr val="44403C"/>
                </a:solidFill>
                <a:latin typeface="Segoe UI"/>
              </a:rPr>
              <a:t>One application</a:t>
            </a:r>
          </a:p>
        </p:txBody>
      </p:sp>
      <p:sp>
        <p:nvSpPr>
          <p:cNvPr id="27" name="a1wd300_td26"/>
          <p:cNvSpPr/>
          <p:nvPr/>
        </p:nvSpPr>
        <p:spPr>
          <a:xfrm>
            <a:off x="2103120" y="2039112"/>
            <a:ext cx="3108960" cy="40233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1wd300_tdt27"/>
          <p:cNvSpPr txBox="1"/>
          <p:nvPr/>
        </p:nvSpPr>
        <p:spPr>
          <a:xfrm>
            <a:off x="2176272" y="2039112"/>
            <a:ext cx="2999232" cy="402336"/>
          </a:xfrm>
          <a:prstGeom prst="rect">
            <a:avLst/>
          </a:prstGeom>
          <a:noFill/>
        </p:spPr>
        <p:txBody>
          <a:bodyPr wrap="square" lIns="0" tIns="0" rIns="0" bIns="0" anchor="ctr">
            <a:spAutoFit/>
          </a:bodyPr>
          <a:lstStyle/>
          <a:p>
            <a:pPr algn="l"/>
            <a:r>
              <a:rPr sz="900" b="0">
                <a:solidFill>
                  <a:srgbClr val="44403C"/>
                </a:solidFill>
                <a:latin typeface="Segoe UI"/>
              </a:rPr>
              <a:t>A text file on one machine</a:t>
            </a:r>
          </a:p>
        </p:txBody>
      </p:sp>
      <p:sp>
        <p:nvSpPr>
          <p:cNvPr id="29" name="a1wd450_td28"/>
          <p:cNvSpPr/>
          <p:nvPr/>
        </p:nvSpPr>
        <p:spPr>
          <a:xfrm>
            <a:off x="2103120" y="2441448"/>
            <a:ext cx="310896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1wd450_tdt29"/>
          <p:cNvSpPr txBox="1"/>
          <p:nvPr/>
        </p:nvSpPr>
        <p:spPr>
          <a:xfrm>
            <a:off x="2176272" y="2441448"/>
            <a:ext cx="2999232" cy="402336"/>
          </a:xfrm>
          <a:prstGeom prst="rect">
            <a:avLst/>
          </a:prstGeom>
          <a:noFill/>
        </p:spPr>
        <p:txBody>
          <a:bodyPr wrap="square" lIns="0" tIns="0" rIns="0" bIns="0" anchor="ctr">
            <a:spAutoFit/>
          </a:bodyPr>
          <a:lstStyle/>
          <a:p>
            <a:pPr algn="l"/>
            <a:r>
              <a:rPr sz="900" b="0">
                <a:solidFill>
                  <a:srgbClr val="44403C"/>
                </a:solidFill>
                <a:latin typeface="Segoe UI"/>
              </a:rPr>
              <a:t>A person, usually after a problem</a:t>
            </a:r>
          </a:p>
        </p:txBody>
      </p:sp>
      <p:sp>
        <p:nvSpPr>
          <p:cNvPr id="31" name="a1wd600_td30"/>
          <p:cNvSpPr/>
          <p:nvPr/>
        </p:nvSpPr>
        <p:spPr>
          <a:xfrm>
            <a:off x="2103120" y="2843784"/>
            <a:ext cx="3108960" cy="40233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1wd600_tdt31"/>
          <p:cNvSpPr txBox="1"/>
          <p:nvPr/>
        </p:nvSpPr>
        <p:spPr>
          <a:xfrm>
            <a:off x="2176272" y="2843784"/>
            <a:ext cx="2999232" cy="402336"/>
          </a:xfrm>
          <a:prstGeom prst="rect">
            <a:avLst/>
          </a:prstGeom>
          <a:noFill/>
        </p:spPr>
        <p:txBody>
          <a:bodyPr wrap="square" lIns="0" tIns="0" rIns="0" bIns="0" anchor="ctr">
            <a:spAutoFit/>
          </a:bodyPr>
          <a:lstStyle/>
          <a:p>
            <a:pPr algn="l"/>
            <a:r>
              <a:rPr sz="900" b="0">
                <a:solidFill>
                  <a:srgbClr val="44403C"/>
                </a:solidFill>
                <a:latin typeface="Segoe UI"/>
              </a:rPr>
              <a:t>Until the file is rotated or deleted</a:t>
            </a:r>
          </a:p>
        </p:txBody>
      </p:sp>
      <p:sp>
        <p:nvSpPr>
          <p:cNvPr id="33" name="a1wd750_td32"/>
          <p:cNvSpPr/>
          <p:nvPr/>
        </p:nvSpPr>
        <p:spPr>
          <a:xfrm>
            <a:off x="2103120" y="3246120"/>
            <a:ext cx="310896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1wd750_tdt33"/>
          <p:cNvSpPr txBox="1"/>
          <p:nvPr/>
        </p:nvSpPr>
        <p:spPr>
          <a:xfrm>
            <a:off x="2176272" y="3246120"/>
            <a:ext cx="2999232" cy="402336"/>
          </a:xfrm>
          <a:prstGeom prst="rect">
            <a:avLst/>
          </a:prstGeom>
          <a:noFill/>
        </p:spPr>
        <p:txBody>
          <a:bodyPr wrap="square" lIns="0" tIns="0" rIns="0" bIns="0" anchor="ctr">
            <a:spAutoFit/>
          </a:bodyPr>
          <a:lstStyle/>
          <a:p>
            <a:pPr algn="l"/>
            <a:r>
              <a:rPr sz="900" b="0">
                <a:solidFill>
                  <a:srgbClr val="44403C"/>
                </a:solidFill>
                <a:latin typeface="Segoe UI"/>
              </a:rPr>
              <a:t>Lines of text</a:t>
            </a:r>
          </a:p>
        </p:txBody>
      </p:sp>
      <p:sp>
        <p:nvSpPr>
          <p:cNvPr id="35" name="a1f_th34"/>
          <p:cNvSpPr/>
          <p:nvPr/>
        </p:nvSpPr>
        <p:spPr>
          <a:xfrm>
            <a:off x="5212079" y="1234440"/>
            <a:ext cx="3474720" cy="402336"/>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1f_tht35"/>
          <p:cNvSpPr txBox="1"/>
          <p:nvPr/>
        </p:nvSpPr>
        <p:spPr>
          <a:xfrm>
            <a:off x="5285231" y="1234440"/>
            <a:ext cx="3364991" cy="402336"/>
          </a:xfrm>
          <a:prstGeom prst="rect">
            <a:avLst/>
          </a:prstGeom>
          <a:noFill/>
        </p:spPr>
        <p:txBody>
          <a:bodyPr wrap="square" lIns="0" tIns="0" rIns="0" bIns="0" anchor="ctr">
            <a:spAutoFit/>
          </a:bodyPr>
          <a:lstStyle/>
          <a:p>
            <a:pPr algn="l"/>
            <a:r>
              <a:rPr sz="900" b="1">
                <a:solidFill>
                  <a:srgbClr val="FFFFFF"/>
                </a:solidFill>
                <a:latin typeface="Segoe UI"/>
              </a:rPr>
              <a:t>Kafka</a:t>
            </a:r>
          </a:p>
        </p:txBody>
      </p:sp>
      <p:sp>
        <p:nvSpPr>
          <p:cNvPr id="37" name="a1wd150_td36"/>
          <p:cNvSpPr/>
          <p:nvPr/>
        </p:nvSpPr>
        <p:spPr>
          <a:xfrm>
            <a:off x="5212079" y="1636776"/>
            <a:ext cx="347472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1wd150_tdt37"/>
          <p:cNvSpPr txBox="1"/>
          <p:nvPr/>
        </p:nvSpPr>
        <p:spPr>
          <a:xfrm>
            <a:off x="5285231" y="1636776"/>
            <a:ext cx="3364991" cy="402336"/>
          </a:xfrm>
          <a:prstGeom prst="rect">
            <a:avLst/>
          </a:prstGeom>
          <a:noFill/>
        </p:spPr>
        <p:txBody>
          <a:bodyPr wrap="square" lIns="0" tIns="0" rIns="0" bIns="0" anchor="ctr">
            <a:spAutoFit/>
          </a:bodyPr>
          <a:lstStyle/>
          <a:p>
            <a:pPr algn="l"/>
            <a:r>
              <a:rPr sz="900" b="0">
                <a:solidFill>
                  <a:srgbClr val="44403C"/>
                </a:solidFill>
                <a:latin typeface="Segoe UI"/>
              </a:rPr>
              <a:t>Thousands of applications at once</a:t>
            </a:r>
          </a:p>
        </p:txBody>
      </p:sp>
      <p:sp>
        <p:nvSpPr>
          <p:cNvPr id="39" name="a1wd300_td38"/>
          <p:cNvSpPr/>
          <p:nvPr/>
        </p:nvSpPr>
        <p:spPr>
          <a:xfrm>
            <a:off x="5212079" y="2039112"/>
            <a:ext cx="3474720" cy="40233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1wd300_tdt39"/>
          <p:cNvSpPr txBox="1"/>
          <p:nvPr/>
        </p:nvSpPr>
        <p:spPr>
          <a:xfrm>
            <a:off x="5285231" y="2039112"/>
            <a:ext cx="3364991" cy="402336"/>
          </a:xfrm>
          <a:prstGeom prst="rect">
            <a:avLst/>
          </a:prstGeom>
          <a:noFill/>
        </p:spPr>
        <p:txBody>
          <a:bodyPr wrap="square" lIns="0" tIns="0" rIns="0" bIns="0" anchor="ctr">
            <a:spAutoFit/>
          </a:bodyPr>
          <a:lstStyle/>
          <a:p>
            <a:pPr algn="l"/>
            <a:r>
              <a:rPr sz="900" b="0">
                <a:solidFill>
                  <a:srgbClr val="44403C"/>
                </a:solidFill>
                <a:latin typeface="Segoe UI"/>
              </a:rPr>
              <a:t>A commit log spread across many servers</a:t>
            </a:r>
          </a:p>
        </p:txBody>
      </p:sp>
      <p:sp>
        <p:nvSpPr>
          <p:cNvPr id="41" name="a1wd450_td40"/>
          <p:cNvSpPr/>
          <p:nvPr/>
        </p:nvSpPr>
        <p:spPr>
          <a:xfrm>
            <a:off x="5212079" y="2441448"/>
            <a:ext cx="347472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1wd450_tdt41"/>
          <p:cNvSpPr txBox="1"/>
          <p:nvPr/>
        </p:nvSpPr>
        <p:spPr>
          <a:xfrm>
            <a:off x="5285231" y="2441448"/>
            <a:ext cx="3364991" cy="402336"/>
          </a:xfrm>
          <a:prstGeom prst="rect">
            <a:avLst/>
          </a:prstGeom>
          <a:noFill/>
        </p:spPr>
        <p:txBody>
          <a:bodyPr wrap="square" lIns="0" tIns="0" rIns="0" bIns="0" anchor="ctr">
            <a:spAutoFit/>
          </a:bodyPr>
          <a:lstStyle/>
          <a:p>
            <a:pPr algn="l"/>
            <a:r>
              <a:rPr sz="900" b="0">
                <a:solidFill>
                  <a:srgbClr val="44403C"/>
                </a:solidFill>
                <a:latin typeface="Segoe UI"/>
              </a:rPr>
              <a:t>Many programs, as the data arrives</a:t>
            </a:r>
          </a:p>
        </p:txBody>
      </p:sp>
      <p:sp>
        <p:nvSpPr>
          <p:cNvPr id="43" name="a1wd600_td42"/>
          <p:cNvSpPr/>
          <p:nvPr/>
        </p:nvSpPr>
        <p:spPr>
          <a:xfrm>
            <a:off x="5212079" y="2843784"/>
            <a:ext cx="3474720" cy="402336"/>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1wd600_tdt43"/>
          <p:cNvSpPr txBox="1"/>
          <p:nvPr/>
        </p:nvSpPr>
        <p:spPr>
          <a:xfrm>
            <a:off x="5285231" y="2843784"/>
            <a:ext cx="3364991" cy="402336"/>
          </a:xfrm>
          <a:prstGeom prst="rect">
            <a:avLst/>
          </a:prstGeom>
          <a:noFill/>
        </p:spPr>
        <p:txBody>
          <a:bodyPr wrap="square" lIns="0" tIns="0" rIns="0" bIns="0" anchor="ctr">
            <a:spAutoFit/>
          </a:bodyPr>
          <a:lstStyle/>
          <a:p>
            <a:pPr algn="l"/>
            <a:r>
              <a:rPr sz="900" b="0">
                <a:solidFill>
                  <a:srgbClr val="44403C"/>
                </a:solidFill>
                <a:latin typeface="Segoe UI"/>
              </a:rPr>
              <a:t>As long as you configure</a:t>
            </a:r>
          </a:p>
        </p:txBody>
      </p:sp>
      <p:sp>
        <p:nvSpPr>
          <p:cNvPr id="45" name="a1wd750_td44"/>
          <p:cNvSpPr/>
          <p:nvPr/>
        </p:nvSpPr>
        <p:spPr>
          <a:xfrm>
            <a:off x="5212079" y="3246120"/>
            <a:ext cx="3474720" cy="402336"/>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1wd750_tdt45"/>
          <p:cNvSpPr txBox="1"/>
          <p:nvPr/>
        </p:nvSpPr>
        <p:spPr>
          <a:xfrm>
            <a:off x="5285231" y="3246120"/>
            <a:ext cx="3364991" cy="402336"/>
          </a:xfrm>
          <a:prstGeom prst="rect">
            <a:avLst/>
          </a:prstGeom>
          <a:noFill/>
        </p:spPr>
        <p:txBody>
          <a:bodyPr wrap="square" lIns="0" tIns="0" rIns="0" bIns="0" anchor="ctr">
            <a:spAutoFit/>
          </a:bodyPr>
          <a:lstStyle/>
          <a:p>
            <a:pPr algn="l"/>
            <a:r>
              <a:rPr sz="900" b="0">
                <a:solidFill>
                  <a:srgbClr val="44403C"/>
                </a:solidFill>
                <a:latin typeface="Segoe UI"/>
              </a:rPr>
              <a:t>Records: key, value, timestamp</a:t>
            </a:r>
          </a:p>
        </p:txBody>
      </p:sp>
      <p:sp>
        <p:nvSpPr>
          <p:cNvPr id="47" name="a2u_nb46"/>
          <p:cNvSpPr/>
          <p:nvPr/>
        </p:nvSpPr>
        <p:spPr>
          <a:xfrm>
            <a:off x="457200" y="3785616"/>
            <a:ext cx="8229600" cy="603504"/>
          </a:xfrm>
          <a:prstGeom prst="roundRect">
            <a:avLst>
              <a:gd name="adj" fmla="val 12121"/>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2u_nacc47"/>
          <p:cNvSpPr/>
          <p:nvPr/>
        </p:nvSpPr>
        <p:spPr>
          <a:xfrm>
            <a:off x="457200" y="3785616"/>
            <a:ext cx="54864" cy="60350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2u_nt48"/>
          <p:cNvSpPr txBox="1"/>
          <p:nvPr/>
        </p:nvSpPr>
        <p:spPr>
          <a:xfrm>
            <a:off x="658368" y="3785616"/>
            <a:ext cx="7827264" cy="603504"/>
          </a:xfrm>
          <a:prstGeom prst="rect">
            <a:avLst/>
          </a:prstGeom>
          <a:noFill/>
        </p:spPr>
        <p:txBody>
          <a:bodyPr wrap="square" lIns="0" tIns="0" rIns="0" bIns="0" anchor="ctr">
            <a:spAutoFit/>
          </a:bodyPr>
          <a:lstStyle/>
          <a:p>
            <a:pPr algn="l"/>
            <a:r>
              <a:rPr sz="1050" b="1">
                <a:solidFill>
                  <a:srgbClr val="C2410C"/>
                </a:solidFill>
                <a:latin typeface="Segoe UI"/>
              </a:rPr>
              <a:t>KEY  </a:t>
            </a:r>
            <a:r>
              <a:rPr sz="1050" b="0">
                <a:solidFill>
                  <a:srgbClr val="44403C"/>
                </a:solidFill>
                <a:latin typeface="Segoe UI"/>
              </a:rPr>
              <a:t>Kafka is not based on traditional log files - it is fundamentally based on COMMIT LOGS.</a:t>
            </a:r>
          </a:p>
        </p:txBody>
      </p:sp>
      <p:sp>
        <p:nvSpPr>
          <p:cNvPr id="50" name="ft4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46</a:t>
            </a:r>
          </a:p>
        </p:txBody>
      </p:sp>
      <p:sp>
        <p:nvSpPr>
          <p:cNvPr id="51" name="ft5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ft5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53" name="ft5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500"/>
                                        <p:tgtEl>
                                          <p:spTgt spid="3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fade">
                                      <p:cBhvr>
                                        <p:cTn id="21" dur="500"/>
                                        <p:tgtEl>
                                          <p:spTgt spid="36"/>
                                        </p:tgtEl>
                                      </p:cBhvr>
                                    </p:animEffect>
                                  </p:childTnLst>
                                </p:cTn>
                              </p:par>
                              <p:par>
                                <p:cTn id="25" presetID="22" presetClass="entr" presetSubtype="8" fill="hold" grpId="0" nodeType="withEffect">
                                  <p:stCondLst>
                                    <p:cond delay="15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500"/>
                                        <p:tgtEl>
                                          <p:spTgt spid="13"/>
                                        </p:tgtEl>
                                      </p:cBhvr>
                                    </p:animEffect>
                                  </p:childTnLst>
                                </p:cTn>
                              </p:par>
                              <p:par>
                                <p:cTn id="28" presetID="22" presetClass="entr" presetSubtype="8" fill="hold" grpId="0" nodeType="withEffect">
                                  <p:stCondLst>
                                    <p:cond delay="15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31" presetID="22" presetClass="entr" presetSubtype="8" fill="hold" grpId="0" nodeType="withEffect">
                                  <p:stCondLst>
                                    <p:cond delay="150"/>
                                  </p:stCondLst>
                                  <p:childTnLst>
                                    <p:set>
                                      <p:cBhvr>
                                        <p:cTn id="29" dur="1" fill="hold">
                                          <p:stCondLst>
                                            <p:cond delay="0"/>
                                          </p:stCondLst>
                                        </p:cTn>
                                        <p:tgtEl>
                                          <p:spTgt spid="25"/>
                                        </p:tgtEl>
                                        <p:attrNameLst>
                                          <p:attrName>style.visibility</p:attrName>
                                        </p:attrNameLst>
                                      </p:cBhvr>
                                      <p:to>
                                        <p:strVal val="visible"/>
                                      </p:to>
                                    </p:set>
                                    <p:animEffect transition="in" filter="wipe(left)">
                                      <p:cBhvr>
                                        <p:cTn id="30" dur="500"/>
                                        <p:tgtEl>
                                          <p:spTgt spid="25"/>
                                        </p:tgtEl>
                                      </p:cBhvr>
                                    </p:animEffect>
                                  </p:childTnLst>
                                </p:cTn>
                              </p:par>
                              <p:par>
                                <p:cTn id="34" presetID="22" presetClass="entr" presetSubtype="8" fill="hold" grpId="0" nodeType="withEffect">
                                  <p:stCondLst>
                                    <p:cond delay="150"/>
                                  </p:stCondLst>
                                  <p:childTnLst>
                                    <p:set>
                                      <p:cBhvr>
                                        <p:cTn id="32" dur="1" fill="hold">
                                          <p:stCondLst>
                                            <p:cond delay="0"/>
                                          </p:stCondLst>
                                        </p:cTn>
                                        <p:tgtEl>
                                          <p:spTgt spid="26"/>
                                        </p:tgtEl>
                                        <p:attrNameLst>
                                          <p:attrName>style.visibility</p:attrName>
                                        </p:attrNameLst>
                                      </p:cBhvr>
                                      <p:to>
                                        <p:strVal val="visible"/>
                                      </p:to>
                                    </p:set>
                                    <p:animEffect transition="in" filter="wipe(left)">
                                      <p:cBhvr>
                                        <p:cTn id="33" dur="500"/>
                                        <p:tgtEl>
                                          <p:spTgt spid="26"/>
                                        </p:tgtEl>
                                      </p:cBhvr>
                                    </p:animEffect>
                                  </p:childTnLst>
                                </p:cTn>
                              </p:par>
                              <p:par>
                                <p:cTn id="37" presetID="22" presetClass="entr" presetSubtype="8" fill="hold" grpId="0" nodeType="withEffect">
                                  <p:stCondLst>
                                    <p:cond delay="150"/>
                                  </p:stCondLst>
                                  <p:childTnLst>
                                    <p:set>
                                      <p:cBhvr>
                                        <p:cTn id="35" dur="1" fill="hold">
                                          <p:stCondLst>
                                            <p:cond delay="0"/>
                                          </p:stCondLst>
                                        </p:cTn>
                                        <p:tgtEl>
                                          <p:spTgt spid="37"/>
                                        </p:tgtEl>
                                        <p:attrNameLst>
                                          <p:attrName>style.visibility</p:attrName>
                                        </p:attrNameLst>
                                      </p:cBhvr>
                                      <p:to>
                                        <p:strVal val="visible"/>
                                      </p:to>
                                    </p:set>
                                    <p:animEffect transition="in" filter="wipe(left)">
                                      <p:cBhvr>
                                        <p:cTn id="36" dur="500"/>
                                        <p:tgtEl>
                                          <p:spTgt spid="37"/>
                                        </p:tgtEl>
                                      </p:cBhvr>
                                    </p:animEffect>
                                  </p:childTnLst>
                                </p:cTn>
                              </p:par>
                              <p:par>
                                <p:cTn id="40" presetID="22" presetClass="entr" presetSubtype="8" fill="hold" grpId="0" nodeType="withEffect">
                                  <p:stCondLst>
                                    <p:cond delay="150"/>
                                  </p:stCondLst>
                                  <p:childTnLst>
                                    <p:set>
                                      <p:cBhvr>
                                        <p:cTn id="38" dur="1" fill="hold">
                                          <p:stCondLst>
                                            <p:cond delay="0"/>
                                          </p:stCondLst>
                                        </p:cTn>
                                        <p:tgtEl>
                                          <p:spTgt spid="38"/>
                                        </p:tgtEl>
                                        <p:attrNameLst>
                                          <p:attrName>style.visibility</p:attrName>
                                        </p:attrNameLst>
                                      </p:cBhvr>
                                      <p:to>
                                        <p:strVal val="visible"/>
                                      </p:to>
                                    </p:set>
                                    <p:animEffect transition="in" filter="wipe(left)">
                                      <p:cBhvr>
                                        <p:cTn id="39" dur="500"/>
                                        <p:tgtEl>
                                          <p:spTgt spid="38"/>
                                        </p:tgtEl>
                                      </p:cBhvr>
                                    </p:animEffect>
                                  </p:childTnLst>
                                </p:cTn>
                              </p:par>
                              <p:par>
                                <p:cTn id="43" presetID="22" presetClass="entr" presetSubtype="8" fill="hold" grpId="0" nodeType="withEffect">
                                  <p:stCondLst>
                                    <p:cond delay="30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par>
                                <p:cTn id="46" presetID="22" presetClass="entr" presetSubtype="8" fill="hold" grpId="0" nodeType="withEffect">
                                  <p:stCondLst>
                                    <p:cond delay="30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500"/>
                                        <p:tgtEl>
                                          <p:spTgt spid="16"/>
                                        </p:tgtEl>
                                      </p:cBhvr>
                                    </p:animEffect>
                                  </p:childTnLst>
                                </p:cTn>
                              </p:par>
                              <p:par>
                                <p:cTn id="49" presetID="22" presetClass="entr" presetSubtype="8" fill="hold" grpId="0" nodeType="withEffect">
                                  <p:stCondLst>
                                    <p:cond delay="300"/>
                                  </p:stCondLst>
                                  <p:childTnLst>
                                    <p:set>
                                      <p:cBhvr>
                                        <p:cTn id="47" dur="1" fill="hold">
                                          <p:stCondLst>
                                            <p:cond delay="0"/>
                                          </p:stCondLst>
                                        </p:cTn>
                                        <p:tgtEl>
                                          <p:spTgt spid="27"/>
                                        </p:tgtEl>
                                        <p:attrNameLst>
                                          <p:attrName>style.visibility</p:attrName>
                                        </p:attrNameLst>
                                      </p:cBhvr>
                                      <p:to>
                                        <p:strVal val="visible"/>
                                      </p:to>
                                    </p:set>
                                    <p:animEffect transition="in" filter="wipe(left)">
                                      <p:cBhvr>
                                        <p:cTn id="48" dur="500"/>
                                        <p:tgtEl>
                                          <p:spTgt spid="27"/>
                                        </p:tgtEl>
                                      </p:cBhvr>
                                    </p:animEffect>
                                  </p:childTnLst>
                                </p:cTn>
                              </p:par>
                              <p:par>
                                <p:cTn id="52" presetID="22" presetClass="entr" presetSubtype="8" fill="hold" grpId="0" nodeType="withEffect">
                                  <p:stCondLst>
                                    <p:cond delay="300"/>
                                  </p:stCondLst>
                                  <p:childTnLst>
                                    <p:set>
                                      <p:cBhvr>
                                        <p:cTn id="50" dur="1" fill="hold">
                                          <p:stCondLst>
                                            <p:cond delay="0"/>
                                          </p:stCondLst>
                                        </p:cTn>
                                        <p:tgtEl>
                                          <p:spTgt spid="28"/>
                                        </p:tgtEl>
                                        <p:attrNameLst>
                                          <p:attrName>style.visibility</p:attrName>
                                        </p:attrNameLst>
                                      </p:cBhvr>
                                      <p:to>
                                        <p:strVal val="visible"/>
                                      </p:to>
                                    </p:set>
                                    <p:animEffect transition="in" filter="wipe(left)">
                                      <p:cBhvr>
                                        <p:cTn id="51" dur="500"/>
                                        <p:tgtEl>
                                          <p:spTgt spid="28"/>
                                        </p:tgtEl>
                                      </p:cBhvr>
                                    </p:animEffect>
                                  </p:childTnLst>
                                </p:cTn>
                              </p:par>
                              <p:par>
                                <p:cTn id="55" presetID="22" presetClass="entr" presetSubtype="8" fill="hold" grpId="0" nodeType="withEffect">
                                  <p:stCondLst>
                                    <p:cond delay="300"/>
                                  </p:stCondLst>
                                  <p:childTnLst>
                                    <p:set>
                                      <p:cBhvr>
                                        <p:cTn id="53" dur="1" fill="hold">
                                          <p:stCondLst>
                                            <p:cond delay="0"/>
                                          </p:stCondLst>
                                        </p:cTn>
                                        <p:tgtEl>
                                          <p:spTgt spid="39"/>
                                        </p:tgtEl>
                                        <p:attrNameLst>
                                          <p:attrName>style.visibility</p:attrName>
                                        </p:attrNameLst>
                                      </p:cBhvr>
                                      <p:to>
                                        <p:strVal val="visible"/>
                                      </p:to>
                                    </p:set>
                                    <p:animEffect transition="in" filter="wipe(left)">
                                      <p:cBhvr>
                                        <p:cTn id="54" dur="500"/>
                                        <p:tgtEl>
                                          <p:spTgt spid="39"/>
                                        </p:tgtEl>
                                      </p:cBhvr>
                                    </p:animEffect>
                                  </p:childTnLst>
                                </p:cTn>
                              </p:par>
                              <p:par>
                                <p:cTn id="58" presetID="22" presetClass="entr" presetSubtype="8" fill="hold" grpId="0" nodeType="withEffect">
                                  <p:stCondLst>
                                    <p:cond delay="300"/>
                                  </p:stCondLst>
                                  <p:childTnLst>
                                    <p:set>
                                      <p:cBhvr>
                                        <p:cTn id="56" dur="1" fill="hold">
                                          <p:stCondLst>
                                            <p:cond delay="0"/>
                                          </p:stCondLst>
                                        </p:cTn>
                                        <p:tgtEl>
                                          <p:spTgt spid="40"/>
                                        </p:tgtEl>
                                        <p:attrNameLst>
                                          <p:attrName>style.visibility</p:attrName>
                                        </p:attrNameLst>
                                      </p:cBhvr>
                                      <p:to>
                                        <p:strVal val="visible"/>
                                      </p:to>
                                    </p:set>
                                    <p:animEffect transition="in" filter="wipe(left)">
                                      <p:cBhvr>
                                        <p:cTn id="57" dur="500"/>
                                        <p:tgtEl>
                                          <p:spTgt spid="40"/>
                                        </p:tgtEl>
                                      </p:cBhvr>
                                    </p:animEffect>
                                  </p:childTnLst>
                                </p:cTn>
                              </p:par>
                              <p:par>
                                <p:cTn id="61" presetID="22" presetClass="entr" presetSubtype="8" fill="hold" grpId="0" nodeType="withEffect">
                                  <p:stCondLst>
                                    <p:cond delay="450"/>
                                  </p:stCondLst>
                                  <p:childTnLst>
                                    <p:set>
                                      <p:cBhvr>
                                        <p:cTn id="59" dur="1" fill="hold">
                                          <p:stCondLst>
                                            <p:cond delay="0"/>
                                          </p:stCondLst>
                                        </p:cTn>
                                        <p:tgtEl>
                                          <p:spTgt spid="17"/>
                                        </p:tgtEl>
                                        <p:attrNameLst>
                                          <p:attrName>style.visibility</p:attrName>
                                        </p:attrNameLst>
                                      </p:cBhvr>
                                      <p:to>
                                        <p:strVal val="visible"/>
                                      </p:to>
                                    </p:set>
                                    <p:animEffect transition="in" filter="wipe(left)">
                                      <p:cBhvr>
                                        <p:cTn id="60" dur="500"/>
                                        <p:tgtEl>
                                          <p:spTgt spid="17"/>
                                        </p:tgtEl>
                                      </p:cBhvr>
                                    </p:animEffect>
                                  </p:childTnLst>
                                </p:cTn>
                              </p:par>
                              <p:par>
                                <p:cTn id="64" presetID="22" presetClass="entr" presetSubtype="8" fill="hold" grpId="0" nodeType="withEffect">
                                  <p:stCondLst>
                                    <p:cond delay="450"/>
                                  </p:stCondLst>
                                  <p:childTnLst>
                                    <p:set>
                                      <p:cBhvr>
                                        <p:cTn id="62" dur="1" fill="hold">
                                          <p:stCondLst>
                                            <p:cond delay="0"/>
                                          </p:stCondLst>
                                        </p:cTn>
                                        <p:tgtEl>
                                          <p:spTgt spid="18"/>
                                        </p:tgtEl>
                                        <p:attrNameLst>
                                          <p:attrName>style.visibility</p:attrName>
                                        </p:attrNameLst>
                                      </p:cBhvr>
                                      <p:to>
                                        <p:strVal val="visible"/>
                                      </p:to>
                                    </p:set>
                                    <p:animEffect transition="in" filter="wipe(left)">
                                      <p:cBhvr>
                                        <p:cTn id="63" dur="500"/>
                                        <p:tgtEl>
                                          <p:spTgt spid="18"/>
                                        </p:tgtEl>
                                      </p:cBhvr>
                                    </p:animEffect>
                                  </p:childTnLst>
                                </p:cTn>
                              </p:par>
                              <p:par>
                                <p:cTn id="67" presetID="22" presetClass="entr" presetSubtype="8" fill="hold" grpId="0" nodeType="withEffect">
                                  <p:stCondLst>
                                    <p:cond delay="450"/>
                                  </p:stCondLst>
                                  <p:childTnLst>
                                    <p:set>
                                      <p:cBhvr>
                                        <p:cTn id="65" dur="1" fill="hold">
                                          <p:stCondLst>
                                            <p:cond delay="0"/>
                                          </p:stCondLst>
                                        </p:cTn>
                                        <p:tgtEl>
                                          <p:spTgt spid="29"/>
                                        </p:tgtEl>
                                        <p:attrNameLst>
                                          <p:attrName>style.visibility</p:attrName>
                                        </p:attrNameLst>
                                      </p:cBhvr>
                                      <p:to>
                                        <p:strVal val="visible"/>
                                      </p:to>
                                    </p:set>
                                    <p:animEffect transition="in" filter="wipe(left)">
                                      <p:cBhvr>
                                        <p:cTn id="66" dur="500"/>
                                        <p:tgtEl>
                                          <p:spTgt spid="29"/>
                                        </p:tgtEl>
                                      </p:cBhvr>
                                    </p:animEffect>
                                  </p:childTnLst>
                                </p:cTn>
                              </p:par>
                              <p:par>
                                <p:cTn id="70" presetID="22" presetClass="entr" presetSubtype="8" fill="hold" grpId="0" nodeType="withEffect">
                                  <p:stCondLst>
                                    <p:cond delay="450"/>
                                  </p:stCondLst>
                                  <p:childTnLst>
                                    <p:set>
                                      <p:cBhvr>
                                        <p:cTn id="68" dur="1" fill="hold">
                                          <p:stCondLst>
                                            <p:cond delay="0"/>
                                          </p:stCondLst>
                                        </p:cTn>
                                        <p:tgtEl>
                                          <p:spTgt spid="30"/>
                                        </p:tgtEl>
                                        <p:attrNameLst>
                                          <p:attrName>style.visibility</p:attrName>
                                        </p:attrNameLst>
                                      </p:cBhvr>
                                      <p:to>
                                        <p:strVal val="visible"/>
                                      </p:to>
                                    </p:set>
                                    <p:animEffect transition="in" filter="wipe(left)">
                                      <p:cBhvr>
                                        <p:cTn id="69" dur="500"/>
                                        <p:tgtEl>
                                          <p:spTgt spid="30"/>
                                        </p:tgtEl>
                                      </p:cBhvr>
                                    </p:animEffect>
                                  </p:childTnLst>
                                </p:cTn>
                              </p:par>
                              <p:par>
                                <p:cTn id="73" presetID="22" presetClass="entr" presetSubtype="8" fill="hold" grpId="0" nodeType="withEffect">
                                  <p:stCondLst>
                                    <p:cond delay="450"/>
                                  </p:stCondLst>
                                  <p:childTnLst>
                                    <p:set>
                                      <p:cBhvr>
                                        <p:cTn id="71" dur="1" fill="hold">
                                          <p:stCondLst>
                                            <p:cond delay="0"/>
                                          </p:stCondLst>
                                        </p:cTn>
                                        <p:tgtEl>
                                          <p:spTgt spid="41"/>
                                        </p:tgtEl>
                                        <p:attrNameLst>
                                          <p:attrName>style.visibility</p:attrName>
                                        </p:attrNameLst>
                                      </p:cBhvr>
                                      <p:to>
                                        <p:strVal val="visible"/>
                                      </p:to>
                                    </p:set>
                                    <p:animEffect transition="in" filter="wipe(left)">
                                      <p:cBhvr>
                                        <p:cTn id="72" dur="500"/>
                                        <p:tgtEl>
                                          <p:spTgt spid="41"/>
                                        </p:tgtEl>
                                      </p:cBhvr>
                                    </p:animEffect>
                                  </p:childTnLst>
                                </p:cTn>
                              </p:par>
                              <p:par>
                                <p:cTn id="76" presetID="22" presetClass="entr" presetSubtype="8" fill="hold" grpId="0" nodeType="withEffect">
                                  <p:stCondLst>
                                    <p:cond delay="450"/>
                                  </p:stCondLst>
                                  <p:childTnLst>
                                    <p:set>
                                      <p:cBhvr>
                                        <p:cTn id="74" dur="1" fill="hold">
                                          <p:stCondLst>
                                            <p:cond delay="0"/>
                                          </p:stCondLst>
                                        </p:cTn>
                                        <p:tgtEl>
                                          <p:spTgt spid="42"/>
                                        </p:tgtEl>
                                        <p:attrNameLst>
                                          <p:attrName>style.visibility</p:attrName>
                                        </p:attrNameLst>
                                      </p:cBhvr>
                                      <p:to>
                                        <p:strVal val="visible"/>
                                      </p:to>
                                    </p:set>
                                    <p:animEffect transition="in" filter="wipe(left)">
                                      <p:cBhvr>
                                        <p:cTn id="75" dur="500"/>
                                        <p:tgtEl>
                                          <p:spTgt spid="42"/>
                                        </p:tgtEl>
                                      </p:cBhvr>
                                    </p:animEffect>
                                  </p:childTnLst>
                                </p:cTn>
                              </p:par>
                              <p:par>
                                <p:cTn id="79" presetID="22" presetClass="entr" presetSubtype="8" fill="hold" grpId="0" nodeType="withEffect">
                                  <p:stCondLst>
                                    <p:cond delay="600"/>
                                  </p:stCondLst>
                                  <p:childTnLst>
                                    <p:set>
                                      <p:cBhvr>
                                        <p:cTn id="77" dur="1" fill="hold">
                                          <p:stCondLst>
                                            <p:cond delay="0"/>
                                          </p:stCondLst>
                                        </p:cTn>
                                        <p:tgtEl>
                                          <p:spTgt spid="19"/>
                                        </p:tgtEl>
                                        <p:attrNameLst>
                                          <p:attrName>style.visibility</p:attrName>
                                        </p:attrNameLst>
                                      </p:cBhvr>
                                      <p:to>
                                        <p:strVal val="visible"/>
                                      </p:to>
                                    </p:set>
                                    <p:animEffect transition="in" filter="wipe(left)">
                                      <p:cBhvr>
                                        <p:cTn id="78" dur="500"/>
                                        <p:tgtEl>
                                          <p:spTgt spid="19"/>
                                        </p:tgtEl>
                                      </p:cBhvr>
                                    </p:animEffect>
                                  </p:childTnLst>
                                </p:cTn>
                              </p:par>
                              <p:par>
                                <p:cTn id="82" presetID="22" presetClass="entr" presetSubtype="8" fill="hold" grpId="0" nodeType="withEffect">
                                  <p:stCondLst>
                                    <p:cond delay="600"/>
                                  </p:stCondLst>
                                  <p:childTnLst>
                                    <p:set>
                                      <p:cBhvr>
                                        <p:cTn id="80" dur="1" fill="hold">
                                          <p:stCondLst>
                                            <p:cond delay="0"/>
                                          </p:stCondLst>
                                        </p:cTn>
                                        <p:tgtEl>
                                          <p:spTgt spid="20"/>
                                        </p:tgtEl>
                                        <p:attrNameLst>
                                          <p:attrName>style.visibility</p:attrName>
                                        </p:attrNameLst>
                                      </p:cBhvr>
                                      <p:to>
                                        <p:strVal val="visible"/>
                                      </p:to>
                                    </p:set>
                                    <p:animEffect transition="in" filter="wipe(left)">
                                      <p:cBhvr>
                                        <p:cTn id="81" dur="500"/>
                                        <p:tgtEl>
                                          <p:spTgt spid="20"/>
                                        </p:tgtEl>
                                      </p:cBhvr>
                                    </p:animEffect>
                                  </p:childTnLst>
                                </p:cTn>
                              </p:par>
                              <p:par>
                                <p:cTn id="85" presetID="22" presetClass="entr" presetSubtype="8" fill="hold" grpId="0" nodeType="withEffect">
                                  <p:stCondLst>
                                    <p:cond delay="600"/>
                                  </p:stCondLst>
                                  <p:childTnLst>
                                    <p:set>
                                      <p:cBhvr>
                                        <p:cTn id="83" dur="1" fill="hold">
                                          <p:stCondLst>
                                            <p:cond delay="0"/>
                                          </p:stCondLst>
                                        </p:cTn>
                                        <p:tgtEl>
                                          <p:spTgt spid="31"/>
                                        </p:tgtEl>
                                        <p:attrNameLst>
                                          <p:attrName>style.visibility</p:attrName>
                                        </p:attrNameLst>
                                      </p:cBhvr>
                                      <p:to>
                                        <p:strVal val="visible"/>
                                      </p:to>
                                    </p:set>
                                    <p:animEffect transition="in" filter="wipe(left)">
                                      <p:cBhvr>
                                        <p:cTn id="84" dur="500"/>
                                        <p:tgtEl>
                                          <p:spTgt spid="31"/>
                                        </p:tgtEl>
                                      </p:cBhvr>
                                    </p:animEffect>
                                  </p:childTnLst>
                                </p:cTn>
                              </p:par>
                              <p:par>
                                <p:cTn id="88" presetID="22" presetClass="entr" presetSubtype="8" fill="hold" grpId="0" nodeType="withEffect">
                                  <p:stCondLst>
                                    <p:cond delay="600"/>
                                  </p:stCondLst>
                                  <p:childTnLst>
                                    <p:set>
                                      <p:cBhvr>
                                        <p:cTn id="86" dur="1" fill="hold">
                                          <p:stCondLst>
                                            <p:cond delay="0"/>
                                          </p:stCondLst>
                                        </p:cTn>
                                        <p:tgtEl>
                                          <p:spTgt spid="32"/>
                                        </p:tgtEl>
                                        <p:attrNameLst>
                                          <p:attrName>style.visibility</p:attrName>
                                        </p:attrNameLst>
                                      </p:cBhvr>
                                      <p:to>
                                        <p:strVal val="visible"/>
                                      </p:to>
                                    </p:set>
                                    <p:animEffect transition="in" filter="wipe(left)">
                                      <p:cBhvr>
                                        <p:cTn id="87" dur="500"/>
                                        <p:tgtEl>
                                          <p:spTgt spid="32"/>
                                        </p:tgtEl>
                                      </p:cBhvr>
                                    </p:animEffect>
                                  </p:childTnLst>
                                </p:cTn>
                              </p:par>
                              <p:par>
                                <p:cTn id="91" presetID="22" presetClass="entr" presetSubtype="8" fill="hold" grpId="0" nodeType="withEffect">
                                  <p:stCondLst>
                                    <p:cond delay="600"/>
                                  </p:stCondLst>
                                  <p:childTnLst>
                                    <p:set>
                                      <p:cBhvr>
                                        <p:cTn id="89" dur="1" fill="hold">
                                          <p:stCondLst>
                                            <p:cond delay="0"/>
                                          </p:stCondLst>
                                        </p:cTn>
                                        <p:tgtEl>
                                          <p:spTgt spid="43"/>
                                        </p:tgtEl>
                                        <p:attrNameLst>
                                          <p:attrName>style.visibility</p:attrName>
                                        </p:attrNameLst>
                                      </p:cBhvr>
                                      <p:to>
                                        <p:strVal val="visible"/>
                                      </p:to>
                                    </p:set>
                                    <p:animEffect transition="in" filter="wipe(left)">
                                      <p:cBhvr>
                                        <p:cTn id="90" dur="500"/>
                                        <p:tgtEl>
                                          <p:spTgt spid="43"/>
                                        </p:tgtEl>
                                      </p:cBhvr>
                                    </p:animEffect>
                                  </p:childTnLst>
                                </p:cTn>
                              </p:par>
                              <p:par>
                                <p:cTn id="94" presetID="22" presetClass="entr" presetSubtype="8" fill="hold" grpId="0" nodeType="withEffect">
                                  <p:stCondLst>
                                    <p:cond delay="600"/>
                                  </p:stCondLst>
                                  <p:childTnLst>
                                    <p:set>
                                      <p:cBhvr>
                                        <p:cTn id="92" dur="1" fill="hold">
                                          <p:stCondLst>
                                            <p:cond delay="0"/>
                                          </p:stCondLst>
                                        </p:cTn>
                                        <p:tgtEl>
                                          <p:spTgt spid="44"/>
                                        </p:tgtEl>
                                        <p:attrNameLst>
                                          <p:attrName>style.visibility</p:attrName>
                                        </p:attrNameLst>
                                      </p:cBhvr>
                                      <p:to>
                                        <p:strVal val="visible"/>
                                      </p:to>
                                    </p:set>
                                    <p:animEffect transition="in" filter="wipe(left)">
                                      <p:cBhvr>
                                        <p:cTn id="93" dur="500"/>
                                        <p:tgtEl>
                                          <p:spTgt spid="44"/>
                                        </p:tgtEl>
                                      </p:cBhvr>
                                    </p:animEffect>
                                  </p:childTnLst>
                                </p:cTn>
                              </p:par>
                              <p:par>
                                <p:cTn id="97" presetID="22" presetClass="entr" presetSubtype="8" fill="hold" grpId="0" nodeType="withEffect">
                                  <p:stCondLst>
                                    <p:cond delay="750"/>
                                  </p:stCondLst>
                                  <p:childTnLst>
                                    <p:set>
                                      <p:cBhvr>
                                        <p:cTn id="95" dur="1" fill="hold">
                                          <p:stCondLst>
                                            <p:cond delay="0"/>
                                          </p:stCondLst>
                                        </p:cTn>
                                        <p:tgtEl>
                                          <p:spTgt spid="21"/>
                                        </p:tgtEl>
                                        <p:attrNameLst>
                                          <p:attrName>style.visibility</p:attrName>
                                        </p:attrNameLst>
                                      </p:cBhvr>
                                      <p:to>
                                        <p:strVal val="visible"/>
                                      </p:to>
                                    </p:set>
                                    <p:animEffect transition="in" filter="wipe(left)">
                                      <p:cBhvr>
                                        <p:cTn id="96" dur="500"/>
                                        <p:tgtEl>
                                          <p:spTgt spid="21"/>
                                        </p:tgtEl>
                                      </p:cBhvr>
                                    </p:animEffect>
                                  </p:childTnLst>
                                </p:cTn>
                              </p:par>
                              <p:par>
                                <p:cTn id="100" presetID="22" presetClass="entr" presetSubtype="8" fill="hold" grpId="0" nodeType="withEffect">
                                  <p:stCondLst>
                                    <p:cond delay="750"/>
                                  </p:stCondLst>
                                  <p:childTnLst>
                                    <p:set>
                                      <p:cBhvr>
                                        <p:cTn id="98" dur="1" fill="hold">
                                          <p:stCondLst>
                                            <p:cond delay="0"/>
                                          </p:stCondLst>
                                        </p:cTn>
                                        <p:tgtEl>
                                          <p:spTgt spid="22"/>
                                        </p:tgtEl>
                                        <p:attrNameLst>
                                          <p:attrName>style.visibility</p:attrName>
                                        </p:attrNameLst>
                                      </p:cBhvr>
                                      <p:to>
                                        <p:strVal val="visible"/>
                                      </p:to>
                                    </p:set>
                                    <p:animEffect transition="in" filter="wipe(left)">
                                      <p:cBhvr>
                                        <p:cTn id="99" dur="500"/>
                                        <p:tgtEl>
                                          <p:spTgt spid="22"/>
                                        </p:tgtEl>
                                      </p:cBhvr>
                                    </p:animEffect>
                                  </p:childTnLst>
                                </p:cTn>
                              </p:par>
                              <p:par>
                                <p:cTn id="103" presetID="22" presetClass="entr" presetSubtype="8" fill="hold" grpId="0" nodeType="withEffect">
                                  <p:stCondLst>
                                    <p:cond delay="750"/>
                                  </p:stCondLst>
                                  <p:childTnLst>
                                    <p:set>
                                      <p:cBhvr>
                                        <p:cTn id="101" dur="1" fill="hold">
                                          <p:stCondLst>
                                            <p:cond delay="0"/>
                                          </p:stCondLst>
                                        </p:cTn>
                                        <p:tgtEl>
                                          <p:spTgt spid="33"/>
                                        </p:tgtEl>
                                        <p:attrNameLst>
                                          <p:attrName>style.visibility</p:attrName>
                                        </p:attrNameLst>
                                      </p:cBhvr>
                                      <p:to>
                                        <p:strVal val="visible"/>
                                      </p:to>
                                    </p:set>
                                    <p:animEffect transition="in" filter="wipe(left)">
                                      <p:cBhvr>
                                        <p:cTn id="102" dur="500"/>
                                        <p:tgtEl>
                                          <p:spTgt spid="33"/>
                                        </p:tgtEl>
                                      </p:cBhvr>
                                    </p:animEffect>
                                  </p:childTnLst>
                                </p:cTn>
                              </p:par>
                              <p:par>
                                <p:cTn id="106" presetID="22" presetClass="entr" presetSubtype="8" fill="hold" grpId="0" nodeType="withEffect">
                                  <p:stCondLst>
                                    <p:cond delay="750"/>
                                  </p:stCondLst>
                                  <p:childTnLst>
                                    <p:set>
                                      <p:cBhvr>
                                        <p:cTn id="104" dur="1" fill="hold">
                                          <p:stCondLst>
                                            <p:cond delay="0"/>
                                          </p:stCondLst>
                                        </p:cTn>
                                        <p:tgtEl>
                                          <p:spTgt spid="34"/>
                                        </p:tgtEl>
                                        <p:attrNameLst>
                                          <p:attrName>style.visibility</p:attrName>
                                        </p:attrNameLst>
                                      </p:cBhvr>
                                      <p:to>
                                        <p:strVal val="visible"/>
                                      </p:to>
                                    </p:set>
                                    <p:animEffect transition="in" filter="wipe(left)">
                                      <p:cBhvr>
                                        <p:cTn id="105" dur="500"/>
                                        <p:tgtEl>
                                          <p:spTgt spid="34"/>
                                        </p:tgtEl>
                                      </p:cBhvr>
                                    </p:animEffect>
                                  </p:childTnLst>
                                </p:cTn>
                              </p:par>
                              <p:par>
                                <p:cTn id="109" presetID="22" presetClass="entr" presetSubtype="8" fill="hold" grpId="0" nodeType="withEffect">
                                  <p:stCondLst>
                                    <p:cond delay="750"/>
                                  </p:stCondLst>
                                  <p:childTnLst>
                                    <p:set>
                                      <p:cBhvr>
                                        <p:cTn id="107" dur="1" fill="hold">
                                          <p:stCondLst>
                                            <p:cond delay="0"/>
                                          </p:stCondLst>
                                        </p:cTn>
                                        <p:tgtEl>
                                          <p:spTgt spid="45"/>
                                        </p:tgtEl>
                                        <p:attrNameLst>
                                          <p:attrName>style.visibility</p:attrName>
                                        </p:attrNameLst>
                                      </p:cBhvr>
                                      <p:to>
                                        <p:strVal val="visible"/>
                                      </p:to>
                                    </p:set>
                                    <p:animEffect transition="in" filter="wipe(left)">
                                      <p:cBhvr>
                                        <p:cTn id="108" dur="500"/>
                                        <p:tgtEl>
                                          <p:spTgt spid="45"/>
                                        </p:tgtEl>
                                      </p:cBhvr>
                                    </p:animEffect>
                                  </p:childTnLst>
                                </p:cTn>
                              </p:par>
                              <p:par>
                                <p:cTn id="112" presetID="22" presetClass="entr" presetSubtype="8" fill="hold" grpId="0" nodeType="withEffect">
                                  <p:stCondLst>
                                    <p:cond delay="750"/>
                                  </p:stCondLst>
                                  <p:childTnLst>
                                    <p:set>
                                      <p:cBhvr>
                                        <p:cTn id="110" dur="1" fill="hold">
                                          <p:stCondLst>
                                            <p:cond delay="0"/>
                                          </p:stCondLst>
                                        </p:cTn>
                                        <p:tgtEl>
                                          <p:spTgt spid="46"/>
                                        </p:tgtEl>
                                        <p:attrNameLst>
                                          <p:attrName>style.visibility</p:attrName>
                                        </p:attrNameLst>
                                      </p:cBhvr>
                                      <p:to>
                                        <p:strVal val="visible"/>
                                      </p:to>
                                    </p:set>
                                    <p:animEffect transition="in" filter="wipe(left)">
                                      <p:cBhvr>
                                        <p:cTn id="111" dur="500"/>
                                        <p:tgtEl>
                                          <p:spTgt spid="46"/>
                                        </p:tgtEl>
                                      </p:cBhvr>
                                    </p:animEffect>
                                  </p:childTnLst>
                                </p:cTn>
                              </p:par>
                            </p:childTnLst>
                          </p:cTn>
                        </p:par>
                      </p:childTnLst>
                    </p:cTn>
                  </p:par>
                  <p:par>
                    <p:cTn id="113" fill="hold">
                      <p:stCondLst>
                        <p:cond delay="indefinite"/>
                      </p:stCondLst>
                      <p:childTnLst>
                        <p:par>
                          <p:cTn id="114" fill="hold">
                            <p:stCondLst>
                              <p:cond delay="0"/>
                            </p:stCondLst>
                            <p:childTnLst>
                              <p:par>
                                <p:cTn id="119" presetID="2" presetClass="entr" presetSubtype="4" fill="hold" grpId="0" nodeType="clickEffect">
                                  <p:stCondLst>
                                    <p:cond delay="0"/>
                                  </p:stCondLst>
                                  <p:childTnLst>
                                    <p:set>
                                      <p:cBhvr>
                                        <p:cTn id="115" dur="1" fill="hold">
                                          <p:stCondLst>
                                            <p:cond delay="0"/>
                                          </p:stCondLst>
                                        </p:cTn>
                                        <p:tgtEl>
                                          <p:spTgt spid="47"/>
                                        </p:tgtEl>
                                        <p:attrNameLst>
                                          <p:attrName>style.visibility</p:attrName>
                                        </p:attrNameLst>
                                      </p:cBhvr>
                                      <p:to>
                                        <p:strVal val="visible"/>
                                      </p:to>
                                    </p:set>
                                    <p:anim calcmode="lin" valueType="num">
                                      <p:cBhvr additive="base">
                                        <p:cTn id="116" dur="500" fill="hold"/>
                                        <p:tgtEl>
                                          <p:spTgt spid="47"/>
                                        </p:tgtEl>
                                        <p:attrNameLst>
                                          <p:attrName>ppt_x</p:attrName>
                                        </p:attrNameLst>
                                      </p:cBhvr>
                                      <p:tavLst>
                                        <p:tav tm="0">
                                          <p:val>
                                            <p:strVal val="#ppt_x"/>
                                          </p:val>
                                        </p:tav>
                                        <p:tav tm="100000">
                                          <p:val>
                                            <p:strVal val="#ppt_x"/>
                                          </p:val>
                                        </p:tav>
                                      </p:tavLst>
                                    </p:anim>
                                    <p:anim calcmode="lin" valueType="num">
                                      <p:cBhvr additive="base">
                                        <p:cTn id="117" dur="500" fill="hold"/>
                                        <p:tgtEl>
                                          <p:spTgt spid="47"/>
                                        </p:tgtEl>
                                        <p:attrNameLst>
                                          <p:attrName>ppt_y</p:attrName>
                                        </p:attrNameLst>
                                      </p:cBhvr>
                                      <p:tavLst>
                                        <p:tav tm="0">
                                          <p:val>
                                            <p:strVal val="#ppt_y+0.1"/>
                                          </p:val>
                                        </p:tav>
                                        <p:tav tm="100000">
                                          <p:val>
                                            <p:strVal val="#ppt_y"/>
                                          </p:val>
                                        </p:tav>
                                      </p:tavLst>
                                    </p:anim>
                                    <p:animEffect transition="in" filter="fade">
                                      <p:cBhvr>
                                        <p:cTn id="118" dur="500"/>
                                        <p:tgtEl>
                                          <p:spTgt spid="47"/>
                                        </p:tgtEl>
                                      </p:cBhvr>
                                    </p:animEffect>
                                  </p:childTnLst>
                                </p:cTn>
                              </p:par>
                              <p:par>
                                <p:cTn id="124" presetID="2" presetClass="entr" presetSubtype="4" fill="hold" grpId="0" nodeType="withEffect">
                                  <p:stCondLst>
                                    <p:cond delay="0"/>
                                  </p:stCondLst>
                                  <p:childTnLst>
                                    <p:set>
                                      <p:cBhvr>
                                        <p:cTn id="120" dur="1" fill="hold">
                                          <p:stCondLst>
                                            <p:cond delay="0"/>
                                          </p:stCondLst>
                                        </p:cTn>
                                        <p:tgtEl>
                                          <p:spTgt spid="48"/>
                                        </p:tgtEl>
                                        <p:attrNameLst>
                                          <p:attrName>style.visibility</p:attrName>
                                        </p:attrNameLst>
                                      </p:cBhvr>
                                      <p:to>
                                        <p:strVal val="visible"/>
                                      </p:to>
                                    </p:set>
                                    <p:anim calcmode="lin" valueType="num">
                                      <p:cBhvr additive="base">
                                        <p:cTn id="121" dur="500" fill="hold"/>
                                        <p:tgtEl>
                                          <p:spTgt spid="48"/>
                                        </p:tgtEl>
                                        <p:attrNameLst>
                                          <p:attrName>ppt_x</p:attrName>
                                        </p:attrNameLst>
                                      </p:cBhvr>
                                      <p:tavLst>
                                        <p:tav tm="0">
                                          <p:val>
                                            <p:strVal val="#ppt_x"/>
                                          </p:val>
                                        </p:tav>
                                        <p:tav tm="100000">
                                          <p:val>
                                            <p:strVal val="#ppt_x"/>
                                          </p:val>
                                        </p:tav>
                                      </p:tavLst>
                                    </p:anim>
                                    <p:anim calcmode="lin" valueType="num">
                                      <p:cBhvr additive="base">
                                        <p:cTn id="122" dur="500" fill="hold"/>
                                        <p:tgtEl>
                                          <p:spTgt spid="48"/>
                                        </p:tgtEl>
                                        <p:attrNameLst>
                                          <p:attrName>ppt_y</p:attrName>
                                        </p:attrNameLst>
                                      </p:cBhvr>
                                      <p:tavLst>
                                        <p:tav tm="0">
                                          <p:val>
                                            <p:strVal val="#ppt_y+0.1"/>
                                          </p:val>
                                        </p:tav>
                                        <p:tav tm="100000">
                                          <p:val>
                                            <p:strVal val="#ppt_y"/>
                                          </p:val>
                                        </p:tav>
                                      </p:tavLst>
                                    </p:anim>
                                    <p:animEffect transition="in" filter="fade">
                                      <p:cBhvr>
                                        <p:cTn id="123" dur="500"/>
                                        <p:tgtEl>
                                          <p:spTgt spid="48"/>
                                        </p:tgtEl>
                                      </p:cBhvr>
                                    </p:animEffect>
                                  </p:childTnLst>
                                </p:cTn>
                              </p:par>
                              <p:par>
                                <p:cTn id="129" presetID="2" presetClass="entr" presetSubtype="4" fill="hold" grpId="0" nodeType="withEffect">
                                  <p:stCondLst>
                                    <p:cond delay="0"/>
                                  </p:stCondLst>
                                  <p:childTnLst>
                                    <p:set>
                                      <p:cBhvr>
                                        <p:cTn id="125" dur="1" fill="hold">
                                          <p:stCondLst>
                                            <p:cond delay="0"/>
                                          </p:stCondLst>
                                        </p:cTn>
                                        <p:tgtEl>
                                          <p:spTgt spid="49"/>
                                        </p:tgtEl>
                                        <p:attrNameLst>
                                          <p:attrName>style.visibility</p:attrName>
                                        </p:attrNameLst>
                                      </p:cBhvr>
                                      <p:to>
                                        <p:strVal val="visible"/>
                                      </p:to>
                                    </p:set>
                                    <p:anim calcmode="lin" valueType="num">
                                      <p:cBhvr additive="base">
                                        <p:cTn id="126" dur="500" fill="hold"/>
                                        <p:tgtEl>
                                          <p:spTgt spid="49"/>
                                        </p:tgtEl>
                                        <p:attrNameLst>
                                          <p:attrName>ppt_x</p:attrName>
                                        </p:attrNameLst>
                                      </p:cBhvr>
                                      <p:tavLst>
                                        <p:tav tm="0">
                                          <p:val>
                                            <p:strVal val="#ppt_x"/>
                                          </p:val>
                                        </p:tav>
                                        <p:tav tm="100000">
                                          <p:val>
                                            <p:strVal val="#ppt_x"/>
                                          </p:val>
                                        </p:tav>
                                      </p:tavLst>
                                    </p:anim>
                                    <p:anim calcmode="lin" valueType="num">
                                      <p:cBhvr additive="base">
                                        <p:cTn id="127" dur="500" fill="hold"/>
                                        <p:tgtEl>
                                          <p:spTgt spid="49"/>
                                        </p:tgtEl>
                                        <p:attrNameLst>
                                          <p:attrName>ppt_y</p:attrName>
                                        </p:attrNameLst>
                                      </p:cBhvr>
                                      <p:tavLst>
                                        <p:tav tm="0">
                                          <p:val>
                                            <p:strVal val="#ppt_y+0.1"/>
                                          </p:val>
                                        </p:tav>
                                        <p:tav tm="100000">
                                          <p:val>
                                            <p:strVal val="#ppt_y"/>
                                          </p:val>
                                        </p:tav>
                                      </p:tavLst>
                                    </p:anim>
                                    <p:animEffect transition="in" filter="fade">
                                      <p:cBhvr>
                                        <p:cTn id="12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What Is a Commit Log?</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Borrowed from databases: the permanent record of every committed change</a:t>
            </a:r>
          </a:p>
        </p:txBody>
      </p:sp>
      <p:sp>
        <p:nvSpPr>
          <p:cNvPr id="11" name="a1u_nb10"/>
          <p:cNvSpPr/>
          <p:nvPr/>
        </p:nvSpPr>
        <p:spPr>
          <a:xfrm>
            <a:off x="457200" y="1280160"/>
            <a:ext cx="3931920" cy="1143000"/>
          </a:xfrm>
          <a:prstGeom prst="roundRect">
            <a:avLst>
              <a:gd name="adj" fmla="val 64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acc11"/>
          <p:cNvSpPr/>
          <p:nvPr/>
        </p:nvSpPr>
        <p:spPr>
          <a:xfrm>
            <a:off x="457200" y="1280160"/>
            <a:ext cx="54864" cy="1143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nt12"/>
          <p:cNvSpPr txBox="1"/>
          <p:nvPr/>
        </p:nvSpPr>
        <p:spPr>
          <a:xfrm>
            <a:off x="658368" y="1280160"/>
            <a:ext cx="3529584" cy="1143000"/>
          </a:xfrm>
          <a:prstGeom prst="rect">
            <a:avLst/>
          </a:prstGeom>
          <a:noFill/>
        </p:spPr>
        <p:txBody>
          <a:bodyPr wrap="square" lIns="0" tIns="0" rIns="0" bIns="0" anchor="ctr">
            <a:spAutoFit/>
          </a:bodyPr>
          <a:lstStyle/>
          <a:p>
            <a:pPr algn="l"/>
            <a:r>
              <a:rPr sz="950" b="1">
                <a:solidFill>
                  <a:srgbClr val="C2410C"/>
                </a:solidFill>
                <a:latin typeface="Segoe UI"/>
              </a:rPr>
              <a:t>1  </a:t>
            </a:r>
            <a:r>
              <a:rPr sz="950" b="0">
                <a:solidFill>
                  <a:srgbClr val="44403C"/>
                </a:solidFill>
                <a:latin typeface="Segoe UI"/>
              </a:rPr>
              <a:t>COMMIT: making a set of tentative changes permanent. It marks the end of a transaction and provides the Durability in ACID.</a:t>
            </a:r>
          </a:p>
        </p:txBody>
      </p:sp>
      <p:sp>
        <p:nvSpPr>
          <p:cNvPr id="14" name="a2u_nb13"/>
          <p:cNvSpPr/>
          <p:nvPr/>
        </p:nvSpPr>
        <p:spPr>
          <a:xfrm>
            <a:off x="457200" y="2560320"/>
            <a:ext cx="3931920" cy="960120"/>
          </a:xfrm>
          <a:prstGeom prst="roundRect">
            <a:avLst>
              <a:gd name="adj" fmla="val 7619"/>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2u_nacc14"/>
          <p:cNvSpPr/>
          <p:nvPr/>
        </p:nvSpPr>
        <p:spPr>
          <a:xfrm>
            <a:off x="457200" y="2560320"/>
            <a:ext cx="54864" cy="9601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_nt15"/>
          <p:cNvSpPr txBox="1"/>
          <p:nvPr/>
        </p:nvSpPr>
        <p:spPr>
          <a:xfrm>
            <a:off x="658368" y="2560320"/>
            <a:ext cx="3529584" cy="960120"/>
          </a:xfrm>
          <a:prstGeom prst="rect">
            <a:avLst/>
          </a:prstGeom>
          <a:noFill/>
        </p:spPr>
        <p:txBody>
          <a:bodyPr wrap="square" lIns="0" tIns="0" rIns="0" bIns="0" anchor="ctr">
            <a:spAutoFit/>
          </a:bodyPr>
          <a:lstStyle/>
          <a:p>
            <a:pPr algn="l"/>
            <a:r>
              <a:rPr sz="950" b="1">
                <a:solidFill>
                  <a:srgbClr val="0E7490"/>
                </a:solidFill>
                <a:latin typeface="Segoe UI"/>
              </a:rPr>
              <a:t>2  </a:t>
            </a:r>
            <a:r>
              <a:rPr sz="950" b="0">
                <a:solidFill>
                  <a:srgbClr val="44403C"/>
                </a:solidFill>
                <a:latin typeface="Segoe UI"/>
              </a:rPr>
              <a:t>COMMIT LOG: the record of those commits, kept in the order they happened.</a:t>
            </a:r>
          </a:p>
        </p:txBody>
      </p:sp>
      <p:sp>
        <p:nvSpPr>
          <p:cNvPr id="17" name="a1f_codebg16"/>
          <p:cNvSpPr/>
          <p:nvPr/>
        </p:nvSpPr>
        <p:spPr>
          <a:xfrm>
            <a:off x="4663440" y="1280160"/>
            <a:ext cx="4023360" cy="1408176"/>
          </a:xfrm>
          <a:prstGeom prst="roundRect">
            <a:avLst>
              <a:gd name="adj" fmla="val 5194"/>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f_codeh17"/>
          <p:cNvSpPr txBox="1"/>
          <p:nvPr/>
        </p:nvSpPr>
        <p:spPr>
          <a:xfrm>
            <a:off x="4791455" y="1335024"/>
            <a:ext cx="3767328" cy="219456"/>
          </a:xfrm>
          <a:prstGeom prst="rect">
            <a:avLst/>
          </a:prstGeom>
          <a:noFill/>
        </p:spPr>
        <p:txBody>
          <a:bodyPr wrap="square" lIns="0" tIns="0" rIns="0" bIns="0" anchor="ctr">
            <a:spAutoFit/>
          </a:bodyPr>
          <a:lstStyle/>
          <a:p>
            <a:pPr algn="l"/>
            <a:r>
              <a:rPr sz="950" b="1">
                <a:solidFill>
                  <a:srgbClr val="A8A29E"/>
                </a:solidFill>
                <a:latin typeface="Consolas"/>
              </a:rPr>
              <a:t>one transfer = one transaction</a:t>
            </a:r>
          </a:p>
        </p:txBody>
      </p:sp>
      <p:sp>
        <p:nvSpPr>
          <p:cNvPr id="19" name="a1f_codesep18"/>
          <p:cNvSpPr/>
          <p:nvPr/>
        </p:nvSpPr>
        <p:spPr>
          <a:xfrm>
            <a:off x="4791455" y="1609343"/>
            <a:ext cx="3767328"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w_code19"/>
          <p:cNvSpPr txBox="1"/>
          <p:nvPr/>
        </p:nvSpPr>
        <p:spPr>
          <a:xfrm>
            <a:off x="4791455" y="1682495"/>
            <a:ext cx="3767328" cy="219456"/>
          </a:xfrm>
          <a:prstGeom prst="rect">
            <a:avLst/>
          </a:prstGeom>
          <a:noFill/>
        </p:spPr>
        <p:txBody>
          <a:bodyPr wrap="none" lIns="0" tIns="0" rIns="0" bIns="0" anchor="ctr">
            <a:spAutoFit/>
          </a:bodyPr>
          <a:lstStyle/>
          <a:p>
            <a:pPr algn="l"/>
            <a:r>
              <a:rPr sz="830" b="1">
                <a:solidFill>
                  <a:srgbClr val="FDBA74"/>
                </a:solidFill>
                <a:latin typeface="Consolas"/>
              </a:rPr>
              <a:t>BEGIN;</a:t>
            </a:r>
          </a:p>
        </p:txBody>
      </p:sp>
      <p:sp>
        <p:nvSpPr>
          <p:cNvPr id="21" name="a1wd150_code20"/>
          <p:cNvSpPr txBox="1"/>
          <p:nvPr/>
        </p:nvSpPr>
        <p:spPr>
          <a:xfrm>
            <a:off x="4791455" y="1901952"/>
            <a:ext cx="3767328" cy="219456"/>
          </a:xfrm>
          <a:prstGeom prst="rect">
            <a:avLst/>
          </a:prstGeom>
          <a:noFill/>
        </p:spPr>
        <p:txBody>
          <a:bodyPr wrap="none" lIns="0" tIns="0" rIns="0" bIns="0" anchor="ctr">
            <a:spAutoFit/>
          </a:bodyPr>
          <a:lstStyle/>
          <a:p>
            <a:pPr algn="l"/>
            <a:r>
              <a:rPr sz="830" b="0">
                <a:solidFill>
                  <a:srgbClr val="E7E5E4"/>
                </a:solidFill>
                <a:latin typeface="Consolas"/>
              </a:rPr>
              <a:t>UPDATE account SET bal = bal - 500 WHERE id = 'A';</a:t>
            </a:r>
          </a:p>
        </p:txBody>
      </p:sp>
      <p:sp>
        <p:nvSpPr>
          <p:cNvPr id="22" name="a1wd300_code21"/>
          <p:cNvSpPr txBox="1"/>
          <p:nvPr/>
        </p:nvSpPr>
        <p:spPr>
          <a:xfrm>
            <a:off x="4791455" y="2121408"/>
            <a:ext cx="3767328" cy="219456"/>
          </a:xfrm>
          <a:prstGeom prst="rect">
            <a:avLst/>
          </a:prstGeom>
          <a:noFill/>
        </p:spPr>
        <p:txBody>
          <a:bodyPr wrap="none" lIns="0" tIns="0" rIns="0" bIns="0" anchor="ctr">
            <a:spAutoFit/>
          </a:bodyPr>
          <a:lstStyle/>
          <a:p>
            <a:pPr algn="l"/>
            <a:r>
              <a:rPr sz="830" b="0">
                <a:solidFill>
                  <a:srgbClr val="E7E5E4"/>
                </a:solidFill>
                <a:latin typeface="Consolas"/>
              </a:rPr>
              <a:t>UPDATE account SET bal = bal + 500 WHERE id = 'B';</a:t>
            </a:r>
          </a:p>
        </p:txBody>
      </p:sp>
      <p:sp>
        <p:nvSpPr>
          <p:cNvPr id="23" name="a1wd450_code22"/>
          <p:cNvSpPr txBox="1"/>
          <p:nvPr/>
        </p:nvSpPr>
        <p:spPr>
          <a:xfrm>
            <a:off x="4791455" y="2340863"/>
            <a:ext cx="3767328" cy="219456"/>
          </a:xfrm>
          <a:prstGeom prst="rect">
            <a:avLst/>
          </a:prstGeom>
          <a:noFill/>
        </p:spPr>
        <p:txBody>
          <a:bodyPr wrap="none" lIns="0" tIns="0" rIns="0" bIns="0" anchor="ctr">
            <a:spAutoFit/>
          </a:bodyPr>
          <a:lstStyle/>
          <a:p>
            <a:pPr algn="l"/>
            <a:r>
              <a:rPr sz="830" b="0">
                <a:solidFill>
                  <a:srgbClr val="86EFAC"/>
                </a:solidFill>
                <a:latin typeface="Consolas"/>
              </a:rPr>
              <a:t>COMMIT;   -- now permanent</a:t>
            </a:r>
          </a:p>
        </p:txBody>
      </p:sp>
      <p:sp>
        <p:nvSpPr>
          <p:cNvPr id="24" name="a2f_lb23"/>
          <p:cNvSpPr txBox="1"/>
          <p:nvPr/>
        </p:nvSpPr>
        <p:spPr>
          <a:xfrm>
            <a:off x="4663440" y="2798064"/>
            <a:ext cx="4023360" cy="201168"/>
          </a:xfrm>
          <a:prstGeom prst="rect">
            <a:avLst/>
          </a:prstGeom>
          <a:noFill/>
        </p:spPr>
        <p:txBody>
          <a:bodyPr wrap="square" lIns="0" tIns="0" rIns="0" bIns="0" anchor="ctr">
            <a:spAutoFit/>
          </a:bodyPr>
          <a:lstStyle/>
          <a:p>
            <a:pPr algn="l"/>
            <a:r>
              <a:rPr sz="850" b="1">
                <a:solidFill>
                  <a:srgbClr val="44403C"/>
                </a:solidFill>
                <a:latin typeface="Segoe UI"/>
              </a:rPr>
              <a:t>the commit log - one entry per commit, in order</a:t>
            </a:r>
          </a:p>
        </p:txBody>
      </p:sp>
      <p:sp>
        <p:nvSpPr>
          <p:cNvPr id="25" name="a2w_cell24"/>
          <p:cNvSpPr/>
          <p:nvPr/>
        </p:nvSpPr>
        <p:spPr>
          <a:xfrm>
            <a:off x="4663440" y="3072384"/>
            <a:ext cx="804672" cy="40233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w_cellt25"/>
          <p:cNvSpPr txBox="1"/>
          <p:nvPr/>
        </p:nvSpPr>
        <p:spPr>
          <a:xfrm>
            <a:off x="4663440" y="3072384"/>
            <a:ext cx="804672" cy="402336"/>
          </a:xfrm>
          <a:prstGeom prst="rect">
            <a:avLst/>
          </a:prstGeom>
          <a:noFill/>
        </p:spPr>
        <p:txBody>
          <a:bodyPr wrap="square" lIns="0" tIns="0" rIns="0" bIns="0" anchor="ctr">
            <a:spAutoFit/>
          </a:bodyPr>
          <a:lstStyle/>
          <a:p>
            <a:pPr algn="ctr"/>
            <a:r>
              <a:rPr sz="1000" b="1">
                <a:solidFill>
                  <a:srgbClr val="0E7490"/>
                </a:solidFill>
                <a:latin typeface="Consolas"/>
              </a:rPr>
              <a:t>#39</a:t>
            </a:r>
          </a:p>
        </p:txBody>
      </p:sp>
      <p:sp>
        <p:nvSpPr>
          <p:cNvPr id="27" name="a2wd100_cell26"/>
          <p:cNvSpPr/>
          <p:nvPr/>
        </p:nvSpPr>
        <p:spPr>
          <a:xfrm>
            <a:off x="5468112" y="3072384"/>
            <a:ext cx="804672" cy="40233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wd100_cellt27"/>
          <p:cNvSpPr txBox="1"/>
          <p:nvPr/>
        </p:nvSpPr>
        <p:spPr>
          <a:xfrm>
            <a:off x="5468112" y="3072384"/>
            <a:ext cx="804672" cy="402336"/>
          </a:xfrm>
          <a:prstGeom prst="rect">
            <a:avLst/>
          </a:prstGeom>
          <a:noFill/>
        </p:spPr>
        <p:txBody>
          <a:bodyPr wrap="square" lIns="0" tIns="0" rIns="0" bIns="0" anchor="ctr">
            <a:spAutoFit/>
          </a:bodyPr>
          <a:lstStyle/>
          <a:p>
            <a:pPr algn="ctr"/>
            <a:r>
              <a:rPr sz="1000" b="1">
                <a:solidFill>
                  <a:srgbClr val="0E7490"/>
                </a:solidFill>
                <a:latin typeface="Consolas"/>
              </a:rPr>
              <a:t>#40</a:t>
            </a:r>
          </a:p>
        </p:txBody>
      </p:sp>
      <p:sp>
        <p:nvSpPr>
          <p:cNvPr id="29" name="a2wd200_cell28"/>
          <p:cNvSpPr/>
          <p:nvPr/>
        </p:nvSpPr>
        <p:spPr>
          <a:xfrm>
            <a:off x="6272783" y="3072384"/>
            <a:ext cx="804672" cy="40233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wd200_cellt29"/>
          <p:cNvSpPr txBox="1"/>
          <p:nvPr/>
        </p:nvSpPr>
        <p:spPr>
          <a:xfrm>
            <a:off x="6272783" y="3072384"/>
            <a:ext cx="804672" cy="402336"/>
          </a:xfrm>
          <a:prstGeom prst="rect">
            <a:avLst/>
          </a:prstGeom>
          <a:noFill/>
        </p:spPr>
        <p:txBody>
          <a:bodyPr wrap="square" lIns="0" tIns="0" rIns="0" bIns="0" anchor="ctr">
            <a:spAutoFit/>
          </a:bodyPr>
          <a:lstStyle/>
          <a:p>
            <a:pPr algn="ctr"/>
            <a:r>
              <a:rPr sz="1000" b="1">
                <a:solidFill>
                  <a:srgbClr val="0E7490"/>
                </a:solidFill>
                <a:latin typeface="Consolas"/>
              </a:rPr>
              <a:t>#41</a:t>
            </a:r>
          </a:p>
        </p:txBody>
      </p:sp>
      <p:sp>
        <p:nvSpPr>
          <p:cNvPr id="31" name="a2wd300_cell30"/>
          <p:cNvSpPr/>
          <p:nvPr/>
        </p:nvSpPr>
        <p:spPr>
          <a:xfrm>
            <a:off x="7077456" y="3072384"/>
            <a:ext cx="804672" cy="40233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wd300_cellt31"/>
          <p:cNvSpPr txBox="1"/>
          <p:nvPr/>
        </p:nvSpPr>
        <p:spPr>
          <a:xfrm>
            <a:off x="7077456" y="3072384"/>
            <a:ext cx="804672" cy="402336"/>
          </a:xfrm>
          <a:prstGeom prst="rect">
            <a:avLst/>
          </a:prstGeom>
          <a:noFill/>
        </p:spPr>
        <p:txBody>
          <a:bodyPr wrap="square" lIns="0" tIns="0" rIns="0" bIns="0" anchor="ctr">
            <a:spAutoFit/>
          </a:bodyPr>
          <a:lstStyle/>
          <a:p>
            <a:pPr algn="ctr"/>
            <a:r>
              <a:rPr sz="1000" b="1">
                <a:solidFill>
                  <a:srgbClr val="0E7490"/>
                </a:solidFill>
                <a:latin typeface="Consolas"/>
              </a:rPr>
              <a:t>#42</a:t>
            </a:r>
          </a:p>
        </p:txBody>
      </p:sp>
      <p:sp>
        <p:nvSpPr>
          <p:cNvPr id="33" name="a2wd400_cell32"/>
          <p:cNvSpPr/>
          <p:nvPr/>
        </p:nvSpPr>
        <p:spPr>
          <a:xfrm>
            <a:off x="7882127" y="3072384"/>
            <a:ext cx="804672" cy="402336"/>
          </a:xfrm>
          <a:prstGeom prst="rect">
            <a:avLst/>
          </a:prstGeom>
          <a:solidFill>
            <a:srgbClr val="0E7490"/>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2wd400_cellt33"/>
          <p:cNvSpPr txBox="1"/>
          <p:nvPr/>
        </p:nvSpPr>
        <p:spPr>
          <a:xfrm>
            <a:off x="7882127" y="3072384"/>
            <a:ext cx="804672" cy="402336"/>
          </a:xfrm>
          <a:prstGeom prst="rect">
            <a:avLst/>
          </a:prstGeom>
          <a:noFill/>
        </p:spPr>
        <p:txBody>
          <a:bodyPr wrap="square" lIns="0" tIns="0" rIns="0" bIns="0" anchor="ctr">
            <a:spAutoFit/>
          </a:bodyPr>
          <a:lstStyle/>
          <a:p>
            <a:pPr algn="ctr"/>
            <a:r>
              <a:rPr sz="1000" b="1">
                <a:solidFill>
                  <a:srgbClr val="FFFFFF"/>
                </a:solidFill>
                <a:latin typeface="Consolas"/>
              </a:rPr>
              <a:t>#43</a:t>
            </a:r>
          </a:p>
        </p:txBody>
      </p:sp>
      <p:sp>
        <p:nvSpPr>
          <p:cNvPr id="35" name="a2fd500_lb34"/>
          <p:cNvSpPr txBox="1"/>
          <p:nvPr/>
        </p:nvSpPr>
        <p:spPr>
          <a:xfrm>
            <a:off x="7882127" y="3493008"/>
            <a:ext cx="804672" cy="201168"/>
          </a:xfrm>
          <a:prstGeom prst="rect">
            <a:avLst/>
          </a:prstGeom>
          <a:noFill/>
        </p:spPr>
        <p:txBody>
          <a:bodyPr wrap="square" lIns="0" tIns="0" rIns="0" bIns="0" anchor="ctr">
            <a:spAutoFit/>
          </a:bodyPr>
          <a:lstStyle/>
          <a:p>
            <a:pPr algn="ctr"/>
            <a:r>
              <a:rPr sz="750" b="1">
                <a:solidFill>
                  <a:srgbClr val="0E7490"/>
                </a:solidFill>
                <a:latin typeface="Segoe UI"/>
              </a:rPr>
              <a:t>this transfer</a:t>
            </a:r>
          </a:p>
        </p:txBody>
      </p:sp>
      <p:sp>
        <p:nvSpPr>
          <p:cNvPr id="36" name="a3u_nb35"/>
          <p:cNvSpPr/>
          <p:nvPr/>
        </p:nvSpPr>
        <p:spPr>
          <a:xfrm>
            <a:off x="457200" y="3749039"/>
            <a:ext cx="8229600" cy="640080"/>
          </a:xfrm>
          <a:prstGeom prst="roundRect">
            <a:avLst>
              <a:gd name="adj" fmla="val 11428"/>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3u_nacc36"/>
          <p:cNvSpPr/>
          <p:nvPr/>
        </p:nvSpPr>
        <p:spPr>
          <a:xfrm>
            <a:off x="457200" y="3749039"/>
            <a:ext cx="54864" cy="64008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3u_nt37"/>
          <p:cNvSpPr txBox="1"/>
          <p:nvPr/>
        </p:nvSpPr>
        <p:spPr>
          <a:xfrm>
            <a:off x="658368" y="3749039"/>
            <a:ext cx="7827264" cy="640080"/>
          </a:xfrm>
          <a:prstGeom prst="rect">
            <a:avLst/>
          </a:prstGeom>
          <a:noFill/>
        </p:spPr>
        <p:txBody>
          <a:bodyPr wrap="square" lIns="0" tIns="0" rIns="0" bIns="0" anchor="ctr">
            <a:spAutoFit/>
          </a:bodyPr>
          <a:lstStyle/>
          <a:p>
            <a:pPr algn="l"/>
            <a:r>
              <a:rPr sz="900" b="1">
                <a:solidFill>
                  <a:srgbClr val="A16207"/>
                </a:solidFill>
                <a:latin typeface="Segoe UI"/>
              </a:rPr>
              <a:t>i  </a:t>
            </a:r>
            <a:r>
              <a:rPr sz="900" b="0">
                <a:solidFill>
                  <a:srgbClr val="44403C"/>
                </a:solidFill>
                <a:latin typeface="Segoe UI"/>
              </a:rPr>
              <a:t>Databases already keep one: PostgreSQL's write-ahead log, MySQL's binlog, Oracle's redo log. Kafka takes this idea and makes the commit log itself the product.</a:t>
            </a:r>
          </a:p>
        </p:txBody>
      </p:sp>
      <p:sp>
        <p:nvSpPr>
          <p:cNvPr id="39" name="ft3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47</a:t>
            </a:r>
          </a:p>
        </p:txBody>
      </p:sp>
      <p:sp>
        <p:nvSpPr>
          <p:cNvPr id="40" name="ft3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ft4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2" name="ft4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31" presetID="22" presetClass="entr" presetSubtype="8"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left)">
                                      <p:cBhvr>
                                        <p:cTn id="30" dur="500"/>
                                        <p:tgtEl>
                                          <p:spTgt spid="20"/>
                                        </p:tgtEl>
                                      </p:cBhvr>
                                    </p:animEffect>
                                  </p:childTnLst>
                                </p:cTn>
                              </p:par>
                              <p:par>
                                <p:cTn id="34" presetID="22" presetClass="entr" presetSubtype="8" fill="hold" grpId="0" nodeType="withEffect">
                                  <p:stCondLst>
                                    <p:cond delay="15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par>
                                <p:cTn id="37" presetID="22" presetClass="entr" presetSubtype="8" fill="hold" grpId="0" nodeType="withEffect">
                                  <p:stCondLst>
                                    <p:cond delay="300"/>
                                  </p:stCondLst>
                                  <p:childTnLst>
                                    <p:set>
                                      <p:cBhvr>
                                        <p:cTn id="35" dur="1" fill="hold">
                                          <p:stCondLst>
                                            <p:cond delay="0"/>
                                          </p:stCondLst>
                                        </p:cTn>
                                        <p:tgtEl>
                                          <p:spTgt spid="22"/>
                                        </p:tgtEl>
                                        <p:attrNameLst>
                                          <p:attrName>style.visibility</p:attrName>
                                        </p:attrNameLst>
                                      </p:cBhvr>
                                      <p:to>
                                        <p:strVal val="visible"/>
                                      </p:to>
                                    </p:set>
                                    <p:animEffect transition="in" filter="wipe(left)">
                                      <p:cBhvr>
                                        <p:cTn id="36" dur="500"/>
                                        <p:tgtEl>
                                          <p:spTgt spid="22"/>
                                        </p:tgtEl>
                                      </p:cBhvr>
                                    </p:animEffect>
                                  </p:childTnLst>
                                </p:cTn>
                              </p:par>
                              <p:par>
                                <p:cTn id="40" presetID="22" presetClass="entr" presetSubtype="8" fill="hold" grpId="0" nodeType="withEffect">
                                  <p:stCondLst>
                                    <p:cond delay="450"/>
                                  </p:stCondLst>
                                  <p:childTnLst>
                                    <p:set>
                                      <p:cBhvr>
                                        <p:cTn id="38" dur="1" fill="hold">
                                          <p:stCondLst>
                                            <p:cond delay="0"/>
                                          </p:stCondLst>
                                        </p:cTn>
                                        <p:tgtEl>
                                          <p:spTgt spid="23"/>
                                        </p:tgtEl>
                                        <p:attrNameLst>
                                          <p:attrName>style.visibility</p:attrName>
                                        </p:attrNameLst>
                                      </p:cBhvr>
                                      <p:to>
                                        <p:strVal val="visible"/>
                                      </p:to>
                                    </p:set>
                                    <p:animEffect transition="in" filter="wipe(left)">
                                      <p:cBhvr>
                                        <p:cTn id="39"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7" presetID="2" presetClass="entr" presetSubtype="4"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500" fill="hold"/>
                                        <p:tgtEl>
                                          <p:spTgt spid="14"/>
                                        </p:tgtEl>
                                        <p:attrNameLst>
                                          <p:attrName>ppt_x</p:attrName>
                                        </p:attrNameLst>
                                      </p:cBhvr>
                                      <p:tavLst>
                                        <p:tav tm="0">
                                          <p:val>
                                            <p:strVal val="#ppt_x"/>
                                          </p:val>
                                        </p:tav>
                                        <p:tav tm="100000">
                                          <p:val>
                                            <p:strVal val="#ppt_x"/>
                                          </p:val>
                                        </p:tav>
                                      </p:tavLst>
                                    </p:anim>
                                    <p:anim calcmode="lin" valueType="num">
                                      <p:cBhvr additive="base">
                                        <p:cTn id="45" dur="500" fill="hold"/>
                                        <p:tgtEl>
                                          <p:spTgt spid="14"/>
                                        </p:tgtEl>
                                        <p:attrNameLst>
                                          <p:attrName>ppt_y</p:attrName>
                                        </p:attrNameLst>
                                      </p:cBhvr>
                                      <p:tavLst>
                                        <p:tav tm="0">
                                          <p:val>
                                            <p:strVal val="#ppt_y+0.1"/>
                                          </p:val>
                                        </p:tav>
                                        <p:tav tm="100000">
                                          <p:val>
                                            <p:strVal val="#ppt_y"/>
                                          </p:val>
                                        </p:tav>
                                      </p:tavLst>
                                    </p:anim>
                                    <p:animEffect transition="in" filter="fade">
                                      <p:cBhvr>
                                        <p:cTn id="46" dur="500"/>
                                        <p:tgtEl>
                                          <p:spTgt spid="14"/>
                                        </p:tgtEl>
                                      </p:cBhvr>
                                    </p:animEffect>
                                  </p:childTnLst>
                                </p:cTn>
                              </p:par>
                              <p:par>
                                <p:cTn id="52" presetID="2" presetClass="entr" presetSubtype="4"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ppt_y+0.1"/>
                                          </p:val>
                                        </p:tav>
                                        <p:tav tm="100000">
                                          <p:val>
                                            <p:strVal val="#ppt_y"/>
                                          </p:val>
                                        </p:tav>
                                      </p:tavLst>
                                    </p:anim>
                                    <p:animEffect transition="in" filter="fade">
                                      <p:cBhvr>
                                        <p:cTn id="51" dur="500"/>
                                        <p:tgtEl>
                                          <p:spTgt spid="15"/>
                                        </p:tgtEl>
                                      </p:cBhvr>
                                    </p:animEffect>
                                  </p:childTnLst>
                                </p:cTn>
                              </p:par>
                              <p:par>
                                <p:cTn id="57" presetID="2" presetClass="entr" presetSubtype="4"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500" fill="hold"/>
                                        <p:tgtEl>
                                          <p:spTgt spid="16"/>
                                        </p:tgtEl>
                                        <p:attrNameLst>
                                          <p:attrName>ppt_x</p:attrName>
                                        </p:attrNameLst>
                                      </p:cBhvr>
                                      <p:tavLst>
                                        <p:tav tm="0">
                                          <p:val>
                                            <p:strVal val="#ppt_x"/>
                                          </p:val>
                                        </p:tav>
                                        <p:tav tm="100000">
                                          <p:val>
                                            <p:strVal val="#ppt_x"/>
                                          </p:val>
                                        </p:tav>
                                      </p:tavLst>
                                    </p:anim>
                                    <p:anim calcmode="lin" valueType="num">
                                      <p:cBhvr additive="base">
                                        <p:cTn id="55" dur="500" fill="hold"/>
                                        <p:tgtEl>
                                          <p:spTgt spid="16"/>
                                        </p:tgtEl>
                                        <p:attrNameLst>
                                          <p:attrName>ppt_y</p:attrName>
                                        </p:attrNameLst>
                                      </p:cBhvr>
                                      <p:tavLst>
                                        <p:tav tm="0">
                                          <p:val>
                                            <p:strVal val="#ppt_y+0.1"/>
                                          </p:val>
                                        </p:tav>
                                        <p:tav tm="100000">
                                          <p:val>
                                            <p:strVal val="#ppt_y"/>
                                          </p:val>
                                        </p:tav>
                                      </p:tavLst>
                                    </p:anim>
                                    <p:animEffect transition="in" filter="fade">
                                      <p:cBhvr>
                                        <p:cTn id="56" dur="500"/>
                                        <p:tgtEl>
                                          <p:spTgt spid="16"/>
                                        </p:tgtEl>
                                      </p:cBhvr>
                                    </p:animEffect>
                                  </p:childTnLst>
                                </p:cTn>
                              </p:par>
                              <p:par>
                                <p:cTn id="60"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3" presetID="22" presetClass="entr" presetSubtype="8"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2" dur="500"/>
                                        <p:tgtEl>
                                          <p:spTgt spid="25"/>
                                        </p:tgtEl>
                                      </p:cBhvr>
                                    </p:animEffect>
                                  </p:childTnLst>
                                </p:cTn>
                              </p:par>
                              <p:par>
                                <p:cTn id="66" presetID="22" presetClass="entr" presetSubtype="8"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5" dur="500"/>
                                        <p:tgtEl>
                                          <p:spTgt spid="26"/>
                                        </p:tgtEl>
                                      </p:cBhvr>
                                    </p:animEffect>
                                  </p:childTnLst>
                                </p:cTn>
                              </p:par>
                              <p:par>
                                <p:cTn id="69" presetID="22" presetClass="entr" presetSubtype="8" fill="hold" grpId="0" nodeType="withEffect">
                                  <p:stCondLst>
                                    <p:cond delay="10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8" dur="500"/>
                                        <p:tgtEl>
                                          <p:spTgt spid="27"/>
                                        </p:tgtEl>
                                      </p:cBhvr>
                                    </p:animEffect>
                                  </p:childTnLst>
                                </p:cTn>
                              </p:par>
                              <p:par>
                                <p:cTn id="72" presetID="22" presetClass="entr" presetSubtype="8" fill="hold" grpId="0" nodeType="withEffect">
                                  <p:stCondLst>
                                    <p:cond delay="10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71" dur="500"/>
                                        <p:tgtEl>
                                          <p:spTgt spid="28"/>
                                        </p:tgtEl>
                                      </p:cBhvr>
                                    </p:animEffect>
                                  </p:childTnLst>
                                </p:cTn>
                              </p:par>
                              <p:par>
                                <p:cTn id="75" presetID="22" presetClass="entr" presetSubtype="8" fill="hold" grpId="0" nodeType="withEffect">
                                  <p:stCondLst>
                                    <p:cond delay="20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4" dur="500"/>
                                        <p:tgtEl>
                                          <p:spTgt spid="29"/>
                                        </p:tgtEl>
                                      </p:cBhvr>
                                    </p:animEffect>
                                  </p:childTnLst>
                                </p:cTn>
                              </p:par>
                              <p:par>
                                <p:cTn id="78" presetID="22" presetClass="entr" presetSubtype="8" fill="hold" grpId="0" nodeType="withEffect">
                                  <p:stCondLst>
                                    <p:cond delay="20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7" dur="500"/>
                                        <p:tgtEl>
                                          <p:spTgt spid="30"/>
                                        </p:tgtEl>
                                      </p:cBhvr>
                                    </p:animEffect>
                                  </p:childTnLst>
                                </p:cTn>
                              </p:par>
                              <p:par>
                                <p:cTn id="81" presetID="22" presetClass="entr" presetSubtype="8" fill="hold" grpId="0" nodeType="withEffect">
                                  <p:stCondLst>
                                    <p:cond delay="3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80" dur="500"/>
                                        <p:tgtEl>
                                          <p:spTgt spid="31"/>
                                        </p:tgtEl>
                                      </p:cBhvr>
                                    </p:animEffect>
                                  </p:childTnLst>
                                </p:cTn>
                              </p:par>
                              <p:par>
                                <p:cTn id="84" presetID="22" presetClass="entr" presetSubtype="8" fill="hold" grpId="0" nodeType="withEffect">
                                  <p:stCondLst>
                                    <p:cond delay="30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3" dur="500"/>
                                        <p:tgtEl>
                                          <p:spTgt spid="32"/>
                                        </p:tgtEl>
                                      </p:cBhvr>
                                    </p:animEffect>
                                  </p:childTnLst>
                                </p:cTn>
                              </p:par>
                              <p:par>
                                <p:cTn id="87" presetID="22" presetClass="entr" presetSubtype="8" fill="hold" grpId="0" nodeType="withEffect">
                                  <p:stCondLst>
                                    <p:cond delay="40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6" dur="500"/>
                                        <p:tgtEl>
                                          <p:spTgt spid="33"/>
                                        </p:tgtEl>
                                      </p:cBhvr>
                                    </p:animEffect>
                                  </p:childTnLst>
                                </p:cTn>
                              </p:par>
                              <p:par>
                                <p:cTn id="90" presetID="22" presetClass="entr" presetSubtype="8" fill="hold" grpId="0" nodeType="withEffect">
                                  <p:stCondLst>
                                    <p:cond delay="40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9" dur="500"/>
                                        <p:tgtEl>
                                          <p:spTgt spid="34"/>
                                        </p:tgtEl>
                                      </p:cBhvr>
                                    </p:animEffect>
                                  </p:childTnLst>
                                </p:cTn>
                              </p:par>
                              <p:par>
                                <p:cTn id="93" presetID="10" presetClass="entr" presetSubtype="0" fill="hold" grpId="0" nodeType="withEffect">
                                  <p:stCondLst>
                                    <p:cond delay="500"/>
                                  </p:stCondLst>
                                  <p:childTnLst>
                                    <p:set>
                                      <p:cBhvr>
                                        <p:cTn id="91" dur="1" fill="hold">
                                          <p:stCondLst>
                                            <p:cond delay="0"/>
                                          </p:stCondLst>
                                        </p:cTn>
                                        <p:tgtEl>
                                          <p:spTgt spid="35"/>
                                        </p:tgtEl>
                                        <p:attrNameLst>
                                          <p:attrName>style.visibility</p:attrName>
                                        </p:attrNameLst>
                                      </p:cBhvr>
                                      <p:to>
                                        <p:strVal val="visible"/>
                                      </p:to>
                                    </p:set>
                                    <p:animEffect transition="in" filter="fade">
                                      <p:cBhvr>
                                        <p:cTn id="92" dur="500"/>
                                        <p:tgtEl>
                                          <p:spTgt spid="35"/>
                                        </p:tgtEl>
                                      </p:cBhvr>
                                    </p:animEffect>
                                  </p:childTnLst>
                                </p:cTn>
                              </p:par>
                            </p:childTnLst>
                          </p:cTn>
                        </p:par>
                      </p:childTnLst>
                    </p:cTn>
                  </p:par>
                  <p:par>
                    <p:cTn id="94" fill="hold">
                      <p:stCondLst>
                        <p:cond delay="indefinite"/>
                      </p:stCondLst>
                      <p:childTnLst>
                        <p:par>
                          <p:cTn id="95" fill="hold">
                            <p:stCondLst>
                              <p:cond delay="0"/>
                            </p:stCondLst>
                            <p:childTnLst>
                              <p:par>
                                <p:cTn id="100" presetID="2" presetClass="entr" presetSubtype="4" fill="hold" grpId="0" nodeType="clickEffect">
                                  <p:stCondLst>
                                    <p:cond delay="0"/>
                                  </p:stCondLst>
                                  <p:childTnLst>
                                    <p:set>
                                      <p:cBhvr>
                                        <p:cTn id="96" dur="1" fill="hold">
                                          <p:stCondLst>
                                            <p:cond delay="0"/>
                                          </p:stCondLst>
                                        </p:cTn>
                                        <p:tgtEl>
                                          <p:spTgt spid="36"/>
                                        </p:tgtEl>
                                        <p:attrNameLst>
                                          <p:attrName>style.visibility</p:attrName>
                                        </p:attrNameLst>
                                      </p:cBhvr>
                                      <p:to>
                                        <p:strVal val="visible"/>
                                      </p:to>
                                    </p:set>
                                    <p:anim calcmode="lin" valueType="num">
                                      <p:cBhvr additive="base">
                                        <p:cTn id="97" dur="500" fill="hold"/>
                                        <p:tgtEl>
                                          <p:spTgt spid="36"/>
                                        </p:tgtEl>
                                        <p:attrNameLst>
                                          <p:attrName>ppt_x</p:attrName>
                                        </p:attrNameLst>
                                      </p:cBhvr>
                                      <p:tavLst>
                                        <p:tav tm="0">
                                          <p:val>
                                            <p:strVal val="#ppt_x"/>
                                          </p:val>
                                        </p:tav>
                                        <p:tav tm="100000">
                                          <p:val>
                                            <p:strVal val="#ppt_x"/>
                                          </p:val>
                                        </p:tav>
                                      </p:tavLst>
                                    </p:anim>
                                    <p:anim calcmode="lin" valueType="num">
                                      <p:cBhvr additive="base">
                                        <p:cTn id="98" dur="500" fill="hold"/>
                                        <p:tgtEl>
                                          <p:spTgt spid="36"/>
                                        </p:tgtEl>
                                        <p:attrNameLst>
                                          <p:attrName>ppt_y</p:attrName>
                                        </p:attrNameLst>
                                      </p:cBhvr>
                                      <p:tavLst>
                                        <p:tav tm="0">
                                          <p:val>
                                            <p:strVal val="#ppt_y+0.1"/>
                                          </p:val>
                                        </p:tav>
                                        <p:tav tm="100000">
                                          <p:val>
                                            <p:strVal val="#ppt_y"/>
                                          </p:val>
                                        </p:tav>
                                      </p:tavLst>
                                    </p:anim>
                                    <p:animEffect transition="in" filter="fade">
                                      <p:cBhvr>
                                        <p:cTn id="99" dur="500"/>
                                        <p:tgtEl>
                                          <p:spTgt spid="36"/>
                                        </p:tgtEl>
                                      </p:cBhvr>
                                    </p:animEffect>
                                  </p:childTnLst>
                                </p:cTn>
                              </p:par>
                              <p:par>
                                <p:cTn id="105" presetID="2" presetClass="entr" presetSubtype="4"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 calcmode="lin" valueType="num">
                                      <p:cBhvr additive="base">
                                        <p:cTn id="102" dur="500" fill="hold"/>
                                        <p:tgtEl>
                                          <p:spTgt spid="37"/>
                                        </p:tgtEl>
                                        <p:attrNameLst>
                                          <p:attrName>ppt_x</p:attrName>
                                        </p:attrNameLst>
                                      </p:cBhvr>
                                      <p:tavLst>
                                        <p:tav tm="0">
                                          <p:val>
                                            <p:strVal val="#ppt_x"/>
                                          </p:val>
                                        </p:tav>
                                        <p:tav tm="100000">
                                          <p:val>
                                            <p:strVal val="#ppt_x"/>
                                          </p:val>
                                        </p:tav>
                                      </p:tavLst>
                                    </p:anim>
                                    <p:anim calcmode="lin" valueType="num">
                                      <p:cBhvr additive="base">
                                        <p:cTn id="103" dur="500" fill="hold"/>
                                        <p:tgtEl>
                                          <p:spTgt spid="37"/>
                                        </p:tgtEl>
                                        <p:attrNameLst>
                                          <p:attrName>ppt_y</p:attrName>
                                        </p:attrNameLst>
                                      </p:cBhvr>
                                      <p:tavLst>
                                        <p:tav tm="0">
                                          <p:val>
                                            <p:strVal val="#ppt_y+0.1"/>
                                          </p:val>
                                        </p:tav>
                                        <p:tav tm="100000">
                                          <p:val>
                                            <p:strVal val="#ppt_y"/>
                                          </p:val>
                                        </p:tav>
                                      </p:tavLst>
                                    </p:anim>
                                    <p:animEffect transition="in" filter="fade">
                                      <p:cBhvr>
                                        <p:cTn id="104" dur="500"/>
                                        <p:tgtEl>
                                          <p:spTgt spid="37"/>
                                        </p:tgtEl>
                                      </p:cBhvr>
                                    </p:animEffect>
                                  </p:childTnLst>
                                </p:cTn>
                              </p:par>
                              <p:par>
                                <p:cTn id="110" presetID="2" presetClass="entr" presetSubtype="4" fill="hold" grpId="0" nodeType="withEffect">
                                  <p:stCondLst>
                                    <p:cond delay="0"/>
                                  </p:stCondLst>
                                  <p:childTnLst>
                                    <p:set>
                                      <p:cBhvr>
                                        <p:cTn id="106" dur="1" fill="hold">
                                          <p:stCondLst>
                                            <p:cond delay="0"/>
                                          </p:stCondLst>
                                        </p:cTn>
                                        <p:tgtEl>
                                          <p:spTgt spid="38"/>
                                        </p:tgtEl>
                                        <p:attrNameLst>
                                          <p:attrName>style.visibility</p:attrName>
                                        </p:attrNameLst>
                                      </p:cBhvr>
                                      <p:to>
                                        <p:strVal val="visible"/>
                                      </p:to>
                                    </p:set>
                                    <p:anim calcmode="lin" valueType="num">
                                      <p:cBhvr additive="base">
                                        <p:cTn id="107" dur="500" fill="hold"/>
                                        <p:tgtEl>
                                          <p:spTgt spid="38"/>
                                        </p:tgtEl>
                                        <p:attrNameLst>
                                          <p:attrName>ppt_x</p:attrName>
                                        </p:attrNameLst>
                                      </p:cBhvr>
                                      <p:tavLst>
                                        <p:tav tm="0">
                                          <p:val>
                                            <p:strVal val="#ppt_x"/>
                                          </p:val>
                                        </p:tav>
                                        <p:tav tm="100000">
                                          <p:val>
                                            <p:strVal val="#ppt_x"/>
                                          </p:val>
                                        </p:tav>
                                      </p:tavLst>
                                    </p:anim>
                                    <p:anim calcmode="lin" valueType="num">
                                      <p:cBhvr additive="base">
                                        <p:cTn id="108" dur="500" fill="hold"/>
                                        <p:tgtEl>
                                          <p:spTgt spid="38"/>
                                        </p:tgtEl>
                                        <p:attrNameLst>
                                          <p:attrName>ppt_y</p:attrName>
                                        </p:attrNameLst>
                                      </p:cBhvr>
                                      <p:tavLst>
                                        <p:tav tm="0">
                                          <p:val>
                                            <p:strVal val="#ppt_y+0.1"/>
                                          </p:val>
                                        </p:tav>
                                        <p:tav tm="100000">
                                          <p:val>
                                            <p:strVal val="#ppt_y"/>
                                          </p:val>
                                        </p:tav>
                                      </p:tavLst>
                                    </p:anim>
                                    <p:animEffect transition="in" filter="fade">
                                      <p:cBhvr>
                                        <p:cTn id="10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Queue vs Log: Reading Does Not Delete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 difference that makes Kafka different - Confluent's way of saying it: topics are logs, not queues</a:t>
            </a:r>
          </a:p>
        </p:txBody>
      </p:sp>
      <p:sp>
        <p:nvSpPr>
          <p:cNvPr id="11" name="a1u_card10"/>
          <p:cNvSpPr/>
          <p:nvPr/>
        </p:nvSpPr>
        <p:spPr>
          <a:xfrm>
            <a:off x="457200" y="1216152"/>
            <a:ext cx="4023360" cy="3383280"/>
          </a:xfrm>
          <a:prstGeom prst="roundRect">
            <a:avLst>
              <a:gd name="adj" fmla="val 324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16152"/>
            <a:ext cx="50292" cy="338328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25880"/>
            <a:ext cx="3621024" cy="237744"/>
          </a:xfrm>
          <a:prstGeom prst="rect">
            <a:avLst/>
          </a:prstGeom>
          <a:noFill/>
        </p:spPr>
        <p:txBody>
          <a:bodyPr wrap="square" lIns="0" tIns="0" rIns="0" bIns="0" anchor="ctr">
            <a:spAutoFit/>
          </a:bodyPr>
          <a:lstStyle/>
          <a:p>
            <a:pPr algn="l"/>
            <a:r>
              <a:rPr sz="900" b="1">
                <a:solidFill>
                  <a:srgbClr val="A16207"/>
                </a:solidFill>
                <a:latin typeface="Segoe UI"/>
              </a:rPr>
              <a:t>TRADITIONAL QUEUE</a:t>
            </a:r>
          </a:p>
        </p:txBody>
      </p:sp>
      <p:sp>
        <p:nvSpPr>
          <p:cNvPr id="14" name="a1ud100_cell13"/>
          <p:cNvSpPr/>
          <p:nvPr/>
        </p:nvSpPr>
        <p:spPr>
          <a:xfrm>
            <a:off x="777240" y="1783080"/>
            <a:ext cx="566928" cy="329184"/>
          </a:xfrm>
          <a:prstGeom prst="rect">
            <a:avLst/>
          </a:prstGeom>
          <a:solidFill>
            <a:srgbClr val="E7E5E0"/>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100_cellt14"/>
          <p:cNvSpPr txBox="1"/>
          <p:nvPr/>
        </p:nvSpPr>
        <p:spPr>
          <a:xfrm>
            <a:off x="777240" y="1783080"/>
            <a:ext cx="566928" cy="329184"/>
          </a:xfrm>
          <a:prstGeom prst="rect">
            <a:avLst/>
          </a:prstGeom>
          <a:noFill/>
        </p:spPr>
        <p:txBody>
          <a:bodyPr wrap="square" lIns="0" tIns="0" rIns="0" bIns="0" anchor="ctr">
            <a:spAutoFit/>
          </a:bodyPr>
          <a:lstStyle/>
          <a:p>
            <a:pPr algn="ctr"/>
            <a:r>
              <a:rPr sz="850" b="1">
                <a:solidFill>
                  <a:srgbClr val="A8A29E"/>
                </a:solidFill>
                <a:latin typeface="Consolas"/>
              </a:rPr>
              <a:t>m1</a:t>
            </a:r>
          </a:p>
        </p:txBody>
      </p:sp>
      <p:sp>
        <p:nvSpPr>
          <p:cNvPr id="16" name="a1ud100_cell15"/>
          <p:cNvSpPr/>
          <p:nvPr/>
        </p:nvSpPr>
        <p:spPr>
          <a:xfrm>
            <a:off x="1344168" y="1783080"/>
            <a:ext cx="566928" cy="329184"/>
          </a:xfrm>
          <a:prstGeom prst="rect">
            <a:avLst/>
          </a:prstGeom>
          <a:solidFill>
            <a:srgbClr val="E7E5E0"/>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100_cellt16"/>
          <p:cNvSpPr txBox="1"/>
          <p:nvPr/>
        </p:nvSpPr>
        <p:spPr>
          <a:xfrm>
            <a:off x="1344168" y="1783080"/>
            <a:ext cx="566928" cy="329184"/>
          </a:xfrm>
          <a:prstGeom prst="rect">
            <a:avLst/>
          </a:prstGeom>
          <a:noFill/>
        </p:spPr>
        <p:txBody>
          <a:bodyPr wrap="square" lIns="0" tIns="0" rIns="0" bIns="0" anchor="ctr">
            <a:spAutoFit/>
          </a:bodyPr>
          <a:lstStyle/>
          <a:p>
            <a:pPr algn="ctr"/>
            <a:r>
              <a:rPr sz="850" b="1">
                <a:solidFill>
                  <a:srgbClr val="A8A29E"/>
                </a:solidFill>
                <a:latin typeface="Consolas"/>
              </a:rPr>
              <a:t>m2</a:t>
            </a:r>
          </a:p>
        </p:txBody>
      </p:sp>
      <p:sp>
        <p:nvSpPr>
          <p:cNvPr id="18" name="a1ud100_cell17"/>
          <p:cNvSpPr/>
          <p:nvPr/>
        </p:nvSpPr>
        <p:spPr>
          <a:xfrm>
            <a:off x="1911095" y="1783080"/>
            <a:ext cx="566928" cy="329184"/>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100_cellt18"/>
          <p:cNvSpPr txBox="1"/>
          <p:nvPr/>
        </p:nvSpPr>
        <p:spPr>
          <a:xfrm>
            <a:off x="1911095" y="1783080"/>
            <a:ext cx="566928" cy="329184"/>
          </a:xfrm>
          <a:prstGeom prst="rect">
            <a:avLst/>
          </a:prstGeom>
          <a:noFill/>
        </p:spPr>
        <p:txBody>
          <a:bodyPr wrap="square" lIns="0" tIns="0" rIns="0" bIns="0" anchor="ctr">
            <a:spAutoFit/>
          </a:bodyPr>
          <a:lstStyle/>
          <a:p>
            <a:pPr algn="ctr"/>
            <a:r>
              <a:rPr sz="850" b="1">
                <a:solidFill>
                  <a:srgbClr val="A16207"/>
                </a:solidFill>
                <a:latin typeface="Consolas"/>
              </a:rPr>
              <a:t>m3</a:t>
            </a:r>
          </a:p>
        </p:txBody>
      </p:sp>
      <p:sp>
        <p:nvSpPr>
          <p:cNvPr id="20" name="a1ud100_cell19"/>
          <p:cNvSpPr/>
          <p:nvPr/>
        </p:nvSpPr>
        <p:spPr>
          <a:xfrm>
            <a:off x="2478024" y="1783080"/>
            <a:ext cx="566928" cy="329184"/>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100_cellt20"/>
          <p:cNvSpPr txBox="1"/>
          <p:nvPr/>
        </p:nvSpPr>
        <p:spPr>
          <a:xfrm>
            <a:off x="2478024" y="1783080"/>
            <a:ext cx="566928" cy="329184"/>
          </a:xfrm>
          <a:prstGeom prst="rect">
            <a:avLst/>
          </a:prstGeom>
          <a:noFill/>
        </p:spPr>
        <p:txBody>
          <a:bodyPr wrap="square" lIns="0" tIns="0" rIns="0" bIns="0" anchor="ctr">
            <a:spAutoFit/>
          </a:bodyPr>
          <a:lstStyle/>
          <a:p>
            <a:pPr algn="ctr"/>
            <a:r>
              <a:rPr sz="850" b="1">
                <a:solidFill>
                  <a:srgbClr val="A16207"/>
                </a:solidFill>
                <a:latin typeface="Consolas"/>
              </a:rPr>
              <a:t>m4</a:t>
            </a:r>
          </a:p>
        </p:txBody>
      </p:sp>
      <p:sp>
        <p:nvSpPr>
          <p:cNvPr id="22" name="a1ud100_cell21"/>
          <p:cNvSpPr/>
          <p:nvPr/>
        </p:nvSpPr>
        <p:spPr>
          <a:xfrm>
            <a:off x="3044952" y="1783080"/>
            <a:ext cx="566928" cy="329184"/>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100_cellt22"/>
          <p:cNvSpPr txBox="1"/>
          <p:nvPr/>
        </p:nvSpPr>
        <p:spPr>
          <a:xfrm>
            <a:off x="3044952" y="1783080"/>
            <a:ext cx="566928" cy="329184"/>
          </a:xfrm>
          <a:prstGeom prst="rect">
            <a:avLst/>
          </a:prstGeom>
          <a:noFill/>
        </p:spPr>
        <p:txBody>
          <a:bodyPr wrap="square" lIns="0" tIns="0" rIns="0" bIns="0" anchor="ctr">
            <a:spAutoFit/>
          </a:bodyPr>
          <a:lstStyle/>
          <a:p>
            <a:pPr algn="ctr"/>
            <a:r>
              <a:rPr sz="850" b="1">
                <a:solidFill>
                  <a:srgbClr val="A16207"/>
                </a:solidFill>
                <a:latin typeface="Consolas"/>
              </a:rPr>
              <a:t>m5</a:t>
            </a:r>
          </a:p>
        </p:txBody>
      </p:sp>
      <p:sp>
        <p:nvSpPr>
          <p:cNvPr id="24" name="a2f_lb23"/>
          <p:cNvSpPr txBox="1"/>
          <p:nvPr/>
        </p:nvSpPr>
        <p:spPr>
          <a:xfrm>
            <a:off x="777240" y="2157984"/>
            <a:ext cx="1133856" cy="201168"/>
          </a:xfrm>
          <a:prstGeom prst="rect">
            <a:avLst/>
          </a:prstGeom>
          <a:noFill/>
        </p:spPr>
        <p:txBody>
          <a:bodyPr wrap="square" lIns="0" tIns="0" rIns="0" bIns="0" anchor="ctr">
            <a:spAutoFit/>
          </a:bodyPr>
          <a:lstStyle/>
          <a:p>
            <a:pPr algn="ctr"/>
            <a:r>
              <a:rPr sz="800" b="0">
                <a:solidFill>
                  <a:srgbClr val="78716C"/>
                </a:solidFill>
                <a:latin typeface="Segoe UI"/>
              </a:rPr>
              <a:t>deleted after ack</a:t>
            </a:r>
          </a:p>
        </p:txBody>
      </p:sp>
      <p:sp>
        <p:nvSpPr>
          <p:cNvPr id="25" name="a2u_nd24"/>
          <p:cNvSpPr/>
          <p:nvPr/>
        </p:nvSpPr>
        <p:spPr>
          <a:xfrm>
            <a:off x="1600200" y="2560320"/>
            <a:ext cx="1417320" cy="329184"/>
          </a:xfrm>
          <a:prstGeom prst="roundRect">
            <a:avLst>
              <a:gd name="adj" fmla="val 22222"/>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_ndt25"/>
          <p:cNvSpPr txBox="1"/>
          <p:nvPr/>
        </p:nvSpPr>
        <p:spPr>
          <a:xfrm>
            <a:off x="1645920" y="2560320"/>
            <a:ext cx="1325880" cy="329184"/>
          </a:xfrm>
          <a:prstGeom prst="rect">
            <a:avLst/>
          </a:prstGeom>
          <a:noFill/>
        </p:spPr>
        <p:txBody>
          <a:bodyPr wrap="square" lIns="0" tIns="0" rIns="0" bIns="0" anchor="ctr">
            <a:spAutoFit/>
          </a:bodyPr>
          <a:lstStyle/>
          <a:p>
            <a:pPr algn="ctr"/>
            <a:r>
              <a:rPr sz="850" b="1">
                <a:solidFill>
                  <a:srgbClr val="1C1917"/>
                </a:solidFill>
                <a:latin typeface="Segoe UI"/>
              </a:rPr>
              <a:t>the consumer</a:t>
            </a:r>
          </a:p>
        </p:txBody>
      </p:sp>
      <p:cxnSp>
        <p:nvCxnSpPr>
          <p:cNvPr id="27" name="a2u_ar26"/>
          <p:cNvCxnSpPr/>
          <p:nvPr/>
        </p:nvCxnSpPr>
        <p:spPr>
          <a:xfrm flipV="1">
            <a:off x="2130552" y="2157984"/>
            <a:ext cx="0" cy="384048"/>
          </a:xfrm>
          <a:prstGeom prst="line">
            <a:avLst/>
          </a:prstGeom>
          <a:ln w="1587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a2ud100_dot27"/>
          <p:cNvSpPr/>
          <p:nvPr/>
        </p:nvSpPr>
        <p:spPr>
          <a:xfrm>
            <a:off x="658368" y="3186684"/>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d100_b28"/>
          <p:cNvSpPr txBox="1"/>
          <p:nvPr/>
        </p:nvSpPr>
        <p:spPr>
          <a:xfrm>
            <a:off x="877824" y="3090672"/>
            <a:ext cx="3401568" cy="329184"/>
          </a:xfrm>
          <a:prstGeom prst="rect">
            <a:avLst/>
          </a:prstGeom>
          <a:noFill/>
        </p:spPr>
        <p:txBody>
          <a:bodyPr wrap="square" lIns="0" tIns="0" rIns="0" bIns="0" anchor="t">
            <a:spAutoFit/>
          </a:bodyPr>
          <a:lstStyle/>
          <a:p>
            <a:pPr algn="l"/>
            <a:r>
              <a:rPr sz="900" b="0">
                <a:solidFill>
                  <a:srgbClr val="44403C"/>
                </a:solidFill>
                <a:latin typeface="Segoe UI"/>
              </a:rPr>
              <a:t>A message is deleted once acknowledged</a:t>
            </a:r>
          </a:p>
        </p:txBody>
      </p:sp>
      <p:sp>
        <p:nvSpPr>
          <p:cNvPr id="30" name="a2ud200_dot29"/>
          <p:cNvSpPr/>
          <p:nvPr/>
        </p:nvSpPr>
        <p:spPr>
          <a:xfrm>
            <a:off x="658368" y="3552444"/>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2ud200_b30"/>
          <p:cNvSpPr txBox="1"/>
          <p:nvPr/>
        </p:nvSpPr>
        <p:spPr>
          <a:xfrm>
            <a:off x="877824" y="3456432"/>
            <a:ext cx="3401568" cy="329184"/>
          </a:xfrm>
          <a:prstGeom prst="rect">
            <a:avLst/>
          </a:prstGeom>
          <a:noFill/>
        </p:spPr>
        <p:txBody>
          <a:bodyPr wrap="square" lIns="0" tIns="0" rIns="0" bIns="0" anchor="t">
            <a:spAutoFit/>
          </a:bodyPr>
          <a:lstStyle/>
          <a:p>
            <a:pPr algn="l"/>
            <a:r>
              <a:rPr sz="900" b="0">
                <a:solidFill>
                  <a:srgbClr val="44403C"/>
                </a:solidFill>
                <a:latin typeface="Segoe UI"/>
              </a:rPr>
              <a:t>The broker tracks each message's state</a:t>
            </a:r>
          </a:p>
        </p:txBody>
      </p:sp>
      <p:sp>
        <p:nvSpPr>
          <p:cNvPr id="32" name="a2ud300_dot31"/>
          <p:cNvSpPr/>
          <p:nvPr/>
        </p:nvSpPr>
        <p:spPr>
          <a:xfrm>
            <a:off x="658368" y="3918204"/>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ud300_b32"/>
          <p:cNvSpPr txBox="1"/>
          <p:nvPr/>
        </p:nvSpPr>
        <p:spPr>
          <a:xfrm>
            <a:off x="877824" y="3822192"/>
            <a:ext cx="3401568" cy="329184"/>
          </a:xfrm>
          <a:prstGeom prst="rect">
            <a:avLst/>
          </a:prstGeom>
          <a:noFill/>
        </p:spPr>
        <p:txBody>
          <a:bodyPr wrap="square" lIns="0" tIns="0" rIns="0" bIns="0" anchor="t">
            <a:spAutoFit/>
          </a:bodyPr>
          <a:lstStyle/>
          <a:p>
            <a:pPr algn="l"/>
            <a:r>
              <a:rPr sz="900" b="0">
                <a:solidFill>
                  <a:srgbClr val="44403C"/>
                </a:solidFill>
                <a:latin typeface="Segoe UI"/>
              </a:rPr>
              <a:t>A new consumer cannot see the past</a:t>
            </a:r>
          </a:p>
        </p:txBody>
      </p:sp>
      <p:sp>
        <p:nvSpPr>
          <p:cNvPr id="34" name="a3u_card33"/>
          <p:cNvSpPr/>
          <p:nvPr/>
        </p:nvSpPr>
        <p:spPr>
          <a:xfrm>
            <a:off x="4663440" y="1216152"/>
            <a:ext cx="4023360" cy="3383280"/>
          </a:xfrm>
          <a:prstGeom prst="roundRect">
            <a:avLst>
              <a:gd name="adj" fmla="val 324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3u_acc34"/>
          <p:cNvSpPr/>
          <p:nvPr/>
        </p:nvSpPr>
        <p:spPr>
          <a:xfrm>
            <a:off x="4663440" y="1216152"/>
            <a:ext cx="50292" cy="33832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3u_hh35"/>
          <p:cNvSpPr txBox="1"/>
          <p:nvPr/>
        </p:nvSpPr>
        <p:spPr>
          <a:xfrm>
            <a:off x="4864608" y="1325880"/>
            <a:ext cx="3621024" cy="237744"/>
          </a:xfrm>
          <a:prstGeom prst="rect">
            <a:avLst/>
          </a:prstGeom>
          <a:noFill/>
        </p:spPr>
        <p:txBody>
          <a:bodyPr wrap="square" lIns="0" tIns="0" rIns="0" bIns="0" anchor="ctr">
            <a:spAutoFit/>
          </a:bodyPr>
          <a:lstStyle/>
          <a:p>
            <a:pPr algn="l"/>
            <a:r>
              <a:rPr sz="900" b="1">
                <a:solidFill>
                  <a:srgbClr val="0E7490"/>
                </a:solidFill>
                <a:latin typeface="Segoe UI"/>
              </a:rPr>
              <a:t>LOG  ·  KAFKA</a:t>
            </a:r>
          </a:p>
        </p:txBody>
      </p:sp>
      <p:sp>
        <p:nvSpPr>
          <p:cNvPr id="37" name="a3ud100_cell36"/>
          <p:cNvSpPr/>
          <p:nvPr/>
        </p:nvSpPr>
        <p:spPr>
          <a:xfrm>
            <a:off x="4892040" y="1783080"/>
            <a:ext cx="411480" cy="32918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3ud100_cellt37"/>
          <p:cNvSpPr txBox="1"/>
          <p:nvPr/>
        </p:nvSpPr>
        <p:spPr>
          <a:xfrm>
            <a:off x="4892040" y="1783080"/>
            <a:ext cx="411480" cy="329184"/>
          </a:xfrm>
          <a:prstGeom prst="rect">
            <a:avLst/>
          </a:prstGeom>
          <a:noFill/>
        </p:spPr>
        <p:txBody>
          <a:bodyPr wrap="square" lIns="0" tIns="0" rIns="0" bIns="0" anchor="ctr">
            <a:spAutoFit/>
          </a:bodyPr>
          <a:lstStyle/>
          <a:p>
            <a:pPr algn="ctr"/>
            <a:r>
              <a:rPr sz="850" b="1">
                <a:solidFill>
                  <a:srgbClr val="0E7490"/>
                </a:solidFill>
                <a:latin typeface="Consolas"/>
              </a:rPr>
              <a:t>0</a:t>
            </a:r>
          </a:p>
        </p:txBody>
      </p:sp>
      <p:sp>
        <p:nvSpPr>
          <p:cNvPr id="39" name="a3ud100_cell38"/>
          <p:cNvSpPr/>
          <p:nvPr/>
        </p:nvSpPr>
        <p:spPr>
          <a:xfrm>
            <a:off x="5303520" y="1783080"/>
            <a:ext cx="411480" cy="32918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3ud100_cellt39"/>
          <p:cNvSpPr txBox="1"/>
          <p:nvPr/>
        </p:nvSpPr>
        <p:spPr>
          <a:xfrm>
            <a:off x="5303520" y="1783080"/>
            <a:ext cx="411480" cy="329184"/>
          </a:xfrm>
          <a:prstGeom prst="rect">
            <a:avLst/>
          </a:prstGeom>
          <a:noFill/>
        </p:spPr>
        <p:txBody>
          <a:bodyPr wrap="square" lIns="0" tIns="0" rIns="0" bIns="0" anchor="ctr">
            <a:spAutoFit/>
          </a:bodyPr>
          <a:lstStyle/>
          <a:p>
            <a:pPr algn="ctr"/>
            <a:r>
              <a:rPr sz="850" b="1">
                <a:solidFill>
                  <a:srgbClr val="0E7490"/>
                </a:solidFill>
                <a:latin typeface="Consolas"/>
              </a:rPr>
              <a:t>1</a:t>
            </a:r>
          </a:p>
        </p:txBody>
      </p:sp>
      <p:sp>
        <p:nvSpPr>
          <p:cNvPr id="41" name="a3ud100_cell40"/>
          <p:cNvSpPr/>
          <p:nvPr/>
        </p:nvSpPr>
        <p:spPr>
          <a:xfrm>
            <a:off x="5715000" y="1783080"/>
            <a:ext cx="411480" cy="32918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3ud100_cellt41"/>
          <p:cNvSpPr txBox="1"/>
          <p:nvPr/>
        </p:nvSpPr>
        <p:spPr>
          <a:xfrm>
            <a:off x="5715000" y="1783080"/>
            <a:ext cx="411480" cy="329184"/>
          </a:xfrm>
          <a:prstGeom prst="rect">
            <a:avLst/>
          </a:prstGeom>
          <a:noFill/>
        </p:spPr>
        <p:txBody>
          <a:bodyPr wrap="square" lIns="0" tIns="0" rIns="0" bIns="0" anchor="ctr">
            <a:spAutoFit/>
          </a:bodyPr>
          <a:lstStyle/>
          <a:p>
            <a:pPr algn="ctr"/>
            <a:r>
              <a:rPr sz="850" b="1">
                <a:solidFill>
                  <a:srgbClr val="0E7490"/>
                </a:solidFill>
                <a:latin typeface="Consolas"/>
              </a:rPr>
              <a:t>2</a:t>
            </a:r>
          </a:p>
        </p:txBody>
      </p:sp>
      <p:sp>
        <p:nvSpPr>
          <p:cNvPr id="43" name="a3ud100_cell42"/>
          <p:cNvSpPr/>
          <p:nvPr/>
        </p:nvSpPr>
        <p:spPr>
          <a:xfrm>
            <a:off x="6126479" y="1783080"/>
            <a:ext cx="411480" cy="32918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3ud100_cellt43"/>
          <p:cNvSpPr txBox="1"/>
          <p:nvPr/>
        </p:nvSpPr>
        <p:spPr>
          <a:xfrm>
            <a:off x="6126479" y="1783080"/>
            <a:ext cx="411480" cy="329184"/>
          </a:xfrm>
          <a:prstGeom prst="rect">
            <a:avLst/>
          </a:prstGeom>
          <a:noFill/>
        </p:spPr>
        <p:txBody>
          <a:bodyPr wrap="square" lIns="0" tIns="0" rIns="0" bIns="0" anchor="ctr">
            <a:spAutoFit/>
          </a:bodyPr>
          <a:lstStyle/>
          <a:p>
            <a:pPr algn="ctr"/>
            <a:r>
              <a:rPr sz="850" b="1">
                <a:solidFill>
                  <a:srgbClr val="0E7490"/>
                </a:solidFill>
                <a:latin typeface="Consolas"/>
              </a:rPr>
              <a:t>3</a:t>
            </a:r>
          </a:p>
        </p:txBody>
      </p:sp>
      <p:sp>
        <p:nvSpPr>
          <p:cNvPr id="45" name="a3ud100_cell44"/>
          <p:cNvSpPr/>
          <p:nvPr/>
        </p:nvSpPr>
        <p:spPr>
          <a:xfrm>
            <a:off x="6537959" y="1783080"/>
            <a:ext cx="411480" cy="32918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3ud100_cellt45"/>
          <p:cNvSpPr txBox="1"/>
          <p:nvPr/>
        </p:nvSpPr>
        <p:spPr>
          <a:xfrm>
            <a:off x="6537959" y="1783080"/>
            <a:ext cx="411480" cy="329184"/>
          </a:xfrm>
          <a:prstGeom prst="rect">
            <a:avLst/>
          </a:prstGeom>
          <a:noFill/>
        </p:spPr>
        <p:txBody>
          <a:bodyPr wrap="square" lIns="0" tIns="0" rIns="0" bIns="0" anchor="ctr">
            <a:spAutoFit/>
          </a:bodyPr>
          <a:lstStyle/>
          <a:p>
            <a:pPr algn="ctr"/>
            <a:r>
              <a:rPr sz="850" b="1">
                <a:solidFill>
                  <a:srgbClr val="0E7490"/>
                </a:solidFill>
                <a:latin typeface="Consolas"/>
              </a:rPr>
              <a:t>4</a:t>
            </a:r>
          </a:p>
        </p:txBody>
      </p:sp>
      <p:sp>
        <p:nvSpPr>
          <p:cNvPr id="47" name="a3ud100_cell46"/>
          <p:cNvSpPr/>
          <p:nvPr/>
        </p:nvSpPr>
        <p:spPr>
          <a:xfrm>
            <a:off x="6949440" y="1783080"/>
            <a:ext cx="411480" cy="32918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3ud100_cellt47"/>
          <p:cNvSpPr txBox="1"/>
          <p:nvPr/>
        </p:nvSpPr>
        <p:spPr>
          <a:xfrm>
            <a:off x="6949440" y="1783080"/>
            <a:ext cx="411480" cy="329184"/>
          </a:xfrm>
          <a:prstGeom prst="rect">
            <a:avLst/>
          </a:prstGeom>
          <a:noFill/>
        </p:spPr>
        <p:txBody>
          <a:bodyPr wrap="square" lIns="0" tIns="0" rIns="0" bIns="0" anchor="ctr">
            <a:spAutoFit/>
          </a:bodyPr>
          <a:lstStyle/>
          <a:p>
            <a:pPr algn="ctr"/>
            <a:r>
              <a:rPr sz="850" b="1">
                <a:solidFill>
                  <a:srgbClr val="0E7490"/>
                </a:solidFill>
                <a:latin typeface="Consolas"/>
              </a:rPr>
              <a:t>5</a:t>
            </a:r>
          </a:p>
        </p:txBody>
      </p:sp>
      <p:sp>
        <p:nvSpPr>
          <p:cNvPr id="49" name="a3ud100_cell48"/>
          <p:cNvSpPr/>
          <p:nvPr/>
        </p:nvSpPr>
        <p:spPr>
          <a:xfrm>
            <a:off x="7360920" y="1783080"/>
            <a:ext cx="411480" cy="32918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3ud100_cellt49"/>
          <p:cNvSpPr txBox="1"/>
          <p:nvPr/>
        </p:nvSpPr>
        <p:spPr>
          <a:xfrm>
            <a:off x="7360920" y="1783080"/>
            <a:ext cx="411480" cy="329184"/>
          </a:xfrm>
          <a:prstGeom prst="rect">
            <a:avLst/>
          </a:prstGeom>
          <a:noFill/>
        </p:spPr>
        <p:txBody>
          <a:bodyPr wrap="square" lIns="0" tIns="0" rIns="0" bIns="0" anchor="ctr">
            <a:spAutoFit/>
          </a:bodyPr>
          <a:lstStyle/>
          <a:p>
            <a:pPr algn="ctr"/>
            <a:r>
              <a:rPr sz="850" b="1">
                <a:solidFill>
                  <a:srgbClr val="0E7490"/>
                </a:solidFill>
                <a:latin typeface="Consolas"/>
              </a:rPr>
              <a:t>6</a:t>
            </a:r>
          </a:p>
        </p:txBody>
      </p:sp>
      <p:sp>
        <p:nvSpPr>
          <p:cNvPr id="51" name="a3ud100_cell50"/>
          <p:cNvSpPr/>
          <p:nvPr/>
        </p:nvSpPr>
        <p:spPr>
          <a:xfrm>
            <a:off x="7772400" y="1783080"/>
            <a:ext cx="411480" cy="32918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3ud100_cellt51"/>
          <p:cNvSpPr txBox="1"/>
          <p:nvPr/>
        </p:nvSpPr>
        <p:spPr>
          <a:xfrm>
            <a:off x="7772400" y="1783080"/>
            <a:ext cx="411480" cy="329184"/>
          </a:xfrm>
          <a:prstGeom prst="rect">
            <a:avLst/>
          </a:prstGeom>
          <a:noFill/>
        </p:spPr>
        <p:txBody>
          <a:bodyPr wrap="square" lIns="0" tIns="0" rIns="0" bIns="0" anchor="ctr">
            <a:spAutoFit/>
          </a:bodyPr>
          <a:lstStyle/>
          <a:p>
            <a:pPr algn="ctr"/>
            <a:r>
              <a:rPr sz="850" b="1">
                <a:solidFill>
                  <a:srgbClr val="0E7490"/>
                </a:solidFill>
                <a:latin typeface="Consolas"/>
              </a:rPr>
              <a:t>7</a:t>
            </a:r>
          </a:p>
        </p:txBody>
      </p:sp>
      <p:sp>
        <p:nvSpPr>
          <p:cNvPr id="53" name="a3ud100_lb52"/>
          <p:cNvSpPr txBox="1"/>
          <p:nvPr/>
        </p:nvSpPr>
        <p:spPr>
          <a:xfrm>
            <a:off x="4892040" y="1572768"/>
            <a:ext cx="3291840" cy="201168"/>
          </a:xfrm>
          <a:prstGeom prst="rect">
            <a:avLst/>
          </a:prstGeom>
          <a:noFill/>
        </p:spPr>
        <p:txBody>
          <a:bodyPr wrap="square" lIns="0" tIns="0" rIns="0" bIns="0" anchor="ctr">
            <a:spAutoFit/>
          </a:bodyPr>
          <a:lstStyle/>
          <a:p>
            <a:pPr algn="l"/>
            <a:r>
              <a:rPr sz="750" b="0">
                <a:solidFill>
                  <a:srgbClr val="78716C"/>
                </a:solidFill>
                <a:latin typeface="Segoe UI"/>
              </a:rPr>
              <a:t>offset</a:t>
            </a:r>
          </a:p>
        </p:txBody>
      </p:sp>
      <p:sp>
        <p:nvSpPr>
          <p:cNvPr id="54" name="a3ud100_lb53"/>
          <p:cNvSpPr txBox="1"/>
          <p:nvPr/>
        </p:nvSpPr>
        <p:spPr>
          <a:xfrm>
            <a:off x="6675120" y="1572768"/>
            <a:ext cx="1737360" cy="201168"/>
          </a:xfrm>
          <a:prstGeom prst="rect">
            <a:avLst/>
          </a:prstGeom>
          <a:noFill/>
        </p:spPr>
        <p:txBody>
          <a:bodyPr wrap="square" lIns="0" tIns="0" rIns="0" bIns="0" anchor="ctr">
            <a:spAutoFit/>
          </a:bodyPr>
          <a:lstStyle/>
          <a:p>
            <a:pPr algn="r"/>
            <a:r>
              <a:rPr sz="750" b="0">
                <a:solidFill>
                  <a:srgbClr val="78716C"/>
                </a:solidFill>
                <a:latin typeface="Segoe UI"/>
              </a:rPr>
              <a:t>new events append here  &gt;</a:t>
            </a:r>
          </a:p>
        </p:txBody>
      </p:sp>
      <p:sp>
        <p:nvSpPr>
          <p:cNvPr id="55" name="a4u_nd54"/>
          <p:cNvSpPr/>
          <p:nvPr/>
        </p:nvSpPr>
        <p:spPr>
          <a:xfrm>
            <a:off x="5742432" y="2560320"/>
            <a:ext cx="1188720" cy="329184"/>
          </a:xfrm>
          <a:prstGeom prst="roundRect">
            <a:avLst>
              <a:gd name="adj" fmla="val 22222"/>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4u_ndt55"/>
          <p:cNvSpPr txBox="1"/>
          <p:nvPr/>
        </p:nvSpPr>
        <p:spPr>
          <a:xfrm>
            <a:off x="5788152" y="2560320"/>
            <a:ext cx="1097280" cy="329184"/>
          </a:xfrm>
          <a:prstGeom prst="rect">
            <a:avLst/>
          </a:prstGeom>
          <a:noFill/>
        </p:spPr>
        <p:txBody>
          <a:bodyPr wrap="square" lIns="0" tIns="0" rIns="0" bIns="0" anchor="ctr">
            <a:spAutoFit/>
          </a:bodyPr>
          <a:lstStyle/>
          <a:p>
            <a:pPr algn="ctr"/>
            <a:r>
              <a:rPr sz="850" b="1">
                <a:solidFill>
                  <a:srgbClr val="1C1917"/>
                </a:solidFill>
                <a:latin typeface="Segoe UI"/>
              </a:rPr>
              <a:t>fraud @ 3</a:t>
            </a:r>
          </a:p>
        </p:txBody>
      </p:sp>
      <p:cxnSp>
        <p:nvCxnSpPr>
          <p:cNvPr id="57" name="a4u_ar56"/>
          <p:cNvCxnSpPr/>
          <p:nvPr/>
        </p:nvCxnSpPr>
        <p:spPr>
          <a:xfrm flipV="1">
            <a:off x="6336792" y="2157984"/>
            <a:ext cx="0" cy="384048"/>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a4ud150_nd57"/>
          <p:cNvSpPr/>
          <p:nvPr/>
        </p:nvSpPr>
        <p:spPr>
          <a:xfrm>
            <a:off x="7388352" y="2560320"/>
            <a:ext cx="1188720" cy="329184"/>
          </a:xfrm>
          <a:prstGeom prst="roundRect">
            <a:avLst>
              <a:gd name="adj" fmla="val 22222"/>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4ud150_ndt58"/>
          <p:cNvSpPr txBox="1"/>
          <p:nvPr/>
        </p:nvSpPr>
        <p:spPr>
          <a:xfrm>
            <a:off x="7434072" y="2560320"/>
            <a:ext cx="1097280" cy="329184"/>
          </a:xfrm>
          <a:prstGeom prst="rect">
            <a:avLst/>
          </a:prstGeom>
          <a:noFill/>
        </p:spPr>
        <p:txBody>
          <a:bodyPr wrap="square" lIns="0" tIns="0" rIns="0" bIns="0" anchor="ctr">
            <a:spAutoFit/>
          </a:bodyPr>
          <a:lstStyle/>
          <a:p>
            <a:pPr algn="ctr"/>
            <a:r>
              <a:rPr sz="850" b="1">
                <a:solidFill>
                  <a:srgbClr val="1C1917"/>
                </a:solidFill>
                <a:latin typeface="Segoe UI"/>
              </a:rPr>
              <a:t>warehouse @ 7</a:t>
            </a:r>
          </a:p>
        </p:txBody>
      </p:sp>
      <p:cxnSp>
        <p:nvCxnSpPr>
          <p:cNvPr id="60" name="a4ud150_ar59"/>
          <p:cNvCxnSpPr/>
          <p:nvPr/>
        </p:nvCxnSpPr>
        <p:spPr>
          <a:xfrm flipV="1">
            <a:off x="7982712" y="2157984"/>
            <a:ext cx="0" cy="384048"/>
          </a:xfrm>
          <a:prstGeom prst="line">
            <a:avLst/>
          </a:prstGeom>
          <a:ln w="1587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a4ud250_dot60"/>
          <p:cNvSpPr/>
          <p:nvPr/>
        </p:nvSpPr>
        <p:spPr>
          <a:xfrm>
            <a:off x="4864608" y="318668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a4ud250_b61"/>
          <p:cNvSpPr txBox="1"/>
          <p:nvPr/>
        </p:nvSpPr>
        <p:spPr>
          <a:xfrm>
            <a:off x="5084064" y="3090672"/>
            <a:ext cx="3401568" cy="329184"/>
          </a:xfrm>
          <a:prstGeom prst="rect">
            <a:avLst/>
          </a:prstGeom>
          <a:noFill/>
        </p:spPr>
        <p:txBody>
          <a:bodyPr wrap="square" lIns="0" tIns="0" rIns="0" bIns="0" anchor="t">
            <a:spAutoFit/>
          </a:bodyPr>
          <a:lstStyle/>
          <a:p>
            <a:pPr algn="l"/>
            <a:r>
              <a:rPr sz="900" b="0">
                <a:solidFill>
                  <a:srgbClr val="44403C"/>
                </a:solidFill>
                <a:latin typeface="Segoe UI"/>
              </a:rPr>
              <a:t>Append-only; kept for the retention period</a:t>
            </a:r>
          </a:p>
        </p:txBody>
      </p:sp>
      <p:sp>
        <p:nvSpPr>
          <p:cNvPr id="63" name="a4ud350_dot62"/>
          <p:cNvSpPr/>
          <p:nvPr/>
        </p:nvSpPr>
        <p:spPr>
          <a:xfrm>
            <a:off x="4864608" y="355244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a4ud350_b63"/>
          <p:cNvSpPr txBox="1"/>
          <p:nvPr/>
        </p:nvSpPr>
        <p:spPr>
          <a:xfrm>
            <a:off x="5084064" y="3456432"/>
            <a:ext cx="3401568" cy="329184"/>
          </a:xfrm>
          <a:prstGeom prst="rect">
            <a:avLst/>
          </a:prstGeom>
          <a:noFill/>
        </p:spPr>
        <p:txBody>
          <a:bodyPr wrap="square" lIns="0" tIns="0" rIns="0" bIns="0" anchor="t">
            <a:spAutoFit/>
          </a:bodyPr>
          <a:lstStyle/>
          <a:p>
            <a:pPr algn="l"/>
            <a:r>
              <a:rPr sz="900" b="0">
                <a:solidFill>
                  <a:srgbClr val="44403C"/>
                </a:solidFill>
                <a:latin typeface="Segoe UI"/>
              </a:rPr>
              <a:t>Each reader keeps its own offset</a:t>
            </a:r>
          </a:p>
        </p:txBody>
      </p:sp>
      <p:sp>
        <p:nvSpPr>
          <p:cNvPr id="65" name="a4ud450_dot64"/>
          <p:cNvSpPr/>
          <p:nvPr/>
        </p:nvSpPr>
        <p:spPr>
          <a:xfrm>
            <a:off x="4864608" y="391820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a4ud450_b65"/>
          <p:cNvSpPr txBox="1"/>
          <p:nvPr/>
        </p:nvSpPr>
        <p:spPr>
          <a:xfrm>
            <a:off x="5084064" y="3822192"/>
            <a:ext cx="3401568" cy="329184"/>
          </a:xfrm>
          <a:prstGeom prst="rect">
            <a:avLst/>
          </a:prstGeom>
          <a:noFill/>
        </p:spPr>
        <p:txBody>
          <a:bodyPr wrap="square" lIns="0" tIns="0" rIns="0" bIns="0" anchor="t">
            <a:spAutoFit/>
          </a:bodyPr>
          <a:lstStyle/>
          <a:p>
            <a:pPr algn="l"/>
            <a:r>
              <a:rPr sz="900" b="0">
                <a:solidFill>
                  <a:srgbClr val="44403C"/>
                </a:solidFill>
                <a:latin typeface="Segoe UI"/>
              </a:rPr>
              <a:t>Replay = move the offset back, read again</a:t>
            </a:r>
          </a:p>
        </p:txBody>
      </p:sp>
      <p:sp>
        <p:nvSpPr>
          <p:cNvPr id="67" name="ft66"/>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48</a:t>
            </a:r>
          </a:p>
        </p:txBody>
      </p:sp>
      <p:sp>
        <p:nvSpPr>
          <p:cNvPr id="68" name="ft67"/>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ft68"/>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70" name="ft69"/>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0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10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10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10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10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10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10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childTnLst>
                          </p:cTn>
                        </p:par>
                      </p:childTnLst>
                    </p:cTn>
                  </p:par>
                  <p:par>
                    <p:cTn id="70" fill="hold">
                      <p:stCondLst>
                        <p:cond delay="indefinite"/>
                      </p:stCondLst>
                      <p:childTnLst>
                        <p:par>
                          <p:cTn id="71" fill="hold">
                            <p:stCondLst>
                              <p:cond delay="0"/>
                            </p:stCondLst>
                            <p:childTnLst>
                              <p:par>
                                <p:cTn id="74" presetID="10" presetClass="entr" presetSubtype="0"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9" presetID="2" presetClass="entr" presetSubtype="4"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par>
                                <p:cTn id="89" presetID="2" presetClass="entr" presetSubtype="4" fill="hold" grpId="0" nodeType="withEffect">
                                  <p:stCondLst>
                                    <p:cond delay="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10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10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1"/>
                                          </p:val>
                                        </p:tav>
                                        <p:tav tm="100000">
                                          <p:val>
                                            <p:strVal val="#ppt_y"/>
                                          </p:val>
                                        </p:tav>
                                      </p:tavLst>
                                    </p:anim>
                                    <p:animEffect transition="in" filter="fade">
                                      <p:cBhvr>
                                        <p:cTn id="98" dur="500"/>
                                        <p:tgtEl>
                                          <p:spTgt spid="29"/>
                                        </p:tgtEl>
                                      </p:cBhvr>
                                    </p:animEffect>
                                  </p:childTnLst>
                                </p:cTn>
                              </p:par>
                              <p:par>
                                <p:cTn id="104" presetID="2" presetClass="entr" presetSubtype="4" fill="hold" grpId="0" nodeType="withEffect">
                                  <p:stCondLst>
                                    <p:cond delay="20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ppt_x</p:attrName>
                                        </p:attrNameLst>
                                      </p:cBhvr>
                                      <p:tavLst>
                                        <p:tav tm="0">
                                          <p:val>
                                            <p:strVal val="#ppt_x"/>
                                          </p:val>
                                        </p:tav>
                                        <p:tav tm="100000">
                                          <p:val>
                                            <p:strVal val="#ppt_x"/>
                                          </p:val>
                                        </p:tav>
                                      </p:tavLst>
                                    </p:anim>
                                    <p:anim calcmode="lin" valueType="num">
                                      <p:cBhvr additive="base">
                                        <p:cTn id="102" dur="500" fill="hold"/>
                                        <p:tgtEl>
                                          <p:spTgt spid="30"/>
                                        </p:tgtEl>
                                        <p:attrNameLst>
                                          <p:attrName>ppt_y</p:attrName>
                                        </p:attrNameLst>
                                      </p:cBhvr>
                                      <p:tavLst>
                                        <p:tav tm="0">
                                          <p:val>
                                            <p:strVal val="#ppt_y+0.1"/>
                                          </p:val>
                                        </p:tav>
                                        <p:tav tm="100000">
                                          <p:val>
                                            <p:strVal val="#ppt_y"/>
                                          </p:val>
                                        </p:tav>
                                      </p:tavLst>
                                    </p:anim>
                                    <p:animEffect transition="in" filter="fade">
                                      <p:cBhvr>
                                        <p:cTn id="103" dur="500"/>
                                        <p:tgtEl>
                                          <p:spTgt spid="30"/>
                                        </p:tgtEl>
                                      </p:cBhvr>
                                    </p:animEffect>
                                  </p:childTnLst>
                                </p:cTn>
                              </p:par>
                              <p:par>
                                <p:cTn id="109" presetID="2" presetClass="entr" presetSubtype="4" fill="hold" grpId="0" nodeType="withEffect">
                                  <p:stCondLst>
                                    <p:cond delay="200"/>
                                  </p:stCondLst>
                                  <p:childTnLst>
                                    <p:set>
                                      <p:cBhvr>
                                        <p:cTn id="105" dur="1" fill="hold">
                                          <p:stCondLst>
                                            <p:cond delay="0"/>
                                          </p:stCondLst>
                                        </p:cTn>
                                        <p:tgtEl>
                                          <p:spTgt spid="31"/>
                                        </p:tgtEl>
                                        <p:attrNameLst>
                                          <p:attrName>style.visibility</p:attrName>
                                        </p:attrNameLst>
                                      </p:cBhvr>
                                      <p:to>
                                        <p:strVal val="visible"/>
                                      </p:to>
                                    </p:set>
                                    <p:anim calcmode="lin" valueType="num">
                                      <p:cBhvr additive="base">
                                        <p:cTn id="106" dur="500" fill="hold"/>
                                        <p:tgtEl>
                                          <p:spTgt spid="31"/>
                                        </p:tgtEl>
                                        <p:attrNameLst>
                                          <p:attrName>ppt_x</p:attrName>
                                        </p:attrNameLst>
                                      </p:cBhvr>
                                      <p:tavLst>
                                        <p:tav tm="0">
                                          <p:val>
                                            <p:strVal val="#ppt_x"/>
                                          </p:val>
                                        </p:tav>
                                        <p:tav tm="100000">
                                          <p:val>
                                            <p:strVal val="#ppt_x"/>
                                          </p:val>
                                        </p:tav>
                                      </p:tavLst>
                                    </p:anim>
                                    <p:anim calcmode="lin" valueType="num">
                                      <p:cBhvr additive="base">
                                        <p:cTn id="107" dur="500" fill="hold"/>
                                        <p:tgtEl>
                                          <p:spTgt spid="31"/>
                                        </p:tgtEl>
                                        <p:attrNameLst>
                                          <p:attrName>ppt_y</p:attrName>
                                        </p:attrNameLst>
                                      </p:cBhvr>
                                      <p:tavLst>
                                        <p:tav tm="0">
                                          <p:val>
                                            <p:strVal val="#ppt_y+0.1"/>
                                          </p:val>
                                        </p:tav>
                                        <p:tav tm="100000">
                                          <p:val>
                                            <p:strVal val="#ppt_y"/>
                                          </p:val>
                                        </p:tav>
                                      </p:tavLst>
                                    </p:anim>
                                    <p:animEffect transition="in" filter="fade">
                                      <p:cBhvr>
                                        <p:cTn id="108" dur="500"/>
                                        <p:tgtEl>
                                          <p:spTgt spid="31"/>
                                        </p:tgtEl>
                                      </p:cBhvr>
                                    </p:animEffect>
                                  </p:childTnLst>
                                </p:cTn>
                              </p:par>
                              <p:par>
                                <p:cTn id="114" presetID="2" presetClass="entr" presetSubtype="4" fill="hold" grpId="0" nodeType="withEffect">
                                  <p:stCondLst>
                                    <p:cond delay="300"/>
                                  </p:stCondLst>
                                  <p:childTnLst>
                                    <p:set>
                                      <p:cBhvr>
                                        <p:cTn id="110" dur="1" fill="hold">
                                          <p:stCondLst>
                                            <p:cond delay="0"/>
                                          </p:stCondLst>
                                        </p:cTn>
                                        <p:tgtEl>
                                          <p:spTgt spid="32"/>
                                        </p:tgtEl>
                                        <p:attrNameLst>
                                          <p:attrName>style.visibility</p:attrName>
                                        </p:attrNameLst>
                                      </p:cBhvr>
                                      <p:to>
                                        <p:strVal val="visible"/>
                                      </p:to>
                                    </p:set>
                                    <p:anim calcmode="lin" valueType="num">
                                      <p:cBhvr additive="base">
                                        <p:cTn id="111" dur="500" fill="hold"/>
                                        <p:tgtEl>
                                          <p:spTgt spid="32"/>
                                        </p:tgtEl>
                                        <p:attrNameLst>
                                          <p:attrName>ppt_x</p:attrName>
                                        </p:attrNameLst>
                                      </p:cBhvr>
                                      <p:tavLst>
                                        <p:tav tm="0">
                                          <p:val>
                                            <p:strVal val="#ppt_x"/>
                                          </p:val>
                                        </p:tav>
                                        <p:tav tm="100000">
                                          <p:val>
                                            <p:strVal val="#ppt_x"/>
                                          </p:val>
                                        </p:tav>
                                      </p:tavLst>
                                    </p:anim>
                                    <p:anim calcmode="lin" valueType="num">
                                      <p:cBhvr additive="base">
                                        <p:cTn id="112" dur="500" fill="hold"/>
                                        <p:tgtEl>
                                          <p:spTgt spid="32"/>
                                        </p:tgtEl>
                                        <p:attrNameLst>
                                          <p:attrName>ppt_y</p:attrName>
                                        </p:attrNameLst>
                                      </p:cBhvr>
                                      <p:tavLst>
                                        <p:tav tm="0">
                                          <p:val>
                                            <p:strVal val="#ppt_y+0.1"/>
                                          </p:val>
                                        </p:tav>
                                        <p:tav tm="100000">
                                          <p:val>
                                            <p:strVal val="#ppt_y"/>
                                          </p:val>
                                        </p:tav>
                                      </p:tavLst>
                                    </p:anim>
                                    <p:animEffect transition="in" filter="fade">
                                      <p:cBhvr>
                                        <p:cTn id="113" dur="500"/>
                                        <p:tgtEl>
                                          <p:spTgt spid="32"/>
                                        </p:tgtEl>
                                      </p:cBhvr>
                                    </p:animEffect>
                                  </p:childTnLst>
                                </p:cTn>
                              </p:par>
                              <p:par>
                                <p:cTn id="119" presetID="2" presetClass="entr" presetSubtype="4" fill="hold" grpId="0" nodeType="withEffect">
                                  <p:stCondLst>
                                    <p:cond delay="300"/>
                                  </p:stCondLst>
                                  <p:childTnLst>
                                    <p:set>
                                      <p:cBhvr>
                                        <p:cTn id="115" dur="1" fill="hold">
                                          <p:stCondLst>
                                            <p:cond delay="0"/>
                                          </p:stCondLst>
                                        </p:cTn>
                                        <p:tgtEl>
                                          <p:spTgt spid="33"/>
                                        </p:tgtEl>
                                        <p:attrNameLst>
                                          <p:attrName>style.visibility</p:attrName>
                                        </p:attrNameLst>
                                      </p:cBhvr>
                                      <p:to>
                                        <p:strVal val="visible"/>
                                      </p:to>
                                    </p:set>
                                    <p:anim calcmode="lin" valueType="num">
                                      <p:cBhvr additive="base">
                                        <p:cTn id="116" dur="500" fill="hold"/>
                                        <p:tgtEl>
                                          <p:spTgt spid="33"/>
                                        </p:tgtEl>
                                        <p:attrNameLst>
                                          <p:attrName>ppt_x</p:attrName>
                                        </p:attrNameLst>
                                      </p:cBhvr>
                                      <p:tavLst>
                                        <p:tav tm="0">
                                          <p:val>
                                            <p:strVal val="#ppt_x"/>
                                          </p:val>
                                        </p:tav>
                                        <p:tav tm="100000">
                                          <p:val>
                                            <p:strVal val="#ppt_x"/>
                                          </p:val>
                                        </p:tav>
                                      </p:tavLst>
                                    </p:anim>
                                    <p:anim calcmode="lin" valueType="num">
                                      <p:cBhvr additive="base">
                                        <p:cTn id="117" dur="500" fill="hold"/>
                                        <p:tgtEl>
                                          <p:spTgt spid="33"/>
                                        </p:tgtEl>
                                        <p:attrNameLst>
                                          <p:attrName>ppt_y</p:attrName>
                                        </p:attrNameLst>
                                      </p:cBhvr>
                                      <p:tavLst>
                                        <p:tav tm="0">
                                          <p:val>
                                            <p:strVal val="#ppt_y+0.1"/>
                                          </p:val>
                                        </p:tav>
                                        <p:tav tm="100000">
                                          <p:val>
                                            <p:strVal val="#ppt_y"/>
                                          </p:val>
                                        </p:tav>
                                      </p:tavLst>
                                    </p:anim>
                                    <p:animEffect transition="in" filter="fade">
                                      <p:cBhvr>
                                        <p:cTn id="118" dur="500"/>
                                        <p:tgtEl>
                                          <p:spTgt spid="33"/>
                                        </p:tgtEl>
                                      </p:cBhvr>
                                    </p:animEffect>
                                  </p:childTnLst>
                                </p:cTn>
                              </p:par>
                            </p:childTnLst>
                          </p:cTn>
                        </p:par>
                      </p:childTnLst>
                    </p:cTn>
                  </p:par>
                  <p:par>
                    <p:cTn id="120" fill="hold">
                      <p:stCondLst>
                        <p:cond delay="indefinite"/>
                      </p:stCondLst>
                      <p:childTnLst>
                        <p:par>
                          <p:cTn id="121" fill="hold">
                            <p:stCondLst>
                              <p:cond delay="0"/>
                            </p:stCondLst>
                            <p:childTnLst>
                              <p:par>
                                <p:cTn id="126" presetID="2" presetClass="entr" presetSubtype="4" fill="hold" grpId="0" nodeType="clickEffect">
                                  <p:stCondLst>
                                    <p:cond delay="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par>
                                <p:cTn id="131" presetID="2" presetClass="entr" presetSubtype="4" fill="hold" grpId="0" nodeType="withEffect">
                                  <p:stCondLst>
                                    <p:cond delay="0"/>
                                  </p:stCondLst>
                                  <p:childTnLst>
                                    <p:set>
                                      <p:cBhvr>
                                        <p:cTn id="127" dur="1" fill="hold">
                                          <p:stCondLst>
                                            <p:cond delay="0"/>
                                          </p:stCondLst>
                                        </p:cTn>
                                        <p:tgtEl>
                                          <p:spTgt spid="35"/>
                                        </p:tgtEl>
                                        <p:attrNameLst>
                                          <p:attrName>style.visibility</p:attrName>
                                        </p:attrNameLst>
                                      </p:cBhvr>
                                      <p:to>
                                        <p:strVal val="visible"/>
                                      </p:to>
                                    </p:set>
                                    <p:anim calcmode="lin" valueType="num">
                                      <p:cBhvr additive="base">
                                        <p:cTn id="128" dur="500" fill="hold"/>
                                        <p:tgtEl>
                                          <p:spTgt spid="35"/>
                                        </p:tgtEl>
                                        <p:attrNameLst>
                                          <p:attrName>ppt_x</p:attrName>
                                        </p:attrNameLst>
                                      </p:cBhvr>
                                      <p:tavLst>
                                        <p:tav tm="0">
                                          <p:val>
                                            <p:strVal val="#ppt_x"/>
                                          </p:val>
                                        </p:tav>
                                        <p:tav tm="100000">
                                          <p:val>
                                            <p:strVal val="#ppt_x"/>
                                          </p:val>
                                        </p:tav>
                                      </p:tavLst>
                                    </p:anim>
                                    <p:anim calcmode="lin" valueType="num">
                                      <p:cBhvr additive="base">
                                        <p:cTn id="129" dur="500" fill="hold"/>
                                        <p:tgtEl>
                                          <p:spTgt spid="35"/>
                                        </p:tgtEl>
                                        <p:attrNameLst>
                                          <p:attrName>ppt_y</p:attrName>
                                        </p:attrNameLst>
                                      </p:cBhvr>
                                      <p:tavLst>
                                        <p:tav tm="0">
                                          <p:val>
                                            <p:strVal val="#ppt_y+0.1"/>
                                          </p:val>
                                        </p:tav>
                                        <p:tav tm="100000">
                                          <p:val>
                                            <p:strVal val="#ppt_y"/>
                                          </p:val>
                                        </p:tav>
                                      </p:tavLst>
                                    </p:anim>
                                    <p:animEffect transition="in" filter="fade">
                                      <p:cBhvr>
                                        <p:cTn id="130" dur="500"/>
                                        <p:tgtEl>
                                          <p:spTgt spid="35"/>
                                        </p:tgtEl>
                                      </p:cBhvr>
                                    </p:animEffect>
                                  </p:childTnLst>
                                </p:cTn>
                              </p:par>
                              <p:par>
                                <p:cTn id="136" presetID="2" presetClass="entr" presetSubtype="4" fill="hold" grpId="0" nodeType="withEffect">
                                  <p:stCondLst>
                                    <p:cond delay="0"/>
                                  </p:stCondLst>
                                  <p:childTnLst>
                                    <p:set>
                                      <p:cBhvr>
                                        <p:cTn id="132" dur="1" fill="hold">
                                          <p:stCondLst>
                                            <p:cond delay="0"/>
                                          </p:stCondLst>
                                        </p:cTn>
                                        <p:tgtEl>
                                          <p:spTgt spid="36"/>
                                        </p:tgtEl>
                                        <p:attrNameLst>
                                          <p:attrName>style.visibility</p:attrName>
                                        </p:attrNameLst>
                                      </p:cBhvr>
                                      <p:to>
                                        <p:strVal val="visible"/>
                                      </p:to>
                                    </p:set>
                                    <p:anim calcmode="lin" valueType="num">
                                      <p:cBhvr additive="base">
                                        <p:cTn id="133" dur="500" fill="hold"/>
                                        <p:tgtEl>
                                          <p:spTgt spid="36"/>
                                        </p:tgtEl>
                                        <p:attrNameLst>
                                          <p:attrName>ppt_x</p:attrName>
                                        </p:attrNameLst>
                                      </p:cBhvr>
                                      <p:tavLst>
                                        <p:tav tm="0">
                                          <p:val>
                                            <p:strVal val="#ppt_x"/>
                                          </p:val>
                                        </p:tav>
                                        <p:tav tm="100000">
                                          <p:val>
                                            <p:strVal val="#ppt_x"/>
                                          </p:val>
                                        </p:tav>
                                      </p:tavLst>
                                    </p:anim>
                                    <p:anim calcmode="lin" valueType="num">
                                      <p:cBhvr additive="base">
                                        <p:cTn id="134" dur="500" fill="hold"/>
                                        <p:tgtEl>
                                          <p:spTgt spid="36"/>
                                        </p:tgtEl>
                                        <p:attrNameLst>
                                          <p:attrName>ppt_y</p:attrName>
                                        </p:attrNameLst>
                                      </p:cBhvr>
                                      <p:tavLst>
                                        <p:tav tm="0">
                                          <p:val>
                                            <p:strVal val="#ppt_y+0.1"/>
                                          </p:val>
                                        </p:tav>
                                        <p:tav tm="100000">
                                          <p:val>
                                            <p:strVal val="#ppt_y"/>
                                          </p:val>
                                        </p:tav>
                                      </p:tavLst>
                                    </p:anim>
                                    <p:animEffect transition="in" filter="fade">
                                      <p:cBhvr>
                                        <p:cTn id="135" dur="500"/>
                                        <p:tgtEl>
                                          <p:spTgt spid="36"/>
                                        </p:tgtEl>
                                      </p:cBhvr>
                                    </p:animEffect>
                                  </p:childTnLst>
                                </p:cTn>
                              </p:par>
                              <p:par>
                                <p:cTn id="141" presetID="2" presetClass="entr" presetSubtype="4" fill="hold" grpId="0" nodeType="withEffect">
                                  <p:stCondLst>
                                    <p:cond delay="100"/>
                                  </p:stCondLst>
                                  <p:childTnLst>
                                    <p:set>
                                      <p:cBhvr>
                                        <p:cTn id="137" dur="1" fill="hold">
                                          <p:stCondLst>
                                            <p:cond delay="0"/>
                                          </p:stCondLst>
                                        </p:cTn>
                                        <p:tgtEl>
                                          <p:spTgt spid="37"/>
                                        </p:tgtEl>
                                        <p:attrNameLst>
                                          <p:attrName>style.visibility</p:attrName>
                                        </p:attrNameLst>
                                      </p:cBhvr>
                                      <p:to>
                                        <p:strVal val="visible"/>
                                      </p:to>
                                    </p:set>
                                    <p:anim calcmode="lin" valueType="num">
                                      <p:cBhvr additive="base">
                                        <p:cTn id="138" dur="500" fill="hold"/>
                                        <p:tgtEl>
                                          <p:spTgt spid="37"/>
                                        </p:tgtEl>
                                        <p:attrNameLst>
                                          <p:attrName>ppt_x</p:attrName>
                                        </p:attrNameLst>
                                      </p:cBhvr>
                                      <p:tavLst>
                                        <p:tav tm="0">
                                          <p:val>
                                            <p:strVal val="#ppt_x"/>
                                          </p:val>
                                        </p:tav>
                                        <p:tav tm="100000">
                                          <p:val>
                                            <p:strVal val="#ppt_x"/>
                                          </p:val>
                                        </p:tav>
                                      </p:tavLst>
                                    </p:anim>
                                    <p:anim calcmode="lin" valueType="num">
                                      <p:cBhvr additive="base">
                                        <p:cTn id="139" dur="500" fill="hold"/>
                                        <p:tgtEl>
                                          <p:spTgt spid="37"/>
                                        </p:tgtEl>
                                        <p:attrNameLst>
                                          <p:attrName>ppt_y</p:attrName>
                                        </p:attrNameLst>
                                      </p:cBhvr>
                                      <p:tavLst>
                                        <p:tav tm="0">
                                          <p:val>
                                            <p:strVal val="#ppt_y+0.1"/>
                                          </p:val>
                                        </p:tav>
                                        <p:tav tm="100000">
                                          <p:val>
                                            <p:strVal val="#ppt_y"/>
                                          </p:val>
                                        </p:tav>
                                      </p:tavLst>
                                    </p:anim>
                                    <p:animEffect transition="in" filter="fade">
                                      <p:cBhvr>
                                        <p:cTn id="140" dur="500"/>
                                        <p:tgtEl>
                                          <p:spTgt spid="37"/>
                                        </p:tgtEl>
                                      </p:cBhvr>
                                    </p:animEffect>
                                  </p:childTnLst>
                                </p:cTn>
                              </p:par>
                              <p:par>
                                <p:cTn id="146" presetID="2" presetClass="entr" presetSubtype="4" fill="hold" grpId="0" nodeType="withEffect">
                                  <p:stCondLst>
                                    <p:cond delay="100"/>
                                  </p:stCondLst>
                                  <p:childTnLst>
                                    <p:set>
                                      <p:cBhvr>
                                        <p:cTn id="142" dur="1" fill="hold">
                                          <p:stCondLst>
                                            <p:cond delay="0"/>
                                          </p:stCondLst>
                                        </p:cTn>
                                        <p:tgtEl>
                                          <p:spTgt spid="38"/>
                                        </p:tgtEl>
                                        <p:attrNameLst>
                                          <p:attrName>style.visibility</p:attrName>
                                        </p:attrNameLst>
                                      </p:cBhvr>
                                      <p:to>
                                        <p:strVal val="visible"/>
                                      </p:to>
                                    </p:set>
                                    <p:anim calcmode="lin" valueType="num">
                                      <p:cBhvr additive="base">
                                        <p:cTn id="143" dur="500" fill="hold"/>
                                        <p:tgtEl>
                                          <p:spTgt spid="38"/>
                                        </p:tgtEl>
                                        <p:attrNameLst>
                                          <p:attrName>ppt_x</p:attrName>
                                        </p:attrNameLst>
                                      </p:cBhvr>
                                      <p:tavLst>
                                        <p:tav tm="0">
                                          <p:val>
                                            <p:strVal val="#ppt_x"/>
                                          </p:val>
                                        </p:tav>
                                        <p:tav tm="100000">
                                          <p:val>
                                            <p:strVal val="#ppt_x"/>
                                          </p:val>
                                        </p:tav>
                                      </p:tavLst>
                                    </p:anim>
                                    <p:anim calcmode="lin" valueType="num">
                                      <p:cBhvr additive="base">
                                        <p:cTn id="144" dur="500" fill="hold"/>
                                        <p:tgtEl>
                                          <p:spTgt spid="38"/>
                                        </p:tgtEl>
                                        <p:attrNameLst>
                                          <p:attrName>ppt_y</p:attrName>
                                        </p:attrNameLst>
                                      </p:cBhvr>
                                      <p:tavLst>
                                        <p:tav tm="0">
                                          <p:val>
                                            <p:strVal val="#ppt_y+0.1"/>
                                          </p:val>
                                        </p:tav>
                                        <p:tav tm="100000">
                                          <p:val>
                                            <p:strVal val="#ppt_y"/>
                                          </p:val>
                                        </p:tav>
                                      </p:tavLst>
                                    </p:anim>
                                    <p:animEffect transition="in" filter="fade">
                                      <p:cBhvr>
                                        <p:cTn id="145" dur="500"/>
                                        <p:tgtEl>
                                          <p:spTgt spid="38"/>
                                        </p:tgtEl>
                                      </p:cBhvr>
                                    </p:animEffect>
                                  </p:childTnLst>
                                </p:cTn>
                              </p:par>
                              <p:par>
                                <p:cTn id="151" presetID="2" presetClass="entr" presetSubtype="4" fill="hold" grpId="0" nodeType="withEffect">
                                  <p:stCondLst>
                                    <p:cond delay="100"/>
                                  </p:stCondLst>
                                  <p:childTnLst>
                                    <p:set>
                                      <p:cBhvr>
                                        <p:cTn id="147" dur="1" fill="hold">
                                          <p:stCondLst>
                                            <p:cond delay="0"/>
                                          </p:stCondLst>
                                        </p:cTn>
                                        <p:tgtEl>
                                          <p:spTgt spid="39"/>
                                        </p:tgtEl>
                                        <p:attrNameLst>
                                          <p:attrName>style.visibility</p:attrName>
                                        </p:attrNameLst>
                                      </p:cBhvr>
                                      <p:to>
                                        <p:strVal val="visible"/>
                                      </p:to>
                                    </p:set>
                                    <p:anim calcmode="lin" valueType="num">
                                      <p:cBhvr additive="base">
                                        <p:cTn id="148" dur="500" fill="hold"/>
                                        <p:tgtEl>
                                          <p:spTgt spid="39"/>
                                        </p:tgtEl>
                                        <p:attrNameLst>
                                          <p:attrName>ppt_x</p:attrName>
                                        </p:attrNameLst>
                                      </p:cBhvr>
                                      <p:tavLst>
                                        <p:tav tm="0">
                                          <p:val>
                                            <p:strVal val="#ppt_x"/>
                                          </p:val>
                                        </p:tav>
                                        <p:tav tm="100000">
                                          <p:val>
                                            <p:strVal val="#ppt_x"/>
                                          </p:val>
                                        </p:tav>
                                      </p:tavLst>
                                    </p:anim>
                                    <p:anim calcmode="lin" valueType="num">
                                      <p:cBhvr additive="base">
                                        <p:cTn id="149" dur="500" fill="hold"/>
                                        <p:tgtEl>
                                          <p:spTgt spid="39"/>
                                        </p:tgtEl>
                                        <p:attrNameLst>
                                          <p:attrName>ppt_y</p:attrName>
                                        </p:attrNameLst>
                                      </p:cBhvr>
                                      <p:tavLst>
                                        <p:tav tm="0">
                                          <p:val>
                                            <p:strVal val="#ppt_y+0.1"/>
                                          </p:val>
                                        </p:tav>
                                        <p:tav tm="100000">
                                          <p:val>
                                            <p:strVal val="#ppt_y"/>
                                          </p:val>
                                        </p:tav>
                                      </p:tavLst>
                                    </p:anim>
                                    <p:animEffect transition="in" filter="fade">
                                      <p:cBhvr>
                                        <p:cTn id="150" dur="500"/>
                                        <p:tgtEl>
                                          <p:spTgt spid="39"/>
                                        </p:tgtEl>
                                      </p:cBhvr>
                                    </p:animEffect>
                                  </p:childTnLst>
                                </p:cTn>
                              </p:par>
                              <p:par>
                                <p:cTn id="156" presetID="2" presetClass="entr" presetSubtype="4" fill="hold" grpId="0" nodeType="withEffect">
                                  <p:stCondLst>
                                    <p:cond delay="100"/>
                                  </p:stCondLst>
                                  <p:childTnLst>
                                    <p:set>
                                      <p:cBhvr>
                                        <p:cTn id="152" dur="1" fill="hold">
                                          <p:stCondLst>
                                            <p:cond delay="0"/>
                                          </p:stCondLst>
                                        </p:cTn>
                                        <p:tgtEl>
                                          <p:spTgt spid="40"/>
                                        </p:tgtEl>
                                        <p:attrNameLst>
                                          <p:attrName>style.visibility</p:attrName>
                                        </p:attrNameLst>
                                      </p:cBhvr>
                                      <p:to>
                                        <p:strVal val="visible"/>
                                      </p:to>
                                    </p:set>
                                    <p:anim calcmode="lin" valueType="num">
                                      <p:cBhvr additive="base">
                                        <p:cTn id="153" dur="500" fill="hold"/>
                                        <p:tgtEl>
                                          <p:spTgt spid="40"/>
                                        </p:tgtEl>
                                        <p:attrNameLst>
                                          <p:attrName>ppt_x</p:attrName>
                                        </p:attrNameLst>
                                      </p:cBhvr>
                                      <p:tavLst>
                                        <p:tav tm="0">
                                          <p:val>
                                            <p:strVal val="#ppt_x"/>
                                          </p:val>
                                        </p:tav>
                                        <p:tav tm="100000">
                                          <p:val>
                                            <p:strVal val="#ppt_x"/>
                                          </p:val>
                                        </p:tav>
                                      </p:tavLst>
                                    </p:anim>
                                    <p:anim calcmode="lin" valueType="num">
                                      <p:cBhvr additive="base">
                                        <p:cTn id="154" dur="500" fill="hold"/>
                                        <p:tgtEl>
                                          <p:spTgt spid="40"/>
                                        </p:tgtEl>
                                        <p:attrNameLst>
                                          <p:attrName>ppt_y</p:attrName>
                                        </p:attrNameLst>
                                      </p:cBhvr>
                                      <p:tavLst>
                                        <p:tav tm="0">
                                          <p:val>
                                            <p:strVal val="#ppt_y+0.1"/>
                                          </p:val>
                                        </p:tav>
                                        <p:tav tm="100000">
                                          <p:val>
                                            <p:strVal val="#ppt_y"/>
                                          </p:val>
                                        </p:tav>
                                      </p:tavLst>
                                    </p:anim>
                                    <p:animEffect transition="in" filter="fade">
                                      <p:cBhvr>
                                        <p:cTn id="155" dur="500"/>
                                        <p:tgtEl>
                                          <p:spTgt spid="40"/>
                                        </p:tgtEl>
                                      </p:cBhvr>
                                    </p:animEffect>
                                  </p:childTnLst>
                                </p:cTn>
                              </p:par>
                              <p:par>
                                <p:cTn id="161" presetID="2" presetClass="entr" presetSubtype="4" fill="hold" grpId="0" nodeType="withEffect">
                                  <p:stCondLst>
                                    <p:cond delay="100"/>
                                  </p:stCondLst>
                                  <p:childTnLst>
                                    <p:set>
                                      <p:cBhvr>
                                        <p:cTn id="157" dur="1" fill="hold">
                                          <p:stCondLst>
                                            <p:cond delay="0"/>
                                          </p:stCondLst>
                                        </p:cTn>
                                        <p:tgtEl>
                                          <p:spTgt spid="41"/>
                                        </p:tgtEl>
                                        <p:attrNameLst>
                                          <p:attrName>style.visibility</p:attrName>
                                        </p:attrNameLst>
                                      </p:cBhvr>
                                      <p:to>
                                        <p:strVal val="visible"/>
                                      </p:to>
                                    </p:set>
                                    <p:anim calcmode="lin" valueType="num">
                                      <p:cBhvr additive="base">
                                        <p:cTn id="158" dur="500" fill="hold"/>
                                        <p:tgtEl>
                                          <p:spTgt spid="41"/>
                                        </p:tgtEl>
                                        <p:attrNameLst>
                                          <p:attrName>ppt_x</p:attrName>
                                        </p:attrNameLst>
                                      </p:cBhvr>
                                      <p:tavLst>
                                        <p:tav tm="0">
                                          <p:val>
                                            <p:strVal val="#ppt_x"/>
                                          </p:val>
                                        </p:tav>
                                        <p:tav tm="100000">
                                          <p:val>
                                            <p:strVal val="#ppt_x"/>
                                          </p:val>
                                        </p:tav>
                                      </p:tavLst>
                                    </p:anim>
                                    <p:anim calcmode="lin" valueType="num">
                                      <p:cBhvr additive="base">
                                        <p:cTn id="159" dur="500" fill="hold"/>
                                        <p:tgtEl>
                                          <p:spTgt spid="41"/>
                                        </p:tgtEl>
                                        <p:attrNameLst>
                                          <p:attrName>ppt_y</p:attrName>
                                        </p:attrNameLst>
                                      </p:cBhvr>
                                      <p:tavLst>
                                        <p:tav tm="0">
                                          <p:val>
                                            <p:strVal val="#ppt_y+0.1"/>
                                          </p:val>
                                        </p:tav>
                                        <p:tav tm="100000">
                                          <p:val>
                                            <p:strVal val="#ppt_y"/>
                                          </p:val>
                                        </p:tav>
                                      </p:tavLst>
                                    </p:anim>
                                    <p:animEffect transition="in" filter="fade">
                                      <p:cBhvr>
                                        <p:cTn id="160" dur="500"/>
                                        <p:tgtEl>
                                          <p:spTgt spid="41"/>
                                        </p:tgtEl>
                                      </p:cBhvr>
                                    </p:animEffect>
                                  </p:childTnLst>
                                </p:cTn>
                              </p:par>
                              <p:par>
                                <p:cTn id="166" presetID="2" presetClass="entr" presetSubtype="4" fill="hold" grpId="0" nodeType="withEffect">
                                  <p:stCondLst>
                                    <p:cond delay="100"/>
                                  </p:stCondLst>
                                  <p:childTnLst>
                                    <p:set>
                                      <p:cBhvr>
                                        <p:cTn id="162" dur="1" fill="hold">
                                          <p:stCondLst>
                                            <p:cond delay="0"/>
                                          </p:stCondLst>
                                        </p:cTn>
                                        <p:tgtEl>
                                          <p:spTgt spid="42"/>
                                        </p:tgtEl>
                                        <p:attrNameLst>
                                          <p:attrName>style.visibility</p:attrName>
                                        </p:attrNameLst>
                                      </p:cBhvr>
                                      <p:to>
                                        <p:strVal val="visible"/>
                                      </p:to>
                                    </p:set>
                                    <p:anim calcmode="lin" valueType="num">
                                      <p:cBhvr additive="base">
                                        <p:cTn id="163" dur="500" fill="hold"/>
                                        <p:tgtEl>
                                          <p:spTgt spid="42"/>
                                        </p:tgtEl>
                                        <p:attrNameLst>
                                          <p:attrName>ppt_x</p:attrName>
                                        </p:attrNameLst>
                                      </p:cBhvr>
                                      <p:tavLst>
                                        <p:tav tm="0">
                                          <p:val>
                                            <p:strVal val="#ppt_x"/>
                                          </p:val>
                                        </p:tav>
                                        <p:tav tm="100000">
                                          <p:val>
                                            <p:strVal val="#ppt_x"/>
                                          </p:val>
                                        </p:tav>
                                      </p:tavLst>
                                    </p:anim>
                                    <p:anim calcmode="lin" valueType="num">
                                      <p:cBhvr additive="base">
                                        <p:cTn id="164" dur="500" fill="hold"/>
                                        <p:tgtEl>
                                          <p:spTgt spid="42"/>
                                        </p:tgtEl>
                                        <p:attrNameLst>
                                          <p:attrName>ppt_y</p:attrName>
                                        </p:attrNameLst>
                                      </p:cBhvr>
                                      <p:tavLst>
                                        <p:tav tm="0">
                                          <p:val>
                                            <p:strVal val="#ppt_y+0.1"/>
                                          </p:val>
                                        </p:tav>
                                        <p:tav tm="100000">
                                          <p:val>
                                            <p:strVal val="#ppt_y"/>
                                          </p:val>
                                        </p:tav>
                                      </p:tavLst>
                                    </p:anim>
                                    <p:animEffect transition="in" filter="fade">
                                      <p:cBhvr>
                                        <p:cTn id="165" dur="500"/>
                                        <p:tgtEl>
                                          <p:spTgt spid="42"/>
                                        </p:tgtEl>
                                      </p:cBhvr>
                                    </p:animEffect>
                                  </p:childTnLst>
                                </p:cTn>
                              </p:par>
                              <p:par>
                                <p:cTn id="171" presetID="2" presetClass="entr" presetSubtype="4" fill="hold" grpId="0" nodeType="withEffect">
                                  <p:stCondLst>
                                    <p:cond delay="100"/>
                                  </p:stCondLst>
                                  <p:childTnLst>
                                    <p:set>
                                      <p:cBhvr>
                                        <p:cTn id="167" dur="1" fill="hold">
                                          <p:stCondLst>
                                            <p:cond delay="0"/>
                                          </p:stCondLst>
                                        </p:cTn>
                                        <p:tgtEl>
                                          <p:spTgt spid="43"/>
                                        </p:tgtEl>
                                        <p:attrNameLst>
                                          <p:attrName>style.visibility</p:attrName>
                                        </p:attrNameLst>
                                      </p:cBhvr>
                                      <p:to>
                                        <p:strVal val="visible"/>
                                      </p:to>
                                    </p:set>
                                    <p:anim calcmode="lin" valueType="num">
                                      <p:cBhvr additive="base">
                                        <p:cTn id="168" dur="500" fill="hold"/>
                                        <p:tgtEl>
                                          <p:spTgt spid="43"/>
                                        </p:tgtEl>
                                        <p:attrNameLst>
                                          <p:attrName>ppt_x</p:attrName>
                                        </p:attrNameLst>
                                      </p:cBhvr>
                                      <p:tavLst>
                                        <p:tav tm="0">
                                          <p:val>
                                            <p:strVal val="#ppt_x"/>
                                          </p:val>
                                        </p:tav>
                                        <p:tav tm="100000">
                                          <p:val>
                                            <p:strVal val="#ppt_x"/>
                                          </p:val>
                                        </p:tav>
                                      </p:tavLst>
                                    </p:anim>
                                    <p:anim calcmode="lin" valueType="num">
                                      <p:cBhvr additive="base">
                                        <p:cTn id="169" dur="500" fill="hold"/>
                                        <p:tgtEl>
                                          <p:spTgt spid="43"/>
                                        </p:tgtEl>
                                        <p:attrNameLst>
                                          <p:attrName>ppt_y</p:attrName>
                                        </p:attrNameLst>
                                      </p:cBhvr>
                                      <p:tavLst>
                                        <p:tav tm="0">
                                          <p:val>
                                            <p:strVal val="#ppt_y+0.1"/>
                                          </p:val>
                                        </p:tav>
                                        <p:tav tm="100000">
                                          <p:val>
                                            <p:strVal val="#ppt_y"/>
                                          </p:val>
                                        </p:tav>
                                      </p:tavLst>
                                    </p:anim>
                                    <p:animEffect transition="in" filter="fade">
                                      <p:cBhvr>
                                        <p:cTn id="170" dur="500"/>
                                        <p:tgtEl>
                                          <p:spTgt spid="43"/>
                                        </p:tgtEl>
                                      </p:cBhvr>
                                    </p:animEffect>
                                  </p:childTnLst>
                                </p:cTn>
                              </p:par>
                              <p:par>
                                <p:cTn id="176" presetID="2" presetClass="entr" presetSubtype="4" fill="hold" grpId="0" nodeType="withEffect">
                                  <p:stCondLst>
                                    <p:cond delay="100"/>
                                  </p:stCondLst>
                                  <p:childTnLst>
                                    <p:set>
                                      <p:cBhvr>
                                        <p:cTn id="172" dur="1" fill="hold">
                                          <p:stCondLst>
                                            <p:cond delay="0"/>
                                          </p:stCondLst>
                                        </p:cTn>
                                        <p:tgtEl>
                                          <p:spTgt spid="44"/>
                                        </p:tgtEl>
                                        <p:attrNameLst>
                                          <p:attrName>style.visibility</p:attrName>
                                        </p:attrNameLst>
                                      </p:cBhvr>
                                      <p:to>
                                        <p:strVal val="visible"/>
                                      </p:to>
                                    </p:set>
                                    <p:anim calcmode="lin" valueType="num">
                                      <p:cBhvr additive="base">
                                        <p:cTn id="173" dur="500" fill="hold"/>
                                        <p:tgtEl>
                                          <p:spTgt spid="44"/>
                                        </p:tgtEl>
                                        <p:attrNameLst>
                                          <p:attrName>ppt_x</p:attrName>
                                        </p:attrNameLst>
                                      </p:cBhvr>
                                      <p:tavLst>
                                        <p:tav tm="0">
                                          <p:val>
                                            <p:strVal val="#ppt_x"/>
                                          </p:val>
                                        </p:tav>
                                        <p:tav tm="100000">
                                          <p:val>
                                            <p:strVal val="#ppt_x"/>
                                          </p:val>
                                        </p:tav>
                                      </p:tavLst>
                                    </p:anim>
                                    <p:anim calcmode="lin" valueType="num">
                                      <p:cBhvr additive="base">
                                        <p:cTn id="174" dur="500" fill="hold"/>
                                        <p:tgtEl>
                                          <p:spTgt spid="44"/>
                                        </p:tgtEl>
                                        <p:attrNameLst>
                                          <p:attrName>ppt_y</p:attrName>
                                        </p:attrNameLst>
                                      </p:cBhvr>
                                      <p:tavLst>
                                        <p:tav tm="0">
                                          <p:val>
                                            <p:strVal val="#ppt_y+0.1"/>
                                          </p:val>
                                        </p:tav>
                                        <p:tav tm="100000">
                                          <p:val>
                                            <p:strVal val="#ppt_y"/>
                                          </p:val>
                                        </p:tav>
                                      </p:tavLst>
                                    </p:anim>
                                    <p:animEffect transition="in" filter="fade">
                                      <p:cBhvr>
                                        <p:cTn id="175" dur="500"/>
                                        <p:tgtEl>
                                          <p:spTgt spid="44"/>
                                        </p:tgtEl>
                                      </p:cBhvr>
                                    </p:animEffect>
                                  </p:childTnLst>
                                </p:cTn>
                              </p:par>
                              <p:par>
                                <p:cTn id="181" presetID="2" presetClass="entr" presetSubtype="4" fill="hold" grpId="0" nodeType="withEffect">
                                  <p:stCondLst>
                                    <p:cond delay="100"/>
                                  </p:stCondLst>
                                  <p:childTnLst>
                                    <p:set>
                                      <p:cBhvr>
                                        <p:cTn id="177" dur="1" fill="hold">
                                          <p:stCondLst>
                                            <p:cond delay="0"/>
                                          </p:stCondLst>
                                        </p:cTn>
                                        <p:tgtEl>
                                          <p:spTgt spid="45"/>
                                        </p:tgtEl>
                                        <p:attrNameLst>
                                          <p:attrName>style.visibility</p:attrName>
                                        </p:attrNameLst>
                                      </p:cBhvr>
                                      <p:to>
                                        <p:strVal val="visible"/>
                                      </p:to>
                                    </p:set>
                                    <p:anim calcmode="lin" valueType="num">
                                      <p:cBhvr additive="base">
                                        <p:cTn id="178" dur="500" fill="hold"/>
                                        <p:tgtEl>
                                          <p:spTgt spid="45"/>
                                        </p:tgtEl>
                                        <p:attrNameLst>
                                          <p:attrName>ppt_x</p:attrName>
                                        </p:attrNameLst>
                                      </p:cBhvr>
                                      <p:tavLst>
                                        <p:tav tm="0">
                                          <p:val>
                                            <p:strVal val="#ppt_x"/>
                                          </p:val>
                                        </p:tav>
                                        <p:tav tm="100000">
                                          <p:val>
                                            <p:strVal val="#ppt_x"/>
                                          </p:val>
                                        </p:tav>
                                      </p:tavLst>
                                    </p:anim>
                                    <p:anim calcmode="lin" valueType="num">
                                      <p:cBhvr additive="base">
                                        <p:cTn id="179" dur="500" fill="hold"/>
                                        <p:tgtEl>
                                          <p:spTgt spid="45"/>
                                        </p:tgtEl>
                                        <p:attrNameLst>
                                          <p:attrName>ppt_y</p:attrName>
                                        </p:attrNameLst>
                                      </p:cBhvr>
                                      <p:tavLst>
                                        <p:tav tm="0">
                                          <p:val>
                                            <p:strVal val="#ppt_y+0.1"/>
                                          </p:val>
                                        </p:tav>
                                        <p:tav tm="100000">
                                          <p:val>
                                            <p:strVal val="#ppt_y"/>
                                          </p:val>
                                        </p:tav>
                                      </p:tavLst>
                                    </p:anim>
                                    <p:animEffect transition="in" filter="fade">
                                      <p:cBhvr>
                                        <p:cTn id="180" dur="500"/>
                                        <p:tgtEl>
                                          <p:spTgt spid="45"/>
                                        </p:tgtEl>
                                      </p:cBhvr>
                                    </p:animEffect>
                                  </p:childTnLst>
                                </p:cTn>
                              </p:par>
                              <p:par>
                                <p:cTn id="186" presetID="2" presetClass="entr" presetSubtype="4" fill="hold" grpId="0" nodeType="withEffect">
                                  <p:stCondLst>
                                    <p:cond delay="100"/>
                                  </p:stCondLst>
                                  <p:childTnLst>
                                    <p:set>
                                      <p:cBhvr>
                                        <p:cTn id="182" dur="1" fill="hold">
                                          <p:stCondLst>
                                            <p:cond delay="0"/>
                                          </p:stCondLst>
                                        </p:cTn>
                                        <p:tgtEl>
                                          <p:spTgt spid="46"/>
                                        </p:tgtEl>
                                        <p:attrNameLst>
                                          <p:attrName>style.visibility</p:attrName>
                                        </p:attrNameLst>
                                      </p:cBhvr>
                                      <p:to>
                                        <p:strVal val="visible"/>
                                      </p:to>
                                    </p:set>
                                    <p:anim calcmode="lin" valueType="num">
                                      <p:cBhvr additive="base">
                                        <p:cTn id="183" dur="500" fill="hold"/>
                                        <p:tgtEl>
                                          <p:spTgt spid="46"/>
                                        </p:tgtEl>
                                        <p:attrNameLst>
                                          <p:attrName>ppt_x</p:attrName>
                                        </p:attrNameLst>
                                      </p:cBhvr>
                                      <p:tavLst>
                                        <p:tav tm="0">
                                          <p:val>
                                            <p:strVal val="#ppt_x"/>
                                          </p:val>
                                        </p:tav>
                                        <p:tav tm="100000">
                                          <p:val>
                                            <p:strVal val="#ppt_x"/>
                                          </p:val>
                                        </p:tav>
                                      </p:tavLst>
                                    </p:anim>
                                    <p:anim calcmode="lin" valueType="num">
                                      <p:cBhvr additive="base">
                                        <p:cTn id="184" dur="500" fill="hold"/>
                                        <p:tgtEl>
                                          <p:spTgt spid="46"/>
                                        </p:tgtEl>
                                        <p:attrNameLst>
                                          <p:attrName>ppt_y</p:attrName>
                                        </p:attrNameLst>
                                      </p:cBhvr>
                                      <p:tavLst>
                                        <p:tav tm="0">
                                          <p:val>
                                            <p:strVal val="#ppt_y+0.1"/>
                                          </p:val>
                                        </p:tav>
                                        <p:tav tm="100000">
                                          <p:val>
                                            <p:strVal val="#ppt_y"/>
                                          </p:val>
                                        </p:tav>
                                      </p:tavLst>
                                    </p:anim>
                                    <p:animEffect transition="in" filter="fade">
                                      <p:cBhvr>
                                        <p:cTn id="185" dur="500"/>
                                        <p:tgtEl>
                                          <p:spTgt spid="46"/>
                                        </p:tgtEl>
                                      </p:cBhvr>
                                    </p:animEffect>
                                  </p:childTnLst>
                                </p:cTn>
                              </p:par>
                              <p:par>
                                <p:cTn id="191" presetID="2" presetClass="entr" presetSubtype="4" fill="hold" grpId="0" nodeType="withEffect">
                                  <p:stCondLst>
                                    <p:cond delay="100"/>
                                  </p:stCondLst>
                                  <p:childTnLst>
                                    <p:set>
                                      <p:cBhvr>
                                        <p:cTn id="187" dur="1" fill="hold">
                                          <p:stCondLst>
                                            <p:cond delay="0"/>
                                          </p:stCondLst>
                                        </p:cTn>
                                        <p:tgtEl>
                                          <p:spTgt spid="47"/>
                                        </p:tgtEl>
                                        <p:attrNameLst>
                                          <p:attrName>style.visibility</p:attrName>
                                        </p:attrNameLst>
                                      </p:cBhvr>
                                      <p:to>
                                        <p:strVal val="visible"/>
                                      </p:to>
                                    </p:set>
                                    <p:anim calcmode="lin" valueType="num">
                                      <p:cBhvr additive="base">
                                        <p:cTn id="188" dur="500" fill="hold"/>
                                        <p:tgtEl>
                                          <p:spTgt spid="47"/>
                                        </p:tgtEl>
                                        <p:attrNameLst>
                                          <p:attrName>ppt_x</p:attrName>
                                        </p:attrNameLst>
                                      </p:cBhvr>
                                      <p:tavLst>
                                        <p:tav tm="0">
                                          <p:val>
                                            <p:strVal val="#ppt_x"/>
                                          </p:val>
                                        </p:tav>
                                        <p:tav tm="100000">
                                          <p:val>
                                            <p:strVal val="#ppt_x"/>
                                          </p:val>
                                        </p:tav>
                                      </p:tavLst>
                                    </p:anim>
                                    <p:anim calcmode="lin" valueType="num">
                                      <p:cBhvr additive="base">
                                        <p:cTn id="189" dur="500" fill="hold"/>
                                        <p:tgtEl>
                                          <p:spTgt spid="47"/>
                                        </p:tgtEl>
                                        <p:attrNameLst>
                                          <p:attrName>ppt_y</p:attrName>
                                        </p:attrNameLst>
                                      </p:cBhvr>
                                      <p:tavLst>
                                        <p:tav tm="0">
                                          <p:val>
                                            <p:strVal val="#ppt_y+0.1"/>
                                          </p:val>
                                        </p:tav>
                                        <p:tav tm="100000">
                                          <p:val>
                                            <p:strVal val="#ppt_y"/>
                                          </p:val>
                                        </p:tav>
                                      </p:tavLst>
                                    </p:anim>
                                    <p:animEffect transition="in" filter="fade">
                                      <p:cBhvr>
                                        <p:cTn id="190" dur="500"/>
                                        <p:tgtEl>
                                          <p:spTgt spid="47"/>
                                        </p:tgtEl>
                                      </p:cBhvr>
                                    </p:animEffect>
                                  </p:childTnLst>
                                </p:cTn>
                              </p:par>
                              <p:par>
                                <p:cTn id="196" presetID="2" presetClass="entr" presetSubtype="4" fill="hold" grpId="0" nodeType="withEffect">
                                  <p:stCondLst>
                                    <p:cond delay="100"/>
                                  </p:stCondLst>
                                  <p:childTnLst>
                                    <p:set>
                                      <p:cBhvr>
                                        <p:cTn id="192" dur="1" fill="hold">
                                          <p:stCondLst>
                                            <p:cond delay="0"/>
                                          </p:stCondLst>
                                        </p:cTn>
                                        <p:tgtEl>
                                          <p:spTgt spid="48"/>
                                        </p:tgtEl>
                                        <p:attrNameLst>
                                          <p:attrName>style.visibility</p:attrName>
                                        </p:attrNameLst>
                                      </p:cBhvr>
                                      <p:to>
                                        <p:strVal val="visible"/>
                                      </p:to>
                                    </p:set>
                                    <p:anim calcmode="lin" valueType="num">
                                      <p:cBhvr additive="base">
                                        <p:cTn id="193" dur="500" fill="hold"/>
                                        <p:tgtEl>
                                          <p:spTgt spid="48"/>
                                        </p:tgtEl>
                                        <p:attrNameLst>
                                          <p:attrName>ppt_x</p:attrName>
                                        </p:attrNameLst>
                                      </p:cBhvr>
                                      <p:tavLst>
                                        <p:tav tm="0">
                                          <p:val>
                                            <p:strVal val="#ppt_x"/>
                                          </p:val>
                                        </p:tav>
                                        <p:tav tm="100000">
                                          <p:val>
                                            <p:strVal val="#ppt_x"/>
                                          </p:val>
                                        </p:tav>
                                      </p:tavLst>
                                    </p:anim>
                                    <p:anim calcmode="lin" valueType="num">
                                      <p:cBhvr additive="base">
                                        <p:cTn id="194" dur="500" fill="hold"/>
                                        <p:tgtEl>
                                          <p:spTgt spid="48"/>
                                        </p:tgtEl>
                                        <p:attrNameLst>
                                          <p:attrName>ppt_y</p:attrName>
                                        </p:attrNameLst>
                                      </p:cBhvr>
                                      <p:tavLst>
                                        <p:tav tm="0">
                                          <p:val>
                                            <p:strVal val="#ppt_y+0.1"/>
                                          </p:val>
                                        </p:tav>
                                        <p:tav tm="100000">
                                          <p:val>
                                            <p:strVal val="#ppt_y"/>
                                          </p:val>
                                        </p:tav>
                                      </p:tavLst>
                                    </p:anim>
                                    <p:animEffect transition="in" filter="fade">
                                      <p:cBhvr>
                                        <p:cTn id="195" dur="500"/>
                                        <p:tgtEl>
                                          <p:spTgt spid="48"/>
                                        </p:tgtEl>
                                      </p:cBhvr>
                                    </p:animEffect>
                                  </p:childTnLst>
                                </p:cTn>
                              </p:par>
                              <p:par>
                                <p:cTn id="201" presetID="2" presetClass="entr" presetSubtype="4" fill="hold" grpId="0" nodeType="withEffect">
                                  <p:stCondLst>
                                    <p:cond delay="100"/>
                                  </p:stCondLst>
                                  <p:childTnLst>
                                    <p:set>
                                      <p:cBhvr>
                                        <p:cTn id="197" dur="1" fill="hold">
                                          <p:stCondLst>
                                            <p:cond delay="0"/>
                                          </p:stCondLst>
                                        </p:cTn>
                                        <p:tgtEl>
                                          <p:spTgt spid="49"/>
                                        </p:tgtEl>
                                        <p:attrNameLst>
                                          <p:attrName>style.visibility</p:attrName>
                                        </p:attrNameLst>
                                      </p:cBhvr>
                                      <p:to>
                                        <p:strVal val="visible"/>
                                      </p:to>
                                    </p:set>
                                    <p:anim calcmode="lin" valueType="num">
                                      <p:cBhvr additive="base">
                                        <p:cTn id="198" dur="500" fill="hold"/>
                                        <p:tgtEl>
                                          <p:spTgt spid="49"/>
                                        </p:tgtEl>
                                        <p:attrNameLst>
                                          <p:attrName>ppt_x</p:attrName>
                                        </p:attrNameLst>
                                      </p:cBhvr>
                                      <p:tavLst>
                                        <p:tav tm="0">
                                          <p:val>
                                            <p:strVal val="#ppt_x"/>
                                          </p:val>
                                        </p:tav>
                                        <p:tav tm="100000">
                                          <p:val>
                                            <p:strVal val="#ppt_x"/>
                                          </p:val>
                                        </p:tav>
                                      </p:tavLst>
                                    </p:anim>
                                    <p:anim calcmode="lin" valueType="num">
                                      <p:cBhvr additive="base">
                                        <p:cTn id="199" dur="500" fill="hold"/>
                                        <p:tgtEl>
                                          <p:spTgt spid="49"/>
                                        </p:tgtEl>
                                        <p:attrNameLst>
                                          <p:attrName>ppt_y</p:attrName>
                                        </p:attrNameLst>
                                      </p:cBhvr>
                                      <p:tavLst>
                                        <p:tav tm="0">
                                          <p:val>
                                            <p:strVal val="#ppt_y+0.1"/>
                                          </p:val>
                                        </p:tav>
                                        <p:tav tm="100000">
                                          <p:val>
                                            <p:strVal val="#ppt_y"/>
                                          </p:val>
                                        </p:tav>
                                      </p:tavLst>
                                    </p:anim>
                                    <p:animEffect transition="in" filter="fade">
                                      <p:cBhvr>
                                        <p:cTn id="200" dur="500"/>
                                        <p:tgtEl>
                                          <p:spTgt spid="49"/>
                                        </p:tgtEl>
                                      </p:cBhvr>
                                    </p:animEffect>
                                  </p:childTnLst>
                                </p:cTn>
                              </p:par>
                              <p:par>
                                <p:cTn id="206" presetID="2" presetClass="entr" presetSubtype="4" fill="hold" grpId="0" nodeType="withEffect">
                                  <p:stCondLst>
                                    <p:cond delay="100"/>
                                  </p:stCondLst>
                                  <p:childTnLst>
                                    <p:set>
                                      <p:cBhvr>
                                        <p:cTn id="202" dur="1" fill="hold">
                                          <p:stCondLst>
                                            <p:cond delay="0"/>
                                          </p:stCondLst>
                                        </p:cTn>
                                        <p:tgtEl>
                                          <p:spTgt spid="50"/>
                                        </p:tgtEl>
                                        <p:attrNameLst>
                                          <p:attrName>style.visibility</p:attrName>
                                        </p:attrNameLst>
                                      </p:cBhvr>
                                      <p:to>
                                        <p:strVal val="visible"/>
                                      </p:to>
                                    </p:set>
                                    <p:anim calcmode="lin" valueType="num">
                                      <p:cBhvr additive="base">
                                        <p:cTn id="203" dur="500" fill="hold"/>
                                        <p:tgtEl>
                                          <p:spTgt spid="50"/>
                                        </p:tgtEl>
                                        <p:attrNameLst>
                                          <p:attrName>ppt_x</p:attrName>
                                        </p:attrNameLst>
                                      </p:cBhvr>
                                      <p:tavLst>
                                        <p:tav tm="0">
                                          <p:val>
                                            <p:strVal val="#ppt_x"/>
                                          </p:val>
                                        </p:tav>
                                        <p:tav tm="100000">
                                          <p:val>
                                            <p:strVal val="#ppt_x"/>
                                          </p:val>
                                        </p:tav>
                                      </p:tavLst>
                                    </p:anim>
                                    <p:anim calcmode="lin" valueType="num">
                                      <p:cBhvr additive="base">
                                        <p:cTn id="204" dur="500" fill="hold"/>
                                        <p:tgtEl>
                                          <p:spTgt spid="50"/>
                                        </p:tgtEl>
                                        <p:attrNameLst>
                                          <p:attrName>ppt_y</p:attrName>
                                        </p:attrNameLst>
                                      </p:cBhvr>
                                      <p:tavLst>
                                        <p:tav tm="0">
                                          <p:val>
                                            <p:strVal val="#ppt_y+0.1"/>
                                          </p:val>
                                        </p:tav>
                                        <p:tav tm="100000">
                                          <p:val>
                                            <p:strVal val="#ppt_y"/>
                                          </p:val>
                                        </p:tav>
                                      </p:tavLst>
                                    </p:anim>
                                    <p:animEffect transition="in" filter="fade">
                                      <p:cBhvr>
                                        <p:cTn id="205" dur="500"/>
                                        <p:tgtEl>
                                          <p:spTgt spid="50"/>
                                        </p:tgtEl>
                                      </p:cBhvr>
                                    </p:animEffect>
                                  </p:childTnLst>
                                </p:cTn>
                              </p:par>
                              <p:par>
                                <p:cTn id="211" presetID="2" presetClass="entr" presetSubtype="4" fill="hold" grpId="0" nodeType="withEffect">
                                  <p:stCondLst>
                                    <p:cond delay="100"/>
                                  </p:stCondLst>
                                  <p:childTnLst>
                                    <p:set>
                                      <p:cBhvr>
                                        <p:cTn id="207" dur="1" fill="hold">
                                          <p:stCondLst>
                                            <p:cond delay="0"/>
                                          </p:stCondLst>
                                        </p:cTn>
                                        <p:tgtEl>
                                          <p:spTgt spid="51"/>
                                        </p:tgtEl>
                                        <p:attrNameLst>
                                          <p:attrName>style.visibility</p:attrName>
                                        </p:attrNameLst>
                                      </p:cBhvr>
                                      <p:to>
                                        <p:strVal val="visible"/>
                                      </p:to>
                                    </p:set>
                                    <p:anim calcmode="lin" valueType="num">
                                      <p:cBhvr additive="base">
                                        <p:cTn id="208" dur="500" fill="hold"/>
                                        <p:tgtEl>
                                          <p:spTgt spid="51"/>
                                        </p:tgtEl>
                                        <p:attrNameLst>
                                          <p:attrName>ppt_x</p:attrName>
                                        </p:attrNameLst>
                                      </p:cBhvr>
                                      <p:tavLst>
                                        <p:tav tm="0">
                                          <p:val>
                                            <p:strVal val="#ppt_x"/>
                                          </p:val>
                                        </p:tav>
                                        <p:tav tm="100000">
                                          <p:val>
                                            <p:strVal val="#ppt_x"/>
                                          </p:val>
                                        </p:tav>
                                      </p:tavLst>
                                    </p:anim>
                                    <p:anim calcmode="lin" valueType="num">
                                      <p:cBhvr additive="base">
                                        <p:cTn id="209" dur="500" fill="hold"/>
                                        <p:tgtEl>
                                          <p:spTgt spid="51"/>
                                        </p:tgtEl>
                                        <p:attrNameLst>
                                          <p:attrName>ppt_y</p:attrName>
                                        </p:attrNameLst>
                                      </p:cBhvr>
                                      <p:tavLst>
                                        <p:tav tm="0">
                                          <p:val>
                                            <p:strVal val="#ppt_y+0.1"/>
                                          </p:val>
                                        </p:tav>
                                        <p:tav tm="100000">
                                          <p:val>
                                            <p:strVal val="#ppt_y"/>
                                          </p:val>
                                        </p:tav>
                                      </p:tavLst>
                                    </p:anim>
                                    <p:animEffect transition="in" filter="fade">
                                      <p:cBhvr>
                                        <p:cTn id="210" dur="500"/>
                                        <p:tgtEl>
                                          <p:spTgt spid="51"/>
                                        </p:tgtEl>
                                      </p:cBhvr>
                                    </p:animEffect>
                                  </p:childTnLst>
                                </p:cTn>
                              </p:par>
                              <p:par>
                                <p:cTn id="216" presetID="2" presetClass="entr" presetSubtype="4" fill="hold" grpId="0" nodeType="withEffect">
                                  <p:stCondLst>
                                    <p:cond delay="100"/>
                                  </p:stCondLst>
                                  <p:childTnLst>
                                    <p:set>
                                      <p:cBhvr>
                                        <p:cTn id="212" dur="1" fill="hold">
                                          <p:stCondLst>
                                            <p:cond delay="0"/>
                                          </p:stCondLst>
                                        </p:cTn>
                                        <p:tgtEl>
                                          <p:spTgt spid="52"/>
                                        </p:tgtEl>
                                        <p:attrNameLst>
                                          <p:attrName>style.visibility</p:attrName>
                                        </p:attrNameLst>
                                      </p:cBhvr>
                                      <p:to>
                                        <p:strVal val="visible"/>
                                      </p:to>
                                    </p:set>
                                    <p:anim calcmode="lin" valueType="num">
                                      <p:cBhvr additive="base">
                                        <p:cTn id="213" dur="500" fill="hold"/>
                                        <p:tgtEl>
                                          <p:spTgt spid="52"/>
                                        </p:tgtEl>
                                        <p:attrNameLst>
                                          <p:attrName>ppt_x</p:attrName>
                                        </p:attrNameLst>
                                      </p:cBhvr>
                                      <p:tavLst>
                                        <p:tav tm="0">
                                          <p:val>
                                            <p:strVal val="#ppt_x"/>
                                          </p:val>
                                        </p:tav>
                                        <p:tav tm="100000">
                                          <p:val>
                                            <p:strVal val="#ppt_x"/>
                                          </p:val>
                                        </p:tav>
                                      </p:tavLst>
                                    </p:anim>
                                    <p:anim calcmode="lin" valueType="num">
                                      <p:cBhvr additive="base">
                                        <p:cTn id="214" dur="500" fill="hold"/>
                                        <p:tgtEl>
                                          <p:spTgt spid="52"/>
                                        </p:tgtEl>
                                        <p:attrNameLst>
                                          <p:attrName>ppt_y</p:attrName>
                                        </p:attrNameLst>
                                      </p:cBhvr>
                                      <p:tavLst>
                                        <p:tav tm="0">
                                          <p:val>
                                            <p:strVal val="#ppt_y+0.1"/>
                                          </p:val>
                                        </p:tav>
                                        <p:tav tm="100000">
                                          <p:val>
                                            <p:strVal val="#ppt_y"/>
                                          </p:val>
                                        </p:tav>
                                      </p:tavLst>
                                    </p:anim>
                                    <p:animEffect transition="in" filter="fade">
                                      <p:cBhvr>
                                        <p:cTn id="215" dur="500"/>
                                        <p:tgtEl>
                                          <p:spTgt spid="52"/>
                                        </p:tgtEl>
                                      </p:cBhvr>
                                    </p:animEffect>
                                  </p:childTnLst>
                                </p:cTn>
                              </p:par>
                              <p:par>
                                <p:cTn id="221" presetID="2" presetClass="entr" presetSubtype="4" fill="hold" grpId="0" nodeType="withEffect">
                                  <p:stCondLst>
                                    <p:cond delay="100"/>
                                  </p:stCondLst>
                                  <p:childTnLst>
                                    <p:set>
                                      <p:cBhvr>
                                        <p:cTn id="217" dur="1" fill="hold">
                                          <p:stCondLst>
                                            <p:cond delay="0"/>
                                          </p:stCondLst>
                                        </p:cTn>
                                        <p:tgtEl>
                                          <p:spTgt spid="53"/>
                                        </p:tgtEl>
                                        <p:attrNameLst>
                                          <p:attrName>style.visibility</p:attrName>
                                        </p:attrNameLst>
                                      </p:cBhvr>
                                      <p:to>
                                        <p:strVal val="visible"/>
                                      </p:to>
                                    </p:set>
                                    <p:anim calcmode="lin" valueType="num">
                                      <p:cBhvr additive="base">
                                        <p:cTn id="218" dur="500" fill="hold"/>
                                        <p:tgtEl>
                                          <p:spTgt spid="53"/>
                                        </p:tgtEl>
                                        <p:attrNameLst>
                                          <p:attrName>ppt_x</p:attrName>
                                        </p:attrNameLst>
                                      </p:cBhvr>
                                      <p:tavLst>
                                        <p:tav tm="0">
                                          <p:val>
                                            <p:strVal val="#ppt_x"/>
                                          </p:val>
                                        </p:tav>
                                        <p:tav tm="100000">
                                          <p:val>
                                            <p:strVal val="#ppt_x"/>
                                          </p:val>
                                        </p:tav>
                                      </p:tavLst>
                                    </p:anim>
                                    <p:anim calcmode="lin" valueType="num">
                                      <p:cBhvr additive="base">
                                        <p:cTn id="219" dur="500" fill="hold"/>
                                        <p:tgtEl>
                                          <p:spTgt spid="53"/>
                                        </p:tgtEl>
                                        <p:attrNameLst>
                                          <p:attrName>ppt_y</p:attrName>
                                        </p:attrNameLst>
                                      </p:cBhvr>
                                      <p:tavLst>
                                        <p:tav tm="0">
                                          <p:val>
                                            <p:strVal val="#ppt_y+0.1"/>
                                          </p:val>
                                        </p:tav>
                                        <p:tav tm="100000">
                                          <p:val>
                                            <p:strVal val="#ppt_y"/>
                                          </p:val>
                                        </p:tav>
                                      </p:tavLst>
                                    </p:anim>
                                    <p:animEffect transition="in" filter="fade">
                                      <p:cBhvr>
                                        <p:cTn id="220" dur="500"/>
                                        <p:tgtEl>
                                          <p:spTgt spid="53"/>
                                        </p:tgtEl>
                                      </p:cBhvr>
                                    </p:animEffect>
                                  </p:childTnLst>
                                </p:cTn>
                              </p:par>
                              <p:par>
                                <p:cTn id="226" presetID="2" presetClass="entr" presetSubtype="4" fill="hold" grpId="0" nodeType="withEffect">
                                  <p:stCondLst>
                                    <p:cond delay="100"/>
                                  </p:stCondLst>
                                  <p:childTnLst>
                                    <p:set>
                                      <p:cBhvr>
                                        <p:cTn id="222" dur="1" fill="hold">
                                          <p:stCondLst>
                                            <p:cond delay="0"/>
                                          </p:stCondLst>
                                        </p:cTn>
                                        <p:tgtEl>
                                          <p:spTgt spid="54"/>
                                        </p:tgtEl>
                                        <p:attrNameLst>
                                          <p:attrName>style.visibility</p:attrName>
                                        </p:attrNameLst>
                                      </p:cBhvr>
                                      <p:to>
                                        <p:strVal val="visible"/>
                                      </p:to>
                                    </p:set>
                                    <p:anim calcmode="lin" valueType="num">
                                      <p:cBhvr additive="base">
                                        <p:cTn id="223" dur="500" fill="hold"/>
                                        <p:tgtEl>
                                          <p:spTgt spid="54"/>
                                        </p:tgtEl>
                                        <p:attrNameLst>
                                          <p:attrName>ppt_x</p:attrName>
                                        </p:attrNameLst>
                                      </p:cBhvr>
                                      <p:tavLst>
                                        <p:tav tm="0">
                                          <p:val>
                                            <p:strVal val="#ppt_x"/>
                                          </p:val>
                                        </p:tav>
                                        <p:tav tm="100000">
                                          <p:val>
                                            <p:strVal val="#ppt_x"/>
                                          </p:val>
                                        </p:tav>
                                      </p:tavLst>
                                    </p:anim>
                                    <p:anim calcmode="lin" valueType="num">
                                      <p:cBhvr additive="base">
                                        <p:cTn id="224" dur="500" fill="hold"/>
                                        <p:tgtEl>
                                          <p:spTgt spid="54"/>
                                        </p:tgtEl>
                                        <p:attrNameLst>
                                          <p:attrName>ppt_y</p:attrName>
                                        </p:attrNameLst>
                                      </p:cBhvr>
                                      <p:tavLst>
                                        <p:tav tm="0">
                                          <p:val>
                                            <p:strVal val="#ppt_y+0.1"/>
                                          </p:val>
                                        </p:tav>
                                        <p:tav tm="100000">
                                          <p:val>
                                            <p:strVal val="#ppt_y"/>
                                          </p:val>
                                        </p:tav>
                                      </p:tavLst>
                                    </p:anim>
                                    <p:animEffect transition="in" filter="fade">
                                      <p:cBhvr>
                                        <p:cTn id="225" dur="500"/>
                                        <p:tgtEl>
                                          <p:spTgt spid="54"/>
                                        </p:tgtEl>
                                      </p:cBhvr>
                                    </p:animEffect>
                                  </p:childTnLst>
                                </p:cTn>
                              </p:par>
                            </p:childTnLst>
                          </p:cTn>
                        </p:par>
                      </p:childTnLst>
                    </p:cTn>
                  </p:par>
                  <p:par>
                    <p:cTn id="227" fill="hold">
                      <p:stCondLst>
                        <p:cond delay="indefinite"/>
                      </p:stCondLst>
                      <p:childTnLst>
                        <p:par>
                          <p:cTn id="228" fill="hold">
                            <p:stCondLst>
                              <p:cond delay="0"/>
                            </p:stCondLst>
                            <p:childTnLst>
                              <p:par>
                                <p:cTn id="233" presetID="2" presetClass="entr" presetSubtype="4" fill="hold" grpId="0" nodeType="clickEffect">
                                  <p:stCondLst>
                                    <p:cond delay="0"/>
                                  </p:stCondLst>
                                  <p:childTnLst>
                                    <p:set>
                                      <p:cBhvr>
                                        <p:cTn id="229" dur="1" fill="hold">
                                          <p:stCondLst>
                                            <p:cond delay="0"/>
                                          </p:stCondLst>
                                        </p:cTn>
                                        <p:tgtEl>
                                          <p:spTgt spid="55"/>
                                        </p:tgtEl>
                                        <p:attrNameLst>
                                          <p:attrName>style.visibility</p:attrName>
                                        </p:attrNameLst>
                                      </p:cBhvr>
                                      <p:to>
                                        <p:strVal val="visible"/>
                                      </p:to>
                                    </p:set>
                                    <p:anim calcmode="lin" valueType="num">
                                      <p:cBhvr additive="base">
                                        <p:cTn id="230" dur="500" fill="hold"/>
                                        <p:tgtEl>
                                          <p:spTgt spid="55"/>
                                        </p:tgtEl>
                                        <p:attrNameLst>
                                          <p:attrName>ppt_x</p:attrName>
                                        </p:attrNameLst>
                                      </p:cBhvr>
                                      <p:tavLst>
                                        <p:tav tm="0">
                                          <p:val>
                                            <p:strVal val="#ppt_x"/>
                                          </p:val>
                                        </p:tav>
                                        <p:tav tm="100000">
                                          <p:val>
                                            <p:strVal val="#ppt_x"/>
                                          </p:val>
                                        </p:tav>
                                      </p:tavLst>
                                    </p:anim>
                                    <p:anim calcmode="lin" valueType="num">
                                      <p:cBhvr additive="base">
                                        <p:cTn id="231" dur="500" fill="hold"/>
                                        <p:tgtEl>
                                          <p:spTgt spid="55"/>
                                        </p:tgtEl>
                                        <p:attrNameLst>
                                          <p:attrName>ppt_y</p:attrName>
                                        </p:attrNameLst>
                                      </p:cBhvr>
                                      <p:tavLst>
                                        <p:tav tm="0">
                                          <p:val>
                                            <p:strVal val="#ppt_y+0.1"/>
                                          </p:val>
                                        </p:tav>
                                        <p:tav tm="100000">
                                          <p:val>
                                            <p:strVal val="#ppt_y"/>
                                          </p:val>
                                        </p:tav>
                                      </p:tavLst>
                                    </p:anim>
                                    <p:animEffect transition="in" filter="fade">
                                      <p:cBhvr>
                                        <p:cTn id="232" dur="500"/>
                                        <p:tgtEl>
                                          <p:spTgt spid="55"/>
                                        </p:tgtEl>
                                      </p:cBhvr>
                                    </p:animEffect>
                                  </p:childTnLst>
                                </p:cTn>
                              </p:par>
                              <p:par>
                                <p:cTn id="238" presetID="2" presetClass="entr" presetSubtype="4" fill="hold" grpId="0" nodeType="withEffect">
                                  <p:stCondLst>
                                    <p:cond delay="0"/>
                                  </p:stCondLst>
                                  <p:childTnLst>
                                    <p:set>
                                      <p:cBhvr>
                                        <p:cTn id="234" dur="1" fill="hold">
                                          <p:stCondLst>
                                            <p:cond delay="0"/>
                                          </p:stCondLst>
                                        </p:cTn>
                                        <p:tgtEl>
                                          <p:spTgt spid="56"/>
                                        </p:tgtEl>
                                        <p:attrNameLst>
                                          <p:attrName>style.visibility</p:attrName>
                                        </p:attrNameLst>
                                      </p:cBhvr>
                                      <p:to>
                                        <p:strVal val="visible"/>
                                      </p:to>
                                    </p:set>
                                    <p:anim calcmode="lin" valueType="num">
                                      <p:cBhvr additive="base">
                                        <p:cTn id="235" dur="500" fill="hold"/>
                                        <p:tgtEl>
                                          <p:spTgt spid="56"/>
                                        </p:tgtEl>
                                        <p:attrNameLst>
                                          <p:attrName>ppt_x</p:attrName>
                                        </p:attrNameLst>
                                      </p:cBhvr>
                                      <p:tavLst>
                                        <p:tav tm="0">
                                          <p:val>
                                            <p:strVal val="#ppt_x"/>
                                          </p:val>
                                        </p:tav>
                                        <p:tav tm="100000">
                                          <p:val>
                                            <p:strVal val="#ppt_x"/>
                                          </p:val>
                                        </p:tav>
                                      </p:tavLst>
                                    </p:anim>
                                    <p:anim calcmode="lin" valueType="num">
                                      <p:cBhvr additive="base">
                                        <p:cTn id="236" dur="500" fill="hold"/>
                                        <p:tgtEl>
                                          <p:spTgt spid="56"/>
                                        </p:tgtEl>
                                        <p:attrNameLst>
                                          <p:attrName>ppt_y</p:attrName>
                                        </p:attrNameLst>
                                      </p:cBhvr>
                                      <p:tavLst>
                                        <p:tav tm="0">
                                          <p:val>
                                            <p:strVal val="#ppt_y+0.1"/>
                                          </p:val>
                                        </p:tav>
                                        <p:tav tm="100000">
                                          <p:val>
                                            <p:strVal val="#ppt_y"/>
                                          </p:val>
                                        </p:tav>
                                      </p:tavLst>
                                    </p:anim>
                                    <p:animEffect transition="in" filter="fade">
                                      <p:cBhvr>
                                        <p:cTn id="237" dur="500"/>
                                        <p:tgtEl>
                                          <p:spTgt spid="56"/>
                                        </p:tgtEl>
                                      </p:cBhvr>
                                    </p:animEffect>
                                  </p:childTnLst>
                                </p:cTn>
                              </p:par>
                              <p:par>
                                <p:cTn id="243" presetID="2" presetClass="entr" presetSubtype="4" fill="hold" grpId="0" nodeType="withEffect">
                                  <p:stCondLst>
                                    <p:cond delay="0"/>
                                  </p:stCondLst>
                                  <p:childTnLst>
                                    <p:set>
                                      <p:cBhvr>
                                        <p:cTn id="239" dur="1" fill="hold">
                                          <p:stCondLst>
                                            <p:cond delay="0"/>
                                          </p:stCondLst>
                                        </p:cTn>
                                        <p:tgtEl>
                                          <p:spTgt spid="57"/>
                                        </p:tgtEl>
                                        <p:attrNameLst>
                                          <p:attrName>style.visibility</p:attrName>
                                        </p:attrNameLst>
                                      </p:cBhvr>
                                      <p:to>
                                        <p:strVal val="visible"/>
                                      </p:to>
                                    </p:set>
                                    <p:anim calcmode="lin" valueType="num">
                                      <p:cBhvr additive="base">
                                        <p:cTn id="240" dur="500" fill="hold"/>
                                        <p:tgtEl>
                                          <p:spTgt spid="57"/>
                                        </p:tgtEl>
                                        <p:attrNameLst>
                                          <p:attrName>ppt_x</p:attrName>
                                        </p:attrNameLst>
                                      </p:cBhvr>
                                      <p:tavLst>
                                        <p:tav tm="0">
                                          <p:val>
                                            <p:strVal val="#ppt_x"/>
                                          </p:val>
                                        </p:tav>
                                        <p:tav tm="100000">
                                          <p:val>
                                            <p:strVal val="#ppt_x"/>
                                          </p:val>
                                        </p:tav>
                                      </p:tavLst>
                                    </p:anim>
                                    <p:anim calcmode="lin" valueType="num">
                                      <p:cBhvr additive="base">
                                        <p:cTn id="241" dur="500" fill="hold"/>
                                        <p:tgtEl>
                                          <p:spTgt spid="57"/>
                                        </p:tgtEl>
                                        <p:attrNameLst>
                                          <p:attrName>ppt_y</p:attrName>
                                        </p:attrNameLst>
                                      </p:cBhvr>
                                      <p:tavLst>
                                        <p:tav tm="0">
                                          <p:val>
                                            <p:strVal val="#ppt_y+0.1"/>
                                          </p:val>
                                        </p:tav>
                                        <p:tav tm="100000">
                                          <p:val>
                                            <p:strVal val="#ppt_y"/>
                                          </p:val>
                                        </p:tav>
                                      </p:tavLst>
                                    </p:anim>
                                    <p:animEffect transition="in" filter="fade">
                                      <p:cBhvr>
                                        <p:cTn id="242" dur="500"/>
                                        <p:tgtEl>
                                          <p:spTgt spid="57"/>
                                        </p:tgtEl>
                                      </p:cBhvr>
                                    </p:animEffect>
                                  </p:childTnLst>
                                </p:cTn>
                              </p:par>
                              <p:par>
                                <p:cTn id="248" presetID="2" presetClass="entr" presetSubtype="4" fill="hold" grpId="0" nodeType="withEffect">
                                  <p:stCondLst>
                                    <p:cond delay="150"/>
                                  </p:stCondLst>
                                  <p:childTnLst>
                                    <p:set>
                                      <p:cBhvr>
                                        <p:cTn id="244" dur="1" fill="hold">
                                          <p:stCondLst>
                                            <p:cond delay="0"/>
                                          </p:stCondLst>
                                        </p:cTn>
                                        <p:tgtEl>
                                          <p:spTgt spid="58"/>
                                        </p:tgtEl>
                                        <p:attrNameLst>
                                          <p:attrName>style.visibility</p:attrName>
                                        </p:attrNameLst>
                                      </p:cBhvr>
                                      <p:to>
                                        <p:strVal val="visible"/>
                                      </p:to>
                                    </p:set>
                                    <p:anim calcmode="lin" valueType="num">
                                      <p:cBhvr additive="base">
                                        <p:cTn id="245" dur="500" fill="hold"/>
                                        <p:tgtEl>
                                          <p:spTgt spid="58"/>
                                        </p:tgtEl>
                                        <p:attrNameLst>
                                          <p:attrName>ppt_x</p:attrName>
                                        </p:attrNameLst>
                                      </p:cBhvr>
                                      <p:tavLst>
                                        <p:tav tm="0">
                                          <p:val>
                                            <p:strVal val="#ppt_x"/>
                                          </p:val>
                                        </p:tav>
                                        <p:tav tm="100000">
                                          <p:val>
                                            <p:strVal val="#ppt_x"/>
                                          </p:val>
                                        </p:tav>
                                      </p:tavLst>
                                    </p:anim>
                                    <p:anim calcmode="lin" valueType="num">
                                      <p:cBhvr additive="base">
                                        <p:cTn id="246" dur="500" fill="hold"/>
                                        <p:tgtEl>
                                          <p:spTgt spid="58"/>
                                        </p:tgtEl>
                                        <p:attrNameLst>
                                          <p:attrName>ppt_y</p:attrName>
                                        </p:attrNameLst>
                                      </p:cBhvr>
                                      <p:tavLst>
                                        <p:tav tm="0">
                                          <p:val>
                                            <p:strVal val="#ppt_y+0.1"/>
                                          </p:val>
                                        </p:tav>
                                        <p:tav tm="100000">
                                          <p:val>
                                            <p:strVal val="#ppt_y"/>
                                          </p:val>
                                        </p:tav>
                                      </p:tavLst>
                                    </p:anim>
                                    <p:animEffect transition="in" filter="fade">
                                      <p:cBhvr>
                                        <p:cTn id="247" dur="500"/>
                                        <p:tgtEl>
                                          <p:spTgt spid="58"/>
                                        </p:tgtEl>
                                      </p:cBhvr>
                                    </p:animEffect>
                                  </p:childTnLst>
                                </p:cTn>
                              </p:par>
                              <p:par>
                                <p:cTn id="253" presetID="2" presetClass="entr" presetSubtype="4" fill="hold" grpId="0" nodeType="withEffect">
                                  <p:stCondLst>
                                    <p:cond delay="150"/>
                                  </p:stCondLst>
                                  <p:childTnLst>
                                    <p:set>
                                      <p:cBhvr>
                                        <p:cTn id="249" dur="1" fill="hold">
                                          <p:stCondLst>
                                            <p:cond delay="0"/>
                                          </p:stCondLst>
                                        </p:cTn>
                                        <p:tgtEl>
                                          <p:spTgt spid="59"/>
                                        </p:tgtEl>
                                        <p:attrNameLst>
                                          <p:attrName>style.visibility</p:attrName>
                                        </p:attrNameLst>
                                      </p:cBhvr>
                                      <p:to>
                                        <p:strVal val="visible"/>
                                      </p:to>
                                    </p:set>
                                    <p:anim calcmode="lin" valueType="num">
                                      <p:cBhvr additive="base">
                                        <p:cTn id="250" dur="500" fill="hold"/>
                                        <p:tgtEl>
                                          <p:spTgt spid="59"/>
                                        </p:tgtEl>
                                        <p:attrNameLst>
                                          <p:attrName>ppt_x</p:attrName>
                                        </p:attrNameLst>
                                      </p:cBhvr>
                                      <p:tavLst>
                                        <p:tav tm="0">
                                          <p:val>
                                            <p:strVal val="#ppt_x"/>
                                          </p:val>
                                        </p:tav>
                                        <p:tav tm="100000">
                                          <p:val>
                                            <p:strVal val="#ppt_x"/>
                                          </p:val>
                                        </p:tav>
                                      </p:tavLst>
                                    </p:anim>
                                    <p:anim calcmode="lin" valueType="num">
                                      <p:cBhvr additive="base">
                                        <p:cTn id="251" dur="500" fill="hold"/>
                                        <p:tgtEl>
                                          <p:spTgt spid="59"/>
                                        </p:tgtEl>
                                        <p:attrNameLst>
                                          <p:attrName>ppt_y</p:attrName>
                                        </p:attrNameLst>
                                      </p:cBhvr>
                                      <p:tavLst>
                                        <p:tav tm="0">
                                          <p:val>
                                            <p:strVal val="#ppt_y+0.1"/>
                                          </p:val>
                                        </p:tav>
                                        <p:tav tm="100000">
                                          <p:val>
                                            <p:strVal val="#ppt_y"/>
                                          </p:val>
                                        </p:tav>
                                      </p:tavLst>
                                    </p:anim>
                                    <p:animEffect transition="in" filter="fade">
                                      <p:cBhvr>
                                        <p:cTn id="252" dur="500"/>
                                        <p:tgtEl>
                                          <p:spTgt spid="59"/>
                                        </p:tgtEl>
                                      </p:cBhvr>
                                    </p:animEffect>
                                  </p:childTnLst>
                                </p:cTn>
                              </p:par>
                              <p:par>
                                <p:cTn id="258" presetID="2" presetClass="entr" presetSubtype="4" fill="hold" grpId="0" nodeType="withEffect">
                                  <p:stCondLst>
                                    <p:cond delay="150"/>
                                  </p:stCondLst>
                                  <p:childTnLst>
                                    <p:set>
                                      <p:cBhvr>
                                        <p:cTn id="254" dur="1" fill="hold">
                                          <p:stCondLst>
                                            <p:cond delay="0"/>
                                          </p:stCondLst>
                                        </p:cTn>
                                        <p:tgtEl>
                                          <p:spTgt spid="60"/>
                                        </p:tgtEl>
                                        <p:attrNameLst>
                                          <p:attrName>style.visibility</p:attrName>
                                        </p:attrNameLst>
                                      </p:cBhvr>
                                      <p:to>
                                        <p:strVal val="visible"/>
                                      </p:to>
                                    </p:set>
                                    <p:anim calcmode="lin" valueType="num">
                                      <p:cBhvr additive="base">
                                        <p:cTn id="255" dur="500" fill="hold"/>
                                        <p:tgtEl>
                                          <p:spTgt spid="60"/>
                                        </p:tgtEl>
                                        <p:attrNameLst>
                                          <p:attrName>ppt_x</p:attrName>
                                        </p:attrNameLst>
                                      </p:cBhvr>
                                      <p:tavLst>
                                        <p:tav tm="0">
                                          <p:val>
                                            <p:strVal val="#ppt_x"/>
                                          </p:val>
                                        </p:tav>
                                        <p:tav tm="100000">
                                          <p:val>
                                            <p:strVal val="#ppt_x"/>
                                          </p:val>
                                        </p:tav>
                                      </p:tavLst>
                                    </p:anim>
                                    <p:anim calcmode="lin" valueType="num">
                                      <p:cBhvr additive="base">
                                        <p:cTn id="256" dur="500" fill="hold"/>
                                        <p:tgtEl>
                                          <p:spTgt spid="60"/>
                                        </p:tgtEl>
                                        <p:attrNameLst>
                                          <p:attrName>ppt_y</p:attrName>
                                        </p:attrNameLst>
                                      </p:cBhvr>
                                      <p:tavLst>
                                        <p:tav tm="0">
                                          <p:val>
                                            <p:strVal val="#ppt_y+0.1"/>
                                          </p:val>
                                        </p:tav>
                                        <p:tav tm="100000">
                                          <p:val>
                                            <p:strVal val="#ppt_y"/>
                                          </p:val>
                                        </p:tav>
                                      </p:tavLst>
                                    </p:anim>
                                    <p:animEffect transition="in" filter="fade">
                                      <p:cBhvr>
                                        <p:cTn id="257" dur="500"/>
                                        <p:tgtEl>
                                          <p:spTgt spid="60"/>
                                        </p:tgtEl>
                                      </p:cBhvr>
                                    </p:animEffect>
                                  </p:childTnLst>
                                </p:cTn>
                              </p:par>
                              <p:par>
                                <p:cTn id="263" presetID="2" presetClass="entr" presetSubtype="4" fill="hold" grpId="0" nodeType="withEffect">
                                  <p:stCondLst>
                                    <p:cond delay="250"/>
                                  </p:stCondLst>
                                  <p:childTnLst>
                                    <p:set>
                                      <p:cBhvr>
                                        <p:cTn id="259" dur="1" fill="hold">
                                          <p:stCondLst>
                                            <p:cond delay="0"/>
                                          </p:stCondLst>
                                        </p:cTn>
                                        <p:tgtEl>
                                          <p:spTgt spid="61"/>
                                        </p:tgtEl>
                                        <p:attrNameLst>
                                          <p:attrName>style.visibility</p:attrName>
                                        </p:attrNameLst>
                                      </p:cBhvr>
                                      <p:to>
                                        <p:strVal val="visible"/>
                                      </p:to>
                                    </p:set>
                                    <p:anim calcmode="lin" valueType="num">
                                      <p:cBhvr additive="base">
                                        <p:cTn id="260" dur="500" fill="hold"/>
                                        <p:tgtEl>
                                          <p:spTgt spid="61"/>
                                        </p:tgtEl>
                                        <p:attrNameLst>
                                          <p:attrName>ppt_x</p:attrName>
                                        </p:attrNameLst>
                                      </p:cBhvr>
                                      <p:tavLst>
                                        <p:tav tm="0">
                                          <p:val>
                                            <p:strVal val="#ppt_x"/>
                                          </p:val>
                                        </p:tav>
                                        <p:tav tm="100000">
                                          <p:val>
                                            <p:strVal val="#ppt_x"/>
                                          </p:val>
                                        </p:tav>
                                      </p:tavLst>
                                    </p:anim>
                                    <p:anim calcmode="lin" valueType="num">
                                      <p:cBhvr additive="base">
                                        <p:cTn id="261" dur="500" fill="hold"/>
                                        <p:tgtEl>
                                          <p:spTgt spid="61"/>
                                        </p:tgtEl>
                                        <p:attrNameLst>
                                          <p:attrName>ppt_y</p:attrName>
                                        </p:attrNameLst>
                                      </p:cBhvr>
                                      <p:tavLst>
                                        <p:tav tm="0">
                                          <p:val>
                                            <p:strVal val="#ppt_y+0.1"/>
                                          </p:val>
                                        </p:tav>
                                        <p:tav tm="100000">
                                          <p:val>
                                            <p:strVal val="#ppt_y"/>
                                          </p:val>
                                        </p:tav>
                                      </p:tavLst>
                                    </p:anim>
                                    <p:animEffect transition="in" filter="fade">
                                      <p:cBhvr>
                                        <p:cTn id="262" dur="500"/>
                                        <p:tgtEl>
                                          <p:spTgt spid="61"/>
                                        </p:tgtEl>
                                      </p:cBhvr>
                                    </p:animEffect>
                                  </p:childTnLst>
                                </p:cTn>
                              </p:par>
                              <p:par>
                                <p:cTn id="268" presetID="2" presetClass="entr" presetSubtype="4" fill="hold" grpId="0" nodeType="withEffect">
                                  <p:stCondLst>
                                    <p:cond delay="250"/>
                                  </p:stCondLst>
                                  <p:childTnLst>
                                    <p:set>
                                      <p:cBhvr>
                                        <p:cTn id="264" dur="1" fill="hold">
                                          <p:stCondLst>
                                            <p:cond delay="0"/>
                                          </p:stCondLst>
                                        </p:cTn>
                                        <p:tgtEl>
                                          <p:spTgt spid="62"/>
                                        </p:tgtEl>
                                        <p:attrNameLst>
                                          <p:attrName>style.visibility</p:attrName>
                                        </p:attrNameLst>
                                      </p:cBhvr>
                                      <p:to>
                                        <p:strVal val="visible"/>
                                      </p:to>
                                    </p:set>
                                    <p:anim calcmode="lin" valueType="num">
                                      <p:cBhvr additive="base">
                                        <p:cTn id="265" dur="500" fill="hold"/>
                                        <p:tgtEl>
                                          <p:spTgt spid="62"/>
                                        </p:tgtEl>
                                        <p:attrNameLst>
                                          <p:attrName>ppt_x</p:attrName>
                                        </p:attrNameLst>
                                      </p:cBhvr>
                                      <p:tavLst>
                                        <p:tav tm="0">
                                          <p:val>
                                            <p:strVal val="#ppt_x"/>
                                          </p:val>
                                        </p:tav>
                                        <p:tav tm="100000">
                                          <p:val>
                                            <p:strVal val="#ppt_x"/>
                                          </p:val>
                                        </p:tav>
                                      </p:tavLst>
                                    </p:anim>
                                    <p:anim calcmode="lin" valueType="num">
                                      <p:cBhvr additive="base">
                                        <p:cTn id="266" dur="500" fill="hold"/>
                                        <p:tgtEl>
                                          <p:spTgt spid="62"/>
                                        </p:tgtEl>
                                        <p:attrNameLst>
                                          <p:attrName>ppt_y</p:attrName>
                                        </p:attrNameLst>
                                      </p:cBhvr>
                                      <p:tavLst>
                                        <p:tav tm="0">
                                          <p:val>
                                            <p:strVal val="#ppt_y+0.1"/>
                                          </p:val>
                                        </p:tav>
                                        <p:tav tm="100000">
                                          <p:val>
                                            <p:strVal val="#ppt_y"/>
                                          </p:val>
                                        </p:tav>
                                      </p:tavLst>
                                    </p:anim>
                                    <p:animEffect transition="in" filter="fade">
                                      <p:cBhvr>
                                        <p:cTn id="267" dur="500"/>
                                        <p:tgtEl>
                                          <p:spTgt spid="62"/>
                                        </p:tgtEl>
                                      </p:cBhvr>
                                    </p:animEffect>
                                  </p:childTnLst>
                                </p:cTn>
                              </p:par>
                              <p:par>
                                <p:cTn id="273" presetID="2" presetClass="entr" presetSubtype="4" fill="hold" grpId="0" nodeType="withEffect">
                                  <p:stCondLst>
                                    <p:cond delay="350"/>
                                  </p:stCondLst>
                                  <p:childTnLst>
                                    <p:set>
                                      <p:cBhvr>
                                        <p:cTn id="269" dur="1" fill="hold">
                                          <p:stCondLst>
                                            <p:cond delay="0"/>
                                          </p:stCondLst>
                                        </p:cTn>
                                        <p:tgtEl>
                                          <p:spTgt spid="63"/>
                                        </p:tgtEl>
                                        <p:attrNameLst>
                                          <p:attrName>style.visibility</p:attrName>
                                        </p:attrNameLst>
                                      </p:cBhvr>
                                      <p:to>
                                        <p:strVal val="visible"/>
                                      </p:to>
                                    </p:set>
                                    <p:anim calcmode="lin" valueType="num">
                                      <p:cBhvr additive="base">
                                        <p:cTn id="270" dur="500" fill="hold"/>
                                        <p:tgtEl>
                                          <p:spTgt spid="63"/>
                                        </p:tgtEl>
                                        <p:attrNameLst>
                                          <p:attrName>ppt_x</p:attrName>
                                        </p:attrNameLst>
                                      </p:cBhvr>
                                      <p:tavLst>
                                        <p:tav tm="0">
                                          <p:val>
                                            <p:strVal val="#ppt_x"/>
                                          </p:val>
                                        </p:tav>
                                        <p:tav tm="100000">
                                          <p:val>
                                            <p:strVal val="#ppt_x"/>
                                          </p:val>
                                        </p:tav>
                                      </p:tavLst>
                                    </p:anim>
                                    <p:anim calcmode="lin" valueType="num">
                                      <p:cBhvr additive="base">
                                        <p:cTn id="271" dur="500" fill="hold"/>
                                        <p:tgtEl>
                                          <p:spTgt spid="63"/>
                                        </p:tgtEl>
                                        <p:attrNameLst>
                                          <p:attrName>ppt_y</p:attrName>
                                        </p:attrNameLst>
                                      </p:cBhvr>
                                      <p:tavLst>
                                        <p:tav tm="0">
                                          <p:val>
                                            <p:strVal val="#ppt_y+0.1"/>
                                          </p:val>
                                        </p:tav>
                                        <p:tav tm="100000">
                                          <p:val>
                                            <p:strVal val="#ppt_y"/>
                                          </p:val>
                                        </p:tav>
                                      </p:tavLst>
                                    </p:anim>
                                    <p:animEffect transition="in" filter="fade">
                                      <p:cBhvr>
                                        <p:cTn id="272" dur="500"/>
                                        <p:tgtEl>
                                          <p:spTgt spid="63"/>
                                        </p:tgtEl>
                                      </p:cBhvr>
                                    </p:animEffect>
                                  </p:childTnLst>
                                </p:cTn>
                              </p:par>
                              <p:par>
                                <p:cTn id="278" presetID="2" presetClass="entr" presetSubtype="4" fill="hold" grpId="0" nodeType="withEffect">
                                  <p:stCondLst>
                                    <p:cond delay="350"/>
                                  </p:stCondLst>
                                  <p:childTnLst>
                                    <p:set>
                                      <p:cBhvr>
                                        <p:cTn id="274" dur="1" fill="hold">
                                          <p:stCondLst>
                                            <p:cond delay="0"/>
                                          </p:stCondLst>
                                        </p:cTn>
                                        <p:tgtEl>
                                          <p:spTgt spid="64"/>
                                        </p:tgtEl>
                                        <p:attrNameLst>
                                          <p:attrName>style.visibility</p:attrName>
                                        </p:attrNameLst>
                                      </p:cBhvr>
                                      <p:to>
                                        <p:strVal val="visible"/>
                                      </p:to>
                                    </p:set>
                                    <p:anim calcmode="lin" valueType="num">
                                      <p:cBhvr additive="base">
                                        <p:cTn id="275" dur="500" fill="hold"/>
                                        <p:tgtEl>
                                          <p:spTgt spid="64"/>
                                        </p:tgtEl>
                                        <p:attrNameLst>
                                          <p:attrName>ppt_x</p:attrName>
                                        </p:attrNameLst>
                                      </p:cBhvr>
                                      <p:tavLst>
                                        <p:tav tm="0">
                                          <p:val>
                                            <p:strVal val="#ppt_x"/>
                                          </p:val>
                                        </p:tav>
                                        <p:tav tm="100000">
                                          <p:val>
                                            <p:strVal val="#ppt_x"/>
                                          </p:val>
                                        </p:tav>
                                      </p:tavLst>
                                    </p:anim>
                                    <p:anim calcmode="lin" valueType="num">
                                      <p:cBhvr additive="base">
                                        <p:cTn id="276" dur="500" fill="hold"/>
                                        <p:tgtEl>
                                          <p:spTgt spid="64"/>
                                        </p:tgtEl>
                                        <p:attrNameLst>
                                          <p:attrName>ppt_y</p:attrName>
                                        </p:attrNameLst>
                                      </p:cBhvr>
                                      <p:tavLst>
                                        <p:tav tm="0">
                                          <p:val>
                                            <p:strVal val="#ppt_y+0.1"/>
                                          </p:val>
                                        </p:tav>
                                        <p:tav tm="100000">
                                          <p:val>
                                            <p:strVal val="#ppt_y"/>
                                          </p:val>
                                        </p:tav>
                                      </p:tavLst>
                                    </p:anim>
                                    <p:animEffect transition="in" filter="fade">
                                      <p:cBhvr>
                                        <p:cTn id="277" dur="500"/>
                                        <p:tgtEl>
                                          <p:spTgt spid="64"/>
                                        </p:tgtEl>
                                      </p:cBhvr>
                                    </p:animEffect>
                                  </p:childTnLst>
                                </p:cTn>
                              </p:par>
                              <p:par>
                                <p:cTn id="283" presetID="2" presetClass="entr" presetSubtype="4" fill="hold" grpId="0" nodeType="withEffect">
                                  <p:stCondLst>
                                    <p:cond delay="450"/>
                                  </p:stCondLst>
                                  <p:childTnLst>
                                    <p:set>
                                      <p:cBhvr>
                                        <p:cTn id="279" dur="1" fill="hold">
                                          <p:stCondLst>
                                            <p:cond delay="0"/>
                                          </p:stCondLst>
                                        </p:cTn>
                                        <p:tgtEl>
                                          <p:spTgt spid="65"/>
                                        </p:tgtEl>
                                        <p:attrNameLst>
                                          <p:attrName>style.visibility</p:attrName>
                                        </p:attrNameLst>
                                      </p:cBhvr>
                                      <p:to>
                                        <p:strVal val="visible"/>
                                      </p:to>
                                    </p:set>
                                    <p:anim calcmode="lin" valueType="num">
                                      <p:cBhvr additive="base">
                                        <p:cTn id="280" dur="500" fill="hold"/>
                                        <p:tgtEl>
                                          <p:spTgt spid="65"/>
                                        </p:tgtEl>
                                        <p:attrNameLst>
                                          <p:attrName>ppt_x</p:attrName>
                                        </p:attrNameLst>
                                      </p:cBhvr>
                                      <p:tavLst>
                                        <p:tav tm="0">
                                          <p:val>
                                            <p:strVal val="#ppt_x"/>
                                          </p:val>
                                        </p:tav>
                                        <p:tav tm="100000">
                                          <p:val>
                                            <p:strVal val="#ppt_x"/>
                                          </p:val>
                                        </p:tav>
                                      </p:tavLst>
                                    </p:anim>
                                    <p:anim calcmode="lin" valueType="num">
                                      <p:cBhvr additive="base">
                                        <p:cTn id="281" dur="500" fill="hold"/>
                                        <p:tgtEl>
                                          <p:spTgt spid="65"/>
                                        </p:tgtEl>
                                        <p:attrNameLst>
                                          <p:attrName>ppt_y</p:attrName>
                                        </p:attrNameLst>
                                      </p:cBhvr>
                                      <p:tavLst>
                                        <p:tav tm="0">
                                          <p:val>
                                            <p:strVal val="#ppt_y+0.1"/>
                                          </p:val>
                                        </p:tav>
                                        <p:tav tm="100000">
                                          <p:val>
                                            <p:strVal val="#ppt_y"/>
                                          </p:val>
                                        </p:tav>
                                      </p:tavLst>
                                    </p:anim>
                                    <p:animEffect transition="in" filter="fade">
                                      <p:cBhvr>
                                        <p:cTn id="282" dur="500"/>
                                        <p:tgtEl>
                                          <p:spTgt spid="65"/>
                                        </p:tgtEl>
                                      </p:cBhvr>
                                    </p:animEffect>
                                  </p:childTnLst>
                                </p:cTn>
                              </p:par>
                              <p:par>
                                <p:cTn id="288" presetID="2" presetClass="entr" presetSubtype="4" fill="hold" grpId="0" nodeType="withEffect">
                                  <p:stCondLst>
                                    <p:cond delay="450"/>
                                  </p:stCondLst>
                                  <p:childTnLst>
                                    <p:set>
                                      <p:cBhvr>
                                        <p:cTn id="284" dur="1" fill="hold">
                                          <p:stCondLst>
                                            <p:cond delay="0"/>
                                          </p:stCondLst>
                                        </p:cTn>
                                        <p:tgtEl>
                                          <p:spTgt spid="66"/>
                                        </p:tgtEl>
                                        <p:attrNameLst>
                                          <p:attrName>style.visibility</p:attrName>
                                        </p:attrNameLst>
                                      </p:cBhvr>
                                      <p:to>
                                        <p:strVal val="visible"/>
                                      </p:to>
                                    </p:set>
                                    <p:anim calcmode="lin" valueType="num">
                                      <p:cBhvr additive="base">
                                        <p:cTn id="285" dur="500" fill="hold"/>
                                        <p:tgtEl>
                                          <p:spTgt spid="66"/>
                                        </p:tgtEl>
                                        <p:attrNameLst>
                                          <p:attrName>ppt_x</p:attrName>
                                        </p:attrNameLst>
                                      </p:cBhvr>
                                      <p:tavLst>
                                        <p:tav tm="0">
                                          <p:val>
                                            <p:strVal val="#ppt_x"/>
                                          </p:val>
                                        </p:tav>
                                        <p:tav tm="100000">
                                          <p:val>
                                            <p:strVal val="#ppt_x"/>
                                          </p:val>
                                        </p:tav>
                                      </p:tavLst>
                                    </p:anim>
                                    <p:anim calcmode="lin" valueType="num">
                                      <p:cBhvr additive="base">
                                        <p:cTn id="286" dur="500" fill="hold"/>
                                        <p:tgtEl>
                                          <p:spTgt spid="66"/>
                                        </p:tgtEl>
                                        <p:attrNameLst>
                                          <p:attrName>ppt_y</p:attrName>
                                        </p:attrNameLst>
                                      </p:cBhvr>
                                      <p:tavLst>
                                        <p:tav tm="0">
                                          <p:val>
                                            <p:strVal val="#ppt_y+0.1"/>
                                          </p:val>
                                        </p:tav>
                                        <p:tav tm="100000">
                                          <p:val>
                                            <p:strVal val="#ppt_y"/>
                                          </p:val>
                                        </p:tav>
                                      </p:tavLst>
                                    </p:anim>
                                    <p:animEffect transition="in" filter="fade">
                                      <p:cBhvr>
                                        <p:cTn id="287"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What Does Kafka Record?</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Kafka was designed to store information - any type of information</a:t>
            </a:r>
          </a:p>
        </p:txBody>
      </p:sp>
      <p:sp>
        <p:nvSpPr>
          <p:cNvPr id="11" name="a1u_pill10"/>
          <p:cNvSpPr/>
          <p:nvPr/>
        </p:nvSpPr>
        <p:spPr>
          <a:xfrm>
            <a:off x="457200" y="1325880"/>
            <a:ext cx="1554480" cy="42062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2410C"/>
                </a:solidFill>
                <a:latin typeface="Consolas"/>
              </a:rPr>
              <a:t>website clicks</a:t>
            </a:r>
          </a:p>
        </p:txBody>
      </p:sp>
      <p:sp>
        <p:nvSpPr>
          <p:cNvPr id="12" name="a1ud90_pill11"/>
          <p:cNvSpPr/>
          <p:nvPr/>
        </p:nvSpPr>
        <p:spPr>
          <a:xfrm>
            <a:off x="2125980" y="1325880"/>
            <a:ext cx="1554480" cy="42062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2410C"/>
                </a:solidFill>
                <a:latin typeface="Consolas"/>
              </a:rPr>
              <a:t>payments</a:t>
            </a:r>
          </a:p>
        </p:txBody>
      </p:sp>
      <p:sp>
        <p:nvSpPr>
          <p:cNvPr id="13" name="a1ud180_pill12"/>
          <p:cNvSpPr/>
          <p:nvPr/>
        </p:nvSpPr>
        <p:spPr>
          <a:xfrm>
            <a:off x="3794760" y="1325880"/>
            <a:ext cx="1554480" cy="42062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2410C"/>
                </a:solidFill>
                <a:latin typeface="Consolas"/>
              </a:rPr>
              <a:t>orders</a:t>
            </a:r>
          </a:p>
        </p:txBody>
      </p:sp>
      <p:sp>
        <p:nvSpPr>
          <p:cNvPr id="14" name="a1ud270_pill13"/>
          <p:cNvSpPr/>
          <p:nvPr/>
        </p:nvSpPr>
        <p:spPr>
          <a:xfrm>
            <a:off x="5463540" y="1325880"/>
            <a:ext cx="1554480" cy="42062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2410C"/>
                </a:solidFill>
                <a:latin typeface="Consolas"/>
              </a:rPr>
              <a:t>GPS locations</a:t>
            </a:r>
          </a:p>
        </p:txBody>
      </p:sp>
      <p:sp>
        <p:nvSpPr>
          <p:cNvPr id="15" name="a1ud360_pill14"/>
          <p:cNvSpPr/>
          <p:nvPr/>
        </p:nvSpPr>
        <p:spPr>
          <a:xfrm>
            <a:off x="7132320" y="1325880"/>
            <a:ext cx="1554480" cy="42062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2410C"/>
                </a:solidFill>
                <a:latin typeface="Consolas"/>
              </a:rPr>
              <a:t>stock prices</a:t>
            </a:r>
          </a:p>
        </p:txBody>
      </p:sp>
      <p:sp>
        <p:nvSpPr>
          <p:cNvPr id="16" name="a1ud450_pill15"/>
          <p:cNvSpPr/>
          <p:nvPr/>
        </p:nvSpPr>
        <p:spPr>
          <a:xfrm>
            <a:off x="457200" y="1860804"/>
            <a:ext cx="1554480" cy="42062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2410C"/>
                </a:solidFill>
                <a:latin typeface="Consolas"/>
              </a:rPr>
              <a:t>sensor readings</a:t>
            </a:r>
          </a:p>
        </p:txBody>
      </p:sp>
      <p:sp>
        <p:nvSpPr>
          <p:cNvPr id="17" name="a1ud540_pill16"/>
          <p:cNvSpPr/>
          <p:nvPr/>
        </p:nvSpPr>
        <p:spPr>
          <a:xfrm>
            <a:off x="2125980" y="1860804"/>
            <a:ext cx="1554480" cy="42062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2410C"/>
                </a:solidFill>
                <a:latin typeface="Consolas"/>
              </a:rPr>
              <a:t>application logs</a:t>
            </a:r>
          </a:p>
        </p:txBody>
      </p:sp>
      <p:sp>
        <p:nvSpPr>
          <p:cNvPr id="18" name="a1ud630_pill17"/>
          <p:cNvSpPr/>
          <p:nvPr/>
        </p:nvSpPr>
        <p:spPr>
          <a:xfrm>
            <a:off x="3794760" y="1860804"/>
            <a:ext cx="1554480" cy="42062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2410C"/>
                </a:solidFill>
                <a:latin typeface="Consolas"/>
              </a:rPr>
              <a:t>metrics</a:t>
            </a:r>
          </a:p>
        </p:txBody>
      </p:sp>
      <p:sp>
        <p:nvSpPr>
          <p:cNvPr id="19" name="a1ud720_pill18"/>
          <p:cNvSpPr/>
          <p:nvPr/>
        </p:nvSpPr>
        <p:spPr>
          <a:xfrm>
            <a:off x="5463540" y="1860804"/>
            <a:ext cx="1554480" cy="42062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2410C"/>
                </a:solidFill>
                <a:latin typeface="Consolas"/>
              </a:rPr>
              <a:t>emails sent</a:t>
            </a:r>
          </a:p>
        </p:txBody>
      </p:sp>
      <p:sp>
        <p:nvSpPr>
          <p:cNvPr id="20" name="a1ud810_pill19"/>
          <p:cNvSpPr/>
          <p:nvPr/>
        </p:nvSpPr>
        <p:spPr>
          <a:xfrm>
            <a:off x="7132320" y="1860804"/>
            <a:ext cx="1554480" cy="42062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C2410C"/>
                </a:solidFill>
                <a:latin typeface="Consolas"/>
              </a:rPr>
              <a:t>database changes</a:t>
            </a:r>
          </a:p>
        </p:txBody>
      </p:sp>
      <p:sp>
        <p:nvSpPr>
          <p:cNvPr id="21" name="a2u_card20"/>
          <p:cNvSpPr/>
          <p:nvPr/>
        </p:nvSpPr>
        <p:spPr>
          <a:xfrm>
            <a:off x="457200" y="2606040"/>
            <a:ext cx="8229600" cy="1417320"/>
          </a:xfrm>
          <a:prstGeom prst="roundRect">
            <a:avLst>
              <a:gd name="adj" fmla="val 774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_acc21"/>
          <p:cNvSpPr/>
          <p:nvPr/>
        </p:nvSpPr>
        <p:spPr>
          <a:xfrm>
            <a:off x="457200" y="2606040"/>
            <a:ext cx="5029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_big22"/>
          <p:cNvSpPr txBox="1"/>
          <p:nvPr/>
        </p:nvSpPr>
        <p:spPr>
          <a:xfrm>
            <a:off x="731520" y="2743200"/>
            <a:ext cx="7772400" cy="457200"/>
          </a:xfrm>
          <a:prstGeom prst="rect">
            <a:avLst/>
          </a:prstGeom>
          <a:noFill/>
        </p:spPr>
        <p:txBody>
          <a:bodyPr wrap="square" lIns="0" tIns="0" rIns="0" bIns="0" anchor="ctr">
            <a:spAutoFit/>
          </a:bodyPr>
          <a:lstStyle/>
          <a:p>
            <a:pPr algn="l"/>
            <a:r>
              <a:rPr sz="1900" b="0">
                <a:solidFill>
                  <a:srgbClr val="C2410C"/>
                </a:solidFill>
                <a:latin typeface="Bahnschrift SemiBold"/>
              </a:rPr>
              <a:t>If it happened, Kafka can record it.</a:t>
            </a:r>
          </a:p>
        </p:txBody>
      </p:sp>
      <p:sp>
        <p:nvSpPr>
          <p:cNvPr id="24" name="a3u_rest23"/>
          <p:cNvSpPr txBox="1"/>
          <p:nvPr/>
        </p:nvSpPr>
        <p:spPr>
          <a:xfrm>
            <a:off x="731520" y="3246120"/>
            <a:ext cx="7772400" cy="640080"/>
          </a:xfrm>
          <a:prstGeom prst="rect">
            <a:avLst/>
          </a:prstGeom>
          <a:noFill/>
        </p:spPr>
        <p:txBody>
          <a:bodyPr wrap="square" lIns="0" tIns="0" rIns="0" bIns="0" anchor="t">
            <a:spAutoFit/>
          </a:bodyPr>
          <a:lstStyle/>
          <a:p>
            <a:pPr algn="l"/>
            <a:r>
              <a:rPr sz="1100" b="0">
                <a:solidFill>
                  <a:srgbClr val="44403C"/>
                </a:solidFill>
                <a:latin typeface="Segoe UI"/>
              </a:rPr>
              <a:t>Everything above has one thing in common: each item is something that HAPPENED. There is a word for that - an event.</a:t>
            </a:r>
          </a:p>
        </p:txBody>
      </p:sp>
      <p:sp>
        <p:nvSpPr>
          <p:cNvPr id="25" name="ft2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49</a:t>
            </a:r>
          </a:p>
        </p:txBody>
      </p:sp>
      <p:sp>
        <p:nvSpPr>
          <p:cNvPr id="26" name="ft2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ft2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28" name="ft2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9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18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27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36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45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54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63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72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81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childTnLst>
                          </p:cTn>
                        </p:par>
                      </p:childTnLst>
                    </p:cTn>
                  </p:par>
                  <p:par>
                    <p:cTn id="55" fill="hold">
                      <p:stCondLst>
                        <p:cond delay="indefinite"/>
                      </p:stCondLst>
                      <p:childTnLst>
                        <p:par>
                          <p:cTn id="56" fill="hold">
                            <p:stCondLst>
                              <p:cond delay="0"/>
                            </p:stCondLst>
                            <p:childTnLst>
                              <p:par>
                                <p:cTn id="61" presetID="2" presetClass="entr" presetSubtype="4"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childTnLst>
                          </p:cTn>
                        </p:par>
                      </p:childTnLst>
                    </p:cTn>
                  </p:par>
                  <p:par>
                    <p:cTn id="72" fill="hold">
                      <p:stCondLst>
                        <p:cond delay="indefinite"/>
                      </p:stCondLst>
                      <p:childTnLst>
                        <p:par>
                          <p:cTn id="73" fill="hold">
                            <p:stCondLst>
                              <p:cond delay="0"/>
                            </p:stCondLst>
                            <p:childTnLst>
                              <p:par>
                                <p:cTn id="78" presetID="2" presetClass="entr" presetSubtype="4"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ppt_x"/>
                                          </p:val>
                                        </p:tav>
                                        <p:tav tm="100000">
                                          <p:val>
                                            <p:strVal val="#ppt_x"/>
                                          </p:val>
                                        </p:tav>
                                      </p:tavLst>
                                    </p:anim>
                                    <p:anim calcmode="lin" valueType="num">
                                      <p:cBhvr additive="base">
                                        <p:cTn id="76" dur="500" fill="hold"/>
                                        <p:tgtEl>
                                          <p:spTgt spid="24"/>
                                        </p:tgtEl>
                                        <p:attrNameLst>
                                          <p:attrName>ppt_y</p:attrName>
                                        </p:attrNameLst>
                                      </p:cBhvr>
                                      <p:tavLst>
                                        <p:tav tm="0">
                                          <p:val>
                                            <p:strVal val="#ppt_y+0.1"/>
                                          </p:val>
                                        </p:tav>
                                        <p:tav tm="100000">
                                          <p:val>
                                            <p:strVal val="#ppt_y"/>
                                          </p:val>
                                        </p:tav>
                                      </p:tavLst>
                                    </p:anim>
                                    <p:animEffect transition="in" filter="fade">
                                      <p:cBhvr>
                                        <p:cTn id="7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panel1"/>
          <p:cNvSpPr/>
          <p:nvPr/>
        </p:nvSpPr>
        <p:spPr>
          <a:xfrm>
            <a:off x="0" y="0"/>
            <a:ext cx="2926080" cy="51435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a0f_pl2"/>
          <p:cNvSpPr txBox="1"/>
          <p:nvPr/>
        </p:nvSpPr>
        <p:spPr>
          <a:xfrm>
            <a:off x="502920" y="1005840"/>
            <a:ext cx="2194560" cy="274320"/>
          </a:xfrm>
          <a:prstGeom prst="rect">
            <a:avLst/>
          </a:prstGeom>
          <a:noFill/>
        </p:spPr>
        <p:txBody>
          <a:bodyPr wrap="square" lIns="0" tIns="0" rIns="0" bIns="0" anchor="ctr">
            <a:spAutoFit/>
          </a:bodyPr>
          <a:lstStyle/>
          <a:p>
            <a:pPr algn="l"/>
            <a:r>
              <a:rPr sz="1100" b="1" spc="500">
                <a:solidFill>
                  <a:srgbClr val="18181B"/>
                </a:solidFill>
                <a:latin typeface="Segoe UI"/>
              </a:rPr>
              <a:t>PART</a:t>
            </a:r>
          </a:p>
        </p:txBody>
      </p:sp>
      <p:sp>
        <p:nvSpPr>
          <p:cNvPr id="4" name="a0ud100_n3"/>
          <p:cNvSpPr txBox="1"/>
          <p:nvPr/>
        </p:nvSpPr>
        <p:spPr>
          <a:xfrm>
            <a:off x="411480" y="1280160"/>
            <a:ext cx="2377440" cy="1691640"/>
          </a:xfrm>
          <a:prstGeom prst="rect">
            <a:avLst/>
          </a:prstGeom>
          <a:noFill/>
        </p:spPr>
        <p:txBody>
          <a:bodyPr wrap="square" lIns="0" tIns="0" rIns="0" bIns="0" anchor="ctr">
            <a:spAutoFit/>
          </a:bodyPr>
          <a:lstStyle/>
          <a:p>
            <a:pPr algn="l"/>
            <a:r>
              <a:rPr sz="10450" b="0">
                <a:solidFill>
                  <a:srgbClr val="FFFFFF"/>
                </a:solidFill>
                <a:latin typeface="Bahnschrift SemiBold"/>
              </a:rPr>
              <a:t>05</a:t>
            </a:r>
          </a:p>
        </p:txBody>
      </p:sp>
      <p:sp>
        <p:nvSpPr>
          <p:cNvPr id="5" name="a0wd300_pb4"/>
          <p:cNvSpPr/>
          <p:nvPr/>
        </p:nvSpPr>
        <p:spPr>
          <a:xfrm>
            <a:off x="502920" y="3090672"/>
            <a:ext cx="640080" cy="45720"/>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0fd400_pc5"/>
          <p:cNvSpPr/>
          <p:nvPr/>
        </p:nvSpPr>
        <p:spPr>
          <a:xfrm>
            <a:off x="502920" y="4160520"/>
            <a:ext cx="329184" cy="274320"/>
          </a:xfrm>
          <a:prstGeom prst="roundRect">
            <a:avLst>
              <a:gd name="adj" fmla="val 13333"/>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0fd400_pct6"/>
          <p:cNvSpPr txBox="1"/>
          <p:nvPr/>
        </p:nvSpPr>
        <p:spPr>
          <a:xfrm>
            <a:off x="502920" y="4160520"/>
            <a:ext cx="329184" cy="274320"/>
          </a:xfrm>
          <a:prstGeom prst="rect">
            <a:avLst/>
          </a:prstGeom>
          <a:noFill/>
        </p:spPr>
        <p:txBody>
          <a:bodyPr wrap="square" lIns="0" tIns="0" rIns="0" bIns="0" anchor="ctr">
            <a:spAutoFit/>
          </a:bodyPr>
          <a:lstStyle/>
          <a:p>
            <a:pPr algn="ctr"/>
            <a:r>
              <a:rPr sz="850" b="0">
                <a:solidFill>
                  <a:srgbClr val="FDBA74"/>
                </a:solidFill>
                <a:latin typeface="Consolas"/>
              </a:rPr>
              <a:t>01</a:t>
            </a:r>
          </a:p>
        </p:txBody>
      </p:sp>
      <p:sp>
        <p:nvSpPr>
          <p:cNvPr id="8" name="a0fd480_pc7"/>
          <p:cNvSpPr/>
          <p:nvPr/>
        </p:nvSpPr>
        <p:spPr>
          <a:xfrm>
            <a:off x="877824" y="4160520"/>
            <a:ext cx="329184" cy="274320"/>
          </a:xfrm>
          <a:prstGeom prst="roundRect">
            <a:avLst>
              <a:gd name="adj" fmla="val 13333"/>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0fd480_pct8"/>
          <p:cNvSpPr txBox="1"/>
          <p:nvPr/>
        </p:nvSpPr>
        <p:spPr>
          <a:xfrm>
            <a:off x="877824" y="4160520"/>
            <a:ext cx="329184" cy="274320"/>
          </a:xfrm>
          <a:prstGeom prst="rect">
            <a:avLst/>
          </a:prstGeom>
          <a:noFill/>
        </p:spPr>
        <p:txBody>
          <a:bodyPr wrap="square" lIns="0" tIns="0" rIns="0" bIns="0" anchor="ctr">
            <a:spAutoFit/>
          </a:bodyPr>
          <a:lstStyle/>
          <a:p>
            <a:pPr algn="ctr"/>
            <a:r>
              <a:rPr sz="850" b="0">
                <a:solidFill>
                  <a:srgbClr val="FDBA74"/>
                </a:solidFill>
                <a:latin typeface="Consolas"/>
              </a:rPr>
              <a:t>02</a:t>
            </a:r>
          </a:p>
        </p:txBody>
      </p:sp>
      <p:sp>
        <p:nvSpPr>
          <p:cNvPr id="10" name="a0fd560_pc9"/>
          <p:cNvSpPr/>
          <p:nvPr/>
        </p:nvSpPr>
        <p:spPr>
          <a:xfrm>
            <a:off x="1252728" y="4160520"/>
            <a:ext cx="329184" cy="274320"/>
          </a:xfrm>
          <a:prstGeom prst="roundRect">
            <a:avLst>
              <a:gd name="adj" fmla="val 13333"/>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0fd560_pct10"/>
          <p:cNvSpPr txBox="1"/>
          <p:nvPr/>
        </p:nvSpPr>
        <p:spPr>
          <a:xfrm>
            <a:off x="1252728" y="4160520"/>
            <a:ext cx="329184" cy="274320"/>
          </a:xfrm>
          <a:prstGeom prst="rect">
            <a:avLst/>
          </a:prstGeom>
          <a:noFill/>
        </p:spPr>
        <p:txBody>
          <a:bodyPr wrap="square" lIns="0" tIns="0" rIns="0" bIns="0" anchor="ctr">
            <a:spAutoFit/>
          </a:bodyPr>
          <a:lstStyle/>
          <a:p>
            <a:pPr algn="ctr"/>
            <a:r>
              <a:rPr sz="850" b="0">
                <a:solidFill>
                  <a:srgbClr val="FDBA74"/>
                </a:solidFill>
                <a:latin typeface="Consolas"/>
              </a:rPr>
              <a:t>03</a:t>
            </a:r>
          </a:p>
        </p:txBody>
      </p:sp>
      <p:sp>
        <p:nvSpPr>
          <p:cNvPr id="12" name="a0fd640_pc11"/>
          <p:cNvSpPr/>
          <p:nvPr/>
        </p:nvSpPr>
        <p:spPr>
          <a:xfrm>
            <a:off x="1627632" y="4160520"/>
            <a:ext cx="329184" cy="274320"/>
          </a:xfrm>
          <a:prstGeom prst="roundRect">
            <a:avLst>
              <a:gd name="adj" fmla="val 13333"/>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0fd640_pct12"/>
          <p:cNvSpPr txBox="1"/>
          <p:nvPr/>
        </p:nvSpPr>
        <p:spPr>
          <a:xfrm>
            <a:off x="1627632" y="4160520"/>
            <a:ext cx="329184" cy="274320"/>
          </a:xfrm>
          <a:prstGeom prst="rect">
            <a:avLst/>
          </a:prstGeom>
          <a:noFill/>
        </p:spPr>
        <p:txBody>
          <a:bodyPr wrap="square" lIns="0" tIns="0" rIns="0" bIns="0" anchor="ctr">
            <a:spAutoFit/>
          </a:bodyPr>
          <a:lstStyle/>
          <a:p>
            <a:pPr algn="ctr"/>
            <a:r>
              <a:rPr sz="850" b="0">
                <a:solidFill>
                  <a:srgbClr val="FDBA74"/>
                </a:solidFill>
                <a:latin typeface="Consolas"/>
              </a:rPr>
              <a:t>04</a:t>
            </a:r>
          </a:p>
        </p:txBody>
      </p:sp>
      <p:sp>
        <p:nvSpPr>
          <p:cNvPr id="14" name="a0fd720_pc13"/>
          <p:cNvSpPr/>
          <p:nvPr/>
        </p:nvSpPr>
        <p:spPr>
          <a:xfrm>
            <a:off x="2002536" y="4160520"/>
            <a:ext cx="329184" cy="274320"/>
          </a:xfrm>
          <a:prstGeom prst="roundRect">
            <a:avLst>
              <a:gd name="adj" fmla="val 133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0fd720_pct14"/>
          <p:cNvSpPr txBox="1"/>
          <p:nvPr/>
        </p:nvSpPr>
        <p:spPr>
          <a:xfrm>
            <a:off x="2002536" y="4160520"/>
            <a:ext cx="329184" cy="274320"/>
          </a:xfrm>
          <a:prstGeom prst="rect">
            <a:avLst/>
          </a:prstGeom>
          <a:noFill/>
        </p:spPr>
        <p:txBody>
          <a:bodyPr wrap="square" lIns="0" tIns="0" rIns="0" bIns="0" anchor="ctr">
            <a:spAutoFit/>
          </a:bodyPr>
          <a:lstStyle/>
          <a:p>
            <a:pPr algn="ctr"/>
            <a:r>
              <a:rPr sz="850" b="1">
                <a:solidFill>
                  <a:srgbClr val="C2410C"/>
                </a:solidFill>
                <a:latin typeface="Consolas"/>
              </a:rPr>
              <a:t>05</a:t>
            </a:r>
          </a:p>
        </p:txBody>
      </p:sp>
      <p:sp>
        <p:nvSpPr>
          <p:cNvPr id="16" name="a0ud250_h15"/>
          <p:cNvSpPr txBox="1"/>
          <p:nvPr/>
        </p:nvSpPr>
        <p:spPr>
          <a:xfrm>
            <a:off x="3429000" y="868680"/>
            <a:ext cx="5257800" cy="1188720"/>
          </a:xfrm>
          <a:prstGeom prst="rect">
            <a:avLst/>
          </a:prstGeom>
          <a:noFill/>
        </p:spPr>
        <p:txBody>
          <a:bodyPr wrap="square" lIns="0" tIns="0" rIns="0" bIns="0" anchor="b">
            <a:spAutoFit/>
          </a:bodyPr>
          <a:lstStyle/>
          <a:p>
            <a:pPr algn="l"/>
            <a:r>
              <a:rPr sz="3250" b="0">
                <a:solidFill>
                  <a:srgbClr val="FFFFFF"/>
                </a:solidFill>
                <a:latin typeface="Bahnschrift SemiBold"/>
              </a:rPr>
              <a:t>Events and Event Streaming</a:t>
            </a:r>
          </a:p>
        </p:txBody>
      </p:sp>
      <p:sp>
        <p:nvSpPr>
          <p:cNvPr id="17" name="a0wd450_hb16"/>
          <p:cNvSpPr/>
          <p:nvPr/>
        </p:nvSpPr>
        <p:spPr>
          <a:xfrm>
            <a:off x="3429000" y="2212848"/>
            <a:ext cx="548640"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0fd500_t17"/>
          <p:cNvSpPr txBox="1"/>
          <p:nvPr/>
        </p:nvSpPr>
        <p:spPr>
          <a:xfrm>
            <a:off x="3429000" y="2395728"/>
            <a:ext cx="5257800" cy="603504"/>
          </a:xfrm>
          <a:prstGeom prst="rect">
            <a:avLst/>
          </a:prstGeom>
          <a:noFill/>
        </p:spPr>
        <p:txBody>
          <a:bodyPr wrap="square" lIns="0" tIns="0" rIns="0" bIns="0" anchor="t">
            <a:spAutoFit/>
          </a:bodyPr>
          <a:lstStyle/>
          <a:p>
            <a:pPr algn="l"/>
            <a:r>
              <a:rPr sz="1400" b="0">
                <a:solidFill>
                  <a:srgbClr val="D6D3D1"/>
                </a:solidFill>
                <a:latin typeface="Segoe UI"/>
              </a:rPr>
              <a:t>Think events first - then things</a:t>
            </a:r>
          </a:p>
        </p:txBody>
      </p:sp>
      <p:sp>
        <p:nvSpPr>
          <p:cNvPr id="19" name="a0ud700_dd18"/>
          <p:cNvSpPr/>
          <p:nvPr/>
        </p:nvSpPr>
        <p:spPr>
          <a:xfrm>
            <a:off x="3429000" y="323697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ud700_di19"/>
          <p:cNvSpPr txBox="1"/>
          <p:nvPr/>
        </p:nvSpPr>
        <p:spPr>
          <a:xfrm>
            <a:off x="3666744" y="3154680"/>
            <a:ext cx="5020056" cy="274320"/>
          </a:xfrm>
          <a:prstGeom prst="rect">
            <a:avLst/>
          </a:prstGeom>
          <a:noFill/>
        </p:spPr>
        <p:txBody>
          <a:bodyPr wrap="square" lIns="0" tIns="0" rIns="0" bIns="0" anchor="ctr">
            <a:spAutoFit/>
          </a:bodyPr>
          <a:lstStyle/>
          <a:p>
            <a:pPr algn="l"/>
            <a:r>
              <a:rPr sz="1200" b="0">
                <a:solidFill>
                  <a:srgbClr val="E7E5E4"/>
                </a:solidFill>
                <a:latin typeface="Segoe UI"/>
              </a:rPr>
              <a:t>Events</a:t>
            </a:r>
          </a:p>
        </p:txBody>
      </p:sp>
      <p:sp>
        <p:nvSpPr>
          <p:cNvPr id="21" name="a0ud820_dd20"/>
          <p:cNvSpPr/>
          <p:nvPr/>
        </p:nvSpPr>
        <p:spPr>
          <a:xfrm>
            <a:off x="3429000" y="360273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0ud820_di21"/>
          <p:cNvSpPr txBox="1"/>
          <p:nvPr/>
        </p:nvSpPr>
        <p:spPr>
          <a:xfrm>
            <a:off x="3666744" y="3520440"/>
            <a:ext cx="5020056" cy="274320"/>
          </a:xfrm>
          <a:prstGeom prst="rect">
            <a:avLst/>
          </a:prstGeom>
          <a:noFill/>
        </p:spPr>
        <p:txBody>
          <a:bodyPr wrap="square" lIns="0" tIns="0" rIns="0" bIns="0" anchor="ctr">
            <a:spAutoFit/>
          </a:bodyPr>
          <a:lstStyle/>
          <a:p>
            <a:pPr algn="l"/>
            <a:r>
              <a:rPr sz="1200" b="0">
                <a:solidFill>
                  <a:srgbClr val="E7E5E4"/>
                </a:solidFill>
                <a:latin typeface="Segoe UI"/>
              </a:rPr>
              <a:t>Notification + state</a:t>
            </a:r>
          </a:p>
        </p:txBody>
      </p:sp>
      <p:sp>
        <p:nvSpPr>
          <p:cNvPr id="23" name="a0ud940_dd22"/>
          <p:cNvSpPr/>
          <p:nvPr/>
        </p:nvSpPr>
        <p:spPr>
          <a:xfrm>
            <a:off x="3429000" y="396849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ud940_di23"/>
          <p:cNvSpPr txBox="1"/>
          <p:nvPr/>
        </p:nvSpPr>
        <p:spPr>
          <a:xfrm>
            <a:off x="3666744" y="3886200"/>
            <a:ext cx="5020056" cy="274320"/>
          </a:xfrm>
          <a:prstGeom prst="rect">
            <a:avLst/>
          </a:prstGeom>
          <a:noFill/>
        </p:spPr>
        <p:txBody>
          <a:bodyPr wrap="square" lIns="0" tIns="0" rIns="0" bIns="0" anchor="ctr">
            <a:spAutoFit/>
          </a:bodyPr>
          <a:lstStyle/>
          <a:p>
            <a:pPr algn="l"/>
            <a:r>
              <a:rPr sz="1200" b="0">
                <a:solidFill>
                  <a:srgbClr val="E7E5E4"/>
                </a:solidFill>
                <a:latin typeface="Segoe UI"/>
              </a:rPr>
              <a:t>Streams and tables</a:t>
            </a:r>
          </a:p>
        </p:txBody>
      </p:sp>
      <p:sp>
        <p:nvSpPr>
          <p:cNvPr id="25" name="a0ud1060_dd24"/>
          <p:cNvSpPr/>
          <p:nvPr/>
        </p:nvSpPr>
        <p:spPr>
          <a:xfrm>
            <a:off x="3429000" y="433425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0ud1060_di25"/>
          <p:cNvSpPr txBox="1"/>
          <p:nvPr/>
        </p:nvSpPr>
        <p:spPr>
          <a:xfrm>
            <a:off x="3666744" y="4251960"/>
            <a:ext cx="5020056" cy="274320"/>
          </a:xfrm>
          <a:prstGeom prst="rect">
            <a:avLst/>
          </a:prstGeom>
          <a:noFill/>
        </p:spPr>
        <p:txBody>
          <a:bodyPr wrap="square" lIns="0" tIns="0" rIns="0" bIns="0" anchor="ctr">
            <a:spAutoFit/>
          </a:bodyPr>
          <a:lstStyle/>
          <a:p>
            <a:pPr algn="l"/>
            <a:r>
              <a:rPr sz="1200" b="0">
                <a:solidFill>
                  <a:srgbClr val="E7E5E4"/>
                </a:solidFill>
                <a:latin typeface="Segoe UI"/>
              </a:rPr>
              <a:t>Event streaming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12" presetID="2" presetClass="entr" presetSubtype="4" fill="hold" grpId="0" nodeType="withEffect">
                                  <p:stCondLst>
                                    <p:cond delay="10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ppt_x</p:attrName>
                                        </p:attrNameLst>
                                      </p:cBhvr>
                                      <p:tavLst>
                                        <p:tav tm="0">
                                          <p:val>
                                            <p:strVal val="#ppt_x"/>
                                          </p:val>
                                        </p:tav>
                                        <p:tav tm="100000">
                                          <p:val>
                                            <p:strVal val="#ppt_x"/>
                                          </p:val>
                                        </p:tav>
                                      </p:tavLst>
                                    </p:anim>
                                    <p:anim calcmode="lin" valueType="num">
                                      <p:cBhvr additive="base">
                                        <p:cTn id="10" dur="500" fill="hold"/>
                                        <p:tgtEl>
                                          <p:spTgt spid="4"/>
                                        </p:tgtEl>
                                        <p:attrNameLst>
                                          <p:attrName>ppt_y</p:attrName>
                                        </p:attrNameLst>
                                      </p:cBhvr>
                                      <p:tavLst>
                                        <p:tav tm="0">
                                          <p:val>
                                            <p:strVal val="#ppt_y+0.1"/>
                                          </p:val>
                                        </p:tav>
                                        <p:tav tm="100000">
                                          <p:val>
                                            <p:strVal val="#ppt_y"/>
                                          </p:val>
                                        </p:tav>
                                      </p:tavLst>
                                    </p:anim>
                                    <p:animEffect transition="in" filter="fade">
                                      <p:cBhvr>
                                        <p:cTn id="11" dur="500"/>
                                        <p:tgtEl>
                                          <p:spTgt spid="4"/>
                                        </p:tgtEl>
                                      </p:cBhvr>
                                    </p:animEffect>
                                  </p:childTnLst>
                                </p:cTn>
                              </p:par>
                              <p:par>
                                <p:cTn id="17" presetID="2" presetClass="entr" presetSubtype="4" fill="hold" grpId="0" nodeType="withEffect">
                                  <p:stCondLst>
                                    <p:cond delay="250"/>
                                  </p:stCondLst>
                                  <p:childTnLst>
                                    <p:set>
                                      <p:cBhvr>
                                        <p:cTn id="13" dur="1" fill="hold">
                                          <p:stCondLst>
                                            <p:cond delay="0"/>
                                          </p:stCondLst>
                                        </p:cTn>
                                        <p:tgtEl>
                                          <p:spTgt spid="16"/>
                                        </p:tgtEl>
                                        <p:attrNameLst>
                                          <p:attrName>style.visibility</p:attrName>
                                        </p:attrNameLst>
                                      </p:cBhvr>
                                      <p:to>
                                        <p:strVal val="visible"/>
                                      </p:to>
                                    </p:set>
                                    <p:anim calcmode="lin" valueType="num">
                                      <p:cBhvr additive="base">
                                        <p:cTn id="14" dur="500" fill="hold"/>
                                        <p:tgtEl>
                                          <p:spTgt spid="16"/>
                                        </p:tgtEl>
                                        <p:attrNameLst>
                                          <p:attrName>ppt_x</p:attrName>
                                        </p:attrNameLst>
                                      </p:cBhvr>
                                      <p:tavLst>
                                        <p:tav tm="0">
                                          <p:val>
                                            <p:strVal val="#ppt_x"/>
                                          </p:val>
                                        </p:tav>
                                        <p:tav tm="100000">
                                          <p:val>
                                            <p:strVal val="#ppt_x"/>
                                          </p:val>
                                        </p:tav>
                                      </p:tavLst>
                                    </p:anim>
                                    <p:anim calcmode="lin" valueType="num">
                                      <p:cBhvr additive="base">
                                        <p:cTn id="15" dur="500" fill="hold"/>
                                        <p:tgtEl>
                                          <p:spTgt spid="16"/>
                                        </p:tgtEl>
                                        <p:attrNameLst>
                                          <p:attrName>ppt_y</p:attrName>
                                        </p:attrNameLst>
                                      </p:cBhvr>
                                      <p:tavLst>
                                        <p:tav tm="0">
                                          <p:val>
                                            <p:strVal val="#ppt_y+0.1"/>
                                          </p:val>
                                        </p:tav>
                                        <p:tav tm="100000">
                                          <p:val>
                                            <p:strVal val="#ppt_y"/>
                                          </p:val>
                                        </p:tav>
                                      </p:tavLst>
                                    </p:anim>
                                    <p:animEffect transition="in" filter="fade">
                                      <p:cBhvr>
                                        <p:cTn id="16" dur="500"/>
                                        <p:tgtEl>
                                          <p:spTgt spid="16"/>
                                        </p:tgtEl>
                                      </p:cBhvr>
                                    </p:animEffect>
                                  </p:childTnLst>
                                </p:cTn>
                              </p:par>
                              <p:par>
                                <p:cTn id="20" presetID="22" presetClass="entr" presetSubtype="8" fill="hold" grpId="0" nodeType="withEffect">
                                  <p:stCondLst>
                                    <p:cond delay="30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par>
                                <p:cTn id="23" presetID="10" presetClass="entr" presetSubtype="0" fill="hold" grpId="0" nodeType="withEffect">
                                  <p:stCondLst>
                                    <p:cond delay="4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6" presetID="10" presetClass="entr" presetSubtype="0" fill="hold" grpId="0" nodeType="withEffect">
                                  <p:stCondLst>
                                    <p:cond delay="4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9" presetID="22" presetClass="entr" presetSubtype="8" fill="hold" grpId="0" nodeType="withEffect">
                                  <p:stCondLst>
                                    <p:cond delay="45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par>
                                <p:cTn id="32"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5" presetID="10" presetClass="entr" presetSubtype="0" fill="hold" grpId="0" nodeType="withEffect">
                                  <p:stCondLst>
                                    <p:cond delay="48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8" presetID="10" presetClass="entr" presetSubtype="0" fill="hold" grpId="0" nodeType="withEffect">
                                  <p:stCondLst>
                                    <p:cond delay="50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41" presetID="10" presetClass="entr" presetSubtype="0" fill="hold" grpId="0" nodeType="withEffect">
                                  <p:stCondLst>
                                    <p:cond delay="56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par>
                                <p:cTn id="44" presetID="10" presetClass="entr" presetSubtype="0" fill="hold" grpId="0" nodeType="withEffect">
                                  <p:stCondLst>
                                    <p:cond delay="56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par>
                                <p:cTn id="47" presetID="10" presetClass="entr" presetSubtype="0" fill="hold" grpId="0" nodeType="withEffect">
                                  <p:stCondLst>
                                    <p:cond delay="64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par>
                                <p:cTn id="50" presetID="10" presetClass="entr" presetSubtype="0" fill="hold" grpId="0" nodeType="withEffect">
                                  <p:stCondLst>
                                    <p:cond delay="64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childTnLst>
                                </p:cTn>
                              </p:par>
                              <p:par>
                                <p:cTn id="55" presetID="2" presetClass="entr" presetSubtype="4" fill="hold" grpId="0" nodeType="withEffect">
                                  <p:stCondLst>
                                    <p:cond delay="700"/>
                                  </p:stCondLst>
                                  <p:childTnLst>
                                    <p:set>
                                      <p:cBhvr>
                                        <p:cTn id="51" dur="1" fill="hold">
                                          <p:stCondLst>
                                            <p:cond delay="0"/>
                                          </p:stCondLst>
                                        </p:cTn>
                                        <p:tgtEl>
                                          <p:spTgt spid="19"/>
                                        </p:tgtEl>
                                        <p:attrNameLst>
                                          <p:attrName>style.visibility</p:attrName>
                                        </p:attrNameLst>
                                      </p:cBhvr>
                                      <p:to>
                                        <p:strVal val="visible"/>
                                      </p:to>
                                    </p:set>
                                    <p:anim calcmode="lin" valueType="num">
                                      <p:cBhvr additive="base">
                                        <p:cTn id="52" dur="500" fill="hold"/>
                                        <p:tgtEl>
                                          <p:spTgt spid="19"/>
                                        </p:tgtEl>
                                        <p:attrNameLst>
                                          <p:attrName>ppt_x</p:attrName>
                                        </p:attrNameLst>
                                      </p:cBhvr>
                                      <p:tavLst>
                                        <p:tav tm="0">
                                          <p:val>
                                            <p:strVal val="#ppt_x"/>
                                          </p:val>
                                        </p:tav>
                                        <p:tav tm="100000">
                                          <p:val>
                                            <p:strVal val="#ppt_x"/>
                                          </p:val>
                                        </p:tav>
                                      </p:tavLst>
                                    </p:anim>
                                    <p:anim calcmode="lin" valueType="num">
                                      <p:cBhvr additive="base">
                                        <p:cTn id="53" dur="500" fill="hold"/>
                                        <p:tgtEl>
                                          <p:spTgt spid="19"/>
                                        </p:tgtEl>
                                        <p:attrNameLst>
                                          <p:attrName>ppt_y</p:attrName>
                                        </p:attrNameLst>
                                      </p:cBhvr>
                                      <p:tavLst>
                                        <p:tav tm="0">
                                          <p:val>
                                            <p:strVal val="#ppt_y+0.1"/>
                                          </p:val>
                                        </p:tav>
                                        <p:tav tm="100000">
                                          <p:val>
                                            <p:strVal val="#ppt_y"/>
                                          </p:val>
                                        </p:tav>
                                      </p:tavLst>
                                    </p:anim>
                                    <p:animEffect transition="in" filter="fade">
                                      <p:cBhvr>
                                        <p:cTn id="54" dur="500"/>
                                        <p:tgtEl>
                                          <p:spTgt spid="19"/>
                                        </p:tgtEl>
                                      </p:cBhvr>
                                    </p:animEffect>
                                  </p:childTnLst>
                                </p:cTn>
                              </p:par>
                              <p:par>
                                <p:cTn id="60" presetID="2" presetClass="entr" presetSubtype="4" fill="hold" grpId="0" nodeType="withEffect">
                                  <p:stCondLst>
                                    <p:cond delay="70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500" fill="hold"/>
                                        <p:tgtEl>
                                          <p:spTgt spid="20"/>
                                        </p:tgtEl>
                                        <p:attrNameLst>
                                          <p:attrName>ppt_x</p:attrName>
                                        </p:attrNameLst>
                                      </p:cBhvr>
                                      <p:tavLst>
                                        <p:tav tm="0">
                                          <p:val>
                                            <p:strVal val="#ppt_x"/>
                                          </p:val>
                                        </p:tav>
                                        <p:tav tm="100000">
                                          <p:val>
                                            <p:strVal val="#ppt_x"/>
                                          </p:val>
                                        </p:tav>
                                      </p:tavLst>
                                    </p:anim>
                                    <p:anim calcmode="lin" valueType="num">
                                      <p:cBhvr additive="base">
                                        <p:cTn id="58" dur="500" fill="hold"/>
                                        <p:tgtEl>
                                          <p:spTgt spid="20"/>
                                        </p:tgtEl>
                                        <p:attrNameLst>
                                          <p:attrName>ppt_y</p:attrName>
                                        </p:attrNameLst>
                                      </p:cBhvr>
                                      <p:tavLst>
                                        <p:tav tm="0">
                                          <p:val>
                                            <p:strVal val="#ppt_y+0.1"/>
                                          </p:val>
                                        </p:tav>
                                        <p:tav tm="100000">
                                          <p:val>
                                            <p:strVal val="#ppt_y"/>
                                          </p:val>
                                        </p:tav>
                                      </p:tavLst>
                                    </p:anim>
                                    <p:animEffect transition="in" filter="fade">
                                      <p:cBhvr>
                                        <p:cTn id="59" dur="500"/>
                                        <p:tgtEl>
                                          <p:spTgt spid="20"/>
                                        </p:tgtEl>
                                      </p:cBhvr>
                                    </p:animEffect>
                                  </p:childTnLst>
                                </p:cTn>
                              </p:par>
                              <p:par>
                                <p:cTn id="63" presetID="10" presetClass="entr" presetSubtype="0" fill="hold" grpId="0" nodeType="withEffect">
                                  <p:stCondLst>
                                    <p:cond delay="72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childTnLst>
                                </p:cTn>
                              </p:par>
                              <p:par>
                                <p:cTn id="66" presetID="10" presetClass="entr" presetSubtype="0" fill="hold" grpId="0" nodeType="withEffect">
                                  <p:stCondLst>
                                    <p:cond delay="72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childTnLst>
                                </p:cTn>
                              </p:par>
                              <p:par>
                                <p:cTn id="71" presetID="2" presetClass="entr" presetSubtype="4" fill="hold" grpId="0" nodeType="withEffect">
                                  <p:stCondLst>
                                    <p:cond delay="820"/>
                                  </p:stCondLst>
                                  <p:childTnLst>
                                    <p:set>
                                      <p:cBhvr>
                                        <p:cTn id="67" dur="1" fill="hold">
                                          <p:stCondLst>
                                            <p:cond delay="0"/>
                                          </p:stCondLst>
                                        </p:cTn>
                                        <p:tgtEl>
                                          <p:spTgt spid="21"/>
                                        </p:tgtEl>
                                        <p:attrNameLst>
                                          <p:attrName>style.visibility</p:attrName>
                                        </p:attrNameLst>
                                      </p:cBhvr>
                                      <p:to>
                                        <p:strVal val="visible"/>
                                      </p:to>
                                    </p:set>
                                    <p:anim calcmode="lin" valueType="num">
                                      <p:cBhvr additive="base">
                                        <p:cTn id="68" dur="500" fill="hold"/>
                                        <p:tgtEl>
                                          <p:spTgt spid="21"/>
                                        </p:tgtEl>
                                        <p:attrNameLst>
                                          <p:attrName>ppt_x</p:attrName>
                                        </p:attrNameLst>
                                      </p:cBhvr>
                                      <p:tavLst>
                                        <p:tav tm="0">
                                          <p:val>
                                            <p:strVal val="#ppt_x"/>
                                          </p:val>
                                        </p:tav>
                                        <p:tav tm="100000">
                                          <p:val>
                                            <p:strVal val="#ppt_x"/>
                                          </p:val>
                                        </p:tav>
                                      </p:tavLst>
                                    </p:anim>
                                    <p:anim calcmode="lin" valueType="num">
                                      <p:cBhvr additive="base">
                                        <p:cTn id="69" dur="500" fill="hold"/>
                                        <p:tgtEl>
                                          <p:spTgt spid="21"/>
                                        </p:tgtEl>
                                        <p:attrNameLst>
                                          <p:attrName>ppt_y</p:attrName>
                                        </p:attrNameLst>
                                      </p:cBhvr>
                                      <p:tavLst>
                                        <p:tav tm="0">
                                          <p:val>
                                            <p:strVal val="#ppt_y+0.1"/>
                                          </p:val>
                                        </p:tav>
                                        <p:tav tm="100000">
                                          <p:val>
                                            <p:strVal val="#ppt_y"/>
                                          </p:val>
                                        </p:tav>
                                      </p:tavLst>
                                    </p:anim>
                                    <p:animEffect transition="in" filter="fade">
                                      <p:cBhvr>
                                        <p:cTn id="70" dur="500"/>
                                        <p:tgtEl>
                                          <p:spTgt spid="21"/>
                                        </p:tgtEl>
                                      </p:cBhvr>
                                    </p:animEffect>
                                  </p:childTnLst>
                                </p:cTn>
                              </p:par>
                              <p:par>
                                <p:cTn id="76" presetID="2" presetClass="entr" presetSubtype="4" fill="hold" grpId="0" nodeType="withEffect">
                                  <p:stCondLst>
                                    <p:cond delay="820"/>
                                  </p:stCondLst>
                                  <p:childTnLst>
                                    <p:set>
                                      <p:cBhvr>
                                        <p:cTn id="72" dur="1" fill="hold">
                                          <p:stCondLst>
                                            <p:cond delay="0"/>
                                          </p:stCondLst>
                                        </p:cTn>
                                        <p:tgtEl>
                                          <p:spTgt spid="22"/>
                                        </p:tgtEl>
                                        <p:attrNameLst>
                                          <p:attrName>style.visibility</p:attrName>
                                        </p:attrNameLst>
                                      </p:cBhvr>
                                      <p:to>
                                        <p:strVal val="visible"/>
                                      </p:to>
                                    </p:set>
                                    <p:anim calcmode="lin" valueType="num">
                                      <p:cBhvr additive="base">
                                        <p:cTn id="73" dur="500" fill="hold"/>
                                        <p:tgtEl>
                                          <p:spTgt spid="22"/>
                                        </p:tgtEl>
                                        <p:attrNameLst>
                                          <p:attrName>ppt_x</p:attrName>
                                        </p:attrNameLst>
                                      </p:cBhvr>
                                      <p:tavLst>
                                        <p:tav tm="0">
                                          <p:val>
                                            <p:strVal val="#ppt_x"/>
                                          </p:val>
                                        </p:tav>
                                        <p:tav tm="100000">
                                          <p:val>
                                            <p:strVal val="#ppt_x"/>
                                          </p:val>
                                        </p:tav>
                                      </p:tavLst>
                                    </p:anim>
                                    <p:anim calcmode="lin" valueType="num">
                                      <p:cBhvr additive="base">
                                        <p:cTn id="74" dur="500" fill="hold"/>
                                        <p:tgtEl>
                                          <p:spTgt spid="22"/>
                                        </p:tgtEl>
                                        <p:attrNameLst>
                                          <p:attrName>ppt_y</p:attrName>
                                        </p:attrNameLst>
                                      </p:cBhvr>
                                      <p:tavLst>
                                        <p:tav tm="0">
                                          <p:val>
                                            <p:strVal val="#ppt_y+0.1"/>
                                          </p:val>
                                        </p:tav>
                                        <p:tav tm="100000">
                                          <p:val>
                                            <p:strVal val="#ppt_y"/>
                                          </p:val>
                                        </p:tav>
                                      </p:tavLst>
                                    </p:anim>
                                    <p:animEffect transition="in" filter="fade">
                                      <p:cBhvr>
                                        <p:cTn id="75" dur="500"/>
                                        <p:tgtEl>
                                          <p:spTgt spid="22"/>
                                        </p:tgtEl>
                                      </p:cBhvr>
                                    </p:animEffect>
                                  </p:childTnLst>
                                </p:cTn>
                              </p:par>
                              <p:par>
                                <p:cTn id="81" presetID="2" presetClass="entr" presetSubtype="4" fill="hold" grpId="0" nodeType="withEffect">
                                  <p:stCondLst>
                                    <p:cond delay="940"/>
                                  </p:stCondLst>
                                  <p:childTnLst>
                                    <p:set>
                                      <p:cBhvr>
                                        <p:cTn id="77" dur="1" fill="hold">
                                          <p:stCondLst>
                                            <p:cond delay="0"/>
                                          </p:stCondLst>
                                        </p:cTn>
                                        <p:tgtEl>
                                          <p:spTgt spid="23"/>
                                        </p:tgtEl>
                                        <p:attrNameLst>
                                          <p:attrName>style.visibility</p:attrName>
                                        </p:attrNameLst>
                                      </p:cBhvr>
                                      <p:to>
                                        <p:strVal val="visible"/>
                                      </p:to>
                                    </p:set>
                                    <p:anim calcmode="lin" valueType="num">
                                      <p:cBhvr additive="base">
                                        <p:cTn id="78" dur="500" fill="hold"/>
                                        <p:tgtEl>
                                          <p:spTgt spid="23"/>
                                        </p:tgtEl>
                                        <p:attrNameLst>
                                          <p:attrName>ppt_x</p:attrName>
                                        </p:attrNameLst>
                                      </p:cBhvr>
                                      <p:tavLst>
                                        <p:tav tm="0">
                                          <p:val>
                                            <p:strVal val="#ppt_x"/>
                                          </p:val>
                                        </p:tav>
                                        <p:tav tm="100000">
                                          <p:val>
                                            <p:strVal val="#ppt_x"/>
                                          </p:val>
                                        </p:tav>
                                      </p:tavLst>
                                    </p:anim>
                                    <p:anim calcmode="lin" valueType="num">
                                      <p:cBhvr additive="base">
                                        <p:cTn id="79" dur="500" fill="hold"/>
                                        <p:tgtEl>
                                          <p:spTgt spid="23"/>
                                        </p:tgtEl>
                                        <p:attrNameLst>
                                          <p:attrName>ppt_y</p:attrName>
                                        </p:attrNameLst>
                                      </p:cBhvr>
                                      <p:tavLst>
                                        <p:tav tm="0">
                                          <p:val>
                                            <p:strVal val="#ppt_y+0.1"/>
                                          </p:val>
                                        </p:tav>
                                        <p:tav tm="100000">
                                          <p:val>
                                            <p:strVal val="#ppt_y"/>
                                          </p:val>
                                        </p:tav>
                                      </p:tavLst>
                                    </p:anim>
                                    <p:animEffect transition="in" filter="fade">
                                      <p:cBhvr>
                                        <p:cTn id="80" dur="500"/>
                                        <p:tgtEl>
                                          <p:spTgt spid="23"/>
                                        </p:tgtEl>
                                      </p:cBhvr>
                                    </p:animEffect>
                                  </p:childTnLst>
                                </p:cTn>
                              </p:par>
                              <p:par>
                                <p:cTn id="86" presetID="2" presetClass="entr" presetSubtype="4" fill="hold" grpId="0" nodeType="withEffect">
                                  <p:stCondLst>
                                    <p:cond delay="940"/>
                                  </p:stCondLst>
                                  <p:childTnLst>
                                    <p:set>
                                      <p:cBhvr>
                                        <p:cTn id="82" dur="1" fill="hold">
                                          <p:stCondLst>
                                            <p:cond delay="0"/>
                                          </p:stCondLst>
                                        </p:cTn>
                                        <p:tgtEl>
                                          <p:spTgt spid="24"/>
                                        </p:tgtEl>
                                        <p:attrNameLst>
                                          <p:attrName>style.visibility</p:attrName>
                                        </p:attrNameLst>
                                      </p:cBhvr>
                                      <p:to>
                                        <p:strVal val="visible"/>
                                      </p:to>
                                    </p:set>
                                    <p:anim calcmode="lin" valueType="num">
                                      <p:cBhvr additive="base">
                                        <p:cTn id="83" dur="500" fill="hold"/>
                                        <p:tgtEl>
                                          <p:spTgt spid="24"/>
                                        </p:tgtEl>
                                        <p:attrNameLst>
                                          <p:attrName>ppt_x</p:attrName>
                                        </p:attrNameLst>
                                      </p:cBhvr>
                                      <p:tavLst>
                                        <p:tav tm="0">
                                          <p:val>
                                            <p:strVal val="#ppt_x"/>
                                          </p:val>
                                        </p:tav>
                                        <p:tav tm="100000">
                                          <p:val>
                                            <p:strVal val="#ppt_x"/>
                                          </p:val>
                                        </p:tav>
                                      </p:tavLst>
                                    </p:anim>
                                    <p:anim calcmode="lin" valueType="num">
                                      <p:cBhvr additive="base">
                                        <p:cTn id="84" dur="500" fill="hold"/>
                                        <p:tgtEl>
                                          <p:spTgt spid="24"/>
                                        </p:tgtEl>
                                        <p:attrNameLst>
                                          <p:attrName>ppt_y</p:attrName>
                                        </p:attrNameLst>
                                      </p:cBhvr>
                                      <p:tavLst>
                                        <p:tav tm="0">
                                          <p:val>
                                            <p:strVal val="#ppt_y+0.1"/>
                                          </p:val>
                                        </p:tav>
                                        <p:tav tm="100000">
                                          <p:val>
                                            <p:strVal val="#ppt_y"/>
                                          </p:val>
                                        </p:tav>
                                      </p:tavLst>
                                    </p:anim>
                                    <p:animEffect transition="in" filter="fade">
                                      <p:cBhvr>
                                        <p:cTn id="85" dur="500"/>
                                        <p:tgtEl>
                                          <p:spTgt spid="24"/>
                                        </p:tgtEl>
                                      </p:cBhvr>
                                    </p:animEffect>
                                  </p:childTnLst>
                                </p:cTn>
                              </p:par>
                              <p:par>
                                <p:cTn id="91" presetID="2" presetClass="entr" presetSubtype="4" fill="hold" grpId="0" nodeType="withEffect">
                                  <p:stCondLst>
                                    <p:cond delay="1060"/>
                                  </p:stCondLst>
                                  <p:childTnLst>
                                    <p:set>
                                      <p:cBhvr>
                                        <p:cTn id="87" dur="1" fill="hold">
                                          <p:stCondLst>
                                            <p:cond delay="0"/>
                                          </p:stCondLst>
                                        </p:cTn>
                                        <p:tgtEl>
                                          <p:spTgt spid="25"/>
                                        </p:tgtEl>
                                        <p:attrNameLst>
                                          <p:attrName>style.visibility</p:attrName>
                                        </p:attrNameLst>
                                      </p:cBhvr>
                                      <p:to>
                                        <p:strVal val="visible"/>
                                      </p:to>
                                    </p:set>
                                    <p:anim calcmode="lin" valueType="num">
                                      <p:cBhvr additive="base">
                                        <p:cTn id="88" dur="500" fill="hold"/>
                                        <p:tgtEl>
                                          <p:spTgt spid="25"/>
                                        </p:tgtEl>
                                        <p:attrNameLst>
                                          <p:attrName>ppt_x</p:attrName>
                                        </p:attrNameLst>
                                      </p:cBhvr>
                                      <p:tavLst>
                                        <p:tav tm="0">
                                          <p:val>
                                            <p:strVal val="#ppt_x"/>
                                          </p:val>
                                        </p:tav>
                                        <p:tav tm="100000">
                                          <p:val>
                                            <p:strVal val="#ppt_x"/>
                                          </p:val>
                                        </p:tav>
                                      </p:tavLst>
                                    </p:anim>
                                    <p:anim calcmode="lin" valueType="num">
                                      <p:cBhvr additive="base">
                                        <p:cTn id="89" dur="500" fill="hold"/>
                                        <p:tgtEl>
                                          <p:spTgt spid="25"/>
                                        </p:tgtEl>
                                        <p:attrNameLst>
                                          <p:attrName>ppt_y</p:attrName>
                                        </p:attrNameLst>
                                      </p:cBhvr>
                                      <p:tavLst>
                                        <p:tav tm="0">
                                          <p:val>
                                            <p:strVal val="#ppt_y+0.1"/>
                                          </p:val>
                                        </p:tav>
                                        <p:tav tm="100000">
                                          <p:val>
                                            <p:strVal val="#ppt_y"/>
                                          </p:val>
                                        </p:tav>
                                      </p:tavLst>
                                    </p:anim>
                                    <p:animEffect transition="in" filter="fade">
                                      <p:cBhvr>
                                        <p:cTn id="90" dur="500"/>
                                        <p:tgtEl>
                                          <p:spTgt spid="25"/>
                                        </p:tgtEl>
                                      </p:cBhvr>
                                    </p:animEffect>
                                  </p:childTnLst>
                                </p:cTn>
                              </p:par>
                              <p:par>
                                <p:cTn id="96" presetID="2" presetClass="entr" presetSubtype="4" fill="hold" grpId="0" nodeType="withEffect">
                                  <p:stCondLst>
                                    <p:cond delay="1060"/>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00" fill="hold"/>
                                        <p:tgtEl>
                                          <p:spTgt spid="26"/>
                                        </p:tgtEl>
                                        <p:attrNameLst>
                                          <p:attrName>ppt_x</p:attrName>
                                        </p:attrNameLst>
                                      </p:cBhvr>
                                      <p:tavLst>
                                        <p:tav tm="0">
                                          <p:val>
                                            <p:strVal val="#ppt_x"/>
                                          </p:val>
                                        </p:tav>
                                        <p:tav tm="100000">
                                          <p:val>
                                            <p:strVal val="#ppt_x"/>
                                          </p:val>
                                        </p:tav>
                                      </p:tavLst>
                                    </p:anim>
                                    <p:anim calcmode="lin" valueType="num">
                                      <p:cBhvr additive="base">
                                        <p:cTn id="94" dur="500" fill="hold"/>
                                        <p:tgtEl>
                                          <p:spTgt spid="26"/>
                                        </p:tgtEl>
                                        <p:attrNameLst>
                                          <p:attrName>ppt_y</p:attrName>
                                        </p:attrNameLst>
                                      </p:cBhvr>
                                      <p:tavLst>
                                        <p:tav tm="0">
                                          <p:val>
                                            <p:strVal val="#ppt_y+0.1"/>
                                          </p:val>
                                        </p:tav>
                                        <p:tav tm="100000">
                                          <p:val>
                                            <p:strVal val="#ppt_y"/>
                                          </p:val>
                                        </p:tav>
                                      </p:tavLst>
                                    </p:anim>
                                    <p:animEffect transition="in" filter="fade">
                                      <p:cBhvr>
                                        <p:cTn id="9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What Is an Event?</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Any action, incident or change that is happening - or has just happened</a:t>
            </a:r>
          </a:p>
        </p:txBody>
      </p:sp>
      <p:sp>
        <p:nvSpPr>
          <p:cNvPr id="11" name="a1u_card10"/>
          <p:cNvSpPr/>
          <p:nvPr/>
        </p:nvSpPr>
        <p:spPr>
          <a:xfrm>
            <a:off x="457200" y="1234440"/>
            <a:ext cx="4023360" cy="2240280"/>
          </a:xfrm>
          <a:prstGeom prst="roundRect">
            <a:avLst>
              <a:gd name="adj" fmla="val 489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50292" cy="224028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44168"/>
            <a:ext cx="3657600" cy="237744"/>
          </a:xfrm>
          <a:prstGeom prst="rect">
            <a:avLst/>
          </a:prstGeom>
          <a:noFill/>
        </p:spPr>
        <p:txBody>
          <a:bodyPr wrap="square" lIns="0" tIns="0" rIns="0" bIns="0" anchor="ctr">
            <a:spAutoFit/>
          </a:bodyPr>
          <a:lstStyle/>
          <a:p>
            <a:pPr algn="l"/>
            <a:r>
              <a:rPr sz="900" b="1">
                <a:solidFill>
                  <a:srgbClr val="EA580C"/>
                </a:solidFill>
                <a:latin typeface="Segoe UI"/>
              </a:rPr>
              <a:t>HAPPENING  ·  RIGHT NOW</a:t>
            </a:r>
          </a:p>
        </p:txBody>
      </p:sp>
      <p:sp>
        <p:nvSpPr>
          <p:cNvPr id="14" name="a1ud80_dot13"/>
          <p:cNvSpPr/>
          <p:nvPr/>
        </p:nvSpPr>
        <p:spPr>
          <a:xfrm>
            <a:off x="658368" y="186080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80_b14"/>
          <p:cNvSpPr txBox="1"/>
          <p:nvPr/>
        </p:nvSpPr>
        <p:spPr>
          <a:xfrm>
            <a:off x="877824" y="1764792"/>
            <a:ext cx="3401568" cy="438912"/>
          </a:xfrm>
          <a:prstGeom prst="rect">
            <a:avLst/>
          </a:prstGeom>
          <a:noFill/>
        </p:spPr>
        <p:txBody>
          <a:bodyPr wrap="square" lIns="0" tIns="0" rIns="0" bIns="0" anchor="t">
            <a:spAutoFit/>
          </a:bodyPr>
          <a:lstStyle/>
          <a:p>
            <a:pPr algn="l"/>
            <a:r>
              <a:rPr sz="1200" b="0">
                <a:solidFill>
                  <a:srgbClr val="44403C"/>
                </a:solidFill>
                <a:latin typeface="Segoe UI"/>
              </a:rPr>
              <a:t>Now I am typing</a:t>
            </a:r>
          </a:p>
        </p:txBody>
      </p:sp>
      <p:sp>
        <p:nvSpPr>
          <p:cNvPr id="16" name="a1ud180_dot15"/>
          <p:cNvSpPr/>
          <p:nvPr/>
        </p:nvSpPr>
        <p:spPr>
          <a:xfrm>
            <a:off x="658368" y="233629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180_b16"/>
          <p:cNvSpPr txBox="1"/>
          <p:nvPr/>
        </p:nvSpPr>
        <p:spPr>
          <a:xfrm>
            <a:off x="877824" y="2240280"/>
            <a:ext cx="3401568" cy="438912"/>
          </a:xfrm>
          <a:prstGeom prst="rect">
            <a:avLst/>
          </a:prstGeom>
          <a:noFill/>
        </p:spPr>
        <p:txBody>
          <a:bodyPr wrap="square" lIns="0" tIns="0" rIns="0" bIns="0" anchor="t">
            <a:spAutoFit/>
          </a:bodyPr>
          <a:lstStyle/>
          <a:p>
            <a:pPr algn="l"/>
            <a:r>
              <a:rPr sz="1200" b="0">
                <a:solidFill>
                  <a:srgbClr val="44403C"/>
                </a:solidFill>
                <a:latin typeface="Segoe UI"/>
              </a:rPr>
              <a:t>Now I am teaching</a:t>
            </a:r>
          </a:p>
        </p:txBody>
      </p:sp>
      <p:sp>
        <p:nvSpPr>
          <p:cNvPr id="18" name="a1ud280_dot17"/>
          <p:cNvSpPr/>
          <p:nvPr/>
        </p:nvSpPr>
        <p:spPr>
          <a:xfrm>
            <a:off x="658368" y="2811780"/>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280_b18"/>
          <p:cNvSpPr txBox="1"/>
          <p:nvPr/>
        </p:nvSpPr>
        <p:spPr>
          <a:xfrm>
            <a:off x="877824" y="2715768"/>
            <a:ext cx="3401568" cy="438912"/>
          </a:xfrm>
          <a:prstGeom prst="rect">
            <a:avLst/>
          </a:prstGeom>
          <a:noFill/>
        </p:spPr>
        <p:txBody>
          <a:bodyPr wrap="square" lIns="0" tIns="0" rIns="0" bIns="0" anchor="t">
            <a:spAutoFit/>
          </a:bodyPr>
          <a:lstStyle/>
          <a:p>
            <a:pPr algn="l"/>
            <a:r>
              <a:rPr sz="1200" b="0">
                <a:solidFill>
                  <a:srgbClr val="44403C"/>
                </a:solidFill>
                <a:latin typeface="Segoe UI"/>
              </a:rPr>
              <a:t>Now the price is changing</a:t>
            </a:r>
          </a:p>
        </p:txBody>
      </p:sp>
      <p:sp>
        <p:nvSpPr>
          <p:cNvPr id="20" name="a2u_card19"/>
          <p:cNvSpPr/>
          <p:nvPr/>
        </p:nvSpPr>
        <p:spPr>
          <a:xfrm>
            <a:off x="4663440" y="1234440"/>
            <a:ext cx="4023360" cy="2240280"/>
          </a:xfrm>
          <a:prstGeom prst="roundRect">
            <a:avLst>
              <a:gd name="adj" fmla="val 489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_acc20"/>
          <p:cNvSpPr/>
          <p:nvPr/>
        </p:nvSpPr>
        <p:spPr>
          <a:xfrm>
            <a:off x="4663440" y="1234440"/>
            <a:ext cx="50292" cy="22402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_hh21"/>
          <p:cNvSpPr txBox="1"/>
          <p:nvPr/>
        </p:nvSpPr>
        <p:spPr>
          <a:xfrm>
            <a:off x="4864607" y="1344168"/>
            <a:ext cx="3657600" cy="237744"/>
          </a:xfrm>
          <a:prstGeom prst="rect">
            <a:avLst/>
          </a:prstGeom>
          <a:noFill/>
        </p:spPr>
        <p:txBody>
          <a:bodyPr wrap="square" lIns="0" tIns="0" rIns="0" bIns="0" anchor="ctr">
            <a:spAutoFit/>
          </a:bodyPr>
          <a:lstStyle/>
          <a:p>
            <a:pPr algn="l"/>
            <a:r>
              <a:rPr sz="900" b="1">
                <a:solidFill>
                  <a:srgbClr val="0E7490"/>
                </a:solidFill>
                <a:latin typeface="Segoe UI"/>
              </a:rPr>
              <a:t>HAPPENED  ·  JUST NOW</a:t>
            </a:r>
          </a:p>
        </p:txBody>
      </p:sp>
      <p:sp>
        <p:nvSpPr>
          <p:cNvPr id="23" name="a2ud80_dot22"/>
          <p:cNvSpPr/>
          <p:nvPr/>
        </p:nvSpPr>
        <p:spPr>
          <a:xfrm>
            <a:off x="4864607" y="186080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d80_b23"/>
          <p:cNvSpPr txBox="1"/>
          <p:nvPr/>
        </p:nvSpPr>
        <p:spPr>
          <a:xfrm>
            <a:off x="5084064" y="1764792"/>
            <a:ext cx="3401568" cy="356616"/>
          </a:xfrm>
          <a:prstGeom prst="rect">
            <a:avLst/>
          </a:prstGeom>
          <a:noFill/>
        </p:spPr>
        <p:txBody>
          <a:bodyPr wrap="square" lIns="0" tIns="0" rIns="0" bIns="0" anchor="t">
            <a:spAutoFit/>
          </a:bodyPr>
          <a:lstStyle/>
          <a:p>
            <a:pPr algn="l"/>
            <a:r>
              <a:rPr sz="1200" b="0">
                <a:solidFill>
                  <a:srgbClr val="44403C"/>
                </a:solidFill>
                <a:latin typeface="Segoe UI"/>
              </a:rPr>
              <a:t>I just had coffee</a:t>
            </a:r>
          </a:p>
        </p:txBody>
      </p:sp>
      <p:sp>
        <p:nvSpPr>
          <p:cNvPr id="25" name="a2ud180_dot24"/>
          <p:cNvSpPr/>
          <p:nvPr/>
        </p:nvSpPr>
        <p:spPr>
          <a:xfrm>
            <a:off x="4864607" y="2253996"/>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d180_b25"/>
          <p:cNvSpPr txBox="1"/>
          <p:nvPr/>
        </p:nvSpPr>
        <p:spPr>
          <a:xfrm>
            <a:off x="5084064" y="2157984"/>
            <a:ext cx="3401568" cy="356616"/>
          </a:xfrm>
          <a:prstGeom prst="rect">
            <a:avLst/>
          </a:prstGeom>
          <a:noFill/>
        </p:spPr>
        <p:txBody>
          <a:bodyPr wrap="square" lIns="0" tIns="0" rIns="0" bIns="0" anchor="t">
            <a:spAutoFit/>
          </a:bodyPr>
          <a:lstStyle/>
          <a:p>
            <a:pPr algn="l"/>
            <a:r>
              <a:rPr sz="1200" b="0">
                <a:solidFill>
                  <a:srgbClr val="44403C"/>
                </a:solidFill>
                <a:latin typeface="Segoe UI"/>
              </a:rPr>
              <a:t>I just received a mail</a:t>
            </a:r>
          </a:p>
        </p:txBody>
      </p:sp>
      <p:sp>
        <p:nvSpPr>
          <p:cNvPr id="27" name="a2ud280_dot26"/>
          <p:cNvSpPr/>
          <p:nvPr/>
        </p:nvSpPr>
        <p:spPr>
          <a:xfrm>
            <a:off x="4864607" y="2647188"/>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d280_b27"/>
          <p:cNvSpPr txBox="1"/>
          <p:nvPr/>
        </p:nvSpPr>
        <p:spPr>
          <a:xfrm>
            <a:off x="5084064" y="2551176"/>
            <a:ext cx="3401568" cy="356616"/>
          </a:xfrm>
          <a:prstGeom prst="rect">
            <a:avLst/>
          </a:prstGeom>
          <a:noFill/>
        </p:spPr>
        <p:txBody>
          <a:bodyPr wrap="square" lIns="0" tIns="0" rIns="0" bIns="0" anchor="t">
            <a:spAutoFit/>
          </a:bodyPr>
          <a:lstStyle/>
          <a:p>
            <a:pPr algn="l"/>
            <a:r>
              <a:rPr sz="1200" b="0">
                <a:solidFill>
                  <a:srgbClr val="44403C"/>
                </a:solidFill>
                <a:latin typeface="Segoe UI"/>
              </a:rPr>
              <a:t>I just clicked a link</a:t>
            </a:r>
          </a:p>
        </p:txBody>
      </p:sp>
      <p:sp>
        <p:nvSpPr>
          <p:cNvPr id="29" name="a2ud380_dot28"/>
          <p:cNvSpPr/>
          <p:nvPr/>
        </p:nvSpPr>
        <p:spPr>
          <a:xfrm>
            <a:off x="4864607" y="3040380"/>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ud380_b29"/>
          <p:cNvSpPr txBox="1"/>
          <p:nvPr/>
        </p:nvSpPr>
        <p:spPr>
          <a:xfrm>
            <a:off x="5084064" y="2944368"/>
            <a:ext cx="3401568" cy="356616"/>
          </a:xfrm>
          <a:prstGeom prst="rect">
            <a:avLst/>
          </a:prstGeom>
          <a:noFill/>
        </p:spPr>
        <p:txBody>
          <a:bodyPr wrap="square" lIns="0" tIns="0" rIns="0" bIns="0" anchor="t">
            <a:spAutoFit/>
          </a:bodyPr>
          <a:lstStyle/>
          <a:p>
            <a:pPr algn="l"/>
            <a:r>
              <a:rPr sz="1200" b="0">
                <a:solidFill>
                  <a:srgbClr val="44403C"/>
                </a:solidFill>
                <a:latin typeface="Segoe UI"/>
              </a:rPr>
              <a:t>I just searched for a product</a:t>
            </a:r>
          </a:p>
        </p:txBody>
      </p:sp>
      <p:sp>
        <p:nvSpPr>
          <p:cNvPr id="31" name="a3u_nb30"/>
          <p:cNvSpPr/>
          <p:nvPr/>
        </p:nvSpPr>
        <p:spPr>
          <a:xfrm>
            <a:off x="457200" y="3657600"/>
            <a:ext cx="8229600" cy="658368"/>
          </a:xfrm>
          <a:prstGeom prst="roundRect">
            <a:avLst>
              <a:gd name="adj" fmla="val 11111"/>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3u_nacc31"/>
          <p:cNvSpPr/>
          <p:nvPr/>
        </p:nvSpPr>
        <p:spPr>
          <a:xfrm>
            <a:off x="457200" y="3657600"/>
            <a:ext cx="54864" cy="658368"/>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3u_nt32"/>
          <p:cNvSpPr txBox="1"/>
          <p:nvPr/>
        </p:nvSpPr>
        <p:spPr>
          <a:xfrm>
            <a:off x="658368" y="3657600"/>
            <a:ext cx="7827264" cy="658368"/>
          </a:xfrm>
          <a:prstGeom prst="rect">
            <a:avLst/>
          </a:prstGeom>
          <a:noFill/>
        </p:spPr>
        <p:txBody>
          <a:bodyPr wrap="square" lIns="0" tIns="0" rIns="0" bIns="0" anchor="ctr">
            <a:spAutoFit/>
          </a:bodyPr>
          <a:lstStyle/>
          <a:p>
            <a:pPr algn="l"/>
            <a:r>
              <a:rPr sz="1000" b="1">
                <a:solidFill>
                  <a:srgbClr val="A16207"/>
                </a:solidFill>
                <a:latin typeface="Segoe UI"/>
              </a:rPr>
              <a:t>KEY  </a:t>
            </a:r>
            <a:r>
              <a:rPr sz="1000" b="0">
                <a:solidFill>
                  <a:srgbClr val="44403C"/>
                </a:solidFill>
                <a:latin typeface="Segoe UI"/>
              </a:rPr>
              <a:t>An event is simply a reminder, or notification, of something that is happening or has happened. The Kafka docs put it as: an event records the fact that something happened.</a:t>
            </a:r>
          </a:p>
        </p:txBody>
      </p:sp>
      <p:sp>
        <p:nvSpPr>
          <p:cNvPr id="34" name="ft33"/>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51</a:t>
            </a:r>
          </a:p>
        </p:txBody>
      </p:sp>
      <p:sp>
        <p:nvSpPr>
          <p:cNvPr id="35" name="ft34"/>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ft35"/>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37" name="ft36"/>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8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8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8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8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8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28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6" presetID="2" presetClass="entr" presetSubtype="4"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8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8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18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18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28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28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38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38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childTnLst>
                          </p:cTn>
                        </p:par>
                      </p:childTnLst>
                    </p:cTn>
                  </p:par>
                  <p:par>
                    <p:cTn id="107" fill="hold">
                      <p:stCondLst>
                        <p:cond delay="indefinite"/>
                      </p:stCondLst>
                      <p:childTnLst>
                        <p:par>
                          <p:cTn id="108" fill="hold">
                            <p:stCondLst>
                              <p:cond delay="0"/>
                            </p:stCondLst>
                            <p:childTnLst>
                              <p:par>
                                <p:cTn id="113" presetID="2" presetClass="entr" presetSubtype="4" fill="hold" grpId="0" nodeType="clickEffect">
                                  <p:stCondLst>
                                    <p:cond delay="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8" presetID="2" presetClass="entr" presetSubtype="4" fill="hold" grpId="0" nodeType="withEffect">
                                  <p:stCondLst>
                                    <p:cond delay="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par>
                                <p:cTn id="123" presetID="2" presetClass="entr" presetSubtype="4" fill="hold" grpId="0" nodeType="withEffect">
                                  <p:stCondLst>
                                    <p:cond delay="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Events All Around Us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Every event answers three questions: what happened, when, and with which details</a:t>
            </a:r>
          </a:p>
        </p:txBody>
      </p:sp>
      <p:sp>
        <p:nvSpPr>
          <p:cNvPr id="11" name="a1u_card10"/>
          <p:cNvSpPr/>
          <p:nvPr/>
        </p:nvSpPr>
        <p:spPr>
          <a:xfrm>
            <a:off x="457200" y="1234440"/>
            <a:ext cx="2615184" cy="2926080"/>
          </a:xfrm>
          <a:prstGeom prst="roundRect">
            <a:avLst>
              <a:gd name="adj" fmla="val 419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2615184" cy="50292"/>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q12"/>
          <p:cNvSpPr txBox="1"/>
          <p:nvPr/>
        </p:nvSpPr>
        <p:spPr>
          <a:xfrm>
            <a:off x="640080" y="1389888"/>
            <a:ext cx="2249424" cy="822960"/>
          </a:xfrm>
          <a:prstGeom prst="rect">
            <a:avLst/>
          </a:prstGeom>
          <a:noFill/>
        </p:spPr>
        <p:txBody>
          <a:bodyPr wrap="square" lIns="0" tIns="0" rIns="0" bIns="0" anchor="t">
            <a:spAutoFit/>
          </a:bodyPr>
          <a:lstStyle/>
          <a:p>
            <a:pPr algn="l"/>
            <a:r>
              <a:rPr sz="1150" b="1" i="1">
                <a:solidFill>
                  <a:srgbClr val="1C1917"/>
                </a:solidFill>
                <a:latin typeface="Segoe UI"/>
              </a:rPr>
              <a:t>"Today's stock price is $40 at 10 AM"</a:t>
            </a:r>
          </a:p>
        </p:txBody>
      </p:sp>
      <p:sp>
        <p:nvSpPr>
          <p:cNvPr id="14" name="a1ud100_rk13"/>
          <p:cNvSpPr txBox="1"/>
          <p:nvPr/>
        </p:nvSpPr>
        <p:spPr>
          <a:xfrm>
            <a:off x="640080" y="2331720"/>
            <a:ext cx="2249424" cy="201168"/>
          </a:xfrm>
          <a:prstGeom prst="rect">
            <a:avLst/>
          </a:prstGeom>
          <a:noFill/>
        </p:spPr>
        <p:txBody>
          <a:bodyPr wrap="square" lIns="0" tIns="0" rIns="0" bIns="0" anchor="ctr">
            <a:spAutoFit/>
          </a:bodyPr>
          <a:lstStyle/>
          <a:p>
            <a:pPr algn="l"/>
            <a:r>
              <a:rPr sz="850" b="1">
                <a:solidFill>
                  <a:srgbClr val="EA580C"/>
                </a:solidFill>
                <a:latin typeface="Consolas"/>
              </a:rPr>
              <a:t>WHAT</a:t>
            </a:r>
          </a:p>
        </p:txBody>
      </p:sp>
      <p:sp>
        <p:nvSpPr>
          <p:cNvPr id="15" name="a1ud100_rv14"/>
          <p:cNvSpPr txBox="1"/>
          <p:nvPr/>
        </p:nvSpPr>
        <p:spPr>
          <a:xfrm>
            <a:off x="640080" y="2532888"/>
            <a:ext cx="2249424" cy="274320"/>
          </a:xfrm>
          <a:prstGeom prst="rect">
            <a:avLst/>
          </a:prstGeom>
          <a:noFill/>
        </p:spPr>
        <p:txBody>
          <a:bodyPr wrap="square" lIns="0" tIns="0" rIns="0" bIns="0" anchor="ctr">
            <a:spAutoFit/>
          </a:bodyPr>
          <a:lstStyle/>
          <a:p>
            <a:pPr algn="l"/>
            <a:r>
              <a:rPr sz="1000" b="0">
                <a:solidFill>
                  <a:srgbClr val="44403C"/>
                </a:solidFill>
                <a:latin typeface="Segoe UI"/>
              </a:rPr>
              <a:t>a price changed</a:t>
            </a:r>
          </a:p>
        </p:txBody>
      </p:sp>
      <p:sp>
        <p:nvSpPr>
          <p:cNvPr id="16" name="a1ud180_rk15"/>
          <p:cNvSpPr txBox="1"/>
          <p:nvPr/>
        </p:nvSpPr>
        <p:spPr>
          <a:xfrm>
            <a:off x="640080" y="2898648"/>
            <a:ext cx="2249424" cy="201168"/>
          </a:xfrm>
          <a:prstGeom prst="rect">
            <a:avLst/>
          </a:prstGeom>
          <a:noFill/>
        </p:spPr>
        <p:txBody>
          <a:bodyPr wrap="square" lIns="0" tIns="0" rIns="0" bIns="0" anchor="ctr">
            <a:spAutoFit/>
          </a:bodyPr>
          <a:lstStyle/>
          <a:p>
            <a:pPr algn="l"/>
            <a:r>
              <a:rPr sz="850" b="1">
                <a:solidFill>
                  <a:srgbClr val="EA580C"/>
                </a:solidFill>
                <a:latin typeface="Consolas"/>
              </a:rPr>
              <a:t>WHEN</a:t>
            </a:r>
          </a:p>
        </p:txBody>
      </p:sp>
      <p:sp>
        <p:nvSpPr>
          <p:cNvPr id="17" name="a1ud180_rv16"/>
          <p:cNvSpPr txBox="1"/>
          <p:nvPr/>
        </p:nvSpPr>
        <p:spPr>
          <a:xfrm>
            <a:off x="640080" y="3099816"/>
            <a:ext cx="2249424" cy="274320"/>
          </a:xfrm>
          <a:prstGeom prst="rect">
            <a:avLst/>
          </a:prstGeom>
          <a:noFill/>
        </p:spPr>
        <p:txBody>
          <a:bodyPr wrap="square" lIns="0" tIns="0" rIns="0" bIns="0" anchor="ctr">
            <a:spAutoFit/>
          </a:bodyPr>
          <a:lstStyle/>
          <a:p>
            <a:pPr algn="l"/>
            <a:r>
              <a:rPr sz="1000" b="0">
                <a:solidFill>
                  <a:srgbClr val="44403C"/>
                </a:solidFill>
                <a:latin typeface="Segoe UI"/>
              </a:rPr>
              <a:t>today, 10:00 AM</a:t>
            </a:r>
          </a:p>
        </p:txBody>
      </p:sp>
      <p:sp>
        <p:nvSpPr>
          <p:cNvPr id="18" name="a1ud260_rk17"/>
          <p:cNvSpPr txBox="1"/>
          <p:nvPr/>
        </p:nvSpPr>
        <p:spPr>
          <a:xfrm>
            <a:off x="640080" y="3465576"/>
            <a:ext cx="2249424" cy="201168"/>
          </a:xfrm>
          <a:prstGeom prst="rect">
            <a:avLst/>
          </a:prstGeom>
          <a:noFill/>
        </p:spPr>
        <p:txBody>
          <a:bodyPr wrap="square" lIns="0" tIns="0" rIns="0" bIns="0" anchor="ctr">
            <a:spAutoFit/>
          </a:bodyPr>
          <a:lstStyle/>
          <a:p>
            <a:pPr algn="l"/>
            <a:r>
              <a:rPr sz="850" b="1">
                <a:solidFill>
                  <a:srgbClr val="EA580C"/>
                </a:solidFill>
                <a:latin typeface="Consolas"/>
              </a:rPr>
              <a:t>DETAILS</a:t>
            </a:r>
          </a:p>
        </p:txBody>
      </p:sp>
      <p:sp>
        <p:nvSpPr>
          <p:cNvPr id="19" name="a1ud260_rv18"/>
          <p:cNvSpPr txBox="1"/>
          <p:nvPr/>
        </p:nvSpPr>
        <p:spPr>
          <a:xfrm>
            <a:off x="640080" y="3666744"/>
            <a:ext cx="2249424" cy="274320"/>
          </a:xfrm>
          <a:prstGeom prst="rect">
            <a:avLst/>
          </a:prstGeom>
          <a:noFill/>
        </p:spPr>
        <p:txBody>
          <a:bodyPr wrap="square" lIns="0" tIns="0" rIns="0" bIns="0" anchor="ctr">
            <a:spAutoFit/>
          </a:bodyPr>
          <a:lstStyle/>
          <a:p>
            <a:pPr algn="l"/>
            <a:r>
              <a:rPr sz="1000" b="0">
                <a:solidFill>
                  <a:srgbClr val="44403C"/>
                </a:solidFill>
                <a:latin typeface="Segoe UI"/>
              </a:rPr>
              <a:t>stock price $40</a:t>
            </a:r>
          </a:p>
        </p:txBody>
      </p:sp>
      <p:sp>
        <p:nvSpPr>
          <p:cNvPr id="20" name="a2u_card19"/>
          <p:cNvSpPr/>
          <p:nvPr/>
        </p:nvSpPr>
        <p:spPr>
          <a:xfrm>
            <a:off x="3264408" y="1234440"/>
            <a:ext cx="2615184" cy="2926080"/>
          </a:xfrm>
          <a:prstGeom prst="roundRect">
            <a:avLst>
              <a:gd name="adj" fmla="val 419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_acc20"/>
          <p:cNvSpPr/>
          <p:nvPr/>
        </p:nvSpPr>
        <p:spPr>
          <a:xfrm>
            <a:off x="3264408" y="1234440"/>
            <a:ext cx="2615184" cy="5029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_q21"/>
          <p:cNvSpPr txBox="1"/>
          <p:nvPr/>
        </p:nvSpPr>
        <p:spPr>
          <a:xfrm>
            <a:off x="3447288" y="1389888"/>
            <a:ext cx="2249424" cy="822960"/>
          </a:xfrm>
          <a:prstGeom prst="rect">
            <a:avLst/>
          </a:prstGeom>
          <a:noFill/>
        </p:spPr>
        <p:txBody>
          <a:bodyPr wrap="square" lIns="0" tIns="0" rIns="0" bIns="0" anchor="t">
            <a:spAutoFit/>
          </a:bodyPr>
          <a:lstStyle/>
          <a:p>
            <a:pPr algn="l"/>
            <a:r>
              <a:rPr sz="1150" b="1" i="1">
                <a:solidFill>
                  <a:srgbClr val="1C1917"/>
                </a:solidFill>
                <a:latin typeface="Segoe UI"/>
              </a:rPr>
              <a:t>"I met my friend yesterday at East Coast Road"</a:t>
            </a:r>
          </a:p>
        </p:txBody>
      </p:sp>
      <p:sp>
        <p:nvSpPr>
          <p:cNvPr id="23" name="a2ud100_rk22"/>
          <p:cNvSpPr txBox="1"/>
          <p:nvPr/>
        </p:nvSpPr>
        <p:spPr>
          <a:xfrm>
            <a:off x="3447288" y="2331720"/>
            <a:ext cx="2249424" cy="201168"/>
          </a:xfrm>
          <a:prstGeom prst="rect">
            <a:avLst/>
          </a:prstGeom>
          <a:noFill/>
        </p:spPr>
        <p:txBody>
          <a:bodyPr wrap="square" lIns="0" tIns="0" rIns="0" bIns="0" anchor="ctr">
            <a:spAutoFit/>
          </a:bodyPr>
          <a:lstStyle/>
          <a:p>
            <a:pPr algn="l"/>
            <a:r>
              <a:rPr sz="850" b="1">
                <a:solidFill>
                  <a:srgbClr val="0E7490"/>
                </a:solidFill>
                <a:latin typeface="Consolas"/>
              </a:rPr>
              <a:t>WHAT</a:t>
            </a:r>
          </a:p>
        </p:txBody>
      </p:sp>
      <p:sp>
        <p:nvSpPr>
          <p:cNvPr id="24" name="a2ud100_rv23"/>
          <p:cNvSpPr txBox="1"/>
          <p:nvPr/>
        </p:nvSpPr>
        <p:spPr>
          <a:xfrm>
            <a:off x="3447288" y="2532888"/>
            <a:ext cx="2249424" cy="274320"/>
          </a:xfrm>
          <a:prstGeom prst="rect">
            <a:avLst/>
          </a:prstGeom>
          <a:noFill/>
        </p:spPr>
        <p:txBody>
          <a:bodyPr wrap="square" lIns="0" tIns="0" rIns="0" bIns="0" anchor="ctr">
            <a:spAutoFit/>
          </a:bodyPr>
          <a:lstStyle/>
          <a:p>
            <a:pPr algn="l"/>
            <a:r>
              <a:rPr sz="1000" b="0">
                <a:solidFill>
                  <a:srgbClr val="44403C"/>
                </a:solidFill>
                <a:latin typeface="Segoe UI"/>
              </a:rPr>
              <a:t>a meeting</a:t>
            </a:r>
          </a:p>
        </p:txBody>
      </p:sp>
      <p:sp>
        <p:nvSpPr>
          <p:cNvPr id="25" name="a2ud180_rk24"/>
          <p:cNvSpPr txBox="1"/>
          <p:nvPr/>
        </p:nvSpPr>
        <p:spPr>
          <a:xfrm>
            <a:off x="3447288" y="2898648"/>
            <a:ext cx="2249424" cy="201168"/>
          </a:xfrm>
          <a:prstGeom prst="rect">
            <a:avLst/>
          </a:prstGeom>
          <a:noFill/>
        </p:spPr>
        <p:txBody>
          <a:bodyPr wrap="square" lIns="0" tIns="0" rIns="0" bIns="0" anchor="ctr">
            <a:spAutoFit/>
          </a:bodyPr>
          <a:lstStyle/>
          <a:p>
            <a:pPr algn="l"/>
            <a:r>
              <a:rPr sz="850" b="1">
                <a:solidFill>
                  <a:srgbClr val="0E7490"/>
                </a:solidFill>
                <a:latin typeface="Consolas"/>
              </a:rPr>
              <a:t>WHEN</a:t>
            </a:r>
          </a:p>
        </p:txBody>
      </p:sp>
      <p:sp>
        <p:nvSpPr>
          <p:cNvPr id="26" name="a2ud180_rv25"/>
          <p:cNvSpPr txBox="1"/>
          <p:nvPr/>
        </p:nvSpPr>
        <p:spPr>
          <a:xfrm>
            <a:off x="3447288" y="3099816"/>
            <a:ext cx="2249424" cy="274320"/>
          </a:xfrm>
          <a:prstGeom prst="rect">
            <a:avLst/>
          </a:prstGeom>
          <a:noFill/>
        </p:spPr>
        <p:txBody>
          <a:bodyPr wrap="square" lIns="0" tIns="0" rIns="0" bIns="0" anchor="ctr">
            <a:spAutoFit/>
          </a:bodyPr>
          <a:lstStyle/>
          <a:p>
            <a:pPr algn="l"/>
            <a:r>
              <a:rPr sz="1000" b="0">
                <a:solidFill>
                  <a:srgbClr val="44403C"/>
                </a:solidFill>
                <a:latin typeface="Segoe UI"/>
              </a:rPr>
              <a:t>yesterday</a:t>
            </a:r>
          </a:p>
        </p:txBody>
      </p:sp>
      <p:sp>
        <p:nvSpPr>
          <p:cNvPr id="27" name="a2ud260_rk26"/>
          <p:cNvSpPr txBox="1"/>
          <p:nvPr/>
        </p:nvSpPr>
        <p:spPr>
          <a:xfrm>
            <a:off x="3447288" y="3465576"/>
            <a:ext cx="2249424" cy="201168"/>
          </a:xfrm>
          <a:prstGeom prst="rect">
            <a:avLst/>
          </a:prstGeom>
          <a:noFill/>
        </p:spPr>
        <p:txBody>
          <a:bodyPr wrap="square" lIns="0" tIns="0" rIns="0" bIns="0" anchor="ctr">
            <a:spAutoFit/>
          </a:bodyPr>
          <a:lstStyle/>
          <a:p>
            <a:pPr algn="l"/>
            <a:r>
              <a:rPr sz="850" b="1">
                <a:solidFill>
                  <a:srgbClr val="0E7490"/>
                </a:solidFill>
                <a:latin typeface="Consolas"/>
              </a:rPr>
              <a:t>DETAILS</a:t>
            </a:r>
          </a:p>
        </p:txBody>
      </p:sp>
      <p:sp>
        <p:nvSpPr>
          <p:cNvPr id="28" name="a2ud260_rv27"/>
          <p:cNvSpPr txBox="1"/>
          <p:nvPr/>
        </p:nvSpPr>
        <p:spPr>
          <a:xfrm>
            <a:off x="3447288" y="3666744"/>
            <a:ext cx="2249424" cy="274320"/>
          </a:xfrm>
          <a:prstGeom prst="rect">
            <a:avLst/>
          </a:prstGeom>
          <a:noFill/>
        </p:spPr>
        <p:txBody>
          <a:bodyPr wrap="square" lIns="0" tIns="0" rIns="0" bIns="0" anchor="ctr">
            <a:spAutoFit/>
          </a:bodyPr>
          <a:lstStyle/>
          <a:p>
            <a:pPr algn="l"/>
            <a:r>
              <a:rPr sz="1000" b="0">
                <a:solidFill>
                  <a:srgbClr val="44403C"/>
                </a:solidFill>
                <a:latin typeface="Segoe UI"/>
              </a:rPr>
              <a:t>friend, East Coast Road</a:t>
            </a:r>
          </a:p>
        </p:txBody>
      </p:sp>
      <p:sp>
        <p:nvSpPr>
          <p:cNvPr id="29" name="a3u_card28"/>
          <p:cNvSpPr/>
          <p:nvPr/>
        </p:nvSpPr>
        <p:spPr>
          <a:xfrm>
            <a:off x="6071616" y="1234440"/>
            <a:ext cx="2615184" cy="2926080"/>
          </a:xfrm>
          <a:prstGeom prst="roundRect">
            <a:avLst>
              <a:gd name="adj" fmla="val 419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_acc29"/>
          <p:cNvSpPr/>
          <p:nvPr/>
        </p:nvSpPr>
        <p:spPr>
          <a:xfrm>
            <a:off x="6071616" y="1234440"/>
            <a:ext cx="2615184" cy="50292"/>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u_q30"/>
          <p:cNvSpPr txBox="1"/>
          <p:nvPr/>
        </p:nvSpPr>
        <p:spPr>
          <a:xfrm>
            <a:off x="6254496" y="1389888"/>
            <a:ext cx="2249424" cy="822960"/>
          </a:xfrm>
          <a:prstGeom prst="rect">
            <a:avLst/>
          </a:prstGeom>
          <a:noFill/>
        </p:spPr>
        <p:txBody>
          <a:bodyPr wrap="square" lIns="0" tIns="0" rIns="0" bIns="0" anchor="t">
            <a:spAutoFit/>
          </a:bodyPr>
          <a:lstStyle/>
          <a:p>
            <a:pPr algn="l"/>
            <a:r>
              <a:rPr sz="1150" b="1" i="1">
                <a:solidFill>
                  <a:srgbClr val="1C1917"/>
                </a:solidFill>
                <a:latin typeface="Segoe UI"/>
              </a:rPr>
              <a:t>"Made a payment of $500 to Ramesh"</a:t>
            </a:r>
          </a:p>
        </p:txBody>
      </p:sp>
      <p:sp>
        <p:nvSpPr>
          <p:cNvPr id="32" name="a3ud100_rk31"/>
          <p:cNvSpPr txBox="1"/>
          <p:nvPr/>
        </p:nvSpPr>
        <p:spPr>
          <a:xfrm>
            <a:off x="6254496" y="2331720"/>
            <a:ext cx="2249424" cy="201168"/>
          </a:xfrm>
          <a:prstGeom prst="rect">
            <a:avLst/>
          </a:prstGeom>
          <a:noFill/>
        </p:spPr>
        <p:txBody>
          <a:bodyPr wrap="square" lIns="0" tIns="0" rIns="0" bIns="0" anchor="ctr">
            <a:spAutoFit/>
          </a:bodyPr>
          <a:lstStyle/>
          <a:p>
            <a:pPr algn="l"/>
            <a:r>
              <a:rPr sz="850" b="1">
                <a:solidFill>
                  <a:srgbClr val="A16207"/>
                </a:solidFill>
                <a:latin typeface="Consolas"/>
              </a:rPr>
              <a:t>WHAT</a:t>
            </a:r>
          </a:p>
        </p:txBody>
      </p:sp>
      <p:sp>
        <p:nvSpPr>
          <p:cNvPr id="33" name="a3ud100_rv32"/>
          <p:cNvSpPr txBox="1"/>
          <p:nvPr/>
        </p:nvSpPr>
        <p:spPr>
          <a:xfrm>
            <a:off x="6254496" y="2532888"/>
            <a:ext cx="2249424" cy="274320"/>
          </a:xfrm>
          <a:prstGeom prst="rect">
            <a:avLst/>
          </a:prstGeom>
          <a:noFill/>
        </p:spPr>
        <p:txBody>
          <a:bodyPr wrap="square" lIns="0" tIns="0" rIns="0" bIns="0" anchor="ctr">
            <a:spAutoFit/>
          </a:bodyPr>
          <a:lstStyle/>
          <a:p>
            <a:pPr algn="l"/>
            <a:r>
              <a:rPr sz="1000" b="0">
                <a:solidFill>
                  <a:srgbClr val="44403C"/>
                </a:solidFill>
                <a:latin typeface="Segoe UI"/>
              </a:rPr>
              <a:t>a payment</a:t>
            </a:r>
          </a:p>
        </p:txBody>
      </p:sp>
      <p:sp>
        <p:nvSpPr>
          <p:cNvPr id="34" name="a3ud180_rk33"/>
          <p:cNvSpPr txBox="1"/>
          <p:nvPr/>
        </p:nvSpPr>
        <p:spPr>
          <a:xfrm>
            <a:off x="6254496" y="2898648"/>
            <a:ext cx="2249424" cy="201168"/>
          </a:xfrm>
          <a:prstGeom prst="rect">
            <a:avLst/>
          </a:prstGeom>
          <a:noFill/>
        </p:spPr>
        <p:txBody>
          <a:bodyPr wrap="square" lIns="0" tIns="0" rIns="0" bIns="0" anchor="ctr">
            <a:spAutoFit/>
          </a:bodyPr>
          <a:lstStyle/>
          <a:p>
            <a:pPr algn="l"/>
            <a:r>
              <a:rPr sz="850" b="1">
                <a:solidFill>
                  <a:srgbClr val="A16207"/>
                </a:solidFill>
                <a:latin typeface="Consolas"/>
              </a:rPr>
              <a:t>WHEN</a:t>
            </a:r>
          </a:p>
        </p:txBody>
      </p:sp>
      <p:sp>
        <p:nvSpPr>
          <p:cNvPr id="35" name="a3ud180_rv34"/>
          <p:cNvSpPr txBox="1"/>
          <p:nvPr/>
        </p:nvSpPr>
        <p:spPr>
          <a:xfrm>
            <a:off x="6254496" y="3099816"/>
            <a:ext cx="2249424" cy="274320"/>
          </a:xfrm>
          <a:prstGeom prst="rect">
            <a:avLst/>
          </a:prstGeom>
          <a:noFill/>
        </p:spPr>
        <p:txBody>
          <a:bodyPr wrap="square" lIns="0" tIns="0" rIns="0" bIns="0" anchor="ctr">
            <a:spAutoFit/>
          </a:bodyPr>
          <a:lstStyle/>
          <a:p>
            <a:pPr algn="l"/>
            <a:r>
              <a:rPr sz="1000" b="0">
                <a:solidFill>
                  <a:srgbClr val="44403C"/>
                </a:solidFill>
                <a:latin typeface="Segoe UI"/>
              </a:rPr>
              <a:t>just now</a:t>
            </a:r>
          </a:p>
        </p:txBody>
      </p:sp>
      <p:sp>
        <p:nvSpPr>
          <p:cNvPr id="36" name="a3ud260_rk35"/>
          <p:cNvSpPr txBox="1"/>
          <p:nvPr/>
        </p:nvSpPr>
        <p:spPr>
          <a:xfrm>
            <a:off x="6254496" y="3465576"/>
            <a:ext cx="2249424" cy="201168"/>
          </a:xfrm>
          <a:prstGeom prst="rect">
            <a:avLst/>
          </a:prstGeom>
          <a:noFill/>
        </p:spPr>
        <p:txBody>
          <a:bodyPr wrap="square" lIns="0" tIns="0" rIns="0" bIns="0" anchor="ctr">
            <a:spAutoFit/>
          </a:bodyPr>
          <a:lstStyle/>
          <a:p>
            <a:pPr algn="l"/>
            <a:r>
              <a:rPr sz="850" b="1">
                <a:solidFill>
                  <a:srgbClr val="A16207"/>
                </a:solidFill>
                <a:latin typeface="Consolas"/>
              </a:rPr>
              <a:t>DETAILS</a:t>
            </a:r>
          </a:p>
        </p:txBody>
      </p:sp>
      <p:sp>
        <p:nvSpPr>
          <p:cNvPr id="37" name="a3ud260_rv36"/>
          <p:cNvSpPr txBox="1"/>
          <p:nvPr/>
        </p:nvSpPr>
        <p:spPr>
          <a:xfrm>
            <a:off x="6254496" y="3666744"/>
            <a:ext cx="2249424" cy="274320"/>
          </a:xfrm>
          <a:prstGeom prst="rect">
            <a:avLst/>
          </a:prstGeom>
          <a:noFill/>
        </p:spPr>
        <p:txBody>
          <a:bodyPr wrap="square" lIns="0" tIns="0" rIns="0" bIns="0" anchor="ctr">
            <a:spAutoFit/>
          </a:bodyPr>
          <a:lstStyle/>
          <a:p>
            <a:pPr algn="l"/>
            <a:r>
              <a:rPr sz="1000" b="0">
                <a:solidFill>
                  <a:srgbClr val="44403C"/>
                </a:solidFill>
                <a:latin typeface="Segoe UI"/>
              </a:rPr>
              <a:t>$500, to Ramesh</a:t>
            </a:r>
          </a:p>
        </p:txBody>
      </p:sp>
      <p:sp>
        <p:nvSpPr>
          <p:cNvPr id="38" name="ft3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52</a:t>
            </a:r>
          </a:p>
        </p:txBody>
      </p:sp>
      <p:sp>
        <p:nvSpPr>
          <p:cNvPr id="39" name="ft3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ft3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1" name="ft4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8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8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6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26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6" presetID="2" presetClass="entr" presetSubtype="4"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10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10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18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18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26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26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childTnLst>
                          </p:cTn>
                        </p:par>
                      </p:childTnLst>
                    </p:cTn>
                  </p:par>
                  <p:par>
                    <p:cTn id="97" fill="hold">
                      <p:stCondLst>
                        <p:cond delay="indefinite"/>
                      </p:stCondLst>
                      <p:childTnLst>
                        <p:par>
                          <p:cTn id="98" fill="hold">
                            <p:stCondLst>
                              <p:cond delay="0"/>
                            </p:stCondLst>
                            <p:childTnLst>
                              <p:par>
                                <p:cTn id="103" presetID="2" presetClass="entr" presetSubtype="4" fill="hold" grpId="0" nodeType="clickEffect">
                                  <p:stCondLst>
                                    <p:cond delay="0"/>
                                  </p:stCondLst>
                                  <p:childTnLst>
                                    <p:set>
                                      <p:cBhvr>
                                        <p:cTn id="99" dur="1" fill="hold">
                                          <p:stCondLst>
                                            <p:cond delay="0"/>
                                          </p:stCondLst>
                                        </p:cTn>
                                        <p:tgtEl>
                                          <p:spTgt spid="29"/>
                                        </p:tgtEl>
                                        <p:attrNameLst>
                                          <p:attrName>style.visibility</p:attrName>
                                        </p:attrNameLst>
                                      </p:cBhvr>
                                      <p:to>
                                        <p:strVal val="visible"/>
                                      </p:to>
                                    </p:set>
                                    <p:anim calcmode="lin" valueType="num">
                                      <p:cBhvr additive="base">
                                        <p:cTn id="100" dur="500" fill="hold"/>
                                        <p:tgtEl>
                                          <p:spTgt spid="29"/>
                                        </p:tgtEl>
                                        <p:attrNameLst>
                                          <p:attrName>ppt_x</p:attrName>
                                        </p:attrNameLst>
                                      </p:cBhvr>
                                      <p:tavLst>
                                        <p:tav tm="0">
                                          <p:val>
                                            <p:strVal val="#ppt_x"/>
                                          </p:val>
                                        </p:tav>
                                        <p:tav tm="100000">
                                          <p:val>
                                            <p:strVal val="#ppt_x"/>
                                          </p:val>
                                        </p:tav>
                                      </p:tavLst>
                                    </p:anim>
                                    <p:anim calcmode="lin" valueType="num">
                                      <p:cBhvr additive="base">
                                        <p:cTn id="101" dur="500" fill="hold"/>
                                        <p:tgtEl>
                                          <p:spTgt spid="29"/>
                                        </p:tgtEl>
                                        <p:attrNameLst>
                                          <p:attrName>ppt_y</p:attrName>
                                        </p:attrNameLst>
                                      </p:cBhvr>
                                      <p:tavLst>
                                        <p:tav tm="0">
                                          <p:val>
                                            <p:strVal val="#ppt_y+0.1"/>
                                          </p:val>
                                        </p:tav>
                                        <p:tav tm="100000">
                                          <p:val>
                                            <p:strVal val="#ppt_y"/>
                                          </p:val>
                                        </p:tav>
                                      </p:tavLst>
                                    </p:anim>
                                    <p:animEffect transition="in" filter="fade">
                                      <p:cBhvr>
                                        <p:cTn id="102" dur="500"/>
                                        <p:tgtEl>
                                          <p:spTgt spid="29"/>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ppt_x"/>
                                          </p:val>
                                        </p:tav>
                                        <p:tav tm="100000">
                                          <p:val>
                                            <p:strVal val="#ppt_x"/>
                                          </p:val>
                                        </p:tav>
                                      </p:tavLst>
                                    </p:anim>
                                    <p:anim calcmode="lin" valueType="num">
                                      <p:cBhvr additive="base">
                                        <p:cTn id="106" dur="500" fill="hold"/>
                                        <p:tgtEl>
                                          <p:spTgt spid="30"/>
                                        </p:tgtEl>
                                        <p:attrNameLst>
                                          <p:attrName>ppt_y</p:attrName>
                                        </p:attrNameLst>
                                      </p:cBhvr>
                                      <p:tavLst>
                                        <p:tav tm="0">
                                          <p:val>
                                            <p:strVal val="#ppt_y+0.1"/>
                                          </p:val>
                                        </p:tav>
                                        <p:tav tm="100000">
                                          <p:val>
                                            <p:strVal val="#ppt_y"/>
                                          </p:val>
                                        </p:tav>
                                      </p:tavLst>
                                    </p:anim>
                                    <p:animEffect transition="in" filter="fade">
                                      <p:cBhvr>
                                        <p:cTn id="107" dur="500"/>
                                        <p:tgtEl>
                                          <p:spTgt spid="30"/>
                                        </p:tgtEl>
                                      </p:cBhvr>
                                    </p:animEffect>
                                  </p:childTnLst>
                                </p:cTn>
                              </p:par>
                              <p:par>
                                <p:cTn id="113" presetID="2" presetClass="entr" presetSubtype="4" fill="hold" grpId="0" nodeType="withEffect">
                                  <p:stCondLst>
                                    <p:cond delay="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8" presetID="2" presetClass="entr" presetSubtype="4" fill="hold" grpId="0" nodeType="withEffect">
                                  <p:stCondLst>
                                    <p:cond delay="10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par>
                                <p:cTn id="123" presetID="2" presetClass="entr" presetSubtype="4" fill="hold" grpId="0" nodeType="withEffect">
                                  <p:stCondLst>
                                    <p:cond delay="10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par>
                                <p:cTn id="128" presetID="2" presetClass="entr" presetSubtype="4" fill="hold" grpId="0" nodeType="withEffect">
                                  <p:stCondLst>
                                    <p:cond delay="18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par>
                                <p:cTn id="133" presetID="2" presetClass="entr" presetSubtype="4" fill="hold" grpId="0" nodeType="withEffect">
                                  <p:stCondLst>
                                    <p:cond delay="18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par>
                                <p:cTn id="138" presetID="2" presetClass="entr" presetSubtype="4" fill="hold" grpId="0" nodeType="withEffect">
                                  <p:stCondLst>
                                    <p:cond delay="260"/>
                                  </p:stCondLst>
                                  <p:childTnLst>
                                    <p:set>
                                      <p:cBhvr>
                                        <p:cTn id="134" dur="1" fill="hold">
                                          <p:stCondLst>
                                            <p:cond delay="0"/>
                                          </p:stCondLst>
                                        </p:cTn>
                                        <p:tgtEl>
                                          <p:spTgt spid="36"/>
                                        </p:tgtEl>
                                        <p:attrNameLst>
                                          <p:attrName>style.visibility</p:attrName>
                                        </p:attrNameLst>
                                      </p:cBhvr>
                                      <p:to>
                                        <p:strVal val="visible"/>
                                      </p:to>
                                    </p:set>
                                    <p:anim calcmode="lin" valueType="num">
                                      <p:cBhvr additive="base">
                                        <p:cTn id="135" dur="500" fill="hold"/>
                                        <p:tgtEl>
                                          <p:spTgt spid="36"/>
                                        </p:tgtEl>
                                        <p:attrNameLst>
                                          <p:attrName>ppt_x</p:attrName>
                                        </p:attrNameLst>
                                      </p:cBhvr>
                                      <p:tavLst>
                                        <p:tav tm="0">
                                          <p:val>
                                            <p:strVal val="#ppt_x"/>
                                          </p:val>
                                        </p:tav>
                                        <p:tav tm="100000">
                                          <p:val>
                                            <p:strVal val="#ppt_x"/>
                                          </p:val>
                                        </p:tav>
                                      </p:tavLst>
                                    </p:anim>
                                    <p:anim calcmode="lin" valueType="num">
                                      <p:cBhvr additive="base">
                                        <p:cTn id="136" dur="500" fill="hold"/>
                                        <p:tgtEl>
                                          <p:spTgt spid="36"/>
                                        </p:tgtEl>
                                        <p:attrNameLst>
                                          <p:attrName>ppt_y</p:attrName>
                                        </p:attrNameLst>
                                      </p:cBhvr>
                                      <p:tavLst>
                                        <p:tav tm="0">
                                          <p:val>
                                            <p:strVal val="#ppt_y+0.1"/>
                                          </p:val>
                                        </p:tav>
                                        <p:tav tm="100000">
                                          <p:val>
                                            <p:strVal val="#ppt_y"/>
                                          </p:val>
                                        </p:tav>
                                      </p:tavLst>
                                    </p:anim>
                                    <p:animEffect transition="in" filter="fade">
                                      <p:cBhvr>
                                        <p:cTn id="137" dur="500"/>
                                        <p:tgtEl>
                                          <p:spTgt spid="36"/>
                                        </p:tgtEl>
                                      </p:cBhvr>
                                    </p:animEffect>
                                  </p:childTnLst>
                                </p:cTn>
                              </p:par>
                              <p:par>
                                <p:cTn id="143" presetID="2" presetClass="entr" presetSubtype="4" fill="hold" grpId="0" nodeType="withEffect">
                                  <p:stCondLst>
                                    <p:cond delay="260"/>
                                  </p:stCondLst>
                                  <p:childTnLst>
                                    <p:set>
                                      <p:cBhvr>
                                        <p:cTn id="139" dur="1" fill="hold">
                                          <p:stCondLst>
                                            <p:cond delay="0"/>
                                          </p:stCondLst>
                                        </p:cTn>
                                        <p:tgtEl>
                                          <p:spTgt spid="37"/>
                                        </p:tgtEl>
                                        <p:attrNameLst>
                                          <p:attrName>style.visibility</p:attrName>
                                        </p:attrNameLst>
                                      </p:cBhvr>
                                      <p:to>
                                        <p:strVal val="visible"/>
                                      </p:to>
                                    </p:set>
                                    <p:anim calcmode="lin" valueType="num">
                                      <p:cBhvr additive="base">
                                        <p:cTn id="140" dur="500" fill="hold"/>
                                        <p:tgtEl>
                                          <p:spTgt spid="37"/>
                                        </p:tgtEl>
                                        <p:attrNameLst>
                                          <p:attrName>ppt_x</p:attrName>
                                        </p:attrNameLst>
                                      </p:cBhvr>
                                      <p:tavLst>
                                        <p:tav tm="0">
                                          <p:val>
                                            <p:strVal val="#ppt_x"/>
                                          </p:val>
                                        </p:tav>
                                        <p:tav tm="100000">
                                          <p:val>
                                            <p:strVal val="#ppt_x"/>
                                          </p:val>
                                        </p:tav>
                                      </p:tavLst>
                                    </p:anim>
                                    <p:anim calcmode="lin" valueType="num">
                                      <p:cBhvr additive="base">
                                        <p:cTn id="141" dur="500" fill="hold"/>
                                        <p:tgtEl>
                                          <p:spTgt spid="37"/>
                                        </p:tgtEl>
                                        <p:attrNameLst>
                                          <p:attrName>ppt_y</p:attrName>
                                        </p:attrNameLst>
                                      </p:cBhvr>
                                      <p:tavLst>
                                        <p:tav tm="0">
                                          <p:val>
                                            <p:strVal val="#ppt_y+0.1"/>
                                          </p:val>
                                        </p:tav>
                                        <p:tav tm="100000">
                                          <p:val>
                                            <p:strVal val="#ppt_y"/>
                                          </p:val>
                                        </p:tav>
                                      </p:tavLst>
                                    </p:anim>
                                    <p:animEffect transition="in" filter="fade">
                                      <p:cBhvr>
                                        <p:cTn id="14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An Event = Notification + State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It tells you THAT something happened - and WHAT it was</a:t>
            </a:r>
          </a:p>
        </p:txBody>
      </p:sp>
      <p:sp>
        <p:nvSpPr>
          <p:cNvPr id="11" name="a1u_card10"/>
          <p:cNvSpPr/>
          <p:nvPr/>
        </p:nvSpPr>
        <p:spPr>
          <a:xfrm>
            <a:off x="457200" y="1234440"/>
            <a:ext cx="4023360" cy="1737360"/>
          </a:xfrm>
          <a:prstGeom prst="roundRect">
            <a:avLst>
              <a:gd name="adj" fmla="val 631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50292" cy="173736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44168"/>
            <a:ext cx="3657600" cy="237744"/>
          </a:xfrm>
          <a:prstGeom prst="rect">
            <a:avLst/>
          </a:prstGeom>
          <a:noFill/>
        </p:spPr>
        <p:txBody>
          <a:bodyPr wrap="square" lIns="0" tIns="0" rIns="0" bIns="0" anchor="ctr">
            <a:spAutoFit/>
          </a:bodyPr>
          <a:lstStyle/>
          <a:p>
            <a:pPr algn="l"/>
            <a:r>
              <a:rPr sz="900" b="1">
                <a:solidFill>
                  <a:srgbClr val="EA580C"/>
                </a:solidFill>
                <a:latin typeface="Segoe UI"/>
              </a:rPr>
              <a:t>NOTIFICATION  ·  THE 'WHEN'</a:t>
            </a:r>
          </a:p>
        </p:txBody>
      </p:sp>
      <p:sp>
        <p:nvSpPr>
          <p:cNvPr id="14" name="a1ud80_dot13"/>
          <p:cNvSpPr/>
          <p:nvPr/>
        </p:nvSpPr>
        <p:spPr>
          <a:xfrm>
            <a:off x="658368" y="178765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80_b14"/>
          <p:cNvSpPr txBox="1"/>
          <p:nvPr/>
        </p:nvSpPr>
        <p:spPr>
          <a:xfrm>
            <a:off x="877824" y="1691640"/>
            <a:ext cx="3401568" cy="466344"/>
          </a:xfrm>
          <a:prstGeom prst="rect">
            <a:avLst/>
          </a:prstGeom>
          <a:noFill/>
        </p:spPr>
        <p:txBody>
          <a:bodyPr wrap="square" lIns="0" tIns="0" rIns="0" bIns="0" anchor="t">
            <a:spAutoFit/>
          </a:bodyPr>
          <a:lstStyle/>
          <a:p>
            <a:pPr algn="l"/>
            <a:r>
              <a:rPr sz="950" b="0">
                <a:solidFill>
                  <a:srgbClr val="44403C"/>
                </a:solidFill>
                <a:latin typeface="Segoe UI"/>
              </a:rPr>
              <a:t>Something happened, at a point in time</a:t>
            </a:r>
          </a:p>
        </p:txBody>
      </p:sp>
      <p:sp>
        <p:nvSpPr>
          <p:cNvPr id="16" name="a1ud180_dot15"/>
          <p:cNvSpPr/>
          <p:nvPr/>
        </p:nvSpPr>
        <p:spPr>
          <a:xfrm>
            <a:off x="658368" y="229057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180_b16"/>
          <p:cNvSpPr txBox="1"/>
          <p:nvPr/>
        </p:nvSpPr>
        <p:spPr>
          <a:xfrm>
            <a:off x="877824" y="2194560"/>
            <a:ext cx="3401568" cy="466344"/>
          </a:xfrm>
          <a:prstGeom prst="rect">
            <a:avLst/>
          </a:prstGeom>
          <a:noFill/>
        </p:spPr>
        <p:txBody>
          <a:bodyPr wrap="square" lIns="0" tIns="0" rIns="0" bIns="0" anchor="t">
            <a:spAutoFit/>
          </a:bodyPr>
          <a:lstStyle/>
          <a:p>
            <a:pPr algn="l"/>
            <a:r>
              <a:rPr sz="950" b="0">
                <a:solidFill>
                  <a:srgbClr val="44403C"/>
                </a:solidFill>
                <a:latin typeface="Segoe UI"/>
              </a:rPr>
              <a:t>It can trigger other work: send the SMS, update the dashboard</a:t>
            </a:r>
          </a:p>
        </p:txBody>
      </p:sp>
      <p:sp>
        <p:nvSpPr>
          <p:cNvPr id="18" name="a2u_card17"/>
          <p:cNvSpPr/>
          <p:nvPr/>
        </p:nvSpPr>
        <p:spPr>
          <a:xfrm>
            <a:off x="4663440" y="1234440"/>
            <a:ext cx="4023360" cy="1737360"/>
          </a:xfrm>
          <a:prstGeom prst="roundRect">
            <a:avLst>
              <a:gd name="adj" fmla="val 631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2u_acc18"/>
          <p:cNvSpPr/>
          <p:nvPr/>
        </p:nvSpPr>
        <p:spPr>
          <a:xfrm>
            <a:off x="4663440" y="1234440"/>
            <a:ext cx="50292" cy="173736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u_hh19"/>
          <p:cNvSpPr txBox="1"/>
          <p:nvPr/>
        </p:nvSpPr>
        <p:spPr>
          <a:xfrm>
            <a:off x="4864607" y="1344168"/>
            <a:ext cx="3657600" cy="237744"/>
          </a:xfrm>
          <a:prstGeom prst="rect">
            <a:avLst/>
          </a:prstGeom>
          <a:noFill/>
        </p:spPr>
        <p:txBody>
          <a:bodyPr wrap="square" lIns="0" tIns="0" rIns="0" bIns="0" anchor="ctr">
            <a:spAutoFit/>
          </a:bodyPr>
          <a:lstStyle/>
          <a:p>
            <a:pPr algn="l"/>
            <a:r>
              <a:rPr sz="900" b="1">
                <a:solidFill>
                  <a:srgbClr val="0E7490"/>
                </a:solidFill>
                <a:latin typeface="Segoe UI"/>
              </a:rPr>
              <a:t>STATE  ·  THE 'WHAT'</a:t>
            </a:r>
          </a:p>
        </p:txBody>
      </p:sp>
      <p:sp>
        <p:nvSpPr>
          <p:cNvPr id="21" name="a2ud80_dot20"/>
          <p:cNvSpPr/>
          <p:nvPr/>
        </p:nvSpPr>
        <p:spPr>
          <a:xfrm>
            <a:off x="4864607" y="1787652"/>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d80_b21"/>
          <p:cNvSpPr txBox="1"/>
          <p:nvPr/>
        </p:nvSpPr>
        <p:spPr>
          <a:xfrm>
            <a:off x="5084064" y="1691640"/>
            <a:ext cx="3401568" cy="466344"/>
          </a:xfrm>
          <a:prstGeom prst="rect">
            <a:avLst/>
          </a:prstGeom>
          <a:noFill/>
        </p:spPr>
        <p:txBody>
          <a:bodyPr wrap="square" lIns="0" tIns="0" rIns="0" bIns="0" anchor="t">
            <a:spAutoFit/>
          </a:bodyPr>
          <a:lstStyle/>
          <a:p>
            <a:pPr algn="l"/>
            <a:r>
              <a:rPr sz="950" b="0">
                <a:solidFill>
                  <a:srgbClr val="44403C"/>
                </a:solidFill>
                <a:latin typeface="Segoe UI"/>
              </a:rPr>
              <a:t>The data describing it: who, what, how much</a:t>
            </a:r>
          </a:p>
        </p:txBody>
      </p:sp>
      <p:sp>
        <p:nvSpPr>
          <p:cNvPr id="23" name="a2ud180_dot22"/>
          <p:cNvSpPr/>
          <p:nvPr/>
        </p:nvSpPr>
        <p:spPr>
          <a:xfrm>
            <a:off x="4864607" y="2290572"/>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d180_b23"/>
          <p:cNvSpPr txBox="1"/>
          <p:nvPr/>
        </p:nvSpPr>
        <p:spPr>
          <a:xfrm>
            <a:off x="5084064" y="2194560"/>
            <a:ext cx="3401568" cy="466344"/>
          </a:xfrm>
          <a:prstGeom prst="rect">
            <a:avLst/>
          </a:prstGeom>
          <a:noFill/>
        </p:spPr>
        <p:txBody>
          <a:bodyPr wrap="square" lIns="0" tIns="0" rIns="0" bIns="0" anchor="t">
            <a:spAutoFit/>
          </a:bodyPr>
          <a:lstStyle/>
          <a:p>
            <a:pPr algn="l"/>
            <a:r>
              <a:rPr sz="950" b="0">
                <a:solidFill>
                  <a:srgbClr val="44403C"/>
                </a:solidFill>
                <a:latin typeface="Segoe UI"/>
              </a:rPr>
              <a:t>Usually small - kilobytes, not megabytes</a:t>
            </a:r>
          </a:p>
        </p:txBody>
      </p:sp>
      <p:sp>
        <p:nvSpPr>
          <p:cNvPr id="25" name="a3f_codebg24"/>
          <p:cNvSpPr/>
          <p:nvPr/>
        </p:nvSpPr>
        <p:spPr>
          <a:xfrm>
            <a:off x="457200" y="3154680"/>
            <a:ext cx="8229600" cy="1307592"/>
          </a:xfrm>
          <a:prstGeom prst="roundRect">
            <a:avLst>
              <a:gd name="adj" fmla="val 5594"/>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3f_codeh25"/>
          <p:cNvSpPr txBox="1"/>
          <p:nvPr/>
        </p:nvSpPr>
        <p:spPr>
          <a:xfrm>
            <a:off x="603504" y="3209544"/>
            <a:ext cx="7936992" cy="219456"/>
          </a:xfrm>
          <a:prstGeom prst="rect">
            <a:avLst/>
          </a:prstGeom>
          <a:noFill/>
        </p:spPr>
        <p:txBody>
          <a:bodyPr wrap="square" lIns="0" tIns="0" rIns="0" bIns="0" anchor="ctr">
            <a:spAutoFit/>
          </a:bodyPr>
          <a:lstStyle/>
          <a:p>
            <a:pPr algn="l"/>
            <a:r>
              <a:rPr sz="950" b="1">
                <a:solidFill>
                  <a:srgbClr val="A8A29E"/>
                </a:solidFill>
                <a:latin typeface="Consolas"/>
              </a:rPr>
              <a:t>one event, the way the Kafka docs write it</a:t>
            </a:r>
          </a:p>
        </p:txBody>
      </p:sp>
      <p:sp>
        <p:nvSpPr>
          <p:cNvPr id="27" name="a3f_codesep26"/>
          <p:cNvSpPr/>
          <p:nvPr/>
        </p:nvSpPr>
        <p:spPr>
          <a:xfrm>
            <a:off x="603504" y="3483864"/>
            <a:ext cx="7936992"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w_code27"/>
          <p:cNvSpPr txBox="1"/>
          <p:nvPr/>
        </p:nvSpPr>
        <p:spPr>
          <a:xfrm>
            <a:off x="603504" y="3575304"/>
            <a:ext cx="7936992" cy="246888"/>
          </a:xfrm>
          <a:prstGeom prst="rect">
            <a:avLst/>
          </a:prstGeom>
          <a:noFill/>
        </p:spPr>
        <p:txBody>
          <a:bodyPr wrap="none" lIns="0" tIns="0" rIns="0" bIns="0" anchor="ctr">
            <a:spAutoFit/>
          </a:bodyPr>
          <a:lstStyle/>
          <a:p>
            <a:pPr algn="l"/>
            <a:r>
              <a:rPr sz="1050" b="1">
                <a:solidFill>
                  <a:srgbClr val="FDBA74"/>
                </a:solidFill>
                <a:latin typeface="Consolas"/>
              </a:rPr>
              <a:t>event key        customer-101</a:t>
            </a:r>
          </a:p>
        </p:txBody>
      </p:sp>
      <p:sp>
        <p:nvSpPr>
          <p:cNvPr id="29" name="a3wd150_code28"/>
          <p:cNvSpPr txBox="1"/>
          <p:nvPr/>
        </p:nvSpPr>
        <p:spPr>
          <a:xfrm>
            <a:off x="603504" y="3822191"/>
            <a:ext cx="7936992" cy="246888"/>
          </a:xfrm>
          <a:prstGeom prst="rect">
            <a:avLst/>
          </a:prstGeom>
          <a:noFill/>
        </p:spPr>
        <p:txBody>
          <a:bodyPr wrap="none" lIns="0" tIns="0" rIns="0" bIns="0" anchor="ctr">
            <a:spAutoFit/>
          </a:bodyPr>
          <a:lstStyle/>
          <a:p>
            <a:pPr algn="l"/>
            <a:r>
              <a:rPr sz="1050" b="0">
                <a:solidFill>
                  <a:srgbClr val="E7E5E4"/>
                </a:solidFill>
                <a:latin typeface="Consolas"/>
              </a:rPr>
              <a:t>event value      Made a payment of $500 to Ramesh</a:t>
            </a:r>
          </a:p>
        </p:txBody>
      </p:sp>
      <p:sp>
        <p:nvSpPr>
          <p:cNvPr id="30" name="a3wd300_code29"/>
          <p:cNvSpPr txBox="1"/>
          <p:nvPr/>
        </p:nvSpPr>
        <p:spPr>
          <a:xfrm>
            <a:off x="603504" y="4069080"/>
            <a:ext cx="7936992" cy="246888"/>
          </a:xfrm>
          <a:prstGeom prst="rect">
            <a:avLst/>
          </a:prstGeom>
          <a:noFill/>
        </p:spPr>
        <p:txBody>
          <a:bodyPr wrap="none" lIns="0" tIns="0" rIns="0" bIns="0" anchor="ctr">
            <a:spAutoFit/>
          </a:bodyPr>
          <a:lstStyle/>
          <a:p>
            <a:pPr algn="l"/>
            <a:r>
              <a:rPr sz="1050" b="0">
                <a:solidFill>
                  <a:srgbClr val="67E8F9"/>
                </a:solidFill>
                <a:latin typeface="Consolas"/>
              </a:rPr>
              <a:t>event timestamp  17 Jul 2023 at 3:50 p.m.</a:t>
            </a:r>
          </a:p>
        </p:txBody>
      </p:sp>
      <p:sp>
        <p:nvSpPr>
          <p:cNvPr id="31" name="ft3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53</a:t>
            </a:r>
          </a:p>
        </p:txBody>
      </p:sp>
      <p:sp>
        <p:nvSpPr>
          <p:cNvPr id="32" name="ft3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ft3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34" name="ft3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8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8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8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8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6" presetID="2" presetClass="entr" presetSubtype="4"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ppt_y+0.1"/>
                                          </p:val>
                                        </p:tav>
                                        <p:tav tm="100000">
                                          <p:val>
                                            <p:strVal val="#ppt_y"/>
                                          </p:val>
                                        </p:tav>
                                      </p:tavLst>
                                    </p:anim>
                                    <p:animEffect transition="in" filter="fade">
                                      <p:cBhvr>
                                        <p:cTn id="45" dur="500"/>
                                        <p:tgtEl>
                                          <p:spTgt spid="18"/>
                                        </p:tgtEl>
                                      </p:cBhvr>
                                    </p:animEffect>
                                  </p:childTnLst>
                                </p:cTn>
                              </p:par>
                              <p:par>
                                <p:cTn id="51" presetID="2" presetClass="entr" presetSubtype="4"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ppt_x</p:attrName>
                                        </p:attrNameLst>
                                      </p:cBhvr>
                                      <p:tavLst>
                                        <p:tav tm="0">
                                          <p:val>
                                            <p:strVal val="#ppt_x"/>
                                          </p:val>
                                        </p:tav>
                                        <p:tav tm="100000">
                                          <p:val>
                                            <p:strVal val="#ppt_x"/>
                                          </p:val>
                                        </p:tav>
                                      </p:tavLst>
                                    </p:anim>
                                    <p:anim calcmode="lin" valueType="num">
                                      <p:cBhvr additive="base">
                                        <p:cTn id="49" dur="500" fill="hold"/>
                                        <p:tgtEl>
                                          <p:spTgt spid="19"/>
                                        </p:tgtEl>
                                        <p:attrNameLst>
                                          <p:attrName>ppt_y</p:attrName>
                                        </p:attrNameLst>
                                      </p:cBhvr>
                                      <p:tavLst>
                                        <p:tav tm="0">
                                          <p:val>
                                            <p:strVal val="#ppt_y+0.1"/>
                                          </p:val>
                                        </p:tav>
                                        <p:tav tm="100000">
                                          <p:val>
                                            <p:strVal val="#ppt_y"/>
                                          </p:val>
                                        </p:tav>
                                      </p:tavLst>
                                    </p:anim>
                                    <p:animEffect transition="in" filter="fade">
                                      <p:cBhvr>
                                        <p:cTn id="50" dur="500"/>
                                        <p:tgtEl>
                                          <p:spTgt spid="19"/>
                                        </p:tgtEl>
                                      </p:cBhvr>
                                    </p:animEffect>
                                  </p:childTnLst>
                                </p:cTn>
                              </p:par>
                              <p:par>
                                <p:cTn id="56" presetID="2" presetClass="entr" presetSubtype="4"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par>
                                <p:cTn id="61" presetID="2" presetClass="entr" presetSubtype="4" fill="hold" grpId="0" nodeType="withEffect">
                                  <p:stCondLst>
                                    <p:cond delay="8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8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18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18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childTnLst>
                          </p:cTn>
                        </p:par>
                      </p:childTnLst>
                    </p:cTn>
                  </p:par>
                  <p:par>
                    <p:cTn id="77" fill="hold">
                      <p:stCondLst>
                        <p:cond delay="indefinite"/>
                      </p:stCondLst>
                      <p:childTnLst>
                        <p:par>
                          <p:cTn id="78" fill="hold">
                            <p:stCondLst>
                              <p:cond delay="0"/>
                            </p:stCondLst>
                            <p:childTnLst>
                              <p:par>
                                <p:cTn id="81" presetID="10" presetClass="entr" presetSubtype="0" fill="hold" grpId="0" nodeType="click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500"/>
                                        <p:tgtEl>
                                          <p:spTgt spid="25"/>
                                        </p:tgtEl>
                                      </p:cBhvr>
                                    </p:animEffect>
                                  </p:childTnLst>
                                </p:cTn>
                              </p:par>
                              <p:par>
                                <p:cTn id="84" presetID="10" presetClass="entr" presetSubtype="0"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500"/>
                                        <p:tgtEl>
                                          <p:spTgt spid="26"/>
                                        </p:tgtEl>
                                      </p:cBhvr>
                                    </p:animEffect>
                                  </p:childTnLst>
                                </p:cTn>
                              </p:par>
                              <p:par>
                                <p:cTn id="87" presetID="10" presetClass="entr" presetSubtype="0" fill="hold" grpId="0" nodeType="with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500"/>
                                        <p:tgtEl>
                                          <p:spTgt spid="27"/>
                                        </p:tgtEl>
                                      </p:cBhvr>
                                    </p:animEffect>
                                  </p:childTnLst>
                                </p:cTn>
                              </p:par>
                              <p:par>
                                <p:cTn id="90" presetID="22" presetClass="entr" presetSubtype="8"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wipe(left)">
                                      <p:cBhvr>
                                        <p:cTn id="89" dur="500"/>
                                        <p:tgtEl>
                                          <p:spTgt spid="28"/>
                                        </p:tgtEl>
                                      </p:cBhvr>
                                    </p:animEffect>
                                  </p:childTnLst>
                                </p:cTn>
                              </p:par>
                              <p:par>
                                <p:cTn id="93" presetID="22" presetClass="entr" presetSubtype="8" fill="hold" grpId="0" nodeType="withEffect">
                                  <p:stCondLst>
                                    <p:cond delay="150"/>
                                  </p:stCondLst>
                                  <p:childTnLst>
                                    <p:set>
                                      <p:cBhvr>
                                        <p:cTn id="91" dur="1" fill="hold">
                                          <p:stCondLst>
                                            <p:cond delay="0"/>
                                          </p:stCondLst>
                                        </p:cTn>
                                        <p:tgtEl>
                                          <p:spTgt spid="29"/>
                                        </p:tgtEl>
                                        <p:attrNameLst>
                                          <p:attrName>style.visibility</p:attrName>
                                        </p:attrNameLst>
                                      </p:cBhvr>
                                      <p:to>
                                        <p:strVal val="visible"/>
                                      </p:to>
                                    </p:set>
                                    <p:animEffect transition="in" filter="wipe(left)">
                                      <p:cBhvr>
                                        <p:cTn id="92" dur="500"/>
                                        <p:tgtEl>
                                          <p:spTgt spid="29"/>
                                        </p:tgtEl>
                                      </p:cBhvr>
                                    </p:animEffect>
                                  </p:childTnLst>
                                </p:cTn>
                              </p:par>
                              <p:par>
                                <p:cTn id="96" presetID="22" presetClass="entr" presetSubtype="8" fill="hold" grpId="0" nodeType="withEffect">
                                  <p:stCondLst>
                                    <p:cond delay="300"/>
                                  </p:stCondLst>
                                  <p:childTnLst>
                                    <p:set>
                                      <p:cBhvr>
                                        <p:cTn id="94" dur="1" fill="hold">
                                          <p:stCondLst>
                                            <p:cond delay="0"/>
                                          </p:stCondLst>
                                        </p:cTn>
                                        <p:tgtEl>
                                          <p:spTgt spid="30"/>
                                        </p:tgtEl>
                                        <p:attrNameLst>
                                          <p:attrName>style.visibility</p:attrName>
                                        </p:attrNameLst>
                                      </p:cBhvr>
                                      <p:to>
                                        <p:strVal val="visible"/>
                                      </p:to>
                                    </p:set>
                                    <p:animEffect transition="in" filter="wipe(left)">
                                      <p:cBhvr>
                                        <p:cTn id="9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State Is Data - Usually Stored as a Table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 state of a thing - a user, a customer, a product - is traditionally a row in a table</a:t>
            </a:r>
          </a:p>
        </p:txBody>
      </p:sp>
      <p:sp>
        <p:nvSpPr>
          <p:cNvPr id="11" name="a1f_tl10"/>
          <p:cNvSpPr txBox="1"/>
          <p:nvPr/>
        </p:nvSpPr>
        <p:spPr>
          <a:xfrm>
            <a:off x="457200" y="1234440"/>
            <a:ext cx="6400800" cy="219456"/>
          </a:xfrm>
          <a:prstGeom prst="rect">
            <a:avLst/>
          </a:prstGeom>
          <a:noFill/>
        </p:spPr>
        <p:txBody>
          <a:bodyPr wrap="square" lIns="0" tIns="0" rIns="0" bIns="0" anchor="ctr">
            <a:spAutoFit/>
          </a:bodyPr>
          <a:lstStyle/>
          <a:p>
            <a:pPr algn="l"/>
            <a:r>
              <a:rPr sz="1000" b="1">
                <a:solidFill>
                  <a:srgbClr val="C2410C"/>
                </a:solidFill>
                <a:latin typeface="Segoe UI"/>
              </a:rPr>
              <a:t>USER table</a:t>
            </a:r>
          </a:p>
        </p:txBody>
      </p:sp>
      <p:sp>
        <p:nvSpPr>
          <p:cNvPr id="12" name="a1f_th11"/>
          <p:cNvSpPr/>
          <p:nvPr/>
        </p:nvSpPr>
        <p:spPr>
          <a:xfrm>
            <a:off x="457200" y="1508760"/>
            <a:ext cx="548640" cy="3474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f_tht12"/>
          <p:cNvSpPr txBox="1"/>
          <p:nvPr/>
        </p:nvSpPr>
        <p:spPr>
          <a:xfrm>
            <a:off x="530352" y="1508760"/>
            <a:ext cx="438912" cy="347472"/>
          </a:xfrm>
          <a:prstGeom prst="rect">
            <a:avLst/>
          </a:prstGeom>
          <a:noFill/>
        </p:spPr>
        <p:txBody>
          <a:bodyPr wrap="square" lIns="0" tIns="0" rIns="0" bIns="0" anchor="ctr">
            <a:spAutoFit/>
          </a:bodyPr>
          <a:lstStyle/>
          <a:p>
            <a:pPr algn="l"/>
            <a:r>
              <a:rPr sz="1000" b="1">
                <a:solidFill>
                  <a:srgbClr val="FFFFFF"/>
                </a:solidFill>
                <a:latin typeface="Consolas"/>
              </a:rPr>
              <a:t>id</a:t>
            </a:r>
          </a:p>
        </p:txBody>
      </p:sp>
      <p:sp>
        <p:nvSpPr>
          <p:cNvPr id="14" name="a1wd150_td13"/>
          <p:cNvSpPr/>
          <p:nvPr/>
        </p:nvSpPr>
        <p:spPr>
          <a:xfrm>
            <a:off x="457200" y="1856232"/>
            <a:ext cx="548640" cy="34747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wd150_tdt14"/>
          <p:cNvSpPr txBox="1"/>
          <p:nvPr/>
        </p:nvSpPr>
        <p:spPr>
          <a:xfrm>
            <a:off x="530352" y="1856232"/>
            <a:ext cx="438912" cy="347472"/>
          </a:xfrm>
          <a:prstGeom prst="rect">
            <a:avLst/>
          </a:prstGeom>
          <a:noFill/>
        </p:spPr>
        <p:txBody>
          <a:bodyPr wrap="square" lIns="0" tIns="0" rIns="0" bIns="0" anchor="ctr">
            <a:spAutoFit/>
          </a:bodyPr>
          <a:lstStyle/>
          <a:p>
            <a:pPr algn="l"/>
            <a:r>
              <a:rPr sz="1000" b="0">
                <a:solidFill>
                  <a:srgbClr val="44403C"/>
                </a:solidFill>
                <a:latin typeface="Consolas"/>
              </a:rPr>
              <a:t>101</a:t>
            </a:r>
          </a:p>
        </p:txBody>
      </p:sp>
      <p:sp>
        <p:nvSpPr>
          <p:cNvPr id="16" name="a1wd300_td15"/>
          <p:cNvSpPr/>
          <p:nvPr/>
        </p:nvSpPr>
        <p:spPr>
          <a:xfrm>
            <a:off x="457200" y="2203704"/>
            <a:ext cx="548640" cy="347472"/>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wd300_tdt16"/>
          <p:cNvSpPr txBox="1"/>
          <p:nvPr/>
        </p:nvSpPr>
        <p:spPr>
          <a:xfrm>
            <a:off x="530352" y="2203704"/>
            <a:ext cx="438912" cy="347472"/>
          </a:xfrm>
          <a:prstGeom prst="rect">
            <a:avLst/>
          </a:prstGeom>
          <a:noFill/>
        </p:spPr>
        <p:txBody>
          <a:bodyPr wrap="square" lIns="0" tIns="0" rIns="0" bIns="0" anchor="ctr">
            <a:spAutoFit/>
          </a:bodyPr>
          <a:lstStyle/>
          <a:p>
            <a:pPr algn="l"/>
            <a:r>
              <a:rPr sz="1000" b="0">
                <a:solidFill>
                  <a:srgbClr val="44403C"/>
                </a:solidFill>
                <a:latin typeface="Consolas"/>
              </a:rPr>
              <a:t>102</a:t>
            </a:r>
          </a:p>
        </p:txBody>
      </p:sp>
      <p:sp>
        <p:nvSpPr>
          <p:cNvPr id="18" name="a1wd450_td17"/>
          <p:cNvSpPr/>
          <p:nvPr/>
        </p:nvSpPr>
        <p:spPr>
          <a:xfrm>
            <a:off x="457200" y="2551176"/>
            <a:ext cx="548640" cy="34747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wd450_tdt18"/>
          <p:cNvSpPr txBox="1"/>
          <p:nvPr/>
        </p:nvSpPr>
        <p:spPr>
          <a:xfrm>
            <a:off x="530352" y="2551176"/>
            <a:ext cx="438912" cy="347472"/>
          </a:xfrm>
          <a:prstGeom prst="rect">
            <a:avLst/>
          </a:prstGeom>
          <a:noFill/>
        </p:spPr>
        <p:txBody>
          <a:bodyPr wrap="square" lIns="0" tIns="0" rIns="0" bIns="0" anchor="ctr">
            <a:spAutoFit/>
          </a:bodyPr>
          <a:lstStyle/>
          <a:p>
            <a:pPr algn="l"/>
            <a:r>
              <a:rPr sz="1000" b="0">
                <a:solidFill>
                  <a:srgbClr val="44403C"/>
                </a:solidFill>
                <a:latin typeface="Consolas"/>
              </a:rPr>
              <a:t>103</a:t>
            </a:r>
          </a:p>
        </p:txBody>
      </p:sp>
      <p:sp>
        <p:nvSpPr>
          <p:cNvPr id="20" name="a1f_th19"/>
          <p:cNvSpPr/>
          <p:nvPr/>
        </p:nvSpPr>
        <p:spPr>
          <a:xfrm>
            <a:off x="1005840" y="1508760"/>
            <a:ext cx="1188720" cy="3474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f_tht20"/>
          <p:cNvSpPr txBox="1"/>
          <p:nvPr/>
        </p:nvSpPr>
        <p:spPr>
          <a:xfrm>
            <a:off x="1078992" y="1508760"/>
            <a:ext cx="1078992" cy="347472"/>
          </a:xfrm>
          <a:prstGeom prst="rect">
            <a:avLst/>
          </a:prstGeom>
          <a:noFill/>
        </p:spPr>
        <p:txBody>
          <a:bodyPr wrap="square" lIns="0" tIns="0" rIns="0" bIns="0" anchor="ctr">
            <a:spAutoFit/>
          </a:bodyPr>
          <a:lstStyle/>
          <a:p>
            <a:pPr algn="l"/>
            <a:r>
              <a:rPr sz="900" b="1">
                <a:solidFill>
                  <a:srgbClr val="FFFFFF"/>
                </a:solidFill>
                <a:latin typeface="Segoe UI"/>
              </a:rPr>
              <a:t>name</a:t>
            </a:r>
          </a:p>
        </p:txBody>
      </p:sp>
      <p:sp>
        <p:nvSpPr>
          <p:cNvPr id="22" name="a1wd150_td21"/>
          <p:cNvSpPr/>
          <p:nvPr/>
        </p:nvSpPr>
        <p:spPr>
          <a:xfrm>
            <a:off x="1005840" y="1856232"/>
            <a:ext cx="1188720" cy="34747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wd150_tdt22"/>
          <p:cNvSpPr txBox="1"/>
          <p:nvPr/>
        </p:nvSpPr>
        <p:spPr>
          <a:xfrm>
            <a:off x="1078992" y="1856232"/>
            <a:ext cx="1078992" cy="347472"/>
          </a:xfrm>
          <a:prstGeom prst="rect">
            <a:avLst/>
          </a:prstGeom>
          <a:noFill/>
        </p:spPr>
        <p:txBody>
          <a:bodyPr wrap="square" lIns="0" tIns="0" rIns="0" bIns="0" anchor="ctr">
            <a:spAutoFit/>
          </a:bodyPr>
          <a:lstStyle/>
          <a:p>
            <a:pPr algn="l"/>
            <a:r>
              <a:rPr sz="900" b="0">
                <a:solidFill>
                  <a:srgbClr val="44403C"/>
                </a:solidFill>
                <a:latin typeface="Segoe UI"/>
              </a:rPr>
              <a:t>Priya</a:t>
            </a:r>
          </a:p>
        </p:txBody>
      </p:sp>
      <p:sp>
        <p:nvSpPr>
          <p:cNvPr id="24" name="a1wd300_td23"/>
          <p:cNvSpPr/>
          <p:nvPr/>
        </p:nvSpPr>
        <p:spPr>
          <a:xfrm>
            <a:off x="1005840" y="2203704"/>
            <a:ext cx="1188720" cy="347472"/>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wd300_tdt24"/>
          <p:cNvSpPr txBox="1"/>
          <p:nvPr/>
        </p:nvSpPr>
        <p:spPr>
          <a:xfrm>
            <a:off x="1078992" y="2203704"/>
            <a:ext cx="1078992" cy="347472"/>
          </a:xfrm>
          <a:prstGeom prst="rect">
            <a:avLst/>
          </a:prstGeom>
          <a:noFill/>
        </p:spPr>
        <p:txBody>
          <a:bodyPr wrap="square" lIns="0" tIns="0" rIns="0" bIns="0" anchor="ctr">
            <a:spAutoFit/>
          </a:bodyPr>
          <a:lstStyle/>
          <a:p>
            <a:pPr algn="l"/>
            <a:r>
              <a:rPr sz="900" b="0">
                <a:solidFill>
                  <a:srgbClr val="44403C"/>
                </a:solidFill>
                <a:latin typeface="Segoe UI"/>
              </a:rPr>
              <a:t>Arjun</a:t>
            </a:r>
          </a:p>
        </p:txBody>
      </p:sp>
      <p:sp>
        <p:nvSpPr>
          <p:cNvPr id="26" name="a1wd450_td25"/>
          <p:cNvSpPr/>
          <p:nvPr/>
        </p:nvSpPr>
        <p:spPr>
          <a:xfrm>
            <a:off x="1005840" y="2551176"/>
            <a:ext cx="1188720" cy="34747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wd450_tdt26"/>
          <p:cNvSpPr txBox="1"/>
          <p:nvPr/>
        </p:nvSpPr>
        <p:spPr>
          <a:xfrm>
            <a:off x="1078992" y="2551176"/>
            <a:ext cx="1078992" cy="347472"/>
          </a:xfrm>
          <a:prstGeom prst="rect">
            <a:avLst/>
          </a:prstGeom>
          <a:noFill/>
        </p:spPr>
        <p:txBody>
          <a:bodyPr wrap="square" lIns="0" tIns="0" rIns="0" bIns="0" anchor="ctr">
            <a:spAutoFit/>
          </a:bodyPr>
          <a:lstStyle/>
          <a:p>
            <a:pPr algn="l"/>
            <a:r>
              <a:rPr sz="900" b="0">
                <a:solidFill>
                  <a:srgbClr val="44403C"/>
                </a:solidFill>
                <a:latin typeface="Segoe UI"/>
              </a:rPr>
              <a:t>Meera</a:t>
            </a:r>
          </a:p>
        </p:txBody>
      </p:sp>
      <p:sp>
        <p:nvSpPr>
          <p:cNvPr id="28" name="a1f_th27"/>
          <p:cNvSpPr/>
          <p:nvPr/>
        </p:nvSpPr>
        <p:spPr>
          <a:xfrm>
            <a:off x="2194560" y="1508760"/>
            <a:ext cx="2103120" cy="3474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f_tht28"/>
          <p:cNvSpPr txBox="1"/>
          <p:nvPr/>
        </p:nvSpPr>
        <p:spPr>
          <a:xfrm>
            <a:off x="2267712" y="1508760"/>
            <a:ext cx="1993391" cy="347472"/>
          </a:xfrm>
          <a:prstGeom prst="rect">
            <a:avLst/>
          </a:prstGeom>
          <a:noFill/>
        </p:spPr>
        <p:txBody>
          <a:bodyPr wrap="square" lIns="0" tIns="0" rIns="0" bIns="0" anchor="ctr">
            <a:spAutoFit/>
          </a:bodyPr>
          <a:lstStyle/>
          <a:p>
            <a:pPr algn="l"/>
            <a:r>
              <a:rPr sz="1000" b="1">
                <a:solidFill>
                  <a:srgbClr val="FFFFFF"/>
                </a:solidFill>
                <a:latin typeface="Consolas"/>
              </a:rPr>
              <a:t>email</a:t>
            </a:r>
          </a:p>
        </p:txBody>
      </p:sp>
      <p:sp>
        <p:nvSpPr>
          <p:cNvPr id="30" name="a1wd150_td29"/>
          <p:cNvSpPr/>
          <p:nvPr/>
        </p:nvSpPr>
        <p:spPr>
          <a:xfrm>
            <a:off x="2194560" y="1856232"/>
            <a:ext cx="2103120" cy="34747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1wd150_tdt30"/>
          <p:cNvSpPr txBox="1"/>
          <p:nvPr/>
        </p:nvSpPr>
        <p:spPr>
          <a:xfrm>
            <a:off x="2267712" y="1856232"/>
            <a:ext cx="1993391" cy="347472"/>
          </a:xfrm>
          <a:prstGeom prst="rect">
            <a:avLst/>
          </a:prstGeom>
          <a:noFill/>
        </p:spPr>
        <p:txBody>
          <a:bodyPr wrap="square" lIns="0" tIns="0" rIns="0" bIns="0" anchor="ctr">
            <a:spAutoFit/>
          </a:bodyPr>
          <a:lstStyle/>
          <a:p>
            <a:pPr algn="l"/>
            <a:r>
              <a:rPr sz="1000" b="0">
                <a:solidFill>
                  <a:srgbClr val="44403C"/>
                </a:solidFill>
                <a:latin typeface="Consolas"/>
              </a:rPr>
              <a:t>priya@example.com</a:t>
            </a:r>
          </a:p>
        </p:txBody>
      </p:sp>
      <p:sp>
        <p:nvSpPr>
          <p:cNvPr id="32" name="a1wd300_td31"/>
          <p:cNvSpPr/>
          <p:nvPr/>
        </p:nvSpPr>
        <p:spPr>
          <a:xfrm>
            <a:off x="2194560" y="2203704"/>
            <a:ext cx="2103120" cy="347472"/>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1wd300_tdt32"/>
          <p:cNvSpPr txBox="1"/>
          <p:nvPr/>
        </p:nvSpPr>
        <p:spPr>
          <a:xfrm>
            <a:off x="2267712" y="2203704"/>
            <a:ext cx="1993391" cy="347472"/>
          </a:xfrm>
          <a:prstGeom prst="rect">
            <a:avLst/>
          </a:prstGeom>
          <a:noFill/>
        </p:spPr>
        <p:txBody>
          <a:bodyPr wrap="square" lIns="0" tIns="0" rIns="0" bIns="0" anchor="ctr">
            <a:spAutoFit/>
          </a:bodyPr>
          <a:lstStyle/>
          <a:p>
            <a:pPr algn="l"/>
            <a:r>
              <a:rPr sz="1000" b="0">
                <a:solidFill>
                  <a:srgbClr val="44403C"/>
                </a:solidFill>
                <a:latin typeface="Consolas"/>
              </a:rPr>
              <a:t>arjun@example.com</a:t>
            </a:r>
          </a:p>
        </p:txBody>
      </p:sp>
      <p:sp>
        <p:nvSpPr>
          <p:cNvPr id="34" name="a1wd450_td33"/>
          <p:cNvSpPr/>
          <p:nvPr/>
        </p:nvSpPr>
        <p:spPr>
          <a:xfrm>
            <a:off x="2194560" y="2551176"/>
            <a:ext cx="2103120" cy="34747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1wd450_tdt34"/>
          <p:cNvSpPr txBox="1"/>
          <p:nvPr/>
        </p:nvSpPr>
        <p:spPr>
          <a:xfrm>
            <a:off x="2267712" y="2551176"/>
            <a:ext cx="1993391" cy="347472"/>
          </a:xfrm>
          <a:prstGeom prst="rect">
            <a:avLst/>
          </a:prstGeom>
          <a:noFill/>
        </p:spPr>
        <p:txBody>
          <a:bodyPr wrap="square" lIns="0" tIns="0" rIns="0" bIns="0" anchor="ctr">
            <a:spAutoFit/>
          </a:bodyPr>
          <a:lstStyle/>
          <a:p>
            <a:pPr algn="l"/>
            <a:r>
              <a:rPr sz="1000" b="0">
                <a:solidFill>
                  <a:srgbClr val="44403C"/>
                </a:solidFill>
                <a:latin typeface="Consolas"/>
              </a:rPr>
              <a:t>meera@example.com</a:t>
            </a:r>
          </a:p>
        </p:txBody>
      </p:sp>
      <p:sp>
        <p:nvSpPr>
          <p:cNvPr id="36" name="a1f_th35"/>
          <p:cNvSpPr/>
          <p:nvPr/>
        </p:nvSpPr>
        <p:spPr>
          <a:xfrm>
            <a:off x="4297680" y="1508760"/>
            <a:ext cx="1280160" cy="3474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1f_tht36"/>
          <p:cNvSpPr txBox="1"/>
          <p:nvPr/>
        </p:nvSpPr>
        <p:spPr>
          <a:xfrm>
            <a:off x="4370832" y="1508760"/>
            <a:ext cx="1170431" cy="347472"/>
          </a:xfrm>
          <a:prstGeom prst="rect">
            <a:avLst/>
          </a:prstGeom>
          <a:noFill/>
        </p:spPr>
        <p:txBody>
          <a:bodyPr wrap="square" lIns="0" tIns="0" rIns="0" bIns="0" anchor="ctr">
            <a:spAutoFit/>
          </a:bodyPr>
          <a:lstStyle/>
          <a:p>
            <a:pPr algn="l"/>
            <a:r>
              <a:rPr sz="1000" b="1">
                <a:solidFill>
                  <a:srgbClr val="FFFFFF"/>
                </a:solidFill>
                <a:latin typeface="Consolas"/>
              </a:rPr>
              <a:t>password</a:t>
            </a:r>
          </a:p>
        </p:txBody>
      </p:sp>
      <p:sp>
        <p:nvSpPr>
          <p:cNvPr id="38" name="a1wd150_td37"/>
          <p:cNvSpPr/>
          <p:nvPr/>
        </p:nvSpPr>
        <p:spPr>
          <a:xfrm>
            <a:off x="4297680" y="1856232"/>
            <a:ext cx="1280160" cy="34747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1wd150_tdt38"/>
          <p:cNvSpPr txBox="1"/>
          <p:nvPr/>
        </p:nvSpPr>
        <p:spPr>
          <a:xfrm>
            <a:off x="4370832" y="1856232"/>
            <a:ext cx="1170431" cy="347472"/>
          </a:xfrm>
          <a:prstGeom prst="rect">
            <a:avLst/>
          </a:prstGeom>
          <a:noFill/>
        </p:spPr>
        <p:txBody>
          <a:bodyPr wrap="square" lIns="0" tIns="0" rIns="0" bIns="0" anchor="ctr">
            <a:spAutoFit/>
          </a:bodyPr>
          <a:lstStyle/>
          <a:p>
            <a:pPr algn="l"/>
            <a:r>
              <a:rPr sz="1000" b="0">
                <a:solidFill>
                  <a:srgbClr val="44403C"/>
                </a:solidFill>
                <a:latin typeface="Consolas"/>
              </a:rPr>
              <a:t>********</a:t>
            </a:r>
          </a:p>
        </p:txBody>
      </p:sp>
      <p:sp>
        <p:nvSpPr>
          <p:cNvPr id="40" name="a1wd300_td39"/>
          <p:cNvSpPr/>
          <p:nvPr/>
        </p:nvSpPr>
        <p:spPr>
          <a:xfrm>
            <a:off x="4297680" y="2203704"/>
            <a:ext cx="1280160" cy="347472"/>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1wd300_tdt40"/>
          <p:cNvSpPr txBox="1"/>
          <p:nvPr/>
        </p:nvSpPr>
        <p:spPr>
          <a:xfrm>
            <a:off x="4370832" y="2203704"/>
            <a:ext cx="1170431" cy="347472"/>
          </a:xfrm>
          <a:prstGeom prst="rect">
            <a:avLst/>
          </a:prstGeom>
          <a:noFill/>
        </p:spPr>
        <p:txBody>
          <a:bodyPr wrap="square" lIns="0" tIns="0" rIns="0" bIns="0" anchor="ctr">
            <a:spAutoFit/>
          </a:bodyPr>
          <a:lstStyle/>
          <a:p>
            <a:pPr algn="l"/>
            <a:r>
              <a:rPr sz="1000" b="0">
                <a:solidFill>
                  <a:srgbClr val="44403C"/>
                </a:solidFill>
                <a:latin typeface="Consolas"/>
              </a:rPr>
              <a:t>********</a:t>
            </a:r>
          </a:p>
        </p:txBody>
      </p:sp>
      <p:sp>
        <p:nvSpPr>
          <p:cNvPr id="42" name="a1wd450_td41"/>
          <p:cNvSpPr/>
          <p:nvPr/>
        </p:nvSpPr>
        <p:spPr>
          <a:xfrm>
            <a:off x="4297680" y="2551176"/>
            <a:ext cx="1280160" cy="34747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1wd450_tdt42"/>
          <p:cNvSpPr txBox="1"/>
          <p:nvPr/>
        </p:nvSpPr>
        <p:spPr>
          <a:xfrm>
            <a:off x="4370832" y="2551176"/>
            <a:ext cx="1170431" cy="347472"/>
          </a:xfrm>
          <a:prstGeom prst="rect">
            <a:avLst/>
          </a:prstGeom>
          <a:noFill/>
        </p:spPr>
        <p:txBody>
          <a:bodyPr wrap="square" lIns="0" tIns="0" rIns="0" bIns="0" anchor="ctr">
            <a:spAutoFit/>
          </a:bodyPr>
          <a:lstStyle/>
          <a:p>
            <a:pPr algn="l"/>
            <a:r>
              <a:rPr sz="1000" b="0">
                <a:solidFill>
                  <a:srgbClr val="44403C"/>
                </a:solidFill>
                <a:latin typeface="Consolas"/>
              </a:rPr>
              <a:t>********</a:t>
            </a:r>
          </a:p>
        </p:txBody>
      </p:sp>
      <p:sp>
        <p:nvSpPr>
          <p:cNvPr id="44" name="a1f_th43"/>
          <p:cNvSpPr/>
          <p:nvPr/>
        </p:nvSpPr>
        <p:spPr>
          <a:xfrm>
            <a:off x="5577840" y="1508760"/>
            <a:ext cx="1280160" cy="3474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1f_tht44"/>
          <p:cNvSpPr txBox="1"/>
          <p:nvPr/>
        </p:nvSpPr>
        <p:spPr>
          <a:xfrm>
            <a:off x="5650992" y="1508760"/>
            <a:ext cx="1170431" cy="347472"/>
          </a:xfrm>
          <a:prstGeom prst="rect">
            <a:avLst/>
          </a:prstGeom>
          <a:noFill/>
        </p:spPr>
        <p:txBody>
          <a:bodyPr wrap="square" lIns="0" tIns="0" rIns="0" bIns="0" anchor="ctr">
            <a:spAutoFit/>
          </a:bodyPr>
          <a:lstStyle/>
          <a:p>
            <a:pPr algn="l"/>
            <a:r>
              <a:rPr sz="900" b="1">
                <a:solidFill>
                  <a:srgbClr val="FFFFFF"/>
                </a:solidFill>
                <a:latin typeface="Segoe UI"/>
              </a:rPr>
              <a:t>city</a:t>
            </a:r>
          </a:p>
        </p:txBody>
      </p:sp>
      <p:sp>
        <p:nvSpPr>
          <p:cNvPr id="46" name="a1wd150_td45"/>
          <p:cNvSpPr/>
          <p:nvPr/>
        </p:nvSpPr>
        <p:spPr>
          <a:xfrm>
            <a:off x="5577840" y="1856232"/>
            <a:ext cx="1280160" cy="34747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1wd150_tdt46"/>
          <p:cNvSpPr txBox="1"/>
          <p:nvPr/>
        </p:nvSpPr>
        <p:spPr>
          <a:xfrm>
            <a:off x="5650992" y="1856232"/>
            <a:ext cx="1170431" cy="347472"/>
          </a:xfrm>
          <a:prstGeom prst="rect">
            <a:avLst/>
          </a:prstGeom>
          <a:noFill/>
        </p:spPr>
        <p:txBody>
          <a:bodyPr wrap="square" lIns="0" tIns="0" rIns="0" bIns="0" anchor="ctr">
            <a:spAutoFit/>
          </a:bodyPr>
          <a:lstStyle/>
          <a:p>
            <a:pPr algn="l"/>
            <a:r>
              <a:rPr sz="900" b="0">
                <a:solidFill>
                  <a:srgbClr val="44403C"/>
                </a:solidFill>
                <a:latin typeface="Segoe UI"/>
              </a:rPr>
              <a:t>Chennai</a:t>
            </a:r>
          </a:p>
        </p:txBody>
      </p:sp>
      <p:sp>
        <p:nvSpPr>
          <p:cNvPr id="48" name="a1wd300_td47"/>
          <p:cNvSpPr/>
          <p:nvPr/>
        </p:nvSpPr>
        <p:spPr>
          <a:xfrm>
            <a:off x="5577840" y="2203704"/>
            <a:ext cx="1280160" cy="347472"/>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1wd300_tdt48"/>
          <p:cNvSpPr txBox="1"/>
          <p:nvPr/>
        </p:nvSpPr>
        <p:spPr>
          <a:xfrm>
            <a:off x="5650992" y="2203704"/>
            <a:ext cx="1170431" cy="347472"/>
          </a:xfrm>
          <a:prstGeom prst="rect">
            <a:avLst/>
          </a:prstGeom>
          <a:noFill/>
        </p:spPr>
        <p:txBody>
          <a:bodyPr wrap="square" lIns="0" tIns="0" rIns="0" bIns="0" anchor="ctr">
            <a:spAutoFit/>
          </a:bodyPr>
          <a:lstStyle/>
          <a:p>
            <a:pPr algn="l"/>
            <a:r>
              <a:rPr sz="900" b="0">
                <a:solidFill>
                  <a:srgbClr val="44403C"/>
                </a:solidFill>
                <a:latin typeface="Segoe UI"/>
              </a:rPr>
              <a:t>Mumbai</a:t>
            </a:r>
          </a:p>
        </p:txBody>
      </p:sp>
      <p:sp>
        <p:nvSpPr>
          <p:cNvPr id="50" name="a1wd450_td49"/>
          <p:cNvSpPr/>
          <p:nvPr/>
        </p:nvSpPr>
        <p:spPr>
          <a:xfrm>
            <a:off x="5577840" y="2551176"/>
            <a:ext cx="1280160" cy="347472"/>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1wd450_tdt50"/>
          <p:cNvSpPr txBox="1"/>
          <p:nvPr/>
        </p:nvSpPr>
        <p:spPr>
          <a:xfrm>
            <a:off x="5650992" y="2551176"/>
            <a:ext cx="1170431" cy="347472"/>
          </a:xfrm>
          <a:prstGeom prst="rect">
            <a:avLst/>
          </a:prstGeom>
          <a:noFill/>
        </p:spPr>
        <p:txBody>
          <a:bodyPr wrap="square" lIns="0" tIns="0" rIns="0" bIns="0" anchor="ctr">
            <a:spAutoFit/>
          </a:bodyPr>
          <a:lstStyle/>
          <a:p>
            <a:pPr algn="l"/>
            <a:r>
              <a:rPr sz="900" b="0">
                <a:solidFill>
                  <a:srgbClr val="44403C"/>
                </a:solidFill>
                <a:latin typeface="Segoe UI"/>
              </a:rPr>
              <a:t>Pune</a:t>
            </a:r>
          </a:p>
        </p:txBody>
      </p:sp>
      <p:sp>
        <p:nvSpPr>
          <p:cNvPr id="52" name="a2u_side51"/>
          <p:cNvSpPr txBox="1"/>
          <p:nvPr/>
        </p:nvSpPr>
        <p:spPr>
          <a:xfrm>
            <a:off x="7086600" y="1600200"/>
            <a:ext cx="1600200" cy="1188720"/>
          </a:xfrm>
          <a:prstGeom prst="rect">
            <a:avLst/>
          </a:prstGeom>
          <a:noFill/>
        </p:spPr>
        <p:txBody>
          <a:bodyPr wrap="square" lIns="0" tIns="0" rIns="0" bIns="0" anchor="t">
            <a:spAutoFit/>
          </a:bodyPr>
          <a:lstStyle/>
          <a:p>
            <a:pPr algn="l"/>
            <a:r>
              <a:rPr sz="900" b="1">
                <a:solidFill>
                  <a:srgbClr val="1C1917"/>
                </a:solidFill>
                <a:latin typeface="Segoe UI"/>
              </a:rPr>
              <a:t>One row</a:t>
            </a:r>
          </a:p>
          <a:p>
            <a:pPr algn="l"/>
            <a:r>
              <a:rPr sz="900" b="0">
                <a:solidFill>
                  <a:srgbClr val="78716C"/>
                </a:solidFill>
                <a:latin typeface="Segoe UI"/>
              </a:rPr>
              <a:t>= the CURRENT state of one user</a:t>
            </a:r>
          </a:p>
        </p:txBody>
      </p:sp>
      <p:sp>
        <p:nvSpPr>
          <p:cNvPr id="53" name="a3u_card52"/>
          <p:cNvSpPr/>
          <p:nvPr/>
        </p:nvSpPr>
        <p:spPr>
          <a:xfrm>
            <a:off x="457200" y="3063240"/>
            <a:ext cx="4023360" cy="1371600"/>
          </a:xfrm>
          <a:prstGeom prst="roundRect">
            <a:avLst>
              <a:gd name="adj" fmla="val 8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3u_acc53"/>
          <p:cNvSpPr/>
          <p:nvPr/>
        </p:nvSpPr>
        <p:spPr>
          <a:xfrm>
            <a:off x="457200" y="3063240"/>
            <a:ext cx="50292" cy="137160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3u_q54"/>
          <p:cNvSpPr txBox="1"/>
          <p:nvPr/>
        </p:nvSpPr>
        <p:spPr>
          <a:xfrm>
            <a:off x="685800" y="3172968"/>
            <a:ext cx="3657600" cy="292608"/>
          </a:xfrm>
          <a:prstGeom prst="rect">
            <a:avLst/>
          </a:prstGeom>
          <a:noFill/>
        </p:spPr>
        <p:txBody>
          <a:bodyPr wrap="square" lIns="0" tIns="0" rIns="0" bIns="0" anchor="ctr">
            <a:spAutoFit/>
          </a:bodyPr>
          <a:lstStyle/>
          <a:p>
            <a:pPr algn="l"/>
            <a:r>
              <a:rPr sz="1200" b="1">
                <a:solidFill>
                  <a:srgbClr val="A16207"/>
                </a:solidFill>
                <a:latin typeface="Segoe UI"/>
              </a:rPr>
              <a:t>Can we store events in a table?</a:t>
            </a:r>
          </a:p>
        </p:txBody>
      </p:sp>
      <p:sp>
        <p:nvSpPr>
          <p:cNvPr id="56" name="a4u_a55"/>
          <p:cNvSpPr txBox="1"/>
          <p:nvPr/>
        </p:nvSpPr>
        <p:spPr>
          <a:xfrm>
            <a:off x="685800" y="3538728"/>
            <a:ext cx="3657600" cy="777240"/>
          </a:xfrm>
          <a:prstGeom prst="rect">
            <a:avLst/>
          </a:prstGeom>
          <a:noFill/>
        </p:spPr>
        <p:txBody>
          <a:bodyPr wrap="square" lIns="0" tIns="0" rIns="0" bIns="0" anchor="t">
            <a:spAutoFit/>
          </a:bodyPr>
          <a:lstStyle/>
          <a:p>
            <a:pPr algn="l"/>
            <a:r>
              <a:rPr sz="1050" b="0">
                <a:solidFill>
                  <a:srgbClr val="44403C"/>
                </a:solidFill>
                <a:latin typeface="Segoe UI"/>
              </a:rPr>
              <a:t>We can - but not all types of events fit a table well.</a:t>
            </a:r>
          </a:p>
        </p:txBody>
      </p:sp>
      <p:sp>
        <p:nvSpPr>
          <p:cNvPr id="57" name="a5u_card56"/>
          <p:cNvSpPr/>
          <p:nvPr/>
        </p:nvSpPr>
        <p:spPr>
          <a:xfrm>
            <a:off x="4663440" y="3063240"/>
            <a:ext cx="4023360" cy="1371600"/>
          </a:xfrm>
          <a:prstGeom prst="roundRect">
            <a:avLst>
              <a:gd name="adj" fmla="val 8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5u_acc57"/>
          <p:cNvSpPr/>
          <p:nvPr/>
        </p:nvSpPr>
        <p:spPr>
          <a:xfrm>
            <a:off x="4663440" y="3063240"/>
            <a:ext cx="50292" cy="137160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5u_hh58"/>
          <p:cNvSpPr txBox="1"/>
          <p:nvPr/>
        </p:nvSpPr>
        <p:spPr>
          <a:xfrm>
            <a:off x="4864607" y="3172968"/>
            <a:ext cx="3657600" cy="237744"/>
          </a:xfrm>
          <a:prstGeom prst="rect">
            <a:avLst/>
          </a:prstGeom>
          <a:noFill/>
        </p:spPr>
        <p:txBody>
          <a:bodyPr wrap="square" lIns="0" tIns="0" rIns="0" bIns="0" anchor="ctr">
            <a:spAutoFit/>
          </a:bodyPr>
          <a:lstStyle/>
          <a:p>
            <a:pPr algn="l"/>
            <a:r>
              <a:rPr sz="900" b="1">
                <a:solidFill>
                  <a:srgbClr val="0E7490"/>
                </a:solidFill>
                <a:latin typeface="Segoe UI"/>
              </a:rPr>
              <a:t>WHY EVENTS STRAIN A TABLE</a:t>
            </a:r>
          </a:p>
        </p:txBody>
      </p:sp>
      <p:sp>
        <p:nvSpPr>
          <p:cNvPr id="60" name="a5ud80_dot59"/>
          <p:cNvSpPr/>
          <p:nvPr/>
        </p:nvSpPr>
        <p:spPr>
          <a:xfrm>
            <a:off x="4864607" y="3579876"/>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a5ud80_b60"/>
          <p:cNvSpPr txBox="1"/>
          <p:nvPr/>
        </p:nvSpPr>
        <p:spPr>
          <a:xfrm>
            <a:off x="5084064" y="3483864"/>
            <a:ext cx="3401568" cy="265176"/>
          </a:xfrm>
          <a:prstGeom prst="rect">
            <a:avLst/>
          </a:prstGeom>
          <a:noFill/>
        </p:spPr>
        <p:txBody>
          <a:bodyPr wrap="square" lIns="0" tIns="0" rIns="0" bIns="0" anchor="t">
            <a:spAutoFit/>
          </a:bodyPr>
          <a:lstStyle/>
          <a:p>
            <a:pPr algn="l"/>
            <a:r>
              <a:rPr sz="900" b="0">
                <a:solidFill>
                  <a:srgbClr val="44403C"/>
                </a:solidFill>
                <a:latin typeface="Segoe UI"/>
              </a:rPr>
              <a:t>They arrive continuously, in huge numbers</a:t>
            </a:r>
          </a:p>
        </p:txBody>
      </p:sp>
      <p:sp>
        <p:nvSpPr>
          <p:cNvPr id="62" name="a5ud180_dot61"/>
          <p:cNvSpPr/>
          <p:nvPr/>
        </p:nvSpPr>
        <p:spPr>
          <a:xfrm>
            <a:off x="4864607" y="3881628"/>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a5ud180_b62"/>
          <p:cNvSpPr txBox="1"/>
          <p:nvPr/>
        </p:nvSpPr>
        <p:spPr>
          <a:xfrm>
            <a:off x="5084064" y="3785616"/>
            <a:ext cx="3401568" cy="265176"/>
          </a:xfrm>
          <a:prstGeom prst="rect">
            <a:avLst/>
          </a:prstGeom>
          <a:noFill/>
        </p:spPr>
        <p:txBody>
          <a:bodyPr wrap="square" lIns="0" tIns="0" rIns="0" bIns="0" anchor="t">
            <a:spAutoFit/>
          </a:bodyPr>
          <a:lstStyle/>
          <a:p>
            <a:pPr algn="l"/>
            <a:r>
              <a:rPr sz="900" b="0">
                <a:solidFill>
                  <a:srgbClr val="44403C"/>
                </a:solidFill>
                <a:latin typeface="Segoe UI"/>
              </a:rPr>
              <a:t>Their order matters</a:t>
            </a:r>
          </a:p>
        </p:txBody>
      </p:sp>
      <p:sp>
        <p:nvSpPr>
          <p:cNvPr id="64" name="a5ud280_dot63"/>
          <p:cNvSpPr/>
          <p:nvPr/>
        </p:nvSpPr>
        <p:spPr>
          <a:xfrm>
            <a:off x="4864607" y="4183380"/>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a5ud280_b64"/>
          <p:cNvSpPr txBox="1"/>
          <p:nvPr/>
        </p:nvSpPr>
        <p:spPr>
          <a:xfrm>
            <a:off x="5084064" y="4087368"/>
            <a:ext cx="3401568" cy="265176"/>
          </a:xfrm>
          <a:prstGeom prst="rect">
            <a:avLst/>
          </a:prstGeom>
          <a:noFill/>
        </p:spPr>
        <p:txBody>
          <a:bodyPr wrap="square" lIns="0" tIns="0" rIns="0" bIns="0" anchor="t">
            <a:spAutoFit/>
          </a:bodyPr>
          <a:lstStyle/>
          <a:p>
            <a:pPr algn="l"/>
            <a:r>
              <a:rPr sz="900" b="0">
                <a:solidFill>
                  <a:srgbClr val="44403C"/>
                </a:solidFill>
                <a:latin typeface="Segoe UI"/>
              </a:rPr>
              <a:t>They are never updated - only added</a:t>
            </a:r>
          </a:p>
        </p:txBody>
      </p:sp>
      <p:sp>
        <p:nvSpPr>
          <p:cNvPr id="66" name="ft65"/>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54</a:t>
            </a:r>
          </a:p>
        </p:txBody>
      </p:sp>
      <p:sp>
        <p:nvSpPr>
          <p:cNvPr id="67" name="ft66"/>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ft67"/>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69" name="ft68"/>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fade">
                                      <p:cBhvr>
                                        <p:cTn id="33" dur="500"/>
                                        <p:tgtEl>
                                          <p:spTgt spid="44"/>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fade">
                                      <p:cBhvr>
                                        <p:cTn id="36" dur="500"/>
                                        <p:tgtEl>
                                          <p:spTgt spid="45"/>
                                        </p:tgtEl>
                                      </p:cBhvr>
                                    </p:animEffect>
                                  </p:childTnLst>
                                </p:cTn>
                              </p:par>
                              <p:par>
                                <p:cTn id="40" presetID="22" presetClass="entr" presetSubtype="8" fill="hold" grpId="0" nodeType="withEffect">
                                  <p:stCondLst>
                                    <p:cond delay="15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500"/>
                                        <p:tgtEl>
                                          <p:spTgt spid="14"/>
                                        </p:tgtEl>
                                      </p:cBhvr>
                                    </p:animEffect>
                                  </p:childTnLst>
                                </p:cTn>
                              </p:par>
                              <p:par>
                                <p:cTn id="43" presetID="22" presetClass="entr" presetSubtype="8" fill="hold" grpId="0" nodeType="withEffect">
                                  <p:stCondLst>
                                    <p:cond delay="15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par>
                                <p:cTn id="46" presetID="22" presetClass="entr" presetSubtype="8" fill="hold" grpId="0" nodeType="withEffect">
                                  <p:stCondLst>
                                    <p:cond delay="150"/>
                                  </p:stCondLst>
                                  <p:childTnLst>
                                    <p:set>
                                      <p:cBhvr>
                                        <p:cTn id="44" dur="1" fill="hold">
                                          <p:stCondLst>
                                            <p:cond delay="0"/>
                                          </p:stCondLst>
                                        </p:cTn>
                                        <p:tgtEl>
                                          <p:spTgt spid="22"/>
                                        </p:tgtEl>
                                        <p:attrNameLst>
                                          <p:attrName>style.visibility</p:attrName>
                                        </p:attrNameLst>
                                      </p:cBhvr>
                                      <p:to>
                                        <p:strVal val="visible"/>
                                      </p:to>
                                    </p:set>
                                    <p:animEffect transition="in" filter="wipe(left)">
                                      <p:cBhvr>
                                        <p:cTn id="45" dur="500"/>
                                        <p:tgtEl>
                                          <p:spTgt spid="22"/>
                                        </p:tgtEl>
                                      </p:cBhvr>
                                    </p:animEffect>
                                  </p:childTnLst>
                                </p:cTn>
                              </p:par>
                              <p:par>
                                <p:cTn id="49" presetID="22" presetClass="entr" presetSubtype="8" fill="hold" grpId="0" nodeType="withEffect">
                                  <p:stCondLst>
                                    <p:cond delay="150"/>
                                  </p:stCondLst>
                                  <p:childTnLst>
                                    <p:set>
                                      <p:cBhvr>
                                        <p:cTn id="47" dur="1" fill="hold">
                                          <p:stCondLst>
                                            <p:cond delay="0"/>
                                          </p:stCondLst>
                                        </p:cTn>
                                        <p:tgtEl>
                                          <p:spTgt spid="23"/>
                                        </p:tgtEl>
                                        <p:attrNameLst>
                                          <p:attrName>style.visibility</p:attrName>
                                        </p:attrNameLst>
                                      </p:cBhvr>
                                      <p:to>
                                        <p:strVal val="visible"/>
                                      </p:to>
                                    </p:set>
                                    <p:animEffect transition="in" filter="wipe(left)">
                                      <p:cBhvr>
                                        <p:cTn id="48" dur="500"/>
                                        <p:tgtEl>
                                          <p:spTgt spid="23"/>
                                        </p:tgtEl>
                                      </p:cBhvr>
                                    </p:animEffect>
                                  </p:childTnLst>
                                </p:cTn>
                              </p:par>
                              <p:par>
                                <p:cTn id="52" presetID="22" presetClass="entr" presetSubtype="8" fill="hold" grpId="0" nodeType="withEffect">
                                  <p:stCondLst>
                                    <p:cond delay="150"/>
                                  </p:stCondLst>
                                  <p:childTnLst>
                                    <p:set>
                                      <p:cBhvr>
                                        <p:cTn id="50" dur="1" fill="hold">
                                          <p:stCondLst>
                                            <p:cond delay="0"/>
                                          </p:stCondLst>
                                        </p:cTn>
                                        <p:tgtEl>
                                          <p:spTgt spid="30"/>
                                        </p:tgtEl>
                                        <p:attrNameLst>
                                          <p:attrName>style.visibility</p:attrName>
                                        </p:attrNameLst>
                                      </p:cBhvr>
                                      <p:to>
                                        <p:strVal val="visible"/>
                                      </p:to>
                                    </p:set>
                                    <p:animEffect transition="in" filter="wipe(left)">
                                      <p:cBhvr>
                                        <p:cTn id="51" dur="500"/>
                                        <p:tgtEl>
                                          <p:spTgt spid="30"/>
                                        </p:tgtEl>
                                      </p:cBhvr>
                                    </p:animEffect>
                                  </p:childTnLst>
                                </p:cTn>
                              </p:par>
                              <p:par>
                                <p:cTn id="55" presetID="22" presetClass="entr" presetSubtype="8" fill="hold" grpId="0" nodeType="withEffect">
                                  <p:stCondLst>
                                    <p:cond delay="150"/>
                                  </p:stCondLst>
                                  <p:childTnLst>
                                    <p:set>
                                      <p:cBhvr>
                                        <p:cTn id="53" dur="1" fill="hold">
                                          <p:stCondLst>
                                            <p:cond delay="0"/>
                                          </p:stCondLst>
                                        </p:cTn>
                                        <p:tgtEl>
                                          <p:spTgt spid="31"/>
                                        </p:tgtEl>
                                        <p:attrNameLst>
                                          <p:attrName>style.visibility</p:attrName>
                                        </p:attrNameLst>
                                      </p:cBhvr>
                                      <p:to>
                                        <p:strVal val="visible"/>
                                      </p:to>
                                    </p:set>
                                    <p:animEffect transition="in" filter="wipe(left)">
                                      <p:cBhvr>
                                        <p:cTn id="54" dur="500"/>
                                        <p:tgtEl>
                                          <p:spTgt spid="31"/>
                                        </p:tgtEl>
                                      </p:cBhvr>
                                    </p:animEffect>
                                  </p:childTnLst>
                                </p:cTn>
                              </p:par>
                              <p:par>
                                <p:cTn id="58" presetID="22" presetClass="entr" presetSubtype="8" fill="hold" grpId="0" nodeType="withEffect">
                                  <p:stCondLst>
                                    <p:cond delay="150"/>
                                  </p:stCondLst>
                                  <p:childTnLst>
                                    <p:set>
                                      <p:cBhvr>
                                        <p:cTn id="56" dur="1" fill="hold">
                                          <p:stCondLst>
                                            <p:cond delay="0"/>
                                          </p:stCondLst>
                                        </p:cTn>
                                        <p:tgtEl>
                                          <p:spTgt spid="38"/>
                                        </p:tgtEl>
                                        <p:attrNameLst>
                                          <p:attrName>style.visibility</p:attrName>
                                        </p:attrNameLst>
                                      </p:cBhvr>
                                      <p:to>
                                        <p:strVal val="visible"/>
                                      </p:to>
                                    </p:set>
                                    <p:animEffect transition="in" filter="wipe(left)">
                                      <p:cBhvr>
                                        <p:cTn id="57" dur="500"/>
                                        <p:tgtEl>
                                          <p:spTgt spid="38"/>
                                        </p:tgtEl>
                                      </p:cBhvr>
                                    </p:animEffect>
                                  </p:childTnLst>
                                </p:cTn>
                              </p:par>
                              <p:par>
                                <p:cTn id="61" presetID="22" presetClass="entr" presetSubtype="8" fill="hold" grpId="0" nodeType="withEffect">
                                  <p:stCondLst>
                                    <p:cond delay="150"/>
                                  </p:stCondLst>
                                  <p:childTnLst>
                                    <p:set>
                                      <p:cBhvr>
                                        <p:cTn id="59" dur="1" fill="hold">
                                          <p:stCondLst>
                                            <p:cond delay="0"/>
                                          </p:stCondLst>
                                        </p:cTn>
                                        <p:tgtEl>
                                          <p:spTgt spid="39"/>
                                        </p:tgtEl>
                                        <p:attrNameLst>
                                          <p:attrName>style.visibility</p:attrName>
                                        </p:attrNameLst>
                                      </p:cBhvr>
                                      <p:to>
                                        <p:strVal val="visible"/>
                                      </p:to>
                                    </p:set>
                                    <p:animEffect transition="in" filter="wipe(left)">
                                      <p:cBhvr>
                                        <p:cTn id="60" dur="500"/>
                                        <p:tgtEl>
                                          <p:spTgt spid="39"/>
                                        </p:tgtEl>
                                      </p:cBhvr>
                                    </p:animEffect>
                                  </p:childTnLst>
                                </p:cTn>
                              </p:par>
                              <p:par>
                                <p:cTn id="64" presetID="22" presetClass="entr" presetSubtype="8" fill="hold" grpId="0" nodeType="withEffect">
                                  <p:stCondLst>
                                    <p:cond delay="150"/>
                                  </p:stCondLst>
                                  <p:childTnLst>
                                    <p:set>
                                      <p:cBhvr>
                                        <p:cTn id="62" dur="1" fill="hold">
                                          <p:stCondLst>
                                            <p:cond delay="0"/>
                                          </p:stCondLst>
                                        </p:cTn>
                                        <p:tgtEl>
                                          <p:spTgt spid="46"/>
                                        </p:tgtEl>
                                        <p:attrNameLst>
                                          <p:attrName>style.visibility</p:attrName>
                                        </p:attrNameLst>
                                      </p:cBhvr>
                                      <p:to>
                                        <p:strVal val="visible"/>
                                      </p:to>
                                    </p:set>
                                    <p:animEffect transition="in" filter="wipe(left)">
                                      <p:cBhvr>
                                        <p:cTn id="63" dur="500"/>
                                        <p:tgtEl>
                                          <p:spTgt spid="46"/>
                                        </p:tgtEl>
                                      </p:cBhvr>
                                    </p:animEffect>
                                  </p:childTnLst>
                                </p:cTn>
                              </p:par>
                              <p:par>
                                <p:cTn id="67" presetID="22" presetClass="entr" presetSubtype="8" fill="hold" grpId="0" nodeType="withEffect">
                                  <p:stCondLst>
                                    <p:cond delay="150"/>
                                  </p:stCondLst>
                                  <p:childTnLst>
                                    <p:set>
                                      <p:cBhvr>
                                        <p:cTn id="65" dur="1" fill="hold">
                                          <p:stCondLst>
                                            <p:cond delay="0"/>
                                          </p:stCondLst>
                                        </p:cTn>
                                        <p:tgtEl>
                                          <p:spTgt spid="47"/>
                                        </p:tgtEl>
                                        <p:attrNameLst>
                                          <p:attrName>style.visibility</p:attrName>
                                        </p:attrNameLst>
                                      </p:cBhvr>
                                      <p:to>
                                        <p:strVal val="visible"/>
                                      </p:to>
                                    </p:set>
                                    <p:animEffect transition="in" filter="wipe(left)">
                                      <p:cBhvr>
                                        <p:cTn id="66" dur="500"/>
                                        <p:tgtEl>
                                          <p:spTgt spid="47"/>
                                        </p:tgtEl>
                                      </p:cBhvr>
                                    </p:animEffect>
                                  </p:childTnLst>
                                </p:cTn>
                              </p:par>
                              <p:par>
                                <p:cTn id="70" presetID="22" presetClass="entr" presetSubtype="8" fill="hold" grpId="0" nodeType="withEffect">
                                  <p:stCondLst>
                                    <p:cond delay="300"/>
                                  </p:stCondLst>
                                  <p:childTnLst>
                                    <p:set>
                                      <p:cBhvr>
                                        <p:cTn id="68" dur="1" fill="hold">
                                          <p:stCondLst>
                                            <p:cond delay="0"/>
                                          </p:stCondLst>
                                        </p:cTn>
                                        <p:tgtEl>
                                          <p:spTgt spid="16"/>
                                        </p:tgtEl>
                                        <p:attrNameLst>
                                          <p:attrName>style.visibility</p:attrName>
                                        </p:attrNameLst>
                                      </p:cBhvr>
                                      <p:to>
                                        <p:strVal val="visible"/>
                                      </p:to>
                                    </p:set>
                                    <p:animEffect transition="in" filter="wipe(left)">
                                      <p:cBhvr>
                                        <p:cTn id="69" dur="500"/>
                                        <p:tgtEl>
                                          <p:spTgt spid="16"/>
                                        </p:tgtEl>
                                      </p:cBhvr>
                                    </p:animEffect>
                                  </p:childTnLst>
                                </p:cTn>
                              </p:par>
                              <p:par>
                                <p:cTn id="73" presetID="22" presetClass="entr" presetSubtype="8" fill="hold" grpId="0" nodeType="withEffect">
                                  <p:stCondLst>
                                    <p:cond delay="300"/>
                                  </p:stCondLst>
                                  <p:childTnLst>
                                    <p:set>
                                      <p:cBhvr>
                                        <p:cTn id="71" dur="1" fill="hold">
                                          <p:stCondLst>
                                            <p:cond delay="0"/>
                                          </p:stCondLst>
                                        </p:cTn>
                                        <p:tgtEl>
                                          <p:spTgt spid="17"/>
                                        </p:tgtEl>
                                        <p:attrNameLst>
                                          <p:attrName>style.visibility</p:attrName>
                                        </p:attrNameLst>
                                      </p:cBhvr>
                                      <p:to>
                                        <p:strVal val="visible"/>
                                      </p:to>
                                    </p:set>
                                    <p:animEffect transition="in" filter="wipe(left)">
                                      <p:cBhvr>
                                        <p:cTn id="72" dur="500"/>
                                        <p:tgtEl>
                                          <p:spTgt spid="17"/>
                                        </p:tgtEl>
                                      </p:cBhvr>
                                    </p:animEffect>
                                  </p:childTnLst>
                                </p:cTn>
                              </p:par>
                              <p:par>
                                <p:cTn id="76" presetID="22" presetClass="entr" presetSubtype="8" fill="hold" grpId="0" nodeType="withEffect">
                                  <p:stCondLst>
                                    <p:cond delay="300"/>
                                  </p:stCondLst>
                                  <p:childTnLst>
                                    <p:set>
                                      <p:cBhvr>
                                        <p:cTn id="74" dur="1" fill="hold">
                                          <p:stCondLst>
                                            <p:cond delay="0"/>
                                          </p:stCondLst>
                                        </p:cTn>
                                        <p:tgtEl>
                                          <p:spTgt spid="24"/>
                                        </p:tgtEl>
                                        <p:attrNameLst>
                                          <p:attrName>style.visibility</p:attrName>
                                        </p:attrNameLst>
                                      </p:cBhvr>
                                      <p:to>
                                        <p:strVal val="visible"/>
                                      </p:to>
                                    </p:set>
                                    <p:animEffect transition="in" filter="wipe(left)">
                                      <p:cBhvr>
                                        <p:cTn id="75" dur="500"/>
                                        <p:tgtEl>
                                          <p:spTgt spid="24"/>
                                        </p:tgtEl>
                                      </p:cBhvr>
                                    </p:animEffect>
                                  </p:childTnLst>
                                </p:cTn>
                              </p:par>
                              <p:par>
                                <p:cTn id="79" presetID="22" presetClass="entr" presetSubtype="8" fill="hold" grpId="0" nodeType="withEffect">
                                  <p:stCondLst>
                                    <p:cond delay="300"/>
                                  </p:stCondLst>
                                  <p:childTnLst>
                                    <p:set>
                                      <p:cBhvr>
                                        <p:cTn id="77" dur="1" fill="hold">
                                          <p:stCondLst>
                                            <p:cond delay="0"/>
                                          </p:stCondLst>
                                        </p:cTn>
                                        <p:tgtEl>
                                          <p:spTgt spid="25"/>
                                        </p:tgtEl>
                                        <p:attrNameLst>
                                          <p:attrName>style.visibility</p:attrName>
                                        </p:attrNameLst>
                                      </p:cBhvr>
                                      <p:to>
                                        <p:strVal val="visible"/>
                                      </p:to>
                                    </p:set>
                                    <p:animEffect transition="in" filter="wipe(left)">
                                      <p:cBhvr>
                                        <p:cTn id="78" dur="500"/>
                                        <p:tgtEl>
                                          <p:spTgt spid="25"/>
                                        </p:tgtEl>
                                      </p:cBhvr>
                                    </p:animEffect>
                                  </p:childTnLst>
                                </p:cTn>
                              </p:par>
                              <p:par>
                                <p:cTn id="82" presetID="22" presetClass="entr" presetSubtype="8" fill="hold" grpId="0" nodeType="withEffect">
                                  <p:stCondLst>
                                    <p:cond delay="300"/>
                                  </p:stCondLst>
                                  <p:childTnLst>
                                    <p:set>
                                      <p:cBhvr>
                                        <p:cTn id="80" dur="1" fill="hold">
                                          <p:stCondLst>
                                            <p:cond delay="0"/>
                                          </p:stCondLst>
                                        </p:cTn>
                                        <p:tgtEl>
                                          <p:spTgt spid="32"/>
                                        </p:tgtEl>
                                        <p:attrNameLst>
                                          <p:attrName>style.visibility</p:attrName>
                                        </p:attrNameLst>
                                      </p:cBhvr>
                                      <p:to>
                                        <p:strVal val="visible"/>
                                      </p:to>
                                    </p:set>
                                    <p:animEffect transition="in" filter="wipe(left)">
                                      <p:cBhvr>
                                        <p:cTn id="81" dur="500"/>
                                        <p:tgtEl>
                                          <p:spTgt spid="32"/>
                                        </p:tgtEl>
                                      </p:cBhvr>
                                    </p:animEffect>
                                  </p:childTnLst>
                                </p:cTn>
                              </p:par>
                              <p:par>
                                <p:cTn id="85" presetID="22" presetClass="entr" presetSubtype="8" fill="hold" grpId="0" nodeType="withEffect">
                                  <p:stCondLst>
                                    <p:cond delay="300"/>
                                  </p:stCondLst>
                                  <p:childTnLst>
                                    <p:set>
                                      <p:cBhvr>
                                        <p:cTn id="83" dur="1" fill="hold">
                                          <p:stCondLst>
                                            <p:cond delay="0"/>
                                          </p:stCondLst>
                                        </p:cTn>
                                        <p:tgtEl>
                                          <p:spTgt spid="33"/>
                                        </p:tgtEl>
                                        <p:attrNameLst>
                                          <p:attrName>style.visibility</p:attrName>
                                        </p:attrNameLst>
                                      </p:cBhvr>
                                      <p:to>
                                        <p:strVal val="visible"/>
                                      </p:to>
                                    </p:set>
                                    <p:animEffect transition="in" filter="wipe(left)">
                                      <p:cBhvr>
                                        <p:cTn id="84" dur="500"/>
                                        <p:tgtEl>
                                          <p:spTgt spid="33"/>
                                        </p:tgtEl>
                                      </p:cBhvr>
                                    </p:animEffect>
                                  </p:childTnLst>
                                </p:cTn>
                              </p:par>
                              <p:par>
                                <p:cTn id="88" presetID="22" presetClass="entr" presetSubtype="8" fill="hold" grpId="0" nodeType="withEffect">
                                  <p:stCondLst>
                                    <p:cond delay="300"/>
                                  </p:stCondLst>
                                  <p:childTnLst>
                                    <p:set>
                                      <p:cBhvr>
                                        <p:cTn id="86" dur="1" fill="hold">
                                          <p:stCondLst>
                                            <p:cond delay="0"/>
                                          </p:stCondLst>
                                        </p:cTn>
                                        <p:tgtEl>
                                          <p:spTgt spid="40"/>
                                        </p:tgtEl>
                                        <p:attrNameLst>
                                          <p:attrName>style.visibility</p:attrName>
                                        </p:attrNameLst>
                                      </p:cBhvr>
                                      <p:to>
                                        <p:strVal val="visible"/>
                                      </p:to>
                                    </p:set>
                                    <p:animEffect transition="in" filter="wipe(left)">
                                      <p:cBhvr>
                                        <p:cTn id="87" dur="500"/>
                                        <p:tgtEl>
                                          <p:spTgt spid="40"/>
                                        </p:tgtEl>
                                      </p:cBhvr>
                                    </p:animEffect>
                                  </p:childTnLst>
                                </p:cTn>
                              </p:par>
                              <p:par>
                                <p:cTn id="91" presetID="22" presetClass="entr" presetSubtype="8" fill="hold" grpId="0" nodeType="withEffect">
                                  <p:stCondLst>
                                    <p:cond delay="300"/>
                                  </p:stCondLst>
                                  <p:childTnLst>
                                    <p:set>
                                      <p:cBhvr>
                                        <p:cTn id="89" dur="1" fill="hold">
                                          <p:stCondLst>
                                            <p:cond delay="0"/>
                                          </p:stCondLst>
                                        </p:cTn>
                                        <p:tgtEl>
                                          <p:spTgt spid="41"/>
                                        </p:tgtEl>
                                        <p:attrNameLst>
                                          <p:attrName>style.visibility</p:attrName>
                                        </p:attrNameLst>
                                      </p:cBhvr>
                                      <p:to>
                                        <p:strVal val="visible"/>
                                      </p:to>
                                    </p:set>
                                    <p:animEffect transition="in" filter="wipe(left)">
                                      <p:cBhvr>
                                        <p:cTn id="90" dur="500"/>
                                        <p:tgtEl>
                                          <p:spTgt spid="41"/>
                                        </p:tgtEl>
                                      </p:cBhvr>
                                    </p:animEffect>
                                  </p:childTnLst>
                                </p:cTn>
                              </p:par>
                              <p:par>
                                <p:cTn id="94" presetID="22" presetClass="entr" presetSubtype="8" fill="hold" grpId="0" nodeType="withEffect">
                                  <p:stCondLst>
                                    <p:cond delay="300"/>
                                  </p:stCondLst>
                                  <p:childTnLst>
                                    <p:set>
                                      <p:cBhvr>
                                        <p:cTn id="92" dur="1" fill="hold">
                                          <p:stCondLst>
                                            <p:cond delay="0"/>
                                          </p:stCondLst>
                                        </p:cTn>
                                        <p:tgtEl>
                                          <p:spTgt spid="48"/>
                                        </p:tgtEl>
                                        <p:attrNameLst>
                                          <p:attrName>style.visibility</p:attrName>
                                        </p:attrNameLst>
                                      </p:cBhvr>
                                      <p:to>
                                        <p:strVal val="visible"/>
                                      </p:to>
                                    </p:set>
                                    <p:animEffect transition="in" filter="wipe(left)">
                                      <p:cBhvr>
                                        <p:cTn id="93" dur="500"/>
                                        <p:tgtEl>
                                          <p:spTgt spid="48"/>
                                        </p:tgtEl>
                                      </p:cBhvr>
                                    </p:animEffect>
                                  </p:childTnLst>
                                </p:cTn>
                              </p:par>
                              <p:par>
                                <p:cTn id="97" presetID="22" presetClass="entr" presetSubtype="8" fill="hold" grpId="0" nodeType="withEffect">
                                  <p:stCondLst>
                                    <p:cond delay="300"/>
                                  </p:stCondLst>
                                  <p:childTnLst>
                                    <p:set>
                                      <p:cBhvr>
                                        <p:cTn id="95" dur="1" fill="hold">
                                          <p:stCondLst>
                                            <p:cond delay="0"/>
                                          </p:stCondLst>
                                        </p:cTn>
                                        <p:tgtEl>
                                          <p:spTgt spid="49"/>
                                        </p:tgtEl>
                                        <p:attrNameLst>
                                          <p:attrName>style.visibility</p:attrName>
                                        </p:attrNameLst>
                                      </p:cBhvr>
                                      <p:to>
                                        <p:strVal val="visible"/>
                                      </p:to>
                                    </p:set>
                                    <p:animEffect transition="in" filter="wipe(left)">
                                      <p:cBhvr>
                                        <p:cTn id="96" dur="500"/>
                                        <p:tgtEl>
                                          <p:spTgt spid="49"/>
                                        </p:tgtEl>
                                      </p:cBhvr>
                                    </p:animEffect>
                                  </p:childTnLst>
                                </p:cTn>
                              </p:par>
                              <p:par>
                                <p:cTn id="100" presetID="22" presetClass="entr" presetSubtype="8" fill="hold" grpId="0" nodeType="withEffect">
                                  <p:stCondLst>
                                    <p:cond delay="450"/>
                                  </p:stCondLst>
                                  <p:childTnLst>
                                    <p:set>
                                      <p:cBhvr>
                                        <p:cTn id="98" dur="1" fill="hold">
                                          <p:stCondLst>
                                            <p:cond delay="0"/>
                                          </p:stCondLst>
                                        </p:cTn>
                                        <p:tgtEl>
                                          <p:spTgt spid="18"/>
                                        </p:tgtEl>
                                        <p:attrNameLst>
                                          <p:attrName>style.visibility</p:attrName>
                                        </p:attrNameLst>
                                      </p:cBhvr>
                                      <p:to>
                                        <p:strVal val="visible"/>
                                      </p:to>
                                    </p:set>
                                    <p:animEffect transition="in" filter="wipe(left)">
                                      <p:cBhvr>
                                        <p:cTn id="99" dur="500"/>
                                        <p:tgtEl>
                                          <p:spTgt spid="18"/>
                                        </p:tgtEl>
                                      </p:cBhvr>
                                    </p:animEffect>
                                  </p:childTnLst>
                                </p:cTn>
                              </p:par>
                              <p:par>
                                <p:cTn id="103" presetID="22" presetClass="entr" presetSubtype="8" fill="hold" grpId="0" nodeType="withEffect">
                                  <p:stCondLst>
                                    <p:cond delay="450"/>
                                  </p:stCondLst>
                                  <p:childTnLst>
                                    <p:set>
                                      <p:cBhvr>
                                        <p:cTn id="101" dur="1" fill="hold">
                                          <p:stCondLst>
                                            <p:cond delay="0"/>
                                          </p:stCondLst>
                                        </p:cTn>
                                        <p:tgtEl>
                                          <p:spTgt spid="19"/>
                                        </p:tgtEl>
                                        <p:attrNameLst>
                                          <p:attrName>style.visibility</p:attrName>
                                        </p:attrNameLst>
                                      </p:cBhvr>
                                      <p:to>
                                        <p:strVal val="visible"/>
                                      </p:to>
                                    </p:set>
                                    <p:animEffect transition="in" filter="wipe(left)">
                                      <p:cBhvr>
                                        <p:cTn id="102" dur="500"/>
                                        <p:tgtEl>
                                          <p:spTgt spid="19"/>
                                        </p:tgtEl>
                                      </p:cBhvr>
                                    </p:animEffect>
                                  </p:childTnLst>
                                </p:cTn>
                              </p:par>
                              <p:par>
                                <p:cTn id="106" presetID="22" presetClass="entr" presetSubtype="8" fill="hold" grpId="0" nodeType="withEffect">
                                  <p:stCondLst>
                                    <p:cond delay="450"/>
                                  </p:stCondLst>
                                  <p:childTnLst>
                                    <p:set>
                                      <p:cBhvr>
                                        <p:cTn id="104" dur="1" fill="hold">
                                          <p:stCondLst>
                                            <p:cond delay="0"/>
                                          </p:stCondLst>
                                        </p:cTn>
                                        <p:tgtEl>
                                          <p:spTgt spid="26"/>
                                        </p:tgtEl>
                                        <p:attrNameLst>
                                          <p:attrName>style.visibility</p:attrName>
                                        </p:attrNameLst>
                                      </p:cBhvr>
                                      <p:to>
                                        <p:strVal val="visible"/>
                                      </p:to>
                                    </p:set>
                                    <p:animEffect transition="in" filter="wipe(left)">
                                      <p:cBhvr>
                                        <p:cTn id="105" dur="500"/>
                                        <p:tgtEl>
                                          <p:spTgt spid="26"/>
                                        </p:tgtEl>
                                      </p:cBhvr>
                                    </p:animEffect>
                                  </p:childTnLst>
                                </p:cTn>
                              </p:par>
                              <p:par>
                                <p:cTn id="109" presetID="22" presetClass="entr" presetSubtype="8" fill="hold" grpId="0" nodeType="withEffect">
                                  <p:stCondLst>
                                    <p:cond delay="450"/>
                                  </p:stCondLst>
                                  <p:childTnLst>
                                    <p:set>
                                      <p:cBhvr>
                                        <p:cTn id="107" dur="1" fill="hold">
                                          <p:stCondLst>
                                            <p:cond delay="0"/>
                                          </p:stCondLst>
                                        </p:cTn>
                                        <p:tgtEl>
                                          <p:spTgt spid="27"/>
                                        </p:tgtEl>
                                        <p:attrNameLst>
                                          <p:attrName>style.visibility</p:attrName>
                                        </p:attrNameLst>
                                      </p:cBhvr>
                                      <p:to>
                                        <p:strVal val="visible"/>
                                      </p:to>
                                    </p:set>
                                    <p:animEffect transition="in" filter="wipe(left)">
                                      <p:cBhvr>
                                        <p:cTn id="108" dur="500"/>
                                        <p:tgtEl>
                                          <p:spTgt spid="27"/>
                                        </p:tgtEl>
                                      </p:cBhvr>
                                    </p:animEffect>
                                  </p:childTnLst>
                                </p:cTn>
                              </p:par>
                              <p:par>
                                <p:cTn id="112" presetID="22" presetClass="entr" presetSubtype="8" fill="hold" grpId="0" nodeType="withEffect">
                                  <p:stCondLst>
                                    <p:cond delay="450"/>
                                  </p:stCondLst>
                                  <p:childTnLst>
                                    <p:set>
                                      <p:cBhvr>
                                        <p:cTn id="110" dur="1" fill="hold">
                                          <p:stCondLst>
                                            <p:cond delay="0"/>
                                          </p:stCondLst>
                                        </p:cTn>
                                        <p:tgtEl>
                                          <p:spTgt spid="34"/>
                                        </p:tgtEl>
                                        <p:attrNameLst>
                                          <p:attrName>style.visibility</p:attrName>
                                        </p:attrNameLst>
                                      </p:cBhvr>
                                      <p:to>
                                        <p:strVal val="visible"/>
                                      </p:to>
                                    </p:set>
                                    <p:animEffect transition="in" filter="wipe(left)">
                                      <p:cBhvr>
                                        <p:cTn id="111" dur="500"/>
                                        <p:tgtEl>
                                          <p:spTgt spid="34"/>
                                        </p:tgtEl>
                                      </p:cBhvr>
                                    </p:animEffect>
                                  </p:childTnLst>
                                </p:cTn>
                              </p:par>
                              <p:par>
                                <p:cTn id="115" presetID="22" presetClass="entr" presetSubtype="8" fill="hold" grpId="0" nodeType="withEffect">
                                  <p:stCondLst>
                                    <p:cond delay="450"/>
                                  </p:stCondLst>
                                  <p:childTnLst>
                                    <p:set>
                                      <p:cBhvr>
                                        <p:cTn id="113" dur="1" fill="hold">
                                          <p:stCondLst>
                                            <p:cond delay="0"/>
                                          </p:stCondLst>
                                        </p:cTn>
                                        <p:tgtEl>
                                          <p:spTgt spid="35"/>
                                        </p:tgtEl>
                                        <p:attrNameLst>
                                          <p:attrName>style.visibility</p:attrName>
                                        </p:attrNameLst>
                                      </p:cBhvr>
                                      <p:to>
                                        <p:strVal val="visible"/>
                                      </p:to>
                                    </p:set>
                                    <p:animEffect transition="in" filter="wipe(left)">
                                      <p:cBhvr>
                                        <p:cTn id="114" dur="500"/>
                                        <p:tgtEl>
                                          <p:spTgt spid="35"/>
                                        </p:tgtEl>
                                      </p:cBhvr>
                                    </p:animEffect>
                                  </p:childTnLst>
                                </p:cTn>
                              </p:par>
                              <p:par>
                                <p:cTn id="118" presetID="22" presetClass="entr" presetSubtype="8" fill="hold" grpId="0" nodeType="withEffect">
                                  <p:stCondLst>
                                    <p:cond delay="450"/>
                                  </p:stCondLst>
                                  <p:childTnLst>
                                    <p:set>
                                      <p:cBhvr>
                                        <p:cTn id="116" dur="1" fill="hold">
                                          <p:stCondLst>
                                            <p:cond delay="0"/>
                                          </p:stCondLst>
                                        </p:cTn>
                                        <p:tgtEl>
                                          <p:spTgt spid="42"/>
                                        </p:tgtEl>
                                        <p:attrNameLst>
                                          <p:attrName>style.visibility</p:attrName>
                                        </p:attrNameLst>
                                      </p:cBhvr>
                                      <p:to>
                                        <p:strVal val="visible"/>
                                      </p:to>
                                    </p:set>
                                    <p:animEffect transition="in" filter="wipe(left)">
                                      <p:cBhvr>
                                        <p:cTn id="117" dur="500"/>
                                        <p:tgtEl>
                                          <p:spTgt spid="42"/>
                                        </p:tgtEl>
                                      </p:cBhvr>
                                    </p:animEffect>
                                  </p:childTnLst>
                                </p:cTn>
                              </p:par>
                              <p:par>
                                <p:cTn id="121" presetID="22" presetClass="entr" presetSubtype="8" fill="hold" grpId="0" nodeType="withEffect">
                                  <p:stCondLst>
                                    <p:cond delay="450"/>
                                  </p:stCondLst>
                                  <p:childTnLst>
                                    <p:set>
                                      <p:cBhvr>
                                        <p:cTn id="119" dur="1" fill="hold">
                                          <p:stCondLst>
                                            <p:cond delay="0"/>
                                          </p:stCondLst>
                                        </p:cTn>
                                        <p:tgtEl>
                                          <p:spTgt spid="43"/>
                                        </p:tgtEl>
                                        <p:attrNameLst>
                                          <p:attrName>style.visibility</p:attrName>
                                        </p:attrNameLst>
                                      </p:cBhvr>
                                      <p:to>
                                        <p:strVal val="visible"/>
                                      </p:to>
                                    </p:set>
                                    <p:animEffect transition="in" filter="wipe(left)">
                                      <p:cBhvr>
                                        <p:cTn id="120" dur="500"/>
                                        <p:tgtEl>
                                          <p:spTgt spid="43"/>
                                        </p:tgtEl>
                                      </p:cBhvr>
                                    </p:animEffect>
                                  </p:childTnLst>
                                </p:cTn>
                              </p:par>
                              <p:par>
                                <p:cTn id="124" presetID="22" presetClass="entr" presetSubtype="8" fill="hold" grpId="0" nodeType="withEffect">
                                  <p:stCondLst>
                                    <p:cond delay="450"/>
                                  </p:stCondLst>
                                  <p:childTnLst>
                                    <p:set>
                                      <p:cBhvr>
                                        <p:cTn id="122" dur="1" fill="hold">
                                          <p:stCondLst>
                                            <p:cond delay="0"/>
                                          </p:stCondLst>
                                        </p:cTn>
                                        <p:tgtEl>
                                          <p:spTgt spid="50"/>
                                        </p:tgtEl>
                                        <p:attrNameLst>
                                          <p:attrName>style.visibility</p:attrName>
                                        </p:attrNameLst>
                                      </p:cBhvr>
                                      <p:to>
                                        <p:strVal val="visible"/>
                                      </p:to>
                                    </p:set>
                                    <p:animEffect transition="in" filter="wipe(left)">
                                      <p:cBhvr>
                                        <p:cTn id="123" dur="500"/>
                                        <p:tgtEl>
                                          <p:spTgt spid="50"/>
                                        </p:tgtEl>
                                      </p:cBhvr>
                                    </p:animEffect>
                                  </p:childTnLst>
                                </p:cTn>
                              </p:par>
                              <p:par>
                                <p:cTn id="127" presetID="22" presetClass="entr" presetSubtype="8" fill="hold" grpId="0" nodeType="withEffect">
                                  <p:stCondLst>
                                    <p:cond delay="450"/>
                                  </p:stCondLst>
                                  <p:childTnLst>
                                    <p:set>
                                      <p:cBhvr>
                                        <p:cTn id="125" dur="1" fill="hold">
                                          <p:stCondLst>
                                            <p:cond delay="0"/>
                                          </p:stCondLst>
                                        </p:cTn>
                                        <p:tgtEl>
                                          <p:spTgt spid="51"/>
                                        </p:tgtEl>
                                        <p:attrNameLst>
                                          <p:attrName>style.visibility</p:attrName>
                                        </p:attrNameLst>
                                      </p:cBhvr>
                                      <p:to>
                                        <p:strVal val="visible"/>
                                      </p:to>
                                    </p:set>
                                    <p:animEffect transition="in" filter="wipe(left)">
                                      <p:cBhvr>
                                        <p:cTn id="126" dur="500"/>
                                        <p:tgtEl>
                                          <p:spTgt spid="51"/>
                                        </p:tgtEl>
                                      </p:cBhvr>
                                    </p:animEffect>
                                  </p:childTnLst>
                                </p:cTn>
                              </p:par>
                            </p:childTnLst>
                          </p:cTn>
                        </p:par>
                      </p:childTnLst>
                    </p:cTn>
                  </p:par>
                  <p:par>
                    <p:cTn id="128" fill="hold">
                      <p:stCondLst>
                        <p:cond delay="indefinite"/>
                      </p:stCondLst>
                      <p:childTnLst>
                        <p:par>
                          <p:cTn id="129" fill="hold">
                            <p:stCondLst>
                              <p:cond delay="0"/>
                            </p:stCondLst>
                            <p:childTnLst>
                              <p:par>
                                <p:cTn id="134" presetID="2" presetClass="entr" presetSubtype="4" fill="hold" grpId="0" nodeType="clickEffect">
                                  <p:stCondLst>
                                    <p:cond delay="0"/>
                                  </p:stCondLst>
                                  <p:childTnLst>
                                    <p:set>
                                      <p:cBhvr>
                                        <p:cTn id="130" dur="1" fill="hold">
                                          <p:stCondLst>
                                            <p:cond delay="0"/>
                                          </p:stCondLst>
                                        </p:cTn>
                                        <p:tgtEl>
                                          <p:spTgt spid="52"/>
                                        </p:tgtEl>
                                        <p:attrNameLst>
                                          <p:attrName>style.visibility</p:attrName>
                                        </p:attrNameLst>
                                      </p:cBhvr>
                                      <p:to>
                                        <p:strVal val="visible"/>
                                      </p:to>
                                    </p:set>
                                    <p:anim calcmode="lin" valueType="num">
                                      <p:cBhvr additive="base">
                                        <p:cTn id="131" dur="500" fill="hold"/>
                                        <p:tgtEl>
                                          <p:spTgt spid="52"/>
                                        </p:tgtEl>
                                        <p:attrNameLst>
                                          <p:attrName>ppt_x</p:attrName>
                                        </p:attrNameLst>
                                      </p:cBhvr>
                                      <p:tavLst>
                                        <p:tav tm="0">
                                          <p:val>
                                            <p:strVal val="#ppt_x"/>
                                          </p:val>
                                        </p:tav>
                                        <p:tav tm="100000">
                                          <p:val>
                                            <p:strVal val="#ppt_x"/>
                                          </p:val>
                                        </p:tav>
                                      </p:tavLst>
                                    </p:anim>
                                    <p:anim calcmode="lin" valueType="num">
                                      <p:cBhvr additive="base">
                                        <p:cTn id="132" dur="500" fill="hold"/>
                                        <p:tgtEl>
                                          <p:spTgt spid="52"/>
                                        </p:tgtEl>
                                        <p:attrNameLst>
                                          <p:attrName>ppt_y</p:attrName>
                                        </p:attrNameLst>
                                      </p:cBhvr>
                                      <p:tavLst>
                                        <p:tav tm="0">
                                          <p:val>
                                            <p:strVal val="#ppt_y+0.1"/>
                                          </p:val>
                                        </p:tav>
                                        <p:tav tm="100000">
                                          <p:val>
                                            <p:strVal val="#ppt_y"/>
                                          </p:val>
                                        </p:tav>
                                      </p:tavLst>
                                    </p:anim>
                                    <p:animEffect transition="in" filter="fade">
                                      <p:cBhvr>
                                        <p:cTn id="133" dur="500"/>
                                        <p:tgtEl>
                                          <p:spTgt spid="52"/>
                                        </p:tgtEl>
                                      </p:cBhvr>
                                    </p:animEffect>
                                  </p:childTnLst>
                                </p:cTn>
                              </p:par>
                            </p:childTnLst>
                          </p:cTn>
                        </p:par>
                      </p:childTnLst>
                    </p:cTn>
                  </p:par>
                  <p:par>
                    <p:cTn id="135" fill="hold">
                      <p:stCondLst>
                        <p:cond delay="indefinite"/>
                      </p:stCondLst>
                      <p:childTnLst>
                        <p:par>
                          <p:cTn id="136" fill="hold">
                            <p:stCondLst>
                              <p:cond delay="0"/>
                            </p:stCondLst>
                            <p:childTnLst>
                              <p:par>
                                <p:cTn id="141" presetID="2" presetClass="entr" presetSubtype="4" fill="hold" grpId="0" nodeType="clickEffect">
                                  <p:stCondLst>
                                    <p:cond delay="0"/>
                                  </p:stCondLst>
                                  <p:childTnLst>
                                    <p:set>
                                      <p:cBhvr>
                                        <p:cTn id="137" dur="1" fill="hold">
                                          <p:stCondLst>
                                            <p:cond delay="0"/>
                                          </p:stCondLst>
                                        </p:cTn>
                                        <p:tgtEl>
                                          <p:spTgt spid="53"/>
                                        </p:tgtEl>
                                        <p:attrNameLst>
                                          <p:attrName>style.visibility</p:attrName>
                                        </p:attrNameLst>
                                      </p:cBhvr>
                                      <p:to>
                                        <p:strVal val="visible"/>
                                      </p:to>
                                    </p:set>
                                    <p:anim calcmode="lin" valueType="num">
                                      <p:cBhvr additive="base">
                                        <p:cTn id="138" dur="500" fill="hold"/>
                                        <p:tgtEl>
                                          <p:spTgt spid="53"/>
                                        </p:tgtEl>
                                        <p:attrNameLst>
                                          <p:attrName>ppt_x</p:attrName>
                                        </p:attrNameLst>
                                      </p:cBhvr>
                                      <p:tavLst>
                                        <p:tav tm="0">
                                          <p:val>
                                            <p:strVal val="#ppt_x"/>
                                          </p:val>
                                        </p:tav>
                                        <p:tav tm="100000">
                                          <p:val>
                                            <p:strVal val="#ppt_x"/>
                                          </p:val>
                                        </p:tav>
                                      </p:tavLst>
                                    </p:anim>
                                    <p:anim calcmode="lin" valueType="num">
                                      <p:cBhvr additive="base">
                                        <p:cTn id="139" dur="500" fill="hold"/>
                                        <p:tgtEl>
                                          <p:spTgt spid="53"/>
                                        </p:tgtEl>
                                        <p:attrNameLst>
                                          <p:attrName>ppt_y</p:attrName>
                                        </p:attrNameLst>
                                      </p:cBhvr>
                                      <p:tavLst>
                                        <p:tav tm="0">
                                          <p:val>
                                            <p:strVal val="#ppt_y+0.1"/>
                                          </p:val>
                                        </p:tav>
                                        <p:tav tm="100000">
                                          <p:val>
                                            <p:strVal val="#ppt_y"/>
                                          </p:val>
                                        </p:tav>
                                      </p:tavLst>
                                    </p:anim>
                                    <p:animEffect transition="in" filter="fade">
                                      <p:cBhvr>
                                        <p:cTn id="140" dur="500"/>
                                        <p:tgtEl>
                                          <p:spTgt spid="53"/>
                                        </p:tgtEl>
                                      </p:cBhvr>
                                    </p:animEffect>
                                  </p:childTnLst>
                                </p:cTn>
                              </p:par>
                              <p:par>
                                <p:cTn id="146" presetID="2" presetClass="entr" presetSubtype="4" fill="hold" grpId="0" nodeType="withEffect">
                                  <p:stCondLst>
                                    <p:cond delay="0"/>
                                  </p:stCondLst>
                                  <p:childTnLst>
                                    <p:set>
                                      <p:cBhvr>
                                        <p:cTn id="142" dur="1" fill="hold">
                                          <p:stCondLst>
                                            <p:cond delay="0"/>
                                          </p:stCondLst>
                                        </p:cTn>
                                        <p:tgtEl>
                                          <p:spTgt spid="54"/>
                                        </p:tgtEl>
                                        <p:attrNameLst>
                                          <p:attrName>style.visibility</p:attrName>
                                        </p:attrNameLst>
                                      </p:cBhvr>
                                      <p:to>
                                        <p:strVal val="visible"/>
                                      </p:to>
                                    </p:set>
                                    <p:anim calcmode="lin" valueType="num">
                                      <p:cBhvr additive="base">
                                        <p:cTn id="143" dur="500" fill="hold"/>
                                        <p:tgtEl>
                                          <p:spTgt spid="54"/>
                                        </p:tgtEl>
                                        <p:attrNameLst>
                                          <p:attrName>ppt_x</p:attrName>
                                        </p:attrNameLst>
                                      </p:cBhvr>
                                      <p:tavLst>
                                        <p:tav tm="0">
                                          <p:val>
                                            <p:strVal val="#ppt_x"/>
                                          </p:val>
                                        </p:tav>
                                        <p:tav tm="100000">
                                          <p:val>
                                            <p:strVal val="#ppt_x"/>
                                          </p:val>
                                        </p:tav>
                                      </p:tavLst>
                                    </p:anim>
                                    <p:anim calcmode="lin" valueType="num">
                                      <p:cBhvr additive="base">
                                        <p:cTn id="144" dur="500" fill="hold"/>
                                        <p:tgtEl>
                                          <p:spTgt spid="54"/>
                                        </p:tgtEl>
                                        <p:attrNameLst>
                                          <p:attrName>ppt_y</p:attrName>
                                        </p:attrNameLst>
                                      </p:cBhvr>
                                      <p:tavLst>
                                        <p:tav tm="0">
                                          <p:val>
                                            <p:strVal val="#ppt_y+0.1"/>
                                          </p:val>
                                        </p:tav>
                                        <p:tav tm="100000">
                                          <p:val>
                                            <p:strVal val="#ppt_y"/>
                                          </p:val>
                                        </p:tav>
                                      </p:tavLst>
                                    </p:anim>
                                    <p:animEffect transition="in" filter="fade">
                                      <p:cBhvr>
                                        <p:cTn id="145" dur="500"/>
                                        <p:tgtEl>
                                          <p:spTgt spid="54"/>
                                        </p:tgtEl>
                                      </p:cBhvr>
                                    </p:animEffect>
                                  </p:childTnLst>
                                </p:cTn>
                              </p:par>
                              <p:par>
                                <p:cTn id="151" presetID="2" presetClass="entr" presetSubtype="4" fill="hold" grpId="0" nodeType="withEffect">
                                  <p:stCondLst>
                                    <p:cond delay="0"/>
                                  </p:stCondLst>
                                  <p:childTnLst>
                                    <p:set>
                                      <p:cBhvr>
                                        <p:cTn id="147" dur="1" fill="hold">
                                          <p:stCondLst>
                                            <p:cond delay="0"/>
                                          </p:stCondLst>
                                        </p:cTn>
                                        <p:tgtEl>
                                          <p:spTgt spid="55"/>
                                        </p:tgtEl>
                                        <p:attrNameLst>
                                          <p:attrName>style.visibility</p:attrName>
                                        </p:attrNameLst>
                                      </p:cBhvr>
                                      <p:to>
                                        <p:strVal val="visible"/>
                                      </p:to>
                                    </p:set>
                                    <p:anim calcmode="lin" valueType="num">
                                      <p:cBhvr additive="base">
                                        <p:cTn id="148" dur="500" fill="hold"/>
                                        <p:tgtEl>
                                          <p:spTgt spid="55"/>
                                        </p:tgtEl>
                                        <p:attrNameLst>
                                          <p:attrName>ppt_x</p:attrName>
                                        </p:attrNameLst>
                                      </p:cBhvr>
                                      <p:tavLst>
                                        <p:tav tm="0">
                                          <p:val>
                                            <p:strVal val="#ppt_x"/>
                                          </p:val>
                                        </p:tav>
                                        <p:tav tm="100000">
                                          <p:val>
                                            <p:strVal val="#ppt_x"/>
                                          </p:val>
                                        </p:tav>
                                      </p:tavLst>
                                    </p:anim>
                                    <p:anim calcmode="lin" valueType="num">
                                      <p:cBhvr additive="base">
                                        <p:cTn id="149" dur="500" fill="hold"/>
                                        <p:tgtEl>
                                          <p:spTgt spid="55"/>
                                        </p:tgtEl>
                                        <p:attrNameLst>
                                          <p:attrName>ppt_y</p:attrName>
                                        </p:attrNameLst>
                                      </p:cBhvr>
                                      <p:tavLst>
                                        <p:tav tm="0">
                                          <p:val>
                                            <p:strVal val="#ppt_y+0.1"/>
                                          </p:val>
                                        </p:tav>
                                        <p:tav tm="100000">
                                          <p:val>
                                            <p:strVal val="#ppt_y"/>
                                          </p:val>
                                        </p:tav>
                                      </p:tavLst>
                                    </p:anim>
                                    <p:animEffect transition="in" filter="fade">
                                      <p:cBhvr>
                                        <p:cTn id="150" dur="500"/>
                                        <p:tgtEl>
                                          <p:spTgt spid="55"/>
                                        </p:tgtEl>
                                      </p:cBhvr>
                                    </p:animEffect>
                                  </p:childTnLst>
                                </p:cTn>
                              </p:par>
                            </p:childTnLst>
                          </p:cTn>
                        </p:par>
                      </p:childTnLst>
                    </p:cTn>
                  </p:par>
                  <p:par>
                    <p:cTn id="152" fill="hold">
                      <p:stCondLst>
                        <p:cond delay="indefinite"/>
                      </p:stCondLst>
                      <p:childTnLst>
                        <p:par>
                          <p:cTn id="153" fill="hold">
                            <p:stCondLst>
                              <p:cond delay="0"/>
                            </p:stCondLst>
                            <p:childTnLst>
                              <p:par>
                                <p:cTn id="158" presetID="2" presetClass="entr" presetSubtype="4" fill="hold" grpId="0" nodeType="clickEffect">
                                  <p:stCondLst>
                                    <p:cond delay="0"/>
                                  </p:stCondLst>
                                  <p:childTnLst>
                                    <p:set>
                                      <p:cBhvr>
                                        <p:cTn id="154" dur="1" fill="hold">
                                          <p:stCondLst>
                                            <p:cond delay="0"/>
                                          </p:stCondLst>
                                        </p:cTn>
                                        <p:tgtEl>
                                          <p:spTgt spid="56"/>
                                        </p:tgtEl>
                                        <p:attrNameLst>
                                          <p:attrName>style.visibility</p:attrName>
                                        </p:attrNameLst>
                                      </p:cBhvr>
                                      <p:to>
                                        <p:strVal val="visible"/>
                                      </p:to>
                                    </p:set>
                                    <p:anim calcmode="lin" valueType="num">
                                      <p:cBhvr additive="base">
                                        <p:cTn id="155" dur="500" fill="hold"/>
                                        <p:tgtEl>
                                          <p:spTgt spid="56"/>
                                        </p:tgtEl>
                                        <p:attrNameLst>
                                          <p:attrName>ppt_x</p:attrName>
                                        </p:attrNameLst>
                                      </p:cBhvr>
                                      <p:tavLst>
                                        <p:tav tm="0">
                                          <p:val>
                                            <p:strVal val="#ppt_x"/>
                                          </p:val>
                                        </p:tav>
                                        <p:tav tm="100000">
                                          <p:val>
                                            <p:strVal val="#ppt_x"/>
                                          </p:val>
                                        </p:tav>
                                      </p:tavLst>
                                    </p:anim>
                                    <p:anim calcmode="lin" valueType="num">
                                      <p:cBhvr additive="base">
                                        <p:cTn id="156" dur="500" fill="hold"/>
                                        <p:tgtEl>
                                          <p:spTgt spid="56"/>
                                        </p:tgtEl>
                                        <p:attrNameLst>
                                          <p:attrName>ppt_y</p:attrName>
                                        </p:attrNameLst>
                                      </p:cBhvr>
                                      <p:tavLst>
                                        <p:tav tm="0">
                                          <p:val>
                                            <p:strVal val="#ppt_y+0.1"/>
                                          </p:val>
                                        </p:tav>
                                        <p:tav tm="100000">
                                          <p:val>
                                            <p:strVal val="#ppt_y"/>
                                          </p:val>
                                        </p:tav>
                                      </p:tavLst>
                                    </p:anim>
                                    <p:animEffect transition="in" filter="fade">
                                      <p:cBhvr>
                                        <p:cTn id="157" dur="500"/>
                                        <p:tgtEl>
                                          <p:spTgt spid="56"/>
                                        </p:tgtEl>
                                      </p:cBhvr>
                                    </p:animEffect>
                                  </p:childTnLst>
                                </p:cTn>
                              </p:par>
                            </p:childTnLst>
                          </p:cTn>
                        </p:par>
                      </p:childTnLst>
                    </p:cTn>
                  </p:par>
                  <p:par>
                    <p:cTn id="159" fill="hold">
                      <p:stCondLst>
                        <p:cond delay="indefinite"/>
                      </p:stCondLst>
                      <p:childTnLst>
                        <p:par>
                          <p:cTn id="160" fill="hold">
                            <p:stCondLst>
                              <p:cond delay="0"/>
                            </p:stCondLst>
                            <p:childTnLst>
                              <p:par>
                                <p:cTn id="165" presetID="2" presetClass="entr" presetSubtype="4" fill="hold" grpId="0" nodeType="clickEffect">
                                  <p:stCondLst>
                                    <p:cond delay="0"/>
                                  </p:stCondLst>
                                  <p:childTnLst>
                                    <p:set>
                                      <p:cBhvr>
                                        <p:cTn id="161" dur="1" fill="hold">
                                          <p:stCondLst>
                                            <p:cond delay="0"/>
                                          </p:stCondLst>
                                        </p:cTn>
                                        <p:tgtEl>
                                          <p:spTgt spid="57"/>
                                        </p:tgtEl>
                                        <p:attrNameLst>
                                          <p:attrName>style.visibility</p:attrName>
                                        </p:attrNameLst>
                                      </p:cBhvr>
                                      <p:to>
                                        <p:strVal val="visible"/>
                                      </p:to>
                                    </p:set>
                                    <p:anim calcmode="lin" valueType="num">
                                      <p:cBhvr additive="base">
                                        <p:cTn id="162" dur="500" fill="hold"/>
                                        <p:tgtEl>
                                          <p:spTgt spid="57"/>
                                        </p:tgtEl>
                                        <p:attrNameLst>
                                          <p:attrName>ppt_x</p:attrName>
                                        </p:attrNameLst>
                                      </p:cBhvr>
                                      <p:tavLst>
                                        <p:tav tm="0">
                                          <p:val>
                                            <p:strVal val="#ppt_x"/>
                                          </p:val>
                                        </p:tav>
                                        <p:tav tm="100000">
                                          <p:val>
                                            <p:strVal val="#ppt_x"/>
                                          </p:val>
                                        </p:tav>
                                      </p:tavLst>
                                    </p:anim>
                                    <p:anim calcmode="lin" valueType="num">
                                      <p:cBhvr additive="base">
                                        <p:cTn id="163" dur="500" fill="hold"/>
                                        <p:tgtEl>
                                          <p:spTgt spid="57"/>
                                        </p:tgtEl>
                                        <p:attrNameLst>
                                          <p:attrName>ppt_y</p:attrName>
                                        </p:attrNameLst>
                                      </p:cBhvr>
                                      <p:tavLst>
                                        <p:tav tm="0">
                                          <p:val>
                                            <p:strVal val="#ppt_y+0.1"/>
                                          </p:val>
                                        </p:tav>
                                        <p:tav tm="100000">
                                          <p:val>
                                            <p:strVal val="#ppt_y"/>
                                          </p:val>
                                        </p:tav>
                                      </p:tavLst>
                                    </p:anim>
                                    <p:animEffect transition="in" filter="fade">
                                      <p:cBhvr>
                                        <p:cTn id="164" dur="500"/>
                                        <p:tgtEl>
                                          <p:spTgt spid="57"/>
                                        </p:tgtEl>
                                      </p:cBhvr>
                                    </p:animEffect>
                                  </p:childTnLst>
                                </p:cTn>
                              </p:par>
                              <p:par>
                                <p:cTn id="170" presetID="2" presetClass="entr" presetSubtype="4" fill="hold" grpId="0" nodeType="withEffect">
                                  <p:stCondLst>
                                    <p:cond delay="0"/>
                                  </p:stCondLst>
                                  <p:childTnLst>
                                    <p:set>
                                      <p:cBhvr>
                                        <p:cTn id="166" dur="1" fill="hold">
                                          <p:stCondLst>
                                            <p:cond delay="0"/>
                                          </p:stCondLst>
                                        </p:cTn>
                                        <p:tgtEl>
                                          <p:spTgt spid="58"/>
                                        </p:tgtEl>
                                        <p:attrNameLst>
                                          <p:attrName>style.visibility</p:attrName>
                                        </p:attrNameLst>
                                      </p:cBhvr>
                                      <p:to>
                                        <p:strVal val="visible"/>
                                      </p:to>
                                    </p:set>
                                    <p:anim calcmode="lin" valueType="num">
                                      <p:cBhvr additive="base">
                                        <p:cTn id="167" dur="500" fill="hold"/>
                                        <p:tgtEl>
                                          <p:spTgt spid="58"/>
                                        </p:tgtEl>
                                        <p:attrNameLst>
                                          <p:attrName>ppt_x</p:attrName>
                                        </p:attrNameLst>
                                      </p:cBhvr>
                                      <p:tavLst>
                                        <p:tav tm="0">
                                          <p:val>
                                            <p:strVal val="#ppt_x"/>
                                          </p:val>
                                        </p:tav>
                                        <p:tav tm="100000">
                                          <p:val>
                                            <p:strVal val="#ppt_x"/>
                                          </p:val>
                                        </p:tav>
                                      </p:tavLst>
                                    </p:anim>
                                    <p:anim calcmode="lin" valueType="num">
                                      <p:cBhvr additive="base">
                                        <p:cTn id="168" dur="500" fill="hold"/>
                                        <p:tgtEl>
                                          <p:spTgt spid="58"/>
                                        </p:tgtEl>
                                        <p:attrNameLst>
                                          <p:attrName>ppt_y</p:attrName>
                                        </p:attrNameLst>
                                      </p:cBhvr>
                                      <p:tavLst>
                                        <p:tav tm="0">
                                          <p:val>
                                            <p:strVal val="#ppt_y+0.1"/>
                                          </p:val>
                                        </p:tav>
                                        <p:tav tm="100000">
                                          <p:val>
                                            <p:strVal val="#ppt_y"/>
                                          </p:val>
                                        </p:tav>
                                      </p:tavLst>
                                    </p:anim>
                                    <p:animEffect transition="in" filter="fade">
                                      <p:cBhvr>
                                        <p:cTn id="169" dur="500"/>
                                        <p:tgtEl>
                                          <p:spTgt spid="58"/>
                                        </p:tgtEl>
                                      </p:cBhvr>
                                    </p:animEffect>
                                  </p:childTnLst>
                                </p:cTn>
                              </p:par>
                              <p:par>
                                <p:cTn id="175" presetID="2" presetClass="entr" presetSubtype="4" fill="hold" grpId="0" nodeType="withEffect">
                                  <p:stCondLst>
                                    <p:cond delay="0"/>
                                  </p:stCondLst>
                                  <p:childTnLst>
                                    <p:set>
                                      <p:cBhvr>
                                        <p:cTn id="171" dur="1" fill="hold">
                                          <p:stCondLst>
                                            <p:cond delay="0"/>
                                          </p:stCondLst>
                                        </p:cTn>
                                        <p:tgtEl>
                                          <p:spTgt spid="59"/>
                                        </p:tgtEl>
                                        <p:attrNameLst>
                                          <p:attrName>style.visibility</p:attrName>
                                        </p:attrNameLst>
                                      </p:cBhvr>
                                      <p:to>
                                        <p:strVal val="visible"/>
                                      </p:to>
                                    </p:set>
                                    <p:anim calcmode="lin" valueType="num">
                                      <p:cBhvr additive="base">
                                        <p:cTn id="172" dur="500" fill="hold"/>
                                        <p:tgtEl>
                                          <p:spTgt spid="59"/>
                                        </p:tgtEl>
                                        <p:attrNameLst>
                                          <p:attrName>ppt_x</p:attrName>
                                        </p:attrNameLst>
                                      </p:cBhvr>
                                      <p:tavLst>
                                        <p:tav tm="0">
                                          <p:val>
                                            <p:strVal val="#ppt_x"/>
                                          </p:val>
                                        </p:tav>
                                        <p:tav tm="100000">
                                          <p:val>
                                            <p:strVal val="#ppt_x"/>
                                          </p:val>
                                        </p:tav>
                                      </p:tavLst>
                                    </p:anim>
                                    <p:anim calcmode="lin" valueType="num">
                                      <p:cBhvr additive="base">
                                        <p:cTn id="173" dur="500" fill="hold"/>
                                        <p:tgtEl>
                                          <p:spTgt spid="59"/>
                                        </p:tgtEl>
                                        <p:attrNameLst>
                                          <p:attrName>ppt_y</p:attrName>
                                        </p:attrNameLst>
                                      </p:cBhvr>
                                      <p:tavLst>
                                        <p:tav tm="0">
                                          <p:val>
                                            <p:strVal val="#ppt_y+0.1"/>
                                          </p:val>
                                        </p:tav>
                                        <p:tav tm="100000">
                                          <p:val>
                                            <p:strVal val="#ppt_y"/>
                                          </p:val>
                                        </p:tav>
                                      </p:tavLst>
                                    </p:anim>
                                    <p:animEffect transition="in" filter="fade">
                                      <p:cBhvr>
                                        <p:cTn id="174" dur="500"/>
                                        <p:tgtEl>
                                          <p:spTgt spid="59"/>
                                        </p:tgtEl>
                                      </p:cBhvr>
                                    </p:animEffect>
                                  </p:childTnLst>
                                </p:cTn>
                              </p:par>
                              <p:par>
                                <p:cTn id="180" presetID="2" presetClass="entr" presetSubtype="4" fill="hold" grpId="0" nodeType="withEffect">
                                  <p:stCondLst>
                                    <p:cond delay="80"/>
                                  </p:stCondLst>
                                  <p:childTnLst>
                                    <p:set>
                                      <p:cBhvr>
                                        <p:cTn id="176" dur="1" fill="hold">
                                          <p:stCondLst>
                                            <p:cond delay="0"/>
                                          </p:stCondLst>
                                        </p:cTn>
                                        <p:tgtEl>
                                          <p:spTgt spid="60"/>
                                        </p:tgtEl>
                                        <p:attrNameLst>
                                          <p:attrName>style.visibility</p:attrName>
                                        </p:attrNameLst>
                                      </p:cBhvr>
                                      <p:to>
                                        <p:strVal val="visible"/>
                                      </p:to>
                                    </p:set>
                                    <p:anim calcmode="lin" valueType="num">
                                      <p:cBhvr additive="base">
                                        <p:cTn id="177" dur="500" fill="hold"/>
                                        <p:tgtEl>
                                          <p:spTgt spid="60"/>
                                        </p:tgtEl>
                                        <p:attrNameLst>
                                          <p:attrName>ppt_x</p:attrName>
                                        </p:attrNameLst>
                                      </p:cBhvr>
                                      <p:tavLst>
                                        <p:tav tm="0">
                                          <p:val>
                                            <p:strVal val="#ppt_x"/>
                                          </p:val>
                                        </p:tav>
                                        <p:tav tm="100000">
                                          <p:val>
                                            <p:strVal val="#ppt_x"/>
                                          </p:val>
                                        </p:tav>
                                      </p:tavLst>
                                    </p:anim>
                                    <p:anim calcmode="lin" valueType="num">
                                      <p:cBhvr additive="base">
                                        <p:cTn id="178" dur="500" fill="hold"/>
                                        <p:tgtEl>
                                          <p:spTgt spid="60"/>
                                        </p:tgtEl>
                                        <p:attrNameLst>
                                          <p:attrName>ppt_y</p:attrName>
                                        </p:attrNameLst>
                                      </p:cBhvr>
                                      <p:tavLst>
                                        <p:tav tm="0">
                                          <p:val>
                                            <p:strVal val="#ppt_y+0.1"/>
                                          </p:val>
                                        </p:tav>
                                        <p:tav tm="100000">
                                          <p:val>
                                            <p:strVal val="#ppt_y"/>
                                          </p:val>
                                        </p:tav>
                                      </p:tavLst>
                                    </p:anim>
                                    <p:animEffect transition="in" filter="fade">
                                      <p:cBhvr>
                                        <p:cTn id="179" dur="500"/>
                                        <p:tgtEl>
                                          <p:spTgt spid="60"/>
                                        </p:tgtEl>
                                      </p:cBhvr>
                                    </p:animEffect>
                                  </p:childTnLst>
                                </p:cTn>
                              </p:par>
                              <p:par>
                                <p:cTn id="185" presetID="2" presetClass="entr" presetSubtype="4" fill="hold" grpId="0" nodeType="withEffect">
                                  <p:stCondLst>
                                    <p:cond delay="80"/>
                                  </p:stCondLst>
                                  <p:childTnLst>
                                    <p:set>
                                      <p:cBhvr>
                                        <p:cTn id="181" dur="1" fill="hold">
                                          <p:stCondLst>
                                            <p:cond delay="0"/>
                                          </p:stCondLst>
                                        </p:cTn>
                                        <p:tgtEl>
                                          <p:spTgt spid="61"/>
                                        </p:tgtEl>
                                        <p:attrNameLst>
                                          <p:attrName>style.visibility</p:attrName>
                                        </p:attrNameLst>
                                      </p:cBhvr>
                                      <p:to>
                                        <p:strVal val="visible"/>
                                      </p:to>
                                    </p:set>
                                    <p:anim calcmode="lin" valueType="num">
                                      <p:cBhvr additive="base">
                                        <p:cTn id="182" dur="500" fill="hold"/>
                                        <p:tgtEl>
                                          <p:spTgt spid="61"/>
                                        </p:tgtEl>
                                        <p:attrNameLst>
                                          <p:attrName>ppt_x</p:attrName>
                                        </p:attrNameLst>
                                      </p:cBhvr>
                                      <p:tavLst>
                                        <p:tav tm="0">
                                          <p:val>
                                            <p:strVal val="#ppt_x"/>
                                          </p:val>
                                        </p:tav>
                                        <p:tav tm="100000">
                                          <p:val>
                                            <p:strVal val="#ppt_x"/>
                                          </p:val>
                                        </p:tav>
                                      </p:tavLst>
                                    </p:anim>
                                    <p:anim calcmode="lin" valueType="num">
                                      <p:cBhvr additive="base">
                                        <p:cTn id="183" dur="500" fill="hold"/>
                                        <p:tgtEl>
                                          <p:spTgt spid="61"/>
                                        </p:tgtEl>
                                        <p:attrNameLst>
                                          <p:attrName>ppt_y</p:attrName>
                                        </p:attrNameLst>
                                      </p:cBhvr>
                                      <p:tavLst>
                                        <p:tav tm="0">
                                          <p:val>
                                            <p:strVal val="#ppt_y+0.1"/>
                                          </p:val>
                                        </p:tav>
                                        <p:tav tm="100000">
                                          <p:val>
                                            <p:strVal val="#ppt_y"/>
                                          </p:val>
                                        </p:tav>
                                      </p:tavLst>
                                    </p:anim>
                                    <p:animEffect transition="in" filter="fade">
                                      <p:cBhvr>
                                        <p:cTn id="184" dur="500"/>
                                        <p:tgtEl>
                                          <p:spTgt spid="61"/>
                                        </p:tgtEl>
                                      </p:cBhvr>
                                    </p:animEffect>
                                  </p:childTnLst>
                                </p:cTn>
                              </p:par>
                              <p:par>
                                <p:cTn id="190" presetID="2" presetClass="entr" presetSubtype="4" fill="hold" grpId="0" nodeType="withEffect">
                                  <p:stCondLst>
                                    <p:cond delay="180"/>
                                  </p:stCondLst>
                                  <p:childTnLst>
                                    <p:set>
                                      <p:cBhvr>
                                        <p:cTn id="186" dur="1" fill="hold">
                                          <p:stCondLst>
                                            <p:cond delay="0"/>
                                          </p:stCondLst>
                                        </p:cTn>
                                        <p:tgtEl>
                                          <p:spTgt spid="62"/>
                                        </p:tgtEl>
                                        <p:attrNameLst>
                                          <p:attrName>style.visibility</p:attrName>
                                        </p:attrNameLst>
                                      </p:cBhvr>
                                      <p:to>
                                        <p:strVal val="visible"/>
                                      </p:to>
                                    </p:set>
                                    <p:anim calcmode="lin" valueType="num">
                                      <p:cBhvr additive="base">
                                        <p:cTn id="187" dur="500" fill="hold"/>
                                        <p:tgtEl>
                                          <p:spTgt spid="62"/>
                                        </p:tgtEl>
                                        <p:attrNameLst>
                                          <p:attrName>ppt_x</p:attrName>
                                        </p:attrNameLst>
                                      </p:cBhvr>
                                      <p:tavLst>
                                        <p:tav tm="0">
                                          <p:val>
                                            <p:strVal val="#ppt_x"/>
                                          </p:val>
                                        </p:tav>
                                        <p:tav tm="100000">
                                          <p:val>
                                            <p:strVal val="#ppt_x"/>
                                          </p:val>
                                        </p:tav>
                                      </p:tavLst>
                                    </p:anim>
                                    <p:anim calcmode="lin" valueType="num">
                                      <p:cBhvr additive="base">
                                        <p:cTn id="188" dur="500" fill="hold"/>
                                        <p:tgtEl>
                                          <p:spTgt spid="62"/>
                                        </p:tgtEl>
                                        <p:attrNameLst>
                                          <p:attrName>ppt_y</p:attrName>
                                        </p:attrNameLst>
                                      </p:cBhvr>
                                      <p:tavLst>
                                        <p:tav tm="0">
                                          <p:val>
                                            <p:strVal val="#ppt_y+0.1"/>
                                          </p:val>
                                        </p:tav>
                                        <p:tav tm="100000">
                                          <p:val>
                                            <p:strVal val="#ppt_y"/>
                                          </p:val>
                                        </p:tav>
                                      </p:tavLst>
                                    </p:anim>
                                    <p:animEffect transition="in" filter="fade">
                                      <p:cBhvr>
                                        <p:cTn id="189" dur="500"/>
                                        <p:tgtEl>
                                          <p:spTgt spid="62"/>
                                        </p:tgtEl>
                                      </p:cBhvr>
                                    </p:animEffect>
                                  </p:childTnLst>
                                </p:cTn>
                              </p:par>
                              <p:par>
                                <p:cTn id="195" presetID="2" presetClass="entr" presetSubtype="4" fill="hold" grpId="0" nodeType="withEffect">
                                  <p:stCondLst>
                                    <p:cond delay="180"/>
                                  </p:stCondLst>
                                  <p:childTnLst>
                                    <p:set>
                                      <p:cBhvr>
                                        <p:cTn id="191" dur="1" fill="hold">
                                          <p:stCondLst>
                                            <p:cond delay="0"/>
                                          </p:stCondLst>
                                        </p:cTn>
                                        <p:tgtEl>
                                          <p:spTgt spid="63"/>
                                        </p:tgtEl>
                                        <p:attrNameLst>
                                          <p:attrName>style.visibility</p:attrName>
                                        </p:attrNameLst>
                                      </p:cBhvr>
                                      <p:to>
                                        <p:strVal val="visible"/>
                                      </p:to>
                                    </p:set>
                                    <p:anim calcmode="lin" valueType="num">
                                      <p:cBhvr additive="base">
                                        <p:cTn id="192" dur="500" fill="hold"/>
                                        <p:tgtEl>
                                          <p:spTgt spid="63"/>
                                        </p:tgtEl>
                                        <p:attrNameLst>
                                          <p:attrName>ppt_x</p:attrName>
                                        </p:attrNameLst>
                                      </p:cBhvr>
                                      <p:tavLst>
                                        <p:tav tm="0">
                                          <p:val>
                                            <p:strVal val="#ppt_x"/>
                                          </p:val>
                                        </p:tav>
                                        <p:tav tm="100000">
                                          <p:val>
                                            <p:strVal val="#ppt_x"/>
                                          </p:val>
                                        </p:tav>
                                      </p:tavLst>
                                    </p:anim>
                                    <p:anim calcmode="lin" valueType="num">
                                      <p:cBhvr additive="base">
                                        <p:cTn id="193" dur="500" fill="hold"/>
                                        <p:tgtEl>
                                          <p:spTgt spid="63"/>
                                        </p:tgtEl>
                                        <p:attrNameLst>
                                          <p:attrName>ppt_y</p:attrName>
                                        </p:attrNameLst>
                                      </p:cBhvr>
                                      <p:tavLst>
                                        <p:tav tm="0">
                                          <p:val>
                                            <p:strVal val="#ppt_y+0.1"/>
                                          </p:val>
                                        </p:tav>
                                        <p:tav tm="100000">
                                          <p:val>
                                            <p:strVal val="#ppt_y"/>
                                          </p:val>
                                        </p:tav>
                                      </p:tavLst>
                                    </p:anim>
                                    <p:animEffect transition="in" filter="fade">
                                      <p:cBhvr>
                                        <p:cTn id="194" dur="500"/>
                                        <p:tgtEl>
                                          <p:spTgt spid="63"/>
                                        </p:tgtEl>
                                      </p:cBhvr>
                                    </p:animEffect>
                                  </p:childTnLst>
                                </p:cTn>
                              </p:par>
                              <p:par>
                                <p:cTn id="200" presetID="2" presetClass="entr" presetSubtype="4" fill="hold" grpId="0" nodeType="withEffect">
                                  <p:stCondLst>
                                    <p:cond delay="280"/>
                                  </p:stCondLst>
                                  <p:childTnLst>
                                    <p:set>
                                      <p:cBhvr>
                                        <p:cTn id="196" dur="1" fill="hold">
                                          <p:stCondLst>
                                            <p:cond delay="0"/>
                                          </p:stCondLst>
                                        </p:cTn>
                                        <p:tgtEl>
                                          <p:spTgt spid="64"/>
                                        </p:tgtEl>
                                        <p:attrNameLst>
                                          <p:attrName>style.visibility</p:attrName>
                                        </p:attrNameLst>
                                      </p:cBhvr>
                                      <p:to>
                                        <p:strVal val="visible"/>
                                      </p:to>
                                    </p:set>
                                    <p:anim calcmode="lin" valueType="num">
                                      <p:cBhvr additive="base">
                                        <p:cTn id="197" dur="500" fill="hold"/>
                                        <p:tgtEl>
                                          <p:spTgt spid="64"/>
                                        </p:tgtEl>
                                        <p:attrNameLst>
                                          <p:attrName>ppt_x</p:attrName>
                                        </p:attrNameLst>
                                      </p:cBhvr>
                                      <p:tavLst>
                                        <p:tav tm="0">
                                          <p:val>
                                            <p:strVal val="#ppt_x"/>
                                          </p:val>
                                        </p:tav>
                                        <p:tav tm="100000">
                                          <p:val>
                                            <p:strVal val="#ppt_x"/>
                                          </p:val>
                                        </p:tav>
                                      </p:tavLst>
                                    </p:anim>
                                    <p:anim calcmode="lin" valueType="num">
                                      <p:cBhvr additive="base">
                                        <p:cTn id="198" dur="500" fill="hold"/>
                                        <p:tgtEl>
                                          <p:spTgt spid="64"/>
                                        </p:tgtEl>
                                        <p:attrNameLst>
                                          <p:attrName>ppt_y</p:attrName>
                                        </p:attrNameLst>
                                      </p:cBhvr>
                                      <p:tavLst>
                                        <p:tav tm="0">
                                          <p:val>
                                            <p:strVal val="#ppt_y+0.1"/>
                                          </p:val>
                                        </p:tav>
                                        <p:tav tm="100000">
                                          <p:val>
                                            <p:strVal val="#ppt_y"/>
                                          </p:val>
                                        </p:tav>
                                      </p:tavLst>
                                    </p:anim>
                                    <p:animEffect transition="in" filter="fade">
                                      <p:cBhvr>
                                        <p:cTn id="199" dur="500"/>
                                        <p:tgtEl>
                                          <p:spTgt spid="64"/>
                                        </p:tgtEl>
                                      </p:cBhvr>
                                    </p:animEffect>
                                  </p:childTnLst>
                                </p:cTn>
                              </p:par>
                              <p:par>
                                <p:cTn id="205" presetID="2" presetClass="entr" presetSubtype="4" fill="hold" grpId="0" nodeType="withEffect">
                                  <p:stCondLst>
                                    <p:cond delay="280"/>
                                  </p:stCondLst>
                                  <p:childTnLst>
                                    <p:set>
                                      <p:cBhvr>
                                        <p:cTn id="201" dur="1" fill="hold">
                                          <p:stCondLst>
                                            <p:cond delay="0"/>
                                          </p:stCondLst>
                                        </p:cTn>
                                        <p:tgtEl>
                                          <p:spTgt spid="65"/>
                                        </p:tgtEl>
                                        <p:attrNameLst>
                                          <p:attrName>style.visibility</p:attrName>
                                        </p:attrNameLst>
                                      </p:cBhvr>
                                      <p:to>
                                        <p:strVal val="visible"/>
                                      </p:to>
                                    </p:set>
                                    <p:anim calcmode="lin" valueType="num">
                                      <p:cBhvr additive="base">
                                        <p:cTn id="202" dur="500" fill="hold"/>
                                        <p:tgtEl>
                                          <p:spTgt spid="65"/>
                                        </p:tgtEl>
                                        <p:attrNameLst>
                                          <p:attrName>ppt_x</p:attrName>
                                        </p:attrNameLst>
                                      </p:cBhvr>
                                      <p:tavLst>
                                        <p:tav tm="0">
                                          <p:val>
                                            <p:strVal val="#ppt_x"/>
                                          </p:val>
                                        </p:tav>
                                        <p:tav tm="100000">
                                          <p:val>
                                            <p:strVal val="#ppt_x"/>
                                          </p:val>
                                        </p:tav>
                                      </p:tavLst>
                                    </p:anim>
                                    <p:anim calcmode="lin" valueType="num">
                                      <p:cBhvr additive="base">
                                        <p:cTn id="203" dur="500" fill="hold"/>
                                        <p:tgtEl>
                                          <p:spTgt spid="65"/>
                                        </p:tgtEl>
                                        <p:attrNameLst>
                                          <p:attrName>ppt_y</p:attrName>
                                        </p:attrNameLst>
                                      </p:cBhvr>
                                      <p:tavLst>
                                        <p:tav tm="0">
                                          <p:val>
                                            <p:strVal val="#ppt_y+0.1"/>
                                          </p:val>
                                        </p:tav>
                                        <p:tav tm="100000">
                                          <p:val>
                                            <p:strVal val="#ppt_y"/>
                                          </p:val>
                                        </p:tav>
                                      </p:tavLst>
                                    </p:anim>
                                    <p:animEffect transition="in" filter="fade">
                                      <p:cBhvr>
                                        <p:cTn id="204"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400" b="0">
                <a:solidFill>
                  <a:srgbClr val="1C1917"/>
                </a:solidFill>
                <a:latin typeface="Bahnschrift SemiBold"/>
              </a:rPr>
              <a:t>Modern Data Modeling: Things First vs Events First</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Tables are great at things; Kafka encourages you to think about events first</a:t>
            </a:r>
          </a:p>
        </p:txBody>
      </p:sp>
      <p:sp>
        <p:nvSpPr>
          <p:cNvPr id="11" name="a1u_card10"/>
          <p:cNvSpPr/>
          <p:nvPr/>
        </p:nvSpPr>
        <p:spPr>
          <a:xfrm>
            <a:off x="457200" y="1234440"/>
            <a:ext cx="4023360" cy="2697480"/>
          </a:xfrm>
          <a:prstGeom prst="roundRect">
            <a:avLst>
              <a:gd name="adj" fmla="val 406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50292" cy="269748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44168"/>
            <a:ext cx="3657600" cy="237744"/>
          </a:xfrm>
          <a:prstGeom prst="rect">
            <a:avLst/>
          </a:prstGeom>
          <a:noFill/>
        </p:spPr>
        <p:txBody>
          <a:bodyPr wrap="square" lIns="0" tIns="0" rIns="0" bIns="0" anchor="ctr">
            <a:spAutoFit/>
          </a:bodyPr>
          <a:lstStyle/>
          <a:p>
            <a:pPr algn="l"/>
            <a:r>
              <a:rPr sz="900" b="1">
                <a:solidFill>
                  <a:srgbClr val="A16207"/>
                </a:solidFill>
                <a:latin typeface="Segoe UI"/>
              </a:rPr>
              <a:t>THINGS FIRST  ·  TRADITIONAL</a:t>
            </a:r>
          </a:p>
        </p:txBody>
      </p:sp>
      <p:sp>
        <p:nvSpPr>
          <p:cNvPr id="14" name="a1u_nd13"/>
          <p:cNvSpPr/>
          <p:nvPr/>
        </p:nvSpPr>
        <p:spPr>
          <a:xfrm>
            <a:off x="731520" y="1783080"/>
            <a:ext cx="1051560" cy="731520"/>
          </a:xfrm>
          <a:prstGeom prst="roundRect">
            <a:avLst>
              <a:gd name="adj" fmla="val 10000"/>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_ndt14"/>
          <p:cNvSpPr txBox="1"/>
          <p:nvPr/>
        </p:nvSpPr>
        <p:spPr>
          <a:xfrm>
            <a:off x="777240" y="1819656"/>
            <a:ext cx="960119" cy="347472"/>
          </a:xfrm>
          <a:prstGeom prst="rect">
            <a:avLst/>
          </a:prstGeom>
          <a:noFill/>
        </p:spPr>
        <p:txBody>
          <a:bodyPr wrap="square" lIns="0" tIns="0" rIns="0" bIns="0" anchor="b">
            <a:spAutoFit/>
          </a:bodyPr>
          <a:lstStyle/>
          <a:p>
            <a:pPr algn="ctr"/>
            <a:r>
              <a:rPr sz="950" b="1">
                <a:solidFill>
                  <a:srgbClr val="1C1917"/>
                </a:solidFill>
                <a:latin typeface="Segoe UI"/>
              </a:rPr>
              <a:t>Customer</a:t>
            </a:r>
          </a:p>
        </p:txBody>
      </p:sp>
      <p:sp>
        <p:nvSpPr>
          <p:cNvPr id="16" name="a1u_nds15"/>
          <p:cNvSpPr txBox="1"/>
          <p:nvPr/>
        </p:nvSpPr>
        <p:spPr>
          <a:xfrm>
            <a:off x="777240" y="2176272"/>
            <a:ext cx="960119" cy="301752"/>
          </a:xfrm>
          <a:prstGeom prst="rect">
            <a:avLst/>
          </a:prstGeom>
          <a:noFill/>
        </p:spPr>
        <p:txBody>
          <a:bodyPr wrap="square" lIns="0" tIns="0" rIns="0" bIns="0" anchor="t">
            <a:spAutoFit/>
          </a:bodyPr>
          <a:lstStyle/>
          <a:p>
            <a:pPr algn="ctr"/>
            <a:r>
              <a:rPr sz="800" b="0">
                <a:solidFill>
                  <a:srgbClr val="A16207"/>
                </a:solidFill>
                <a:latin typeface="Segoe UI"/>
              </a:rPr>
              <a:t>table</a:t>
            </a:r>
          </a:p>
        </p:txBody>
      </p:sp>
      <p:sp>
        <p:nvSpPr>
          <p:cNvPr id="17" name="a1ud100_nd16"/>
          <p:cNvSpPr/>
          <p:nvPr/>
        </p:nvSpPr>
        <p:spPr>
          <a:xfrm>
            <a:off x="1920240" y="1783080"/>
            <a:ext cx="1051560" cy="731520"/>
          </a:xfrm>
          <a:prstGeom prst="roundRect">
            <a:avLst>
              <a:gd name="adj" fmla="val 10000"/>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d100_ndt17"/>
          <p:cNvSpPr txBox="1"/>
          <p:nvPr/>
        </p:nvSpPr>
        <p:spPr>
          <a:xfrm>
            <a:off x="1965960" y="1819656"/>
            <a:ext cx="960119" cy="347472"/>
          </a:xfrm>
          <a:prstGeom prst="rect">
            <a:avLst/>
          </a:prstGeom>
          <a:noFill/>
        </p:spPr>
        <p:txBody>
          <a:bodyPr wrap="square" lIns="0" tIns="0" rIns="0" bIns="0" anchor="b">
            <a:spAutoFit/>
          </a:bodyPr>
          <a:lstStyle/>
          <a:p>
            <a:pPr algn="ctr"/>
            <a:r>
              <a:rPr sz="950" b="1">
                <a:solidFill>
                  <a:srgbClr val="1C1917"/>
                </a:solidFill>
                <a:latin typeface="Segoe UI"/>
              </a:rPr>
              <a:t>Order</a:t>
            </a:r>
          </a:p>
        </p:txBody>
      </p:sp>
      <p:sp>
        <p:nvSpPr>
          <p:cNvPr id="19" name="a1ud100_nds18"/>
          <p:cNvSpPr txBox="1"/>
          <p:nvPr/>
        </p:nvSpPr>
        <p:spPr>
          <a:xfrm>
            <a:off x="1965960" y="2176272"/>
            <a:ext cx="960119" cy="301752"/>
          </a:xfrm>
          <a:prstGeom prst="rect">
            <a:avLst/>
          </a:prstGeom>
          <a:noFill/>
        </p:spPr>
        <p:txBody>
          <a:bodyPr wrap="square" lIns="0" tIns="0" rIns="0" bIns="0" anchor="t">
            <a:spAutoFit/>
          </a:bodyPr>
          <a:lstStyle/>
          <a:p>
            <a:pPr algn="ctr"/>
            <a:r>
              <a:rPr sz="800" b="0">
                <a:solidFill>
                  <a:srgbClr val="A16207"/>
                </a:solidFill>
                <a:latin typeface="Segoe UI"/>
              </a:rPr>
              <a:t>table</a:t>
            </a:r>
          </a:p>
        </p:txBody>
      </p:sp>
      <p:sp>
        <p:nvSpPr>
          <p:cNvPr id="20" name="a1ud200_nd19"/>
          <p:cNvSpPr/>
          <p:nvPr/>
        </p:nvSpPr>
        <p:spPr>
          <a:xfrm>
            <a:off x="3108960" y="1783080"/>
            <a:ext cx="1051560" cy="731520"/>
          </a:xfrm>
          <a:prstGeom prst="roundRect">
            <a:avLst>
              <a:gd name="adj" fmla="val 10000"/>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200_ndt20"/>
          <p:cNvSpPr txBox="1"/>
          <p:nvPr/>
        </p:nvSpPr>
        <p:spPr>
          <a:xfrm>
            <a:off x="3154680" y="1819656"/>
            <a:ext cx="960119" cy="347472"/>
          </a:xfrm>
          <a:prstGeom prst="rect">
            <a:avLst/>
          </a:prstGeom>
          <a:noFill/>
        </p:spPr>
        <p:txBody>
          <a:bodyPr wrap="square" lIns="0" tIns="0" rIns="0" bIns="0" anchor="b">
            <a:spAutoFit/>
          </a:bodyPr>
          <a:lstStyle/>
          <a:p>
            <a:pPr algn="ctr"/>
            <a:r>
              <a:rPr sz="950" b="1">
                <a:solidFill>
                  <a:srgbClr val="1C1917"/>
                </a:solidFill>
                <a:latin typeface="Segoe UI"/>
              </a:rPr>
              <a:t>Payment</a:t>
            </a:r>
          </a:p>
        </p:txBody>
      </p:sp>
      <p:sp>
        <p:nvSpPr>
          <p:cNvPr id="22" name="a1ud200_nds21"/>
          <p:cNvSpPr txBox="1"/>
          <p:nvPr/>
        </p:nvSpPr>
        <p:spPr>
          <a:xfrm>
            <a:off x="3154680" y="2176272"/>
            <a:ext cx="960119" cy="301752"/>
          </a:xfrm>
          <a:prstGeom prst="rect">
            <a:avLst/>
          </a:prstGeom>
          <a:noFill/>
        </p:spPr>
        <p:txBody>
          <a:bodyPr wrap="square" lIns="0" tIns="0" rIns="0" bIns="0" anchor="t">
            <a:spAutoFit/>
          </a:bodyPr>
          <a:lstStyle/>
          <a:p>
            <a:pPr algn="ctr"/>
            <a:r>
              <a:rPr sz="800" b="0">
                <a:solidFill>
                  <a:srgbClr val="A16207"/>
                </a:solidFill>
                <a:latin typeface="Segoe UI"/>
              </a:rPr>
              <a:t>table</a:t>
            </a:r>
          </a:p>
        </p:txBody>
      </p:sp>
      <p:sp>
        <p:nvSpPr>
          <p:cNvPr id="23" name="a1ud400_dot22"/>
          <p:cNvSpPr/>
          <p:nvPr/>
        </p:nvSpPr>
        <p:spPr>
          <a:xfrm>
            <a:off x="658368" y="2866644"/>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ud400_b23"/>
          <p:cNvSpPr txBox="1"/>
          <p:nvPr/>
        </p:nvSpPr>
        <p:spPr>
          <a:xfrm>
            <a:off x="877824" y="2770632"/>
            <a:ext cx="3401568" cy="329184"/>
          </a:xfrm>
          <a:prstGeom prst="rect">
            <a:avLst/>
          </a:prstGeom>
          <a:noFill/>
        </p:spPr>
        <p:txBody>
          <a:bodyPr wrap="square" lIns="0" tIns="0" rIns="0" bIns="0" anchor="t">
            <a:spAutoFit/>
          </a:bodyPr>
          <a:lstStyle/>
          <a:p>
            <a:pPr algn="l"/>
            <a:r>
              <a:rPr sz="950" b="0">
                <a:solidFill>
                  <a:srgbClr val="44403C"/>
                </a:solidFill>
                <a:latin typeface="Segoe UI"/>
              </a:rPr>
              <a:t>Store the CURRENT state of each thing</a:t>
            </a:r>
          </a:p>
        </p:txBody>
      </p:sp>
      <p:sp>
        <p:nvSpPr>
          <p:cNvPr id="25" name="a1ud520_dot24"/>
          <p:cNvSpPr/>
          <p:nvPr/>
        </p:nvSpPr>
        <p:spPr>
          <a:xfrm>
            <a:off x="658368" y="3232403"/>
            <a:ext cx="91440" cy="91440"/>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ud520_b25"/>
          <p:cNvSpPr txBox="1"/>
          <p:nvPr/>
        </p:nvSpPr>
        <p:spPr>
          <a:xfrm>
            <a:off x="877824" y="3136391"/>
            <a:ext cx="3401568" cy="329184"/>
          </a:xfrm>
          <a:prstGeom prst="rect">
            <a:avLst/>
          </a:prstGeom>
          <a:noFill/>
        </p:spPr>
        <p:txBody>
          <a:bodyPr wrap="square" lIns="0" tIns="0" rIns="0" bIns="0" anchor="t">
            <a:spAutoFit/>
          </a:bodyPr>
          <a:lstStyle/>
          <a:p>
            <a:pPr algn="l"/>
            <a:r>
              <a:rPr sz="950" b="0">
                <a:solidFill>
                  <a:srgbClr val="44403C"/>
                </a:solidFill>
                <a:latin typeface="Segoe UI"/>
              </a:rPr>
              <a:t>Update the row when something changes</a:t>
            </a:r>
          </a:p>
        </p:txBody>
      </p:sp>
      <p:sp>
        <p:nvSpPr>
          <p:cNvPr id="27" name="a2u_card26"/>
          <p:cNvSpPr/>
          <p:nvPr/>
        </p:nvSpPr>
        <p:spPr>
          <a:xfrm>
            <a:off x="4663440" y="1234440"/>
            <a:ext cx="4023360" cy="2697480"/>
          </a:xfrm>
          <a:prstGeom prst="roundRect">
            <a:avLst>
              <a:gd name="adj" fmla="val 4067"/>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_acc27"/>
          <p:cNvSpPr/>
          <p:nvPr/>
        </p:nvSpPr>
        <p:spPr>
          <a:xfrm>
            <a:off x="4663440" y="1234440"/>
            <a:ext cx="50292" cy="26974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_hh28"/>
          <p:cNvSpPr txBox="1"/>
          <p:nvPr/>
        </p:nvSpPr>
        <p:spPr>
          <a:xfrm>
            <a:off x="4864607" y="1344168"/>
            <a:ext cx="3657600" cy="237744"/>
          </a:xfrm>
          <a:prstGeom prst="rect">
            <a:avLst/>
          </a:prstGeom>
          <a:noFill/>
        </p:spPr>
        <p:txBody>
          <a:bodyPr wrap="square" lIns="0" tIns="0" rIns="0" bIns="0" anchor="ctr">
            <a:spAutoFit/>
          </a:bodyPr>
          <a:lstStyle/>
          <a:p>
            <a:pPr algn="l"/>
            <a:r>
              <a:rPr sz="900" b="1">
                <a:solidFill>
                  <a:srgbClr val="0E7490"/>
                </a:solidFill>
                <a:latin typeface="Segoe UI"/>
              </a:rPr>
              <a:t>EVENTS FIRST  ·  MODERN</a:t>
            </a:r>
          </a:p>
        </p:txBody>
      </p:sp>
      <p:sp>
        <p:nvSpPr>
          <p:cNvPr id="30" name="a2u_pill29"/>
          <p:cNvSpPr/>
          <p:nvPr/>
        </p:nvSpPr>
        <p:spPr>
          <a:xfrm>
            <a:off x="4937760" y="1645920"/>
            <a:ext cx="1920240" cy="237744"/>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0E7490"/>
                </a:solidFill>
                <a:latin typeface="Consolas"/>
              </a:rPr>
              <a:t>CustomerRegistered</a:t>
            </a:r>
          </a:p>
        </p:txBody>
      </p:sp>
      <p:sp>
        <p:nvSpPr>
          <p:cNvPr id="31" name="a2ud120_pill30"/>
          <p:cNvSpPr/>
          <p:nvPr/>
        </p:nvSpPr>
        <p:spPr>
          <a:xfrm>
            <a:off x="4937760" y="1920240"/>
            <a:ext cx="1920240" cy="237744"/>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0E7490"/>
                </a:solidFill>
                <a:latin typeface="Consolas"/>
              </a:rPr>
              <a:t>OrderPlaced</a:t>
            </a:r>
          </a:p>
        </p:txBody>
      </p:sp>
      <p:sp>
        <p:nvSpPr>
          <p:cNvPr id="32" name="a2ud240_pill31"/>
          <p:cNvSpPr/>
          <p:nvPr/>
        </p:nvSpPr>
        <p:spPr>
          <a:xfrm>
            <a:off x="4937760" y="2194560"/>
            <a:ext cx="1920240" cy="237744"/>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0E7490"/>
                </a:solidFill>
                <a:latin typeface="Consolas"/>
              </a:rPr>
              <a:t>PaymentMade</a:t>
            </a:r>
          </a:p>
        </p:txBody>
      </p:sp>
      <p:sp>
        <p:nvSpPr>
          <p:cNvPr id="33" name="a2ud360_pill32"/>
          <p:cNvSpPr/>
          <p:nvPr/>
        </p:nvSpPr>
        <p:spPr>
          <a:xfrm>
            <a:off x="4937760" y="2468880"/>
            <a:ext cx="1920240" cy="237744"/>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0E7490"/>
                </a:solidFill>
                <a:latin typeface="Consolas"/>
              </a:rPr>
              <a:t>OrderShipped</a:t>
            </a:r>
          </a:p>
        </p:txBody>
      </p:sp>
      <p:sp>
        <p:nvSpPr>
          <p:cNvPr id="34" name="a2ud500_lb33"/>
          <p:cNvSpPr txBox="1"/>
          <p:nvPr/>
        </p:nvSpPr>
        <p:spPr>
          <a:xfrm>
            <a:off x="6949440" y="1691640"/>
            <a:ext cx="1600200" cy="201168"/>
          </a:xfrm>
          <a:prstGeom prst="rect">
            <a:avLst/>
          </a:prstGeom>
          <a:noFill/>
        </p:spPr>
        <p:txBody>
          <a:bodyPr wrap="square" lIns="0" tIns="0" rIns="0" bIns="0" anchor="ctr">
            <a:spAutoFit/>
          </a:bodyPr>
          <a:lstStyle/>
          <a:p>
            <a:pPr algn="l"/>
            <a:r>
              <a:rPr sz="800" b="0">
                <a:solidFill>
                  <a:srgbClr val="78716C"/>
                </a:solidFill>
                <a:latin typeface="Segoe UI"/>
              </a:rPr>
              <a:t>time flows down</a:t>
            </a:r>
          </a:p>
        </p:txBody>
      </p:sp>
      <p:cxnSp>
        <p:nvCxnSpPr>
          <p:cNvPr id="35" name="a2ud500_ar34"/>
          <p:cNvCxnSpPr/>
          <p:nvPr/>
        </p:nvCxnSpPr>
        <p:spPr>
          <a:xfrm>
            <a:off x="6967728" y="1965960"/>
            <a:ext cx="0" cy="731520"/>
          </a:xfrm>
          <a:prstGeom prst="line">
            <a:avLst/>
          </a:prstGeom>
          <a:ln w="158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a2ud600_dot35"/>
          <p:cNvSpPr/>
          <p:nvPr/>
        </p:nvSpPr>
        <p:spPr>
          <a:xfrm>
            <a:off x="4864608" y="286664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2ud600_b36"/>
          <p:cNvSpPr txBox="1"/>
          <p:nvPr/>
        </p:nvSpPr>
        <p:spPr>
          <a:xfrm>
            <a:off x="5084064" y="2770632"/>
            <a:ext cx="3401568" cy="329184"/>
          </a:xfrm>
          <a:prstGeom prst="rect">
            <a:avLst/>
          </a:prstGeom>
          <a:noFill/>
        </p:spPr>
        <p:txBody>
          <a:bodyPr wrap="square" lIns="0" tIns="0" rIns="0" bIns="0" anchor="t">
            <a:spAutoFit/>
          </a:bodyPr>
          <a:lstStyle/>
          <a:p>
            <a:pPr algn="l"/>
            <a:r>
              <a:rPr sz="950" b="0">
                <a:solidFill>
                  <a:srgbClr val="44403C"/>
                </a:solidFill>
                <a:latin typeface="Segoe UI"/>
              </a:rPr>
              <a:t>Store WHAT HAPPENED, in order</a:t>
            </a:r>
          </a:p>
        </p:txBody>
      </p:sp>
      <p:sp>
        <p:nvSpPr>
          <p:cNvPr id="38" name="a2ud720_dot37"/>
          <p:cNvSpPr/>
          <p:nvPr/>
        </p:nvSpPr>
        <p:spPr>
          <a:xfrm>
            <a:off x="4864608" y="3232403"/>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2ud720_b38"/>
          <p:cNvSpPr txBox="1"/>
          <p:nvPr/>
        </p:nvSpPr>
        <p:spPr>
          <a:xfrm>
            <a:off x="5084064" y="3136391"/>
            <a:ext cx="3401568" cy="329184"/>
          </a:xfrm>
          <a:prstGeom prst="rect">
            <a:avLst/>
          </a:prstGeom>
          <a:noFill/>
        </p:spPr>
        <p:txBody>
          <a:bodyPr wrap="square" lIns="0" tIns="0" rIns="0" bIns="0" anchor="t">
            <a:spAutoFit/>
          </a:bodyPr>
          <a:lstStyle/>
          <a:p>
            <a:pPr algn="l"/>
            <a:r>
              <a:rPr sz="950" b="0">
                <a:solidFill>
                  <a:srgbClr val="44403C"/>
                </a:solidFill>
                <a:latin typeface="Segoe UI"/>
              </a:rPr>
              <a:t>Never update - only add new events</a:t>
            </a:r>
          </a:p>
        </p:txBody>
      </p:sp>
      <p:sp>
        <p:nvSpPr>
          <p:cNvPr id="40" name="a3u_nb39"/>
          <p:cNvSpPr/>
          <p:nvPr/>
        </p:nvSpPr>
        <p:spPr>
          <a:xfrm>
            <a:off x="457200" y="4069080"/>
            <a:ext cx="8229600" cy="502920"/>
          </a:xfrm>
          <a:prstGeom prst="roundRect">
            <a:avLst>
              <a:gd name="adj" fmla="val 14545"/>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3u_nacc40"/>
          <p:cNvSpPr/>
          <p:nvPr/>
        </p:nvSpPr>
        <p:spPr>
          <a:xfrm>
            <a:off x="457200" y="4069080"/>
            <a:ext cx="54864" cy="5029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3u_nt41"/>
          <p:cNvSpPr txBox="1"/>
          <p:nvPr/>
        </p:nvSpPr>
        <p:spPr>
          <a:xfrm>
            <a:off x="658368" y="4069080"/>
            <a:ext cx="7827264" cy="502920"/>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Instead of storing only the things, we store the events that happened to them - and derive the things from the events.</a:t>
            </a:r>
          </a:p>
        </p:txBody>
      </p:sp>
      <p:sp>
        <p:nvSpPr>
          <p:cNvPr id="43" name="ft42"/>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55</a:t>
            </a:r>
          </a:p>
        </p:txBody>
      </p:sp>
      <p:sp>
        <p:nvSpPr>
          <p:cNvPr id="44" name="ft43"/>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ft44"/>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6" name="ft45"/>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0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10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10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20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20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20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40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40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52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52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par>
                                <p:cTn id="111" presetID="2" presetClass="entr" presetSubtype="4" fill="hold" grpId="0" nodeType="withEffect">
                                  <p:stCondLst>
                                    <p:cond delay="12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par>
                                <p:cTn id="116" presetID="2" presetClass="entr" presetSubtype="4" fill="hold" grpId="0" nodeType="withEffect">
                                  <p:stCondLst>
                                    <p:cond delay="24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36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par>
                                <p:cTn id="126" presetID="2" presetClass="entr" presetSubtype="4" fill="hold" grpId="0" nodeType="withEffect">
                                  <p:stCondLst>
                                    <p:cond delay="50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par>
                                <p:cTn id="131" presetID="2" presetClass="entr" presetSubtype="4" fill="hold" grpId="0" nodeType="withEffect">
                                  <p:stCondLst>
                                    <p:cond delay="500"/>
                                  </p:stCondLst>
                                  <p:childTnLst>
                                    <p:set>
                                      <p:cBhvr>
                                        <p:cTn id="127" dur="1" fill="hold">
                                          <p:stCondLst>
                                            <p:cond delay="0"/>
                                          </p:stCondLst>
                                        </p:cTn>
                                        <p:tgtEl>
                                          <p:spTgt spid="35"/>
                                        </p:tgtEl>
                                        <p:attrNameLst>
                                          <p:attrName>style.visibility</p:attrName>
                                        </p:attrNameLst>
                                      </p:cBhvr>
                                      <p:to>
                                        <p:strVal val="visible"/>
                                      </p:to>
                                    </p:set>
                                    <p:anim calcmode="lin" valueType="num">
                                      <p:cBhvr additive="base">
                                        <p:cTn id="128" dur="500" fill="hold"/>
                                        <p:tgtEl>
                                          <p:spTgt spid="35"/>
                                        </p:tgtEl>
                                        <p:attrNameLst>
                                          <p:attrName>ppt_x</p:attrName>
                                        </p:attrNameLst>
                                      </p:cBhvr>
                                      <p:tavLst>
                                        <p:tav tm="0">
                                          <p:val>
                                            <p:strVal val="#ppt_x"/>
                                          </p:val>
                                        </p:tav>
                                        <p:tav tm="100000">
                                          <p:val>
                                            <p:strVal val="#ppt_x"/>
                                          </p:val>
                                        </p:tav>
                                      </p:tavLst>
                                    </p:anim>
                                    <p:anim calcmode="lin" valueType="num">
                                      <p:cBhvr additive="base">
                                        <p:cTn id="129" dur="500" fill="hold"/>
                                        <p:tgtEl>
                                          <p:spTgt spid="35"/>
                                        </p:tgtEl>
                                        <p:attrNameLst>
                                          <p:attrName>ppt_y</p:attrName>
                                        </p:attrNameLst>
                                      </p:cBhvr>
                                      <p:tavLst>
                                        <p:tav tm="0">
                                          <p:val>
                                            <p:strVal val="#ppt_y+0.1"/>
                                          </p:val>
                                        </p:tav>
                                        <p:tav tm="100000">
                                          <p:val>
                                            <p:strVal val="#ppt_y"/>
                                          </p:val>
                                        </p:tav>
                                      </p:tavLst>
                                    </p:anim>
                                    <p:animEffect transition="in" filter="fade">
                                      <p:cBhvr>
                                        <p:cTn id="130" dur="500"/>
                                        <p:tgtEl>
                                          <p:spTgt spid="35"/>
                                        </p:tgtEl>
                                      </p:cBhvr>
                                    </p:animEffect>
                                  </p:childTnLst>
                                </p:cTn>
                              </p:par>
                              <p:par>
                                <p:cTn id="136" presetID="2" presetClass="entr" presetSubtype="4" fill="hold" grpId="0" nodeType="withEffect">
                                  <p:stCondLst>
                                    <p:cond delay="600"/>
                                  </p:stCondLst>
                                  <p:childTnLst>
                                    <p:set>
                                      <p:cBhvr>
                                        <p:cTn id="132" dur="1" fill="hold">
                                          <p:stCondLst>
                                            <p:cond delay="0"/>
                                          </p:stCondLst>
                                        </p:cTn>
                                        <p:tgtEl>
                                          <p:spTgt spid="36"/>
                                        </p:tgtEl>
                                        <p:attrNameLst>
                                          <p:attrName>style.visibility</p:attrName>
                                        </p:attrNameLst>
                                      </p:cBhvr>
                                      <p:to>
                                        <p:strVal val="visible"/>
                                      </p:to>
                                    </p:set>
                                    <p:anim calcmode="lin" valueType="num">
                                      <p:cBhvr additive="base">
                                        <p:cTn id="133" dur="500" fill="hold"/>
                                        <p:tgtEl>
                                          <p:spTgt spid="36"/>
                                        </p:tgtEl>
                                        <p:attrNameLst>
                                          <p:attrName>ppt_x</p:attrName>
                                        </p:attrNameLst>
                                      </p:cBhvr>
                                      <p:tavLst>
                                        <p:tav tm="0">
                                          <p:val>
                                            <p:strVal val="#ppt_x"/>
                                          </p:val>
                                        </p:tav>
                                        <p:tav tm="100000">
                                          <p:val>
                                            <p:strVal val="#ppt_x"/>
                                          </p:val>
                                        </p:tav>
                                      </p:tavLst>
                                    </p:anim>
                                    <p:anim calcmode="lin" valueType="num">
                                      <p:cBhvr additive="base">
                                        <p:cTn id="134" dur="500" fill="hold"/>
                                        <p:tgtEl>
                                          <p:spTgt spid="36"/>
                                        </p:tgtEl>
                                        <p:attrNameLst>
                                          <p:attrName>ppt_y</p:attrName>
                                        </p:attrNameLst>
                                      </p:cBhvr>
                                      <p:tavLst>
                                        <p:tav tm="0">
                                          <p:val>
                                            <p:strVal val="#ppt_y+0.1"/>
                                          </p:val>
                                        </p:tav>
                                        <p:tav tm="100000">
                                          <p:val>
                                            <p:strVal val="#ppt_y"/>
                                          </p:val>
                                        </p:tav>
                                      </p:tavLst>
                                    </p:anim>
                                    <p:animEffect transition="in" filter="fade">
                                      <p:cBhvr>
                                        <p:cTn id="135" dur="500"/>
                                        <p:tgtEl>
                                          <p:spTgt spid="36"/>
                                        </p:tgtEl>
                                      </p:cBhvr>
                                    </p:animEffect>
                                  </p:childTnLst>
                                </p:cTn>
                              </p:par>
                              <p:par>
                                <p:cTn id="141" presetID="2" presetClass="entr" presetSubtype="4" fill="hold" grpId="0" nodeType="withEffect">
                                  <p:stCondLst>
                                    <p:cond delay="600"/>
                                  </p:stCondLst>
                                  <p:childTnLst>
                                    <p:set>
                                      <p:cBhvr>
                                        <p:cTn id="137" dur="1" fill="hold">
                                          <p:stCondLst>
                                            <p:cond delay="0"/>
                                          </p:stCondLst>
                                        </p:cTn>
                                        <p:tgtEl>
                                          <p:spTgt spid="37"/>
                                        </p:tgtEl>
                                        <p:attrNameLst>
                                          <p:attrName>style.visibility</p:attrName>
                                        </p:attrNameLst>
                                      </p:cBhvr>
                                      <p:to>
                                        <p:strVal val="visible"/>
                                      </p:to>
                                    </p:set>
                                    <p:anim calcmode="lin" valueType="num">
                                      <p:cBhvr additive="base">
                                        <p:cTn id="138" dur="500" fill="hold"/>
                                        <p:tgtEl>
                                          <p:spTgt spid="37"/>
                                        </p:tgtEl>
                                        <p:attrNameLst>
                                          <p:attrName>ppt_x</p:attrName>
                                        </p:attrNameLst>
                                      </p:cBhvr>
                                      <p:tavLst>
                                        <p:tav tm="0">
                                          <p:val>
                                            <p:strVal val="#ppt_x"/>
                                          </p:val>
                                        </p:tav>
                                        <p:tav tm="100000">
                                          <p:val>
                                            <p:strVal val="#ppt_x"/>
                                          </p:val>
                                        </p:tav>
                                      </p:tavLst>
                                    </p:anim>
                                    <p:anim calcmode="lin" valueType="num">
                                      <p:cBhvr additive="base">
                                        <p:cTn id="139" dur="500" fill="hold"/>
                                        <p:tgtEl>
                                          <p:spTgt spid="37"/>
                                        </p:tgtEl>
                                        <p:attrNameLst>
                                          <p:attrName>ppt_y</p:attrName>
                                        </p:attrNameLst>
                                      </p:cBhvr>
                                      <p:tavLst>
                                        <p:tav tm="0">
                                          <p:val>
                                            <p:strVal val="#ppt_y+0.1"/>
                                          </p:val>
                                        </p:tav>
                                        <p:tav tm="100000">
                                          <p:val>
                                            <p:strVal val="#ppt_y"/>
                                          </p:val>
                                        </p:tav>
                                      </p:tavLst>
                                    </p:anim>
                                    <p:animEffect transition="in" filter="fade">
                                      <p:cBhvr>
                                        <p:cTn id="140" dur="500"/>
                                        <p:tgtEl>
                                          <p:spTgt spid="37"/>
                                        </p:tgtEl>
                                      </p:cBhvr>
                                    </p:animEffect>
                                  </p:childTnLst>
                                </p:cTn>
                              </p:par>
                              <p:par>
                                <p:cTn id="146" presetID="2" presetClass="entr" presetSubtype="4" fill="hold" grpId="0" nodeType="withEffect">
                                  <p:stCondLst>
                                    <p:cond delay="720"/>
                                  </p:stCondLst>
                                  <p:childTnLst>
                                    <p:set>
                                      <p:cBhvr>
                                        <p:cTn id="142" dur="1" fill="hold">
                                          <p:stCondLst>
                                            <p:cond delay="0"/>
                                          </p:stCondLst>
                                        </p:cTn>
                                        <p:tgtEl>
                                          <p:spTgt spid="38"/>
                                        </p:tgtEl>
                                        <p:attrNameLst>
                                          <p:attrName>style.visibility</p:attrName>
                                        </p:attrNameLst>
                                      </p:cBhvr>
                                      <p:to>
                                        <p:strVal val="visible"/>
                                      </p:to>
                                    </p:set>
                                    <p:anim calcmode="lin" valueType="num">
                                      <p:cBhvr additive="base">
                                        <p:cTn id="143" dur="500" fill="hold"/>
                                        <p:tgtEl>
                                          <p:spTgt spid="38"/>
                                        </p:tgtEl>
                                        <p:attrNameLst>
                                          <p:attrName>ppt_x</p:attrName>
                                        </p:attrNameLst>
                                      </p:cBhvr>
                                      <p:tavLst>
                                        <p:tav tm="0">
                                          <p:val>
                                            <p:strVal val="#ppt_x"/>
                                          </p:val>
                                        </p:tav>
                                        <p:tav tm="100000">
                                          <p:val>
                                            <p:strVal val="#ppt_x"/>
                                          </p:val>
                                        </p:tav>
                                      </p:tavLst>
                                    </p:anim>
                                    <p:anim calcmode="lin" valueType="num">
                                      <p:cBhvr additive="base">
                                        <p:cTn id="144" dur="500" fill="hold"/>
                                        <p:tgtEl>
                                          <p:spTgt spid="38"/>
                                        </p:tgtEl>
                                        <p:attrNameLst>
                                          <p:attrName>ppt_y</p:attrName>
                                        </p:attrNameLst>
                                      </p:cBhvr>
                                      <p:tavLst>
                                        <p:tav tm="0">
                                          <p:val>
                                            <p:strVal val="#ppt_y+0.1"/>
                                          </p:val>
                                        </p:tav>
                                        <p:tav tm="100000">
                                          <p:val>
                                            <p:strVal val="#ppt_y"/>
                                          </p:val>
                                        </p:tav>
                                      </p:tavLst>
                                    </p:anim>
                                    <p:animEffect transition="in" filter="fade">
                                      <p:cBhvr>
                                        <p:cTn id="145" dur="500"/>
                                        <p:tgtEl>
                                          <p:spTgt spid="38"/>
                                        </p:tgtEl>
                                      </p:cBhvr>
                                    </p:animEffect>
                                  </p:childTnLst>
                                </p:cTn>
                              </p:par>
                              <p:par>
                                <p:cTn id="151" presetID="2" presetClass="entr" presetSubtype="4" fill="hold" grpId="0" nodeType="withEffect">
                                  <p:stCondLst>
                                    <p:cond delay="720"/>
                                  </p:stCondLst>
                                  <p:childTnLst>
                                    <p:set>
                                      <p:cBhvr>
                                        <p:cTn id="147" dur="1" fill="hold">
                                          <p:stCondLst>
                                            <p:cond delay="0"/>
                                          </p:stCondLst>
                                        </p:cTn>
                                        <p:tgtEl>
                                          <p:spTgt spid="39"/>
                                        </p:tgtEl>
                                        <p:attrNameLst>
                                          <p:attrName>style.visibility</p:attrName>
                                        </p:attrNameLst>
                                      </p:cBhvr>
                                      <p:to>
                                        <p:strVal val="visible"/>
                                      </p:to>
                                    </p:set>
                                    <p:anim calcmode="lin" valueType="num">
                                      <p:cBhvr additive="base">
                                        <p:cTn id="148" dur="500" fill="hold"/>
                                        <p:tgtEl>
                                          <p:spTgt spid="39"/>
                                        </p:tgtEl>
                                        <p:attrNameLst>
                                          <p:attrName>ppt_x</p:attrName>
                                        </p:attrNameLst>
                                      </p:cBhvr>
                                      <p:tavLst>
                                        <p:tav tm="0">
                                          <p:val>
                                            <p:strVal val="#ppt_x"/>
                                          </p:val>
                                        </p:tav>
                                        <p:tav tm="100000">
                                          <p:val>
                                            <p:strVal val="#ppt_x"/>
                                          </p:val>
                                        </p:tav>
                                      </p:tavLst>
                                    </p:anim>
                                    <p:anim calcmode="lin" valueType="num">
                                      <p:cBhvr additive="base">
                                        <p:cTn id="149" dur="500" fill="hold"/>
                                        <p:tgtEl>
                                          <p:spTgt spid="39"/>
                                        </p:tgtEl>
                                        <p:attrNameLst>
                                          <p:attrName>ppt_y</p:attrName>
                                        </p:attrNameLst>
                                      </p:cBhvr>
                                      <p:tavLst>
                                        <p:tav tm="0">
                                          <p:val>
                                            <p:strVal val="#ppt_y+0.1"/>
                                          </p:val>
                                        </p:tav>
                                        <p:tav tm="100000">
                                          <p:val>
                                            <p:strVal val="#ppt_y"/>
                                          </p:val>
                                        </p:tav>
                                      </p:tavLst>
                                    </p:anim>
                                    <p:animEffect transition="in" filter="fade">
                                      <p:cBhvr>
                                        <p:cTn id="150" dur="500"/>
                                        <p:tgtEl>
                                          <p:spTgt spid="39"/>
                                        </p:tgtEl>
                                      </p:cBhvr>
                                    </p:animEffect>
                                  </p:childTnLst>
                                </p:cTn>
                              </p:par>
                            </p:childTnLst>
                          </p:cTn>
                        </p:par>
                      </p:childTnLst>
                    </p:cTn>
                  </p:par>
                  <p:par>
                    <p:cTn id="152" fill="hold">
                      <p:stCondLst>
                        <p:cond delay="indefinite"/>
                      </p:stCondLst>
                      <p:childTnLst>
                        <p:par>
                          <p:cTn id="153" fill="hold">
                            <p:stCondLst>
                              <p:cond delay="0"/>
                            </p:stCondLst>
                            <p:childTnLst>
                              <p:par>
                                <p:cTn id="158" presetID="2" presetClass="entr" presetSubtype="4" fill="hold" grpId="0" nodeType="clickEffect">
                                  <p:stCondLst>
                                    <p:cond delay="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500" fill="hold"/>
                                        <p:tgtEl>
                                          <p:spTgt spid="40"/>
                                        </p:tgtEl>
                                        <p:attrNameLst>
                                          <p:attrName>ppt_x</p:attrName>
                                        </p:attrNameLst>
                                      </p:cBhvr>
                                      <p:tavLst>
                                        <p:tav tm="0">
                                          <p:val>
                                            <p:strVal val="#ppt_x"/>
                                          </p:val>
                                        </p:tav>
                                        <p:tav tm="100000">
                                          <p:val>
                                            <p:strVal val="#ppt_x"/>
                                          </p:val>
                                        </p:tav>
                                      </p:tavLst>
                                    </p:anim>
                                    <p:anim calcmode="lin" valueType="num">
                                      <p:cBhvr additive="base">
                                        <p:cTn id="156" dur="500" fill="hold"/>
                                        <p:tgtEl>
                                          <p:spTgt spid="40"/>
                                        </p:tgtEl>
                                        <p:attrNameLst>
                                          <p:attrName>ppt_y</p:attrName>
                                        </p:attrNameLst>
                                      </p:cBhvr>
                                      <p:tavLst>
                                        <p:tav tm="0">
                                          <p:val>
                                            <p:strVal val="#ppt_y+0.1"/>
                                          </p:val>
                                        </p:tav>
                                        <p:tav tm="100000">
                                          <p:val>
                                            <p:strVal val="#ppt_y"/>
                                          </p:val>
                                        </p:tav>
                                      </p:tavLst>
                                    </p:anim>
                                    <p:animEffect transition="in" filter="fade">
                                      <p:cBhvr>
                                        <p:cTn id="157" dur="500"/>
                                        <p:tgtEl>
                                          <p:spTgt spid="40"/>
                                        </p:tgtEl>
                                      </p:cBhvr>
                                    </p:animEffect>
                                  </p:childTnLst>
                                </p:cTn>
                              </p:par>
                              <p:par>
                                <p:cTn id="163" presetID="2" presetClass="entr" presetSubtype="4" fill="hold" grpId="0" nodeType="withEffect">
                                  <p:stCondLst>
                                    <p:cond delay="0"/>
                                  </p:stCondLst>
                                  <p:childTnLst>
                                    <p:set>
                                      <p:cBhvr>
                                        <p:cTn id="159" dur="1" fill="hold">
                                          <p:stCondLst>
                                            <p:cond delay="0"/>
                                          </p:stCondLst>
                                        </p:cTn>
                                        <p:tgtEl>
                                          <p:spTgt spid="41"/>
                                        </p:tgtEl>
                                        <p:attrNameLst>
                                          <p:attrName>style.visibility</p:attrName>
                                        </p:attrNameLst>
                                      </p:cBhvr>
                                      <p:to>
                                        <p:strVal val="visible"/>
                                      </p:to>
                                    </p:set>
                                    <p:anim calcmode="lin" valueType="num">
                                      <p:cBhvr additive="base">
                                        <p:cTn id="160" dur="500" fill="hold"/>
                                        <p:tgtEl>
                                          <p:spTgt spid="41"/>
                                        </p:tgtEl>
                                        <p:attrNameLst>
                                          <p:attrName>ppt_x</p:attrName>
                                        </p:attrNameLst>
                                      </p:cBhvr>
                                      <p:tavLst>
                                        <p:tav tm="0">
                                          <p:val>
                                            <p:strVal val="#ppt_x"/>
                                          </p:val>
                                        </p:tav>
                                        <p:tav tm="100000">
                                          <p:val>
                                            <p:strVal val="#ppt_x"/>
                                          </p:val>
                                        </p:tav>
                                      </p:tavLst>
                                    </p:anim>
                                    <p:anim calcmode="lin" valueType="num">
                                      <p:cBhvr additive="base">
                                        <p:cTn id="161" dur="500" fill="hold"/>
                                        <p:tgtEl>
                                          <p:spTgt spid="41"/>
                                        </p:tgtEl>
                                        <p:attrNameLst>
                                          <p:attrName>ppt_y</p:attrName>
                                        </p:attrNameLst>
                                      </p:cBhvr>
                                      <p:tavLst>
                                        <p:tav tm="0">
                                          <p:val>
                                            <p:strVal val="#ppt_y+0.1"/>
                                          </p:val>
                                        </p:tav>
                                        <p:tav tm="100000">
                                          <p:val>
                                            <p:strVal val="#ppt_y"/>
                                          </p:val>
                                        </p:tav>
                                      </p:tavLst>
                                    </p:anim>
                                    <p:animEffect transition="in" filter="fade">
                                      <p:cBhvr>
                                        <p:cTn id="162" dur="500"/>
                                        <p:tgtEl>
                                          <p:spTgt spid="41"/>
                                        </p:tgtEl>
                                      </p:cBhvr>
                                    </p:animEffect>
                                  </p:childTnLst>
                                </p:cTn>
                              </p:par>
                              <p:par>
                                <p:cTn id="168" presetID="2" presetClass="entr" presetSubtype="4" fill="hold" grpId="0" nodeType="withEffect">
                                  <p:stCondLst>
                                    <p:cond delay="0"/>
                                  </p:stCondLst>
                                  <p:childTnLst>
                                    <p:set>
                                      <p:cBhvr>
                                        <p:cTn id="164" dur="1" fill="hold">
                                          <p:stCondLst>
                                            <p:cond delay="0"/>
                                          </p:stCondLst>
                                        </p:cTn>
                                        <p:tgtEl>
                                          <p:spTgt spid="42"/>
                                        </p:tgtEl>
                                        <p:attrNameLst>
                                          <p:attrName>style.visibility</p:attrName>
                                        </p:attrNameLst>
                                      </p:cBhvr>
                                      <p:to>
                                        <p:strVal val="visible"/>
                                      </p:to>
                                    </p:set>
                                    <p:anim calcmode="lin" valueType="num">
                                      <p:cBhvr additive="base">
                                        <p:cTn id="165" dur="500" fill="hold"/>
                                        <p:tgtEl>
                                          <p:spTgt spid="42"/>
                                        </p:tgtEl>
                                        <p:attrNameLst>
                                          <p:attrName>ppt_x</p:attrName>
                                        </p:attrNameLst>
                                      </p:cBhvr>
                                      <p:tavLst>
                                        <p:tav tm="0">
                                          <p:val>
                                            <p:strVal val="#ppt_x"/>
                                          </p:val>
                                        </p:tav>
                                        <p:tav tm="100000">
                                          <p:val>
                                            <p:strVal val="#ppt_x"/>
                                          </p:val>
                                        </p:tav>
                                      </p:tavLst>
                                    </p:anim>
                                    <p:anim calcmode="lin" valueType="num">
                                      <p:cBhvr additive="base">
                                        <p:cTn id="166" dur="500" fill="hold"/>
                                        <p:tgtEl>
                                          <p:spTgt spid="42"/>
                                        </p:tgtEl>
                                        <p:attrNameLst>
                                          <p:attrName>ppt_y</p:attrName>
                                        </p:attrNameLst>
                                      </p:cBhvr>
                                      <p:tavLst>
                                        <p:tav tm="0">
                                          <p:val>
                                            <p:strVal val="#ppt_y+0.1"/>
                                          </p:val>
                                        </p:tav>
                                        <p:tav tm="100000">
                                          <p:val>
                                            <p:strVal val="#ppt_y"/>
                                          </p:val>
                                        </p:tav>
                                      </p:tavLst>
                                    </p:anim>
                                    <p:animEffect transition="in" filter="fade">
                                      <p:cBhvr>
                                        <p:cTn id="16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Streams and Tables: Two Views of the Same Data</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An event marks the moment something took place; a table is the result of all of them</a:t>
            </a:r>
          </a:p>
        </p:txBody>
      </p:sp>
      <p:sp>
        <p:nvSpPr>
          <p:cNvPr id="11" name="a1f_codebg10"/>
          <p:cNvSpPr/>
          <p:nvPr/>
        </p:nvSpPr>
        <p:spPr>
          <a:xfrm>
            <a:off x="457200" y="1234440"/>
            <a:ext cx="4846320" cy="1700784"/>
          </a:xfrm>
          <a:prstGeom prst="roundRect">
            <a:avLst>
              <a:gd name="adj" fmla="val 4301"/>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codeh11"/>
          <p:cNvSpPr txBox="1"/>
          <p:nvPr/>
        </p:nvSpPr>
        <p:spPr>
          <a:xfrm>
            <a:off x="621792" y="1289304"/>
            <a:ext cx="4517136" cy="219456"/>
          </a:xfrm>
          <a:prstGeom prst="rect">
            <a:avLst/>
          </a:prstGeom>
          <a:noFill/>
        </p:spPr>
        <p:txBody>
          <a:bodyPr wrap="square" lIns="0" tIns="0" rIns="0" bIns="0" anchor="ctr">
            <a:spAutoFit/>
          </a:bodyPr>
          <a:lstStyle/>
          <a:p>
            <a:pPr algn="l"/>
            <a:r>
              <a:rPr sz="950" b="1">
                <a:solidFill>
                  <a:srgbClr val="A8A29E"/>
                </a:solidFill>
                <a:latin typeface="Consolas"/>
              </a:rPr>
              <a:t>STREAM - events for order 1001</a:t>
            </a:r>
          </a:p>
        </p:txBody>
      </p:sp>
      <p:sp>
        <p:nvSpPr>
          <p:cNvPr id="13" name="a1f_codesep12"/>
          <p:cNvSpPr/>
          <p:nvPr/>
        </p:nvSpPr>
        <p:spPr>
          <a:xfrm>
            <a:off x="621792" y="1563624"/>
            <a:ext cx="4517136"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_code13"/>
          <p:cNvSpPr txBox="1"/>
          <p:nvPr/>
        </p:nvSpPr>
        <p:spPr>
          <a:xfrm>
            <a:off x="621792" y="1673352"/>
            <a:ext cx="4517136" cy="274320"/>
          </a:xfrm>
          <a:prstGeom prst="rect">
            <a:avLst/>
          </a:prstGeom>
          <a:noFill/>
        </p:spPr>
        <p:txBody>
          <a:bodyPr wrap="none" lIns="0" tIns="0" rIns="0" bIns="0" anchor="ctr">
            <a:spAutoFit/>
          </a:bodyPr>
          <a:lstStyle/>
          <a:p>
            <a:pPr algn="l"/>
            <a:r>
              <a:rPr sz="950" b="0">
                <a:solidFill>
                  <a:srgbClr val="E7E5E4"/>
                </a:solidFill>
                <a:latin typeface="Consolas"/>
              </a:rPr>
              <a:t>10:00     OrderPlaced     item: iPhone 15, qty: 1</a:t>
            </a:r>
          </a:p>
        </p:txBody>
      </p:sp>
      <p:sp>
        <p:nvSpPr>
          <p:cNvPr id="15" name="a1wd250_code14"/>
          <p:cNvSpPr txBox="1"/>
          <p:nvPr/>
        </p:nvSpPr>
        <p:spPr>
          <a:xfrm>
            <a:off x="621792" y="1947672"/>
            <a:ext cx="4517136" cy="274320"/>
          </a:xfrm>
          <a:prstGeom prst="rect">
            <a:avLst/>
          </a:prstGeom>
          <a:noFill/>
        </p:spPr>
        <p:txBody>
          <a:bodyPr wrap="none" lIns="0" tIns="0" rIns="0" bIns="0" anchor="ctr">
            <a:spAutoFit/>
          </a:bodyPr>
          <a:lstStyle/>
          <a:p>
            <a:pPr algn="l"/>
            <a:r>
              <a:rPr sz="950" b="0">
                <a:solidFill>
                  <a:srgbClr val="E7E5E4"/>
                </a:solidFill>
                <a:latin typeface="Consolas"/>
              </a:rPr>
              <a:t>10:02     PaymentMade     amount: $999</a:t>
            </a:r>
          </a:p>
        </p:txBody>
      </p:sp>
      <p:sp>
        <p:nvSpPr>
          <p:cNvPr id="16" name="a1wd500_code15"/>
          <p:cNvSpPr txBox="1"/>
          <p:nvPr/>
        </p:nvSpPr>
        <p:spPr>
          <a:xfrm>
            <a:off x="621792" y="2221992"/>
            <a:ext cx="4517136" cy="274320"/>
          </a:xfrm>
          <a:prstGeom prst="rect">
            <a:avLst/>
          </a:prstGeom>
          <a:noFill/>
        </p:spPr>
        <p:txBody>
          <a:bodyPr wrap="none" lIns="0" tIns="0" rIns="0" bIns="0" anchor="ctr">
            <a:spAutoFit/>
          </a:bodyPr>
          <a:lstStyle/>
          <a:p>
            <a:pPr algn="l"/>
            <a:r>
              <a:rPr sz="950" b="0">
                <a:solidFill>
                  <a:srgbClr val="E7E5E4"/>
                </a:solidFill>
                <a:latin typeface="Consolas"/>
              </a:rPr>
              <a:t>14:30     OrderShipped    courier: XYZ Express</a:t>
            </a:r>
          </a:p>
        </p:txBody>
      </p:sp>
      <p:sp>
        <p:nvSpPr>
          <p:cNvPr id="17" name="a1wd750_code16"/>
          <p:cNvSpPr txBox="1"/>
          <p:nvPr/>
        </p:nvSpPr>
        <p:spPr>
          <a:xfrm>
            <a:off x="621792" y="2496312"/>
            <a:ext cx="4517136" cy="274320"/>
          </a:xfrm>
          <a:prstGeom prst="rect">
            <a:avLst/>
          </a:prstGeom>
          <a:noFill/>
        </p:spPr>
        <p:txBody>
          <a:bodyPr wrap="none" lIns="0" tIns="0" rIns="0" bIns="0" anchor="ctr">
            <a:spAutoFit/>
          </a:bodyPr>
          <a:lstStyle/>
          <a:p>
            <a:pPr algn="l"/>
            <a:r>
              <a:rPr sz="950" b="0">
                <a:solidFill>
                  <a:srgbClr val="86EFAC"/>
                </a:solidFill>
                <a:latin typeface="Consolas"/>
              </a:rPr>
              <a:t>next day  OrderDelivered  city: Chennai</a:t>
            </a:r>
          </a:p>
        </p:txBody>
      </p:sp>
      <p:cxnSp>
        <p:nvCxnSpPr>
          <p:cNvPr id="18" name="a2u_ar17"/>
          <p:cNvCxnSpPr/>
          <p:nvPr/>
        </p:nvCxnSpPr>
        <p:spPr>
          <a:xfrm>
            <a:off x="5349240" y="2011680"/>
            <a:ext cx="365760"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a2u_lb18"/>
          <p:cNvSpPr txBox="1"/>
          <p:nvPr/>
        </p:nvSpPr>
        <p:spPr>
          <a:xfrm>
            <a:off x="5212080" y="1737360"/>
            <a:ext cx="640080" cy="201168"/>
          </a:xfrm>
          <a:prstGeom prst="rect">
            <a:avLst/>
          </a:prstGeom>
          <a:noFill/>
        </p:spPr>
        <p:txBody>
          <a:bodyPr wrap="square" lIns="0" tIns="0" rIns="0" bIns="0" anchor="ctr">
            <a:spAutoFit/>
          </a:bodyPr>
          <a:lstStyle/>
          <a:p>
            <a:pPr algn="ctr"/>
            <a:r>
              <a:rPr sz="800" b="1">
                <a:solidFill>
                  <a:srgbClr val="C2410C"/>
                </a:solidFill>
                <a:latin typeface="Segoe UI"/>
              </a:rPr>
              <a:t>replay</a:t>
            </a:r>
          </a:p>
        </p:txBody>
      </p:sp>
      <p:sp>
        <p:nvSpPr>
          <p:cNvPr id="20" name="a2ud100_card19"/>
          <p:cNvSpPr/>
          <p:nvPr/>
        </p:nvSpPr>
        <p:spPr>
          <a:xfrm>
            <a:off x="5760720" y="1417320"/>
            <a:ext cx="2926080" cy="1188720"/>
          </a:xfrm>
          <a:prstGeom prst="roundRect">
            <a:avLst>
              <a:gd name="adj" fmla="val 9230"/>
            </a:avLst>
          </a:prstGeom>
          <a:solidFill>
            <a:srgbClr val="F7F6F3"/>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d100_hh20"/>
          <p:cNvSpPr txBox="1"/>
          <p:nvPr/>
        </p:nvSpPr>
        <p:spPr>
          <a:xfrm>
            <a:off x="5897880" y="1481328"/>
            <a:ext cx="2651760" cy="219456"/>
          </a:xfrm>
          <a:prstGeom prst="rect">
            <a:avLst/>
          </a:prstGeom>
          <a:noFill/>
        </p:spPr>
        <p:txBody>
          <a:bodyPr wrap="square" lIns="0" tIns="0" rIns="0" bIns="0" anchor="ctr">
            <a:spAutoFit/>
          </a:bodyPr>
          <a:lstStyle/>
          <a:p>
            <a:pPr algn="l"/>
            <a:r>
              <a:rPr sz="850" b="1">
                <a:solidFill>
                  <a:srgbClr val="C2410C"/>
                </a:solidFill>
                <a:latin typeface="Segoe UI"/>
              </a:rPr>
              <a:t>TABLE  ·  current state</a:t>
            </a:r>
          </a:p>
        </p:txBody>
      </p:sp>
      <p:sp>
        <p:nvSpPr>
          <p:cNvPr id="22" name="a2ud150_tk21"/>
          <p:cNvSpPr txBox="1"/>
          <p:nvPr/>
        </p:nvSpPr>
        <p:spPr>
          <a:xfrm>
            <a:off x="5897880" y="1755648"/>
            <a:ext cx="822960" cy="237744"/>
          </a:xfrm>
          <a:prstGeom prst="rect">
            <a:avLst/>
          </a:prstGeom>
          <a:noFill/>
        </p:spPr>
        <p:txBody>
          <a:bodyPr wrap="square" lIns="0" tIns="0" rIns="0" bIns="0" anchor="ctr">
            <a:spAutoFit/>
          </a:bodyPr>
          <a:lstStyle/>
          <a:p>
            <a:pPr algn="l"/>
            <a:r>
              <a:rPr sz="950" b="0">
                <a:solidFill>
                  <a:srgbClr val="78716C"/>
                </a:solidFill>
                <a:latin typeface="Consolas"/>
              </a:rPr>
              <a:t>order</a:t>
            </a:r>
          </a:p>
        </p:txBody>
      </p:sp>
      <p:sp>
        <p:nvSpPr>
          <p:cNvPr id="23" name="a2ud150_tv22"/>
          <p:cNvSpPr txBox="1"/>
          <p:nvPr/>
        </p:nvSpPr>
        <p:spPr>
          <a:xfrm>
            <a:off x="6720840" y="1755648"/>
            <a:ext cx="1828800" cy="237744"/>
          </a:xfrm>
          <a:prstGeom prst="rect">
            <a:avLst/>
          </a:prstGeom>
          <a:noFill/>
        </p:spPr>
        <p:txBody>
          <a:bodyPr wrap="square" lIns="0" tIns="0" rIns="0" bIns="0" anchor="ctr">
            <a:spAutoFit/>
          </a:bodyPr>
          <a:lstStyle/>
          <a:p>
            <a:pPr algn="l"/>
            <a:r>
              <a:rPr sz="900" b="1">
                <a:solidFill>
                  <a:srgbClr val="1C1917"/>
                </a:solidFill>
                <a:latin typeface="Segoe UI"/>
              </a:rPr>
              <a:t>1001</a:t>
            </a:r>
          </a:p>
        </p:txBody>
      </p:sp>
      <p:sp>
        <p:nvSpPr>
          <p:cNvPr id="24" name="a2ud150_tk23"/>
          <p:cNvSpPr txBox="1"/>
          <p:nvPr/>
        </p:nvSpPr>
        <p:spPr>
          <a:xfrm>
            <a:off x="5897880" y="2011680"/>
            <a:ext cx="822960" cy="237744"/>
          </a:xfrm>
          <a:prstGeom prst="rect">
            <a:avLst/>
          </a:prstGeom>
          <a:noFill/>
        </p:spPr>
        <p:txBody>
          <a:bodyPr wrap="square" lIns="0" tIns="0" rIns="0" bIns="0" anchor="ctr">
            <a:spAutoFit/>
          </a:bodyPr>
          <a:lstStyle/>
          <a:p>
            <a:pPr algn="l"/>
            <a:r>
              <a:rPr sz="950" b="0">
                <a:solidFill>
                  <a:srgbClr val="78716C"/>
                </a:solidFill>
                <a:latin typeface="Consolas"/>
              </a:rPr>
              <a:t>status</a:t>
            </a:r>
          </a:p>
        </p:txBody>
      </p:sp>
      <p:sp>
        <p:nvSpPr>
          <p:cNvPr id="25" name="a2ud150_tv24"/>
          <p:cNvSpPr txBox="1"/>
          <p:nvPr/>
        </p:nvSpPr>
        <p:spPr>
          <a:xfrm>
            <a:off x="6720840" y="2011680"/>
            <a:ext cx="1828800" cy="237744"/>
          </a:xfrm>
          <a:prstGeom prst="rect">
            <a:avLst/>
          </a:prstGeom>
          <a:noFill/>
        </p:spPr>
        <p:txBody>
          <a:bodyPr wrap="square" lIns="0" tIns="0" rIns="0" bIns="0" anchor="ctr">
            <a:spAutoFit/>
          </a:bodyPr>
          <a:lstStyle/>
          <a:p>
            <a:pPr algn="l"/>
            <a:r>
              <a:rPr sz="900" b="1">
                <a:solidFill>
                  <a:srgbClr val="1C1917"/>
                </a:solidFill>
                <a:latin typeface="Segoe UI"/>
              </a:rPr>
              <a:t>Delivered</a:t>
            </a:r>
          </a:p>
        </p:txBody>
      </p:sp>
      <p:sp>
        <p:nvSpPr>
          <p:cNvPr id="26" name="a2ud150_tk25"/>
          <p:cNvSpPr txBox="1"/>
          <p:nvPr/>
        </p:nvSpPr>
        <p:spPr>
          <a:xfrm>
            <a:off x="5897880" y="2267712"/>
            <a:ext cx="822960" cy="237744"/>
          </a:xfrm>
          <a:prstGeom prst="rect">
            <a:avLst/>
          </a:prstGeom>
          <a:noFill/>
        </p:spPr>
        <p:txBody>
          <a:bodyPr wrap="square" lIns="0" tIns="0" rIns="0" bIns="0" anchor="ctr">
            <a:spAutoFit/>
          </a:bodyPr>
          <a:lstStyle/>
          <a:p>
            <a:pPr algn="l"/>
            <a:r>
              <a:rPr sz="950" b="0">
                <a:solidFill>
                  <a:srgbClr val="78716C"/>
                </a:solidFill>
                <a:latin typeface="Consolas"/>
              </a:rPr>
              <a:t>paid</a:t>
            </a:r>
          </a:p>
        </p:txBody>
      </p:sp>
      <p:sp>
        <p:nvSpPr>
          <p:cNvPr id="27" name="a2ud150_tv26"/>
          <p:cNvSpPr txBox="1"/>
          <p:nvPr/>
        </p:nvSpPr>
        <p:spPr>
          <a:xfrm>
            <a:off x="6720840" y="2267712"/>
            <a:ext cx="1828800" cy="237744"/>
          </a:xfrm>
          <a:prstGeom prst="rect">
            <a:avLst/>
          </a:prstGeom>
          <a:noFill/>
        </p:spPr>
        <p:txBody>
          <a:bodyPr wrap="square" lIns="0" tIns="0" rIns="0" bIns="0" anchor="ctr">
            <a:spAutoFit/>
          </a:bodyPr>
          <a:lstStyle/>
          <a:p>
            <a:pPr algn="l"/>
            <a:r>
              <a:rPr sz="900" b="1">
                <a:solidFill>
                  <a:srgbClr val="1C1917"/>
                </a:solidFill>
                <a:latin typeface="Segoe UI"/>
              </a:rPr>
              <a:t>$999</a:t>
            </a:r>
          </a:p>
        </p:txBody>
      </p:sp>
      <p:sp>
        <p:nvSpPr>
          <p:cNvPr id="28" name="a3u_nb27"/>
          <p:cNvSpPr/>
          <p:nvPr/>
        </p:nvSpPr>
        <p:spPr>
          <a:xfrm>
            <a:off x="457200" y="3163824"/>
            <a:ext cx="4023360" cy="960120"/>
          </a:xfrm>
          <a:prstGeom prst="roundRect">
            <a:avLst>
              <a:gd name="adj" fmla="val 7619"/>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3u_nacc28"/>
          <p:cNvSpPr/>
          <p:nvPr/>
        </p:nvSpPr>
        <p:spPr>
          <a:xfrm>
            <a:off x="457200" y="3163824"/>
            <a:ext cx="54864" cy="9601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_nt29"/>
          <p:cNvSpPr txBox="1"/>
          <p:nvPr/>
        </p:nvSpPr>
        <p:spPr>
          <a:xfrm>
            <a:off x="658368" y="3163824"/>
            <a:ext cx="3621024" cy="960120"/>
          </a:xfrm>
          <a:prstGeom prst="rect">
            <a:avLst/>
          </a:prstGeom>
          <a:noFill/>
        </p:spPr>
        <p:txBody>
          <a:bodyPr wrap="square" lIns="0" tIns="0" rIns="0" bIns="0" anchor="ctr">
            <a:spAutoFit/>
          </a:bodyPr>
          <a:lstStyle/>
          <a:p>
            <a:pPr algn="l"/>
            <a:r>
              <a:rPr sz="950" b="1">
                <a:solidFill>
                  <a:srgbClr val="C2410C"/>
                </a:solidFill>
                <a:latin typeface="Segoe UI"/>
              </a:rPr>
              <a:t>1  </a:t>
            </a:r>
            <a:r>
              <a:rPr sz="950" b="0">
                <a:solidFill>
                  <a:srgbClr val="44403C"/>
                </a:solidFill>
                <a:latin typeface="Segoe UI"/>
              </a:rPr>
              <a:t>Stream to table: replay the events and you get the current state.</a:t>
            </a:r>
          </a:p>
        </p:txBody>
      </p:sp>
      <p:sp>
        <p:nvSpPr>
          <p:cNvPr id="31" name="a4u_nb30"/>
          <p:cNvSpPr/>
          <p:nvPr/>
        </p:nvSpPr>
        <p:spPr>
          <a:xfrm>
            <a:off x="4663440" y="3163824"/>
            <a:ext cx="4023360" cy="960120"/>
          </a:xfrm>
          <a:prstGeom prst="roundRect">
            <a:avLst>
              <a:gd name="adj" fmla="val 7619"/>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4u_nacc31"/>
          <p:cNvSpPr/>
          <p:nvPr/>
        </p:nvSpPr>
        <p:spPr>
          <a:xfrm>
            <a:off x="4663440" y="3163824"/>
            <a:ext cx="54864" cy="9601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4u_nt32"/>
          <p:cNvSpPr txBox="1"/>
          <p:nvPr/>
        </p:nvSpPr>
        <p:spPr>
          <a:xfrm>
            <a:off x="4864607" y="3163824"/>
            <a:ext cx="3621024" cy="960120"/>
          </a:xfrm>
          <a:prstGeom prst="rect">
            <a:avLst/>
          </a:prstGeom>
          <a:noFill/>
        </p:spPr>
        <p:txBody>
          <a:bodyPr wrap="square" lIns="0" tIns="0" rIns="0" bIns="0" anchor="ctr">
            <a:spAutoFit/>
          </a:bodyPr>
          <a:lstStyle/>
          <a:p>
            <a:pPr algn="l"/>
            <a:r>
              <a:rPr sz="950" b="1">
                <a:solidFill>
                  <a:srgbClr val="0E7490"/>
                </a:solidFill>
                <a:latin typeface="Segoe UI"/>
              </a:rPr>
              <a:t>2  </a:t>
            </a:r>
            <a:r>
              <a:rPr sz="950" b="0">
                <a:solidFill>
                  <a:srgbClr val="44403C"/>
                </a:solidFill>
                <a:latin typeface="Segoe UI"/>
              </a:rPr>
              <a:t>Table to stream: every change to a table is itself an event.</a:t>
            </a:r>
          </a:p>
        </p:txBody>
      </p:sp>
      <p:sp>
        <p:nvSpPr>
          <p:cNvPr id="34" name="ft33"/>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56</a:t>
            </a:r>
          </a:p>
        </p:txBody>
      </p:sp>
      <p:sp>
        <p:nvSpPr>
          <p:cNvPr id="35" name="ft34"/>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ft35"/>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37" name="ft36"/>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25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50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75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32" presetID="2" presetClass="entr" presetSubtype="4"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additive="base">
                                        <p:cTn id="29" dur="500" fill="hold"/>
                                        <p:tgtEl>
                                          <p:spTgt spid="18"/>
                                        </p:tgtEl>
                                        <p:attrNameLst>
                                          <p:attrName>ppt_x</p:attrName>
                                        </p:attrNameLst>
                                      </p:cBhvr>
                                      <p:tavLst>
                                        <p:tav tm="0">
                                          <p:val>
                                            <p:strVal val="#ppt_x"/>
                                          </p:val>
                                        </p:tav>
                                        <p:tav tm="100000">
                                          <p:val>
                                            <p:strVal val="#ppt_x"/>
                                          </p:val>
                                        </p:tav>
                                      </p:tavLst>
                                    </p:anim>
                                    <p:anim calcmode="lin" valueType="num">
                                      <p:cBhvr additive="base">
                                        <p:cTn id="30" dur="500" fill="hold"/>
                                        <p:tgtEl>
                                          <p:spTgt spid="18"/>
                                        </p:tgtEl>
                                        <p:attrNameLst>
                                          <p:attrName>ppt_y</p:attrName>
                                        </p:attrNameLst>
                                      </p:cBhvr>
                                      <p:tavLst>
                                        <p:tav tm="0">
                                          <p:val>
                                            <p:strVal val="#ppt_y+0.1"/>
                                          </p:val>
                                        </p:tav>
                                        <p:tav tm="100000">
                                          <p:val>
                                            <p:strVal val="#ppt_y"/>
                                          </p:val>
                                        </p:tav>
                                      </p:tavLst>
                                    </p:anim>
                                    <p:animEffect transition="in" filter="fade">
                                      <p:cBhvr>
                                        <p:cTn id="31" dur="500"/>
                                        <p:tgtEl>
                                          <p:spTgt spid="18"/>
                                        </p:tgtEl>
                                      </p:cBhvr>
                                    </p:animEffect>
                                  </p:childTnLst>
                                </p:cTn>
                              </p:par>
                              <p:par>
                                <p:cTn id="37" presetID="2" presetClass="entr" presetSubtype="4"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 calcmode="lin" valueType="num">
                                      <p:cBhvr additive="base">
                                        <p:cTn id="34" dur="500" fill="hold"/>
                                        <p:tgtEl>
                                          <p:spTgt spid="19"/>
                                        </p:tgtEl>
                                        <p:attrNameLst>
                                          <p:attrName>ppt_x</p:attrName>
                                        </p:attrNameLst>
                                      </p:cBhvr>
                                      <p:tavLst>
                                        <p:tav tm="0">
                                          <p:val>
                                            <p:strVal val="#ppt_x"/>
                                          </p:val>
                                        </p:tav>
                                        <p:tav tm="100000">
                                          <p:val>
                                            <p:strVal val="#ppt_x"/>
                                          </p:val>
                                        </p:tav>
                                      </p:tavLst>
                                    </p:anim>
                                    <p:anim calcmode="lin" valueType="num">
                                      <p:cBhvr additive="base">
                                        <p:cTn id="35" dur="500" fill="hold"/>
                                        <p:tgtEl>
                                          <p:spTgt spid="19"/>
                                        </p:tgtEl>
                                        <p:attrNameLst>
                                          <p:attrName>ppt_y</p:attrName>
                                        </p:attrNameLst>
                                      </p:cBhvr>
                                      <p:tavLst>
                                        <p:tav tm="0">
                                          <p:val>
                                            <p:strVal val="#ppt_y+0.1"/>
                                          </p:val>
                                        </p:tav>
                                        <p:tav tm="100000">
                                          <p:val>
                                            <p:strVal val="#ppt_y"/>
                                          </p:val>
                                        </p:tav>
                                      </p:tavLst>
                                    </p:anim>
                                    <p:animEffect transition="in" filter="fade">
                                      <p:cBhvr>
                                        <p:cTn id="36" dur="500"/>
                                        <p:tgtEl>
                                          <p:spTgt spid="19"/>
                                        </p:tgtEl>
                                      </p:cBhvr>
                                    </p:animEffect>
                                  </p:childTnLst>
                                </p:cTn>
                              </p:par>
                              <p:par>
                                <p:cTn id="42" presetID="2" presetClass="entr" presetSubtype="4" fill="hold" grpId="0" nodeType="withEffect">
                                  <p:stCondLst>
                                    <p:cond delay="10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ppt_x"/>
                                          </p:val>
                                        </p:tav>
                                        <p:tav tm="100000">
                                          <p:val>
                                            <p:strVal val="#ppt_x"/>
                                          </p:val>
                                        </p:tav>
                                      </p:tavLst>
                                    </p:anim>
                                    <p:anim calcmode="lin" valueType="num">
                                      <p:cBhvr additive="base">
                                        <p:cTn id="40" dur="500" fill="hold"/>
                                        <p:tgtEl>
                                          <p:spTgt spid="20"/>
                                        </p:tgtEl>
                                        <p:attrNameLst>
                                          <p:attrName>ppt_y</p:attrName>
                                        </p:attrNameLst>
                                      </p:cBhvr>
                                      <p:tavLst>
                                        <p:tav tm="0">
                                          <p:val>
                                            <p:strVal val="#ppt_y+0.1"/>
                                          </p:val>
                                        </p:tav>
                                        <p:tav tm="100000">
                                          <p:val>
                                            <p:strVal val="#ppt_y"/>
                                          </p:val>
                                        </p:tav>
                                      </p:tavLst>
                                    </p:anim>
                                    <p:animEffect transition="in" filter="fade">
                                      <p:cBhvr>
                                        <p:cTn id="41" dur="500"/>
                                        <p:tgtEl>
                                          <p:spTgt spid="20"/>
                                        </p:tgtEl>
                                      </p:cBhvr>
                                    </p:animEffect>
                                  </p:childTnLst>
                                </p:cTn>
                              </p:par>
                              <p:par>
                                <p:cTn id="47" presetID="2" presetClass="entr" presetSubtype="4" fill="hold" grpId="0" nodeType="withEffect">
                                  <p:stCondLst>
                                    <p:cond delay="100"/>
                                  </p:stCondLst>
                                  <p:childTnLst>
                                    <p:set>
                                      <p:cBhvr>
                                        <p:cTn id="43" dur="1" fill="hold">
                                          <p:stCondLst>
                                            <p:cond delay="0"/>
                                          </p:stCondLst>
                                        </p:cTn>
                                        <p:tgtEl>
                                          <p:spTgt spid="21"/>
                                        </p:tgtEl>
                                        <p:attrNameLst>
                                          <p:attrName>style.visibility</p:attrName>
                                        </p:attrNameLst>
                                      </p:cBhvr>
                                      <p:to>
                                        <p:strVal val="visible"/>
                                      </p:to>
                                    </p:set>
                                    <p:anim calcmode="lin" valueType="num">
                                      <p:cBhvr additive="base">
                                        <p:cTn id="44" dur="500" fill="hold"/>
                                        <p:tgtEl>
                                          <p:spTgt spid="21"/>
                                        </p:tgtEl>
                                        <p:attrNameLst>
                                          <p:attrName>ppt_x</p:attrName>
                                        </p:attrNameLst>
                                      </p:cBhvr>
                                      <p:tavLst>
                                        <p:tav tm="0">
                                          <p:val>
                                            <p:strVal val="#ppt_x"/>
                                          </p:val>
                                        </p:tav>
                                        <p:tav tm="100000">
                                          <p:val>
                                            <p:strVal val="#ppt_x"/>
                                          </p:val>
                                        </p:tav>
                                      </p:tavLst>
                                    </p:anim>
                                    <p:anim calcmode="lin" valueType="num">
                                      <p:cBhvr additive="base">
                                        <p:cTn id="45" dur="500" fill="hold"/>
                                        <p:tgtEl>
                                          <p:spTgt spid="21"/>
                                        </p:tgtEl>
                                        <p:attrNameLst>
                                          <p:attrName>ppt_y</p:attrName>
                                        </p:attrNameLst>
                                      </p:cBhvr>
                                      <p:tavLst>
                                        <p:tav tm="0">
                                          <p:val>
                                            <p:strVal val="#ppt_y+0.1"/>
                                          </p:val>
                                        </p:tav>
                                        <p:tav tm="100000">
                                          <p:val>
                                            <p:strVal val="#ppt_y"/>
                                          </p:val>
                                        </p:tav>
                                      </p:tavLst>
                                    </p:anim>
                                    <p:animEffect transition="in" filter="fade">
                                      <p:cBhvr>
                                        <p:cTn id="46" dur="500"/>
                                        <p:tgtEl>
                                          <p:spTgt spid="21"/>
                                        </p:tgtEl>
                                      </p:cBhvr>
                                    </p:animEffect>
                                  </p:childTnLst>
                                </p:cTn>
                              </p:par>
                              <p:par>
                                <p:cTn id="52" presetID="2" presetClass="entr" presetSubtype="4" fill="hold" grpId="0" nodeType="withEffect">
                                  <p:stCondLst>
                                    <p:cond delay="150"/>
                                  </p:stCondLst>
                                  <p:childTnLst>
                                    <p:set>
                                      <p:cBhvr>
                                        <p:cTn id="48" dur="1" fill="hold">
                                          <p:stCondLst>
                                            <p:cond delay="0"/>
                                          </p:stCondLst>
                                        </p:cTn>
                                        <p:tgtEl>
                                          <p:spTgt spid="22"/>
                                        </p:tgtEl>
                                        <p:attrNameLst>
                                          <p:attrName>style.visibility</p:attrName>
                                        </p:attrNameLst>
                                      </p:cBhvr>
                                      <p:to>
                                        <p:strVal val="visible"/>
                                      </p:to>
                                    </p:set>
                                    <p:anim calcmode="lin" valueType="num">
                                      <p:cBhvr additive="base">
                                        <p:cTn id="49" dur="500" fill="hold"/>
                                        <p:tgtEl>
                                          <p:spTgt spid="22"/>
                                        </p:tgtEl>
                                        <p:attrNameLst>
                                          <p:attrName>ppt_x</p:attrName>
                                        </p:attrNameLst>
                                      </p:cBhvr>
                                      <p:tavLst>
                                        <p:tav tm="0">
                                          <p:val>
                                            <p:strVal val="#ppt_x"/>
                                          </p:val>
                                        </p:tav>
                                        <p:tav tm="100000">
                                          <p:val>
                                            <p:strVal val="#ppt_x"/>
                                          </p:val>
                                        </p:tav>
                                      </p:tavLst>
                                    </p:anim>
                                    <p:anim calcmode="lin" valueType="num">
                                      <p:cBhvr additive="base">
                                        <p:cTn id="50" dur="500" fill="hold"/>
                                        <p:tgtEl>
                                          <p:spTgt spid="22"/>
                                        </p:tgtEl>
                                        <p:attrNameLst>
                                          <p:attrName>ppt_y</p:attrName>
                                        </p:attrNameLst>
                                      </p:cBhvr>
                                      <p:tavLst>
                                        <p:tav tm="0">
                                          <p:val>
                                            <p:strVal val="#ppt_y+0.1"/>
                                          </p:val>
                                        </p:tav>
                                        <p:tav tm="100000">
                                          <p:val>
                                            <p:strVal val="#ppt_y"/>
                                          </p:val>
                                        </p:tav>
                                      </p:tavLst>
                                    </p:anim>
                                    <p:animEffect transition="in" filter="fade">
                                      <p:cBhvr>
                                        <p:cTn id="51" dur="500"/>
                                        <p:tgtEl>
                                          <p:spTgt spid="22"/>
                                        </p:tgtEl>
                                      </p:cBhvr>
                                    </p:animEffect>
                                  </p:childTnLst>
                                </p:cTn>
                              </p:par>
                              <p:par>
                                <p:cTn id="57" presetID="2" presetClass="entr" presetSubtype="4" fill="hold" grpId="0" nodeType="withEffect">
                                  <p:stCondLst>
                                    <p:cond delay="150"/>
                                  </p:stCondLst>
                                  <p:childTnLst>
                                    <p:set>
                                      <p:cBhvr>
                                        <p:cTn id="53" dur="1" fill="hold">
                                          <p:stCondLst>
                                            <p:cond delay="0"/>
                                          </p:stCondLst>
                                        </p:cTn>
                                        <p:tgtEl>
                                          <p:spTgt spid="23"/>
                                        </p:tgtEl>
                                        <p:attrNameLst>
                                          <p:attrName>style.visibility</p:attrName>
                                        </p:attrNameLst>
                                      </p:cBhvr>
                                      <p:to>
                                        <p:strVal val="visible"/>
                                      </p:to>
                                    </p:set>
                                    <p:anim calcmode="lin" valueType="num">
                                      <p:cBhvr additive="base">
                                        <p:cTn id="54" dur="500" fill="hold"/>
                                        <p:tgtEl>
                                          <p:spTgt spid="23"/>
                                        </p:tgtEl>
                                        <p:attrNameLst>
                                          <p:attrName>ppt_x</p:attrName>
                                        </p:attrNameLst>
                                      </p:cBhvr>
                                      <p:tavLst>
                                        <p:tav tm="0">
                                          <p:val>
                                            <p:strVal val="#ppt_x"/>
                                          </p:val>
                                        </p:tav>
                                        <p:tav tm="100000">
                                          <p:val>
                                            <p:strVal val="#ppt_x"/>
                                          </p:val>
                                        </p:tav>
                                      </p:tavLst>
                                    </p:anim>
                                    <p:anim calcmode="lin" valueType="num">
                                      <p:cBhvr additive="base">
                                        <p:cTn id="55" dur="500" fill="hold"/>
                                        <p:tgtEl>
                                          <p:spTgt spid="23"/>
                                        </p:tgtEl>
                                        <p:attrNameLst>
                                          <p:attrName>ppt_y</p:attrName>
                                        </p:attrNameLst>
                                      </p:cBhvr>
                                      <p:tavLst>
                                        <p:tav tm="0">
                                          <p:val>
                                            <p:strVal val="#ppt_y+0.1"/>
                                          </p:val>
                                        </p:tav>
                                        <p:tav tm="100000">
                                          <p:val>
                                            <p:strVal val="#ppt_y"/>
                                          </p:val>
                                        </p:tav>
                                      </p:tavLst>
                                    </p:anim>
                                    <p:animEffect transition="in" filter="fade">
                                      <p:cBhvr>
                                        <p:cTn id="56" dur="500"/>
                                        <p:tgtEl>
                                          <p:spTgt spid="23"/>
                                        </p:tgtEl>
                                      </p:cBhvr>
                                    </p:animEffect>
                                  </p:childTnLst>
                                </p:cTn>
                              </p:par>
                              <p:par>
                                <p:cTn id="62" presetID="2" presetClass="entr" presetSubtype="4" fill="hold" grpId="0" nodeType="withEffect">
                                  <p:stCondLst>
                                    <p:cond delay="150"/>
                                  </p:stCondLst>
                                  <p:childTnLst>
                                    <p:set>
                                      <p:cBhvr>
                                        <p:cTn id="58" dur="1" fill="hold">
                                          <p:stCondLst>
                                            <p:cond delay="0"/>
                                          </p:stCondLst>
                                        </p:cTn>
                                        <p:tgtEl>
                                          <p:spTgt spid="24"/>
                                        </p:tgtEl>
                                        <p:attrNameLst>
                                          <p:attrName>style.visibility</p:attrName>
                                        </p:attrNameLst>
                                      </p:cBhvr>
                                      <p:to>
                                        <p:strVal val="visible"/>
                                      </p:to>
                                    </p:set>
                                    <p:anim calcmode="lin" valueType="num">
                                      <p:cBhvr additive="base">
                                        <p:cTn id="59" dur="500" fill="hold"/>
                                        <p:tgtEl>
                                          <p:spTgt spid="24"/>
                                        </p:tgtEl>
                                        <p:attrNameLst>
                                          <p:attrName>ppt_x</p:attrName>
                                        </p:attrNameLst>
                                      </p:cBhvr>
                                      <p:tavLst>
                                        <p:tav tm="0">
                                          <p:val>
                                            <p:strVal val="#ppt_x"/>
                                          </p:val>
                                        </p:tav>
                                        <p:tav tm="100000">
                                          <p:val>
                                            <p:strVal val="#ppt_x"/>
                                          </p:val>
                                        </p:tav>
                                      </p:tavLst>
                                    </p:anim>
                                    <p:anim calcmode="lin" valueType="num">
                                      <p:cBhvr additive="base">
                                        <p:cTn id="60" dur="500" fill="hold"/>
                                        <p:tgtEl>
                                          <p:spTgt spid="24"/>
                                        </p:tgtEl>
                                        <p:attrNameLst>
                                          <p:attrName>ppt_y</p:attrName>
                                        </p:attrNameLst>
                                      </p:cBhvr>
                                      <p:tavLst>
                                        <p:tav tm="0">
                                          <p:val>
                                            <p:strVal val="#ppt_y+0.1"/>
                                          </p:val>
                                        </p:tav>
                                        <p:tav tm="100000">
                                          <p:val>
                                            <p:strVal val="#ppt_y"/>
                                          </p:val>
                                        </p:tav>
                                      </p:tavLst>
                                    </p:anim>
                                    <p:animEffect transition="in" filter="fade">
                                      <p:cBhvr>
                                        <p:cTn id="61" dur="500"/>
                                        <p:tgtEl>
                                          <p:spTgt spid="24"/>
                                        </p:tgtEl>
                                      </p:cBhvr>
                                    </p:animEffect>
                                  </p:childTnLst>
                                </p:cTn>
                              </p:par>
                              <p:par>
                                <p:cTn id="67" presetID="2" presetClass="entr" presetSubtype="4" fill="hold" grpId="0" nodeType="withEffect">
                                  <p:stCondLst>
                                    <p:cond delay="150"/>
                                  </p:stCondLst>
                                  <p:childTnLst>
                                    <p:set>
                                      <p:cBhvr>
                                        <p:cTn id="63" dur="1" fill="hold">
                                          <p:stCondLst>
                                            <p:cond delay="0"/>
                                          </p:stCondLst>
                                        </p:cTn>
                                        <p:tgtEl>
                                          <p:spTgt spid="25"/>
                                        </p:tgtEl>
                                        <p:attrNameLst>
                                          <p:attrName>style.visibility</p:attrName>
                                        </p:attrNameLst>
                                      </p:cBhvr>
                                      <p:to>
                                        <p:strVal val="visible"/>
                                      </p:to>
                                    </p:set>
                                    <p:anim calcmode="lin" valueType="num">
                                      <p:cBhvr additive="base">
                                        <p:cTn id="64" dur="500" fill="hold"/>
                                        <p:tgtEl>
                                          <p:spTgt spid="25"/>
                                        </p:tgtEl>
                                        <p:attrNameLst>
                                          <p:attrName>ppt_x</p:attrName>
                                        </p:attrNameLst>
                                      </p:cBhvr>
                                      <p:tavLst>
                                        <p:tav tm="0">
                                          <p:val>
                                            <p:strVal val="#ppt_x"/>
                                          </p:val>
                                        </p:tav>
                                        <p:tav tm="100000">
                                          <p:val>
                                            <p:strVal val="#ppt_x"/>
                                          </p:val>
                                        </p:tav>
                                      </p:tavLst>
                                    </p:anim>
                                    <p:anim calcmode="lin" valueType="num">
                                      <p:cBhvr additive="base">
                                        <p:cTn id="65" dur="500" fill="hold"/>
                                        <p:tgtEl>
                                          <p:spTgt spid="25"/>
                                        </p:tgtEl>
                                        <p:attrNameLst>
                                          <p:attrName>ppt_y</p:attrName>
                                        </p:attrNameLst>
                                      </p:cBhvr>
                                      <p:tavLst>
                                        <p:tav tm="0">
                                          <p:val>
                                            <p:strVal val="#ppt_y+0.1"/>
                                          </p:val>
                                        </p:tav>
                                        <p:tav tm="100000">
                                          <p:val>
                                            <p:strVal val="#ppt_y"/>
                                          </p:val>
                                        </p:tav>
                                      </p:tavLst>
                                    </p:anim>
                                    <p:animEffect transition="in" filter="fade">
                                      <p:cBhvr>
                                        <p:cTn id="66" dur="500"/>
                                        <p:tgtEl>
                                          <p:spTgt spid="25"/>
                                        </p:tgtEl>
                                      </p:cBhvr>
                                    </p:animEffect>
                                  </p:childTnLst>
                                </p:cTn>
                              </p:par>
                              <p:par>
                                <p:cTn id="72" presetID="2" presetClass="entr" presetSubtype="4" fill="hold" grpId="0" nodeType="withEffect">
                                  <p:stCondLst>
                                    <p:cond delay="150"/>
                                  </p:stCondLst>
                                  <p:childTnLst>
                                    <p:set>
                                      <p:cBhvr>
                                        <p:cTn id="68" dur="1" fill="hold">
                                          <p:stCondLst>
                                            <p:cond delay="0"/>
                                          </p:stCondLst>
                                        </p:cTn>
                                        <p:tgtEl>
                                          <p:spTgt spid="26"/>
                                        </p:tgtEl>
                                        <p:attrNameLst>
                                          <p:attrName>style.visibility</p:attrName>
                                        </p:attrNameLst>
                                      </p:cBhvr>
                                      <p:to>
                                        <p:strVal val="visible"/>
                                      </p:to>
                                    </p:set>
                                    <p:anim calcmode="lin" valueType="num">
                                      <p:cBhvr additive="base">
                                        <p:cTn id="69" dur="500" fill="hold"/>
                                        <p:tgtEl>
                                          <p:spTgt spid="26"/>
                                        </p:tgtEl>
                                        <p:attrNameLst>
                                          <p:attrName>ppt_x</p:attrName>
                                        </p:attrNameLst>
                                      </p:cBhvr>
                                      <p:tavLst>
                                        <p:tav tm="0">
                                          <p:val>
                                            <p:strVal val="#ppt_x"/>
                                          </p:val>
                                        </p:tav>
                                        <p:tav tm="100000">
                                          <p:val>
                                            <p:strVal val="#ppt_x"/>
                                          </p:val>
                                        </p:tav>
                                      </p:tavLst>
                                    </p:anim>
                                    <p:anim calcmode="lin" valueType="num">
                                      <p:cBhvr additive="base">
                                        <p:cTn id="70" dur="500" fill="hold"/>
                                        <p:tgtEl>
                                          <p:spTgt spid="26"/>
                                        </p:tgtEl>
                                        <p:attrNameLst>
                                          <p:attrName>ppt_y</p:attrName>
                                        </p:attrNameLst>
                                      </p:cBhvr>
                                      <p:tavLst>
                                        <p:tav tm="0">
                                          <p:val>
                                            <p:strVal val="#ppt_y+0.1"/>
                                          </p:val>
                                        </p:tav>
                                        <p:tav tm="100000">
                                          <p:val>
                                            <p:strVal val="#ppt_y"/>
                                          </p:val>
                                        </p:tav>
                                      </p:tavLst>
                                    </p:anim>
                                    <p:animEffect transition="in" filter="fade">
                                      <p:cBhvr>
                                        <p:cTn id="71" dur="500"/>
                                        <p:tgtEl>
                                          <p:spTgt spid="26"/>
                                        </p:tgtEl>
                                      </p:cBhvr>
                                    </p:animEffect>
                                  </p:childTnLst>
                                </p:cTn>
                              </p:par>
                              <p:par>
                                <p:cTn id="77" presetID="2" presetClass="entr" presetSubtype="4" fill="hold" grpId="0" nodeType="withEffect">
                                  <p:stCondLst>
                                    <p:cond delay="150"/>
                                  </p:stCondLst>
                                  <p:childTnLst>
                                    <p:set>
                                      <p:cBhvr>
                                        <p:cTn id="73" dur="1" fill="hold">
                                          <p:stCondLst>
                                            <p:cond delay="0"/>
                                          </p:stCondLst>
                                        </p:cTn>
                                        <p:tgtEl>
                                          <p:spTgt spid="27"/>
                                        </p:tgtEl>
                                        <p:attrNameLst>
                                          <p:attrName>style.visibility</p:attrName>
                                        </p:attrNameLst>
                                      </p:cBhvr>
                                      <p:to>
                                        <p:strVal val="visible"/>
                                      </p:to>
                                    </p:set>
                                    <p:anim calcmode="lin" valueType="num">
                                      <p:cBhvr additive="base">
                                        <p:cTn id="74" dur="500" fill="hold"/>
                                        <p:tgtEl>
                                          <p:spTgt spid="27"/>
                                        </p:tgtEl>
                                        <p:attrNameLst>
                                          <p:attrName>ppt_x</p:attrName>
                                        </p:attrNameLst>
                                      </p:cBhvr>
                                      <p:tavLst>
                                        <p:tav tm="0">
                                          <p:val>
                                            <p:strVal val="#ppt_x"/>
                                          </p:val>
                                        </p:tav>
                                        <p:tav tm="100000">
                                          <p:val>
                                            <p:strVal val="#ppt_x"/>
                                          </p:val>
                                        </p:tav>
                                      </p:tavLst>
                                    </p:anim>
                                    <p:anim calcmode="lin" valueType="num">
                                      <p:cBhvr additive="base">
                                        <p:cTn id="75" dur="500" fill="hold"/>
                                        <p:tgtEl>
                                          <p:spTgt spid="27"/>
                                        </p:tgtEl>
                                        <p:attrNameLst>
                                          <p:attrName>ppt_y</p:attrName>
                                        </p:attrNameLst>
                                      </p:cBhvr>
                                      <p:tavLst>
                                        <p:tav tm="0">
                                          <p:val>
                                            <p:strVal val="#ppt_y+0.1"/>
                                          </p:val>
                                        </p:tav>
                                        <p:tav tm="100000">
                                          <p:val>
                                            <p:strVal val="#ppt_y"/>
                                          </p:val>
                                        </p:tav>
                                      </p:tavLst>
                                    </p:anim>
                                    <p:animEffect transition="in" filter="fade">
                                      <p:cBhvr>
                                        <p:cTn id="76" dur="500"/>
                                        <p:tgtEl>
                                          <p:spTgt spid="27"/>
                                        </p:tgtEl>
                                      </p:cBhvr>
                                    </p:animEffect>
                                  </p:childTnLst>
                                </p:cTn>
                              </p:par>
                            </p:childTnLst>
                          </p:cTn>
                        </p:par>
                      </p:childTnLst>
                    </p:cTn>
                  </p:par>
                  <p:par>
                    <p:cTn id="78" fill="hold">
                      <p:stCondLst>
                        <p:cond delay="indefinite"/>
                      </p:stCondLst>
                      <p:childTnLst>
                        <p:par>
                          <p:cTn id="79" fill="hold">
                            <p:stCondLst>
                              <p:cond delay="0"/>
                            </p:stCondLst>
                            <p:childTnLst>
                              <p:par>
                                <p:cTn id="84" presetID="2" presetClass="entr" presetSubtype="4" fill="hold" grpId="0" nodeType="clickEffect">
                                  <p:stCondLst>
                                    <p:cond delay="0"/>
                                  </p:stCondLst>
                                  <p:childTnLst>
                                    <p:set>
                                      <p:cBhvr>
                                        <p:cTn id="80" dur="1" fill="hold">
                                          <p:stCondLst>
                                            <p:cond delay="0"/>
                                          </p:stCondLst>
                                        </p:cTn>
                                        <p:tgtEl>
                                          <p:spTgt spid="28"/>
                                        </p:tgtEl>
                                        <p:attrNameLst>
                                          <p:attrName>style.visibility</p:attrName>
                                        </p:attrNameLst>
                                      </p:cBhvr>
                                      <p:to>
                                        <p:strVal val="visible"/>
                                      </p:to>
                                    </p:set>
                                    <p:anim calcmode="lin" valueType="num">
                                      <p:cBhvr additive="base">
                                        <p:cTn id="81" dur="500" fill="hold"/>
                                        <p:tgtEl>
                                          <p:spTgt spid="28"/>
                                        </p:tgtEl>
                                        <p:attrNameLst>
                                          <p:attrName>ppt_x</p:attrName>
                                        </p:attrNameLst>
                                      </p:cBhvr>
                                      <p:tavLst>
                                        <p:tav tm="0">
                                          <p:val>
                                            <p:strVal val="#ppt_x"/>
                                          </p:val>
                                        </p:tav>
                                        <p:tav tm="100000">
                                          <p:val>
                                            <p:strVal val="#ppt_x"/>
                                          </p:val>
                                        </p:tav>
                                      </p:tavLst>
                                    </p:anim>
                                    <p:anim calcmode="lin" valueType="num">
                                      <p:cBhvr additive="base">
                                        <p:cTn id="82" dur="500" fill="hold"/>
                                        <p:tgtEl>
                                          <p:spTgt spid="28"/>
                                        </p:tgtEl>
                                        <p:attrNameLst>
                                          <p:attrName>ppt_y</p:attrName>
                                        </p:attrNameLst>
                                      </p:cBhvr>
                                      <p:tavLst>
                                        <p:tav tm="0">
                                          <p:val>
                                            <p:strVal val="#ppt_y+0.1"/>
                                          </p:val>
                                        </p:tav>
                                        <p:tav tm="100000">
                                          <p:val>
                                            <p:strVal val="#ppt_y"/>
                                          </p:val>
                                        </p:tav>
                                      </p:tavLst>
                                    </p:anim>
                                    <p:animEffect transition="in" filter="fade">
                                      <p:cBhvr>
                                        <p:cTn id="83" dur="500"/>
                                        <p:tgtEl>
                                          <p:spTgt spid="28"/>
                                        </p:tgtEl>
                                      </p:cBhvr>
                                    </p:animEffect>
                                  </p:childTnLst>
                                </p:cTn>
                              </p:par>
                              <p:par>
                                <p:cTn id="89" presetID="2" presetClass="entr" presetSubtype="4"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 calcmode="lin" valueType="num">
                                      <p:cBhvr additive="base">
                                        <p:cTn id="86" dur="500" fill="hold"/>
                                        <p:tgtEl>
                                          <p:spTgt spid="29"/>
                                        </p:tgtEl>
                                        <p:attrNameLst>
                                          <p:attrName>ppt_x</p:attrName>
                                        </p:attrNameLst>
                                      </p:cBhvr>
                                      <p:tavLst>
                                        <p:tav tm="0">
                                          <p:val>
                                            <p:strVal val="#ppt_x"/>
                                          </p:val>
                                        </p:tav>
                                        <p:tav tm="100000">
                                          <p:val>
                                            <p:strVal val="#ppt_x"/>
                                          </p:val>
                                        </p:tav>
                                      </p:tavLst>
                                    </p:anim>
                                    <p:anim calcmode="lin" valueType="num">
                                      <p:cBhvr additive="base">
                                        <p:cTn id="87" dur="500" fill="hold"/>
                                        <p:tgtEl>
                                          <p:spTgt spid="29"/>
                                        </p:tgtEl>
                                        <p:attrNameLst>
                                          <p:attrName>ppt_y</p:attrName>
                                        </p:attrNameLst>
                                      </p:cBhvr>
                                      <p:tavLst>
                                        <p:tav tm="0">
                                          <p:val>
                                            <p:strVal val="#ppt_y+0.1"/>
                                          </p:val>
                                        </p:tav>
                                        <p:tav tm="100000">
                                          <p:val>
                                            <p:strVal val="#ppt_y"/>
                                          </p:val>
                                        </p:tav>
                                      </p:tavLst>
                                    </p:anim>
                                    <p:animEffect transition="in" filter="fade">
                                      <p:cBhvr>
                                        <p:cTn id="88" dur="500"/>
                                        <p:tgtEl>
                                          <p:spTgt spid="29"/>
                                        </p:tgtEl>
                                      </p:cBhvr>
                                    </p:animEffect>
                                  </p:childTnLst>
                                </p:cTn>
                              </p:par>
                              <p:par>
                                <p:cTn id="94" presetID="2" presetClass="entr" presetSubtype="4"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 calcmode="lin" valueType="num">
                                      <p:cBhvr additive="base">
                                        <p:cTn id="91" dur="500" fill="hold"/>
                                        <p:tgtEl>
                                          <p:spTgt spid="30"/>
                                        </p:tgtEl>
                                        <p:attrNameLst>
                                          <p:attrName>ppt_x</p:attrName>
                                        </p:attrNameLst>
                                      </p:cBhvr>
                                      <p:tavLst>
                                        <p:tav tm="0">
                                          <p:val>
                                            <p:strVal val="#ppt_x"/>
                                          </p:val>
                                        </p:tav>
                                        <p:tav tm="100000">
                                          <p:val>
                                            <p:strVal val="#ppt_x"/>
                                          </p:val>
                                        </p:tav>
                                      </p:tavLst>
                                    </p:anim>
                                    <p:anim calcmode="lin" valueType="num">
                                      <p:cBhvr additive="base">
                                        <p:cTn id="92" dur="500" fill="hold"/>
                                        <p:tgtEl>
                                          <p:spTgt spid="30"/>
                                        </p:tgtEl>
                                        <p:attrNameLst>
                                          <p:attrName>ppt_y</p:attrName>
                                        </p:attrNameLst>
                                      </p:cBhvr>
                                      <p:tavLst>
                                        <p:tav tm="0">
                                          <p:val>
                                            <p:strVal val="#ppt_y+0.1"/>
                                          </p:val>
                                        </p:tav>
                                        <p:tav tm="100000">
                                          <p:val>
                                            <p:strVal val="#ppt_y"/>
                                          </p:val>
                                        </p:tav>
                                      </p:tavLst>
                                    </p:anim>
                                    <p:animEffect transition="in" filter="fade">
                                      <p:cBhvr>
                                        <p:cTn id="93" dur="500"/>
                                        <p:tgtEl>
                                          <p:spTgt spid="30"/>
                                        </p:tgtEl>
                                      </p:cBhvr>
                                    </p:animEffect>
                                  </p:childTnLst>
                                </p:cTn>
                              </p:par>
                            </p:childTnLst>
                          </p:cTn>
                        </p:par>
                      </p:childTnLst>
                    </p:cTn>
                  </p:par>
                  <p:par>
                    <p:cTn id="95" fill="hold">
                      <p:stCondLst>
                        <p:cond delay="indefinite"/>
                      </p:stCondLst>
                      <p:childTnLst>
                        <p:par>
                          <p:cTn id="96" fill="hold">
                            <p:stCondLst>
                              <p:cond delay="0"/>
                            </p:stCondLst>
                            <p:childTnLst>
                              <p:par>
                                <p:cTn id="101" presetID="2" presetClass="entr" presetSubtype="4" fill="hold" grpId="0" nodeType="clickEffect">
                                  <p:stCondLst>
                                    <p:cond delay="0"/>
                                  </p:stCondLst>
                                  <p:childTnLst>
                                    <p:set>
                                      <p:cBhvr>
                                        <p:cTn id="97" dur="1" fill="hold">
                                          <p:stCondLst>
                                            <p:cond delay="0"/>
                                          </p:stCondLst>
                                        </p:cTn>
                                        <p:tgtEl>
                                          <p:spTgt spid="31"/>
                                        </p:tgtEl>
                                        <p:attrNameLst>
                                          <p:attrName>style.visibility</p:attrName>
                                        </p:attrNameLst>
                                      </p:cBhvr>
                                      <p:to>
                                        <p:strVal val="visible"/>
                                      </p:to>
                                    </p:set>
                                    <p:anim calcmode="lin" valueType="num">
                                      <p:cBhvr additive="base">
                                        <p:cTn id="98" dur="500" fill="hold"/>
                                        <p:tgtEl>
                                          <p:spTgt spid="31"/>
                                        </p:tgtEl>
                                        <p:attrNameLst>
                                          <p:attrName>ppt_x</p:attrName>
                                        </p:attrNameLst>
                                      </p:cBhvr>
                                      <p:tavLst>
                                        <p:tav tm="0">
                                          <p:val>
                                            <p:strVal val="#ppt_x"/>
                                          </p:val>
                                        </p:tav>
                                        <p:tav tm="100000">
                                          <p:val>
                                            <p:strVal val="#ppt_x"/>
                                          </p:val>
                                        </p:tav>
                                      </p:tavLst>
                                    </p:anim>
                                    <p:anim calcmode="lin" valueType="num">
                                      <p:cBhvr additive="base">
                                        <p:cTn id="99" dur="500" fill="hold"/>
                                        <p:tgtEl>
                                          <p:spTgt spid="31"/>
                                        </p:tgtEl>
                                        <p:attrNameLst>
                                          <p:attrName>ppt_y</p:attrName>
                                        </p:attrNameLst>
                                      </p:cBhvr>
                                      <p:tavLst>
                                        <p:tav tm="0">
                                          <p:val>
                                            <p:strVal val="#ppt_y+0.1"/>
                                          </p:val>
                                        </p:tav>
                                        <p:tav tm="100000">
                                          <p:val>
                                            <p:strVal val="#ppt_y"/>
                                          </p:val>
                                        </p:tav>
                                      </p:tavLst>
                                    </p:anim>
                                    <p:animEffect transition="in" filter="fade">
                                      <p:cBhvr>
                                        <p:cTn id="100" dur="500"/>
                                        <p:tgtEl>
                                          <p:spTgt spid="31"/>
                                        </p:tgtEl>
                                      </p:cBhvr>
                                    </p:animEffect>
                                  </p:childTnLst>
                                </p:cTn>
                              </p:par>
                              <p:par>
                                <p:cTn id="106" presetID="2" presetClass="entr" presetSubtype="4" fill="hold" grpId="0" nodeType="withEffect">
                                  <p:stCondLst>
                                    <p:cond delay="0"/>
                                  </p:stCondLst>
                                  <p:childTnLst>
                                    <p:set>
                                      <p:cBhvr>
                                        <p:cTn id="102" dur="1" fill="hold">
                                          <p:stCondLst>
                                            <p:cond delay="0"/>
                                          </p:stCondLst>
                                        </p:cTn>
                                        <p:tgtEl>
                                          <p:spTgt spid="32"/>
                                        </p:tgtEl>
                                        <p:attrNameLst>
                                          <p:attrName>style.visibility</p:attrName>
                                        </p:attrNameLst>
                                      </p:cBhvr>
                                      <p:to>
                                        <p:strVal val="visible"/>
                                      </p:to>
                                    </p:set>
                                    <p:anim calcmode="lin" valueType="num">
                                      <p:cBhvr additive="base">
                                        <p:cTn id="103" dur="500" fill="hold"/>
                                        <p:tgtEl>
                                          <p:spTgt spid="32"/>
                                        </p:tgtEl>
                                        <p:attrNameLst>
                                          <p:attrName>ppt_x</p:attrName>
                                        </p:attrNameLst>
                                      </p:cBhvr>
                                      <p:tavLst>
                                        <p:tav tm="0">
                                          <p:val>
                                            <p:strVal val="#ppt_x"/>
                                          </p:val>
                                        </p:tav>
                                        <p:tav tm="100000">
                                          <p:val>
                                            <p:strVal val="#ppt_x"/>
                                          </p:val>
                                        </p:tav>
                                      </p:tavLst>
                                    </p:anim>
                                    <p:anim calcmode="lin" valueType="num">
                                      <p:cBhvr additive="base">
                                        <p:cTn id="104" dur="500" fill="hold"/>
                                        <p:tgtEl>
                                          <p:spTgt spid="32"/>
                                        </p:tgtEl>
                                        <p:attrNameLst>
                                          <p:attrName>ppt_y</p:attrName>
                                        </p:attrNameLst>
                                      </p:cBhvr>
                                      <p:tavLst>
                                        <p:tav tm="0">
                                          <p:val>
                                            <p:strVal val="#ppt_y+0.1"/>
                                          </p:val>
                                        </p:tav>
                                        <p:tav tm="100000">
                                          <p:val>
                                            <p:strVal val="#ppt_y"/>
                                          </p:val>
                                        </p:tav>
                                      </p:tavLst>
                                    </p:anim>
                                    <p:animEffect transition="in" filter="fade">
                                      <p:cBhvr>
                                        <p:cTn id="105" dur="500"/>
                                        <p:tgtEl>
                                          <p:spTgt spid="32"/>
                                        </p:tgtEl>
                                      </p:cBhvr>
                                    </p:animEffect>
                                  </p:childTnLst>
                                </p:cTn>
                              </p:par>
                              <p:par>
                                <p:cTn id="111" presetID="2" presetClass="entr" presetSubtype="4" fill="hold" grpId="0" nodeType="withEffect">
                                  <p:stCondLst>
                                    <p:cond delay="0"/>
                                  </p:stCondLst>
                                  <p:childTnLst>
                                    <p:set>
                                      <p:cBhvr>
                                        <p:cTn id="107" dur="1" fill="hold">
                                          <p:stCondLst>
                                            <p:cond delay="0"/>
                                          </p:stCondLst>
                                        </p:cTn>
                                        <p:tgtEl>
                                          <p:spTgt spid="33"/>
                                        </p:tgtEl>
                                        <p:attrNameLst>
                                          <p:attrName>style.visibility</p:attrName>
                                        </p:attrNameLst>
                                      </p:cBhvr>
                                      <p:to>
                                        <p:strVal val="visible"/>
                                      </p:to>
                                    </p:set>
                                    <p:anim calcmode="lin" valueType="num">
                                      <p:cBhvr additive="base">
                                        <p:cTn id="108" dur="500" fill="hold"/>
                                        <p:tgtEl>
                                          <p:spTgt spid="33"/>
                                        </p:tgtEl>
                                        <p:attrNameLst>
                                          <p:attrName>ppt_x</p:attrName>
                                        </p:attrNameLst>
                                      </p:cBhvr>
                                      <p:tavLst>
                                        <p:tav tm="0">
                                          <p:val>
                                            <p:strVal val="#ppt_x"/>
                                          </p:val>
                                        </p:tav>
                                        <p:tav tm="100000">
                                          <p:val>
                                            <p:strVal val="#ppt_x"/>
                                          </p:val>
                                        </p:tav>
                                      </p:tavLst>
                                    </p:anim>
                                    <p:anim calcmode="lin" valueType="num">
                                      <p:cBhvr additive="base">
                                        <p:cTn id="109" dur="500" fill="hold"/>
                                        <p:tgtEl>
                                          <p:spTgt spid="33"/>
                                        </p:tgtEl>
                                        <p:attrNameLst>
                                          <p:attrName>ppt_y</p:attrName>
                                        </p:attrNameLst>
                                      </p:cBhvr>
                                      <p:tavLst>
                                        <p:tav tm="0">
                                          <p:val>
                                            <p:strVal val="#ppt_y+0.1"/>
                                          </p:val>
                                        </p:tav>
                                        <p:tav tm="100000">
                                          <p:val>
                                            <p:strVal val="#ppt_y"/>
                                          </p:val>
                                        </p:tav>
                                      </p:tavLst>
                                    </p:anim>
                                    <p:animEffect transition="in" filter="fade">
                                      <p:cBhvr>
                                        <p:cTn id="11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Event-Driven Architecture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Track what is happening, store it in a commit log - and replay the log later for reports</a:t>
            </a:r>
          </a:p>
        </p:txBody>
      </p:sp>
      <p:sp>
        <p:nvSpPr>
          <p:cNvPr id="11" name="a1u_nd10"/>
          <p:cNvSpPr/>
          <p:nvPr/>
        </p:nvSpPr>
        <p:spPr>
          <a:xfrm>
            <a:off x="457200" y="1371600"/>
            <a:ext cx="1554480" cy="777240"/>
          </a:xfrm>
          <a:prstGeom prst="roundRect">
            <a:avLst>
              <a:gd name="adj" fmla="val 941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408176"/>
            <a:ext cx="1463039" cy="370332"/>
          </a:xfrm>
          <a:prstGeom prst="rect">
            <a:avLst/>
          </a:prstGeom>
          <a:noFill/>
        </p:spPr>
        <p:txBody>
          <a:bodyPr wrap="square" lIns="0" tIns="0" rIns="0" bIns="0" anchor="b">
            <a:spAutoFit/>
          </a:bodyPr>
          <a:lstStyle/>
          <a:p>
            <a:pPr algn="ctr"/>
            <a:r>
              <a:rPr sz="1000" b="1">
                <a:solidFill>
                  <a:srgbClr val="1C1917"/>
                </a:solidFill>
                <a:latin typeface="Segoe UI"/>
              </a:rPr>
              <a:t>Frontend server</a:t>
            </a:r>
          </a:p>
        </p:txBody>
      </p:sp>
      <p:sp>
        <p:nvSpPr>
          <p:cNvPr id="13" name="a1u_nds12"/>
          <p:cNvSpPr txBox="1"/>
          <p:nvPr/>
        </p:nvSpPr>
        <p:spPr>
          <a:xfrm>
            <a:off x="502920" y="1787652"/>
            <a:ext cx="1463039" cy="324612"/>
          </a:xfrm>
          <a:prstGeom prst="rect">
            <a:avLst/>
          </a:prstGeom>
          <a:noFill/>
        </p:spPr>
        <p:txBody>
          <a:bodyPr wrap="square" lIns="0" tIns="0" rIns="0" bIns="0" anchor="t">
            <a:spAutoFit/>
          </a:bodyPr>
          <a:lstStyle/>
          <a:p>
            <a:pPr algn="ctr"/>
            <a:r>
              <a:rPr sz="800" b="0">
                <a:solidFill>
                  <a:srgbClr val="EA580C"/>
                </a:solidFill>
                <a:latin typeface="Segoe UI"/>
              </a:rPr>
              <a:t>something happens</a:t>
            </a:r>
          </a:p>
        </p:txBody>
      </p:sp>
      <p:sp>
        <p:nvSpPr>
          <p:cNvPr id="14" name="a2u_pill13"/>
          <p:cNvSpPr/>
          <p:nvPr/>
        </p:nvSpPr>
        <p:spPr>
          <a:xfrm>
            <a:off x="2240280" y="1554480"/>
            <a:ext cx="1737360" cy="411480"/>
          </a:xfrm>
          <a:prstGeom prst="roundRect">
            <a:avLst>
              <a:gd name="adj" fmla="val 50000"/>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A16207"/>
                </a:solidFill>
                <a:latin typeface="Segoe UI"/>
              </a:rPr>
              <a:t>user clicked 'iPhone 15'</a:t>
            </a:r>
          </a:p>
        </p:txBody>
      </p:sp>
      <p:sp>
        <p:nvSpPr>
          <p:cNvPr id="15" name="a2u_lb14"/>
          <p:cNvSpPr txBox="1"/>
          <p:nvPr/>
        </p:nvSpPr>
        <p:spPr>
          <a:xfrm>
            <a:off x="2240280" y="2011680"/>
            <a:ext cx="1737360" cy="201168"/>
          </a:xfrm>
          <a:prstGeom prst="rect">
            <a:avLst/>
          </a:prstGeom>
          <a:noFill/>
        </p:spPr>
        <p:txBody>
          <a:bodyPr wrap="square" lIns="0" tIns="0" rIns="0" bIns="0" anchor="ctr">
            <a:spAutoFit/>
          </a:bodyPr>
          <a:lstStyle/>
          <a:p>
            <a:pPr algn="ctr"/>
            <a:r>
              <a:rPr sz="800" b="1">
                <a:solidFill>
                  <a:srgbClr val="A16207"/>
                </a:solidFill>
                <a:latin typeface="Segoe UI"/>
              </a:rPr>
              <a:t>the event</a:t>
            </a:r>
          </a:p>
        </p:txBody>
      </p:sp>
      <p:cxnSp>
        <p:nvCxnSpPr>
          <p:cNvPr id="16" name="a2u_ar15"/>
          <p:cNvCxnSpPr/>
          <p:nvPr/>
        </p:nvCxnSpPr>
        <p:spPr>
          <a:xfrm>
            <a:off x="2039112" y="1764792"/>
            <a:ext cx="182880" cy="0"/>
          </a:xfrm>
          <a:prstGeom prst="line">
            <a:avLst/>
          </a:prstGeom>
          <a:ln w="1587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a3u_nd16"/>
          <p:cNvSpPr/>
          <p:nvPr/>
        </p:nvSpPr>
        <p:spPr>
          <a:xfrm>
            <a:off x="4206240" y="1371600"/>
            <a:ext cx="1188720" cy="777240"/>
          </a:xfrm>
          <a:prstGeom prst="roundRect">
            <a:avLst>
              <a:gd name="adj" fmla="val 9411"/>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3u_ndt17"/>
          <p:cNvSpPr txBox="1"/>
          <p:nvPr/>
        </p:nvSpPr>
        <p:spPr>
          <a:xfrm>
            <a:off x="4251959" y="1408176"/>
            <a:ext cx="1097280" cy="370332"/>
          </a:xfrm>
          <a:prstGeom prst="rect">
            <a:avLst/>
          </a:prstGeom>
          <a:noFill/>
        </p:spPr>
        <p:txBody>
          <a:bodyPr wrap="square" lIns="0" tIns="0" rIns="0" bIns="0" anchor="b">
            <a:spAutoFit/>
          </a:bodyPr>
          <a:lstStyle/>
          <a:p>
            <a:pPr algn="ctr"/>
            <a:r>
              <a:rPr sz="1200" b="1">
                <a:solidFill>
                  <a:srgbClr val="1C1917"/>
                </a:solidFill>
                <a:latin typeface="Segoe UI"/>
              </a:rPr>
              <a:t>Kafka</a:t>
            </a:r>
          </a:p>
        </p:txBody>
      </p:sp>
      <p:sp>
        <p:nvSpPr>
          <p:cNvPr id="19" name="a3u_nds18"/>
          <p:cNvSpPr txBox="1"/>
          <p:nvPr/>
        </p:nvSpPr>
        <p:spPr>
          <a:xfrm>
            <a:off x="4251959" y="1787652"/>
            <a:ext cx="1097280" cy="324612"/>
          </a:xfrm>
          <a:prstGeom prst="rect">
            <a:avLst/>
          </a:prstGeom>
          <a:noFill/>
        </p:spPr>
        <p:txBody>
          <a:bodyPr wrap="square" lIns="0" tIns="0" rIns="0" bIns="0" anchor="t">
            <a:spAutoFit/>
          </a:bodyPr>
          <a:lstStyle/>
          <a:p>
            <a:pPr algn="ctr"/>
            <a:r>
              <a:rPr sz="800" b="0">
                <a:solidFill>
                  <a:srgbClr val="0E7490"/>
                </a:solidFill>
                <a:latin typeface="Segoe UI"/>
              </a:rPr>
              <a:t>stores it</a:t>
            </a:r>
          </a:p>
        </p:txBody>
      </p:sp>
      <p:cxnSp>
        <p:nvCxnSpPr>
          <p:cNvPr id="20" name="a3u_ar19"/>
          <p:cNvCxnSpPr/>
          <p:nvPr/>
        </p:nvCxnSpPr>
        <p:spPr>
          <a:xfrm>
            <a:off x="3995928" y="1764792"/>
            <a:ext cx="182880" cy="0"/>
          </a:xfrm>
          <a:prstGeom prst="line">
            <a:avLst/>
          </a:prstGeom>
          <a:ln w="1587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a3f_codebg20"/>
          <p:cNvSpPr/>
          <p:nvPr/>
        </p:nvSpPr>
        <p:spPr>
          <a:xfrm>
            <a:off x="5623560" y="1325880"/>
            <a:ext cx="3063240" cy="1005840"/>
          </a:xfrm>
          <a:prstGeom prst="roundRect">
            <a:avLst>
              <a:gd name="adj" fmla="val 7272"/>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3f_codeh21"/>
          <p:cNvSpPr txBox="1"/>
          <p:nvPr/>
        </p:nvSpPr>
        <p:spPr>
          <a:xfrm>
            <a:off x="5751576" y="1380744"/>
            <a:ext cx="2807208" cy="219456"/>
          </a:xfrm>
          <a:prstGeom prst="rect">
            <a:avLst/>
          </a:prstGeom>
          <a:noFill/>
        </p:spPr>
        <p:txBody>
          <a:bodyPr wrap="square" lIns="0" tIns="0" rIns="0" bIns="0" anchor="ctr">
            <a:spAutoFit/>
          </a:bodyPr>
          <a:lstStyle/>
          <a:p>
            <a:pPr algn="l"/>
            <a:r>
              <a:rPr sz="950" b="1">
                <a:solidFill>
                  <a:srgbClr val="A8A29E"/>
                </a:solidFill>
                <a:latin typeface="Consolas"/>
              </a:rPr>
              <a:t>events.log</a:t>
            </a:r>
          </a:p>
        </p:txBody>
      </p:sp>
      <p:sp>
        <p:nvSpPr>
          <p:cNvPr id="23" name="a3f_codesep22"/>
          <p:cNvSpPr/>
          <p:nvPr/>
        </p:nvSpPr>
        <p:spPr>
          <a:xfrm>
            <a:off x="5751576" y="1655064"/>
            <a:ext cx="2807208"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3w_code23"/>
          <p:cNvSpPr txBox="1"/>
          <p:nvPr/>
        </p:nvSpPr>
        <p:spPr>
          <a:xfrm>
            <a:off x="5751576" y="1728216"/>
            <a:ext cx="2807208" cy="237744"/>
          </a:xfrm>
          <a:prstGeom prst="rect">
            <a:avLst/>
          </a:prstGeom>
          <a:noFill/>
        </p:spPr>
        <p:txBody>
          <a:bodyPr wrap="none" lIns="0" tIns="0" rIns="0" bIns="0" anchor="ctr">
            <a:spAutoFit/>
          </a:bodyPr>
          <a:lstStyle/>
          <a:p>
            <a:pPr algn="l"/>
            <a:r>
              <a:rPr sz="900" b="0">
                <a:solidFill>
                  <a:srgbClr val="E7E5E4"/>
                </a:solidFill>
                <a:latin typeface="Consolas"/>
              </a:rPr>
              <a:t>17-07-2023 3:48:59  iphone 15 link</a:t>
            </a:r>
          </a:p>
        </p:txBody>
      </p:sp>
      <p:sp>
        <p:nvSpPr>
          <p:cNvPr id="25" name="a3wd300_code24"/>
          <p:cNvSpPr txBox="1"/>
          <p:nvPr/>
        </p:nvSpPr>
        <p:spPr>
          <a:xfrm>
            <a:off x="5751576" y="1965960"/>
            <a:ext cx="2807208" cy="237744"/>
          </a:xfrm>
          <a:prstGeom prst="rect">
            <a:avLst/>
          </a:prstGeom>
          <a:noFill/>
        </p:spPr>
        <p:txBody>
          <a:bodyPr wrap="none" lIns="0" tIns="0" rIns="0" bIns="0" anchor="ctr">
            <a:spAutoFit/>
          </a:bodyPr>
          <a:lstStyle/>
          <a:p>
            <a:pPr algn="l"/>
            <a:r>
              <a:rPr sz="900" b="0">
                <a:solidFill>
                  <a:srgbClr val="67E8F9"/>
                </a:solidFill>
                <a:latin typeface="Consolas"/>
              </a:rPr>
              <a:t>17-07-2023 3:49:58  dell laptop link</a:t>
            </a:r>
          </a:p>
        </p:txBody>
      </p:sp>
      <p:cxnSp>
        <p:nvCxnSpPr>
          <p:cNvPr id="26" name="a3ud100_ar25"/>
          <p:cNvCxnSpPr/>
          <p:nvPr/>
        </p:nvCxnSpPr>
        <p:spPr>
          <a:xfrm>
            <a:off x="5422392" y="1764792"/>
            <a:ext cx="173736" cy="0"/>
          </a:xfrm>
          <a:prstGeom prst="line">
            <a:avLst/>
          </a:prstGeom>
          <a:ln w="158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a4u_nd26"/>
          <p:cNvSpPr/>
          <p:nvPr/>
        </p:nvSpPr>
        <p:spPr>
          <a:xfrm>
            <a:off x="2926080" y="2880360"/>
            <a:ext cx="1783080" cy="530352"/>
          </a:xfrm>
          <a:prstGeom prst="roundRect">
            <a:avLst>
              <a:gd name="adj" fmla="val 13793"/>
            </a:avLst>
          </a:prstGeom>
          <a:solidFill>
            <a:srgbClr val="F7F6F3"/>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4u_ndt27"/>
          <p:cNvSpPr txBox="1"/>
          <p:nvPr/>
        </p:nvSpPr>
        <p:spPr>
          <a:xfrm>
            <a:off x="2971800" y="2880360"/>
            <a:ext cx="1691639" cy="530352"/>
          </a:xfrm>
          <a:prstGeom prst="rect">
            <a:avLst/>
          </a:prstGeom>
          <a:noFill/>
        </p:spPr>
        <p:txBody>
          <a:bodyPr wrap="square" lIns="0" tIns="0" rIns="0" bIns="0" anchor="ctr">
            <a:spAutoFit/>
          </a:bodyPr>
          <a:lstStyle/>
          <a:p>
            <a:pPr algn="ctr"/>
            <a:r>
              <a:rPr sz="900" b="1">
                <a:solidFill>
                  <a:srgbClr val="1C1917"/>
                </a:solidFill>
                <a:latin typeface="Segoe UI"/>
              </a:rPr>
              <a:t>Most-clicked products</a:t>
            </a:r>
          </a:p>
        </p:txBody>
      </p:sp>
      <p:cxnSp>
        <p:nvCxnSpPr>
          <p:cNvPr id="29" name="a4u_ar28"/>
          <p:cNvCxnSpPr/>
          <p:nvPr/>
        </p:nvCxnSpPr>
        <p:spPr>
          <a:xfrm flipH="1">
            <a:off x="3813048" y="2359151"/>
            <a:ext cx="3319272" cy="493777"/>
          </a:xfrm>
          <a:prstGeom prst="line">
            <a:avLst/>
          </a:prstGeom>
          <a:ln w="12700">
            <a:solidFill>
              <a:srgbClr val="1580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a4ud150_nd29"/>
          <p:cNvSpPr/>
          <p:nvPr/>
        </p:nvSpPr>
        <p:spPr>
          <a:xfrm>
            <a:off x="4892040" y="2880360"/>
            <a:ext cx="1783080" cy="530352"/>
          </a:xfrm>
          <a:prstGeom prst="roundRect">
            <a:avLst>
              <a:gd name="adj" fmla="val 13793"/>
            </a:avLst>
          </a:prstGeom>
          <a:solidFill>
            <a:srgbClr val="F7F6F3"/>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4ud150_ndt30"/>
          <p:cNvSpPr txBox="1"/>
          <p:nvPr/>
        </p:nvSpPr>
        <p:spPr>
          <a:xfrm>
            <a:off x="4937759" y="2880360"/>
            <a:ext cx="1691639" cy="530352"/>
          </a:xfrm>
          <a:prstGeom prst="rect">
            <a:avLst/>
          </a:prstGeom>
          <a:noFill/>
        </p:spPr>
        <p:txBody>
          <a:bodyPr wrap="square" lIns="0" tIns="0" rIns="0" bIns="0" anchor="ctr">
            <a:spAutoFit/>
          </a:bodyPr>
          <a:lstStyle/>
          <a:p>
            <a:pPr algn="ctr"/>
            <a:r>
              <a:rPr sz="900" b="1">
                <a:solidFill>
                  <a:srgbClr val="1C1917"/>
                </a:solidFill>
                <a:latin typeface="Segoe UI"/>
              </a:rPr>
              <a:t>Clicks per hour</a:t>
            </a:r>
          </a:p>
        </p:txBody>
      </p:sp>
      <p:cxnSp>
        <p:nvCxnSpPr>
          <p:cNvPr id="32" name="a4ud150_ar31"/>
          <p:cNvCxnSpPr/>
          <p:nvPr/>
        </p:nvCxnSpPr>
        <p:spPr>
          <a:xfrm flipH="1">
            <a:off x="5779007" y="2359151"/>
            <a:ext cx="1353313" cy="493777"/>
          </a:xfrm>
          <a:prstGeom prst="line">
            <a:avLst/>
          </a:prstGeom>
          <a:ln w="12700">
            <a:solidFill>
              <a:srgbClr val="1580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a4ud300_nd32"/>
          <p:cNvSpPr/>
          <p:nvPr/>
        </p:nvSpPr>
        <p:spPr>
          <a:xfrm>
            <a:off x="6858000" y="2880360"/>
            <a:ext cx="1783080" cy="530352"/>
          </a:xfrm>
          <a:prstGeom prst="roundRect">
            <a:avLst>
              <a:gd name="adj" fmla="val 13793"/>
            </a:avLst>
          </a:prstGeom>
          <a:solidFill>
            <a:srgbClr val="F7F6F3"/>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4ud300_ndt33"/>
          <p:cNvSpPr txBox="1"/>
          <p:nvPr/>
        </p:nvSpPr>
        <p:spPr>
          <a:xfrm>
            <a:off x="6903720" y="2880360"/>
            <a:ext cx="1691639" cy="530352"/>
          </a:xfrm>
          <a:prstGeom prst="rect">
            <a:avLst/>
          </a:prstGeom>
          <a:noFill/>
        </p:spPr>
        <p:txBody>
          <a:bodyPr wrap="square" lIns="0" tIns="0" rIns="0" bIns="0" anchor="ctr">
            <a:spAutoFit/>
          </a:bodyPr>
          <a:lstStyle/>
          <a:p>
            <a:pPr algn="ctr"/>
            <a:r>
              <a:rPr sz="900" b="1">
                <a:solidFill>
                  <a:srgbClr val="1C1917"/>
                </a:solidFill>
                <a:latin typeface="Segoe UI"/>
              </a:rPr>
              <a:t>Recommendations</a:t>
            </a:r>
          </a:p>
        </p:txBody>
      </p:sp>
      <p:cxnSp>
        <p:nvCxnSpPr>
          <p:cNvPr id="35" name="a4ud300_ar34"/>
          <p:cNvCxnSpPr/>
          <p:nvPr/>
        </p:nvCxnSpPr>
        <p:spPr>
          <a:xfrm>
            <a:off x="7132320" y="2359151"/>
            <a:ext cx="612648" cy="493777"/>
          </a:xfrm>
          <a:prstGeom prst="line">
            <a:avLst/>
          </a:prstGeom>
          <a:ln w="12700">
            <a:solidFill>
              <a:srgbClr val="1580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a4f_lb35"/>
          <p:cNvSpPr txBox="1"/>
          <p:nvPr/>
        </p:nvSpPr>
        <p:spPr>
          <a:xfrm>
            <a:off x="457200" y="2971800"/>
            <a:ext cx="2286000" cy="365760"/>
          </a:xfrm>
          <a:prstGeom prst="rect">
            <a:avLst/>
          </a:prstGeom>
          <a:noFill/>
        </p:spPr>
        <p:txBody>
          <a:bodyPr wrap="square" lIns="0" tIns="0" rIns="0" bIns="0" anchor="ctr">
            <a:spAutoFit/>
          </a:bodyPr>
          <a:lstStyle/>
          <a:p>
            <a:pPr algn="r"/>
            <a:r>
              <a:rPr sz="900" b="1">
                <a:solidFill>
                  <a:srgbClr val="15803D"/>
                </a:solidFill>
                <a:latin typeface="Segoe UI"/>
              </a:rPr>
              <a:t>replay the log later  &gt;</a:t>
            </a:r>
          </a:p>
        </p:txBody>
      </p:sp>
      <p:sp>
        <p:nvSpPr>
          <p:cNvPr id="37" name="a5u_nb36"/>
          <p:cNvSpPr/>
          <p:nvPr/>
        </p:nvSpPr>
        <p:spPr>
          <a:xfrm>
            <a:off x="457200" y="3703320"/>
            <a:ext cx="8229600" cy="640080"/>
          </a:xfrm>
          <a:prstGeom prst="roundRect">
            <a:avLst>
              <a:gd name="adj" fmla="val 11428"/>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5u_nacc37"/>
          <p:cNvSpPr/>
          <p:nvPr/>
        </p:nvSpPr>
        <p:spPr>
          <a:xfrm>
            <a:off x="457200" y="3703320"/>
            <a:ext cx="54864" cy="6400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5u_nt38"/>
          <p:cNvSpPr txBox="1"/>
          <p:nvPr/>
        </p:nvSpPr>
        <p:spPr>
          <a:xfrm>
            <a:off x="658368" y="3703320"/>
            <a:ext cx="7827264" cy="640080"/>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Reading does not remove anything - the same log can be replayed again tomorrow, for a report nobody has thought of yet.</a:t>
            </a:r>
          </a:p>
        </p:txBody>
      </p:sp>
      <p:sp>
        <p:nvSpPr>
          <p:cNvPr id="40" name="ft3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57</a:t>
            </a:r>
          </a:p>
        </p:txBody>
      </p:sp>
      <p:sp>
        <p:nvSpPr>
          <p:cNvPr id="41" name="ft4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ft4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3" name="ft4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6" presetID="2" presetClass="entr" presetSubtype="4"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ppt_y+0.1"/>
                                          </p:val>
                                        </p:tav>
                                        <p:tav tm="100000">
                                          <p:val>
                                            <p:strVal val="#ppt_y"/>
                                          </p:val>
                                        </p:tav>
                                      </p:tavLst>
                                    </p:anim>
                                    <p:animEffect transition="in" filter="fade">
                                      <p:cBhvr>
                                        <p:cTn id="25" dur="500"/>
                                        <p:tgtEl>
                                          <p:spTgt spid="14"/>
                                        </p:tgtEl>
                                      </p:cBhvr>
                                    </p:animEffect>
                                  </p:childTnLst>
                                </p:cTn>
                              </p:par>
                              <p:par>
                                <p:cTn id="31" presetID="2" presetClass="entr" presetSubtype="4"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ppt_y+0.1"/>
                                          </p:val>
                                        </p:tav>
                                        <p:tav tm="100000">
                                          <p:val>
                                            <p:strVal val="#ppt_y"/>
                                          </p:val>
                                        </p:tav>
                                      </p:tavLst>
                                    </p:anim>
                                    <p:animEffect transition="in" filter="fade">
                                      <p:cBhvr>
                                        <p:cTn id="30" dur="500"/>
                                        <p:tgtEl>
                                          <p:spTgt spid="15"/>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43" presetID="2" presetClass="entr" presetSubtype="4"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additive="base">
                                        <p:cTn id="40" dur="500" fill="hold"/>
                                        <p:tgtEl>
                                          <p:spTgt spid="17"/>
                                        </p:tgtEl>
                                        <p:attrNameLst>
                                          <p:attrName>ppt_x</p:attrName>
                                        </p:attrNameLst>
                                      </p:cBhvr>
                                      <p:tavLst>
                                        <p:tav tm="0">
                                          <p:val>
                                            <p:strVal val="#ppt_x"/>
                                          </p:val>
                                        </p:tav>
                                        <p:tav tm="100000">
                                          <p:val>
                                            <p:strVal val="#ppt_x"/>
                                          </p:val>
                                        </p:tav>
                                      </p:tavLst>
                                    </p:anim>
                                    <p:anim calcmode="lin" valueType="num">
                                      <p:cBhvr additive="base">
                                        <p:cTn id="41" dur="500" fill="hold"/>
                                        <p:tgtEl>
                                          <p:spTgt spid="17"/>
                                        </p:tgtEl>
                                        <p:attrNameLst>
                                          <p:attrName>ppt_y</p:attrName>
                                        </p:attrNameLst>
                                      </p:cBhvr>
                                      <p:tavLst>
                                        <p:tav tm="0">
                                          <p:val>
                                            <p:strVal val="#ppt_y+0.1"/>
                                          </p:val>
                                        </p:tav>
                                        <p:tav tm="100000">
                                          <p:val>
                                            <p:strVal val="#ppt_y"/>
                                          </p:val>
                                        </p:tav>
                                      </p:tavLst>
                                    </p:anim>
                                    <p:animEffect transition="in" filter="fade">
                                      <p:cBhvr>
                                        <p:cTn id="42" dur="500"/>
                                        <p:tgtEl>
                                          <p:spTgt spid="17"/>
                                        </p:tgtEl>
                                      </p:cBhvr>
                                    </p:animEffect>
                                  </p:childTnLst>
                                </p:cTn>
                              </p:par>
                              <p:par>
                                <p:cTn id="48" presetID="2" presetClass="entr" presetSubtype="4"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additive="base">
                                        <p:cTn id="45" dur="500" fill="hold"/>
                                        <p:tgtEl>
                                          <p:spTgt spid="18"/>
                                        </p:tgtEl>
                                        <p:attrNameLst>
                                          <p:attrName>ppt_x</p:attrName>
                                        </p:attrNameLst>
                                      </p:cBhvr>
                                      <p:tavLst>
                                        <p:tav tm="0">
                                          <p:val>
                                            <p:strVal val="#ppt_x"/>
                                          </p:val>
                                        </p:tav>
                                        <p:tav tm="100000">
                                          <p:val>
                                            <p:strVal val="#ppt_x"/>
                                          </p:val>
                                        </p:tav>
                                      </p:tavLst>
                                    </p:anim>
                                    <p:anim calcmode="lin" valueType="num">
                                      <p:cBhvr additive="base">
                                        <p:cTn id="46" dur="500" fill="hold"/>
                                        <p:tgtEl>
                                          <p:spTgt spid="18"/>
                                        </p:tgtEl>
                                        <p:attrNameLst>
                                          <p:attrName>ppt_y</p:attrName>
                                        </p:attrNameLst>
                                      </p:cBhvr>
                                      <p:tavLst>
                                        <p:tav tm="0">
                                          <p:val>
                                            <p:strVal val="#ppt_y+0.1"/>
                                          </p:val>
                                        </p:tav>
                                        <p:tav tm="100000">
                                          <p:val>
                                            <p:strVal val="#ppt_y"/>
                                          </p:val>
                                        </p:tav>
                                      </p:tavLst>
                                    </p:anim>
                                    <p:animEffect transition="in" filter="fade">
                                      <p:cBhvr>
                                        <p:cTn id="47" dur="500"/>
                                        <p:tgtEl>
                                          <p:spTgt spid="18"/>
                                        </p:tgtEl>
                                      </p:cBhvr>
                                    </p:animEffect>
                                  </p:childTnLst>
                                </p:cTn>
                              </p:par>
                              <p:par>
                                <p:cTn id="53" presetID="2" presetClass="entr" presetSubtype="4"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ppt_x"/>
                                          </p:val>
                                        </p:tav>
                                        <p:tav tm="100000">
                                          <p:val>
                                            <p:strVal val="#ppt_x"/>
                                          </p:val>
                                        </p:tav>
                                      </p:tavLst>
                                    </p:anim>
                                    <p:anim calcmode="lin" valueType="num">
                                      <p:cBhvr additive="base">
                                        <p:cTn id="51" dur="500" fill="hold"/>
                                        <p:tgtEl>
                                          <p:spTgt spid="19"/>
                                        </p:tgtEl>
                                        <p:attrNameLst>
                                          <p:attrName>ppt_y</p:attrName>
                                        </p:attrNameLst>
                                      </p:cBhvr>
                                      <p:tavLst>
                                        <p:tav tm="0">
                                          <p:val>
                                            <p:strVal val="#ppt_y+0.1"/>
                                          </p:val>
                                        </p:tav>
                                        <p:tav tm="100000">
                                          <p:val>
                                            <p:strVal val="#ppt_y"/>
                                          </p:val>
                                        </p:tav>
                                      </p:tavLst>
                                    </p:anim>
                                    <p:animEffect transition="in" filter="fade">
                                      <p:cBhvr>
                                        <p:cTn id="52" dur="500"/>
                                        <p:tgtEl>
                                          <p:spTgt spid="19"/>
                                        </p:tgtEl>
                                      </p:cBhvr>
                                    </p:animEffect>
                                  </p:childTnLst>
                                </p:cTn>
                              </p:par>
                              <p:par>
                                <p:cTn id="58" presetID="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ppt_y+0.1"/>
                                          </p:val>
                                        </p:tav>
                                        <p:tav tm="100000">
                                          <p:val>
                                            <p:strVal val="#ppt_y"/>
                                          </p:val>
                                        </p:tav>
                                      </p:tavLst>
                                    </p:anim>
                                    <p:animEffect transition="in" filter="fade">
                                      <p:cBhvr>
                                        <p:cTn id="57" dur="500"/>
                                        <p:tgtEl>
                                          <p:spTgt spid="20"/>
                                        </p:tgtEl>
                                      </p:cBhvr>
                                    </p:animEffect>
                                  </p:childTnLst>
                                </p:cTn>
                              </p:par>
                              <p:par>
                                <p:cTn id="61"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4"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7"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70"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left)">
                                      <p:cBhvr>
                                        <p:cTn id="69" dur="500"/>
                                        <p:tgtEl>
                                          <p:spTgt spid="24"/>
                                        </p:tgtEl>
                                      </p:cBhvr>
                                    </p:animEffect>
                                  </p:childTnLst>
                                </p:cTn>
                              </p:par>
                              <p:par>
                                <p:cTn id="75" presetID="2" presetClass="entr" presetSubtype="4" fill="hold" grpId="0" nodeType="withEffect">
                                  <p:stCondLst>
                                    <p:cond delay="100"/>
                                  </p:stCondLst>
                                  <p:childTnLst>
                                    <p:set>
                                      <p:cBhvr>
                                        <p:cTn id="71" dur="1" fill="hold">
                                          <p:stCondLst>
                                            <p:cond delay="0"/>
                                          </p:stCondLst>
                                        </p:cTn>
                                        <p:tgtEl>
                                          <p:spTgt spid="26"/>
                                        </p:tgtEl>
                                        <p:attrNameLst>
                                          <p:attrName>style.visibility</p:attrName>
                                        </p:attrNameLst>
                                      </p:cBhvr>
                                      <p:to>
                                        <p:strVal val="visible"/>
                                      </p:to>
                                    </p:set>
                                    <p:anim calcmode="lin" valueType="num">
                                      <p:cBhvr additive="base">
                                        <p:cTn id="72" dur="500" fill="hold"/>
                                        <p:tgtEl>
                                          <p:spTgt spid="26"/>
                                        </p:tgtEl>
                                        <p:attrNameLst>
                                          <p:attrName>ppt_x</p:attrName>
                                        </p:attrNameLst>
                                      </p:cBhvr>
                                      <p:tavLst>
                                        <p:tav tm="0">
                                          <p:val>
                                            <p:strVal val="#ppt_x"/>
                                          </p:val>
                                        </p:tav>
                                        <p:tav tm="100000">
                                          <p:val>
                                            <p:strVal val="#ppt_x"/>
                                          </p:val>
                                        </p:tav>
                                      </p:tavLst>
                                    </p:anim>
                                    <p:anim calcmode="lin" valueType="num">
                                      <p:cBhvr additive="base">
                                        <p:cTn id="73" dur="500" fill="hold"/>
                                        <p:tgtEl>
                                          <p:spTgt spid="26"/>
                                        </p:tgtEl>
                                        <p:attrNameLst>
                                          <p:attrName>ppt_y</p:attrName>
                                        </p:attrNameLst>
                                      </p:cBhvr>
                                      <p:tavLst>
                                        <p:tav tm="0">
                                          <p:val>
                                            <p:strVal val="#ppt_y+0.1"/>
                                          </p:val>
                                        </p:tav>
                                        <p:tav tm="100000">
                                          <p:val>
                                            <p:strVal val="#ppt_y"/>
                                          </p:val>
                                        </p:tav>
                                      </p:tavLst>
                                    </p:anim>
                                    <p:animEffect transition="in" filter="fade">
                                      <p:cBhvr>
                                        <p:cTn id="74" dur="500"/>
                                        <p:tgtEl>
                                          <p:spTgt spid="26"/>
                                        </p:tgtEl>
                                      </p:cBhvr>
                                    </p:animEffect>
                                  </p:childTnLst>
                                </p:cTn>
                              </p:par>
                              <p:par>
                                <p:cTn id="78" presetID="22" presetClass="entr" presetSubtype="8" fill="hold" grpId="0" nodeType="withEffect">
                                  <p:stCondLst>
                                    <p:cond delay="300"/>
                                  </p:stCondLst>
                                  <p:childTnLst>
                                    <p:set>
                                      <p:cBhvr>
                                        <p:cTn id="76" dur="1" fill="hold">
                                          <p:stCondLst>
                                            <p:cond delay="0"/>
                                          </p:stCondLst>
                                        </p:cTn>
                                        <p:tgtEl>
                                          <p:spTgt spid="25"/>
                                        </p:tgtEl>
                                        <p:attrNameLst>
                                          <p:attrName>style.visibility</p:attrName>
                                        </p:attrNameLst>
                                      </p:cBhvr>
                                      <p:to>
                                        <p:strVal val="visible"/>
                                      </p:to>
                                    </p:set>
                                    <p:animEffect transition="in" filter="wipe(left)">
                                      <p:cBhvr>
                                        <p:cTn id="77" dur="500"/>
                                        <p:tgtEl>
                                          <p:spTgt spid="25"/>
                                        </p:tgtEl>
                                      </p:cBhvr>
                                    </p:animEffect>
                                  </p:childTnLst>
                                </p:cTn>
                              </p:par>
                            </p:childTnLst>
                          </p:cTn>
                        </p:par>
                      </p:childTnLst>
                    </p:cTn>
                  </p:par>
                  <p:par>
                    <p:cTn id="79" fill="hold">
                      <p:stCondLst>
                        <p:cond delay="indefinite"/>
                      </p:stCondLst>
                      <p:childTnLst>
                        <p:par>
                          <p:cTn id="80" fill="hold">
                            <p:stCondLst>
                              <p:cond delay="0"/>
                            </p:stCondLst>
                            <p:childTnLst>
                              <p:par>
                                <p:cTn id="85" presetID="2" presetClass="entr" presetSubtype="4" fill="hold" grpId="0" nodeType="clickEffect">
                                  <p:stCondLst>
                                    <p:cond delay="0"/>
                                  </p:stCondLst>
                                  <p:childTnLst>
                                    <p:set>
                                      <p:cBhvr>
                                        <p:cTn id="81" dur="1" fill="hold">
                                          <p:stCondLst>
                                            <p:cond delay="0"/>
                                          </p:stCondLst>
                                        </p:cTn>
                                        <p:tgtEl>
                                          <p:spTgt spid="27"/>
                                        </p:tgtEl>
                                        <p:attrNameLst>
                                          <p:attrName>style.visibility</p:attrName>
                                        </p:attrNameLst>
                                      </p:cBhvr>
                                      <p:to>
                                        <p:strVal val="visible"/>
                                      </p:to>
                                    </p:set>
                                    <p:anim calcmode="lin" valueType="num">
                                      <p:cBhvr additive="base">
                                        <p:cTn id="82" dur="500" fill="hold"/>
                                        <p:tgtEl>
                                          <p:spTgt spid="27"/>
                                        </p:tgtEl>
                                        <p:attrNameLst>
                                          <p:attrName>ppt_x</p:attrName>
                                        </p:attrNameLst>
                                      </p:cBhvr>
                                      <p:tavLst>
                                        <p:tav tm="0">
                                          <p:val>
                                            <p:strVal val="#ppt_x"/>
                                          </p:val>
                                        </p:tav>
                                        <p:tav tm="100000">
                                          <p:val>
                                            <p:strVal val="#ppt_x"/>
                                          </p:val>
                                        </p:tav>
                                      </p:tavLst>
                                    </p:anim>
                                    <p:anim calcmode="lin" valueType="num">
                                      <p:cBhvr additive="base">
                                        <p:cTn id="83" dur="500" fill="hold"/>
                                        <p:tgtEl>
                                          <p:spTgt spid="27"/>
                                        </p:tgtEl>
                                        <p:attrNameLst>
                                          <p:attrName>ppt_y</p:attrName>
                                        </p:attrNameLst>
                                      </p:cBhvr>
                                      <p:tavLst>
                                        <p:tav tm="0">
                                          <p:val>
                                            <p:strVal val="#ppt_y+0.1"/>
                                          </p:val>
                                        </p:tav>
                                        <p:tav tm="100000">
                                          <p:val>
                                            <p:strVal val="#ppt_y"/>
                                          </p:val>
                                        </p:tav>
                                      </p:tavLst>
                                    </p:anim>
                                    <p:animEffect transition="in" filter="fade">
                                      <p:cBhvr>
                                        <p:cTn id="84" dur="500"/>
                                        <p:tgtEl>
                                          <p:spTgt spid="27"/>
                                        </p:tgtEl>
                                      </p:cBhvr>
                                    </p:animEffect>
                                  </p:childTnLst>
                                </p:cTn>
                              </p:par>
                              <p:par>
                                <p:cTn id="90" presetID="2" presetClass="entr" presetSubtype="4"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 calcmode="lin" valueType="num">
                                      <p:cBhvr additive="base">
                                        <p:cTn id="87" dur="500" fill="hold"/>
                                        <p:tgtEl>
                                          <p:spTgt spid="28"/>
                                        </p:tgtEl>
                                        <p:attrNameLst>
                                          <p:attrName>ppt_x</p:attrName>
                                        </p:attrNameLst>
                                      </p:cBhvr>
                                      <p:tavLst>
                                        <p:tav tm="0">
                                          <p:val>
                                            <p:strVal val="#ppt_x"/>
                                          </p:val>
                                        </p:tav>
                                        <p:tav tm="100000">
                                          <p:val>
                                            <p:strVal val="#ppt_x"/>
                                          </p:val>
                                        </p:tav>
                                      </p:tavLst>
                                    </p:anim>
                                    <p:anim calcmode="lin" valueType="num">
                                      <p:cBhvr additive="base">
                                        <p:cTn id="88" dur="500" fill="hold"/>
                                        <p:tgtEl>
                                          <p:spTgt spid="28"/>
                                        </p:tgtEl>
                                        <p:attrNameLst>
                                          <p:attrName>ppt_y</p:attrName>
                                        </p:attrNameLst>
                                      </p:cBhvr>
                                      <p:tavLst>
                                        <p:tav tm="0">
                                          <p:val>
                                            <p:strVal val="#ppt_y+0.1"/>
                                          </p:val>
                                        </p:tav>
                                        <p:tav tm="100000">
                                          <p:val>
                                            <p:strVal val="#ppt_y"/>
                                          </p:val>
                                        </p:tav>
                                      </p:tavLst>
                                    </p:anim>
                                    <p:animEffect transition="in" filter="fade">
                                      <p:cBhvr>
                                        <p:cTn id="89" dur="500"/>
                                        <p:tgtEl>
                                          <p:spTgt spid="28"/>
                                        </p:tgtEl>
                                      </p:cBhvr>
                                    </p:animEffect>
                                  </p:childTnLst>
                                </p:cTn>
                              </p:par>
                              <p:par>
                                <p:cTn id="95" presetID="2" presetClass="entr" presetSubtype="4" fill="hold" grpId="0" nodeType="withEffect">
                                  <p:stCondLst>
                                    <p:cond delay="0"/>
                                  </p:stCondLst>
                                  <p:childTnLst>
                                    <p:set>
                                      <p:cBhvr>
                                        <p:cTn id="91" dur="1" fill="hold">
                                          <p:stCondLst>
                                            <p:cond delay="0"/>
                                          </p:stCondLst>
                                        </p:cTn>
                                        <p:tgtEl>
                                          <p:spTgt spid="29"/>
                                        </p:tgtEl>
                                        <p:attrNameLst>
                                          <p:attrName>style.visibility</p:attrName>
                                        </p:attrNameLst>
                                      </p:cBhvr>
                                      <p:to>
                                        <p:strVal val="visible"/>
                                      </p:to>
                                    </p:set>
                                    <p:anim calcmode="lin" valueType="num">
                                      <p:cBhvr additive="base">
                                        <p:cTn id="92" dur="500" fill="hold"/>
                                        <p:tgtEl>
                                          <p:spTgt spid="29"/>
                                        </p:tgtEl>
                                        <p:attrNameLst>
                                          <p:attrName>ppt_x</p:attrName>
                                        </p:attrNameLst>
                                      </p:cBhvr>
                                      <p:tavLst>
                                        <p:tav tm="0">
                                          <p:val>
                                            <p:strVal val="#ppt_x"/>
                                          </p:val>
                                        </p:tav>
                                        <p:tav tm="100000">
                                          <p:val>
                                            <p:strVal val="#ppt_x"/>
                                          </p:val>
                                        </p:tav>
                                      </p:tavLst>
                                    </p:anim>
                                    <p:anim calcmode="lin" valueType="num">
                                      <p:cBhvr additive="base">
                                        <p:cTn id="93" dur="500" fill="hold"/>
                                        <p:tgtEl>
                                          <p:spTgt spid="29"/>
                                        </p:tgtEl>
                                        <p:attrNameLst>
                                          <p:attrName>ppt_y</p:attrName>
                                        </p:attrNameLst>
                                      </p:cBhvr>
                                      <p:tavLst>
                                        <p:tav tm="0">
                                          <p:val>
                                            <p:strVal val="#ppt_y+0.1"/>
                                          </p:val>
                                        </p:tav>
                                        <p:tav tm="100000">
                                          <p:val>
                                            <p:strVal val="#ppt_y"/>
                                          </p:val>
                                        </p:tav>
                                      </p:tavLst>
                                    </p:anim>
                                    <p:animEffect transition="in" filter="fade">
                                      <p:cBhvr>
                                        <p:cTn id="94" dur="500"/>
                                        <p:tgtEl>
                                          <p:spTgt spid="29"/>
                                        </p:tgtEl>
                                      </p:cBhvr>
                                    </p:animEffect>
                                  </p:childTnLst>
                                </p:cTn>
                              </p:par>
                              <p:par>
                                <p:cTn id="98"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500"/>
                                        <p:tgtEl>
                                          <p:spTgt spid="36"/>
                                        </p:tgtEl>
                                      </p:cBhvr>
                                    </p:animEffect>
                                  </p:childTnLst>
                                </p:cTn>
                              </p:par>
                              <p:par>
                                <p:cTn id="103" presetID="2" presetClass="entr" presetSubtype="4" fill="hold" grpId="0" nodeType="withEffect">
                                  <p:stCondLst>
                                    <p:cond delay="150"/>
                                  </p:stCondLst>
                                  <p:childTnLst>
                                    <p:set>
                                      <p:cBhvr>
                                        <p:cTn id="99" dur="1" fill="hold">
                                          <p:stCondLst>
                                            <p:cond delay="0"/>
                                          </p:stCondLst>
                                        </p:cTn>
                                        <p:tgtEl>
                                          <p:spTgt spid="30"/>
                                        </p:tgtEl>
                                        <p:attrNameLst>
                                          <p:attrName>style.visibility</p:attrName>
                                        </p:attrNameLst>
                                      </p:cBhvr>
                                      <p:to>
                                        <p:strVal val="visible"/>
                                      </p:to>
                                    </p:set>
                                    <p:anim calcmode="lin" valueType="num">
                                      <p:cBhvr additive="base">
                                        <p:cTn id="100" dur="500" fill="hold"/>
                                        <p:tgtEl>
                                          <p:spTgt spid="30"/>
                                        </p:tgtEl>
                                        <p:attrNameLst>
                                          <p:attrName>ppt_x</p:attrName>
                                        </p:attrNameLst>
                                      </p:cBhvr>
                                      <p:tavLst>
                                        <p:tav tm="0">
                                          <p:val>
                                            <p:strVal val="#ppt_x"/>
                                          </p:val>
                                        </p:tav>
                                        <p:tav tm="100000">
                                          <p:val>
                                            <p:strVal val="#ppt_x"/>
                                          </p:val>
                                        </p:tav>
                                      </p:tavLst>
                                    </p:anim>
                                    <p:anim calcmode="lin" valueType="num">
                                      <p:cBhvr additive="base">
                                        <p:cTn id="101" dur="500" fill="hold"/>
                                        <p:tgtEl>
                                          <p:spTgt spid="30"/>
                                        </p:tgtEl>
                                        <p:attrNameLst>
                                          <p:attrName>ppt_y</p:attrName>
                                        </p:attrNameLst>
                                      </p:cBhvr>
                                      <p:tavLst>
                                        <p:tav tm="0">
                                          <p:val>
                                            <p:strVal val="#ppt_y+0.1"/>
                                          </p:val>
                                        </p:tav>
                                        <p:tav tm="100000">
                                          <p:val>
                                            <p:strVal val="#ppt_y"/>
                                          </p:val>
                                        </p:tav>
                                      </p:tavLst>
                                    </p:anim>
                                    <p:animEffect transition="in" filter="fade">
                                      <p:cBhvr>
                                        <p:cTn id="102" dur="500"/>
                                        <p:tgtEl>
                                          <p:spTgt spid="30"/>
                                        </p:tgtEl>
                                      </p:cBhvr>
                                    </p:animEffect>
                                  </p:childTnLst>
                                </p:cTn>
                              </p:par>
                              <p:par>
                                <p:cTn id="108" presetID="2" presetClass="entr" presetSubtype="4" fill="hold" grpId="0" nodeType="withEffect">
                                  <p:stCondLst>
                                    <p:cond delay="150"/>
                                  </p:stCondLst>
                                  <p:childTnLst>
                                    <p:set>
                                      <p:cBhvr>
                                        <p:cTn id="104" dur="1" fill="hold">
                                          <p:stCondLst>
                                            <p:cond delay="0"/>
                                          </p:stCondLst>
                                        </p:cTn>
                                        <p:tgtEl>
                                          <p:spTgt spid="31"/>
                                        </p:tgtEl>
                                        <p:attrNameLst>
                                          <p:attrName>style.visibility</p:attrName>
                                        </p:attrNameLst>
                                      </p:cBhvr>
                                      <p:to>
                                        <p:strVal val="visible"/>
                                      </p:to>
                                    </p:set>
                                    <p:anim calcmode="lin" valueType="num">
                                      <p:cBhvr additive="base">
                                        <p:cTn id="105" dur="500" fill="hold"/>
                                        <p:tgtEl>
                                          <p:spTgt spid="31"/>
                                        </p:tgtEl>
                                        <p:attrNameLst>
                                          <p:attrName>ppt_x</p:attrName>
                                        </p:attrNameLst>
                                      </p:cBhvr>
                                      <p:tavLst>
                                        <p:tav tm="0">
                                          <p:val>
                                            <p:strVal val="#ppt_x"/>
                                          </p:val>
                                        </p:tav>
                                        <p:tav tm="100000">
                                          <p:val>
                                            <p:strVal val="#ppt_x"/>
                                          </p:val>
                                        </p:tav>
                                      </p:tavLst>
                                    </p:anim>
                                    <p:anim calcmode="lin" valueType="num">
                                      <p:cBhvr additive="base">
                                        <p:cTn id="106" dur="500" fill="hold"/>
                                        <p:tgtEl>
                                          <p:spTgt spid="31"/>
                                        </p:tgtEl>
                                        <p:attrNameLst>
                                          <p:attrName>ppt_y</p:attrName>
                                        </p:attrNameLst>
                                      </p:cBhvr>
                                      <p:tavLst>
                                        <p:tav tm="0">
                                          <p:val>
                                            <p:strVal val="#ppt_y+0.1"/>
                                          </p:val>
                                        </p:tav>
                                        <p:tav tm="100000">
                                          <p:val>
                                            <p:strVal val="#ppt_y"/>
                                          </p:val>
                                        </p:tav>
                                      </p:tavLst>
                                    </p:anim>
                                    <p:animEffect transition="in" filter="fade">
                                      <p:cBhvr>
                                        <p:cTn id="107" dur="500"/>
                                        <p:tgtEl>
                                          <p:spTgt spid="31"/>
                                        </p:tgtEl>
                                      </p:cBhvr>
                                    </p:animEffect>
                                  </p:childTnLst>
                                </p:cTn>
                              </p:par>
                              <p:par>
                                <p:cTn id="113" presetID="2" presetClass="entr" presetSubtype="4" fill="hold" grpId="0" nodeType="withEffect">
                                  <p:stCondLst>
                                    <p:cond delay="150"/>
                                  </p:stCondLst>
                                  <p:childTnLst>
                                    <p:set>
                                      <p:cBhvr>
                                        <p:cTn id="109" dur="1" fill="hold">
                                          <p:stCondLst>
                                            <p:cond delay="0"/>
                                          </p:stCondLst>
                                        </p:cTn>
                                        <p:tgtEl>
                                          <p:spTgt spid="32"/>
                                        </p:tgtEl>
                                        <p:attrNameLst>
                                          <p:attrName>style.visibility</p:attrName>
                                        </p:attrNameLst>
                                      </p:cBhvr>
                                      <p:to>
                                        <p:strVal val="visible"/>
                                      </p:to>
                                    </p:set>
                                    <p:anim calcmode="lin" valueType="num">
                                      <p:cBhvr additive="base">
                                        <p:cTn id="110" dur="500" fill="hold"/>
                                        <p:tgtEl>
                                          <p:spTgt spid="32"/>
                                        </p:tgtEl>
                                        <p:attrNameLst>
                                          <p:attrName>ppt_x</p:attrName>
                                        </p:attrNameLst>
                                      </p:cBhvr>
                                      <p:tavLst>
                                        <p:tav tm="0">
                                          <p:val>
                                            <p:strVal val="#ppt_x"/>
                                          </p:val>
                                        </p:tav>
                                        <p:tav tm="100000">
                                          <p:val>
                                            <p:strVal val="#ppt_x"/>
                                          </p:val>
                                        </p:tav>
                                      </p:tavLst>
                                    </p:anim>
                                    <p:anim calcmode="lin" valueType="num">
                                      <p:cBhvr additive="base">
                                        <p:cTn id="111" dur="500" fill="hold"/>
                                        <p:tgtEl>
                                          <p:spTgt spid="32"/>
                                        </p:tgtEl>
                                        <p:attrNameLst>
                                          <p:attrName>ppt_y</p:attrName>
                                        </p:attrNameLst>
                                      </p:cBhvr>
                                      <p:tavLst>
                                        <p:tav tm="0">
                                          <p:val>
                                            <p:strVal val="#ppt_y+0.1"/>
                                          </p:val>
                                        </p:tav>
                                        <p:tav tm="100000">
                                          <p:val>
                                            <p:strVal val="#ppt_y"/>
                                          </p:val>
                                        </p:tav>
                                      </p:tavLst>
                                    </p:anim>
                                    <p:animEffect transition="in" filter="fade">
                                      <p:cBhvr>
                                        <p:cTn id="112" dur="500"/>
                                        <p:tgtEl>
                                          <p:spTgt spid="32"/>
                                        </p:tgtEl>
                                      </p:cBhvr>
                                    </p:animEffect>
                                  </p:childTnLst>
                                </p:cTn>
                              </p:par>
                              <p:par>
                                <p:cTn id="118" presetID="2" presetClass="entr" presetSubtype="4" fill="hold" grpId="0" nodeType="withEffect">
                                  <p:stCondLst>
                                    <p:cond delay="300"/>
                                  </p:stCondLst>
                                  <p:childTnLst>
                                    <p:set>
                                      <p:cBhvr>
                                        <p:cTn id="114" dur="1" fill="hold">
                                          <p:stCondLst>
                                            <p:cond delay="0"/>
                                          </p:stCondLst>
                                        </p:cTn>
                                        <p:tgtEl>
                                          <p:spTgt spid="33"/>
                                        </p:tgtEl>
                                        <p:attrNameLst>
                                          <p:attrName>style.visibility</p:attrName>
                                        </p:attrNameLst>
                                      </p:cBhvr>
                                      <p:to>
                                        <p:strVal val="visible"/>
                                      </p:to>
                                    </p:set>
                                    <p:anim calcmode="lin" valueType="num">
                                      <p:cBhvr additive="base">
                                        <p:cTn id="115" dur="500" fill="hold"/>
                                        <p:tgtEl>
                                          <p:spTgt spid="33"/>
                                        </p:tgtEl>
                                        <p:attrNameLst>
                                          <p:attrName>ppt_x</p:attrName>
                                        </p:attrNameLst>
                                      </p:cBhvr>
                                      <p:tavLst>
                                        <p:tav tm="0">
                                          <p:val>
                                            <p:strVal val="#ppt_x"/>
                                          </p:val>
                                        </p:tav>
                                        <p:tav tm="100000">
                                          <p:val>
                                            <p:strVal val="#ppt_x"/>
                                          </p:val>
                                        </p:tav>
                                      </p:tavLst>
                                    </p:anim>
                                    <p:anim calcmode="lin" valueType="num">
                                      <p:cBhvr additive="base">
                                        <p:cTn id="116" dur="500" fill="hold"/>
                                        <p:tgtEl>
                                          <p:spTgt spid="33"/>
                                        </p:tgtEl>
                                        <p:attrNameLst>
                                          <p:attrName>ppt_y</p:attrName>
                                        </p:attrNameLst>
                                      </p:cBhvr>
                                      <p:tavLst>
                                        <p:tav tm="0">
                                          <p:val>
                                            <p:strVal val="#ppt_y+0.1"/>
                                          </p:val>
                                        </p:tav>
                                        <p:tav tm="100000">
                                          <p:val>
                                            <p:strVal val="#ppt_y"/>
                                          </p:val>
                                        </p:tav>
                                      </p:tavLst>
                                    </p:anim>
                                    <p:animEffect transition="in" filter="fade">
                                      <p:cBhvr>
                                        <p:cTn id="117" dur="500"/>
                                        <p:tgtEl>
                                          <p:spTgt spid="33"/>
                                        </p:tgtEl>
                                      </p:cBhvr>
                                    </p:animEffect>
                                  </p:childTnLst>
                                </p:cTn>
                              </p:par>
                              <p:par>
                                <p:cTn id="123" presetID="2" presetClass="entr" presetSubtype="4" fill="hold" grpId="0" nodeType="withEffect">
                                  <p:stCondLst>
                                    <p:cond delay="300"/>
                                  </p:stCondLst>
                                  <p:childTnLst>
                                    <p:set>
                                      <p:cBhvr>
                                        <p:cTn id="119" dur="1" fill="hold">
                                          <p:stCondLst>
                                            <p:cond delay="0"/>
                                          </p:stCondLst>
                                        </p:cTn>
                                        <p:tgtEl>
                                          <p:spTgt spid="34"/>
                                        </p:tgtEl>
                                        <p:attrNameLst>
                                          <p:attrName>style.visibility</p:attrName>
                                        </p:attrNameLst>
                                      </p:cBhvr>
                                      <p:to>
                                        <p:strVal val="visible"/>
                                      </p:to>
                                    </p:set>
                                    <p:anim calcmode="lin" valueType="num">
                                      <p:cBhvr additive="base">
                                        <p:cTn id="120" dur="500" fill="hold"/>
                                        <p:tgtEl>
                                          <p:spTgt spid="34"/>
                                        </p:tgtEl>
                                        <p:attrNameLst>
                                          <p:attrName>ppt_x</p:attrName>
                                        </p:attrNameLst>
                                      </p:cBhvr>
                                      <p:tavLst>
                                        <p:tav tm="0">
                                          <p:val>
                                            <p:strVal val="#ppt_x"/>
                                          </p:val>
                                        </p:tav>
                                        <p:tav tm="100000">
                                          <p:val>
                                            <p:strVal val="#ppt_x"/>
                                          </p:val>
                                        </p:tav>
                                      </p:tavLst>
                                    </p:anim>
                                    <p:anim calcmode="lin" valueType="num">
                                      <p:cBhvr additive="base">
                                        <p:cTn id="121" dur="500" fill="hold"/>
                                        <p:tgtEl>
                                          <p:spTgt spid="34"/>
                                        </p:tgtEl>
                                        <p:attrNameLst>
                                          <p:attrName>ppt_y</p:attrName>
                                        </p:attrNameLst>
                                      </p:cBhvr>
                                      <p:tavLst>
                                        <p:tav tm="0">
                                          <p:val>
                                            <p:strVal val="#ppt_y+0.1"/>
                                          </p:val>
                                        </p:tav>
                                        <p:tav tm="100000">
                                          <p:val>
                                            <p:strVal val="#ppt_y"/>
                                          </p:val>
                                        </p:tav>
                                      </p:tavLst>
                                    </p:anim>
                                    <p:animEffect transition="in" filter="fade">
                                      <p:cBhvr>
                                        <p:cTn id="122" dur="500"/>
                                        <p:tgtEl>
                                          <p:spTgt spid="34"/>
                                        </p:tgtEl>
                                      </p:cBhvr>
                                    </p:animEffect>
                                  </p:childTnLst>
                                </p:cTn>
                              </p:par>
                              <p:par>
                                <p:cTn id="128" presetID="2" presetClass="entr" presetSubtype="4" fill="hold" grpId="0" nodeType="withEffect">
                                  <p:stCondLst>
                                    <p:cond delay="300"/>
                                  </p:stCondLst>
                                  <p:childTnLst>
                                    <p:set>
                                      <p:cBhvr>
                                        <p:cTn id="124" dur="1" fill="hold">
                                          <p:stCondLst>
                                            <p:cond delay="0"/>
                                          </p:stCondLst>
                                        </p:cTn>
                                        <p:tgtEl>
                                          <p:spTgt spid="35"/>
                                        </p:tgtEl>
                                        <p:attrNameLst>
                                          <p:attrName>style.visibility</p:attrName>
                                        </p:attrNameLst>
                                      </p:cBhvr>
                                      <p:to>
                                        <p:strVal val="visible"/>
                                      </p:to>
                                    </p:set>
                                    <p:anim calcmode="lin" valueType="num">
                                      <p:cBhvr additive="base">
                                        <p:cTn id="125" dur="500" fill="hold"/>
                                        <p:tgtEl>
                                          <p:spTgt spid="35"/>
                                        </p:tgtEl>
                                        <p:attrNameLst>
                                          <p:attrName>ppt_x</p:attrName>
                                        </p:attrNameLst>
                                      </p:cBhvr>
                                      <p:tavLst>
                                        <p:tav tm="0">
                                          <p:val>
                                            <p:strVal val="#ppt_x"/>
                                          </p:val>
                                        </p:tav>
                                        <p:tav tm="100000">
                                          <p:val>
                                            <p:strVal val="#ppt_x"/>
                                          </p:val>
                                        </p:tav>
                                      </p:tavLst>
                                    </p:anim>
                                    <p:anim calcmode="lin" valueType="num">
                                      <p:cBhvr additive="base">
                                        <p:cTn id="126" dur="500" fill="hold"/>
                                        <p:tgtEl>
                                          <p:spTgt spid="35"/>
                                        </p:tgtEl>
                                        <p:attrNameLst>
                                          <p:attrName>ppt_y</p:attrName>
                                        </p:attrNameLst>
                                      </p:cBhvr>
                                      <p:tavLst>
                                        <p:tav tm="0">
                                          <p:val>
                                            <p:strVal val="#ppt_y+0.1"/>
                                          </p:val>
                                        </p:tav>
                                        <p:tav tm="100000">
                                          <p:val>
                                            <p:strVal val="#ppt_y"/>
                                          </p:val>
                                        </p:tav>
                                      </p:tavLst>
                                    </p:anim>
                                    <p:animEffect transition="in" filter="fade">
                                      <p:cBhvr>
                                        <p:cTn id="127" dur="500"/>
                                        <p:tgtEl>
                                          <p:spTgt spid="35"/>
                                        </p:tgtEl>
                                      </p:cBhvr>
                                    </p:animEffect>
                                  </p:childTnLst>
                                </p:cTn>
                              </p:par>
                            </p:childTnLst>
                          </p:cTn>
                        </p:par>
                      </p:childTnLst>
                    </p:cTn>
                  </p:par>
                  <p:par>
                    <p:cTn id="129" fill="hold">
                      <p:stCondLst>
                        <p:cond delay="indefinite"/>
                      </p:stCondLst>
                      <p:childTnLst>
                        <p:par>
                          <p:cTn id="130" fill="hold">
                            <p:stCondLst>
                              <p:cond delay="0"/>
                            </p:stCondLst>
                            <p:childTnLst>
                              <p:par>
                                <p:cTn id="135" presetID="2" presetClass="entr" presetSubtype="4" fill="hold" grpId="0" nodeType="clickEffect">
                                  <p:stCondLst>
                                    <p:cond delay="0"/>
                                  </p:stCondLst>
                                  <p:childTnLst>
                                    <p:set>
                                      <p:cBhvr>
                                        <p:cTn id="131" dur="1" fill="hold">
                                          <p:stCondLst>
                                            <p:cond delay="0"/>
                                          </p:stCondLst>
                                        </p:cTn>
                                        <p:tgtEl>
                                          <p:spTgt spid="37"/>
                                        </p:tgtEl>
                                        <p:attrNameLst>
                                          <p:attrName>style.visibility</p:attrName>
                                        </p:attrNameLst>
                                      </p:cBhvr>
                                      <p:to>
                                        <p:strVal val="visible"/>
                                      </p:to>
                                    </p:set>
                                    <p:anim calcmode="lin" valueType="num">
                                      <p:cBhvr additive="base">
                                        <p:cTn id="132" dur="500" fill="hold"/>
                                        <p:tgtEl>
                                          <p:spTgt spid="37"/>
                                        </p:tgtEl>
                                        <p:attrNameLst>
                                          <p:attrName>ppt_x</p:attrName>
                                        </p:attrNameLst>
                                      </p:cBhvr>
                                      <p:tavLst>
                                        <p:tav tm="0">
                                          <p:val>
                                            <p:strVal val="#ppt_x"/>
                                          </p:val>
                                        </p:tav>
                                        <p:tav tm="100000">
                                          <p:val>
                                            <p:strVal val="#ppt_x"/>
                                          </p:val>
                                        </p:tav>
                                      </p:tavLst>
                                    </p:anim>
                                    <p:anim calcmode="lin" valueType="num">
                                      <p:cBhvr additive="base">
                                        <p:cTn id="133" dur="500" fill="hold"/>
                                        <p:tgtEl>
                                          <p:spTgt spid="37"/>
                                        </p:tgtEl>
                                        <p:attrNameLst>
                                          <p:attrName>ppt_y</p:attrName>
                                        </p:attrNameLst>
                                      </p:cBhvr>
                                      <p:tavLst>
                                        <p:tav tm="0">
                                          <p:val>
                                            <p:strVal val="#ppt_y+0.1"/>
                                          </p:val>
                                        </p:tav>
                                        <p:tav tm="100000">
                                          <p:val>
                                            <p:strVal val="#ppt_y"/>
                                          </p:val>
                                        </p:tav>
                                      </p:tavLst>
                                    </p:anim>
                                    <p:animEffect transition="in" filter="fade">
                                      <p:cBhvr>
                                        <p:cTn id="134" dur="500"/>
                                        <p:tgtEl>
                                          <p:spTgt spid="37"/>
                                        </p:tgtEl>
                                      </p:cBhvr>
                                    </p:animEffect>
                                  </p:childTnLst>
                                </p:cTn>
                              </p:par>
                              <p:par>
                                <p:cTn id="140" presetID="2" presetClass="entr" presetSubtype="4" fill="hold" grpId="0" nodeType="withEffect">
                                  <p:stCondLst>
                                    <p:cond delay="0"/>
                                  </p:stCondLst>
                                  <p:childTnLst>
                                    <p:set>
                                      <p:cBhvr>
                                        <p:cTn id="136" dur="1" fill="hold">
                                          <p:stCondLst>
                                            <p:cond delay="0"/>
                                          </p:stCondLst>
                                        </p:cTn>
                                        <p:tgtEl>
                                          <p:spTgt spid="38"/>
                                        </p:tgtEl>
                                        <p:attrNameLst>
                                          <p:attrName>style.visibility</p:attrName>
                                        </p:attrNameLst>
                                      </p:cBhvr>
                                      <p:to>
                                        <p:strVal val="visible"/>
                                      </p:to>
                                    </p:set>
                                    <p:anim calcmode="lin" valueType="num">
                                      <p:cBhvr additive="base">
                                        <p:cTn id="137" dur="500" fill="hold"/>
                                        <p:tgtEl>
                                          <p:spTgt spid="38"/>
                                        </p:tgtEl>
                                        <p:attrNameLst>
                                          <p:attrName>ppt_x</p:attrName>
                                        </p:attrNameLst>
                                      </p:cBhvr>
                                      <p:tavLst>
                                        <p:tav tm="0">
                                          <p:val>
                                            <p:strVal val="#ppt_x"/>
                                          </p:val>
                                        </p:tav>
                                        <p:tav tm="100000">
                                          <p:val>
                                            <p:strVal val="#ppt_x"/>
                                          </p:val>
                                        </p:tav>
                                      </p:tavLst>
                                    </p:anim>
                                    <p:anim calcmode="lin" valueType="num">
                                      <p:cBhvr additive="base">
                                        <p:cTn id="138" dur="500" fill="hold"/>
                                        <p:tgtEl>
                                          <p:spTgt spid="38"/>
                                        </p:tgtEl>
                                        <p:attrNameLst>
                                          <p:attrName>ppt_y</p:attrName>
                                        </p:attrNameLst>
                                      </p:cBhvr>
                                      <p:tavLst>
                                        <p:tav tm="0">
                                          <p:val>
                                            <p:strVal val="#ppt_y+0.1"/>
                                          </p:val>
                                        </p:tav>
                                        <p:tav tm="100000">
                                          <p:val>
                                            <p:strVal val="#ppt_y"/>
                                          </p:val>
                                        </p:tav>
                                      </p:tavLst>
                                    </p:anim>
                                    <p:animEffect transition="in" filter="fade">
                                      <p:cBhvr>
                                        <p:cTn id="139" dur="500"/>
                                        <p:tgtEl>
                                          <p:spTgt spid="38"/>
                                        </p:tgtEl>
                                      </p:cBhvr>
                                    </p:animEffect>
                                  </p:childTnLst>
                                </p:cTn>
                              </p:par>
                              <p:par>
                                <p:cTn id="145" presetID="2" presetClass="entr" presetSubtype="4" fill="hold" grpId="0" nodeType="withEffect">
                                  <p:stCondLst>
                                    <p:cond delay="0"/>
                                  </p:stCondLst>
                                  <p:childTnLst>
                                    <p:set>
                                      <p:cBhvr>
                                        <p:cTn id="141" dur="1" fill="hold">
                                          <p:stCondLst>
                                            <p:cond delay="0"/>
                                          </p:stCondLst>
                                        </p:cTn>
                                        <p:tgtEl>
                                          <p:spTgt spid="39"/>
                                        </p:tgtEl>
                                        <p:attrNameLst>
                                          <p:attrName>style.visibility</p:attrName>
                                        </p:attrNameLst>
                                      </p:cBhvr>
                                      <p:to>
                                        <p:strVal val="visible"/>
                                      </p:to>
                                    </p:set>
                                    <p:anim calcmode="lin" valueType="num">
                                      <p:cBhvr additive="base">
                                        <p:cTn id="142" dur="500" fill="hold"/>
                                        <p:tgtEl>
                                          <p:spTgt spid="39"/>
                                        </p:tgtEl>
                                        <p:attrNameLst>
                                          <p:attrName>ppt_x</p:attrName>
                                        </p:attrNameLst>
                                      </p:cBhvr>
                                      <p:tavLst>
                                        <p:tav tm="0">
                                          <p:val>
                                            <p:strVal val="#ppt_x"/>
                                          </p:val>
                                        </p:tav>
                                        <p:tav tm="100000">
                                          <p:val>
                                            <p:strVal val="#ppt_x"/>
                                          </p:val>
                                        </p:tav>
                                      </p:tavLst>
                                    </p:anim>
                                    <p:anim calcmode="lin" valueType="num">
                                      <p:cBhvr additive="base">
                                        <p:cTn id="143" dur="500" fill="hold"/>
                                        <p:tgtEl>
                                          <p:spTgt spid="39"/>
                                        </p:tgtEl>
                                        <p:attrNameLst>
                                          <p:attrName>ppt_y</p:attrName>
                                        </p:attrNameLst>
                                      </p:cBhvr>
                                      <p:tavLst>
                                        <p:tav tm="0">
                                          <p:val>
                                            <p:strVal val="#ppt_y+0.1"/>
                                          </p:val>
                                        </p:tav>
                                        <p:tav tm="100000">
                                          <p:val>
                                            <p:strVal val="#ppt_y"/>
                                          </p:val>
                                        </p:tav>
                                      </p:tavLst>
                                    </p:anim>
                                    <p:animEffect transition="in" filter="fade">
                                      <p:cBhvr>
                                        <p:cTn id="14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Example: Tracking Your Location</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mobile app records every place you go - those location events become a report</a:t>
            </a:r>
          </a:p>
        </p:txBody>
      </p:sp>
      <p:sp>
        <p:nvSpPr>
          <p:cNvPr id="11" name="a1u_nd10"/>
          <p:cNvSpPr/>
          <p:nvPr/>
        </p:nvSpPr>
        <p:spPr>
          <a:xfrm>
            <a:off x="457200" y="1463040"/>
            <a:ext cx="1417320" cy="868680"/>
          </a:xfrm>
          <a:prstGeom prst="roundRect">
            <a:avLst>
              <a:gd name="adj" fmla="val 842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499616"/>
            <a:ext cx="1325880" cy="416051"/>
          </a:xfrm>
          <a:prstGeom prst="rect">
            <a:avLst/>
          </a:prstGeom>
          <a:noFill/>
        </p:spPr>
        <p:txBody>
          <a:bodyPr wrap="square" lIns="0" tIns="0" rIns="0" bIns="0" anchor="b">
            <a:spAutoFit/>
          </a:bodyPr>
          <a:lstStyle/>
          <a:p>
            <a:pPr algn="ctr"/>
            <a:r>
              <a:rPr sz="1000" b="1">
                <a:solidFill>
                  <a:srgbClr val="1C1917"/>
                </a:solidFill>
                <a:latin typeface="Segoe UI"/>
              </a:rPr>
              <a:t>Mobile app</a:t>
            </a:r>
          </a:p>
        </p:txBody>
      </p:sp>
      <p:sp>
        <p:nvSpPr>
          <p:cNvPr id="13" name="a1u_nds12"/>
          <p:cNvSpPr txBox="1"/>
          <p:nvPr/>
        </p:nvSpPr>
        <p:spPr>
          <a:xfrm>
            <a:off x="502920" y="1924812"/>
            <a:ext cx="1325880" cy="370332"/>
          </a:xfrm>
          <a:prstGeom prst="rect">
            <a:avLst/>
          </a:prstGeom>
          <a:noFill/>
        </p:spPr>
        <p:txBody>
          <a:bodyPr wrap="square" lIns="0" tIns="0" rIns="0" bIns="0" anchor="t">
            <a:spAutoFit/>
          </a:bodyPr>
          <a:lstStyle/>
          <a:p>
            <a:pPr algn="ctr"/>
            <a:r>
              <a:rPr sz="800" b="0">
                <a:solidFill>
                  <a:srgbClr val="EA580C"/>
                </a:solidFill>
                <a:latin typeface="Segoe UI"/>
              </a:rPr>
              <a:t>sends your location</a:t>
            </a:r>
          </a:p>
        </p:txBody>
      </p:sp>
      <p:cxnSp>
        <p:nvCxnSpPr>
          <p:cNvPr id="14" name="a1ud100_ar13"/>
          <p:cNvCxnSpPr/>
          <p:nvPr/>
        </p:nvCxnSpPr>
        <p:spPr>
          <a:xfrm>
            <a:off x="1901952" y="1892807"/>
            <a:ext cx="265176"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a1ud150_nd14"/>
          <p:cNvSpPr/>
          <p:nvPr/>
        </p:nvSpPr>
        <p:spPr>
          <a:xfrm>
            <a:off x="2194560" y="1463040"/>
            <a:ext cx="1097280" cy="868680"/>
          </a:xfrm>
          <a:prstGeom prst="roundRect">
            <a:avLst>
              <a:gd name="adj" fmla="val 8421"/>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150_ndt15"/>
          <p:cNvSpPr txBox="1"/>
          <p:nvPr/>
        </p:nvSpPr>
        <p:spPr>
          <a:xfrm>
            <a:off x="2240279" y="1499616"/>
            <a:ext cx="1005839" cy="416051"/>
          </a:xfrm>
          <a:prstGeom prst="rect">
            <a:avLst/>
          </a:prstGeom>
          <a:noFill/>
        </p:spPr>
        <p:txBody>
          <a:bodyPr wrap="square" lIns="0" tIns="0" rIns="0" bIns="0" anchor="b">
            <a:spAutoFit/>
          </a:bodyPr>
          <a:lstStyle/>
          <a:p>
            <a:pPr algn="ctr"/>
            <a:r>
              <a:rPr sz="1100" b="1">
                <a:solidFill>
                  <a:srgbClr val="1C1917"/>
                </a:solidFill>
                <a:latin typeface="Segoe UI"/>
              </a:rPr>
              <a:t>Kafka</a:t>
            </a:r>
          </a:p>
        </p:txBody>
      </p:sp>
      <p:sp>
        <p:nvSpPr>
          <p:cNvPr id="17" name="a1ud150_nds16"/>
          <p:cNvSpPr txBox="1"/>
          <p:nvPr/>
        </p:nvSpPr>
        <p:spPr>
          <a:xfrm>
            <a:off x="2240279" y="1924812"/>
            <a:ext cx="1005839" cy="370332"/>
          </a:xfrm>
          <a:prstGeom prst="rect">
            <a:avLst/>
          </a:prstGeom>
          <a:noFill/>
        </p:spPr>
        <p:txBody>
          <a:bodyPr wrap="square" lIns="0" tIns="0" rIns="0" bIns="0" anchor="t">
            <a:spAutoFit/>
          </a:bodyPr>
          <a:lstStyle/>
          <a:p>
            <a:pPr algn="ctr"/>
            <a:r>
              <a:rPr sz="800" b="0">
                <a:solidFill>
                  <a:srgbClr val="0E7490"/>
                </a:solidFill>
                <a:latin typeface="Segoe UI"/>
              </a:rPr>
              <a:t>records</a:t>
            </a:r>
          </a:p>
        </p:txBody>
      </p:sp>
      <p:cxnSp>
        <p:nvCxnSpPr>
          <p:cNvPr id="18" name="a2u_ar17"/>
          <p:cNvCxnSpPr/>
          <p:nvPr/>
        </p:nvCxnSpPr>
        <p:spPr>
          <a:xfrm>
            <a:off x="3319272" y="1892807"/>
            <a:ext cx="265176" cy="0"/>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a2f_codebg18"/>
          <p:cNvSpPr/>
          <p:nvPr/>
        </p:nvSpPr>
        <p:spPr>
          <a:xfrm>
            <a:off x="3611880" y="1325880"/>
            <a:ext cx="2834640" cy="1847088"/>
          </a:xfrm>
          <a:prstGeom prst="roundRect">
            <a:avLst>
              <a:gd name="adj" fmla="val 3960"/>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f_codeh19"/>
          <p:cNvSpPr txBox="1"/>
          <p:nvPr/>
        </p:nvSpPr>
        <p:spPr>
          <a:xfrm>
            <a:off x="3739896" y="1380744"/>
            <a:ext cx="2578608" cy="219456"/>
          </a:xfrm>
          <a:prstGeom prst="rect">
            <a:avLst/>
          </a:prstGeom>
          <a:noFill/>
        </p:spPr>
        <p:txBody>
          <a:bodyPr wrap="square" lIns="0" tIns="0" rIns="0" bIns="0" anchor="ctr">
            <a:spAutoFit/>
          </a:bodyPr>
          <a:lstStyle/>
          <a:p>
            <a:pPr algn="l"/>
            <a:r>
              <a:rPr sz="950" b="1">
                <a:solidFill>
                  <a:srgbClr val="A8A29E"/>
                </a:solidFill>
                <a:latin typeface="Consolas"/>
              </a:rPr>
              <a:t>location events</a:t>
            </a:r>
          </a:p>
        </p:txBody>
      </p:sp>
      <p:sp>
        <p:nvSpPr>
          <p:cNvPr id="21" name="a2f_codesep20"/>
          <p:cNvSpPr/>
          <p:nvPr/>
        </p:nvSpPr>
        <p:spPr>
          <a:xfrm>
            <a:off x="3739896" y="1655064"/>
            <a:ext cx="2578608"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w_code21"/>
          <p:cNvSpPr txBox="1"/>
          <p:nvPr/>
        </p:nvSpPr>
        <p:spPr>
          <a:xfrm>
            <a:off x="3739896" y="1728216"/>
            <a:ext cx="2578608" cy="219456"/>
          </a:xfrm>
          <a:prstGeom prst="rect">
            <a:avLst/>
          </a:prstGeom>
          <a:noFill/>
        </p:spPr>
        <p:txBody>
          <a:bodyPr wrap="none" lIns="0" tIns="0" rIns="0" bIns="0" anchor="ctr">
            <a:spAutoFit/>
          </a:bodyPr>
          <a:lstStyle/>
          <a:p>
            <a:pPr algn="l"/>
            <a:r>
              <a:rPr sz="950" b="0">
                <a:solidFill>
                  <a:srgbClr val="E7E5E4"/>
                </a:solidFill>
                <a:latin typeface="Consolas"/>
              </a:rPr>
              <a:t>07:30  home</a:t>
            </a:r>
          </a:p>
        </p:txBody>
      </p:sp>
      <p:sp>
        <p:nvSpPr>
          <p:cNvPr id="23" name="a2wd200_code22"/>
          <p:cNvSpPr txBox="1"/>
          <p:nvPr/>
        </p:nvSpPr>
        <p:spPr>
          <a:xfrm>
            <a:off x="3739896" y="1947672"/>
            <a:ext cx="2578608" cy="219456"/>
          </a:xfrm>
          <a:prstGeom prst="rect">
            <a:avLst/>
          </a:prstGeom>
          <a:noFill/>
        </p:spPr>
        <p:txBody>
          <a:bodyPr wrap="none" lIns="0" tIns="0" rIns="0" bIns="0" anchor="ctr">
            <a:spAutoFit/>
          </a:bodyPr>
          <a:lstStyle/>
          <a:p>
            <a:pPr algn="l"/>
            <a:r>
              <a:rPr sz="950" b="0">
                <a:solidFill>
                  <a:srgbClr val="E7E5E4"/>
                </a:solidFill>
                <a:latin typeface="Consolas"/>
              </a:rPr>
              <a:t>09:10  office</a:t>
            </a:r>
          </a:p>
        </p:txBody>
      </p:sp>
      <p:sp>
        <p:nvSpPr>
          <p:cNvPr id="24" name="a2wd400_code23"/>
          <p:cNvSpPr txBox="1"/>
          <p:nvPr/>
        </p:nvSpPr>
        <p:spPr>
          <a:xfrm>
            <a:off x="3739896" y="2167128"/>
            <a:ext cx="2578608" cy="219456"/>
          </a:xfrm>
          <a:prstGeom prst="rect">
            <a:avLst/>
          </a:prstGeom>
          <a:noFill/>
        </p:spPr>
        <p:txBody>
          <a:bodyPr wrap="none" lIns="0" tIns="0" rIns="0" bIns="0" anchor="ctr">
            <a:spAutoFit/>
          </a:bodyPr>
          <a:lstStyle/>
          <a:p>
            <a:pPr algn="l"/>
            <a:r>
              <a:rPr sz="950" b="0">
                <a:solidFill>
                  <a:srgbClr val="E7E5E4"/>
                </a:solidFill>
                <a:latin typeface="Consolas"/>
              </a:rPr>
              <a:t>13:05  food court</a:t>
            </a:r>
          </a:p>
        </p:txBody>
      </p:sp>
      <p:sp>
        <p:nvSpPr>
          <p:cNvPr id="25" name="a2wd600_code24"/>
          <p:cNvSpPr txBox="1"/>
          <p:nvPr/>
        </p:nvSpPr>
        <p:spPr>
          <a:xfrm>
            <a:off x="3739896" y="2386584"/>
            <a:ext cx="2578608" cy="219456"/>
          </a:xfrm>
          <a:prstGeom prst="rect">
            <a:avLst/>
          </a:prstGeom>
          <a:noFill/>
        </p:spPr>
        <p:txBody>
          <a:bodyPr wrap="none" lIns="0" tIns="0" rIns="0" bIns="0" anchor="ctr">
            <a:spAutoFit/>
          </a:bodyPr>
          <a:lstStyle/>
          <a:p>
            <a:pPr algn="l"/>
            <a:r>
              <a:rPr sz="950" b="0">
                <a:solidFill>
                  <a:srgbClr val="E7E5E4"/>
                </a:solidFill>
                <a:latin typeface="Consolas"/>
              </a:rPr>
              <a:t>15:00  office</a:t>
            </a:r>
          </a:p>
        </p:txBody>
      </p:sp>
      <p:sp>
        <p:nvSpPr>
          <p:cNvPr id="26" name="a2wd800_code25"/>
          <p:cNvSpPr txBox="1"/>
          <p:nvPr/>
        </p:nvSpPr>
        <p:spPr>
          <a:xfrm>
            <a:off x="3739896" y="2606040"/>
            <a:ext cx="2578608" cy="219456"/>
          </a:xfrm>
          <a:prstGeom prst="rect">
            <a:avLst/>
          </a:prstGeom>
          <a:noFill/>
        </p:spPr>
        <p:txBody>
          <a:bodyPr wrap="none" lIns="0" tIns="0" rIns="0" bIns="0" anchor="ctr">
            <a:spAutoFit/>
          </a:bodyPr>
          <a:lstStyle/>
          <a:p>
            <a:pPr algn="l"/>
            <a:r>
              <a:rPr sz="950" b="0">
                <a:solidFill>
                  <a:srgbClr val="E7E5E4"/>
                </a:solidFill>
                <a:latin typeface="Consolas"/>
              </a:rPr>
              <a:t>18:40  gym</a:t>
            </a:r>
          </a:p>
        </p:txBody>
      </p:sp>
      <p:sp>
        <p:nvSpPr>
          <p:cNvPr id="27" name="a2wd1000_code26"/>
          <p:cNvSpPr txBox="1"/>
          <p:nvPr/>
        </p:nvSpPr>
        <p:spPr>
          <a:xfrm>
            <a:off x="3739896" y="2825496"/>
            <a:ext cx="2578608" cy="219456"/>
          </a:xfrm>
          <a:prstGeom prst="rect">
            <a:avLst/>
          </a:prstGeom>
          <a:noFill/>
        </p:spPr>
        <p:txBody>
          <a:bodyPr wrap="none" lIns="0" tIns="0" rIns="0" bIns="0" anchor="ctr">
            <a:spAutoFit/>
          </a:bodyPr>
          <a:lstStyle/>
          <a:p>
            <a:pPr algn="l"/>
            <a:r>
              <a:rPr sz="950" b="0">
                <a:solidFill>
                  <a:srgbClr val="E7E5E4"/>
                </a:solidFill>
                <a:latin typeface="Consolas"/>
              </a:rPr>
              <a:t>21:15  home</a:t>
            </a:r>
          </a:p>
        </p:txBody>
      </p:sp>
      <p:cxnSp>
        <p:nvCxnSpPr>
          <p:cNvPr id="28" name="a3u_ar27"/>
          <p:cNvCxnSpPr/>
          <p:nvPr/>
        </p:nvCxnSpPr>
        <p:spPr>
          <a:xfrm>
            <a:off x="6473952" y="2103120"/>
            <a:ext cx="265176" cy="0"/>
          </a:xfrm>
          <a:prstGeom prst="line">
            <a:avLst/>
          </a:prstGeom>
          <a:ln w="19050">
            <a:solidFill>
              <a:srgbClr val="1580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a3u_card28"/>
          <p:cNvSpPr/>
          <p:nvPr/>
        </p:nvSpPr>
        <p:spPr>
          <a:xfrm>
            <a:off x="6766560" y="1325880"/>
            <a:ext cx="1920240" cy="1828800"/>
          </a:xfrm>
          <a:prstGeom prst="roundRect">
            <a:avLst>
              <a:gd name="adj" fmla="val 6000"/>
            </a:avLst>
          </a:prstGeom>
          <a:solidFill>
            <a:srgbClr val="F7F6F3"/>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_hh29"/>
          <p:cNvSpPr txBox="1"/>
          <p:nvPr/>
        </p:nvSpPr>
        <p:spPr>
          <a:xfrm>
            <a:off x="6903720" y="1389888"/>
            <a:ext cx="1691640" cy="237744"/>
          </a:xfrm>
          <a:prstGeom prst="rect">
            <a:avLst/>
          </a:prstGeom>
          <a:noFill/>
        </p:spPr>
        <p:txBody>
          <a:bodyPr wrap="square" lIns="0" tIns="0" rIns="0" bIns="0" anchor="ctr">
            <a:spAutoFit/>
          </a:bodyPr>
          <a:lstStyle/>
          <a:p>
            <a:pPr algn="l"/>
            <a:r>
              <a:rPr sz="850" b="1">
                <a:solidFill>
                  <a:srgbClr val="15803D"/>
                </a:solidFill>
                <a:latin typeface="Segoe UI"/>
              </a:rPr>
              <a:t>YOUR DAY</a:t>
            </a:r>
          </a:p>
        </p:txBody>
      </p:sp>
      <p:sp>
        <p:nvSpPr>
          <p:cNvPr id="31" name="a3u_pk30"/>
          <p:cNvSpPr txBox="1"/>
          <p:nvPr/>
        </p:nvSpPr>
        <p:spPr>
          <a:xfrm>
            <a:off x="6903720" y="1691640"/>
            <a:ext cx="1691640" cy="201168"/>
          </a:xfrm>
          <a:prstGeom prst="rect">
            <a:avLst/>
          </a:prstGeom>
          <a:noFill/>
        </p:spPr>
        <p:txBody>
          <a:bodyPr wrap="square" lIns="0" tIns="0" rIns="0" bIns="0" anchor="ctr">
            <a:spAutoFit/>
          </a:bodyPr>
          <a:lstStyle/>
          <a:p>
            <a:pPr algn="l"/>
            <a:r>
              <a:rPr sz="850" b="1">
                <a:solidFill>
                  <a:srgbClr val="1C1917"/>
                </a:solidFill>
                <a:latin typeface="Segoe UI"/>
              </a:rPr>
              <a:t>Morning</a:t>
            </a:r>
          </a:p>
        </p:txBody>
      </p:sp>
      <p:sp>
        <p:nvSpPr>
          <p:cNvPr id="32" name="a3u_pv31"/>
          <p:cNvSpPr txBox="1"/>
          <p:nvPr/>
        </p:nvSpPr>
        <p:spPr>
          <a:xfrm>
            <a:off x="6903720" y="1883664"/>
            <a:ext cx="1691640" cy="219456"/>
          </a:xfrm>
          <a:prstGeom prst="rect">
            <a:avLst/>
          </a:prstGeom>
          <a:noFill/>
        </p:spPr>
        <p:txBody>
          <a:bodyPr wrap="square" lIns="0" tIns="0" rIns="0" bIns="0" anchor="ctr">
            <a:spAutoFit/>
          </a:bodyPr>
          <a:lstStyle/>
          <a:p>
            <a:pPr algn="l"/>
            <a:r>
              <a:rPr sz="850" b="0">
                <a:solidFill>
                  <a:srgbClr val="78716C"/>
                </a:solidFill>
                <a:latin typeface="Segoe UI"/>
              </a:rPr>
              <a:t>home, then office</a:t>
            </a:r>
          </a:p>
        </p:txBody>
      </p:sp>
      <p:sp>
        <p:nvSpPr>
          <p:cNvPr id="33" name="a3ud100_pk32"/>
          <p:cNvSpPr txBox="1"/>
          <p:nvPr/>
        </p:nvSpPr>
        <p:spPr>
          <a:xfrm>
            <a:off x="6903720" y="2148840"/>
            <a:ext cx="1691640" cy="201168"/>
          </a:xfrm>
          <a:prstGeom prst="rect">
            <a:avLst/>
          </a:prstGeom>
          <a:noFill/>
        </p:spPr>
        <p:txBody>
          <a:bodyPr wrap="square" lIns="0" tIns="0" rIns="0" bIns="0" anchor="ctr">
            <a:spAutoFit/>
          </a:bodyPr>
          <a:lstStyle/>
          <a:p>
            <a:pPr algn="l"/>
            <a:r>
              <a:rPr sz="850" b="1">
                <a:solidFill>
                  <a:srgbClr val="1C1917"/>
                </a:solidFill>
                <a:latin typeface="Segoe UI"/>
              </a:rPr>
              <a:t>Afternoon</a:t>
            </a:r>
          </a:p>
        </p:txBody>
      </p:sp>
      <p:sp>
        <p:nvSpPr>
          <p:cNvPr id="34" name="a3ud100_pv33"/>
          <p:cNvSpPr txBox="1"/>
          <p:nvPr/>
        </p:nvSpPr>
        <p:spPr>
          <a:xfrm>
            <a:off x="6903720" y="2340864"/>
            <a:ext cx="1691640" cy="219456"/>
          </a:xfrm>
          <a:prstGeom prst="rect">
            <a:avLst/>
          </a:prstGeom>
          <a:noFill/>
        </p:spPr>
        <p:txBody>
          <a:bodyPr wrap="square" lIns="0" tIns="0" rIns="0" bIns="0" anchor="ctr">
            <a:spAutoFit/>
          </a:bodyPr>
          <a:lstStyle/>
          <a:p>
            <a:pPr algn="l"/>
            <a:r>
              <a:rPr sz="850" b="0">
                <a:solidFill>
                  <a:srgbClr val="78716C"/>
                </a:solidFill>
                <a:latin typeface="Segoe UI"/>
              </a:rPr>
              <a:t>food court, office</a:t>
            </a:r>
          </a:p>
        </p:txBody>
      </p:sp>
      <p:sp>
        <p:nvSpPr>
          <p:cNvPr id="35" name="a3ud200_pk34"/>
          <p:cNvSpPr txBox="1"/>
          <p:nvPr/>
        </p:nvSpPr>
        <p:spPr>
          <a:xfrm>
            <a:off x="6903720" y="2606040"/>
            <a:ext cx="1691640" cy="201168"/>
          </a:xfrm>
          <a:prstGeom prst="rect">
            <a:avLst/>
          </a:prstGeom>
          <a:noFill/>
        </p:spPr>
        <p:txBody>
          <a:bodyPr wrap="square" lIns="0" tIns="0" rIns="0" bIns="0" anchor="ctr">
            <a:spAutoFit/>
          </a:bodyPr>
          <a:lstStyle/>
          <a:p>
            <a:pPr algn="l"/>
            <a:r>
              <a:rPr sz="850" b="1">
                <a:solidFill>
                  <a:srgbClr val="1C1917"/>
                </a:solidFill>
                <a:latin typeface="Segoe UI"/>
              </a:rPr>
              <a:t>Evening</a:t>
            </a:r>
          </a:p>
        </p:txBody>
      </p:sp>
      <p:sp>
        <p:nvSpPr>
          <p:cNvPr id="36" name="a3ud200_pv35"/>
          <p:cNvSpPr txBox="1"/>
          <p:nvPr/>
        </p:nvSpPr>
        <p:spPr>
          <a:xfrm>
            <a:off x="6903720" y="2798064"/>
            <a:ext cx="1691640" cy="219456"/>
          </a:xfrm>
          <a:prstGeom prst="rect">
            <a:avLst/>
          </a:prstGeom>
          <a:noFill/>
        </p:spPr>
        <p:txBody>
          <a:bodyPr wrap="square" lIns="0" tIns="0" rIns="0" bIns="0" anchor="ctr">
            <a:spAutoFit/>
          </a:bodyPr>
          <a:lstStyle/>
          <a:p>
            <a:pPr algn="l"/>
            <a:r>
              <a:rPr sz="850" b="0">
                <a:solidFill>
                  <a:srgbClr val="78716C"/>
                </a:solidFill>
                <a:latin typeface="Segoe UI"/>
              </a:rPr>
              <a:t>gym, then home</a:t>
            </a:r>
          </a:p>
        </p:txBody>
      </p:sp>
      <p:sp>
        <p:nvSpPr>
          <p:cNvPr id="37" name="a4u_nb36"/>
          <p:cNvSpPr/>
          <p:nvPr/>
        </p:nvSpPr>
        <p:spPr>
          <a:xfrm>
            <a:off x="457200" y="3520440"/>
            <a:ext cx="8229600" cy="731520"/>
          </a:xfrm>
          <a:prstGeom prst="roundRect">
            <a:avLst>
              <a:gd name="adj" fmla="val 1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4u_nacc37"/>
          <p:cNvSpPr/>
          <p:nvPr/>
        </p:nvSpPr>
        <p:spPr>
          <a:xfrm>
            <a:off x="457200" y="3520440"/>
            <a:ext cx="54864" cy="7315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4u_nt38"/>
          <p:cNvSpPr txBox="1"/>
          <p:nvPr/>
        </p:nvSpPr>
        <p:spPr>
          <a:xfrm>
            <a:off x="658368" y="3520440"/>
            <a:ext cx="7827264" cy="731520"/>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The app only RECORDS. The report is produced later by reading the recorded events - and a different report (distance walked, hours at the office) can come from the same data.</a:t>
            </a:r>
          </a:p>
        </p:txBody>
      </p:sp>
      <p:sp>
        <p:nvSpPr>
          <p:cNvPr id="40" name="ft3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58</a:t>
            </a:r>
          </a:p>
        </p:txBody>
      </p:sp>
      <p:sp>
        <p:nvSpPr>
          <p:cNvPr id="41" name="ft4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ft4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3" name="ft4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5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5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5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6" presetID="2" presetClass="entr" presetSubtype="4"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ppt_y+0.1"/>
                                          </p:val>
                                        </p:tav>
                                        <p:tav tm="100000">
                                          <p:val>
                                            <p:strVal val="#ppt_y"/>
                                          </p:val>
                                        </p:tav>
                                      </p:tavLst>
                                    </p:anim>
                                    <p:animEffect transition="in" filter="fade">
                                      <p:cBhvr>
                                        <p:cTn id="45" dur="500"/>
                                        <p:tgtEl>
                                          <p:spTgt spid="18"/>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par>
                                <p:cTn id="55"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8" presetID="22" presetClass="entr" presetSubtype="8"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wipe(left)">
                                      <p:cBhvr>
                                        <p:cTn id="57" dur="500"/>
                                        <p:tgtEl>
                                          <p:spTgt spid="22"/>
                                        </p:tgtEl>
                                      </p:cBhvr>
                                    </p:animEffect>
                                  </p:childTnLst>
                                </p:cTn>
                              </p:par>
                              <p:par>
                                <p:cTn id="61" presetID="22" presetClass="entr" presetSubtype="8" fill="hold" grpId="0" nodeType="withEffect">
                                  <p:stCondLst>
                                    <p:cond delay="200"/>
                                  </p:stCondLst>
                                  <p:childTnLst>
                                    <p:set>
                                      <p:cBhvr>
                                        <p:cTn id="59" dur="1" fill="hold">
                                          <p:stCondLst>
                                            <p:cond delay="0"/>
                                          </p:stCondLst>
                                        </p:cTn>
                                        <p:tgtEl>
                                          <p:spTgt spid="23"/>
                                        </p:tgtEl>
                                        <p:attrNameLst>
                                          <p:attrName>style.visibility</p:attrName>
                                        </p:attrNameLst>
                                      </p:cBhvr>
                                      <p:to>
                                        <p:strVal val="visible"/>
                                      </p:to>
                                    </p:set>
                                    <p:animEffect transition="in" filter="wipe(left)">
                                      <p:cBhvr>
                                        <p:cTn id="60" dur="500"/>
                                        <p:tgtEl>
                                          <p:spTgt spid="23"/>
                                        </p:tgtEl>
                                      </p:cBhvr>
                                    </p:animEffect>
                                  </p:childTnLst>
                                </p:cTn>
                              </p:par>
                              <p:par>
                                <p:cTn id="64" presetID="22" presetClass="entr" presetSubtype="8" fill="hold" grpId="0" nodeType="withEffect">
                                  <p:stCondLst>
                                    <p:cond delay="400"/>
                                  </p:stCondLst>
                                  <p:childTnLst>
                                    <p:set>
                                      <p:cBhvr>
                                        <p:cTn id="62" dur="1" fill="hold">
                                          <p:stCondLst>
                                            <p:cond delay="0"/>
                                          </p:stCondLst>
                                        </p:cTn>
                                        <p:tgtEl>
                                          <p:spTgt spid="24"/>
                                        </p:tgtEl>
                                        <p:attrNameLst>
                                          <p:attrName>style.visibility</p:attrName>
                                        </p:attrNameLst>
                                      </p:cBhvr>
                                      <p:to>
                                        <p:strVal val="visible"/>
                                      </p:to>
                                    </p:set>
                                    <p:animEffect transition="in" filter="wipe(left)">
                                      <p:cBhvr>
                                        <p:cTn id="63" dur="500"/>
                                        <p:tgtEl>
                                          <p:spTgt spid="24"/>
                                        </p:tgtEl>
                                      </p:cBhvr>
                                    </p:animEffect>
                                  </p:childTnLst>
                                </p:cTn>
                              </p:par>
                              <p:par>
                                <p:cTn id="67" presetID="22" presetClass="entr" presetSubtype="8" fill="hold" grpId="0" nodeType="withEffect">
                                  <p:stCondLst>
                                    <p:cond delay="600"/>
                                  </p:stCondLst>
                                  <p:childTnLst>
                                    <p:set>
                                      <p:cBhvr>
                                        <p:cTn id="65" dur="1" fill="hold">
                                          <p:stCondLst>
                                            <p:cond delay="0"/>
                                          </p:stCondLst>
                                        </p:cTn>
                                        <p:tgtEl>
                                          <p:spTgt spid="25"/>
                                        </p:tgtEl>
                                        <p:attrNameLst>
                                          <p:attrName>style.visibility</p:attrName>
                                        </p:attrNameLst>
                                      </p:cBhvr>
                                      <p:to>
                                        <p:strVal val="visible"/>
                                      </p:to>
                                    </p:set>
                                    <p:animEffect transition="in" filter="wipe(left)">
                                      <p:cBhvr>
                                        <p:cTn id="66" dur="500"/>
                                        <p:tgtEl>
                                          <p:spTgt spid="25"/>
                                        </p:tgtEl>
                                      </p:cBhvr>
                                    </p:animEffect>
                                  </p:childTnLst>
                                </p:cTn>
                              </p:par>
                              <p:par>
                                <p:cTn id="70" presetID="22" presetClass="entr" presetSubtype="8" fill="hold" grpId="0" nodeType="withEffect">
                                  <p:stCondLst>
                                    <p:cond delay="800"/>
                                  </p:stCondLst>
                                  <p:childTnLst>
                                    <p:set>
                                      <p:cBhvr>
                                        <p:cTn id="68" dur="1" fill="hold">
                                          <p:stCondLst>
                                            <p:cond delay="0"/>
                                          </p:stCondLst>
                                        </p:cTn>
                                        <p:tgtEl>
                                          <p:spTgt spid="26"/>
                                        </p:tgtEl>
                                        <p:attrNameLst>
                                          <p:attrName>style.visibility</p:attrName>
                                        </p:attrNameLst>
                                      </p:cBhvr>
                                      <p:to>
                                        <p:strVal val="visible"/>
                                      </p:to>
                                    </p:set>
                                    <p:animEffect transition="in" filter="wipe(left)">
                                      <p:cBhvr>
                                        <p:cTn id="69" dur="500"/>
                                        <p:tgtEl>
                                          <p:spTgt spid="26"/>
                                        </p:tgtEl>
                                      </p:cBhvr>
                                    </p:animEffect>
                                  </p:childTnLst>
                                </p:cTn>
                              </p:par>
                              <p:par>
                                <p:cTn id="73" presetID="22" presetClass="entr" presetSubtype="8" fill="hold" grpId="0" nodeType="withEffect">
                                  <p:stCondLst>
                                    <p:cond delay="1000"/>
                                  </p:stCondLst>
                                  <p:childTnLst>
                                    <p:set>
                                      <p:cBhvr>
                                        <p:cTn id="71" dur="1" fill="hold">
                                          <p:stCondLst>
                                            <p:cond delay="0"/>
                                          </p:stCondLst>
                                        </p:cTn>
                                        <p:tgtEl>
                                          <p:spTgt spid="27"/>
                                        </p:tgtEl>
                                        <p:attrNameLst>
                                          <p:attrName>style.visibility</p:attrName>
                                        </p:attrNameLst>
                                      </p:cBhvr>
                                      <p:to>
                                        <p:strVal val="visible"/>
                                      </p:to>
                                    </p:set>
                                    <p:animEffect transition="in" filter="wipe(left)">
                                      <p:cBhvr>
                                        <p:cTn id="72" dur="500"/>
                                        <p:tgtEl>
                                          <p:spTgt spid="27"/>
                                        </p:tgtEl>
                                      </p:cBhvr>
                                    </p:animEffect>
                                  </p:childTnLst>
                                </p:cTn>
                              </p:par>
                            </p:childTnLst>
                          </p:cTn>
                        </p:par>
                      </p:childTnLst>
                    </p:cTn>
                  </p:par>
                  <p:par>
                    <p:cTn id="74" fill="hold">
                      <p:stCondLst>
                        <p:cond delay="indefinite"/>
                      </p:stCondLst>
                      <p:childTnLst>
                        <p:par>
                          <p:cTn id="75" fill="hold">
                            <p:stCondLst>
                              <p:cond delay="0"/>
                            </p:stCondLst>
                            <p:childTnLst>
                              <p:par>
                                <p:cTn id="80" presetID="2" presetClass="entr" presetSubtype="4" fill="hold" grpId="0" nodeType="clickEffect">
                                  <p:stCondLst>
                                    <p:cond delay="0"/>
                                  </p:stCondLst>
                                  <p:childTnLst>
                                    <p:set>
                                      <p:cBhvr>
                                        <p:cTn id="76" dur="1" fill="hold">
                                          <p:stCondLst>
                                            <p:cond delay="0"/>
                                          </p:stCondLst>
                                        </p:cTn>
                                        <p:tgtEl>
                                          <p:spTgt spid="28"/>
                                        </p:tgtEl>
                                        <p:attrNameLst>
                                          <p:attrName>style.visibility</p:attrName>
                                        </p:attrNameLst>
                                      </p:cBhvr>
                                      <p:to>
                                        <p:strVal val="visible"/>
                                      </p:to>
                                    </p:set>
                                    <p:anim calcmode="lin" valueType="num">
                                      <p:cBhvr additive="base">
                                        <p:cTn id="77" dur="500" fill="hold"/>
                                        <p:tgtEl>
                                          <p:spTgt spid="28"/>
                                        </p:tgtEl>
                                        <p:attrNameLst>
                                          <p:attrName>ppt_x</p:attrName>
                                        </p:attrNameLst>
                                      </p:cBhvr>
                                      <p:tavLst>
                                        <p:tav tm="0">
                                          <p:val>
                                            <p:strVal val="#ppt_x"/>
                                          </p:val>
                                        </p:tav>
                                        <p:tav tm="100000">
                                          <p:val>
                                            <p:strVal val="#ppt_x"/>
                                          </p:val>
                                        </p:tav>
                                      </p:tavLst>
                                    </p:anim>
                                    <p:anim calcmode="lin" valueType="num">
                                      <p:cBhvr additive="base">
                                        <p:cTn id="78" dur="500" fill="hold"/>
                                        <p:tgtEl>
                                          <p:spTgt spid="28"/>
                                        </p:tgtEl>
                                        <p:attrNameLst>
                                          <p:attrName>ppt_y</p:attrName>
                                        </p:attrNameLst>
                                      </p:cBhvr>
                                      <p:tavLst>
                                        <p:tav tm="0">
                                          <p:val>
                                            <p:strVal val="#ppt_y+0.1"/>
                                          </p:val>
                                        </p:tav>
                                        <p:tav tm="100000">
                                          <p:val>
                                            <p:strVal val="#ppt_y"/>
                                          </p:val>
                                        </p:tav>
                                      </p:tavLst>
                                    </p:anim>
                                    <p:animEffect transition="in" filter="fade">
                                      <p:cBhvr>
                                        <p:cTn id="79" dur="500"/>
                                        <p:tgtEl>
                                          <p:spTgt spid="28"/>
                                        </p:tgtEl>
                                      </p:cBhvr>
                                    </p:animEffect>
                                  </p:childTnLst>
                                </p:cTn>
                              </p:par>
                              <p:par>
                                <p:cTn id="85" presetID="2" presetClass="entr" presetSubtype="4"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 calcmode="lin" valueType="num">
                                      <p:cBhvr additive="base">
                                        <p:cTn id="82" dur="500" fill="hold"/>
                                        <p:tgtEl>
                                          <p:spTgt spid="29"/>
                                        </p:tgtEl>
                                        <p:attrNameLst>
                                          <p:attrName>ppt_x</p:attrName>
                                        </p:attrNameLst>
                                      </p:cBhvr>
                                      <p:tavLst>
                                        <p:tav tm="0">
                                          <p:val>
                                            <p:strVal val="#ppt_x"/>
                                          </p:val>
                                        </p:tav>
                                        <p:tav tm="100000">
                                          <p:val>
                                            <p:strVal val="#ppt_x"/>
                                          </p:val>
                                        </p:tav>
                                      </p:tavLst>
                                    </p:anim>
                                    <p:anim calcmode="lin" valueType="num">
                                      <p:cBhvr additive="base">
                                        <p:cTn id="83" dur="500" fill="hold"/>
                                        <p:tgtEl>
                                          <p:spTgt spid="29"/>
                                        </p:tgtEl>
                                        <p:attrNameLst>
                                          <p:attrName>ppt_y</p:attrName>
                                        </p:attrNameLst>
                                      </p:cBhvr>
                                      <p:tavLst>
                                        <p:tav tm="0">
                                          <p:val>
                                            <p:strVal val="#ppt_y+0.1"/>
                                          </p:val>
                                        </p:tav>
                                        <p:tav tm="100000">
                                          <p:val>
                                            <p:strVal val="#ppt_y"/>
                                          </p:val>
                                        </p:tav>
                                      </p:tavLst>
                                    </p:anim>
                                    <p:animEffect transition="in" filter="fade">
                                      <p:cBhvr>
                                        <p:cTn id="84" dur="500"/>
                                        <p:tgtEl>
                                          <p:spTgt spid="29"/>
                                        </p:tgtEl>
                                      </p:cBhvr>
                                    </p:animEffect>
                                  </p:childTnLst>
                                </p:cTn>
                              </p:par>
                              <p:par>
                                <p:cTn id="90" presetID="2" presetClass="entr" presetSubtype="4"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 calcmode="lin" valueType="num">
                                      <p:cBhvr additive="base">
                                        <p:cTn id="87" dur="500" fill="hold"/>
                                        <p:tgtEl>
                                          <p:spTgt spid="30"/>
                                        </p:tgtEl>
                                        <p:attrNameLst>
                                          <p:attrName>ppt_x</p:attrName>
                                        </p:attrNameLst>
                                      </p:cBhvr>
                                      <p:tavLst>
                                        <p:tav tm="0">
                                          <p:val>
                                            <p:strVal val="#ppt_x"/>
                                          </p:val>
                                        </p:tav>
                                        <p:tav tm="100000">
                                          <p:val>
                                            <p:strVal val="#ppt_x"/>
                                          </p:val>
                                        </p:tav>
                                      </p:tavLst>
                                    </p:anim>
                                    <p:anim calcmode="lin" valueType="num">
                                      <p:cBhvr additive="base">
                                        <p:cTn id="88" dur="500" fill="hold"/>
                                        <p:tgtEl>
                                          <p:spTgt spid="30"/>
                                        </p:tgtEl>
                                        <p:attrNameLst>
                                          <p:attrName>ppt_y</p:attrName>
                                        </p:attrNameLst>
                                      </p:cBhvr>
                                      <p:tavLst>
                                        <p:tav tm="0">
                                          <p:val>
                                            <p:strVal val="#ppt_y+0.1"/>
                                          </p:val>
                                        </p:tav>
                                        <p:tav tm="100000">
                                          <p:val>
                                            <p:strVal val="#ppt_y"/>
                                          </p:val>
                                        </p:tav>
                                      </p:tavLst>
                                    </p:anim>
                                    <p:animEffect transition="in" filter="fade">
                                      <p:cBhvr>
                                        <p:cTn id="89" dur="500"/>
                                        <p:tgtEl>
                                          <p:spTgt spid="30"/>
                                        </p:tgtEl>
                                      </p:cBhvr>
                                    </p:animEffect>
                                  </p:childTnLst>
                                </p:cTn>
                              </p:par>
                              <p:par>
                                <p:cTn id="95" presetID="2" presetClass="entr" presetSubtype="4"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 calcmode="lin" valueType="num">
                                      <p:cBhvr additive="base">
                                        <p:cTn id="92" dur="500" fill="hold"/>
                                        <p:tgtEl>
                                          <p:spTgt spid="31"/>
                                        </p:tgtEl>
                                        <p:attrNameLst>
                                          <p:attrName>ppt_x</p:attrName>
                                        </p:attrNameLst>
                                      </p:cBhvr>
                                      <p:tavLst>
                                        <p:tav tm="0">
                                          <p:val>
                                            <p:strVal val="#ppt_x"/>
                                          </p:val>
                                        </p:tav>
                                        <p:tav tm="100000">
                                          <p:val>
                                            <p:strVal val="#ppt_x"/>
                                          </p:val>
                                        </p:tav>
                                      </p:tavLst>
                                    </p:anim>
                                    <p:anim calcmode="lin" valueType="num">
                                      <p:cBhvr additive="base">
                                        <p:cTn id="93" dur="500" fill="hold"/>
                                        <p:tgtEl>
                                          <p:spTgt spid="31"/>
                                        </p:tgtEl>
                                        <p:attrNameLst>
                                          <p:attrName>ppt_y</p:attrName>
                                        </p:attrNameLst>
                                      </p:cBhvr>
                                      <p:tavLst>
                                        <p:tav tm="0">
                                          <p:val>
                                            <p:strVal val="#ppt_y+0.1"/>
                                          </p:val>
                                        </p:tav>
                                        <p:tav tm="100000">
                                          <p:val>
                                            <p:strVal val="#ppt_y"/>
                                          </p:val>
                                        </p:tav>
                                      </p:tavLst>
                                    </p:anim>
                                    <p:animEffect transition="in" filter="fade">
                                      <p:cBhvr>
                                        <p:cTn id="94" dur="500"/>
                                        <p:tgtEl>
                                          <p:spTgt spid="31"/>
                                        </p:tgtEl>
                                      </p:cBhvr>
                                    </p:animEffect>
                                  </p:childTnLst>
                                </p:cTn>
                              </p:par>
                              <p:par>
                                <p:cTn id="100" presetID="2" presetClass="entr" presetSubtype="4"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 calcmode="lin" valueType="num">
                                      <p:cBhvr additive="base">
                                        <p:cTn id="97" dur="500" fill="hold"/>
                                        <p:tgtEl>
                                          <p:spTgt spid="32"/>
                                        </p:tgtEl>
                                        <p:attrNameLst>
                                          <p:attrName>ppt_x</p:attrName>
                                        </p:attrNameLst>
                                      </p:cBhvr>
                                      <p:tavLst>
                                        <p:tav tm="0">
                                          <p:val>
                                            <p:strVal val="#ppt_x"/>
                                          </p:val>
                                        </p:tav>
                                        <p:tav tm="100000">
                                          <p:val>
                                            <p:strVal val="#ppt_x"/>
                                          </p:val>
                                        </p:tav>
                                      </p:tavLst>
                                    </p:anim>
                                    <p:anim calcmode="lin" valueType="num">
                                      <p:cBhvr additive="base">
                                        <p:cTn id="98" dur="500" fill="hold"/>
                                        <p:tgtEl>
                                          <p:spTgt spid="32"/>
                                        </p:tgtEl>
                                        <p:attrNameLst>
                                          <p:attrName>ppt_y</p:attrName>
                                        </p:attrNameLst>
                                      </p:cBhvr>
                                      <p:tavLst>
                                        <p:tav tm="0">
                                          <p:val>
                                            <p:strVal val="#ppt_y+0.1"/>
                                          </p:val>
                                        </p:tav>
                                        <p:tav tm="100000">
                                          <p:val>
                                            <p:strVal val="#ppt_y"/>
                                          </p:val>
                                        </p:tav>
                                      </p:tavLst>
                                    </p:anim>
                                    <p:animEffect transition="in" filter="fade">
                                      <p:cBhvr>
                                        <p:cTn id="99" dur="500"/>
                                        <p:tgtEl>
                                          <p:spTgt spid="32"/>
                                        </p:tgtEl>
                                      </p:cBhvr>
                                    </p:animEffect>
                                  </p:childTnLst>
                                </p:cTn>
                              </p:par>
                              <p:par>
                                <p:cTn id="105" presetID="2" presetClass="entr" presetSubtype="4" fill="hold" grpId="0" nodeType="withEffect">
                                  <p:stCondLst>
                                    <p:cond delay="100"/>
                                  </p:stCondLst>
                                  <p:childTnLst>
                                    <p:set>
                                      <p:cBhvr>
                                        <p:cTn id="101" dur="1" fill="hold">
                                          <p:stCondLst>
                                            <p:cond delay="0"/>
                                          </p:stCondLst>
                                        </p:cTn>
                                        <p:tgtEl>
                                          <p:spTgt spid="33"/>
                                        </p:tgtEl>
                                        <p:attrNameLst>
                                          <p:attrName>style.visibility</p:attrName>
                                        </p:attrNameLst>
                                      </p:cBhvr>
                                      <p:to>
                                        <p:strVal val="visible"/>
                                      </p:to>
                                    </p:set>
                                    <p:anim calcmode="lin" valueType="num">
                                      <p:cBhvr additive="base">
                                        <p:cTn id="102" dur="500" fill="hold"/>
                                        <p:tgtEl>
                                          <p:spTgt spid="33"/>
                                        </p:tgtEl>
                                        <p:attrNameLst>
                                          <p:attrName>ppt_x</p:attrName>
                                        </p:attrNameLst>
                                      </p:cBhvr>
                                      <p:tavLst>
                                        <p:tav tm="0">
                                          <p:val>
                                            <p:strVal val="#ppt_x"/>
                                          </p:val>
                                        </p:tav>
                                        <p:tav tm="100000">
                                          <p:val>
                                            <p:strVal val="#ppt_x"/>
                                          </p:val>
                                        </p:tav>
                                      </p:tavLst>
                                    </p:anim>
                                    <p:anim calcmode="lin" valueType="num">
                                      <p:cBhvr additive="base">
                                        <p:cTn id="103" dur="500" fill="hold"/>
                                        <p:tgtEl>
                                          <p:spTgt spid="33"/>
                                        </p:tgtEl>
                                        <p:attrNameLst>
                                          <p:attrName>ppt_y</p:attrName>
                                        </p:attrNameLst>
                                      </p:cBhvr>
                                      <p:tavLst>
                                        <p:tav tm="0">
                                          <p:val>
                                            <p:strVal val="#ppt_y+0.1"/>
                                          </p:val>
                                        </p:tav>
                                        <p:tav tm="100000">
                                          <p:val>
                                            <p:strVal val="#ppt_y"/>
                                          </p:val>
                                        </p:tav>
                                      </p:tavLst>
                                    </p:anim>
                                    <p:animEffect transition="in" filter="fade">
                                      <p:cBhvr>
                                        <p:cTn id="104" dur="500"/>
                                        <p:tgtEl>
                                          <p:spTgt spid="33"/>
                                        </p:tgtEl>
                                      </p:cBhvr>
                                    </p:animEffect>
                                  </p:childTnLst>
                                </p:cTn>
                              </p:par>
                              <p:par>
                                <p:cTn id="110" presetID="2" presetClass="entr" presetSubtype="4" fill="hold" grpId="0" nodeType="withEffect">
                                  <p:stCondLst>
                                    <p:cond delay="100"/>
                                  </p:stCondLst>
                                  <p:childTnLst>
                                    <p:set>
                                      <p:cBhvr>
                                        <p:cTn id="106" dur="1" fill="hold">
                                          <p:stCondLst>
                                            <p:cond delay="0"/>
                                          </p:stCondLst>
                                        </p:cTn>
                                        <p:tgtEl>
                                          <p:spTgt spid="34"/>
                                        </p:tgtEl>
                                        <p:attrNameLst>
                                          <p:attrName>style.visibility</p:attrName>
                                        </p:attrNameLst>
                                      </p:cBhvr>
                                      <p:to>
                                        <p:strVal val="visible"/>
                                      </p:to>
                                    </p:set>
                                    <p:anim calcmode="lin" valueType="num">
                                      <p:cBhvr additive="base">
                                        <p:cTn id="107" dur="500" fill="hold"/>
                                        <p:tgtEl>
                                          <p:spTgt spid="34"/>
                                        </p:tgtEl>
                                        <p:attrNameLst>
                                          <p:attrName>ppt_x</p:attrName>
                                        </p:attrNameLst>
                                      </p:cBhvr>
                                      <p:tavLst>
                                        <p:tav tm="0">
                                          <p:val>
                                            <p:strVal val="#ppt_x"/>
                                          </p:val>
                                        </p:tav>
                                        <p:tav tm="100000">
                                          <p:val>
                                            <p:strVal val="#ppt_x"/>
                                          </p:val>
                                        </p:tav>
                                      </p:tavLst>
                                    </p:anim>
                                    <p:anim calcmode="lin" valueType="num">
                                      <p:cBhvr additive="base">
                                        <p:cTn id="108" dur="500" fill="hold"/>
                                        <p:tgtEl>
                                          <p:spTgt spid="34"/>
                                        </p:tgtEl>
                                        <p:attrNameLst>
                                          <p:attrName>ppt_y</p:attrName>
                                        </p:attrNameLst>
                                      </p:cBhvr>
                                      <p:tavLst>
                                        <p:tav tm="0">
                                          <p:val>
                                            <p:strVal val="#ppt_y+0.1"/>
                                          </p:val>
                                        </p:tav>
                                        <p:tav tm="100000">
                                          <p:val>
                                            <p:strVal val="#ppt_y"/>
                                          </p:val>
                                        </p:tav>
                                      </p:tavLst>
                                    </p:anim>
                                    <p:animEffect transition="in" filter="fade">
                                      <p:cBhvr>
                                        <p:cTn id="109" dur="500"/>
                                        <p:tgtEl>
                                          <p:spTgt spid="34"/>
                                        </p:tgtEl>
                                      </p:cBhvr>
                                    </p:animEffect>
                                  </p:childTnLst>
                                </p:cTn>
                              </p:par>
                              <p:par>
                                <p:cTn id="115" presetID="2" presetClass="entr" presetSubtype="4" fill="hold" grpId="0" nodeType="withEffect">
                                  <p:stCondLst>
                                    <p:cond delay="200"/>
                                  </p:stCondLst>
                                  <p:childTnLst>
                                    <p:set>
                                      <p:cBhvr>
                                        <p:cTn id="111" dur="1" fill="hold">
                                          <p:stCondLst>
                                            <p:cond delay="0"/>
                                          </p:stCondLst>
                                        </p:cTn>
                                        <p:tgtEl>
                                          <p:spTgt spid="35"/>
                                        </p:tgtEl>
                                        <p:attrNameLst>
                                          <p:attrName>style.visibility</p:attrName>
                                        </p:attrNameLst>
                                      </p:cBhvr>
                                      <p:to>
                                        <p:strVal val="visible"/>
                                      </p:to>
                                    </p:set>
                                    <p:anim calcmode="lin" valueType="num">
                                      <p:cBhvr additive="base">
                                        <p:cTn id="112" dur="500" fill="hold"/>
                                        <p:tgtEl>
                                          <p:spTgt spid="35"/>
                                        </p:tgtEl>
                                        <p:attrNameLst>
                                          <p:attrName>ppt_x</p:attrName>
                                        </p:attrNameLst>
                                      </p:cBhvr>
                                      <p:tavLst>
                                        <p:tav tm="0">
                                          <p:val>
                                            <p:strVal val="#ppt_x"/>
                                          </p:val>
                                        </p:tav>
                                        <p:tav tm="100000">
                                          <p:val>
                                            <p:strVal val="#ppt_x"/>
                                          </p:val>
                                        </p:tav>
                                      </p:tavLst>
                                    </p:anim>
                                    <p:anim calcmode="lin" valueType="num">
                                      <p:cBhvr additive="base">
                                        <p:cTn id="113" dur="500" fill="hold"/>
                                        <p:tgtEl>
                                          <p:spTgt spid="35"/>
                                        </p:tgtEl>
                                        <p:attrNameLst>
                                          <p:attrName>ppt_y</p:attrName>
                                        </p:attrNameLst>
                                      </p:cBhvr>
                                      <p:tavLst>
                                        <p:tav tm="0">
                                          <p:val>
                                            <p:strVal val="#ppt_y+0.1"/>
                                          </p:val>
                                        </p:tav>
                                        <p:tav tm="100000">
                                          <p:val>
                                            <p:strVal val="#ppt_y"/>
                                          </p:val>
                                        </p:tav>
                                      </p:tavLst>
                                    </p:anim>
                                    <p:animEffect transition="in" filter="fade">
                                      <p:cBhvr>
                                        <p:cTn id="114" dur="500"/>
                                        <p:tgtEl>
                                          <p:spTgt spid="35"/>
                                        </p:tgtEl>
                                      </p:cBhvr>
                                    </p:animEffect>
                                  </p:childTnLst>
                                </p:cTn>
                              </p:par>
                              <p:par>
                                <p:cTn id="120" presetID="2" presetClass="entr" presetSubtype="4" fill="hold" grpId="0" nodeType="withEffect">
                                  <p:stCondLst>
                                    <p:cond delay="200"/>
                                  </p:stCondLst>
                                  <p:childTnLst>
                                    <p:set>
                                      <p:cBhvr>
                                        <p:cTn id="116" dur="1" fill="hold">
                                          <p:stCondLst>
                                            <p:cond delay="0"/>
                                          </p:stCondLst>
                                        </p:cTn>
                                        <p:tgtEl>
                                          <p:spTgt spid="36"/>
                                        </p:tgtEl>
                                        <p:attrNameLst>
                                          <p:attrName>style.visibility</p:attrName>
                                        </p:attrNameLst>
                                      </p:cBhvr>
                                      <p:to>
                                        <p:strVal val="visible"/>
                                      </p:to>
                                    </p:set>
                                    <p:anim calcmode="lin" valueType="num">
                                      <p:cBhvr additive="base">
                                        <p:cTn id="117" dur="500" fill="hold"/>
                                        <p:tgtEl>
                                          <p:spTgt spid="36"/>
                                        </p:tgtEl>
                                        <p:attrNameLst>
                                          <p:attrName>ppt_x</p:attrName>
                                        </p:attrNameLst>
                                      </p:cBhvr>
                                      <p:tavLst>
                                        <p:tav tm="0">
                                          <p:val>
                                            <p:strVal val="#ppt_x"/>
                                          </p:val>
                                        </p:tav>
                                        <p:tav tm="100000">
                                          <p:val>
                                            <p:strVal val="#ppt_x"/>
                                          </p:val>
                                        </p:tav>
                                      </p:tavLst>
                                    </p:anim>
                                    <p:anim calcmode="lin" valueType="num">
                                      <p:cBhvr additive="base">
                                        <p:cTn id="118" dur="500" fill="hold"/>
                                        <p:tgtEl>
                                          <p:spTgt spid="36"/>
                                        </p:tgtEl>
                                        <p:attrNameLst>
                                          <p:attrName>ppt_y</p:attrName>
                                        </p:attrNameLst>
                                      </p:cBhvr>
                                      <p:tavLst>
                                        <p:tav tm="0">
                                          <p:val>
                                            <p:strVal val="#ppt_y+0.1"/>
                                          </p:val>
                                        </p:tav>
                                        <p:tav tm="100000">
                                          <p:val>
                                            <p:strVal val="#ppt_y"/>
                                          </p:val>
                                        </p:tav>
                                      </p:tavLst>
                                    </p:anim>
                                    <p:animEffect transition="in" filter="fade">
                                      <p:cBhvr>
                                        <p:cTn id="119" dur="500"/>
                                        <p:tgtEl>
                                          <p:spTgt spid="36"/>
                                        </p:tgtEl>
                                      </p:cBhvr>
                                    </p:animEffect>
                                  </p:childTnLst>
                                </p:cTn>
                              </p:par>
                            </p:childTnLst>
                          </p:cTn>
                        </p:par>
                      </p:childTnLst>
                    </p:cTn>
                  </p:par>
                  <p:par>
                    <p:cTn id="121" fill="hold">
                      <p:stCondLst>
                        <p:cond delay="indefinite"/>
                      </p:stCondLst>
                      <p:childTnLst>
                        <p:par>
                          <p:cTn id="122" fill="hold">
                            <p:stCondLst>
                              <p:cond delay="0"/>
                            </p:stCondLst>
                            <p:childTnLst>
                              <p:par>
                                <p:cTn id="127" presetID="2" presetClass="entr" presetSubtype="4" fill="hold" grpId="0" nodeType="clickEffect">
                                  <p:stCondLst>
                                    <p:cond delay="0"/>
                                  </p:stCondLst>
                                  <p:childTnLst>
                                    <p:set>
                                      <p:cBhvr>
                                        <p:cTn id="123" dur="1" fill="hold">
                                          <p:stCondLst>
                                            <p:cond delay="0"/>
                                          </p:stCondLst>
                                        </p:cTn>
                                        <p:tgtEl>
                                          <p:spTgt spid="37"/>
                                        </p:tgtEl>
                                        <p:attrNameLst>
                                          <p:attrName>style.visibility</p:attrName>
                                        </p:attrNameLst>
                                      </p:cBhvr>
                                      <p:to>
                                        <p:strVal val="visible"/>
                                      </p:to>
                                    </p:set>
                                    <p:anim calcmode="lin" valueType="num">
                                      <p:cBhvr additive="base">
                                        <p:cTn id="124" dur="500" fill="hold"/>
                                        <p:tgtEl>
                                          <p:spTgt spid="37"/>
                                        </p:tgtEl>
                                        <p:attrNameLst>
                                          <p:attrName>ppt_x</p:attrName>
                                        </p:attrNameLst>
                                      </p:cBhvr>
                                      <p:tavLst>
                                        <p:tav tm="0">
                                          <p:val>
                                            <p:strVal val="#ppt_x"/>
                                          </p:val>
                                        </p:tav>
                                        <p:tav tm="100000">
                                          <p:val>
                                            <p:strVal val="#ppt_x"/>
                                          </p:val>
                                        </p:tav>
                                      </p:tavLst>
                                    </p:anim>
                                    <p:anim calcmode="lin" valueType="num">
                                      <p:cBhvr additive="base">
                                        <p:cTn id="125" dur="500" fill="hold"/>
                                        <p:tgtEl>
                                          <p:spTgt spid="37"/>
                                        </p:tgtEl>
                                        <p:attrNameLst>
                                          <p:attrName>ppt_y</p:attrName>
                                        </p:attrNameLst>
                                      </p:cBhvr>
                                      <p:tavLst>
                                        <p:tav tm="0">
                                          <p:val>
                                            <p:strVal val="#ppt_y+0.1"/>
                                          </p:val>
                                        </p:tav>
                                        <p:tav tm="100000">
                                          <p:val>
                                            <p:strVal val="#ppt_y"/>
                                          </p:val>
                                        </p:tav>
                                      </p:tavLst>
                                    </p:anim>
                                    <p:animEffect transition="in" filter="fade">
                                      <p:cBhvr>
                                        <p:cTn id="126" dur="500"/>
                                        <p:tgtEl>
                                          <p:spTgt spid="37"/>
                                        </p:tgtEl>
                                      </p:cBhvr>
                                    </p:animEffect>
                                  </p:childTnLst>
                                </p:cTn>
                              </p:par>
                              <p:par>
                                <p:cTn id="132" presetID="2" presetClass="entr" presetSubtype="4" fill="hold" grpId="0" nodeType="withEffect">
                                  <p:stCondLst>
                                    <p:cond delay="0"/>
                                  </p:stCondLst>
                                  <p:childTnLst>
                                    <p:set>
                                      <p:cBhvr>
                                        <p:cTn id="128" dur="1" fill="hold">
                                          <p:stCondLst>
                                            <p:cond delay="0"/>
                                          </p:stCondLst>
                                        </p:cTn>
                                        <p:tgtEl>
                                          <p:spTgt spid="38"/>
                                        </p:tgtEl>
                                        <p:attrNameLst>
                                          <p:attrName>style.visibility</p:attrName>
                                        </p:attrNameLst>
                                      </p:cBhvr>
                                      <p:to>
                                        <p:strVal val="visible"/>
                                      </p:to>
                                    </p:set>
                                    <p:anim calcmode="lin" valueType="num">
                                      <p:cBhvr additive="base">
                                        <p:cTn id="129" dur="500" fill="hold"/>
                                        <p:tgtEl>
                                          <p:spTgt spid="38"/>
                                        </p:tgtEl>
                                        <p:attrNameLst>
                                          <p:attrName>ppt_x</p:attrName>
                                        </p:attrNameLst>
                                      </p:cBhvr>
                                      <p:tavLst>
                                        <p:tav tm="0">
                                          <p:val>
                                            <p:strVal val="#ppt_x"/>
                                          </p:val>
                                        </p:tav>
                                        <p:tav tm="100000">
                                          <p:val>
                                            <p:strVal val="#ppt_x"/>
                                          </p:val>
                                        </p:tav>
                                      </p:tavLst>
                                    </p:anim>
                                    <p:anim calcmode="lin" valueType="num">
                                      <p:cBhvr additive="base">
                                        <p:cTn id="130" dur="500" fill="hold"/>
                                        <p:tgtEl>
                                          <p:spTgt spid="38"/>
                                        </p:tgtEl>
                                        <p:attrNameLst>
                                          <p:attrName>ppt_y</p:attrName>
                                        </p:attrNameLst>
                                      </p:cBhvr>
                                      <p:tavLst>
                                        <p:tav tm="0">
                                          <p:val>
                                            <p:strVal val="#ppt_y+0.1"/>
                                          </p:val>
                                        </p:tav>
                                        <p:tav tm="100000">
                                          <p:val>
                                            <p:strVal val="#ppt_y"/>
                                          </p:val>
                                        </p:tav>
                                      </p:tavLst>
                                    </p:anim>
                                    <p:animEffect transition="in" filter="fade">
                                      <p:cBhvr>
                                        <p:cTn id="131" dur="500"/>
                                        <p:tgtEl>
                                          <p:spTgt spid="38"/>
                                        </p:tgtEl>
                                      </p:cBhvr>
                                    </p:animEffect>
                                  </p:childTnLst>
                                </p:cTn>
                              </p:par>
                              <p:par>
                                <p:cTn id="137" presetID="2" presetClass="entr" presetSubtype="4" fill="hold" grpId="0" nodeType="withEffect">
                                  <p:stCondLst>
                                    <p:cond delay="0"/>
                                  </p:stCondLst>
                                  <p:childTnLst>
                                    <p:set>
                                      <p:cBhvr>
                                        <p:cTn id="133" dur="1" fill="hold">
                                          <p:stCondLst>
                                            <p:cond delay="0"/>
                                          </p:stCondLst>
                                        </p:cTn>
                                        <p:tgtEl>
                                          <p:spTgt spid="39"/>
                                        </p:tgtEl>
                                        <p:attrNameLst>
                                          <p:attrName>style.visibility</p:attrName>
                                        </p:attrNameLst>
                                      </p:cBhvr>
                                      <p:to>
                                        <p:strVal val="visible"/>
                                      </p:to>
                                    </p:set>
                                    <p:anim calcmode="lin" valueType="num">
                                      <p:cBhvr additive="base">
                                        <p:cTn id="134" dur="500" fill="hold"/>
                                        <p:tgtEl>
                                          <p:spTgt spid="39"/>
                                        </p:tgtEl>
                                        <p:attrNameLst>
                                          <p:attrName>ppt_x</p:attrName>
                                        </p:attrNameLst>
                                      </p:cBhvr>
                                      <p:tavLst>
                                        <p:tav tm="0">
                                          <p:val>
                                            <p:strVal val="#ppt_x"/>
                                          </p:val>
                                        </p:tav>
                                        <p:tav tm="100000">
                                          <p:val>
                                            <p:strVal val="#ppt_x"/>
                                          </p:val>
                                        </p:tav>
                                      </p:tavLst>
                                    </p:anim>
                                    <p:anim calcmode="lin" valueType="num">
                                      <p:cBhvr additive="base">
                                        <p:cTn id="135" dur="500" fill="hold"/>
                                        <p:tgtEl>
                                          <p:spTgt spid="39"/>
                                        </p:tgtEl>
                                        <p:attrNameLst>
                                          <p:attrName>ppt_y</p:attrName>
                                        </p:attrNameLst>
                                      </p:cBhvr>
                                      <p:tavLst>
                                        <p:tav tm="0">
                                          <p:val>
                                            <p:strVal val="#ppt_y+0.1"/>
                                          </p:val>
                                        </p:tav>
                                        <p:tav tm="100000">
                                          <p:val>
                                            <p:strVal val="#ppt_y"/>
                                          </p:val>
                                        </p:tav>
                                      </p:tavLst>
                                    </p:anim>
                                    <p:animEffect transition="in" filter="fade">
                                      <p:cBhvr>
                                        <p:cTn id="13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A Recorder for Every Event of Your Life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Imagine something that writes down everything you do, from waking up to going to bed</a:t>
            </a:r>
          </a:p>
        </p:txBody>
      </p:sp>
      <p:sp>
        <p:nvSpPr>
          <p:cNvPr id="11" name="a1f_codebg10"/>
          <p:cNvSpPr/>
          <p:nvPr/>
        </p:nvSpPr>
        <p:spPr>
          <a:xfrm>
            <a:off x="457200" y="1280160"/>
            <a:ext cx="4297680" cy="2523744"/>
          </a:xfrm>
          <a:prstGeom prst="roundRect">
            <a:avLst>
              <a:gd name="adj" fmla="val 2898"/>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codeh11"/>
          <p:cNvSpPr txBox="1"/>
          <p:nvPr/>
        </p:nvSpPr>
        <p:spPr>
          <a:xfrm>
            <a:off x="621792" y="1335024"/>
            <a:ext cx="3968496" cy="219456"/>
          </a:xfrm>
          <a:prstGeom prst="rect">
            <a:avLst/>
          </a:prstGeom>
          <a:noFill/>
        </p:spPr>
        <p:txBody>
          <a:bodyPr wrap="square" lIns="0" tIns="0" rIns="0" bIns="0" anchor="ctr">
            <a:spAutoFit/>
          </a:bodyPr>
          <a:lstStyle/>
          <a:p>
            <a:pPr algn="l"/>
            <a:r>
              <a:rPr sz="950" b="1">
                <a:solidFill>
                  <a:srgbClr val="A8A29E"/>
                </a:solidFill>
                <a:latin typeface="Consolas"/>
              </a:rPr>
              <a:t>my-day.log</a:t>
            </a:r>
          </a:p>
        </p:txBody>
      </p:sp>
      <p:sp>
        <p:nvSpPr>
          <p:cNvPr id="13" name="a1f_codesep12"/>
          <p:cNvSpPr/>
          <p:nvPr/>
        </p:nvSpPr>
        <p:spPr>
          <a:xfrm>
            <a:off x="621792" y="1609343"/>
            <a:ext cx="3968496"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_code13"/>
          <p:cNvSpPr txBox="1"/>
          <p:nvPr/>
        </p:nvSpPr>
        <p:spPr>
          <a:xfrm>
            <a:off x="621792" y="1719072"/>
            <a:ext cx="3968496" cy="274320"/>
          </a:xfrm>
          <a:prstGeom prst="rect">
            <a:avLst/>
          </a:prstGeom>
          <a:noFill/>
        </p:spPr>
        <p:txBody>
          <a:bodyPr wrap="none" lIns="0" tIns="0" rIns="0" bIns="0" anchor="ctr">
            <a:spAutoFit/>
          </a:bodyPr>
          <a:lstStyle/>
          <a:p>
            <a:pPr algn="l"/>
            <a:r>
              <a:rPr sz="1050" b="0">
                <a:solidFill>
                  <a:srgbClr val="E7E5E4"/>
                </a:solidFill>
                <a:latin typeface="Consolas"/>
              </a:rPr>
              <a:t>06:30  woke up</a:t>
            </a:r>
          </a:p>
        </p:txBody>
      </p:sp>
      <p:sp>
        <p:nvSpPr>
          <p:cNvPr id="15" name="a1wd350_code14"/>
          <p:cNvSpPr txBox="1"/>
          <p:nvPr/>
        </p:nvSpPr>
        <p:spPr>
          <a:xfrm>
            <a:off x="621792" y="1993391"/>
            <a:ext cx="3968496" cy="274320"/>
          </a:xfrm>
          <a:prstGeom prst="rect">
            <a:avLst/>
          </a:prstGeom>
          <a:noFill/>
        </p:spPr>
        <p:txBody>
          <a:bodyPr wrap="none" lIns="0" tIns="0" rIns="0" bIns="0" anchor="ctr">
            <a:spAutoFit/>
          </a:bodyPr>
          <a:lstStyle/>
          <a:p>
            <a:pPr algn="l"/>
            <a:r>
              <a:rPr sz="1050" b="0">
                <a:solidFill>
                  <a:srgbClr val="E7E5E4"/>
                </a:solidFill>
                <a:latin typeface="Consolas"/>
              </a:rPr>
              <a:t>07:15  had coffee</a:t>
            </a:r>
          </a:p>
        </p:txBody>
      </p:sp>
      <p:sp>
        <p:nvSpPr>
          <p:cNvPr id="16" name="a1wd700_code15"/>
          <p:cNvSpPr txBox="1"/>
          <p:nvPr/>
        </p:nvSpPr>
        <p:spPr>
          <a:xfrm>
            <a:off x="621792" y="2267712"/>
            <a:ext cx="3968496" cy="274320"/>
          </a:xfrm>
          <a:prstGeom prst="rect">
            <a:avLst/>
          </a:prstGeom>
          <a:noFill/>
        </p:spPr>
        <p:txBody>
          <a:bodyPr wrap="none" lIns="0" tIns="0" rIns="0" bIns="0" anchor="ctr">
            <a:spAutoFit/>
          </a:bodyPr>
          <a:lstStyle/>
          <a:p>
            <a:pPr algn="l"/>
            <a:r>
              <a:rPr sz="1050" b="0">
                <a:solidFill>
                  <a:srgbClr val="E7E5E4"/>
                </a:solidFill>
                <a:latin typeface="Consolas"/>
              </a:rPr>
              <a:t>09:00  started teaching</a:t>
            </a:r>
          </a:p>
        </p:txBody>
      </p:sp>
      <p:sp>
        <p:nvSpPr>
          <p:cNvPr id="17" name="a1wd1050_code16"/>
          <p:cNvSpPr txBox="1"/>
          <p:nvPr/>
        </p:nvSpPr>
        <p:spPr>
          <a:xfrm>
            <a:off x="621792" y="2542032"/>
            <a:ext cx="3968496" cy="274320"/>
          </a:xfrm>
          <a:prstGeom prst="rect">
            <a:avLst/>
          </a:prstGeom>
          <a:noFill/>
        </p:spPr>
        <p:txBody>
          <a:bodyPr wrap="none" lIns="0" tIns="0" rIns="0" bIns="0" anchor="ctr">
            <a:spAutoFit/>
          </a:bodyPr>
          <a:lstStyle/>
          <a:p>
            <a:pPr algn="l"/>
            <a:r>
              <a:rPr sz="1050" b="0">
                <a:solidFill>
                  <a:srgbClr val="E7E5E4"/>
                </a:solidFill>
                <a:latin typeface="Consolas"/>
              </a:rPr>
              <a:t>11:20  received a mail</a:t>
            </a:r>
          </a:p>
        </p:txBody>
      </p:sp>
      <p:sp>
        <p:nvSpPr>
          <p:cNvPr id="18" name="a1wd1400_code17"/>
          <p:cNvSpPr txBox="1"/>
          <p:nvPr/>
        </p:nvSpPr>
        <p:spPr>
          <a:xfrm>
            <a:off x="621792" y="2816352"/>
            <a:ext cx="3968496" cy="274320"/>
          </a:xfrm>
          <a:prstGeom prst="rect">
            <a:avLst/>
          </a:prstGeom>
          <a:noFill/>
        </p:spPr>
        <p:txBody>
          <a:bodyPr wrap="none" lIns="0" tIns="0" rIns="0" bIns="0" anchor="ctr">
            <a:spAutoFit/>
          </a:bodyPr>
          <a:lstStyle/>
          <a:p>
            <a:pPr algn="l"/>
            <a:r>
              <a:rPr sz="1050" b="0">
                <a:solidFill>
                  <a:srgbClr val="67E8F9"/>
                </a:solidFill>
                <a:latin typeface="Consolas"/>
              </a:rPr>
              <a:t>13:05  paid $500 to Ramesh</a:t>
            </a:r>
          </a:p>
        </p:txBody>
      </p:sp>
      <p:sp>
        <p:nvSpPr>
          <p:cNvPr id="19" name="a1wd1750_code18"/>
          <p:cNvSpPr txBox="1"/>
          <p:nvPr/>
        </p:nvSpPr>
        <p:spPr>
          <a:xfrm>
            <a:off x="621792" y="3090672"/>
            <a:ext cx="3968496" cy="274320"/>
          </a:xfrm>
          <a:prstGeom prst="rect">
            <a:avLst/>
          </a:prstGeom>
          <a:noFill/>
        </p:spPr>
        <p:txBody>
          <a:bodyPr wrap="none" lIns="0" tIns="0" rIns="0" bIns="0" anchor="ctr">
            <a:spAutoFit/>
          </a:bodyPr>
          <a:lstStyle/>
          <a:p>
            <a:pPr algn="l"/>
            <a:r>
              <a:rPr sz="1050" b="0">
                <a:solidFill>
                  <a:srgbClr val="E7E5E4"/>
                </a:solidFill>
                <a:latin typeface="Consolas"/>
              </a:rPr>
              <a:t>18:30  met a friend at East Coast Road</a:t>
            </a:r>
          </a:p>
        </p:txBody>
      </p:sp>
      <p:sp>
        <p:nvSpPr>
          <p:cNvPr id="20" name="a1wd2100_code19"/>
          <p:cNvSpPr txBox="1"/>
          <p:nvPr/>
        </p:nvSpPr>
        <p:spPr>
          <a:xfrm>
            <a:off x="621792" y="3364991"/>
            <a:ext cx="3968496" cy="274320"/>
          </a:xfrm>
          <a:prstGeom prst="rect">
            <a:avLst/>
          </a:prstGeom>
          <a:noFill/>
        </p:spPr>
        <p:txBody>
          <a:bodyPr wrap="none" lIns="0" tIns="0" rIns="0" bIns="0" anchor="ctr">
            <a:spAutoFit/>
          </a:bodyPr>
          <a:lstStyle/>
          <a:p>
            <a:pPr algn="l"/>
            <a:r>
              <a:rPr sz="1050" b="0">
                <a:solidFill>
                  <a:srgbClr val="E7E5E4"/>
                </a:solidFill>
                <a:latin typeface="Consolas"/>
              </a:rPr>
              <a:t>22:45  went to bed</a:t>
            </a:r>
          </a:p>
        </p:txBody>
      </p:sp>
      <p:sp>
        <p:nvSpPr>
          <p:cNvPr id="21" name="a2u_card20"/>
          <p:cNvSpPr/>
          <p:nvPr/>
        </p:nvSpPr>
        <p:spPr>
          <a:xfrm>
            <a:off x="5029200" y="1280160"/>
            <a:ext cx="3657600" cy="2816352"/>
          </a:xfrm>
          <a:prstGeom prst="roundRect">
            <a:avLst>
              <a:gd name="adj" fmla="val 389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_acc21"/>
          <p:cNvSpPr/>
          <p:nvPr/>
        </p:nvSpPr>
        <p:spPr>
          <a:xfrm>
            <a:off x="5029200" y="1280160"/>
            <a:ext cx="50292" cy="2816352"/>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_big22"/>
          <p:cNvSpPr txBox="1"/>
          <p:nvPr/>
        </p:nvSpPr>
        <p:spPr>
          <a:xfrm>
            <a:off x="5257800" y="1389888"/>
            <a:ext cx="3291840" cy="457200"/>
          </a:xfrm>
          <a:prstGeom prst="rect">
            <a:avLst/>
          </a:prstGeom>
          <a:noFill/>
        </p:spPr>
        <p:txBody>
          <a:bodyPr wrap="square" lIns="0" tIns="0" rIns="0" bIns="0" anchor="ctr">
            <a:spAutoFit/>
          </a:bodyPr>
          <a:lstStyle/>
          <a:p>
            <a:pPr algn="l"/>
            <a:r>
              <a:rPr sz="1750" b="1">
                <a:solidFill>
                  <a:srgbClr val="C2410C"/>
                </a:solidFill>
                <a:latin typeface="Segoe UI"/>
              </a:rPr>
              <a:t>That recorder is Kafka.</a:t>
            </a:r>
          </a:p>
        </p:txBody>
      </p:sp>
      <p:sp>
        <p:nvSpPr>
          <p:cNvPr id="24" name="a3u_dot23"/>
          <p:cNvSpPr/>
          <p:nvPr/>
        </p:nvSpPr>
        <p:spPr>
          <a:xfrm>
            <a:off x="5257800" y="204368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3u_b24"/>
          <p:cNvSpPr txBox="1"/>
          <p:nvPr/>
        </p:nvSpPr>
        <p:spPr>
          <a:xfrm>
            <a:off x="5477256" y="1947672"/>
            <a:ext cx="3026663" cy="384048"/>
          </a:xfrm>
          <a:prstGeom prst="rect">
            <a:avLst/>
          </a:prstGeom>
          <a:noFill/>
        </p:spPr>
        <p:txBody>
          <a:bodyPr wrap="square" lIns="0" tIns="0" rIns="0" bIns="0" anchor="t">
            <a:spAutoFit/>
          </a:bodyPr>
          <a:lstStyle/>
          <a:p>
            <a:pPr algn="l"/>
            <a:r>
              <a:rPr sz="1000" b="0">
                <a:solidFill>
                  <a:srgbClr val="44403C"/>
                </a:solidFill>
                <a:latin typeface="Segoe UI"/>
              </a:rPr>
              <a:t>It records every event as it happens</a:t>
            </a:r>
          </a:p>
        </p:txBody>
      </p:sp>
      <p:sp>
        <p:nvSpPr>
          <p:cNvPr id="26" name="a3ud150_dot25"/>
          <p:cNvSpPr/>
          <p:nvPr/>
        </p:nvSpPr>
        <p:spPr>
          <a:xfrm>
            <a:off x="5257800" y="2464308"/>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3ud150_b26"/>
          <p:cNvSpPr txBox="1"/>
          <p:nvPr/>
        </p:nvSpPr>
        <p:spPr>
          <a:xfrm>
            <a:off x="5477256" y="2368296"/>
            <a:ext cx="3026663" cy="384048"/>
          </a:xfrm>
          <a:prstGeom prst="rect">
            <a:avLst/>
          </a:prstGeom>
          <a:noFill/>
        </p:spPr>
        <p:txBody>
          <a:bodyPr wrap="square" lIns="0" tIns="0" rIns="0" bIns="0" anchor="t">
            <a:spAutoFit/>
          </a:bodyPr>
          <a:lstStyle/>
          <a:p>
            <a:pPr algn="l"/>
            <a:r>
              <a:rPr sz="1000" b="0">
                <a:solidFill>
                  <a:srgbClr val="44403C"/>
                </a:solidFill>
                <a:latin typeface="Segoe UI"/>
              </a:rPr>
              <a:t>It keeps the events in order</a:t>
            </a:r>
          </a:p>
        </p:txBody>
      </p:sp>
      <p:sp>
        <p:nvSpPr>
          <p:cNvPr id="28" name="a3ud300_dot27"/>
          <p:cNvSpPr/>
          <p:nvPr/>
        </p:nvSpPr>
        <p:spPr>
          <a:xfrm>
            <a:off x="5257800" y="288493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3ud300_b28"/>
          <p:cNvSpPr txBox="1"/>
          <p:nvPr/>
        </p:nvSpPr>
        <p:spPr>
          <a:xfrm>
            <a:off x="5477256" y="2788920"/>
            <a:ext cx="3026663" cy="384048"/>
          </a:xfrm>
          <a:prstGeom prst="rect">
            <a:avLst/>
          </a:prstGeom>
          <a:noFill/>
        </p:spPr>
        <p:txBody>
          <a:bodyPr wrap="square" lIns="0" tIns="0" rIns="0" bIns="0" anchor="t">
            <a:spAutoFit/>
          </a:bodyPr>
          <a:lstStyle/>
          <a:p>
            <a:pPr algn="l"/>
            <a:r>
              <a:rPr sz="1000" b="0">
                <a:solidFill>
                  <a:srgbClr val="44403C"/>
                </a:solidFill>
                <a:latin typeface="Segoe UI"/>
              </a:rPr>
              <a:t>Anyone can read and process them - now or later</a:t>
            </a:r>
          </a:p>
        </p:txBody>
      </p:sp>
      <p:sp>
        <p:nvSpPr>
          <p:cNvPr id="30" name="a4u_def29"/>
          <p:cNvSpPr txBox="1"/>
          <p:nvPr/>
        </p:nvSpPr>
        <p:spPr>
          <a:xfrm>
            <a:off x="5257800" y="3337560"/>
            <a:ext cx="3291840" cy="640080"/>
          </a:xfrm>
          <a:prstGeom prst="rect">
            <a:avLst/>
          </a:prstGeom>
          <a:noFill/>
        </p:spPr>
        <p:txBody>
          <a:bodyPr wrap="square" lIns="0" tIns="0" rIns="0" bIns="0" anchor="t">
            <a:spAutoFit/>
          </a:bodyPr>
          <a:lstStyle/>
          <a:p>
            <a:pPr algn="l"/>
            <a:r>
              <a:rPr sz="950" b="1">
                <a:solidFill>
                  <a:srgbClr val="1C1917"/>
                </a:solidFill>
                <a:latin typeface="Segoe UI"/>
              </a:rPr>
              <a:t>Kafka is event-processing software: it STORES events and PROCESSES events.</a:t>
            </a:r>
          </a:p>
        </p:txBody>
      </p:sp>
      <p:sp>
        <p:nvSpPr>
          <p:cNvPr id="31" name="ft3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59</a:t>
            </a:r>
          </a:p>
        </p:txBody>
      </p:sp>
      <p:sp>
        <p:nvSpPr>
          <p:cNvPr id="32" name="ft3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ft3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34" name="ft3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35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70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105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8" presetID="22" presetClass="entr" presetSubtype="8" fill="hold" grpId="0" nodeType="withEffect">
                                  <p:stCondLst>
                                    <p:cond delay="140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31" presetID="22" presetClass="entr" presetSubtype="8" fill="hold" grpId="0" nodeType="withEffect">
                                  <p:stCondLst>
                                    <p:cond delay="175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4" presetID="22" presetClass="entr" presetSubtype="8" fill="hold" grpId="0" nodeType="withEffect">
                                  <p:stCondLst>
                                    <p:cond delay="210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41" presetID="2" presetClass="entr" presetSubtype="4"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 calcmode="lin" valueType="num">
                                      <p:cBhvr additive="base">
                                        <p:cTn id="38" dur="500" fill="hold"/>
                                        <p:tgtEl>
                                          <p:spTgt spid="21"/>
                                        </p:tgtEl>
                                        <p:attrNameLst>
                                          <p:attrName>ppt_x</p:attrName>
                                        </p:attrNameLst>
                                      </p:cBhvr>
                                      <p:tavLst>
                                        <p:tav tm="0">
                                          <p:val>
                                            <p:strVal val="#ppt_x"/>
                                          </p:val>
                                        </p:tav>
                                        <p:tav tm="100000">
                                          <p:val>
                                            <p:strVal val="#ppt_x"/>
                                          </p:val>
                                        </p:tav>
                                      </p:tavLst>
                                    </p:anim>
                                    <p:anim calcmode="lin" valueType="num">
                                      <p:cBhvr additive="base">
                                        <p:cTn id="39" dur="500" fill="hold"/>
                                        <p:tgtEl>
                                          <p:spTgt spid="21"/>
                                        </p:tgtEl>
                                        <p:attrNameLst>
                                          <p:attrName>ppt_y</p:attrName>
                                        </p:attrNameLst>
                                      </p:cBhvr>
                                      <p:tavLst>
                                        <p:tav tm="0">
                                          <p:val>
                                            <p:strVal val="#ppt_y+0.1"/>
                                          </p:val>
                                        </p:tav>
                                        <p:tav tm="100000">
                                          <p:val>
                                            <p:strVal val="#ppt_y"/>
                                          </p:val>
                                        </p:tav>
                                      </p:tavLst>
                                    </p:anim>
                                    <p:animEffect transition="in" filter="fade">
                                      <p:cBhvr>
                                        <p:cTn id="40" dur="500"/>
                                        <p:tgtEl>
                                          <p:spTgt spid="21"/>
                                        </p:tgtEl>
                                      </p:cBhvr>
                                    </p:animEffect>
                                  </p:childTnLst>
                                </p:cTn>
                              </p:par>
                              <p:par>
                                <p:cTn id="46" presetID="2" presetClass="entr" presetSubtype="4"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ppt_x"/>
                                          </p:val>
                                        </p:tav>
                                        <p:tav tm="100000">
                                          <p:val>
                                            <p:strVal val="#ppt_x"/>
                                          </p:val>
                                        </p:tav>
                                      </p:tavLst>
                                    </p:anim>
                                    <p:anim calcmode="lin" valueType="num">
                                      <p:cBhvr additive="base">
                                        <p:cTn id="44" dur="500" fill="hold"/>
                                        <p:tgtEl>
                                          <p:spTgt spid="22"/>
                                        </p:tgtEl>
                                        <p:attrNameLst>
                                          <p:attrName>ppt_y</p:attrName>
                                        </p:attrNameLst>
                                      </p:cBhvr>
                                      <p:tavLst>
                                        <p:tav tm="0">
                                          <p:val>
                                            <p:strVal val="#ppt_y+0.1"/>
                                          </p:val>
                                        </p:tav>
                                        <p:tav tm="100000">
                                          <p:val>
                                            <p:strVal val="#ppt_y"/>
                                          </p:val>
                                        </p:tav>
                                      </p:tavLst>
                                    </p:anim>
                                    <p:animEffect transition="in" filter="fade">
                                      <p:cBhvr>
                                        <p:cTn id="45" dur="500"/>
                                        <p:tgtEl>
                                          <p:spTgt spid="22"/>
                                        </p:tgtEl>
                                      </p:cBhvr>
                                    </p:animEffect>
                                  </p:childTnLst>
                                </p:cTn>
                              </p:par>
                              <p:par>
                                <p:cTn id="51" presetID="2" presetClass="entr" presetSubtype="4"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 calcmode="lin" valueType="num">
                                      <p:cBhvr additive="base">
                                        <p:cTn id="48" dur="500" fill="hold"/>
                                        <p:tgtEl>
                                          <p:spTgt spid="23"/>
                                        </p:tgtEl>
                                        <p:attrNameLst>
                                          <p:attrName>ppt_x</p:attrName>
                                        </p:attrNameLst>
                                      </p:cBhvr>
                                      <p:tavLst>
                                        <p:tav tm="0">
                                          <p:val>
                                            <p:strVal val="#ppt_x"/>
                                          </p:val>
                                        </p:tav>
                                        <p:tav tm="100000">
                                          <p:val>
                                            <p:strVal val="#ppt_x"/>
                                          </p:val>
                                        </p:tav>
                                      </p:tavLst>
                                    </p:anim>
                                    <p:anim calcmode="lin" valueType="num">
                                      <p:cBhvr additive="base">
                                        <p:cTn id="49" dur="500" fill="hold"/>
                                        <p:tgtEl>
                                          <p:spTgt spid="23"/>
                                        </p:tgtEl>
                                        <p:attrNameLst>
                                          <p:attrName>ppt_y</p:attrName>
                                        </p:attrNameLst>
                                      </p:cBhvr>
                                      <p:tavLst>
                                        <p:tav tm="0">
                                          <p:val>
                                            <p:strVal val="#ppt_y+0.1"/>
                                          </p:val>
                                        </p:tav>
                                        <p:tav tm="100000">
                                          <p:val>
                                            <p:strVal val="#ppt_y"/>
                                          </p:val>
                                        </p:tav>
                                      </p:tavLst>
                                    </p:anim>
                                    <p:animEffect transition="in" filter="fade">
                                      <p:cBhvr>
                                        <p:cTn id="50"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8" presetID="2" presetClass="entr" presetSubtype="4"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500" fill="hold"/>
                                        <p:tgtEl>
                                          <p:spTgt spid="24"/>
                                        </p:tgtEl>
                                        <p:attrNameLst>
                                          <p:attrName>ppt_x</p:attrName>
                                        </p:attrNameLst>
                                      </p:cBhvr>
                                      <p:tavLst>
                                        <p:tav tm="0">
                                          <p:val>
                                            <p:strVal val="#ppt_x"/>
                                          </p:val>
                                        </p:tav>
                                        <p:tav tm="100000">
                                          <p:val>
                                            <p:strVal val="#ppt_x"/>
                                          </p:val>
                                        </p:tav>
                                      </p:tavLst>
                                    </p:anim>
                                    <p:anim calcmode="lin" valueType="num">
                                      <p:cBhvr additive="base">
                                        <p:cTn id="56" dur="500" fill="hold"/>
                                        <p:tgtEl>
                                          <p:spTgt spid="24"/>
                                        </p:tgtEl>
                                        <p:attrNameLst>
                                          <p:attrName>ppt_y</p:attrName>
                                        </p:attrNameLst>
                                      </p:cBhvr>
                                      <p:tavLst>
                                        <p:tav tm="0">
                                          <p:val>
                                            <p:strVal val="#ppt_y+0.1"/>
                                          </p:val>
                                        </p:tav>
                                        <p:tav tm="100000">
                                          <p:val>
                                            <p:strVal val="#ppt_y"/>
                                          </p:val>
                                        </p:tav>
                                      </p:tavLst>
                                    </p:anim>
                                    <p:animEffect transition="in" filter="fade">
                                      <p:cBhvr>
                                        <p:cTn id="57" dur="500"/>
                                        <p:tgtEl>
                                          <p:spTgt spid="24"/>
                                        </p:tgtEl>
                                      </p:cBhvr>
                                    </p:animEffect>
                                  </p:childTnLst>
                                </p:cTn>
                              </p:par>
                              <p:par>
                                <p:cTn id="63" presetID="2" presetClass="entr" presetSubtype="4"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anim calcmode="lin" valueType="num">
                                      <p:cBhvr additive="base">
                                        <p:cTn id="60" dur="500" fill="hold"/>
                                        <p:tgtEl>
                                          <p:spTgt spid="25"/>
                                        </p:tgtEl>
                                        <p:attrNameLst>
                                          <p:attrName>ppt_x</p:attrName>
                                        </p:attrNameLst>
                                      </p:cBhvr>
                                      <p:tavLst>
                                        <p:tav tm="0">
                                          <p:val>
                                            <p:strVal val="#ppt_x"/>
                                          </p:val>
                                        </p:tav>
                                        <p:tav tm="100000">
                                          <p:val>
                                            <p:strVal val="#ppt_x"/>
                                          </p:val>
                                        </p:tav>
                                      </p:tavLst>
                                    </p:anim>
                                    <p:anim calcmode="lin" valueType="num">
                                      <p:cBhvr additive="base">
                                        <p:cTn id="61" dur="500" fill="hold"/>
                                        <p:tgtEl>
                                          <p:spTgt spid="25"/>
                                        </p:tgtEl>
                                        <p:attrNameLst>
                                          <p:attrName>ppt_y</p:attrName>
                                        </p:attrNameLst>
                                      </p:cBhvr>
                                      <p:tavLst>
                                        <p:tav tm="0">
                                          <p:val>
                                            <p:strVal val="#ppt_y+0.1"/>
                                          </p:val>
                                        </p:tav>
                                        <p:tav tm="100000">
                                          <p:val>
                                            <p:strVal val="#ppt_y"/>
                                          </p:val>
                                        </p:tav>
                                      </p:tavLst>
                                    </p:anim>
                                    <p:animEffect transition="in" filter="fade">
                                      <p:cBhvr>
                                        <p:cTn id="62" dur="500"/>
                                        <p:tgtEl>
                                          <p:spTgt spid="25"/>
                                        </p:tgtEl>
                                      </p:cBhvr>
                                    </p:animEffect>
                                  </p:childTnLst>
                                </p:cTn>
                              </p:par>
                              <p:par>
                                <p:cTn id="68" presetID="2" presetClass="entr" presetSubtype="4" fill="hold" grpId="0" nodeType="withEffect">
                                  <p:stCondLst>
                                    <p:cond delay="150"/>
                                  </p:stCondLst>
                                  <p:childTnLst>
                                    <p:set>
                                      <p:cBhvr>
                                        <p:cTn id="64" dur="1" fill="hold">
                                          <p:stCondLst>
                                            <p:cond delay="0"/>
                                          </p:stCondLst>
                                        </p:cTn>
                                        <p:tgtEl>
                                          <p:spTgt spid="26"/>
                                        </p:tgtEl>
                                        <p:attrNameLst>
                                          <p:attrName>style.visibility</p:attrName>
                                        </p:attrNameLst>
                                      </p:cBhvr>
                                      <p:to>
                                        <p:strVal val="visible"/>
                                      </p:to>
                                    </p:set>
                                    <p:anim calcmode="lin" valueType="num">
                                      <p:cBhvr additive="base">
                                        <p:cTn id="65" dur="500" fill="hold"/>
                                        <p:tgtEl>
                                          <p:spTgt spid="26"/>
                                        </p:tgtEl>
                                        <p:attrNameLst>
                                          <p:attrName>ppt_x</p:attrName>
                                        </p:attrNameLst>
                                      </p:cBhvr>
                                      <p:tavLst>
                                        <p:tav tm="0">
                                          <p:val>
                                            <p:strVal val="#ppt_x"/>
                                          </p:val>
                                        </p:tav>
                                        <p:tav tm="100000">
                                          <p:val>
                                            <p:strVal val="#ppt_x"/>
                                          </p:val>
                                        </p:tav>
                                      </p:tavLst>
                                    </p:anim>
                                    <p:anim calcmode="lin" valueType="num">
                                      <p:cBhvr additive="base">
                                        <p:cTn id="66" dur="500" fill="hold"/>
                                        <p:tgtEl>
                                          <p:spTgt spid="26"/>
                                        </p:tgtEl>
                                        <p:attrNameLst>
                                          <p:attrName>ppt_y</p:attrName>
                                        </p:attrNameLst>
                                      </p:cBhvr>
                                      <p:tavLst>
                                        <p:tav tm="0">
                                          <p:val>
                                            <p:strVal val="#ppt_y+0.1"/>
                                          </p:val>
                                        </p:tav>
                                        <p:tav tm="100000">
                                          <p:val>
                                            <p:strVal val="#ppt_y"/>
                                          </p:val>
                                        </p:tav>
                                      </p:tavLst>
                                    </p:anim>
                                    <p:animEffect transition="in" filter="fade">
                                      <p:cBhvr>
                                        <p:cTn id="67" dur="500"/>
                                        <p:tgtEl>
                                          <p:spTgt spid="26"/>
                                        </p:tgtEl>
                                      </p:cBhvr>
                                    </p:animEffect>
                                  </p:childTnLst>
                                </p:cTn>
                              </p:par>
                              <p:par>
                                <p:cTn id="73" presetID="2" presetClass="entr" presetSubtype="4" fill="hold" grpId="0" nodeType="withEffect">
                                  <p:stCondLst>
                                    <p:cond delay="150"/>
                                  </p:stCondLst>
                                  <p:childTnLst>
                                    <p:set>
                                      <p:cBhvr>
                                        <p:cTn id="69" dur="1" fill="hold">
                                          <p:stCondLst>
                                            <p:cond delay="0"/>
                                          </p:stCondLst>
                                        </p:cTn>
                                        <p:tgtEl>
                                          <p:spTgt spid="27"/>
                                        </p:tgtEl>
                                        <p:attrNameLst>
                                          <p:attrName>style.visibility</p:attrName>
                                        </p:attrNameLst>
                                      </p:cBhvr>
                                      <p:to>
                                        <p:strVal val="visible"/>
                                      </p:to>
                                    </p:set>
                                    <p:anim calcmode="lin" valueType="num">
                                      <p:cBhvr additive="base">
                                        <p:cTn id="70" dur="500" fill="hold"/>
                                        <p:tgtEl>
                                          <p:spTgt spid="27"/>
                                        </p:tgtEl>
                                        <p:attrNameLst>
                                          <p:attrName>ppt_x</p:attrName>
                                        </p:attrNameLst>
                                      </p:cBhvr>
                                      <p:tavLst>
                                        <p:tav tm="0">
                                          <p:val>
                                            <p:strVal val="#ppt_x"/>
                                          </p:val>
                                        </p:tav>
                                        <p:tav tm="100000">
                                          <p:val>
                                            <p:strVal val="#ppt_x"/>
                                          </p:val>
                                        </p:tav>
                                      </p:tavLst>
                                    </p:anim>
                                    <p:anim calcmode="lin" valueType="num">
                                      <p:cBhvr additive="base">
                                        <p:cTn id="71" dur="500" fill="hold"/>
                                        <p:tgtEl>
                                          <p:spTgt spid="27"/>
                                        </p:tgtEl>
                                        <p:attrNameLst>
                                          <p:attrName>ppt_y</p:attrName>
                                        </p:attrNameLst>
                                      </p:cBhvr>
                                      <p:tavLst>
                                        <p:tav tm="0">
                                          <p:val>
                                            <p:strVal val="#ppt_y+0.1"/>
                                          </p:val>
                                        </p:tav>
                                        <p:tav tm="100000">
                                          <p:val>
                                            <p:strVal val="#ppt_y"/>
                                          </p:val>
                                        </p:tav>
                                      </p:tavLst>
                                    </p:anim>
                                    <p:animEffect transition="in" filter="fade">
                                      <p:cBhvr>
                                        <p:cTn id="72" dur="500"/>
                                        <p:tgtEl>
                                          <p:spTgt spid="27"/>
                                        </p:tgtEl>
                                      </p:cBhvr>
                                    </p:animEffect>
                                  </p:childTnLst>
                                </p:cTn>
                              </p:par>
                              <p:par>
                                <p:cTn id="78" presetID="2" presetClass="entr" presetSubtype="4" fill="hold" grpId="0" nodeType="withEffect">
                                  <p:stCondLst>
                                    <p:cond delay="300"/>
                                  </p:stCondLst>
                                  <p:childTnLst>
                                    <p:set>
                                      <p:cBhvr>
                                        <p:cTn id="74" dur="1" fill="hold">
                                          <p:stCondLst>
                                            <p:cond delay="0"/>
                                          </p:stCondLst>
                                        </p:cTn>
                                        <p:tgtEl>
                                          <p:spTgt spid="28"/>
                                        </p:tgtEl>
                                        <p:attrNameLst>
                                          <p:attrName>style.visibility</p:attrName>
                                        </p:attrNameLst>
                                      </p:cBhvr>
                                      <p:to>
                                        <p:strVal val="visible"/>
                                      </p:to>
                                    </p:set>
                                    <p:anim calcmode="lin" valueType="num">
                                      <p:cBhvr additive="base">
                                        <p:cTn id="75" dur="500" fill="hold"/>
                                        <p:tgtEl>
                                          <p:spTgt spid="28"/>
                                        </p:tgtEl>
                                        <p:attrNameLst>
                                          <p:attrName>ppt_x</p:attrName>
                                        </p:attrNameLst>
                                      </p:cBhvr>
                                      <p:tavLst>
                                        <p:tav tm="0">
                                          <p:val>
                                            <p:strVal val="#ppt_x"/>
                                          </p:val>
                                        </p:tav>
                                        <p:tav tm="100000">
                                          <p:val>
                                            <p:strVal val="#ppt_x"/>
                                          </p:val>
                                        </p:tav>
                                      </p:tavLst>
                                    </p:anim>
                                    <p:anim calcmode="lin" valueType="num">
                                      <p:cBhvr additive="base">
                                        <p:cTn id="76" dur="500" fill="hold"/>
                                        <p:tgtEl>
                                          <p:spTgt spid="28"/>
                                        </p:tgtEl>
                                        <p:attrNameLst>
                                          <p:attrName>ppt_y</p:attrName>
                                        </p:attrNameLst>
                                      </p:cBhvr>
                                      <p:tavLst>
                                        <p:tav tm="0">
                                          <p:val>
                                            <p:strVal val="#ppt_y+0.1"/>
                                          </p:val>
                                        </p:tav>
                                        <p:tav tm="100000">
                                          <p:val>
                                            <p:strVal val="#ppt_y"/>
                                          </p:val>
                                        </p:tav>
                                      </p:tavLst>
                                    </p:anim>
                                    <p:animEffect transition="in" filter="fade">
                                      <p:cBhvr>
                                        <p:cTn id="77" dur="500"/>
                                        <p:tgtEl>
                                          <p:spTgt spid="28"/>
                                        </p:tgtEl>
                                      </p:cBhvr>
                                    </p:animEffect>
                                  </p:childTnLst>
                                </p:cTn>
                              </p:par>
                              <p:par>
                                <p:cTn id="83" presetID="2" presetClass="entr" presetSubtype="4" fill="hold" grpId="0" nodeType="withEffect">
                                  <p:stCondLst>
                                    <p:cond delay="300"/>
                                  </p:stCondLst>
                                  <p:childTnLst>
                                    <p:set>
                                      <p:cBhvr>
                                        <p:cTn id="79" dur="1" fill="hold">
                                          <p:stCondLst>
                                            <p:cond delay="0"/>
                                          </p:stCondLst>
                                        </p:cTn>
                                        <p:tgtEl>
                                          <p:spTgt spid="29"/>
                                        </p:tgtEl>
                                        <p:attrNameLst>
                                          <p:attrName>style.visibility</p:attrName>
                                        </p:attrNameLst>
                                      </p:cBhvr>
                                      <p:to>
                                        <p:strVal val="visible"/>
                                      </p:to>
                                    </p:set>
                                    <p:anim calcmode="lin" valueType="num">
                                      <p:cBhvr additive="base">
                                        <p:cTn id="80" dur="500" fill="hold"/>
                                        <p:tgtEl>
                                          <p:spTgt spid="29"/>
                                        </p:tgtEl>
                                        <p:attrNameLst>
                                          <p:attrName>ppt_x</p:attrName>
                                        </p:attrNameLst>
                                      </p:cBhvr>
                                      <p:tavLst>
                                        <p:tav tm="0">
                                          <p:val>
                                            <p:strVal val="#ppt_x"/>
                                          </p:val>
                                        </p:tav>
                                        <p:tav tm="100000">
                                          <p:val>
                                            <p:strVal val="#ppt_x"/>
                                          </p:val>
                                        </p:tav>
                                      </p:tavLst>
                                    </p:anim>
                                    <p:anim calcmode="lin" valueType="num">
                                      <p:cBhvr additive="base">
                                        <p:cTn id="81" dur="500" fill="hold"/>
                                        <p:tgtEl>
                                          <p:spTgt spid="29"/>
                                        </p:tgtEl>
                                        <p:attrNameLst>
                                          <p:attrName>ppt_y</p:attrName>
                                        </p:attrNameLst>
                                      </p:cBhvr>
                                      <p:tavLst>
                                        <p:tav tm="0">
                                          <p:val>
                                            <p:strVal val="#ppt_y+0.1"/>
                                          </p:val>
                                        </p:tav>
                                        <p:tav tm="100000">
                                          <p:val>
                                            <p:strVal val="#ppt_y"/>
                                          </p:val>
                                        </p:tav>
                                      </p:tavLst>
                                    </p:anim>
                                    <p:animEffect transition="in" filter="fade">
                                      <p:cBhvr>
                                        <p:cTn id="82" dur="500"/>
                                        <p:tgtEl>
                                          <p:spTgt spid="29"/>
                                        </p:tgtEl>
                                      </p:cBhvr>
                                    </p:animEffect>
                                  </p:childTnLst>
                                </p:cTn>
                              </p:par>
                            </p:childTnLst>
                          </p:cTn>
                        </p:par>
                      </p:childTnLst>
                    </p:cTn>
                  </p:par>
                  <p:par>
                    <p:cTn id="84" fill="hold">
                      <p:stCondLst>
                        <p:cond delay="indefinite"/>
                      </p:stCondLst>
                      <p:childTnLst>
                        <p:par>
                          <p:cTn id="85" fill="hold">
                            <p:stCondLst>
                              <p:cond delay="0"/>
                            </p:stCondLst>
                            <p:childTnLst>
                              <p:par>
                                <p:cTn id="90" presetID="2" presetClass="entr" presetSubtype="4" fill="hold" grpId="0" nodeType="clickEffect">
                                  <p:stCondLst>
                                    <p:cond delay="0"/>
                                  </p:stCondLst>
                                  <p:childTnLst>
                                    <p:set>
                                      <p:cBhvr>
                                        <p:cTn id="86" dur="1" fill="hold">
                                          <p:stCondLst>
                                            <p:cond delay="0"/>
                                          </p:stCondLst>
                                        </p:cTn>
                                        <p:tgtEl>
                                          <p:spTgt spid="30"/>
                                        </p:tgtEl>
                                        <p:attrNameLst>
                                          <p:attrName>style.visibility</p:attrName>
                                        </p:attrNameLst>
                                      </p:cBhvr>
                                      <p:to>
                                        <p:strVal val="visible"/>
                                      </p:to>
                                    </p:set>
                                    <p:anim calcmode="lin" valueType="num">
                                      <p:cBhvr additive="base">
                                        <p:cTn id="87" dur="500" fill="hold"/>
                                        <p:tgtEl>
                                          <p:spTgt spid="30"/>
                                        </p:tgtEl>
                                        <p:attrNameLst>
                                          <p:attrName>ppt_x</p:attrName>
                                        </p:attrNameLst>
                                      </p:cBhvr>
                                      <p:tavLst>
                                        <p:tav tm="0">
                                          <p:val>
                                            <p:strVal val="#ppt_x"/>
                                          </p:val>
                                        </p:tav>
                                        <p:tav tm="100000">
                                          <p:val>
                                            <p:strVal val="#ppt_x"/>
                                          </p:val>
                                        </p:tav>
                                      </p:tavLst>
                                    </p:anim>
                                    <p:anim calcmode="lin" valueType="num">
                                      <p:cBhvr additive="base">
                                        <p:cTn id="88" dur="500" fill="hold"/>
                                        <p:tgtEl>
                                          <p:spTgt spid="30"/>
                                        </p:tgtEl>
                                        <p:attrNameLst>
                                          <p:attrName>ppt_y</p:attrName>
                                        </p:attrNameLst>
                                      </p:cBhvr>
                                      <p:tavLst>
                                        <p:tav tm="0">
                                          <p:val>
                                            <p:strVal val="#ppt_y+0.1"/>
                                          </p:val>
                                        </p:tav>
                                        <p:tav tm="100000">
                                          <p:val>
                                            <p:strVal val="#ppt_y"/>
                                          </p:val>
                                        </p:tav>
                                      </p:tavLst>
                                    </p:anim>
                                    <p:animEffect transition="in" filter="fade">
                                      <p:cBhvr>
                                        <p:cTn id="8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What Is Event Streaming?</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 Apache Kafka docs compare it to the body's central nervous system</a:t>
            </a:r>
          </a:p>
        </p:txBody>
      </p:sp>
      <p:sp>
        <p:nvSpPr>
          <p:cNvPr id="11" name="a1u_nd10"/>
          <p:cNvSpPr/>
          <p:nvPr/>
        </p:nvSpPr>
        <p:spPr>
          <a:xfrm>
            <a:off x="457200" y="1325880"/>
            <a:ext cx="1828800" cy="1097280"/>
          </a:xfrm>
          <a:prstGeom prst="roundRect">
            <a:avLst>
              <a:gd name="adj" fmla="val 6666"/>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362456"/>
            <a:ext cx="1737360" cy="530352"/>
          </a:xfrm>
          <a:prstGeom prst="rect">
            <a:avLst/>
          </a:prstGeom>
          <a:noFill/>
        </p:spPr>
        <p:txBody>
          <a:bodyPr wrap="square" lIns="0" tIns="0" rIns="0" bIns="0" anchor="b">
            <a:spAutoFit/>
          </a:bodyPr>
          <a:lstStyle/>
          <a:p>
            <a:pPr algn="ctr"/>
            <a:r>
              <a:rPr sz="1400" b="1">
                <a:solidFill>
                  <a:srgbClr val="1C1917"/>
                </a:solidFill>
                <a:latin typeface="Segoe UI"/>
              </a:rPr>
              <a:t>Capture</a:t>
            </a:r>
          </a:p>
        </p:txBody>
      </p:sp>
      <p:sp>
        <p:nvSpPr>
          <p:cNvPr id="13" name="a1u_nds12"/>
          <p:cNvSpPr txBox="1"/>
          <p:nvPr/>
        </p:nvSpPr>
        <p:spPr>
          <a:xfrm>
            <a:off x="502920" y="1901951"/>
            <a:ext cx="1737360" cy="484632"/>
          </a:xfrm>
          <a:prstGeom prst="rect">
            <a:avLst/>
          </a:prstGeom>
          <a:noFill/>
        </p:spPr>
        <p:txBody>
          <a:bodyPr wrap="square" lIns="0" tIns="0" rIns="0" bIns="0" anchor="t">
            <a:spAutoFit/>
          </a:bodyPr>
          <a:lstStyle/>
          <a:p>
            <a:pPr algn="ctr"/>
            <a:r>
              <a:rPr sz="850" b="0">
                <a:solidFill>
                  <a:srgbClr val="EA580C"/>
                </a:solidFill>
                <a:latin typeface="Segoe UI"/>
              </a:rPr>
              <a:t>events in real time from databases, sensors, apps, cloud services</a:t>
            </a:r>
          </a:p>
        </p:txBody>
      </p:sp>
      <p:sp>
        <p:nvSpPr>
          <p:cNvPr id="14" name="a2u_nd13"/>
          <p:cNvSpPr/>
          <p:nvPr/>
        </p:nvSpPr>
        <p:spPr>
          <a:xfrm>
            <a:off x="2587752" y="1325880"/>
            <a:ext cx="1828800" cy="1097280"/>
          </a:xfrm>
          <a:prstGeom prst="roundRect">
            <a:avLst>
              <a:gd name="adj" fmla="val 6666"/>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2u_ndt14"/>
          <p:cNvSpPr txBox="1"/>
          <p:nvPr/>
        </p:nvSpPr>
        <p:spPr>
          <a:xfrm>
            <a:off x="2633472" y="1362456"/>
            <a:ext cx="1737360" cy="530352"/>
          </a:xfrm>
          <a:prstGeom prst="rect">
            <a:avLst/>
          </a:prstGeom>
          <a:noFill/>
        </p:spPr>
        <p:txBody>
          <a:bodyPr wrap="square" lIns="0" tIns="0" rIns="0" bIns="0" anchor="b">
            <a:spAutoFit/>
          </a:bodyPr>
          <a:lstStyle/>
          <a:p>
            <a:pPr algn="ctr"/>
            <a:r>
              <a:rPr sz="1400" b="1">
                <a:solidFill>
                  <a:srgbClr val="1C1917"/>
                </a:solidFill>
                <a:latin typeface="Segoe UI"/>
              </a:rPr>
              <a:t>Store</a:t>
            </a:r>
          </a:p>
        </p:txBody>
      </p:sp>
      <p:sp>
        <p:nvSpPr>
          <p:cNvPr id="16" name="a2u_nds15"/>
          <p:cNvSpPr txBox="1"/>
          <p:nvPr/>
        </p:nvSpPr>
        <p:spPr>
          <a:xfrm>
            <a:off x="2633472" y="1901951"/>
            <a:ext cx="1737360" cy="484632"/>
          </a:xfrm>
          <a:prstGeom prst="rect">
            <a:avLst/>
          </a:prstGeom>
          <a:noFill/>
        </p:spPr>
        <p:txBody>
          <a:bodyPr wrap="square" lIns="0" tIns="0" rIns="0" bIns="0" anchor="t">
            <a:spAutoFit/>
          </a:bodyPr>
          <a:lstStyle/>
          <a:p>
            <a:pPr algn="ctr"/>
            <a:r>
              <a:rPr sz="850" b="0">
                <a:solidFill>
                  <a:srgbClr val="0E7490"/>
                </a:solidFill>
                <a:latin typeface="Segoe UI"/>
              </a:rPr>
              <a:t>the streams durably, to read again later</a:t>
            </a:r>
          </a:p>
        </p:txBody>
      </p:sp>
      <p:cxnSp>
        <p:nvCxnSpPr>
          <p:cNvPr id="17" name="a2u_ar16"/>
          <p:cNvCxnSpPr/>
          <p:nvPr/>
        </p:nvCxnSpPr>
        <p:spPr>
          <a:xfrm>
            <a:off x="2304288" y="1874519"/>
            <a:ext cx="256032"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a3u_nd17"/>
          <p:cNvSpPr/>
          <p:nvPr/>
        </p:nvSpPr>
        <p:spPr>
          <a:xfrm>
            <a:off x="4718304" y="1325880"/>
            <a:ext cx="1828800" cy="1097280"/>
          </a:xfrm>
          <a:prstGeom prst="roundRect">
            <a:avLst>
              <a:gd name="adj" fmla="val 6666"/>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3u_ndt18"/>
          <p:cNvSpPr txBox="1"/>
          <p:nvPr/>
        </p:nvSpPr>
        <p:spPr>
          <a:xfrm>
            <a:off x="4764024" y="1362456"/>
            <a:ext cx="1737360" cy="530352"/>
          </a:xfrm>
          <a:prstGeom prst="rect">
            <a:avLst/>
          </a:prstGeom>
          <a:noFill/>
        </p:spPr>
        <p:txBody>
          <a:bodyPr wrap="square" lIns="0" tIns="0" rIns="0" bIns="0" anchor="b">
            <a:spAutoFit/>
          </a:bodyPr>
          <a:lstStyle/>
          <a:p>
            <a:pPr algn="ctr"/>
            <a:r>
              <a:rPr sz="1400" b="1">
                <a:solidFill>
                  <a:srgbClr val="1C1917"/>
                </a:solidFill>
                <a:latin typeface="Segoe UI"/>
              </a:rPr>
              <a:t>Process</a:t>
            </a:r>
          </a:p>
        </p:txBody>
      </p:sp>
      <p:sp>
        <p:nvSpPr>
          <p:cNvPr id="20" name="a3u_nds19"/>
          <p:cNvSpPr txBox="1"/>
          <p:nvPr/>
        </p:nvSpPr>
        <p:spPr>
          <a:xfrm>
            <a:off x="4764024" y="1901951"/>
            <a:ext cx="1737360" cy="484632"/>
          </a:xfrm>
          <a:prstGeom prst="rect">
            <a:avLst/>
          </a:prstGeom>
          <a:noFill/>
        </p:spPr>
        <p:txBody>
          <a:bodyPr wrap="square" lIns="0" tIns="0" rIns="0" bIns="0" anchor="t">
            <a:spAutoFit/>
          </a:bodyPr>
          <a:lstStyle/>
          <a:p>
            <a:pPr algn="ctr"/>
            <a:r>
              <a:rPr sz="850" b="0">
                <a:solidFill>
                  <a:srgbClr val="A16207"/>
                </a:solidFill>
                <a:latin typeface="Segoe UI"/>
              </a:rPr>
              <a:t>react as events happen - or look back at them</a:t>
            </a:r>
          </a:p>
        </p:txBody>
      </p:sp>
      <p:cxnSp>
        <p:nvCxnSpPr>
          <p:cNvPr id="21" name="a3u_ar20"/>
          <p:cNvCxnSpPr/>
          <p:nvPr/>
        </p:nvCxnSpPr>
        <p:spPr>
          <a:xfrm>
            <a:off x="4434840" y="1874519"/>
            <a:ext cx="256032"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a4u_nd21"/>
          <p:cNvSpPr/>
          <p:nvPr/>
        </p:nvSpPr>
        <p:spPr>
          <a:xfrm>
            <a:off x="6848856" y="1325880"/>
            <a:ext cx="1828800" cy="1097280"/>
          </a:xfrm>
          <a:prstGeom prst="roundRect">
            <a:avLst>
              <a:gd name="adj" fmla="val 6666"/>
            </a:avLst>
          </a:prstGeom>
          <a:solidFill>
            <a:srgbClr val="F7F6F3"/>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4u_ndt22"/>
          <p:cNvSpPr txBox="1"/>
          <p:nvPr/>
        </p:nvSpPr>
        <p:spPr>
          <a:xfrm>
            <a:off x="6894576" y="1362456"/>
            <a:ext cx="1737360" cy="530352"/>
          </a:xfrm>
          <a:prstGeom prst="rect">
            <a:avLst/>
          </a:prstGeom>
          <a:noFill/>
        </p:spPr>
        <p:txBody>
          <a:bodyPr wrap="square" lIns="0" tIns="0" rIns="0" bIns="0" anchor="b">
            <a:spAutoFit/>
          </a:bodyPr>
          <a:lstStyle/>
          <a:p>
            <a:pPr algn="ctr"/>
            <a:r>
              <a:rPr sz="1400" b="1">
                <a:solidFill>
                  <a:srgbClr val="1C1917"/>
                </a:solidFill>
                <a:latin typeface="Segoe UI"/>
              </a:rPr>
              <a:t>Route</a:t>
            </a:r>
          </a:p>
        </p:txBody>
      </p:sp>
      <p:sp>
        <p:nvSpPr>
          <p:cNvPr id="24" name="a4u_nds23"/>
          <p:cNvSpPr txBox="1"/>
          <p:nvPr/>
        </p:nvSpPr>
        <p:spPr>
          <a:xfrm>
            <a:off x="6894576" y="1901951"/>
            <a:ext cx="1737360" cy="484632"/>
          </a:xfrm>
          <a:prstGeom prst="rect">
            <a:avLst/>
          </a:prstGeom>
          <a:noFill/>
        </p:spPr>
        <p:txBody>
          <a:bodyPr wrap="square" lIns="0" tIns="0" rIns="0" bIns="0" anchor="t">
            <a:spAutoFit/>
          </a:bodyPr>
          <a:lstStyle/>
          <a:p>
            <a:pPr algn="ctr"/>
            <a:r>
              <a:rPr sz="850" b="0">
                <a:solidFill>
                  <a:srgbClr val="15803D"/>
                </a:solidFill>
                <a:latin typeface="Segoe UI"/>
              </a:rPr>
              <a:t>send the streams to whatever systems need them</a:t>
            </a:r>
          </a:p>
        </p:txBody>
      </p:sp>
      <p:cxnSp>
        <p:nvCxnSpPr>
          <p:cNvPr id="25" name="a4u_ar24"/>
          <p:cNvCxnSpPr/>
          <p:nvPr/>
        </p:nvCxnSpPr>
        <p:spPr>
          <a:xfrm>
            <a:off x="6565392" y="1874519"/>
            <a:ext cx="256032"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a5f_lb25"/>
          <p:cNvSpPr txBox="1"/>
          <p:nvPr/>
        </p:nvSpPr>
        <p:spPr>
          <a:xfrm>
            <a:off x="457200" y="2697480"/>
            <a:ext cx="4023360" cy="201168"/>
          </a:xfrm>
          <a:prstGeom prst="rect">
            <a:avLst/>
          </a:prstGeom>
          <a:noFill/>
        </p:spPr>
        <p:txBody>
          <a:bodyPr wrap="square" lIns="0" tIns="0" rIns="0" bIns="0" anchor="ctr">
            <a:spAutoFit/>
          </a:bodyPr>
          <a:lstStyle/>
          <a:p>
            <a:pPr algn="l"/>
            <a:r>
              <a:rPr sz="850" b="1">
                <a:solidFill>
                  <a:srgbClr val="44403C"/>
                </a:solidFill>
                <a:latin typeface="Segoe UI"/>
              </a:rPr>
              <a:t>Event sources</a:t>
            </a:r>
          </a:p>
        </p:txBody>
      </p:sp>
      <p:sp>
        <p:nvSpPr>
          <p:cNvPr id="27" name="a5u_pill26"/>
          <p:cNvSpPr/>
          <p:nvPr/>
        </p:nvSpPr>
        <p:spPr>
          <a:xfrm>
            <a:off x="457200" y="2944368"/>
            <a:ext cx="932688"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databases</a:t>
            </a:r>
          </a:p>
        </p:txBody>
      </p:sp>
      <p:sp>
        <p:nvSpPr>
          <p:cNvPr id="28" name="a5ud90_pill27"/>
          <p:cNvSpPr/>
          <p:nvPr/>
        </p:nvSpPr>
        <p:spPr>
          <a:xfrm>
            <a:off x="1481328" y="2944368"/>
            <a:ext cx="932688"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sensors</a:t>
            </a:r>
          </a:p>
        </p:txBody>
      </p:sp>
      <p:sp>
        <p:nvSpPr>
          <p:cNvPr id="29" name="a5ud180_pill28"/>
          <p:cNvSpPr/>
          <p:nvPr/>
        </p:nvSpPr>
        <p:spPr>
          <a:xfrm>
            <a:off x="2505456" y="2944368"/>
            <a:ext cx="932688"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mobile apps</a:t>
            </a:r>
          </a:p>
        </p:txBody>
      </p:sp>
      <p:sp>
        <p:nvSpPr>
          <p:cNvPr id="30" name="a5ud270_pill29"/>
          <p:cNvSpPr/>
          <p:nvPr/>
        </p:nvSpPr>
        <p:spPr>
          <a:xfrm>
            <a:off x="3529584" y="2944368"/>
            <a:ext cx="932688"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cloud APIs</a:t>
            </a:r>
          </a:p>
        </p:txBody>
      </p:sp>
      <p:sp>
        <p:nvSpPr>
          <p:cNvPr id="31" name="a5f_lb30"/>
          <p:cNvSpPr txBox="1"/>
          <p:nvPr/>
        </p:nvSpPr>
        <p:spPr>
          <a:xfrm>
            <a:off x="4663440" y="2697480"/>
            <a:ext cx="4023360" cy="201168"/>
          </a:xfrm>
          <a:prstGeom prst="rect">
            <a:avLst/>
          </a:prstGeom>
          <a:noFill/>
        </p:spPr>
        <p:txBody>
          <a:bodyPr wrap="square" lIns="0" tIns="0" rIns="0" bIns="0" anchor="ctr">
            <a:spAutoFit/>
          </a:bodyPr>
          <a:lstStyle/>
          <a:p>
            <a:pPr algn="l"/>
            <a:r>
              <a:rPr sz="850" b="1">
                <a:solidFill>
                  <a:srgbClr val="44403C"/>
                </a:solidFill>
                <a:latin typeface="Segoe UI"/>
              </a:rPr>
              <a:t>Always-on systems that need them</a:t>
            </a:r>
          </a:p>
        </p:txBody>
      </p:sp>
      <p:sp>
        <p:nvSpPr>
          <p:cNvPr id="32" name="a5u_pill31"/>
          <p:cNvSpPr/>
          <p:nvPr/>
        </p:nvSpPr>
        <p:spPr>
          <a:xfrm>
            <a:off x="4663440" y="2944368"/>
            <a:ext cx="932688" cy="292608"/>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dashboards</a:t>
            </a:r>
          </a:p>
        </p:txBody>
      </p:sp>
      <p:sp>
        <p:nvSpPr>
          <p:cNvPr id="33" name="a5ud90_pill32"/>
          <p:cNvSpPr/>
          <p:nvPr/>
        </p:nvSpPr>
        <p:spPr>
          <a:xfrm>
            <a:off x="5687568" y="2944368"/>
            <a:ext cx="932688" cy="292608"/>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fraud checks</a:t>
            </a:r>
          </a:p>
        </p:txBody>
      </p:sp>
      <p:sp>
        <p:nvSpPr>
          <p:cNvPr id="34" name="a5ud180_pill33"/>
          <p:cNvSpPr/>
          <p:nvPr/>
        </p:nvSpPr>
        <p:spPr>
          <a:xfrm>
            <a:off x="6711696" y="2944368"/>
            <a:ext cx="932688" cy="292608"/>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microservices</a:t>
            </a:r>
          </a:p>
        </p:txBody>
      </p:sp>
      <p:sp>
        <p:nvSpPr>
          <p:cNvPr id="35" name="a5ud270_pill34"/>
          <p:cNvSpPr/>
          <p:nvPr/>
        </p:nvSpPr>
        <p:spPr>
          <a:xfrm>
            <a:off x="7735824" y="2944368"/>
            <a:ext cx="932688" cy="292608"/>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data lakes</a:t>
            </a:r>
          </a:p>
        </p:txBody>
      </p:sp>
      <p:sp>
        <p:nvSpPr>
          <p:cNvPr id="36" name="a6u_nb35"/>
          <p:cNvSpPr/>
          <p:nvPr/>
        </p:nvSpPr>
        <p:spPr>
          <a:xfrm>
            <a:off x="457200" y="3520440"/>
            <a:ext cx="8229600" cy="731520"/>
          </a:xfrm>
          <a:prstGeom prst="roundRect">
            <a:avLst>
              <a:gd name="adj" fmla="val 1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6u_nacc36"/>
          <p:cNvSpPr/>
          <p:nvPr/>
        </p:nvSpPr>
        <p:spPr>
          <a:xfrm>
            <a:off x="457200" y="3520440"/>
            <a:ext cx="54864" cy="7315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6u_nt37"/>
          <p:cNvSpPr txBox="1"/>
          <p:nvPr/>
        </p:nvSpPr>
        <p:spPr>
          <a:xfrm>
            <a:off x="658368" y="3520440"/>
            <a:ext cx="7827264" cy="731520"/>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The result: a continuous flow of data, so the right information is in the right place at the right time. Kafka is an event streaming PLATFORM - it does all four.</a:t>
            </a:r>
          </a:p>
        </p:txBody>
      </p:sp>
      <p:sp>
        <p:nvSpPr>
          <p:cNvPr id="39" name="ft3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60</a:t>
            </a:r>
          </a:p>
        </p:txBody>
      </p:sp>
      <p:sp>
        <p:nvSpPr>
          <p:cNvPr id="40" name="ft3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ft4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2" name="ft4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6" presetID="2" presetClass="entr" presetSubtype="4"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ppt_y+0.1"/>
                                          </p:val>
                                        </p:tav>
                                        <p:tav tm="100000">
                                          <p:val>
                                            <p:strVal val="#ppt_y"/>
                                          </p:val>
                                        </p:tav>
                                      </p:tavLst>
                                    </p:anim>
                                    <p:animEffect transition="in" filter="fade">
                                      <p:cBhvr>
                                        <p:cTn id="25" dur="500"/>
                                        <p:tgtEl>
                                          <p:spTgt spid="14"/>
                                        </p:tgtEl>
                                      </p:cBhvr>
                                    </p:animEffect>
                                  </p:childTnLst>
                                </p:cTn>
                              </p:par>
                              <p:par>
                                <p:cTn id="31" presetID="2" presetClass="entr" presetSubtype="4"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ppt_y+0.1"/>
                                          </p:val>
                                        </p:tav>
                                        <p:tav tm="100000">
                                          <p:val>
                                            <p:strVal val="#ppt_y"/>
                                          </p:val>
                                        </p:tav>
                                      </p:tavLst>
                                    </p:anim>
                                    <p:animEffect transition="in" filter="fade">
                                      <p:cBhvr>
                                        <p:cTn id="30" dur="500"/>
                                        <p:tgtEl>
                                          <p:spTgt spid="15"/>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ppt_y+0.1"/>
                                          </p:val>
                                        </p:tav>
                                        <p:tav tm="100000">
                                          <p:val>
                                            <p:strVal val="#ppt_y"/>
                                          </p:val>
                                        </p:tav>
                                      </p:tavLst>
                                    </p:anim>
                                    <p:animEffect transition="in" filter="fade">
                                      <p:cBhvr>
                                        <p:cTn id="40"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8" presetID="2" presetClass="entr" presetSubtype="4"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additive="base">
                                        <p:cTn id="45" dur="500" fill="hold"/>
                                        <p:tgtEl>
                                          <p:spTgt spid="18"/>
                                        </p:tgtEl>
                                        <p:attrNameLst>
                                          <p:attrName>ppt_x</p:attrName>
                                        </p:attrNameLst>
                                      </p:cBhvr>
                                      <p:tavLst>
                                        <p:tav tm="0">
                                          <p:val>
                                            <p:strVal val="#ppt_x"/>
                                          </p:val>
                                        </p:tav>
                                        <p:tav tm="100000">
                                          <p:val>
                                            <p:strVal val="#ppt_x"/>
                                          </p:val>
                                        </p:tav>
                                      </p:tavLst>
                                    </p:anim>
                                    <p:anim calcmode="lin" valueType="num">
                                      <p:cBhvr additive="base">
                                        <p:cTn id="46" dur="500" fill="hold"/>
                                        <p:tgtEl>
                                          <p:spTgt spid="18"/>
                                        </p:tgtEl>
                                        <p:attrNameLst>
                                          <p:attrName>ppt_y</p:attrName>
                                        </p:attrNameLst>
                                      </p:cBhvr>
                                      <p:tavLst>
                                        <p:tav tm="0">
                                          <p:val>
                                            <p:strVal val="#ppt_y+0.1"/>
                                          </p:val>
                                        </p:tav>
                                        <p:tav tm="100000">
                                          <p:val>
                                            <p:strVal val="#ppt_y"/>
                                          </p:val>
                                        </p:tav>
                                      </p:tavLst>
                                    </p:anim>
                                    <p:animEffect transition="in" filter="fade">
                                      <p:cBhvr>
                                        <p:cTn id="47" dur="500"/>
                                        <p:tgtEl>
                                          <p:spTgt spid="18"/>
                                        </p:tgtEl>
                                      </p:cBhvr>
                                    </p:animEffect>
                                  </p:childTnLst>
                                </p:cTn>
                              </p:par>
                              <p:par>
                                <p:cTn id="53" presetID="2" presetClass="entr" presetSubtype="4"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ppt_x"/>
                                          </p:val>
                                        </p:tav>
                                        <p:tav tm="100000">
                                          <p:val>
                                            <p:strVal val="#ppt_x"/>
                                          </p:val>
                                        </p:tav>
                                      </p:tavLst>
                                    </p:anim>
                                    <p:anim calcmode="lin" valueType="num">
                                      <p:cBhvr additive="base">
                                        <p:cTn id="51" dur="500" fill="hold"/>
                                        <p:tgtEl>
                                          <p:spTgt spid="19"/>
                                        </p:tgtEl>
                                        <p:attrNameLst>
                                          <p:attrName>ppt_y</p:attrName>
                                        </p:attrNameLst>
                                      </p:cBhvr>
                                      <p:tavLst>
                                        <p:tav tm="0">
                                          <p:val>
                                            <p:strVal val="#ppt_y+0.1"/>
                                          </p:val>
                                        </p:tav>
                                        <p:tav tm="100000">
                                          <p:val>
                                            <p:strVal val="#ppt_y"/>
                                          </p:val>
                                        </p:tav>
                                      </p:tavLst>
                                    </p:anim>
                                    <p:animEffect transition="in" filter="fade">
                                      <p:cBhvr>
                                        <p:cTn id="52" dur="500"/>
                                        <p:tgtEl>
                                          <p:spTgt spid="19"/>
                                        </p:tgtEl>
                                      </p:cBhvr>
                                    </p:animEffect>
                                  </p:childTnLst>
                                </p:cTn>
                              </p:par>
                              <p:par>
                                <p:cTn id="58" presetID="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ppt_y+0.1"/>
                                          </p:val>
                                        </p:tav>
                                        <p:tav tm="100000">
                                          <p:val>
                                            <p:strVal val="#ppt_y"/>
                                          </p:val>
                                        </p:tav>
                                      </p:tavLst>
                                    </p:anim>
                                    <p:animEffect transition="in" filter="fade">
                                      <p:cBhvr>
                                        <p:cTn id="57" dur="500"/>
                                        <p:tgtEl>
                                          <p:spTgt spid="20"/>
                                        </p:tgtEl>
                                      </p:cBhvr>
                                    </p:animEffect>
                                  </p:childTnLst>
                                </p:cTn>
                              </p:par>
                              <p:par>
                                <p:cTn id="63" presetID="2" presetClass="entr" presetSubtype="4"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additive="base">
                                        <p:cTn id="60" dur="500" fill="hold"/>
                                        <p:tgtEl>
                                          <p:spTgt spid="21"/>
                                        </p:tgtEl>
                                        <p:attrNameLst>
                                          <p:attrName>ppt_x</p:attrName>
                                        </p:attrNameLst>
                                      </p:cBhvr>
                                      <p:tavLst>
                                        <p:tav tm="0">
                                          <p:val>
                                            <p:strVal val="#ppt_x"/>
                                          </p:val>
                                        </p:tav>
                                        <p:tav tm="100000">
                                          <p:val>
                                            <p:strVal val="#ppt_x"/>
                                          </p:val>
                                        </p:tav>
                                      </p:tavLst>
                                    </p:anim>
                                    <p:anim calcmode="lin" valueType="num">
                                      <p:cBhvr additive="base">
                                        <p:cTn id="61" dur="500" fill="hold"/>
                                        <p:tgtEl>
                                          <p:spTgt spid="21"/>
                                        </p:tgtEl>
                                        <p:attrNameLst>
                                          <p:attrName>ppt_y</p:attrName>
                                        </p:attrNameLst>
                                      </p:cBhvr>
                                      <p:tavLst>
                                        <p:tav tm="0">
                                          <p:val>
                                            <p:strVal val="#ppt_y+0.1"/>
                                          </p:val>
                                        </p:tav>
                                        <p:tav tm="100000">
                                          <p:val>
                                            <p:strVal val="#ppt_y"/>
                                          </p:val>
                                        </p:tav>
                                      </p:tavLst>
                                    </p:anim>
                                    <p:animEffect transition="in" filter="fade">
                                      <p:cBhvr>
                                        <p:cTn id="62" dur="500"/>
                                        <p:tgtEl>
                                          <p:spTgt spid="21"/>
                                        </p:tgtEl>
                                      </p:cBhvr>
                                    </p:animEffect>
                                  </p:childTnLst>
                                </p:cTn>
                              </p:par>
                            </p:childTnLst>
                          </p:cTn>
                        </p:par>
                      </p:childTnLst>
                    </p:cTn>
                  </p:par>
                  <p:par>
                    <p:cTn id="64" fill="hold">
                      <p:stCondLst>
                        <p:cond delay="indefinite"/>
                      </p:stCondLst>
                      <p:childTnLst>
                        <p:par>
                          <p:cTn id="65" fill="hold">
                            <p:stCondLst>
                              <p:cond delay="0"/>
                            </p:stCondLst>
                            <p:childTnLst>
                              <p:par>
                                <p:cTn id="70" presetID="2" presetClass="entr" presetSubtype="4"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ppt_x"/>
                                          </p:val>
                                        </p:tav>
                                        <p:tav tm="100000">
                                          <p:val>
                                            <p:strVal val="#ppt_x"/>
                                          </p:val>
                                        </p:tav>
                                      </p:tavLst>
                                    </p:anim>
                                    <p:anim calcmode="lin" valueType="num">
                                      <p:cBhvr additive="base">
                                        <p:cTn id="68" dur="500" fill="hold"/>
                                        <p:tgtEl>
                                          <p:spTgt spid="22"/>
                                        </p:tgtEl>
                                        <p:attrNameLst>
                                          <p:attrName>ppt_y</p:attrName>
                                        </p:attrNameLst>
                                      </p:cBhvr>
                                      <p:tavLst>
                                        <p:tav tm="0">
                                          <p:val>
                                            <p:strVal val="#ppt_y+0.1"/>
                                          </p:val>
                                        </p:tav>
                                        <p:tav tm="100000">
                                          <p:val>
                                            <p:strVal val="#ppt_y"/>
                                          </p:val>
                                        </p:tav>
                                      </p:tavLst>
                                    </p:anim>
                                    <p:animEffect transition="in" filter="fade">
                                      <p:cBhvr>
                                        <p:cTn id="69" dur="500"/>
                                        <p:tgtEl>
                                          <p:spTgt spid="22"/>
                                        </p:tgtEl>
                                      </p:cBhvr>
                                    </p:animEffect>
                                  </p:childTnLst>
                                </p:cTn>
                              </p:par>
                              <p:par>
                                <p:cTn id="75" presetID="2" presetClass="entr" presetSubtype="4"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500" fill="hold"/>
                                        <p:tgtEl>
                                          <p:spTgt spid="23"/>
                                        </p:tgtEl>
                                        <p:attrNameLst>
                                          <p:attrName>ppt_x</p:attrName>
                                        </p:attrNameLst>
                                      </p:cBhvr>
                                      <p:tavLst>
                                        <p:tav tm="0">
                                          <p:val>
                                            <p:strVal val="#ppt_x"/>
                                          </p:val>
                                        </p:tav>
                                        <p:tav tm="100000">
                                          <p:val>
                                            <p:strVal val="#ppt_x"/>
                                          </p:val>
                                        </p:tav>
                                      </p:tavLst>
                                    </p:anim>
                                    <p:anim calcmode="lin" valueType="num">
                                      <p:cBhvr additive="base">
                                        <p:cTn id="73" dur="500" fill="hold"/>
                                        <p:tgtEl>
                                          <p:spTgt spid="23"/>
                                        </p:tgtEl>
                                        <p:attrNameLst>
                                          <p:attrName>ppt_y</p:attrName>
                                        </p:attrNameLst>
                                      </p:cBhvr>
                                      <p:tavLst>
                                        <p:tav tm="0">
                                          <p:val>
                                            <p:strVal val="#ppt_y+0.1"/>
                                          </p:val>
                                        </p:tav>
                                        <p:tav tm="100000">
                                          <p:val>
                                            <p:strVal val="#ppt_y"/>
                                          </p:val>
                                        </p:tav>
                                      </p:tavLst>
                                    </p:anim>
                                    <p:animEffect transition="in" filter="fade">
                                      <p:cBhvr>
                                        <p:cTn id="74" dur="500"/>
                                        <p:tgtEl>
                                          <p:spTgt spid="23"/>
                                        </p:tgtEl>
                                      </p:cBhvr>
                                    </p:animEffect>
                                  </p:childTnLst>
                                </p:cTn>
                              </p:par>
                              <p:par>
                                <p:cTn id="80" presetID="2" presetClass="entr" presetSubtype="4"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500" fill="hold"/>
                                        <p:tgtEl>
                                          <p:spTgt spid="24"/>
                                        </p:tgtEl>
                                        <p:attrNameLst>
                                          <p:attrName>ppt_x</p:attrName>
                                        </p:attrNameLst>
                                      </p:cBhvr>
                                      <p:tavLst>
                                        <p:tav tm="0">
                                          <p:val>
                                            <p:strVal val="#ppt_x"/>
                                          </p:val>
                                        </p:tav>
                                        <p:tav tm="100000">
                                          <p:val>
                                            <p:strVal val="#ppt_x"/>
                                          </p:val>
                                        </p:tav>
                                      </p:tavLst>
                                    </p:anim>
                                    <p:anim calcmode="lin" valueType="num">
                                      <p:cBhvr additive="base">
                                        <p:cTn id="78" dur="500" fill="hold"/>
                                        <p:tgtEl>
                                          <p:spTgt spid="24"/>
                                        </p:tgtEl>
                                        <p:attrNameLst>
                                          <p:attrName>ppt_y</p:attrName>
                                        </p:attrNameLst>
                                      </p:cBhvr>
                                      <p:tavLst>
                                        <p:tav tm="0">
                                          <p:val>
                                            <p:strVal val="#ppt_y+0.1"/>
                                          </p:val>
                                        </p:tav>
                                        <p:tav tm="100000">
                                          <p:val>
                                            <p:strVal val="#ppt_y"/>
                                          </p:val>
                                        </p:tav>
                                      </p:tavLst>
                                    </p:anim>
                                    <p:animEffect transition="in" filter="fade">
                                      <p:cBhvr>
                                        <p:cTn id="79" dur="500"/>
                                        <p:tgtEl>
                                          <p:spTgt spid="24"/>
                                        </p:tgtEl>
                                      </p:cBhvr>
                                    </p:animEffect>
                                  </p:childTnLst>
                                </p:cTn>
                              </p:par>
                              <p:par>
                                <p:cTn id="85" presetID="2" presetClass="entr" presetSubtype="4"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ppt_y+0.1"/>
                                          </p:val>
                                        </p:tav>
                                        <p:tav tm="100000">
                                          <p:val>
                                            <p:strVal val="#ppt_y"/>
                                          </p:val>
                                        </p:tav>
                                      </p:tavLst>
                                    </p:anim>
                                    <p:animEffect transition="in" filter="fade">
                                      <p:cBhvr>
                                        <p:cTn id="84" dur="500"/>
                                        <p:tgtEl>
                                          <p:spTgt spid="25"/>
                                        </p:tgtEl>
                                      </p:cBhvr>
                                    </p:animEffect>
                                  </p:childTnLst>
                                </p:cTn>
                              </p:par>
                            </p:childTnLst>
                          </p:cTn>
                        </p:par>
                      </p:childTnLst>
                    </p:cTn>
                  </p:par>
                  <p:par>
                    <p:cTn id="86" fill="hold">
                      <p:stCondLst>
                        <p:cond delay="indefinite"/>
                      </p:stCondLst>
                      <p:childTnLst>
                        <p:par>
                          <p:cTn id="87" fill="hold">
                            <p:stCondLst>
                              <p:cond delay="0"/>
                            </p:stCondLst>
                            <p:childTnLst>
                              <p:par>
                                <p:cTn id="90" presetID="10" presetClass="entr" presetSubtype="0" fill="hold" grpId="0" nodeType="clickEffect">
                                  <p:stCondLst>
                                    <p:cond delay="0"/>
                                  </p:stCondLst>
                                  <p:childTnLst>
                                    <p:set>
                                      <p:cBhvr>
                                        <p:cTn id="88" dur="1" fill="hold">
                                          <p:stCondLst>
                                            <p:cond delay="0"/>
                                          </p:stCondLst>
                                        </p:cTn>
                                        <p:tgtEl>
                                          <p:spTgt spid="26"/>
                                        </p:tgtEl>
                                        <p:attrNameLst>
                                          <p:attrName>style.visibility</p:attrName>
                                        </p:attrNameLst>
                                      </p:cBhvr>
                                      <p:to>
                                        <p:strVal val="visible"/>
                                      </p:to>
                                    </p:set>
                                    <p:animEffect transition="in" filter="fade">
                                      <p:cBhvr>
                                        <p:cTn id="89" dur="500"/>
                                        <p:tgtEl>
                                          <p:spTgt spid="26"/>
                                        </p:tgtEl>
                                      </p:cBhvr>
                                    </p:animEffect>
                                  </p:childTnLst>
                                </p:cTn>
                              </p:par>
                              <p:par>
                                <p:cTn id="95" presetID="2" presetClass="entr" presetSubtype="4" fill="hold" grpId="0" nodeType="withEffect">
                                  <p:stCondLst>
                                    <p:cond delay="0"/>
                                  </p:stCondLst>
                                  <p:childTnLst>
                                    <p:set>
                                      <p:cBhvr>
                                        <p:cTn id="91" dur="1" fill="hold">
                                          <p:stCondLst>
                                            <p:cond delay="0"/>
                                          </p:stCondLst>
                                        </p:cTn>
                                        <p:tgtEl>
                                          <p:spTgt spid="27"/>
                                        </p:tgtEl>
                                        <p:attrNameLst>
                                          <p:attrName>style.visibility</p:attrName>
                                        </p:attrNameLst>
                                      </p:cBhvr>
                                      <p:to>
                                        <p:strVal val="visible"/>
                                      </p:to>
                                    </p:set>
                                    <p:anim calcmode="lin" valueType="num">
                                      <p:cBhvr additive="base">
                                        <p:cTn id="92" dur="500" fill="hold"/>
                                        <p:tgtEl>
                                          <p:spTgt spid="27"/>
                                        </p:tgtEl>
                                        <p:attrNameLst>
                                          <p:attrName>ppt_x</p:attrName>
                                        </p:attrNameLst>
                                      </p:cBhvr>
                                      <p:tavLst>
                                        <p:tav tm="0">
                                          <p:val>
                                            <p:strVal val="#ppt_x"/>
                                          </p:val>
                                        </p:tav>
                                        <p:tav tm="100000">
                                          <p:val>
                                            <p:strVal val="#ppt_x"/>
                                          </p:val>
                                        </p:tav>
                                      </p:tavLst>
                                    </p:anim>
                                    <p:anim calcmode="lin" valueType="num">
                                      <p:cBhvr additive="base">
                                        <p:cTn id="93" dur="500" fill="hold"/>
                                        <p:tgtEl>
                                          <p:spTgt spid="27"/>
                                        </p:tgtEl>
                                        <p:attrNameLst>
                                          <p:attrName>ppt_y</p:attrName>
                                        </p:attrNameLst>
                                      </p:cBhvr>
                                      <p:tavLst>
                                        <p:tav tm="0">
                                          <p:val>
                                            <p:strVal val="#ppt_y+0.1"/>
                                          </p:val>
                                        </p:tav>
                                        <p:tav tm="100000">
                                          <p:val>
                                            <p:strVal val="#ppt_y"/>
                                          </p:val>
                                        </p:tav>
                                      </p:tavLst>
                                    </p:anim>
                                    <p:animEffect transition="in" filter="fade">
                                      <p:cBhvr>
                                        <p:cTn id="94" dur="500"/>
                                        <p:tgtEl>
                                          <p:spTgt spid="27"/>
                                        </p:tgtEl>
                                      </p:cBhvr>
                                    </p:animEffect>
                                  </p:childTnLst>
                                </p:cTn>
                              </p:par>
                              <p:par>
                                <p:cTn id="98" presetID="10" presetClass="entr" presetSubtype="0" fill="hold" grpId="0" nodeType="withEffect">
                                  <p:stCondLst>
                                    <p:cond delay="0"/>
                                  </p:stCondLst>
                                  <p:childTnLst>
                                    <p:set>
                                      <p:cBhvr>
                                        <p:cTn id="96" dur="1" fill="hold">
                                          <p:stCondLst>
                                            <p:cond delay="0"/>
                                          </p:stCondLst>
                                        </p:cTn>
                                        <p:tgtEl>
                                          <p:spTgt spid="31"/>
                                        </p:tgtEl>
                                        <p:attrNameLst>
                                          <p:attrName>style.visibility</p:attrName>
                                        </p:attrNameLst>
                                      </p:cBhvr>
                                      <p:to>
                                        <p:strVal val="visible"/>
                                      </p:to>
                                    </p:set>
                                    <p:animEffect transition="in" filter="fade">
                                      <p:cBhvr>
                                        <p:cTn id="97" dur="500"/>
                                        <p:tgtEl>
                                          <p:spTgt spid="31"/>
                                        </p:tgtEl>
                                      </p:cBhvr>
                                    </p:animEffect>
                                  </p:childTnLst>
                                </p:cTn>
                              </p:par>
                              <p:par>
                                <p:cTn id="103" presetID="2" presetClass="entr" presetSubtype="4" fill="hold" grpId="0" nodeType="withEffect">
                                  <p:stCondLst>
                                    <p:cond delay="0"/>
                                  </p:stCondLst>
                                  <p:childTnLst>
                                    <p:set>
                                      <p:cBhvr>
                                        <p:cTn id="99" dur="1" fill="hold">
                                          <p:stCondLst>
                                            <p:cond delay="0"/>
                                          </p:stCondLst>
                                        </p:cTn>
                                        <p:tgtEl>
                                          <p:spTgt spid="32"/>
                                        </p:tgtEl>
                                        <p:attrNameLst>
                                          <p:attrName>style.visibility</p:attrName>
                                        </p:attrNameLst>
                                      </p:cBhvr>
                                      <p:to>
                                        <p:strVal val="visible"/>
                                      </p:to>
                                    </p:set>
                                    <p:anim calcmode="lin" valueType="num">
                                      <p:cBhvr additive="base">
                                        <p:cTn id="100" dur="500" fill="hold"/>
                                        <p:tgtEl>
                                          <p:spTgt spid="32"/>
                                        </p:tgtEl>
                                        <p:attrNameLst>
                                          <p:attrName>ppt_x</p:attrName>
                                        </p:attrNameLst>
                                      </p:cBhvr>
                                      <p:tavLst>
                                        <p:tav tm="0">
                                          <p:val>
                                            <p:strVal val="#ppt_x"/>
                                          </p:val>
                                        </p:tav>
                                        <p:tav tm="100000">
                                          <p:val>
                                            <p:strVal val="#ppt_x"/>
                                          </p:val>
                                        </p:tav>
                                      </p:tavLst>
                                    </p:anim>
                                    <p:anim calcmode="lin" valueType="num">
                                      <p:cBhvr additive="base">
                                        <p:cTn id="101" dur="500" fill="hold"/>
                                        <p:tgtEl>
                                          <p:spTgt spid="32"/>
                                        </p:tgtEl>
                                        <p:attrNameLst>
                                          <p:attrName>ppt_y</p:attrName>
                                        </p:attrNameLst>
                                      </p:cBhvr>
                                      <p:tavLst>
                                        <p:tav tm="0">
                                          <p:val>
                                            <p:strVal val="#ppt_y+0.1"/>
                                          </p:val>
                                        </p:tav>
                                        <p:tav tm="100000">
                                          <p:val>
                                            <p:strVal val="#ppt_y"/>
                                          </p:val>
                                        </p:tav>
                                      </p:tavLst>
                                    </p:anim>
                                    <p:animEffect transition="in" filter="fade">
                                      <p:cBhvr>
                                        <p:cTn id="102" dur="500"/>
                                        <p:tgtEl>
                                          <p:spTgt spid="32"/>
                                        </p:tgtEl>
                                      </p:cBhvr>
                                    </p:animEffect>
                                  </p:childTnLst>
                                </p:cTn>
                              </p:par>
                              <p:par>
                                <p:cTn id="108" presetID="2" presetClass="entr" presetSubtype="4" fill="hold" grpId="0" nodeType="withEffect">
                                  <p:stCondLst>
                                    <p:cond delay="90"/>
                                  </p:stCondLst>
                                  <p:childTnLst>
                                    <p:set>
                                      <p:cBhvr>
                                        <p:cTn id="104" dur="1" fill="hold">
                                          <p:stCondLst>
                                            <p:cond delay="0"/>
                                          </p:stCondLst>
                                        </p:cTn>
                                        <p:tgtEl>
                                          <p:spTgt spid="28"/>
                                        </p:tgtEl>
                                        <p:attrNameLst>
                                          <p:attrName>style.visibility</p:attrName>
                                        </p:attrNameLst>
                                      </p:cBhvr>
                                      <p:to>
                                        <p:strVal val="visible"/>
                                      </p:to>
                                    </p:set>
                                    <p:anim calcmode="lin" valueType="num">
                                      <p:cBhvr additive="base">
                                        <p:cTn id="105" dur="500" fill="hold"/>
                                        <p:tgtEl>
                                          <p:spTgt spid="28"/>
                                        </p:tgtEl>
                                        <p:attrNameLst>
                                          <p:attrName>ppt_x</p:attrName>
                                        </p:attrNameLst>
                                      </p:cBhvr>
                                      <p:tavLst>
                                        <p:tav tm="0">
                                          <p:val>
                                            <p:strVal val="#ppt_x"/>
                                          </p:val>
                                        </p:tav>
                                        <p:tav tm="100000">
                                          <p:val>
                                            <p:strVal val="#ppt_x"/>
                                          </p:val>
                                        </p:tav>
                                      </p:tavLst>
                                    </p:anim>
                                    <p:anim calcmode="lin" valueType="num">
                                      <p:cBhvr additive="base">
                                        <p:cTn id="106" dur="500" fill="hold"/>
                                        <p:tgtEl>
                                          <p:spTgt spid="28"/>
                                        </p:tgtEl>
                                        <p:attrNameLst>
                                          <p:attrName>ppt_y</p:attrName>
                                        </p:attrNameLst>
                                      </p:cBhvr>
                                      <p:tavLst>
                                        <p:tav tm="0">
                                          <p:val>
                                            <p:strVal val="#ppt_y+0.1"/>
                                          </p:val>
                                        </p:tav>
                                        <p:tav tm="100000">
                                          <p:val>
                                            <p:strVal val="#ppt_y"/>
                                          </p:val>
                                        </p:tav>
                                      </p:tavLst>
                                    </p:anim>
                                    <p:animEffect transition="in" filter="fade">
                                      <p:cBhvr>
                                        <p:cTn id="107" dur="500"/>
                                        <p:tgtEl>
                                          <p:spTgt spid="28"/>
                                        </p:tgtEl>
                                      </p:cBhvr>
                                    </p:animEffect>
                                  </p:childTnLst>
                                </p:cTn>
                              </p:par>
                              <p:par>
                                <p:cTn id="113" presetID="2" presetClass="entr" presetSubtype="4" fill="hold" grpId="0" nodeType="withEffect">
                                  <p:stCondLst>
                                    <p:cond delay="90"/>
                                  </p:stCondLst>
                                  <p:childTnLst>
                                    <p:set>
                                      <p:cBhvr>
                                        <p:cTn id="109" dur="1" fill="hold">
                                          <p:stCondLst>
                                            <p:cond delay="0"/>
                                          </p:stCondLst>
                                        </p:cTn>
                                        <p:tgtEl>
                                          <p:spTgt spid="33"/>
                                        </p:tgtEl>
                                        <p:attrNameLst>
                                          <p:attrName>style.visibility</p:attrName>
                                        </p:attrNameLst>
                                      </p:cBhvr>
                                      <p:to>
                                        <p:strVal val="visible"/>
                                      </p:to>
                                    </p:set>
                                    <p:anim calcmode="lin" valueType="num">
                                      <p:cBhvr additive="base">
                                        <p:cTn id="110" dur="500" fill="hold"/>
                                        <p:tgtEl>
                                          <p:spTgt spid="33"/>
                                        </p:tgtEl>
                                        <p:attrNameLst>
                                          <p:attrName>ppt_x</p:attrName>
                                        </p:attrNameLst>
                                      </p:cBhvr>
                                      <p:tavLst>
                                        <p:tav tm="0">
                                          <p:val>
                                            <p:strVal val="#ppt_x"/>
                                          </p:val>
                                        </p:tav>
                                        <p:tav tm="100000">
                                          <p:val>
                                            <p:strVal val="#ppt_x"/>
                                          </p:val>
                                        </p:tav>
                                      </p:tavLst>
                                    </p:anim>
                                    <p:anim calcmode="lin" valueType="num">
                                      <p:cBhvr additive="base">
                                        <p:cTn id="111" dur="500" fill="hold"/>
                                        <p:tgtEl>
                                          <p:spTgt spid="33"/>
                                        </p:tgtEl>
                                        <p:attrNameLst>
                                          <p:attrName>ppt_y</p:attrName>
                                        </p:attrNameLst>
                                      </p:cBhvr>
                                      <p:tavLst>
                                        <p:tav tm="0">
                                          <p:val>
                                            <p:strVal val="#ppt_y+0.1"/>
                                          </p:val>
                                        </p:tav>
                                        <p:tav tm="100000">
                                          <p:val>
                                            <p:strVal val="#ppt_y"/>
                                          </p:val>
                                        </p:tav>
                                      </p:tavLst>
                                    </p:anim>
                                    <p:animEffect transition="in" filter="fade">
                                      <p:cBhvr>
                                        <p:cTn id="112" dur="500"/>
                                        <p:tgtEl>
                                          <p:spTgt spid="33"/>
                                        </p:tgtEl>
                                      </p:cBhvr>
                                    </p:animEffect>
                                  </p:childTnLst>
                                </p:cTn>
                              </p:par>
                              <p:par>
                                <p:cTn id="118" presetID="2" presetClass="entr" presetSubtype="4" fill="hold" grpId="0" nodeType="withEffect">
                                  <p:stCondLst>
                                    <p:cond delay="180"/>
                                  </p:stCondLst>
                                  <p:childTnLst>
                                    <p:set>
                                      <p:cBhvr>
                                        <p:cTn id="114" dur="1" fill="hold">
                                          <p:stCondLst>
                                            <p:cond delay="0"/>
                                          </p:stCondLst>
                                        </p:cTn>
                                        <p:tgtEl>
                                          <p:spTgt spid="29"/>
                                        </p:tgtEl>
                                        <p:attrNameLst>
                                          <p:attrName>style.visibility</p:attrName>
                                        </p:attrNameLst>
                                      </p:cBhvr>
                                      <p:to>
                                        <p:strVal val="visible"/>
                                      </p:to>
                                    </p:set>
                                    <p:anim calcmode="lin" valueType="num">
                                      <p:cBhvr additive="base">
                                        <p:cTn id="115" dur="500" fill="hold"/>
                                        <p:tgtEl>
                                          <p:spTgt spid="29"/>
                                        </p:tgtEl>
                                        <p:attrNameLst>
                                          <p:attrName>ppt_x</p:attrName>
                                        </p:attrNameLst>
                                      </p:cBhvr>
                                      <p:tavLst>
                                        <p:tav tm="0">
                                          <p:val>
                                            <p:strVal val="#ppt_x"/>
                                          </p:val>
                                        </p:tav>
                                        <p:tav tm="100000">
                                          <p:val>
                                            <p:strVal val="#ppt_x"/>
                                          </p:val>
                                        </p:tav>
                                      </p:tavLst>
                                    </p:anim>
                                    <p:anim calcmode="lin" valueType="num">
                                      <p:cBhvr additive="base">
                                        <p:cTn id="116" dur="500" fill="hold"/>
                                        <p:tgtEl>
                                          <p:spTgt spid="29"/>
                                        </p:tgtEl>
                                        <p:attrNameLst>
                                          <p:attrName>ppt_y</p:attrName>
                                        </p:attrNameLst>
                                      </p:cBhvr>
                                      <p:tavLst>
                                        <p:tav tm="0">
                                          <p:val>
                                            <p:strVal val="#ppt_y+0.1"/>
                                          </p:val>
                                        </p:tav>
                                        <p:tav tm="100000">
                                          <p:val>
                                            <p:strVal val="#ppt_y"/>
                                          </p:val>
                                        </p:tav>
                                      </p:tavLst>
                                    </p:anim>
                                    <p:animEffect transition="in" filter="fade">
                                      <p:cBhvr>
                                        <p:cTn id="117" dur="500"/>
                                        <p:tgtEl>
                                          <p:spTgt spid="29"/>
                                        </p:tgtEl>
                                      </p:cBhvr>
                                    </p:animEffect>
                                  </p:childTnLst>
                                </p:cTn>
                              </p:par>
                              <p:par>
                                <p:cTn id="123" presetID="2" presetClass="entr" presetSubtype="4" fill="hold" grpId="0" nodeType="withEffect">
                                  <p:stCondLst>
                                    <p:cond delay="180"/>
                                  </p:stCondLst>
                                  <p:childTnLst>
                                    <p:set>
                                      <p:cBhvr>
                                        <p:cTn id="119" dur="1" fill="hold">
                                          <p:stCondLst>
                                            <p:cond delay="0"/>
                                          </p:stCondLst>
                                        </p:cTn>
                                        <p:tgtEl>
                                          <p:spTgt spid="34"/>
                                        </p:tgtEl>
                                        <p:attrNameLst>
                                          <p:attrName>style.visibility</p:attrName>
                                        </p:attrNameLst>
                                      </p:cBhvr>
                                      <p:to>
                                        <p:strVal val="visible"/>
                                      </p:to>
                                    </p:set>
                                    <p:anim calcmode="lin" valueType="num">
                                      <p:cBhvr additive="base">
                                        <p:cTn id="120" dur="500" fill="hold"/>
                                        <p:tgtEl>
                                          <p:spTgt spid="34"/>
                                        </p:tgtEl>
                                        <p:attrNameLst>
                                          <p:attrName>ppt_x</p:attrName>
                                        </p:attrNameLst>
                                      </p:cBhvr>
                                      <p:tavLst>
                                        <p:tav tm="0">
                                          <p:val>
                                            <p:strVal val="#ppt_x"/>
                                          </p:val>
                                        </p:tav>
                                        <p:tav tm="100000">
                                          <p:val>
                                            <p:strVal val="#ppt_x"/>
                                          </p:val>
                                        </p:tav>
                                      </p:tavLst>
                                    </p:anim>
                                    <p:anim calcmode="lin" valueType="num">
                                      <p:cBhvr additive="base">
                                        <p:cTn id="121" dur="500" fill="hold"/>
                                        <p:tgtEl>
                                          <p:spTgt spid="34"/>
                                        </p:tgtEl>
                                        <p:attrNameLst>
                                          <p:attrName>ppt_y</p:attrName>
                                        </p:attrNameLst>
                                      </p:cBhvr>
                                      <p:tavLst>
                                        <p:tav tm="0">
                                          <p:val>
                                            <p:strVal val="#ppt_y+0.1"/>
                                          </p:val>
                                        </p:tav>
                                        <p:tav tm="100000">
                                          <p:val>
                                            <p:strVal val="#ppt_y"/>
                                          </p:val>
                                        </p:tav>
                                      </p:tavLst>
                                    </p:anim>
                                    <p:animEffect transition="in" filter="fade">
                                      <p:cBhvr>
                                        <p:cTn id="122" dur="500"/>
                                        <p:tgtEl>
                                          <p:spTgt spid="34"/>
                                        </p:tgtEl>
                                      </p:cBhvr>
                                    </p:animEffect>
                                  </p:childTnLst>
                                </p:cTn>
                              </p:par>
                              <p:par>
                                <p:cTn id="128" presetID="2" presetClass="entr" presetSubtype="4" fill="hold" grpId="0" nodeType="withEffect">
                                  <p:stCondLst>
                                    <p:cond delay="270"/>
                                  </p:stCondLst>
                                  <p:childTnLst>
                                    <p:set>
                                      <p:cBhvr>
                                        <p:cTn id="124" dur="1" fill="hold">
                                          <p:stCondLst>
                                            <p:cond delay="0"/>
                                          </p:stCondLst>
                                        </p:cTn>
                                        <p:tgtEl>
                                          <p:spTgt spid="30"/>
                                        </p:tgtEl>
                                        <p:attrNameLst>
                                          <p:attrName>style.visibility</p:attrName>
                                        </p:attrNameLst>
                                      </p:cBhvr>
                                      <p:to>
                                        <p:strVal val="visible"/>
                                      </p:to>
                                    </p:set>
                                    <p:anim calcmode="lin" valueType="num">
                                      <p:cBhvr additive="base">
                                        <p:cTn id="125" dur="500" fill="hold"/>
                                        <p:tgtEl>
                                          <p:spTgt spid="30"/>
                                        </p:tgtEl>
                                        <p:attrNameLst>
                                          <p:attrName>ppt_x</p:attrName>
                                        </p:attrNameLst>
                                      </p:cBhvr>
                                      <p:tavLst>
                                        <p:tav tm="0">
                                          <p:val>
                                            <p:strVal val="#ppt_x"/>
                                          </p:val>
                                        </p:tav>
                                        <p:tav tm="100000">
                                          <p:val>
                                            <p:strVal val="#ppt_x"/>
                                          </p:val>
                                        </p:tav>
                                      </p:tavLst>
                                    </p:anim>
                                    <p:anim calcmode="lin" valueType="num">
                                      <p:cBhvr additive="base">
                                        <p:cTn id="126" dur="500" fill="hold"/>
                                        <p:tgtEl>
                                          <p:spTgt spid="30"/>
                                        </p:tgtEl>
                                        <p:attrNameLst>
                                          <p:attrName>ppt_y</p:attrName>
                                        </p:attrNameLst>
                                      </p:cBhvr>
                                      <p:tavLst>
                                        <p:tav tm="0">
                                          <p:val>
                                            <p:strVal val="#ppt_y+0.1"/>
                                          </p:val>
                                        </p:tav>
                                        <p:tav tm="100000">
                                          <p:val>
                                            <p:strVal val="#ppt_y"/>
                                          </p:val>
                                        </p:tav>
                                      </p:tavLst>
                                    </p:anim>
                                    <p:animEffect transition="in" filter="fade">
                                      <p:cBhvr>
                                        <p:cTn id="127" dur="500"/>
                                        <p:tgtEl>
                                          <p:spTgt spid="30"/>
                                        </p:tgtEl>
                                      </p:cBhvr>
                                    </p:animEffect>
                                  </p:childTnLst>
                                </p:cTn>
                              </p:par>
                              <p:par>
                                <p:cTn id="133" presetID="2" presetClass="entr" presetSubtype="4" fill="hold" grpId="0" nodeType="withEffect">
                                  <p:stCondLst>
                                    <p:cond delay="27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childTnLst>
                          </p:cTn>
                        </p:par>
                      </p:childTnLst>
                    </p:cTn>
                  </p:par>
                  <p:par>
                    <p:cTn id="134" fill="hold">
                      <p:stCondLst>
                        <p:cond delay="indefinite"/>
                      </p:stCondLst>
                      <p:childTnLst>
                        <p:par>
                          <p:cTn id="135" fill="hold">
                            <p:stCondLst>
                              <p:cond delay="0"/>
                            </p:stCondLst>
                            <p:childTnLst>
                              <p:par>
                                <p:cTn id="140" presetID="2" presetClass="entr" presetSubtype="4" fill="hold" grpId="0" nodeType="clickEffect">
                                  <p:stCondLst>
                                    <p:cond delay="0"/>
                                  </p:stCondLst>
                                  <p:childTnLst>
                                    <p:set>
                                      <p:cBhvr>
                                        <p:cTn id="136" dur="1" fill="hold">
                                          <p:stCondLst>
                                            <p:cond delay="0"/>
                                          </p:stCondLst>
                                        </p:cTn>
                                        <p:tgtEl>
                                          <p:spTgt spid="36"/>
                                        </p:tgtEl>
                                        <p:attrNameLst>
                                          <p:attrName>style.visibility</p:attrName>
                                        </p:attrNameLst>
                                      </p:cBhvr>
                                      <p:to>
                                        <p:strVal val="visible"/>
                                      </p:to>
                                    </p:set>
                                    <p:anim calcmode="lin" valueType="num">
                                      <p:cBhvr additive="base">
                                        <p:cTn id="137" dur="500" fill="hold"/>
                                        <p:tgtEl>
                                          <p:spTgt spid="36"/>
                                        </p:tgtEl>
                                        <p:attrNameLst>
                                          <p:attrName>ppt_x</p:attrName>
                                        </p:attrNameLst>
                                      </p:cBhvr>
                                      <p:tavLst>
                                        <p:tav tm="0">
                                          <p:val>
                                            <p:strVal val="#ppt_x"/>
                                          </p:val>
                                        </p:tav>
                                        <p:tav tm="100000">
                                          <p:val>
                                            <p:strVal val="#ppt_x"/>
                                          </p:val>
                                        </p:tav>
                                      </p:tavLst>
                                    </p:anim>
                                    <p:anim calcmode="lin" valueType="num">
                                      <p:cBhvr additive="base">
                                        <p:cTn id="138" dur="500" fill="hold"/>
                                        <p:tgtEl>
                                          <p:spTgt spid="36"/>
                                        </p:tgtEl>
                                        <p:attrNameLst>
                                          <p:attrName>ppt_y</p:attrName>
                                        </p:attrNameLst>
                                      </p:cBhvr>
                                      <p:tavLst>
                                        <p:tav tm="0">
                                          <p:val>
                                            <p:strVal val="#ppt_y+0.1"/>
                                          </p:val>
                                        </p:tav>
                                        <p:tav tm="100000">
                                          <p:val>
                                            <p:strVal val="#ppt_y"/>
                                          </p:val>
                                        </p:tav>
                                      </p:tavLst>
                                    </p:anim>
                                    <p:animEffect transition="in" filter="fade">
                                      <p:cBhvr>
                                        <p:cTn id="139" dur="500"/>
                                        <p:tgtEl>
                                          <p:spTgt spid="36"/>
                                        </p:tgtEl>
                                      </p:cBhvr>
                                    </p:animEffect>
                                  </p:childTnLst>
                                </p:cTn>
                              </p:par>
                              <p:par>
                                <p:cTn id="145" presetID="2" presetClass="entr" presetSubtype="4" fill="hold" grpId="0" nodeType="withEffect">
                                  <p:stCondLst>
                                    <p:cond delay="0"/>
                                  </p:stCondLst>
                                  <p:childTnLst>
                                    <p:set>
                                      <p:cBhvr>
                                        <p:cTn id="141" dur="1" fill="hold">
                                          <p:stCondLst>
                                            <p:cond delay="0"/>
                                          </p:stCondLst>
                                        </p:cTn>
                                        <p:tgtEl>
                                          <p:spTgt spid="37"/>
                                        </p:tgtEl>
                                        <p:attrNameLst>
                                          <p:attrName>style.visibility</p:attrName>
                                        </p:attrNameLst>
                                      </p:cBhvr>
                                      <p:to>
                                        <p:strVal val="visible"/>
                                      </p:to>
                                    </p:set>
                                    <p:anim calcmode="lin" valueType="num">
                                      <p:cBhvr additive="base">
                                        <p:cTn id="142" dur="500" fill="hold"/>
                                        <p:tgtEl>
                                          <p:spTgt spid="37"/>
                                        </p:tgtEl>
                                        <p:attrNameLst>
                                          <p:attrName>ppt_x</p:attrName>
                                        </p:attrNameLst>
                                      </p:cBhvr>
                                      <p:tavLst>
                                        <p:tav tm="0">
                                          <p:val>
                                            <p:strVal val="#ppt_x"/>
                                          </p:val>
                                        </p:tav>
                                        <p:tav tm="100000">
                                          <p:val>
                                            <p:strVal val="#ppt_x"/>
                                          </p:val>
                                        </p:tav>
                                      </p:tavLst>
                                    </p:anim>
                                    <p:anim calcmode="lin" valueType="num">
                                      <p:cBhvr additive="base">
                                        <p:cTn id="143" dur="500" fill="hold"/>
                                        <p:tgtEl>
                                          <p:spTgt spid="37"/>
                                        </p:tgtEl>
                                        <p:attrNameLst>
                                          <p:attrName>ppt_y</p:attrName>
                                        </p:attrNameLst>
                                      </p:cBhvr>
                                      <p:tavLst>
                                        <p:tav tm="0">
                                          <p:val>
                                            <p:strVal val="#ppt_y+0.1"/>
                                          </p:val>
                                        </p:tav>
                                        <p:tav tm="100000">
                                          <p:val>
                                            <p:strVal val="#ppt_y"/>
                                          </p:val>
                                        </p:tav>
                                      </p:tavLst>
                                    </p:anim>
                                    <p:animEffect transition="in" filter="fade">
                                      <p:cBhvr>
                                        <p:cTn id="144" dur="500"/>
                                        <p:tgtEl>
                                          <p:spTgt spid="37"/>
                                        </p:tgtEl>
                                      </p:cBhvr>
                                    </p:animEffect>
                                  </p:childTnLst>
                                </p:cTn>
                              </p:par>
                              <p:par>
                                <p:cTn id="150" presetID="2" presetClass="entr" presetSubtype="4" fill="hold" grpId="0" nodeType="withEffect">
                                  <p:stCondLst>
                                    <p:cond delay="0"/>
                                  </p:stCondLst>
                                  <p:childTnLst>
                                    <p:set>
                                      <p:cBhvr>
                                        <p:cTn id="146" dur="1" fill="hold">
                                          <p:stCondLst>
                                            <p:cond delay="0"/>
                                          </p:stCondLst>
                                        </p:cTn>
                                        <p:tgtEl>
                                          <p:spTgt spid="38"/>
                                        </p:tgtEl>
                                        <p:attrNameLst>
                                          <p:attrName>style.visibility</p:attrName>
                                        </p:attrNameLst>
                                      </p:cBhvr>
                                      <p:to>
                                        <p:strVal val="visible"/>
                                      </p:to>
                                    </p:set>
                                    <p:anim calcmode="lin" valueType="num">
                                      <p:cBhvr additive="base">
                                        <p:cTn id="147" dur="500" fill="hold"/>
                                        <p:tgtEl>
                                          <p:spTgt spid="38"/>
                                        </p:tgtEl>
                                        <p:attrNameLst>
                                          <p:attrName>ppt_x</p:attrName>
                                        </p:attrNameLst>
                                      </p:cBhvr>
                                      <p:tavLst>
                                        <p:tav tm="0">
                                          <p:val>
                                            <p:strVal val="#ppt_x"/>
                                          </p:val>
                                        </p:tav>
                                        <p:tav tm="100000">
                                          <p:val>
                                            <p:strVal val="#ppt_x"/>
                                          </p:val>
                                        </p:tav>
                                      </p:tavLst>
                                    </p:anim>
                                    <p:anim calcmode="lin" valueType="num">
                                      <p:cBhvr additive="base">
                                        <p:cTn id="148" dur="500" fill="hold"/>
                                        <p:tgtEl>
                                          <p:spTgt spid="38"/>
                                        </p:tgtEl>
                                        <p:attrNameLst>
                                          <p:attrName>ppt_y</p:attrName>
                                        </p:attrNameLst>
                                      </p:cBhvr>
                                      <p:tavLst>
                                        <p:tav tm="0">
                                          <p:val>
                                            <p:strVal val="#ppt_y+0.1"/>
                                          </p:val>
                                        </p:tav>
                                        <p:tav tm="100000">
                                          <p:val>
                                            <p:strVal val="#ppt_y"/>
                                          </p:val>
                                        </p:tav>
                                      </p:tavLst>
                                    </p:anim>
                                    <p:animEffect transition="in" filter="fade">
                                      <p:cBhvr>
                                        <p:cTn id="14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Where Event Streaming Is Used</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Examples from the Apache Kafka documentation</a:t>
            </a:r>
          </a:p>
        </p:txBody>
      </p:sp>
      <p:sp>
        <p:nvSpPr>
          <p:cNvPr id="11" name="a1u_card10"/>
          <p:cNvSpPr/>
          <p:nvPr/>
        </p:nvSpPr>
        <p:spPr>
          <a:xfrm>
            <a:off x="457200" y="1280160"/>
            <a:ext cx="2615184" cy="1325880"/>
          </a:xfrm>
          <a:prstGeom prst="roundRect">
            <a:avLst>
              <a:gd name="adj" fmla="val 827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2615184"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tt12"/>
          <p:cNvSpPr txBox="1"/>
          <p:nvPr/>
        </p:nvSpPr>
        <p:spPr>
          <a:xfrm>
            <a:off x="603504" y="1389888"/>
            <a:ext cx="2340864" cy="256032"/>
          </a:xfrm>
          <a:prstGeom prst="rect">
            <a:avLst/>
          </a:prstGeom>
          <a:noFill/>
        </p:spPr>
        <p:txBody>
          <a:bodyPr wrap="square" lIns="0" tIns="0" rIns="0" bIns="0" anchor="ctr">
            <a:spAutoFit/>
          </a:bodyPr>
          <a:lstStyle/>
          <a:p>
            <a:pPr algn="l"/>
            <a:r>
              <a:rPr sz="1150" b="1">
                <a:solidFill>
                  <a:srgbClr val="1C1917"/>
                </a:solidFill>
                <a:latin typeface="Segoe UI"/>
              </a:rPr>
              <a:t>Payments and trading</a:t>
            </a:r>
          </a:p>
        </p:txBody>
      </p:sp>
      <p:sp>
        <p:nvSpPr>
          <p:cNvPr id="14" name="a1ud60_tb13"/>
          <p:cNvSpPr txBox="1"/>
          <p:nvPr/>
        </p:nvSpPr>
        <p:spPr>
          <a:xfrm>
            <a:off x="603504" y="1682495"/>
            <a:ext cx="2340864" cy="868680"/>
          </a:xfrm>
          <a:prstGeom prst="rect">
            <a:avLst/>
          </a:prstGeom>
          <a:noFill/>
        </p:spPr>
        <p:txBody>
          <a:bodyPr wrap="square" lIns="0" tIns="0" rIns="0" bIns="0" anchor="t">
            <a:spAutoFit/>
          </a:bodyPr>
          <a:lstStyle/>
          <a:p>
            <a:pPr algn="l"/>
            <a:r>
              <a:rPr sz="900" b="0">
                <a:solidFill>
                  <a:srgbClr val="44403C"/>
                </a:solidFill>
                <a:latin typeface="Segoe UI"/>
              </a:rPr>
              <a:t>banks, stock exchanges and insurers process transactions in real time</a:t>
            </a:r>
          </a:p>
        </p:txBody>
      </p:sp>
      <p:sp>
        <p:nvSpPr>
          <p:cNvPr id="15" name="a1u_card14"/>
          <p:cNvSpPr/>
          <p:nvPr/>
        </p:nvSpPr>
        <p:spPr>
          <a:xfrm>
            <a:off x="3264408" y="1280160"/>
            <a:ext cx="2615184" cy="1325880"/>
          </a:xfrm>
          <a:prstGeom prst="roundRect">
            <a:avLst>
              <a:gd name="adj" fmla="val 827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_acc15"/>
          <p:cNvSpPr/>
          <p:nvPr/>
        </p:nvSpPr>
        <p:spPr>
          <a:xfrm>
            <a:off x="3264408" y="1280160"/>
            <a:ext cx="2615184"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_tt16"/>
          <p:cNvSpPr txBox="1"/>
          <p:nvPr/>
        </p:nvSpPr>
        <p:spPr>
          <a:xfrm>
            <a:off x="3410712" y="1389888"/>
            <a:ext cx="2340864" cy="256032"/>
          </a:xfrm>
          <a:prstGeom prst="rect">
            <a:avLst/>
          </a:prstGeom>
          <a:noFill/>
        </p:spPr>
        <p:txBody>
          <a:bodyPr wrap="square" lIns="0" tIns="0" rIns="0" bIns="0" anchor="ctr">
            <a:spAutoFit/>
          </a:bodyPr>
          <a:lstStyle/>
          <a:p>
            <a:pPr algn="l"/>
            <a:r>
              <a:rPr sz="1150" b="1">
                <a:solidFill>
                  <a:srgbClr val="1C1917"/>
                </a:solidFill>
                <a:latin typeface="Segoe UI"/>
              </a:rPr>
              <a:t>Fleets and shipments</a:t>
            </a:r>
          </a:p>
        </p:txBody>
      </p:sp>
      <p:sp>
        <p:nvSpPr>
          <p:cNvPr id="18" name="a1ud60_tb17"/>
          <p:cNvSpPr txBox="1"/>
          <p:nvPr/>
        </p:nvSpPr>
        <p:spPr>
          <a:xfrm>
            <a:off x="3410712" y="1682495"/>
            <a:ext cx="2340864" cy="868680"/>
          </a:xfrm>
          <a:prstGeom prst="rect">
            <a:avLst/>
          </a:prstGeom>
          <a:noFill/>
        </p:spPr>
        <p:txBody>
          <a:bodyPr wrap="square" lIns="0" tIns="0" rIns="0" bIns="0" anchor="t">
            <a:spAutoFit/>
          </a:bodyPr>
          <a:lstStyle/>
          <a:p>
            <a:pPr algn="l"/>
            <a:r>
              <a:rPr sz="900" b="0">
                <a:solidFill>
                  <a:srgbClr val="44403C"/>
                </a:solidFill>
                <a:latin typeface="Segoe UI"/>
              </a:rPr>
              <a:t>track cars, trucks and deliveries as they move</a:t>
            </a:r>
          </a:p>
        </p:txBody>
      </p:sp>
      <p:sp>
        <p:nvSpPr>
          <p:cNvPr id="19" name="a1u_card18"/>
          <p:cNvSpPr/>
          <p:nvPr/>
        </p:nvSpPr>
        <p:spPr>
          <a:xfrm>
            <a:off x="6071616" y="1280160"/>
            <a:ext cx="2615184" cy="1325880"/>
          </a:xfrm>
          <a:prstGeom prst="roundRect">
            <a:avLst>
              <a:gd name="adj" fmla="val 827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_acc19"/>
          <p:cNvSpPr/>
          <p:nvPr/>
        </p:nvSpPr>
        <p:spPr>
          <a:xfrm>
            <a:off x="6071616" y="1280160"/>
            <a:ext cx="2615184"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_tt20"/>
          <p:cNvSpPr txBox="1"/>
          <p:nvPr/>
        </p:nvSpPr>
        <p:spPr>
          <a:xfrm>
            <a:off x="6217920" y="1389888"/>
            <a:ext cx="2340864" cy="256032"/>
          </a:xfrm>
          <a:prstGeom prst="rect">
            <a:avLst/>
          </a:prstGeom>
          <a:noFill/>
        </p:spPr>
        <p:txBody>
          <a:bodyPr wrap="square" lIns="0" tIns="0" rIns="0" bIns="0" anchor="ctr">
            <a:spAutoFit/>
          </a:bodyPr>
          <a:lstStyle/>
          <a:p>
            <a:pPr algn="l"/>
            <a:r>
              <a:rPr sz="1150" b="1">
                <a:solidFill>
                  <a:srgbClr val="1C1917"/>
                </a:solidFill>
                <a:latin typeface="Segoe UI"/>
              </a:rPr>
              <a:t>IoT and factories</a:t>
            </a:r>
          </a:p>
        </p:txBody>
      </p:sp>
      <p:sp>
        <p:nvSpPr>
          <p:cNvPr id="22" name="a1ud60_tb21"/>
          <p:cNvSpPr txBox="1"/>
          <p:nvPr/>
        </p:nvSpPr>
        <p:spPr>
          <a:xfrm>
            <a:off x="6217920" y="1682495"/>
            <a:ext cx="2340864" cy="868680"/>
          </a:xfrm>
          <a:prstGeom prst="rect">
            <a:avLst/>
          </a:prstGeom>
          <a:noFill/>
        </p:spPr>
        <p:txBody>
          <a:bodyPr wrap="square" lIns="0" tIns="0" rIns="0" bIns="0" anchor="t">
            <a:spAutoFit/>
          </a:bodyPr>
          <a:lstStyle/>
          <a:p>
            <a:pPr algn="l"/>
            <a:r>
              <a:rPr sz="900" b="0">
                <a:solidFill>
                  <a:srgbClr val="44403C"/>
                </a:solidFill>
                <a:latin typeface="Segoe UI"/>
              </a:rPr>
              <a:t>capture sensor data from machines and wind parks</a:t>
            </a:r>
          </a:p>
        </p:txBody>
      </p:sp>
      <p:sp>
        <p:nvSpPr>
          <p:cNvPr id="23" name="a2u_card22"/>
          <p:cNvSpPr/>
          <p:nvPr/>
        </p:nvSpPr>
        <p:spPr>
          <a:xfrm>
            <a:off x="457200" y="2761488"/>
            <a:ext cx="2615184" cy="1325880"/>
          </a:xfrm>
          <a:prstGeom prst="roundRect">
            <a:avLst>
              <a:gd name="adj" fmla="val 827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_acc23"/>
          <p:cNvSpPr/>
          <p:nvPr/>
        </p:nvSpPr>
        <p:spPr>
          <a:xfrm>
            <a:off x="457200" y="2761488"/>
            <a:ext cx="2615184"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u_tt24"/>
          <p:cNvSpPr txBox="1"/>
          <p:nvPr/>
        </p:nvSpPr>
        <p:spPr>
          <a:xfrm>
            <a:off x="603504" y="2871216"/>
            <a:ext cx="2340864" cy="256032"/>
          </a:xfrm>
          <a:prstGeom prst="rect">
            <a:avLst/>
          </a:prstGeom>
          <a:noFill/>
        </p:spPr>
        <p:txBody>
          <a:bodyPr wrap="square" lIns="0" tIns="0" rIns="0" bIns="0" anchor="ctr">
            <a:spAutoFit/>
          </a:bodyPr>
          <a:lstStyle/>
          <a:p>
            <a:pPr algn="l"/>
            <a:r>
              <a:rPr sz="1150" b="1">
                <a:solidFill>
                  <a:srgbClr val="1C1917"/>
                </a:solidFill>
                <a:latin typeface="Segoe UI"/>
              </a:rPr>
              <a:t>Customer interactions</a:t>
            </a:r>
          </a:p>
        </p:txBody>
      </p:sp>
      <p:sp>
        <p:nvSpPr>
          <p:cNvPr id="26" name="a2ud60_tb25"/>
          <p:cNvSpPr txBox="1"/>
          <p:nvPr/>
        </p:nvSpPr>
        <p:spPr>
          <a:xfrm>
            <a:off x="603504" y="3163824"/>
            <a:ext cx="2340864" cy="868680"/>
          </a:xfrm>
          <a:prstGeom prst="rect">
            <a:avLst/>
          </a:prstGeom>
          <a:noFill/>
        </p:spPr>
        <p:txBody>
          <a:bodyPr wrap="square" lIns="0" tIns="0" rIns="0" bIns="0" anchor="t">
            <a:spAutoFit/>
          </a:bodyPr>
          <a:lstStyle/>
          <a:p>
            <a:pPr algn="l"/>
            <a:r>
              <a:rPr sz="900" b="0">
                <a:solidFill>
                  <a:srgbClr val="44403C"/>
                </a:solidFill>
                <a:latin typeface="Segoe UI"/>
              </a:rPr>
              <a:t>react to orders and clicks in retail, travel and mobile apps</a:t>
            </a:r>
          </a:p>
        </p:txBody>
      </p:sp>
      <p:sp>
        <p:nvSpPr>
          <p:cNvPr id="27" name="a2u_card26"/>
          <p:cNvSpPr/>
          <p:nvPr/>
        </p:nvSpPr>
        <p:spPr>
          <a:xfrm>
            <a:off x="3264408" y="2761488"/>
            <a:ext cx="2615184" cy="1325880"/>
          </a:xfrm>
          <a:prstGeom prst="roundRect">
            <a:avLst>
              <a:gd name="adj" fmla="val 827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_acc27"/>
          <p:cNvSpPr/>
          <p:nvPr/>
        </p:nvSpPr>
        <p:spPr>
          <a:xfrm>
            <a:off x="3264408" y="2761488"/>
            <a:ext cx="2615184"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_tt28"/>
          <p:cNvSpPr txBox="1"/>
          <p:nvPr/>
        </p:nvSpPr>
        <p:spPr>
          <a:xfrm>
            <a:off x="3410712" y="2871216"/>
            <a:ext cx="2340864" cy="256032"/>
          </a:xfrm>
          <a:prstGeom prst="rect">
            <a:avLst/>
          </a:prstGeom>
          <a:noFill/>
        </p:spPr>
        <p:txBody>
          <a:bodyPr wrap="square" lIns="0" tIns="0" rIns="0" bIns="0" anchor="ctr">
            <a:spAutoFit/>
          </a:bodyPr>
          <a:lstStyle/>
          <a:p>
            <a:pPr algn="l"/>
            <a:r>
              <a:rPr sz="1150" b="1">
                <a:solidFill>
                  <a:srgbClr val="1C1917"/>
                </a:solidFill>
                <a:latin typeface="Segoe UI"/>
              </a:rPr>
              <a:t>Healthcare</a:t>
            </a:r>
          </a:p>
        </p:txBody>
      </p:sp>
      <p:sp>
        <p:nvSpPr>
          <p:cNvPr id="30" name="a2ud60_tb29"/>
          <p:cNvSpPr txBox="1"/>
          <p:nvPr/>
        </p:nvSpPr>
        <p:spPr>
          <a:xfrm>
            <a:off x="3410712" y="3163824"/>
            <a:ext cx="2340864" cy="868680"/>
          </a:xfrm>
          <a:prstGeom prst="rect">
            <a:avLst/>
          </a:prstGeom>
          <a:noFill/>
        </p:spPr>
        <p:txBody>
          <a:bodyPr wrap="square" lIns="0" tIns="0" rIns="0" bIns="0" anchor="t">
            <a:spAutoFit/>
          </a:bodyPr>
          <a:lstStyle/>
          <a:p>
            <a:pPr algn="l"/>
            <a:r>
              <a:rPr sz="900" b="0">
                <a:solidFill>
                  <a:srgbClr val="44403C"/>
                </a:solidFill>
                <a:latin typeface="Segoe UI"/>
              </a:rPr>
              <a:t>monitor patients and predict changes in their condition</a:t>
            </a:r>
          </a:p>
        </p:txBody>
      </p:sp>
      <p:sp>
        <p:nvSpPr>
          <p:cNvPr id="31" name="a2u_card30"/>
          <p:cNvSpPr/>
          <p:nvPr/>
        </p:nvSpPr>
        <p:spPr>
          <a:xfrm>
            <a:off x="6071616" y="2761488"/>
            <a:ext cx="2615184" cy="1325880"/>
          </a:xfrm>
          <a:prstGeom prst="roundRect">
            <a:avLst>
              <a:gd name="adj" fmla="val 827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u_acc31"/>
          <p:cNvSpPr/>
          <p:nvPr/>
        </p:nvSpPr>
        <p:spPr>
          <a:xfrm>
            <a:off x="6071616" y="2761488"/>
            <a:ext cx="2615184" cy="457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u_tt32"/>
          <p:cNvSpPr txBox="1"/>
          <p:nvPr/>
        </p:nvSpPr>
        <p:spPr>
          <a:xfrm>
            <a:off x="6217920" y="2871216"/>
            <a:ext cx="2340864" cy="256032"/>
          </a:xfrm>
          <a:prstGeom prst="rect">
            <a:avLst/>
          </a:prstGeom>
          <a:noFill/>
        </p:spPr>
        <p:txBody>
          <a:bodyPr wrap="square" lIns="0" tIns="0" rIns="0" bIns="0" anchor="ctr">
            <a:spAutoFit/>
          </a:bodyPr>
          <a:lstStyle/>
          <a:p>
            <a:pPr algn="l"/>
            <a:r>
              <a:rPr sz="1150" b="1">
                <a:solidFill>
                  <a:srgbClr val="1C1917"/>
                </a:solidFill>
                <a:latin typeface="Segoe UI"/>
              </a:rPr>
              <a:t>Company-wide data</a:t>
            </a:r>
          </a:p>
        </p:txBody>
      </p:sp>
      <p:sp>
        <p:nvSpPr>
          <p:cNvPr id="34" name="a2ud60_tb33"/>
          <p:cNvSpPr txBox="1"/>
          <p:nvPr/>
        </p:nvSpPr>
        <p:spPr>
          <a:xfrm>
            <a:off x="6217920" y="3163824"/>
            <a:ext cx="2340864" cy="868680"/>
          </a:xfrm>
          <a:prstGeom prst="rect">
            <a:avLst/>
          </a:prstGeom>
          <a:noFill/>
        </p:spPr>
        <p:txBody>
          <a:bodyPr wrap="square" lIns="0" tIns="0" rIns="0" bIns="0" anchor="t">
            <a:spAutoFit/>
          </a:bodyPr>
          <a:lstStyle/>
          <a:p>
            <a:pPr algn="l"/>
            <a:r>
              <a:rPr sz="900" b="0">
                <a:solidFill>
                  <a:srgbClr val="44403C"/>
                </a:solidFill>
                <a:latin typeface="Segoe UI"/>
              </a:rPr>
              <a:t>connect divisions; the base for microservices</a:t>
            </a:r>
          </a:p>
        </p:txBody>
      </p:sp>
      <p:sp>
        <p:nvSpPr>
          <p:cNvPr id="35" name="ft3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61</a:t>
            </a:r>
          </a:p>
        </p:txBody>
      </p:sp>
      <p:sp>
        <p:nvSpPr>
          <p:cNvPr id="36" name="ft3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ft3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38" name="ft3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ppt_y+0.1"/>
                                          </p:val>
                                        </p:tav>
                                        <p:tav tm="100000">
                                          <p:val>
                                            <p:strVal val="#ppt_y"/>
                                          </p:val>
                                        </p:tav>
                                      </p:tavLst>
                                    </p:anim>
                                    <p:animEffect transition="in" filter="fade">
                                      <p:cBhvr>
                                        <p:cTn id="28" dur="500"/>
                                        <p:tgtEl>
                                          <p:spTgt spid="16"/>
                                        </p:tgtEl>
                                      </p:cBhvr>
                                    </p:animEffect>
                                  </p:childTnLst>
                                </p:cTn>
                              </p:par>
                              <p:par>
                                <p:cTn id="34" presetID="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 calcmode="lin" valueType="num">
                                      <p:cBhvr additive="base">
                                        <p:cTn id="36" dur="500" fill="hold"/>
                                        <p:tgtEl>
                                          <p:spTgt spid="19"/>
                                        </p:tgtEl>
                                        <p:attrNameLst>
                                          <p:attrName>ppt_x</p:attrName>
                                        </p:attrNameLst>
                                      </p:cBhvr>
                                      <p:tavLst>
                                        <p:tav tm="0">
                                          <p:val>
                                            <p:strVal val="#ppt_x"/>
                                          </p:val>
                                        </p:tav>
                                        <p:tav tm="100000">
                                          <p:val>
                                            <p:strVal val="#ppt_x"/>
                                          </p:val>
                                        </p:tav>
                                      </p:tavLst>
                                    </p:anim>
                                    <p:anim calcmode="lin" valueType="num">
                                      <p:cBhvr additive="base">
                                        <p:cTn id="37" dur="500" fill="hold"/>
                                        <p:tgtEl>
                                          <p:spTgt spid="19"/>
                                        </p:tgtEl>
                                        <p:attrNameLst>
                                          <p:attrName>ppt_y</p:attrName>
                                        </p:attrNameLst>
                                      </p:cBhvr>
                                      <p:tavLst>
                                        <p:tav tm="0">
                                          <p:val>
                                            <p:strVal val="#ppt_y+0.1"/>
                                          </p:val>
                                        </p:tav>
                                        <p:tav tm="100000">
                                          <p:val>
                                            <p:strVal val="#ppt_y"/>
                                          </p:val>
                                        </p:tav>
                                      </p:tavLst>
                                    </p:anim>
                                    <p:animEffect transition="in" filter="fade">
                                      <p:cBhvr>
                                        <p:cTn id="38" dur="500"/>
                                        <p:tgtEl>
                                          <p:spTgt spid="19"/>
                                        </p:tgtEl>
                                      </p:cBhvr>
                                    </p:animEffect>
                                  </p:childTnLst>
                                </p:cTn>
                              </p:par>
                              <p:par>
                                <p:cTn id="44" presetID="2" presetClass="entr" presetSubtype="4"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ppt_x"/>
                                          </p:val>
                                        </p:tav>
                                        <p:tav tm="100000">
                                          <p:val>
                                            <p:strVal val="#ppt_x"/>
                                          </p:val>
                                        </p:tav>
                                      </p:tavLst>
                                    </p:anim>
                                    <p:anim calcmode="lin" valueType="num">
                                      <p:cBhvr additive="base">
                                        <p:cTn id="42" dur="500" fill="hold"/>
                                        <p:tgtEl>
                                          <p:spTgt spid="20"/>
                                        </p:tgtEl>
                                        <p:attrNameLst>
                                          <p:attrName>ppt_y</p:attrName>
                                        </p:attrNameLst>
                                      </p:cBhvr>
                                      <p:tavLst>
                                        <p:tav tm="0">
                                          <p:val>
                                            <p:strVal val="#ppt_y+0.1"/>
                                          </p:val>
                                        </p:tav>
                                        <p:tav tm="100000">
                                          <p:val>
                                            <p:strVal val="#ppt_y"/>
                                          </p:val>
                                        </p:tav>
                                      </p:tavLst>
                                    </p:anim>
                                    <p:animEffect transition="in" filter="fade">
                                      <p:cBhvr>
                                        <p:cTn id="43" dur="500"/>
                                        <p:tgtEl>
                                          <p:spTgt spid="20"/>
                                        </p:tgtEl>
                                      </p:cBhvr>
                                    </p:animEffect>
                                  </p:childTnLst>
                                </p:cTn>
                              </p:par>
                              <p:par>
                                <p:cTn id="49" presetID="2" presetClass="entr" presetSubtype="4"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 calcmode="lin" valueType="num">
                                      <p:cBhvr additive="base">
                                        <p:cTn id="46" dur="500" fill="hold"/>
                                        <p:tgtEl>
                                          <p:spTgt spid="21"/>
                                        </p:tgtEl>
                                        <p:attrNameLst>
                                          <p:attrName>ppt_x</p:attrName>
                                        </p:attrNameLst>
                                      </p:cBhvr>
                                      <p:tavLst>
                                        <p:tav tm="0">
                                          <p:val>
                                            <p:strVal val="#ppt_x"/>
                                          </p:val>
                                        </p:tav>
                                        <p:tav tm="100000">
                                          <p:val>
                                            <p:strVal val="#ppt_x"/>
                                          </p:val>
                                        </p:tav>
                                      </p:tavLst>
                                    </p:anim>
                                    <p:anim calcmode="lin" valueType="num">
                                      <p:cBhvr additive="base">
                                        <p:cTn id="47" dur="500" fill="hold"/>
                                        <p:tgtEl>
                                          <p:spTgt spid="21"/>
                                        </p:tgtEl>
                                        <p:attrNameLst>
                                          <p:attrName>ppt_y</p:attrName>
                                        </p:attrNameLst>
                                      </p:cBhvr>
                                      <p:tavLst>
                                        <p:tav tm="0">
                                          <p:val>
                                            <p:strVal val="#ppt_y+0.1"/>
                                          </p:val>
                                        </p:tav>
                                        <p:tav tm="100000">
                                          <p:val>
                                            <p:strVal val="#ppt_y"/>
                                          </p:val>
                                        </p:tav>
                                      </p:tavLst>
                                    </p:anim>
                                    <p:animEffect transition="in" filter="fade">
                                      <p:cBhvr>
                                        <p:cTn id="48" dur="500"/>
                                        <p:tgtEl>
                                          <p:spTgt spid="21"/>
                                        </p:tgtEl>
                                      </p:cBhvr>
                                    </p:animEffect>
                                  </p:childTnLst>
                                </p:cTn>
                              </p:par>
                              <p:par>
                                <p:cTn id="54" presetID="2" presetClass="entr" presetSubtype="4" fill="hold" grpId="0" nodeType="withEffect">
                                  <p:stCondLst>
                                    <p:cond delay="6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ppt_y+0.1"/>
                                          </p:val>
                                        </p:tav>
                                        <p:tav tm="100000">
                                          <p:val>
                                            <p:strVal val="#ppt_y"/>
                                          </p:val>
                                        </p:tav>
                                      </p:tavLst>
                                    </p:anim>
                                    <p:animEffect transition="in" filter="fade">
                                      <p:cBhvr>
                                        <p:cTn id="53" dur="500"/>
                                        <p:tgtEl>
                                          <p:spTgt spid="14"/>
                                        </p:tgtEl>
                                      </p:cBhvr>
                                    </p:animEffect>
                                  </p:childTnLst>
                                </p:cTn>
                              </p:par>
                              <p:par>
                                <p:cTn id="59" presetID="2" presetClass="entr" presetSubtype="4" fill="hold" grpId="0" nodeType="withEffect">
                                  <p:stCondLst>
                                    <p:cond delay="60"/>
                                  </p:stCondLst>
                                  <p:childTnLst>
                                    <p:set>
                                      <p:cBhvr>
                                        <p:cTn id="55" dur="1" fill="hold">
                                          <p:stCondLst>
                                            <p:cond delay="0"/>
                                          </p:stCondLst>
                                        </p:cTn>
                                        <p:tgtEl>
                                          <p:spTgt spid="18"/>
                                        </p:tgtEl>
                                        <p:attrNameLst>
                                          <p:attrName>style.visibility</p:attrName>
                                        </p:attrNameLst>
                                      </p:cBhvr>
                                      <p:to>
                                        <p:strVal val="visible"/>
                                      </p:to>
                                    </p:set>
                                    <p:anim calcmode="lin" valueType="num">
                                      <p:cBhvr additive="base">
                                        <p:cTn id="56" dur="500" fill="hold"/>
                                        <p:tgtEl>
                                          <p:spTgt spid="18"/>
                                        </p:tgtEl>
                                        <p:attrNameLst>
                                          <p:attrName>ppt_x</p:attrName>
                                        </p:attrNameLst>
                                      </p:cBhvr>
                                      <p:tavLst>
                                        <p:tav tm="0">
                                          <p:val>
                                            <p:strVal val="#ppt_x"/>
                                          </p:val>
                                        </p:tav>
                                        <p:tav tm="100000">
                                          <p:val>
                                            <p:strVal val="#ppt_x"/>
                                          </p:val>
                                        </p:tav>
                                      </p:tavLst>
                                    </p:anim>
                                    <p:anim calcmode="lin" valueType="num">
                                      <p:cBhvr additive="base">
                                        <p:cTn id="57" dur="500" fill="hold"/>
                                        <p:tgtEl>
                                          <p:spTgt spid="18"/>
                                        </p:tgtEl>
                                        <p:attrNameLst>
                                          <p:attrName>ppt_y</p:attrName>
                                        </p:attrNameLst>
                                      </p:cBhvr>
                                      <p:tavLst>
                                        <p:tav tm="0">
                                          <p:val>
                                            <p:strVal val="#ppt_y+0.1"/>
                                          </p:val>
                                        </p:tav>
                                        <p:tav tm="100000">
                                          <p:val>
                                            <p:strVal val="#ppt_y"/>
                                          </p:val>
                                        </p:tav>
                                      </p:tavLst>
                                    </p:anim>
                                    <p:animEffect transition="in" filter="fade">
                                      <p:cBhvr>
                                        <p:cTn id="58" dur="500"/>
                                        <p:tgtEl>
                                          <p:spTgt spid="18"/>
                                        </p:tgtEl>
                                      </p:cBhvr>
                                    </p:animEffect>
                                  </p:childTnLst>
                                </p:cTn>
                              </p:par>
                              <p:par>
                                <p:cTn id="64" presetID="2" presetClass="entr" presetSubtype="4" fill="hold" grpId="0" nodeType="withEffect">
                                  <p:stCondLst>
                                    <p:cond delay="6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childTnLst>
                          </p:cTn>
                        </p:par>
                      </p:childTnLst>
                    </p:cTn>
                  </p:par>
                  <p:par>
                    <p:cTn id="65" fill="hold">
                      <p:stCondLst>
                        <p:cond delay="indefinite"/>
                      </p:stCondLst>
                      <p:childTnLst>
                        <p:par>
                          <p:cTn id="66" fill="hold">
                            <p:stCondLst>
                              <p:cond delay="0"/>
                            </p:stCondLst>
                            <p:childTnLst>
                              <p:par>
                                <p:cTn id="71" presetID="2" presetClass="entr" presetSubtype="4" fill="hold" grpId="0" nodeType="click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 calcmode="lin" valueType="num">
                                      <p:cBhvr additive="base">
                                        <p:cTn id="83" dur="500" fill="hold"/>
                                        <p:tgtEl>
                                          <p:spTgt spid="27"/>
                                        </p:tgtEl>
                                        <p:attrNameLst>
                                          <p:attrName>ppt_x</p:attrName>
                                        </p:attrNameLst>
                                      </p:cBhvr>
                                      <p:tavLst>
                                        <p:tav tm="0">
                                          <p:val>
                                            <p:strVal val="#ppt_x"/>
                                          </p:val>
                                        </p:tav>
                                        <p:tav tm="100000">
                                          <p:val>
                                            <p:strVal val="#ppt_x"/>
                                          </p:val>
                                        </p:tav>
                                      </p:tavLst>
                                    </p:anim>
                                    <p:anim calcmode="lin" valueType="num">
                                      <p:cBhvr additive="base">
                                        <p:cTn id="84" dur="500" fill="hold"/>
                                        <p:tgtEl>
                                          <p:spTgt spid="27"/>
                                        </p:tgtEl>
                                        <p:attrNameLst>
                                          <p:attrName>ppt_y</p:attrName>
                                        </p:attrNameLst>
                                      </p:cBhvr>
                                      <p:tavLst>
                                        <p:tav tm="0">
                                          <p:val>
                                            <p:strVal val="#ppt_y+0.1"/>
                                          </p:val>
                                        </p:tav>
                                        <p:tav tm="100000">
                                          <p:val>
                                            <p:strVal val="#ppt_y"/>
                                          </p:val>
                                        </p:tav>
                                      </p:tavLst>
                                    </p:anim>
                                    <p:animEffect transition="in" filter="fade">
                                      <p:cBhvr>
                                        <p:cTn id="85" dur="500"/>
                                        <p:tgtEl>
                                          <p:spTgt spid="27"/>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 calcmode="lin" valueType="num">
                                      <p:cBhvr additive="base">
                                        <p:cTn id="88" dur="500" fill="hold"/>
                                        <p:tgtEl>
                                          <p:spTgt spid="28"/>
                                        </p:tgtEl>
                                        <p:attrNameLst>
                                          <p:attrName>ppt_x</p:attrName>
                                        </p:attrNameLst>
                                      </p:cBhvr>
                                      <p:tavLst>
                                        <p:tav tm="0">
                                          <p:val>
                                            <p:strVal val="#ppt_x"/>
                                          </p:val>
                                        </p:tav>
                                        <p:tav tm="100000">
                                          <p:val>
                                            <p:strVal val="#ppt_x"/>
                                          </p:val>
                                        </p:tav>
                                      </p:tavLst>
                                    </p:anim>
                                    <p:anim calcmode="lin" valueType="num">
                                      <p:cBhvr additive="base">
                                        <p:cTn id="89" dur="500" fill="hold"/>
                                        <p:tgtEl>
                                          <p:spTgt spid="28"/>
                                        </p:tgtEl>
                                        <p:attrNameLst>
                                          <p:attrName>ppt_y</p:attrName>
                                        </p:attrNameLst>
                                      </p:cBhvr>
                                      <p:tavLst>
                                        <p:tav tm="0">
                                          <p:val>
                                            <p:strVal val="#ppt_y+0.1"/>
                                          </p:val>
                                        </p:tav>
                                        <p:tav tm="100000">
                                          <p:val>
                                            <p:strVal val="#ppt_y"/>
                                          </p:val>
                                        </p:tav>
                                      </p:tavLst>
                                    </p:anim>
                                    <p:animEffect transition="in" filter="fade">
                                      <p:cBhvr>
                                        <p:cTn id="90" dur="500"/>
                                        <p:tgtEl>
                                          <p:spTgt spid="28"/>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anim calcmode="lin" valueType="num">
                                      <p:cBhvr additive="base">
                                        <p:cTn id="93" dur="500" fill="hold"/>
                                        <p:tgtEl>
                                          <p:spTgt spid="29"/>
                                        </p:tgtEl>
                                        <p:attrNameLst>
                                          <p:attrName>ppt_x</p:attrName>
                                        </p:attrNameLst>
                                      </p:cBhvr>
                                      <p:tavLst>
                                        <p:tav tm="0">
                                          <p:val>
                                            <p:strVal val="#ppt_x"/>
                                          </p:val>
                                        </p:tav>
                                        <p:tav tm="100000">
                                          <p:val>
                                            <p:strVal val="#ppt_x"/>
                                          </p:val>
                                        </p:tav>
                                      </p:tavLst>
                                    </p:anim>
                                    <p:anim calcmode="lin" valueType="num">
                                      <p:cBhvr additive="base">
                                        <p:cTn id="94" dur="500" fill="hold"/>
                                        <p:tgtEl>
                                          <p:spTgt spid="29"/>
                                        </p:tgtEl>
                                        <p:attrNameLst>
                                          <p:attrName>ppt_y</p:attrName>
                                        </p:attrNameLst>
                                      </p:cBhvr>
                                      <p:tavLst>
                                        <p:tav tm="0">
                                          <p:val>
                                            <p:strVal val="#ppt_y+0.1"/>
                                          </p:val>
                                        </p:tav>
                                        <p:tav tm="100000">
                                          <p:val>
                                            <p:strVal val="#ppt_y"/>
                                          </p:val>
                                        </p:tav>
                                      </p:tavLst>
                                    </p:anim>
                                    <p:animEffect transition="in" filter="fade">
                                      <p:cBhvr>
                                        <p:cTn id="95" dur="500"/>
                                        <p:tgtEl>
                                          <p:spTgt spid="29"/>
                                        </p:tgtEl>
                                      </p:cBhvr>
                                    </p:animEffect>
                                  </p:childTnLst>
                                </p:cTn>
                              </p:par>
                              <p:par>
                                <p:cTn id="101" presetID="2" presetClass="entr" presetSubtype="4" fill="hold" grpId="0" nodeType="withEffect">
                                  <p:stCondLst>
                                    <p:cond delay="0"/>
                                  </p:stCondLst>
                                  <p:childTnLst>
                                    <p:set>
                                      <p:cBhvr>
                                        <p:cTn id="97" dur="1" fill="hold">
                                          <p:stCondLst>
                                            <p:cond delay="0"/>
                                          </p:stCondLst>
                                        </p:cTn>
                                        <p:tgtEl>
                                          <p:spTgt spid="31"/>
                                        </p:tgtEl>
                                        <p:attrNameLst>
                                          <p:attrName>style.visibility</p:attrName>
                                        </p:attrNameLst>
                                      </p:cBhvr>
                                      <p:to>
                                        <p:strVal val="visible"/>
                                      </p:to>
                                    </p:set>
                                    <p:anim calcmode="lin" valueType="num">
                                      <p:cBhvr additive="base">
                                        <p:cTn id="98" dur="500" fill="hold"/>
                                        <p:tgtEl>
                                          <p:spTgt spid="31"/>
                                        </p:tgtEl>
                                        <p:attrNameLst>
                                          <p:attrName>ppt_x</p:attrName>
                                        </p:attrNameLst>
                                      </p:cBhvr>
                                      <p:tavLst>
                                        <p:tav tm="0">
                                          <p:val>
                                            <p:strVal val="#ppt_x"/>
                                          </p:val>
                                        </p:tav>
                                        <p:tav tm="100000">
                                          <p:val>
                                            <p:strVal val="#ppt_x"/>
                                          </p:val>
                                        </p:tav>
                                      </p:tavLst>
                                    </p:anim>
                                    <p:anim calcmode="lin" valueType="num">
                                      <p:cBhvr additive="base">
                                        <p:cTn id="99" dur="500" fill="hold"/>
                                        <p:tgtEl>
                                          <p:spTgt spid="31"/>
                                        </p:tgtEl>
                                        <p:attrNameLst>
                                          <p:attrName>ppt_y</p:attrName>
                                        </p:attrNameLst>
                                      </p:cBhvr>
                                      <p:tavLst>
                                        <p:tav tm="0">
                                          <p:val>
                                            <p:strVal val="#ppt_y+0.1"/>
                                          </p:val>
                                        </p:tav>
                                        <p:tav tm="100000">
                                          <p:val>
                                            <p:strVal val="#ppt_y"/>
                                          </p:val>
                                        </p:tav>
                                      </p:tavLst>
                                    </p:anim>
                                    <p:animEffect transition="in" filter="fade">
                                      <p:cBhvr>
                                        <p:cTn id="100" dur="500"/>
                                        <p:tgtEl>
                                          <p:spTgt spid="31"/>
                                        </p:tgtEl>
                                      </p:cBhvr>
                                    </p:animEffect>
                                  </p:childTnLst>
                                </p:cTn>
                              </p:par>
                              <p:par>
                                <p:cTn id="106" presetID="2" presetClass="entr" presetSubtype="4" fill="hold" grpId="0" nodeType="withEffect">
                                  <p:stCondLst>
                                    <p:cond delay="0"/>
                                  </p:stCondLst>
                                  <p:childTnLst>
                                    <p:set>
                                      <p:cBhvr>
                                        <p:cTn id="102" dur="1" fill="hold">
                                          <p:stCondLst>
                                            <p:cond delay="0"/>
                                          </p:stCondLst>
                                        </p:cTn>
                                        <p:tgtEl>
                                          <p:spTgt spid="32"/>
                                        </p:tgtEl>
                                        <p:attrNameLst>
                                          <p:attrName>style.visibility</p:attrName>
                                        </p:attrNameLst>
                                      </p:cBhvr>
                                      <p:to>
                                        <p:strVal val="visible"/>
                                      </p:to>
                                    </p:set>
                                    <p:anim calcmode="lin" valueType="num">
                                      <p:cBhvr additive="base">
                                        <p:cTn id="103" dur="500" fill="hold"/>
                                        <p:tgtEl>
                                          <p:spTgt spid="32"/>
                                        </p:tgtEl>
                                        <p:attrNameLst>
                                          <p:attrName>ppt_x</p:attrName>
                                        </p:attrNameLst>
                                      </p:cBhvr>
                                      <p:tavLst>
                                        <p:tav tm="0">
                                          <p:val>
                                            <p:strVal val="#ppt_x"/>
                                          </p:val>
                                        </p:tav>
                                        <p:tav tm="100000">
                                          <p:val>
                                            <p:strVal val="#ppt_x"/>
                                          </p:val>
                                        </p:tav>
                                      </p:tavLst>
                                    </p:anim>
                                    <p:anim calcmode="lin" valueType="num">
                                      <p:cBhvr additive="base">
                                        <p:cTn id="104" dur="500" fill="hold"/>
                                        <p:tgtEl>
                                          <p:spTgt spid="32"/>
                                        </p:tgtEl>
                                        <p:attrNameLst>
                                          <p:attrName>ppt_y</p:attrName>
                                        </p:attrNameLst>
                                      </p:cBhvr>
                                      <p:tavLst>
                                        <p:tav tm="0">
                                          <p:val>
                                            <p:strVal val="#ppt_y+0.1"/>
                                          </p:val>
                                        </p:tav>
                                        <p:tav tm="100000">
                                          <p:val>
                                            <p:strVal val="#ppt_y"/>
                                          </p:val>
                                        </p:tav>
                                      </p:tavLst>
                                    </p:anim>
                                    <p:animEffect transition="in" filter="fade">
                                      <p:cBhvr>
                                        <p:cTn id="105" dur="500"/>
                                        <p:tgtEl>
                                          <p:spTgt spid="32"/>
                                        </p:tgtEl>
                                      </p:cBhvr>
                                    </p:animEffect>
                                  </p:childTnLst>
                                </p:cTn>
                              </p:par>
                              <p:par>
                                <p:cTn id="111" presetID="2" presetClass="entr" presetSubtype="4" fill="hold" grpId="0" nodeType="withEffect">
                                  <p:stCondLst>
                                    <p:cond delay="0"/>
                                  </p:stCondLst>
                                  <p:childTnLst>
                                    <p:set>
                                      <p:cBhvr>
                                        <p:cTn id="107" dur="1" fill="hold">
                                          <p:stCondLst>
                                            <p:cond delay="0"/>
                                          </p:stCondLst>
                                        </p:cTn>
                                        <p:tgtEl>
                                          <p:spTgt spid="33"/>
                                        </p:tgtEl>
                                        <p:attrNameLst>
                                          <p:attrName>style.visibility</p:attrName>
                                        </p:attrNameLst>
                                      </p:cBhvr>
                                      <p:to>
                                        <p:strVal val="visible"/>
                                      </p:to>
                                    </p:set>
                                    <p:anim calcmode="lin" valueType="num">
                                      <p:cBhvr additive="base">
                                        <p:cTn id="108" dur="500" fill="hold"/>
                                        <p:tgtEl>
                                          <p:spTgt spid="33"/>
                                        </p:tgtEl>
                                        <p:attrNameLst>
                                          <p:attrName>ppt_x</p:attrName>
                                        </p:attrNameLst>
                                      </p:cBhvr>
                                      <p:tavLst>
                                        <p:tav tm="0">
                                          <p:val>
                                            <p:strVal val="#ppt_x"/>
                                          </p:val>
                                        </p:tav>
                                        <p:tav tm="100000">
                                          <p:val>
                                            <p:strVal val="#ppt_x"/>
                                          </p:val>
                                        </p:tav>
                                      </p:tavLst>
                                    </p:anim>
                                    <p:anim calcmode="lin" valueType="num">
                                      <p:cBhvr additive="base">
                                        <p:cTn id="109" dur="500" fill="hold"/>
                                        <p:tgtEl>
                                          <p:spTgt spid="33"/>
                                        </p:tgtEl>
                                        <p:attrNameLst>
                                          <p:attrName>ppt_y</p:attrName>
                                        </p:attrNameLst>
                                      </p:cBhvr>
                                      <p:tavLst>
                                        <p:tav tm="0">
                                          <p:val>
                                            <p:strVal val="#ppt_y+0.1"/>
                                          </p:val>
                                        </p:tav>
                                        <p:tav tm="100000">
                                          <p:val>
                                            <p:strVal val="#ppt_y"/>
                                          </p:val>
                                        </p:tav>
                                      </p:tavLst>
                                    </p:anim>
                                    <p:animEffect transition="in" filter="fade">
                                      <p:cBhvr>
                                        <p:cTn id="110" dur="500"/>
                                        <p:tgtEl>
                                          <p:spTgt spid="33"/>
                                        </p:tgtEl>
                                      </p:cBhvr>
                                    </p:animEffect>
                                  </p:childTnLst>
                                </p:cTn>
                              </p:par>
                              <p:par>
                                <p:cTn id="116" presetID="2" presetClass="entr" presetSubtype="4" fill="hold" grpId="0" nodeType="withEffect">
                                  <p:stCondLst>
                                    <p:cond delay="60"/>
                                  </p:stCondLst>
                                  <p:childTnLst>
                                    <p:set>
                                      <p:cBhvr>
                                        <p:cTn id="112" dur="1" fill="hold">
                                          <p:stCondLst>
                                            <p:cond delay="0"/>
                                          </p:stCondLst>
                                        </p:cTn>
                                        <p:tgtEl>
                                          <p:spTgt spid="26"/>
                                        </p:tgtEl>
                                        <p:attrNameLst>
                                          <p:attrName>style.visibility</p:attrName>
                                        </p:attrNameLst>
                                      </p:cBhvr>
                                      <p:to>
                                        <p:strVal val="visible"/>
                                      </p:to>
                                    </p:set>
                                    <p:anim calcmode="lin" valueType="num">
                                      <p:cBhvr additive="base">
                                        <p:cTn id="113" dur="500" fill="hold"/>
                                        <p:tgtEl>
                                          <p:spTgt spid="26"/>
                                        </p:tgtEl>
                                        <p:attrNameLst>
                                          <p:attrName>ppt_x</p:attrName>
                                        </p:attrNameLst>
                                      </p:cBhvr>
                                      <p:tavLst>
                                        <p:tav tm="0">
                                          <p:val>
                                            <p:strVal val="#ppt_x"/>
                                          </p:val>
                                        </p:tav>
                                        <p:tav tm="100000">
                                          <p:val>
                                            <p:strVal val="#ppt_x"/>
                                          </p:val>
                                        </p:tav>
                                      </p:tavLst>
                                    </p:anim>
                                    <p:anim calcmode="lin" valueType="num">
                                      <p:cBhvr additive="base">
                                        <p:cTn id="114" dur="500" fill="hold"/>
                                        <p:tgtEl>
                                          <p:spTgt spid="26"/>
                                        </p:tgtEl>
                                        <p:attrNameLst>
                                          <p:attrName>ppt_y</p:attrName>
                                        </p:attrNameLst>
                                      </p:cBhvr>
                                      <p:tavLst>
                                        <p:tav tm="0">
                                          <p:val>
                                            <p:strVal val="#ppt_y+0.1"/>
                                          </p:val>
                                        </p:tav>
                                        <p:tav tm="100000">
                                          <p:val>
                                            <p:strVal val="#ppt_y"/>
                                          </p:val>
                                        </p:tav>
                                      </p:tavLst>
                                    </p:anim>
                                    <p:animEffect transition="in" filter="fade">
                                      <p:cBhvr>
                                        <p:cTn id="115" dur="500"/>
                                        <p:tgtEl>
                                          <p:spTgt spid="26"/>
                                        </p:tgtEl>
                                      </p:cBhvr>
                                    </p:animEffect>
                                  </p:childTnLst>
                                </p:cTn>
                              </p:par>
                              <p:par>
                                <p:cTn id="121" presetID="2" presetClass="entr" presetSubtype="4" fill="hold" grpId="0" nodeType="withEffect">
                                  <p:stCondLst>
                                    <p:cond delay="60"/>
                                  </p:stCondLst>
                                  <p:childTnLst>
                                    <p:set>
                                      <p:cBhvr>
                                        <p:cTn id="117" dur="1" fill="hold">
                                          <p:stCondLst>
                                            <p:cond delay="0"/>
                                          </p:stCondLst>
                                        </p:cTn>
                                        <p:tgtEl>
                                          <p:spTgt spid="30"/>
                                        </p:tgtEl>
                                        <p:attrNameLst>
                                          <p:attrName>style.visibility</p:attrName>
                                        </p:attrNameLst>
                                      </p:cBhvr>
                                      <p:to>
                                        <p:strVal val="visible"/>
                                      </p:to>
                                    </p:set>
                                    <p:anim calcmode="lin" valueType="num">
                                      <p:cBhvr additive="base">
                                        <p:cTn id="118" dur="500" fill="hold"/>
                                        <p:tgtEl>
                                          <p:spTgt spid="30"/>
                                        </p:tgtEl>
                                        <p:attrNameLst>
                                          <p:attrName>ppt_x</p:attrName>
                                        </p:attrNameLst>
                                      </p:cBhvr>
                                      <p:tavLst>
                                        <p:tav tm="0">
                                          <p:val>
                                            <p:strVal val="#ppt_x"/>
                                          </p:val>
                                        </p:tav>
                                        <p:tav tm="100000">
                                          <p:val>
                                            <p:strVal val="#ppt_x"/>
                                          </p:val>
                                        </p:tav>
                                      </p:tavLst>
                                    </p:anim>
                                    <p:anim calcmode="lin" valueType="num">
                                      <p:cBhvr additive="base">
                                        <p:cTn id="119" dur="500" fill="hold"/>
                                        <p:tgtEl>
                                          <p:spTgt spid="30"/>
                                        </p:tgtEl>
                                        <p:attrNameLst>
                                          <p:attrName>ppt_y</p:attrName>
                                        </p:attrNameLst>
                                      </p:cBhvr>
                                      <p:tavLst>
                                        <p:tav tm="0">
                                          <p:val>
                                            <p:strVal val="#ppt_y+0.1"/>
                                          </p:val>
                                        </p:tav>
                                        <p:tav tm="100000">
                                          <p:val>
                                            <p:strVal val="#ppt_y"/>
                                          </p:val>
                                        </p:tav>
                                      </p:tavLst>
                                    </p:anim>
                                    <p:animEffect transition="in" filter="fade">
                                      <p:cBhvr>
                                        <p:cTn id="120" dur="500"/>
                                        <p:tgtEl>
                                          <p:spTgt spid="30"/>
                                        </p:tgtEl>
                                      </p:cBhvr>
                                    </p:animEffect>
                                  </p:childTnLst>
                                </p:cTn>
                              </p:par>
                              <p:par>
                                <p:cTn id="126" presetID="2" presetClass="entr" presetSubtype="4" fill="hold" grpId="0" nodeType="withEffect">
                                  <p:stCondLst>
                                    <p:cond delay="6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panel1"/>
          <p:cNvSpPr/>
          <p:nvPr/>
        </p:nvSpPr>
        <p:spPr>
          <a:xfrm>
            <a:off x="0" y="0"/>
            <a:ext cx="2926080" cy="51435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a0f_pl2"/>
          <p:cNvSpPr txBox="1"/>
          <p:nvPr/>
        </p:nvSpPr>
        <p:spPr>
          <a:xfrm>
            <a:off x="502920" y="1005840"/>
            <a:ext cx="2194560" cy="274320"/>
          </a:xfrm>
          <a:prstGeom prst="rect">
            <a:avLst/>
          </a:prstGeom>
          <a:noFill/>
        </p:spPr>
        <p:txBody>
          <a:bodyPr wrap="square" lIns="0" tIns="0" rIns="0" bIns="0" anchor="ctr">
            <a:spAutoFit/>
          </a:bodyPr>
          <a:lstStyle/>
          <a:p>
            <a:pPr algn="l"/>
            <a:r>
              <a:rPr sz="1100" b="1" spc="500">
                <a:solidFill>
                  <a:srgbClr val="18181B"/>
                </a:solidFill>
                <a:latin typeface="Segoe UI"/>
              </a:rPr>
              <a:t>PART</a:t>
            </a:r>
          </a:p>
        </p:txBody>
      </p:sp>
      <p:sp>
        <p:nvSpPr>
          <p:cNvPr id="4" name="a0ud100_n3"/>
          <p:cNvSpPr txBox="1"/>
          <p:nvPr/>
        </p:nvSpPr>
        <p:spPr>
          <a:xfrm>
            <a:off x="411480" y="1280160"/>
            <a:ext cx="2377440" cy="1691640"/>
          </a:xfrm>
          <a:prstGeom prst="rect">
            <a:avLst/>
          </a:prstGeom>
          <a:noFill/>
        </p:spPr>
        <p:txBody>
          <a:bodyPr wrap="square" lIns="0" tIns="0" rIns="0" bIns="0" anchor="ctr">
            <a:spAutoFit/>
          </a:bodyPr>
          <a:lstStyle/>
          <a:p>
            <a:pPr algn="l"/>
            <a:r>
              <a:rPr sz="10450" b="0">
                <a:solidFill>
                  <a:srgbClr val="FFFFFF"/>
                </a:solidFill>
                <a:latin typeface="Bahnschrift SemiBold"/>
              </a:rPr>
              <a:t>06</a:t>
            </a:r>
          </a:p>
        </p:txBody>
      </p:sp>
      <p:sp>
        <p:nvSpPr>
          <p:cNvPr id="5" name="a0wd300_pb4"/>
          <p:cNvSpPr/>
          <p:nvPr/>
        </p:nvSpPr>
        <p:spPr>
          <a:xfrm>
            <a:off x="502920" y="3090672"/>
            <a:ext cx="640080" cy="45720"/>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0fd400_pc5"/>
          <p:cNvSpPr/>
          <p:nvPr/>
        </p:nvSpPr>
        <p:spPr>
          <a:xfrm>
            <a:off x="502920" y="4160520"/>
            <a:ext cx="329184" cy="274320"/>
          </a:xfrm>
          <a:prstGeom prst="roundRect">
            <a:avLst>
              <a:gd name="adj" fmla="val 13333"/>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0fd400_pct6"/>
          <p:cNvSpPr txBox="1"/>
          <p:nvPr/>
        </p:nvSpPr>
        <p:spPr>
          <a:xfrm>
            <a:off x="502920" y="4160520"/>
            <a:ext cx="329184" cy="274320"/>
          </a:xfrm>
          <a:prstGeom prst="rect">
            <a:avLst/>
          </a:prstGeom>
          <a:noFill/>
        </p:spPr>
        <p:txBody>
          <a:bodyPr wrap="square" lIns="0" tIns="0" rIns="0" bIns="0" anchor="ctr">
            <a:spAutoFit/>
          </a:bodyPr>
          <a:lstStyle/>
          <a:p>
            <a:pPr algn="ctr"/>
            <a:r>
              <a:rPr sz="850" b="0">
                <a:solidFill>
                  <a:srgbClr val="FDBA74"/>
                </a:solidFill>
                <a:latin typeface="Consolas"/>
              </a:rPr>
              <a:t>01</a:t>
            </a:r>
          </a:p>
        </p:txBody>
      </p:sp>
      <p:sp>
        <p:nvSpPr>
          <p:cNvPr id="8" name="a0fd480_pc7"/>
          <p:cNvSpPr/>
          <p:nvPr/>
        </p:nvSpPr>
        <p:spPr>
          <a:xfrm>
            <a:off x="877824" y="4160520"/>
            <a:ext cx="329184" cy="274320"/>
          </a:xfrm>
          <a:prstGeom prst="roundRect">
            <a:avLst>
              <a:gd name="adj" fmla="val 13333"/>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0fd480_pct8"/>
          <p:cNvSpPr txBox="1"/>
          <p:nvPr/>
        </p:nvSpPr>
        <p:spPr>
          <a:xfrm>
            <a:off x="877824" y="4160520"/>
            <a:ext cx="329184" cy="274320"/>
          </a:xfrm>
          <a:prstGeom prst="rect">
            <a:avLst/>
          </a:prstGeom>
          <a:noFill/>
        </p:spPr>
        <p:txBody>
          <a:bodyPr wrap="square" lIns="0" tIns="0" rIns="0" bIns="0" anchor="ctr">
            <a:spAutoFit/>
          </a:bodyPr>
          <a:lstStyle/>
          <a:p>
            <a:pPr algn="ctr"/>
            <a:r>
              <a:rPr sz="850" b="0">
                <a:solidFill>
                  <a:srgbClr val="FDBA74"/>
                </a:solidFill>
                <a:latin typeface="Consolas"/>
              </a:rPr>
              <a:t>02</a:t>
            </a:r>
          </a:p>
        </p:txBody>
      </p:sp>
      <p:sp>
        <p:nvSpPr>
          <p:cNvPr id="10" name="a0fd560_pc9"/>
          <p:cNvSpPr/>
          <p:nvPr/>
        </p:nvSpPr>
        <p:spPr>
          <a:xfrm>
            <a:off x="1252728" y="4160520"/>
            <a:ext cx="329184" cy="274320"/>
          </a:xfrm>
          <a:prstGeom prst="roundRect">
            <a:avLst>
              <a:gd name="adj" fmla="val 13333"/>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0fd560_pct10"/>
          <p:cNvSpPr txBox="1"/>
          <p:nvPr/>
        </p:nvSpPr>
        <p:spPr>
          <a:xfrm>
            <a:off x="1252728" y="4160520"/>
            <a:ext cx="329184" cy="274320"/>
          </a:xfrm>
          <a:prstGeom prst="rect">
            <a:avLst/>
          </a:prstGeom>
          <a:noFill/>
        </p:spPr>
        <p:txBody>
          <a:bodyPr wrap="square" lIns="0" tIns="0" rIns="0" bIns="0" anchor="ctr">
            <a:spAutoFit/>
          </a:bodyPr>
          <a:lstStyle/>
          <a:p>
            <a:pPr algn="ctr"/>
            <a:r>
              <a:rPr sz="850" b="0">
                <a:solidFill>
                  <a:srgbClr val="FDBA74"/>
                </a:solidFill>
                <a:latin typeface="Consolas"/>
              </a:rPr>
              <a:t>03</a:t>
            </a:r>
          </a:p>
        </p:txBody>
      </p:sp>
      <p:sp>
        <p:nvSpPr>
          <p:cNvPr id="12" name="a0fd640_pc11"/>
          <p:cNvSpPr/>
          <p:nvPr/>
        </p:nvSpPr>
        <p:spPr>
          <a:xfrm>
            <a:off x="1627632" y="4160520"/>
            <a:ext cx="329184" cy="274320"/>
          </a:xfrm>
          <a:prstGeom prst="roundRect">
            <a:avLst>
              <a:gd name="adj" fmla="val 13333"/>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0fd640_pct12"/>
          <p:cNvSpPr txBox="1"/>
          <p:nvPr/>
        </p:nvSpPr>
        <p:spPr>
          <a:xfrm>
            <a:off x="1627632" y="4160520"/>
            <a:ext cx="329184" cy="274320"/>
          </a:xfrm>
          <a:prstGeom prst="rect">
            <a:avLst/>
          </a:prstGeom>
          <a:noFill/>
        </p:spPr>
        <p:txBody>
          <a:bodyPr wrap="square" lIns="0" tIns="0" rIns="0" bIns="0" anchor="ctr">
            <a:spAutoFit/>
          </a:bodyPr>
          <a:lstStyle/>
          <a:p>
            <a:pPr algn="ctr"/>
            <a:r>
              <a:rPr sz="850" b="0">
                <a:solidFill>
                  <a:srgbClr val="FDBA74"/>
                </a:solidFill>
                <a:latin typeface="Consolas"/>
              </a:rPr>
              <a:t>04</a:t>
            </a:r>
          </a:p>
        </p:txBody>
      </p:sp>
      <p:sp>
        <p:nvSpPr>
          <p:cNvPr id="14" name="a0fd720_pc13"/>
          <p:cNvSpPr/>
          <p:nvPr/>
        </p:nvSpPr>
        <p:spPr>
          <a:xfrm>
            <a:off x="2002536" y="4160520"/>
            <a:ext cx="329184" cy="274320"/>
          </a:xfrm>
          <a:prstGeom prst="roundRect">
            <a:avLst>
              <a:gd name="adj" fmla="val 13333"/>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0fd720_pct14"/>
          <p:cNvSpPr txBox="1"/>
          <p:nvPr/>
        </p:nvSpPr>
        <p:spPr>
          <a:xfrm>
            <a:off x="2002536" y="4160520"/>
            <a:ext cx="329184" cy="274320"/>
          </a:xfrm>
          <a:prstGeom prst="rect">
            <a:avLst/>
          </a:prstGeom>
          <a:noFill/>
        </p:spPr>
        <p:txBody>
          <a:bodyPr wrap="square" lIns="0" tIns="0" rIns="0" bIns="0" anchor="ctr">
            <a:spAutoFit/>
          </a:bodyPr>
          <a:lstStyle/>
          <a:p>
            <a:pPr algn="ctr"/>
            <a:r>
              <a:rPr sz="850" b="0">
                <a:solidFill>
                  <a:srgbClr val="FDBA74"/>
                </a:solidFill>
                <a:latin typeface="Consolas"/>
              </a:rPr>
              <a:t>05</a:t>
            </a:r>
          </a:p>
        </p:txBody>
      </p:sp>
      <p:sp>
        <p:nvSpPr>
          <p:cNvPr id="16" name="a0fd800_pc15"/>
          <p:cNvSpPr/>
          <p:nvPr/>
        </p:nvSpPr>
        <p:spPr>
          <a:xfrm>
            <a:off x="2377439" y="4160520"/>
            <a:ext cx="329184" cy="274320"/>
          </a:xfrm>
          <a:prstGeom prst="roundRect">
            <a:avLst>
              <a:gd name="adj" fmla="val 133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0fd800_pct16"/>
          <p:cNvSpPr txBox="1"/>
          <p:nvPr/>
        </p:nvSpPr>
        <p:spPr>
          <a:xfrm>
            <a:off x="2377439" y="4160520"/>
            <a:ext cx="329184" cy="274320"/>
          </a:xfrm>
          <a:prstGeom prst="rect">
            <a:avLst/>
          </a:prstGeom>
          <a:noFill/>
        </p:spPr>
        <p:txBody>
          <a:bodyPr wrap="square" lIns="0" tIns="0" rIns="0" bIns="0" anchor="ctr">
            <a:spAutoFit/>
          </a:bodyPr>
          <a:lstStyle/>
          <a:p>
            <a:pPr algn="ctr"/>
            <a:r>
              <a:rPr sz="850" b="1">
                <a:solidFill>
                  <a:srgbClr val="C2410C"/>
                </a:solidFill>
                <a:latin typeface="Consolas"/>
              </a:rPr>
              <a:t>06</a:t>
            </a:r>
          </a:p>
        </p:txBody>
      </p:sp>
      <p:sp>
        <p:nvSpPr>
          <p:cNvPr id="18" name="a0ud250_h17"/>
          <p:cNvSpPr txBox="1"/>
          <p:nvPr/>
        </p:nvSpPr>
        <p:spPr>
          <a:xfrm>
            <a:off x="3429000" y="868680"/>
            <a:ext cx="5257800" cy="1188720"/>
          </a:xfrm>
          <a:prstGeom prst="rect">
            <a:avLst/>
          </a:prstGeom>
          <a:noFill/>
        </p:spPr>
        <p:txBody>
          <a:bodyPr wrap="square" lIns="0" tIns="0" rIns="0" bIns="0" anchor="b">
            <a:spAutoFit/>
          </a:bodyPr>
          <a:lstStyle/>
          <a:p>
            <a:pPr algn="l"/>
            <a:r>
              <a:rPr sz="3250" b="0">
                <a:solidFill>
                  <a:srgbClr val="FFFFFF"/>
                </a:solidFill>
                <a:latin typeface="Bahnschrift SemiBold"/>
              </a:rPr>
              <a:t>Kafka at a Glance</a:t>
            </a:r>
          </a:p>
        </p:txBody>
      </p:sp>
      <p:sp>
        <p:nvSpPr>
          <p:cNvPr id="19" name="a0wd450_hb18"/>
          <p:cNvSpPr/>
          <p:nvPr/>
        </p:nvSpPr>
        <p:spPr>
          <a:xfrm>
            <a:off x="3429000" y="2212848"/>
            <a:ext cx="548640"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fd500_t19"/>
          <p:cNvSpPr txBox="1"/>
          <p:nvPr/>
        </p:nvSpPr>
        <p:spPr>
          <a:xfrm>
            <a:off x="3429000" y="2395728"/>
            <a:ext cx="5257800" cy="603504"/>
          </a:xfrm>
          <a:prstGeom prst="rect">
            <a:avLst/>
          </a:prstGeom>
          <a:noFill/>
        </p:spPr>
        <p:txBody>
          <a:bodyPr wrap="square" lIns="0" tIns="0" rIns="0" bIns="0" anchor="t">
            <a:spAutoFit/>
          </a:bodyPr>
          <a:lstStyle/>
          <a:p>
            <a:pPr algn="l"/>
            <a:r>
              <a:rPr sz="1400" b="0">
                <a:solidFill>
                  <a:srgbClr val="D6D3D1"/>
                </a:solidFill>
                <a:latin typeface="Segoe UI"/>
              </a:rPr>
              <a:t>The main pieces - the way the Apache docs and Confluent's Kafka 101 introduce them</a:t>
            </a:r>
          </a:p>
        </p:txBody>
      </p:sp>
      <p:sp>
        <p:nvSpPr>
          <p:cNvPr id="21" name="a0ud700_dd20"/>
          <p:cNvSpPr/>
          <p:nvPr/>
        </p:nvSpPr>
        <p:spPr>
          <a:xfrm>
            <a:off x="3429000" y="323697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0ud700_di21"/>
          <p:cNvSpPr txBox="1"/>
          <p:nvPr/>
        </p:nvSpPr>
        <p:spPr>
          <a:xfrm>
            <a:off x="3666744" y="3154680"/>
            <a:ext cx="5020056" cy="274320"/>
          </a:xfrm>
          <a:prstGeom prst="rect">
            <a:avLst/>
          </a:prstGeom>
          <a:noFill/>
        </p:spPr>
        <p:txBody>
          <a:bodyPr wrap="square" lIns="0" tIns="0" rIns="0" bIns="0" anchor="ctr">
            <a:spAutoFit/>
          </a:bodyPr>
          <a:lstStyle/>
          <a:p>
            <a:pPr algn="l"/>
            <a:r>
              <a:rPr sz="1200" b="0">
                <a:solidFill>
                  <a:srgbClr val="E7E5E4"/>
                </a:solidFill>
                <a:latin typeface="Segoe UI"/>
              </a:rPr>
              <a:t>Servers and clients</a:t>
            </a:r>
          </a:p>
        </p:txBody>
      </p:sp>
      <p:sp>
        <p:nvSpPr>
          <p:cNvPr id="23" name="a0ud820_dd22"/>
          <p:cNvSpPr/>
          <p:nvPr/>
        </p:nvSpPr>
        <p:spPr>
          <a:xfrm>
            <a:off x="3429000" y="360273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ud820_di23"/>
          <p:cNvSpPr txBox="1"/>
          <p:nvPr/>
        </p:nvSpPr>
        <p:spPr>
          <a:xfrm>
            <a:off x="3666744" y="3520440"/>
            <a:ext cx="5020056" cy="274320"/>
          </a:xfrm>
          <a:prstGeom prst="rect">
            <a:avLst/>
          </a:prstGeom>
          <a:noFill/>
        </p:spPr>
        <p:txBody>
          <a:bodyPr wrap="square" lIns="0" tIns="0" rIns="0" bIns="0" anchor="ctr">
            <a:spAutoFit/>
          </a:bodyPr>
          <a:lstStyle/>
          <a:p>
            <a:pPr algn="l"/>
            <a:r>
              <a:rPr sz="1200" b="0">
                <a:solidFill>
                  <a:srgbClr val="E7E5E4"/>
                </a:solidFill>
                <a:latin typeface="Segoe UI"/>
              </a:rPr>
              <a:t>Topics</a:t>
            </a:r>
          </a:p>
        </p:txBody>
      </p:sp>
      <p:sp>
        <p:nvSpPr>
          <p:cNvPr id="25" name="a0ud940_dd24"/>
          <p:cNvSpPr/>
          <p:nvPr/>
        </p:nvSpPr>
        <p:spPr>
          <a:xfrm>
            <a:off x="3429000" y="396849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0ud940_di25"/>
          <p:cNvSpPr txBox="1"/>
          <p:nvPr/>
        </p:nvSpPr>
        <p:spPr>
          <a:xfrm>
            <a:off x="3666744" y="3886200"/>
            <a:ext cx="5020056" cy="274320"/>
          </a:xfrm>
          <a:prstGeom prst="rect">
            <a:avLst/>
          </a:prstGeom>
          <a:noFill/>
        </p:spPr>
        <p:txBody>
          <a:bodyPr wrap="square" lIns="0" tIns="0" rIns="0" bIns="0" anchor="ctr">
            <a:spAutoFit/>
          </a:bodyPr>
          <a:lstStyle/>
          <a:p>
            <a:pPr algn="l"/>
            <a:r>
              <a:rPr sz="1200" b="0">
                <a:solidFill>
                  <a:srgbClr val="E7E5E4"/>
                </a:solidFill>
                <a:latin typeface="Segoe UI"/>
              </a:rPr>
              <a:t>Partitions</a:t>
            </a:r>
          </a:p>
        </p:txBody>
      </p:sp>
      <p:sp>
        <p:nvSpPr>
          <p:cNvPr id="27" name="a0ud1060_dd26"/>
          <p:cNvSpPr/>
          <p:nvPr/>
        </p:nvSpPr>
        <p:spPr>
          <a:xfrm>
            <a:off x="3429000" y="4334256"/>
            <a:ext cx="91440" cy="91440"/>
          </a:xfrm>
          <a:prstGeom prst="roundRect">
            <a:avLst>
              <a:gd name="adj" fmla="val 2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0ud1060_di27"/>
          <p:cNvSpPr txBox="1"/>
          <p:nvPr/>
        </p:nvSpPr>
        <p:spPr>
          <a:xfrm>
            <a:off x="3666744" y="4251960"/>
            <a:ext cx="5020056" cy="274320"/>
          </a:xfrm>
          <a:prstGeom prst="rect">
            <a:avLst/>
          </a:prstGeom>
          <a:noFill/>
        </p:spPr>
        <p:txBody>
          <a:bodyPr wrap="square" lIns="0" tIns="0" rIns="0" bIns="0" anchor="ctr">
            <a:spAutoFit/>
          </a:bodyPr>
          <a:lstStyle/>
          <a:p>
            <a:pPr algn="l"/>
            <a:r>
              <a:rPr sz="1200" b="0">
                <a:solidFill>
                  <a:srgbClr val="E7E5E4"/>
                </a:solidFill>
                <a:latin typeface="Segoe UI"/>
              </a:rPr>
              <a:t>Ecosystem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12" presetID="2" presetClass="entr" presetSubtype="4" fill="hold" grpId="0" nodeType="withEffect">
                                  <p:stCondLst>
                                    <p:cond delay="10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ppt_x</p:attrName>
                                        </p:attrNameLst>
                                      </p:cBhvr>
                                      <p:tavLst>
                                        <p:tav tm="0">
                                          <p:val>
                                            <p:strVal val="#ppt_x"/>
                                          </p:val>
                                        </p:tav>
                                        <p:tav tm="100000">
                                          <p:val>
                                            <p:strVal val="#ppt_x"/>
                                          </p:val>
                                        </p:tav>
                                      </p:tavLst>
                                    </p:anim>
                                    <p:anim calcmode="lin" valueType="num">
                                      <p:cBhvr additive="base">
                                        <p:cTn id="10" dur="500" fill="hold"/>
                                        <p:tgtEl>
                                          <p:spTgt spid="4"/>
                                        </p:tgtEl>
                                        <p:attrNameLst>
                                          <p:attrName>ppt_y</p:attrName>
                                        </p:attrNameLst>
                                      </p:cBhvr>
                                      <p:tavLst>
                                        <p:tav tm="0">
                                          <p:val>
                                            <p:strVal val="#ppt_y+0.1"/>
                                          </p:val>
                                        </p:tav>
                                        <p:tav tm="100000">
                                          <p:val>
                                            <p:strVal val="#ppt_y"/>
                                          </p:val>
                                        </p:tav>
                                      </p:tavLst>
                                    </p:anim>
                                    <p:animEffect transition="in" filter="fade">
                                      <p:cBhvr>
                                        <p:cTn id="11" dur="500"/>
                                        <p:tgtEl>
                                          <p:spTgt spid="4"/>
                                        </p:tgtEl>
                                      </p:cBhvr>
                                    </p:animEffect>
                                  </p:childTnLst>
                                </p:cTn>
                              </p:par>
                              <p:par>
                                <p:cTn id="17" presetID="2" presetClass="entr" presetSubtype="4" fill="hold" grpId="0" nodeType="withEffect">
                                  <p:stCondLst>
                                    <p:cond delay="250"/>
                                  </p:stCondLst>
                                  <p:childTnLst>
                                    <p:set>
                                      <p:cBhvr>
                                        <p:cTn id="13" dur="1" fill="hold">
                                          <p:stCondLst>
                                            <p:cond delay="0"/>
                                          </p:stCondLst>
                                        </p:cTn>
                                        <p:tgtEl>
                                          <p:spTgt spid="18"/>
                                        </p:tgtEl>
                                        <p:attrNameLst>
                                          <p:attrName>style.visibility</p:attrName>
                                        </p:attrNameLst>
                                      </p:cBhvr>
                                      <p:to>
                                        <p:strVal val="visible"/>
                                      </p:to>
                                    </p:set>
                                    <p:anim calcmode="lin" valueType="num">
                                      <p:cBhvr additive="base">
                                        <p:cTn id="14" dur="500" fill="hold"/>
                                        <p:tgtEl>
                                          <p:spTgt spid="18"/>
                                        </p:tgtEl>
                                        <p:attrNameLst>
                                          <p:attrName>ppt_x</p:attrName>
                                        </p:attrNameLst>
                                      </p:cBhvr>
                                      <p:tavLst>
                                        <p:tav tm="0">
                                          <p:val>
                                            <p:strVal val="#ppt_x"/>
                                          </p:val>
                                        </p:tav>
                                        <p:tav tm="100000">
                                          <p:val>
                                            <p:strVal val="#ppt_x"/>
                                          </p:val>
                                        </p:tav>
                                      </p:tavLst>
                                    </p:anim>
                                    <p:anim calcmode="lin" valueType="num">
                                      <p:cBhvr additive="base">
                                        <p:cTn id="15" dur="500" fill="hold"/>
                                        <p:tgtEl>
                                          <p:spTgt spid="18"/>
                                        </p:tgtEl>
                                        <p:attrNameLst>
                                          <p:attrName>ppt_y</p:attrName>
                                        </p:attrNameLst>
                                      </p:cBhvr>
                                      <p:tavLst>
                                        <p:tav tm="0">
                                          <p:val>
                                            <p:strVal val="#ppt_y+0.1"/>
                                          </p:val>
                                        </p:tav>
                                        <p:tav tm="100000">
                                          <p:val>
                                            <p:strVal val="#ppt_y"/>
                                          </p:val>
                                        </p:tav>
                                      </p:tavLst>
                                    </p:anim>
                                    <p:animEffect transition="in" filter="fade">
                                      <p:cBhvr>
                                        <p:cTn id="16" dur="500"/>
                                        <p:tgtEl>
                                          <p:spTgt spid="18"/>
                                        </p:tgtEl>
                                      </p:cBhvr>
                                    </p:animEffect>
                                  </p:childTnLst>
                                </p:cTn>
                              </p:par>
                              <p:par>
                                <p:cTn id="20" presetID="22" presetClass="entr" presetSubtype="8" fill="hold" grpId="0" nodeType="withEffect">
                                  <p:stCondLst>
                                    <p:cond delay="30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par>
                                <p:cTn id="23" presetID="10" presetClass="entr" presetSubtype="0" fill="hold" grpId="0" nodeType="withEffect">
                                  <p:stCondLst>
                                    <p:cond delay="4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6" presetID="10" presetClass="entr" presetSubtype="0" fill="hold" grpId="0" nodeType="withEffect">
                                  <p:stCondLst>
                                    <p:cond delay="4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9" presetID="22" presetClass="entr" presetSubtype="8" fill="hold" grpId="0" nodeType="withEffect">
                                  <p:stCondLst>
                                    <p:cond delay="45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par>
                                <p:cTn id="32"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5" presetID="10" presetClass="entr" presetSubtype="0" fill="hold" grpId="0" nodeType="withEffect">
                                  <p:stCondLst>
                                    <p:cond delay="48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8" presetID="10" presetClass="entr" presetSubtype="0" fill="hold" grpId="0" nodeType="withEffect">
                                  <p:stCondLst>
                                    <p:cond delay="50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par>
                                <p:cTn id="41" presetID="10" presetClass="entr" presetSubtype="0" fill="hold" grpId="0" nodeType="withEffect">
                                  <p:stCondLst>
                                    <p:cond delay="56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par>
                                <p:cTn id="44" presetID="10" presetClass="entr" presetSubtype="0" fill="hold" grpId="0" nodeType="withEffect">
                                  <p:stCondLst>
                                    <p:cond delay="56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par>
                                <p:cTn id="47" presetID="10" presetClass="entr" presetSubtype="0" fill="hold" grpId="0" nodeType="withEffect">
                                  <p:stCondLst>
                                    <p:cond delay="64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par>
                                <p:cTn id="50" presetID="10" presetClass="entr" presetSubtype="0" fill="hold" grpId="0" nodeType="withEffect">
                                  <p:stCondLst>
                                    <p:cond delay="64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childTnLst>
                                </p:cTn>
                              </p:par>
                              <p:par>
                                <p:cTn id="55" presetID="2" presetClass="entr" presetSubtype="4" fill="hold" grpId="0" nodeType="withEffect">
                                  <p:stCondLst>
                                    <p:cond delay="700"/>
                                  </p:stCondLst>
                                  <p:childTnLst>
                                    <p:set>
                                      <p:cBhvr>
                                        <p:cTn id="51" dur="1" fill="hold">
                                          <p:stCondLst>
                                            <p:cond delay="0"/>
                                          </p:stCondLst>
                                        </p:cTn>
                                        <p:tgtEl>
                                          <p:spTgt spid="21"/>
                                        </p:tgtEl>
                                        <p:attrNameLst>
                                          <p:attrName>style.visibility</p:attrName>
                                        </p:attrNameLst>
                                      </p:cBhvr>
                                      <p:to>
                                        <p:strVal val="visible"/>
                                      </p:to>
                                    </p:set>
                                    <p:anim calcmode="lin" valueType="num">
                                      <p:cBhvr additive="base">
                                        <p:cTn id="52" dur="500" fill="hold"/>
                                        <p:tgtEl>
                                          <p:spTgt spid="21"/>
                                        </p:tgtEl>
                                        <p:attrNameLst>
                                          <p:attrName>ppt_x</p:attrName>
                                        </p:attrNameLst>
                                      </p:cBhvr>
                                      <p:tavLst>
                                        <p:tav tm="0">
                                          <p:val>
                                            <p:strVal val="#ppt_x"/>
                                          </p:val>
                                        </p:tav>
                                        <p:tav tm="100000">
                                          <p:val>
                                            <p:strVal val="#ppt_x"/>
                                          </p:val>
                                        </p:tav>
                                      </p:tavLst>
                                    </p:anim>
                                    <p:anim calcmode="lin" valueType="num">
                                      <p:cBhvr additive="base">
                                        <p:cTn id="53" dur="500" fill="hold"/>
                                        <p:tgtEl>
                                          <p:spTgt spid="21"/>
                                        </p:tgtEl>
                                        <p:attrNameLst>
                                          <p:attrName>ppt_y</p:attrName>
                                        </p:attrNameLst>
                                      </p:cBhvr>
                                      <p:tavLst>
                                        <p:tav tm="0">
                                          <p:val>
                                            <p:strVal val="#ppt_y+0.1"/>
                                          </p:val>
                                        </p:tav>
                                        <p:tav tm="100000">
                                          <p:val>
                                            <p:strVal val="#ppt_y"/>
                                          </p:val>
                                        </p:tav>
                                      </p:tavLst>
                                    </p:anim>
                                    <p:animEffect transition="in" filter="fade">
                                      <p:cBhvr>
                                        <p:cTn id="54" dur="500"/>
                                        <p:tgtEl>
                                          <p:spTgt spid="21"/>
                                        </p:tgtEl>
                                      </p:cBhvr>
                                    </p:animEffect>
                                  </p:childTnLst>
                                </p:cTn>
                              </p:par>
                              <p:par>
                                <p:cTn id="60" presetID="2" presetClass="entr" presetSubtype="4" fill="hold" grpId="0" nodeType="withEffect">
                                  <p:stCondLst>
                                    <p:cond delay="700"/>
                                  </p:stCondLst>
                                  <p:childTnLst>
                                    <p:set>
                                      <p:cBhvr>
                                        <p:cTn id="56" dur="1" fill="hold">
                                          <p:stCondLst>
                                            <p:cond delay="0"/>
                                          </p:stCondLst>
                                        </p:cTn>
                                        <p:tgtEl>
                                          <p:spTgt spid="22"/>
                                        </p:tgtEl>
                                        <p:attrNameLst>
                                          <p:attrName>style.visibility</p:attrName>
                                        </p:attrNameLst>
                                      </p:cBhvr>
                                      <p:to>
                                        <p:strVal val="visible"/>
                                      </p:to>
                                    </p:set>
                                    <p:anim calcmode="lin" valueType="num">
                                      <p:cBhvr additive="base">
                                        <p:cTn id="57" dur="500" fill="hold"/>
                                        <p:tgtEl>
                                          <p:spTgt spid="22"/>
                                        </p:tgtEl>
                                        <p:attrNameLst>
                                          <p:attrName>ppt_x</p:attrName>
                                        </p:attrNameLst>
                                      </p:cBhvr>
                                      <p:tavLst>
                                        <p:tav tm="0">
                                          <p:val>
                                            <p:strVal val="#ppt_x"/>
                                          </p:val>
                                        </p:tav>
                                        <p:tav tm="100000">
                                          <p:val>
                                            <p:strVal val="#ppt_x"/>
                                          </p:val>
                                        </p:tav>
                                      </p:tavLst>
                                    </p:anim>
                                    <p:anim calcmode="lin" valueType="num">
                                      <p:cBhvr additive="base">
                                        <p:cTn id="58" dur="500" fill="hold"/>
                                        <p:tgtEl>
                                          <p:spTgt spid="22"/>
                                        </p:tgtEl>
                                        <p:attrNameLst>
                                          <p:attrName>ppt_y</p:attrName>
                                        </p:attrNameLst>
                                      </p:cBhvr>
                                      <p:tavLst>
                                        <p:tav tm="0">
                                          <p:val>
                                            <p:strVal val="#ppt_y+0.1"/>
                                          </p:val>
                                        </p:tav>
                                        <p:tav tm="100000">
                                          <p:val>
                                            <p:strVal val="#ppt_y"/>
                                          </p:val>
                                        </p:tav>
                                      </p:tavLst>
                                    </p:anim>
                                    <p:animEffect transition="in" filter="fade">
                                      <p:cBhvr>
                                        <p:cTn id="59" dur="500"/>
                                        <p:tgtEl>
                                          <p:spTgt spid="22"/>
                                        </p:tgtEl>
                                      </p:cBhvr>
                                    </p:animEffect>
                                  </p:childTnLst>
                                </p:cTn>
                              </p:par>
                              <p:par>
                                <p:cTn id="63" presetID="10" presetClass="entr" presetSubtype="0" fill="hold" grpId="0" nodeType="withEffect">
                                  <p:stCondLst>
                                    <p:cond delay="72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childTnLst>
                                </p:cTn>
                              </p:par>
                              <p:par>
                                <p:cTn id="66" presetID="10" presetClass="entr" presetSubtype="0" fill="hold" grpId="0" nodeType="withEffect">
                                  <p:stCondLst>
                                    <p:cond delay="72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childTnLst>
                                </p:cTn>
                              </p:par>
                              <p:par>
                                <p:cTn id="69" presetID="10" presetClass="entr" presetSubtype="0" fill="hold" grpId="0" nodeType="withEffect">
                                  <p:stCondLst>
                                    <p:cond delay="80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par>
                                <p:cTn id="72" presetID="10" presetClass="entr" presetSubtype="0" fill="hold" grpId="0" nodeType="withEffect">
                                  <p:stCondLst>
                                    <p:cond delay="80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500"/>
                                        <p:tgtEl>
                                          <p:spTgt spid="17"/>
                                        </p:tgtEl>
                                      </p:cBhvr>
                                    </p:animEffect>
                                  </p:childTnLst>
                                </p:cTn>
                              </p:par>
                              <p:par>
                                <p:cTn id="77" presetID="2" presetClass="entr" presetSubtype="4" fill="hold" grpId="0" nodeType="withEffect">
                                  <p:stCondLst>
                                    <p:cond delay="820"/>
                                  </p:stCondLst>
                                  <p:childTnLst>
                                    <p:set>
                                      <p:cBhvr>
                                        <p:cTn id="73" dur="1" fill="hold">
                                          <p:stCondLst>
                                            <p:cond delay="0"/>
                                          </p:stCondLst>
                                        </p:cTn>
                                        <p:tgtEl>
                                          <p:spTgt spid="23"/>
                                        </p:tgtEl>
                                        <p:attrNameLst>
                                          <p:attrName>style.visibility</p:attrName>
                                        </p:attrNameLst>
                                      </p:cBhvr>
                                      <p:to>
                                        <p:strVal val="visible"/>
                                      </p:to>
                                    </p:set>
                                    <p:anim calcmode="lin" valueType="num">
                                      <p:cBhvr additive="base">
                                        <p:cTn id="74" dur="500" fill="hold"/>
                                        <p:tgtEl>
                                          <p:spTgt spid="23"/>
                                        </p:tgtEl>
                                        <p:attrNameLst>
                                          <p:attrName>ppt_x</p:attrName>
                                        </p:attrNameLst>
                                      </p:cBhvr>
                                      <p:tavLst>
                                        <p:tav tm="0">
                                          <p:val>
                                            <p:strVal val="#ppt_x"/>
                                          </p:val>
                                        </p:tav>
                                        <p:tav tm="100000">
                                          <p:val>
                                            <p:strVal val="#ppt_x"/>
                                          </p:val>
                                        </p:tav>
                                      </p:tavLst>
                                    </p:anim>
                                    <p:anim calcmode="lin" valueType="num">
                                      <p:cBhvr additive="base">
                                        <p:cTn id="75" dur="500" fill="hold"/>
                                        <p:tgtEl>
                                          <p:spTgt spid="23"/>
                                        </p:tgtEl>
                                        <p:attrNameLst>
                                          <p:attrName>ppt_y</p:attrName>
                                        </p:attrNameLst>
                                      </p:cBhvr>
                                      <p:tavLst>
                                        <p:tav tm="0">
                                          <p:val>
                                            <p:strVal val="#ppt_y+0.1"/>
                                          </p:val>
                                        </p:tav>
                                        <p:tav tm="100000">
                                          <p:val>
                                            <p:strVal val="#ppt_y"/>
                                          </p:val>
                                        </p:tav>
                                      </p:tavLst>
                                    </p:anim>
                                    <p:animEffect transition="in" filter="fade">
                                      <p:cBhvr>
                                        <p:cTn id="76" dur="500"/>
                                        <p:tgtEl>
                                          <p:spTgt spid="23"/>
                                        </p:tgtEl>
                                      </p:cBhvr>
                                    </p:animEffect>
                                  </p:childTnLst>
                                </p:cTn>
                              </p:par>
                              <p:par>
                                <p:cTn id="82" presetID="2" presetClass="entr" presetSubtype="4" fill="hold" grpId="0" nodeType="withEffect">
                                  <p:stCondLst>
                                    <p:cond delay="82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ppt_x"/>
                                          </p:val>
                                        </p:tav>
                                        <p:tav tm="100000">
                                          <p:val>
                                            <p:strVal val="#ppt_x"/>
                                          </p:val>
                                        </p:tav>
                                      </p:tavLst>
                                    </p:anim>
                                    <p:anim calcmode="lin" valueType="num">
                                      <p:cBhvr additive="base">
                                        <p:cTn id="80" dur="500" fill="hold"/>
                                        <p:tgtEl>
                                          <p:spTgt spid="24"/>
                                        </p:tgtEl>
                                        <p:attrNameLst>
                                          <p:attrName>ppt_y</p:attrName>
                                        </p:attrNameLst>
                                      </p:cBhvr>
                                      <p:tavLst>
                                        <p:tav tm="0">
                                          <p:val>
                                            <p:strVal val="#ppt_y+0.1"/>
                                          </p:val>
                                        </p:tav>
                                        <p:tav tm="100000">
                                          <p:val>
                                            <p:strVal val="#ppt_y"/>
                                          </p:val>
                                        </p:tav>
                                      </p:tavLst>
                                    </p:anim>
                                    <p:animEffect transition="in" filter="fade">
                                      <p:cBhvr>
                                        <p:cTn id="81" dur="500"/>
                                        <p:tgtEl>
                                          <p:spTgt spid="24"/>
                                        </p:tgtEl>
                                      </p:cBhvr>
                                    </p:animEffect>
                                  </p:childTnLst>
                                </p:cTn>
                              </p:par>
                              <p:par>
                                <p:cTn id="87" presetID="2" presetClass="entr" presetSubtype="4" fill="hold" grpId="0" nodeType="withEffect">
                                  <p:stCondLst>
                                    <p:cond delay="940"/>
                                  </p:stCondLst>
                                  <p:childTnLst>
                                    <p:set>
                                      <p:cBhvr>
                                        <p:cTn id="83" dur="1" fill="hold">
                                          <p:stCondLst>
                                            <p:cond delay="0"/>
                                          </p:stCondLst>
                                        </p:cTn>
                                        <p:tgtEl>
                                          <p:spTgt spid="25"/>
                                        </p:tgtEl>
                                        <p:attrNameLst>
                                          <p:attrName>style.visibility</p:attrName>
                                        </p:attrNameLst>
                                      </p:cBhvr>
                                      <p:to>
                                        <p:strVal val="visible"/>
                                      </p:to>
                                    </p:set>
                                    <p:anim calcmode="lin" valueType="num">
                                      <p:cBhvr additive="base">
                                        <p:cTn id="84" dur="500" fill="hold"/>
                                        <p:tgtEl>
                                          <p:spTgt spid="25"/>
                                        </p:tgtEl>
                                        <p:attrNameLst>
                                          <p:attrName>ppt_x</p:attrName>
                                        </p:attrNameLst>
                                      </p:cBhvr>
                                      <p:tavLst>
                                        <p:tav tm="0">
                                          <p:val>
                                            <p:strVal val="#ppt_x"/>
                                          </p:val>
                                        </p:tav>
                                        <p:tav tm="100000">
                                          <p:val>
                                            <p:strVal val="#ppt_x"/>
                                          </p:val>
                                        </p:tav>
                                      </p:tavLst>
                                    </p:anim>
                                    <p:anim calcmode="lin" valueType="num">
                                      <p:cBhvr additive="base">
                                        <p:cTn id="85" dur="500" fill="hold"/>
                                        <p:tgtEl>
                                          <p:spTgt spid="25"/>
                                        </p:tgtEl>
                                        <p:attrNameLst>
                                          <p:attrName>ppt_y</p:attrName>
                                        </p:attrNameLst>
                                      </p:cBhvr>
                                      <p:tavLst>
                                        <p:tav tm="0">
                                          <p:val>
                                            <p:strVal val="#ppt_y+0.1"/>
                                          </p:val>
                                        </p:tav>
                                        <p:tav tm="100000">
                                          <p:val>
                                            <p:strVal val="#ppt_y"/>
                                          </p:val>
                                        </p:tav>
                                      </p:tavLst>
                                    </p:anim>
                                    <p:animEffect transition="in" filter="fade">
                                      <p:cBhvr>
                                        <p:cTn id="86" dur="500"/>
                                        <p:tgtEl>
                                          <p:spTgt spid="25"/>
                                        </p:tgtEl>
                                      </p:cBhvr>
                                    </p:animEffect>
                                  </p:childTnLst>
                                </p:cTn>
                              </p:par>
                              <p:par>
                                <p:cTn id="92" presetID="2" presetClass="entr" presetSubtype="4" fill="hold" grpId="0" nodeType="withEffect">
                                  <p:stCondLst>
                                    <p:cond delay="940"/>
                                  </p:stCondLst>
                                  <p:childTnLst>
                                    <p:set>
                                      <p:cBhvr>
                                        <p:cTn id="88" dur="1" fill="hold">
                                          <p:stCondLst>
                                            <p:cond delay="0"/>
                                          </p:stCondLst>
                                        </p:cTn>
                                        <p:tgtEl>
                                          <p:spTgt spid="26"/>
                                        </p:tgtEl>
                                        <p:attrNameLst>
                                          <p:attrName>style.visibility</p:attrName>
                                        </p:attrNameLst>
                                      </p:cBhvr>
                                      <p:to>
                                        <p:strVal val="visible"/>
                                      </p:to>
                                    </p:set>
                                    <p:anim calcmode="lin" valueType="num">
                                      <p:cBhvr additive="base">
                                        <p:cTn id="89" dur="500" fill="hold"/>
                                        <p:tgtEl>
                                          <p:spTgt spid="26"/>
                                        </p:tgtEl>
                                        <p:attrNameLst>
                                          <p:attrName>ppt_x</p:attrName>
                                        </p:attrNameLst>
                                      </p:cBhvr>
                                      <p:tavLst>
                                        <p:tav tm="0">
                                          <p:val>
                                            <p:strVal val="#ppt_x"/>
                                          </p:val>
                                        </p:tav>
                                        <p:tav tm="100000">
                                          <p:val>
                                            <p:strVal val="#ppt_x"/>
                                          </p:val>
                                        </p:tav>
                                      </p:tavLst>
                                    </p:anim>
                                    <p:anim calcmode="lin" valueType="num">
                                      <p:cBhvr additive="base">
                                        <p:cTn id="90" dur="500" fill="hold"/>
                                        <p:tgtEl>
                                          <p:spTgt spid="26"/>
                                        </p:tgtEl>
                                        <p:attrNameLst>
                                          <p:attrName>ppt_y</p:attrName>
                                        </p:attrNameLst>
                                      </p:cBhvr>
                                      <p:tavLst>
                                        <p:tav tm="0">
                                          <p:val>
                                            <p:strVal val="#ppt_y+0.1"/>
                                          </p:val>
                                        </p:tav>
                                        <p:tav tm="100000">
                                          <p:val>
                                            <p:strVal val="#ppt_y"/>
                                          </p:val>
                                        </p:tav>
                                      </p:tavLst>
                                    </p:anim>
                                    <p:animEffect transition="in" filter="fade">
                                      <p:cBhvr>
                                        <p:cTn id="91" dur="500"/>
                                        <p:tgtEl>
                                          <p:spTgt spid="26"/>
                                        </p:tgtEl>
                                      </p:cBhvr>
                                    </p:animEffect>
                                  </p:childTnLst>
                                </p:cTn>
                              </p:par>
                              <p:par>
                                <p:cTn id="97" presetID="2" presetClass="entr" presetSubtype="4" fill="hold" grpId="0" nodeType="withEffect">
                                  <p:stCondLst>
                                    <p:cond delay="1060"/>
                                  </p:stCondLst>
                                  <p:childTnLst>
                                    <p:set>
                                      <p:cBhvr>
                                        <p:cTn id="93" dur="1" fill="hold">
                                          <p:stCondLst>
                                            <p:cond delay="0"/>
                                          </p:stCondLst>
                                        </p:cTn>
                                        <p:tgtEl>
                                          <p:spTgt spid="27"/>
                                        </p:tgtEl>
                                        <p:attrNameLst>
                                          <p:attrName>style.visibility</p:attrName>
                                        </p:attrNameLst>
                                      </p:cBhvr>
                                      <p:to>
                                        <p:strVal val="visible"/>
                                      </p:to>
                                    </p:set>
                                    <p:anim calcmode="lin" valueType="num">
                                      <p:cBhvr additive="base">
                                        <p:cTn id="94" dur="500" fill="hold"/>
                                        <p:tgtEl>
                                          <p:spTgt spid="27"/>
                                        </p:tgtEl>
                                        <p:attrNameLst>
                                          <p:attrName>ppt_x</p:attrName>
                                        </p:attrNameLst>
                                      </p:cBhvr>
                                      <p:tavLst>
                                        <p:tav tm="0">
                                          <p:val>
                                            <p:strVal val="#ppt_x"/>
                                          </p:val>
                                        </p:tav>
                                        <p:tav tm="100000">
                                          <p:val>
                                            <p:strVal val="#ppt_x"/>
                                          </p:val>
                                        </p:tav>
                                      </p:tavLst>
                                    </p:anim>
                                    <p:anim calcmode="lin" valueType="num">
                                      <p:cBhvr additive="base">
                                        <p:cTn id="95" dur="500" fill="hold"/>
                                        <p:tgtEl>
                                          <p:spTgt spid="27"/>
                                        </p:tgtEl>
                                        <p:attrNameLst>
                                          <p:attrName>ppt_y</p:attrName>
                                        </p:attrNameLst>
                                      </p:cBhvr>
                                      <p:tavLst>
                                        <p:tav tm="0">
                                          <p:val>
                                            <p:strVal val="#ppt_y+0.1"/>
                                          </p:val>
                                        </p:tav>
                                        <p:tav tm="100000">
                                          <p:val>
                                            <p:strVal val="#ppt_y"/>
                                          </p:val>
                                        </p:tav>
                                      </p:tavLst>
                                    </p:anim>
                                    <p:animEffect transition="in" filter="fade">
                                      <p:cBhvr>
                                        <p:cTn id="96" dur="500"/>
                                        <p:tgtEl>
                                          <p:spTgt spid="27"/>
                                        </p:tgtEl>
                                      </p:cBhvr>
                                    </p:animEffect>
                                  </p:childTnLst>
                                </p:cTn>
                              </p:par>
                              <p:par>
                                <p:cTn id="102" presetID="2" presetClass="entr" presetSubtype="4" fill="hold" grpId="0" nodeType="withEffect">
                                  <p:stCondLst>
                                    <p:cond delay="1060"/>
                                  </p:stCondLst>
                                  <p:childTnLst>
                                    <p:set>
                                      <p:cBhvr>
                                        <p:cTn id="98" dur="1" fill="hold">
                                          <p:stCondLst>
                                            <p:cond delay="0"/>
                                          </p:stCondLst>
                                        </p:cTn>
                                        <p:tgtEl>
                                          <p:spTgt spid="28"/>
                                        </p:tgtEl>
                                        <p:attrNameLst>
                                          <p:attrName>style.visibility</p:attrName>
                                        </p:attrNameLst>
                                      </p:cBhvr>
                                      <p:to>
                                        <p:strVal val="visible"/>
                                      </p:to>
                                    </p:set>
                                    <p:anim calcmode="lin" valueType="num">
                                      <p:cBhvr additive="base">
                                        <p:cTn id="99" dur="500" fill="hold"/>
                                        <p:tgtEl>
                                          <p:spTgt spid="28"/>
                                        </p:tgtEl>
                                        <p:attrNameLst>
                                          <p:attrName>ppt_x</p:attrName>
                                        </p:attrNameLst>
                                      </p:cBhvr>
                                      <p:tavLst>
                                        <p:tav tm="0">
                                          <p:val>
                                            <p:strVal val="#ppt_x"/>
                                          </p:val>
                                        </p:tav>
                                        <p:tav tm="100000">
                                          <p:val>
                                            <p:strVal val="#ppt_x"/>
                                          </p:val>
                                        </p:tav>
                                      </p:tavLst>
                                    </p:anim>
                                    <p:anim calcmode="lin" valueType="num">
                                      <p:cBhvr additive="base">
                                        <p:cTn id="100" dur="500" fill="hold"/>
                                        <p:tgtEl>
                                          <p:spTgt spid="28"/>
                                        </p:tgtEl>
                                        <p:attrNameLst>
                                          <p:attrName>ppt_y</p:attrName>
                                        </p:attrNameLst>
                                      </p:cBhvr>
                                      <p:tavLst>
                                        <p:tav tm="0">
                                          <p:val>
                                            <p:strVal val="#ppt_y+0.1"/>
                                          </p:val>
                                        </p:tav>
                                        <p:tav tm="100000">
                                          <p:val>
                                            <p:strVal val="#ppt_y"/>
                                          </p:val>
                                        </p:tav>
                                      </p:tavLst>
                                    </p:anim>
                                    <p:animEffect transition="in" filter="fade">
                                      <p:cBhvr>
                                        <p:cTn id="10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How Kafka Is Implemented</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Under the hood, Kafka is a Java application that manages commit-log files</a:t>
            </a:r>
          </a:p>
        </p:txBody>
      </p:sp>
      <p:sp>
        <p:nvSpPr>
          <p:cNvPr id="11" name="a1u_n10"/>
          <p:cNvSpPr/>
          <p:nvPr/>
        </p:nvSpPr>
        <p:spPr>
          <a:xfrm>
            <a:off x="457200" y="1353312"/>
            <a:ext cx="365760" cy="365760"/>
          </a:xfrm>
          <a:prstGeom prst="roundRect">
            <a:avLst>
              <a:gd name="adj" fmla="val 2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t11"/>
          <p:cNvSpPr txBox="1"/>
          <p:nvPr/>
        </p:nvSpPr>
        <p:spPr>
          <a:xfrm>
            <a:off x="457200" y="1353312"/>
            <a:ext cx="365760" cy="365760"/>
          </a:xfrm>
          <a:prstGeom prst="rect">
            <a:avLst/>
          </a:prstGeom>
          <a:noFill/>
        </p:spPr>
        <p:txBody>
          <a:bodyPr wrap="square" lIns="0" tIns="0" rIns="0" bIns="0" anchor="ctr">
            <a:spAutoFit/>
          </a:bodyPr>
          <a:lstStyle/>
          <a:p>
            <a:pPr algn="ctr"/>
            <a:r>
              <a:rPr sz="1200" b="1">
                <a:solidFill>
                  <a:srgbClr val="FFFFFF"/>
                </a:solidFill>
                <a:latin typeface="Segoe UI"/>
              </a:rPr>
              <a:t>1</a:t>
            </a:r>
          </a:p>
        </p:txBody>
      </p:sp>
      <p:sp>
        <p:nvSpPr>
          <p:cNvPr id="13" name="a1u_it12"/>
          <p:cNvSpPr txBox="1"/>
          <p:nvPr/>
        </p:nvSpPr>
        <p:spPr>
          <a:xfrm>
            <a:off x="960120" y="1307592"/>
            <a:ext cx="4160520" cy="256032"/>
          </a:xfrm>
          <a:prstGeom prst="rect">
            <a:avLst/>
          </a:prstGeom>
          <a:noFill/>
        </p:spPr>
        <p:txBody>
          <a:bodyPr wrap="square" lIns="0" tIns="0" rIns="0" bIns="0" anchor="ctr">
            <a:spAutoFit/>
          </a:bodyPr>
          <a:lstStyle/>
          <a:p>
            <a:pPr algn="l"/>
            <a:r>
              <a:rPr sz="1100" b="1">
                <a:solidFill>
                  <a:srgbClr val="1C1917"/>
                </a:solidFill>
                <a:latin typeface="Segoe UI"/>
              </a:rPr>
              <a:t>Kafka is software</a:t>
            </a:r>
          </a:p>
        </p:txBody>
      </p:sp>
      <p:sp>
        <p:nvSpPr>
          <p:cNvPr id="14" name="a1u_id13"/>
          <p:cNvSpPr txBox="1"/>
          <p:nvPr/>
        </p:nvSpPr>
        <p:spPr>
          <a:xfrm>
            <a:off x="960120" y="1563624"/>
            <a:ext cx="4160520" cy="274320"/>
          </a:xfrm>
          <a:prstGeom prst="rect">
            <a:avLst/>
          </a:prstGeom>
          <a:noFill/>
        </p:spPr>
        <p:txBody>
          <a:bodyPr wrap="square" lIns="0" tIns="0" rIns="0" bIns="0" anchor="t">
            <a:spAutoFit/>
          </a:bodyPr>
          <a:lstStyle/>
          <a:p>
            <a:pPr algn="l"/>
            <a:r>
              <a:rPr sz="900" b="0">
                <a:solidFill>
                  <a:srgbClr val="78716C"/>
                </a:solidFill>
                <a:latin typeface="Segoe UI"/>
              </a:rPr>
              <a:t>you download it and run it as a server</a:t>
            </a:r>
          </a:p>
        </p:txBody>
      </p:sp>
      <p:sp>
        <p:nvSpPr>
          <p:cNvPr id="15" name="a2u_n14"/>
          <p:cNvSpPr/>
          <p:nvPr/>
        </p:nvSpPr>
        <p:spPr>
          <a:xfrm>
            <a:off x="457200" y="2011679"/>
            <a:ext cx="365760" cy="365760"/>
          </a:xfrm>
          <a:prstGeom prst="roundRect">
            <a:avLst>
              <a:gd name="adj" fmla="val 2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_nt15"/>
          <p:cNvSpPr txBox="1"/>
          <p:nvPr/>
        </p:nvSpPr>
        <p:spPr>
          <a:xfrm>
            <a:off x="457200" y="2011679"/>
            <a:ext cx="365760" cy="365760"/>
          </a:xfrm>
          <a:prstGeom prst="rect">
            <a:avLst/>
          </a:prstGeom>
          <a:noFill/>
        </p:spPr>
        <p:txBody>
          <a:bodyPr wrap="square" lIns="0" tIns="0" rIns="0" bIns="0" anchor="ctr">
            <a:spAutoFit/>
          </a:bodyPr>
          <a:lstStyle/>
          <a:p>
            <a:pPr algn="ctr"/>
            <a:r>
              <a:rPr sz="1200" b="1">
                <a:solidFill>
                  <a:srgbClr val="FFFFFF"/>
                </a:solidFill>
                <a:latin typeface="Segoe UI"/>
              </a:rPr>
              <a:t>2</a:t>
            </a:r>
          </a:p>
        </p:txBody>
      </p:sp>
      <p:sp>
        <p:nvSpPr>
          <p:cNvPr id="17" name="a2u_it16"/>
          <p:cNvSpPr txBox="1"/>
          <p:nvPr/>
        </p:nvSpPr>
        <p:spPr>
          <a:xfrm>
            <a:off x="960120" y="1965960"/>
            <a:ext cx="4160520" cy="256032"/>
          </a:xfrm>
          <a:prstGeom prst="rect">
            <a:avLst/>
          </a:prstGeom>
          <a:noFill/>
        </p:spPr>
        <p:txBody>
          <a:bodyPr wrap="square" lIns="0" tIns="0" rIns="0" bIns="0" anchor="ctr">
            <a:spAutoFit/>
          </a:bodyPr>
          <a:lstStyle/>
          <a:p>
            <a:pPr algn="l"/>
            <a:r>
              <a:rPr sz="1100" b="1">
                <a:solidFill>
                  <a:srgbClr val="1C1917"/>
                </a:solidFill>
                <a:latin typeface="Segoe UI"/>
              </a:rPr>
              <a:t>A commit-log file processing software</a:t>
            </a:r>
          </a:p>
        </p:txBody>
      </p:sp>
      <p:sp>
        <p:nvSpPr>
          <p:cNvPr id="18" name="a2u_id17"/>
          <p:cNvSpPr txBox="1"/>
          <p:nvPr/>
        </p:nvSpPr>
        <p:spPr>
          <a:xfrm>
            <a:off x="960120" y="2221991"/>
            <a:ext cx="4160520" cy="274320"/>
          </a:xfrm>
          <a:prstGeom prst="rect">
            <a:avLst/>
          </a:prstGeom>
          <a:noFill/>
        </p:spPr>
        <p:txBody>
          <a:bodyPr wrap="square" lIns="0" tIns="0" rIns="0" bIns="0" anchor="t">
            <a:spAutoFit/>
          </a:bodyPr>
          <a:lstStyle/>
          <a:p>
            <a:pPr algn="l"/>
            <a:r>
              <a:rPr sz="900" b="0">
                <a:solidFill>
                  <a:srgbClr val="78716C"/>
                </a:solidFill>
                <a:latin typeface="Segoe UI"/>
              </a:rPr>
              <a:t>it writes, stores and reads commit-log files</a:t>
            </a:r>
          </a:p>
        </p:txBody>
      </p:sp>
      <p:sp>
        <p:nvSpPr>
          <p:cNvPr id="19" name="a3u_n18"/>
          <p:cNvSpPr/>
          <p:nvPr/>
        </p:nvSpPr>
        <p:spPr>
          <a:xfrm>
            <a:off x="457200" y="2670047"/>
            <a:ext cx="365760" cy="365760"/>
          </a:xfrm>
          <a:prstGeom prst="roundRect">
            <a:avLst>
              <a:gd name="adj" fmla="val 2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3u_nt19"/>
          <p:cNvSpPr txBox="1"/>
          <p:nvPr/>
        </p:nvSpPr>
        <p:spPr>
          <a:xfrm>
            <a:off x="457200" y="2670047"/>
            <a:ext cx="365760" cy="365760"/>
          </a:xfrm>
          <a:prstGeom prst="rect">
            <a:avLst/>
          </a:prstGeom>
          <a:noFill/>
        </p:spPr>
        <p:txBody>
          <a:bodyPr wrap="square" lIns="0" tIns="0" rIns="0" bIns="0" anchor="ctr">
            <a:spAutoFit/>
          </a:bodyPr>
          <a:lstStyle/>
          <a:p>
            <a:pPr algn="ctr"/>
            <a:r>
              <a:rPr sz="1200" b="1">
                <a:solidFill>
                  <a:srgbClr val="FFFFFF"/>
                </a:solidFill>
                <a:latin typeface="Segoe UI"/>
              </a:rPr>
              <a:t>3</a:t>
            </a:r>
          </a:p>
        </p:txBody>
      </p:sp>
      <p:sp>
        <p:nvSpPr>
          <p:cNvPr id="21" name="a3u_it20"/>
          <p:cNvSpPr txBox="1"/>
          <p:nvPr/>
        </p:nvSpPr>
        <p:spPr>
          <a:xfrm>
            <a:off x="960120" y="2624327"/>
            <a:ext cx="4160520" cy="256032"/>
          </a:xfrm>
          <a:prstGeom prst="rect">
            <a:avLst/>
          </a:prstGeom>
          <a:noFill/>
        </p:spPr>
        <p:txBody>
          <a:bodyPr wrap="square" lIns="0" tIns="0" rIns="0" bIns="0" anchor="ctr">
            <a:spAutoFit/>
          </a:bodyPr>
          <a:lstStyle/>
          <a:p>
            <a:pPr algn="l"/>
            <a:r>
              <a:rPr sz="1100" b="1">
                <a:solidFill>
                  <a:srgbClr val="1C1917"/>
                </a:solidFill>
                <a:latin typeface="Segoe UI"/>
              </a:rPr>
              <a:t>Written in Java and Scala</a:t>
            </a:r>
          </a:p>
        </p:txBody>
      </p:sp>
      <p:sp>
        <p:nvSpPr>
          <p:cNvPr id="22" name="a3u_id21"/>
          <p:cNvSpPr txBox="1"/>
          <p:nvPr/>
        </p:nvSpPr>
        <p:spPr>
          <a:xfrm>
            <a:off x="960120" y="2880359"/>
            <a:ext cx="4160520" cy="274320"/>
          </a:xfrm>
          <a:prstGeom prst="rect">
            <a:avLst/>
          </a:prstGeom>
          <a:noFill/>
        </p:spPr>
        <p:txBody>
          <a:bodyPr wrap="square" lIns="0" tIns="0" rIns="0" bIns="0" anchor="t">
            <a:spAutoFit/>
          </a:bodyPr>
          <a:lstStyle/>
          <a:p>
            <a:pPr algn="l"/>
            <a:r>
              <a:rPr sz="900" b="0">
                <a:solidFill>
                  <a:srgbClr val="78716C"/>
                </a:solidFill>
                <a:latin typeface="Segoe UI"/>
              </a:rPr>
              <a:t>Kafka is, at heart, a Java application</a:t>
            </a:r>
          </a:p>
        </p:txBody>
      </p:sp>
      <p:sp>
        <p:nvSpPr>
          <p:cNvPr id="23" name="a4u_n22"/>
          <p:cNvSpPr/>
          <p:nvPr/>
        </p:nvSpPr>
        <p:spPr>
          <a:xfrm>
            <a:off x="457200" y="3328416"/>
            <a:ext cx="365760" cy="365760"/>
          </a:xfrm>
          <a:prstGeom prst="roundRect">
            <a:avLst>
              <a:gd name="adj" fmla="val 2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4u_nt23"/>
          <p:cNvSpPr txBox="1"/>
          <p:nvPr/>
        </p:nvSpPr>
        <p:spPr>
          <a:xfrm>
            <a:off x="457200" y="3328416"/>
            <a:ext cx="365760" cy="365760"/>
          </a:xfrm>
          <a:prstGeom prst="rect">
            <a:avLst/>
          </a:prstGeom>
          <a:noFill/>
        </p:spPr>
        <p:txBody>
          <a:bodyPr wrap="square" lIns="0" tIns="0" rIns="0" bIns="0" anchor="ctr">
            <a:spAutoFit/>
          </a:bodyPr>
          <a:lstStyle/>
          <a:p>
            <a:pPr algn="ctr"/>
            <a:r>
              <a:rPr sz="1200" b="1">
                <a:solidFill>
                  <a:srgbClr val="FFFFFF"/>
                </a:solidFill>
                <a:latin typeface="Segoe UI"/>
              </a:rPr>
              <a:t>4</a:t>
            </a:r>
          </a:p>
        </p:txBody>
      </p:sp>
      <p:sp>
        <p:nvSpPr>
          <p:cNvPr id="25" name="a4u_it24"/>
          <p:cNvSpPr txBox="1"/>
          <p:nvPr/>
        </p:nvSpPr>
        <p:spPr>
          <a:xfrm>
            <a:off x="960120" y="3282696"/>
            <a:ext cx="4160520" cy="256032"/>
          </a:xfrm>
          <a:prstGeom prst="rect">
            <a:avLst/>
          </a:prstGeom>
          <a:noFill/>
        </p:spPr>
        <p:txBody>
          <a:bodyPr wrap="square" lIns="0" tIns="0" rIns="0" bIns="0" anchor="ctr">
            <a:spAutoFit/>
          </a:bodyPr>
          <a:lstStyle/>
          <a:p>
            <a:pPr algn="l"/>
            <a:r>
              <a:rPr sz="1100" b="1">
                <a:solidFill>
                  <a:srgbClr val="1C1917"/>
                </a:solidFill>
                <a:latin typeface="Segoe UI"/>
              </a:rPr>
              <a:t>It needs a JVM to run</a:t>
            </a:r>
          </a:p>
        </p:txBody>
      </p:sp>
      <p:sp>
        <p:nvSpPr>
          <p:cNvPr id="26" name="a4u_id25"/>
          <p:cNvSpPr txBox="1"/>
          <p:nvPr/>
        </p:nvSpPr>
        <p:spPr>
          <a:xfrm>
            <a:off x="960120" y="3538728"/>
            <a:ext cx="4160520" cy="274320"/>
          </a:xfrm>
          <a:prstGeom prst="rect">
            <a:avLst/>
          </a:prstGeom>
          <a:noFill/>
        </p:spPr>
        <p:txBody>
          <a:bodyPr wrap="square" lIns="0" tIns="0" rIns="0" bIns="0" anchor="t">
            <a:spAutoFit/>
          </a:bodyPr>
          <a:lstStyle/>
          <a:p>
            <a:pPr algn="l"/>
            <a:r>
              <a:rPr sz="900" b="0">
                <a:solidFill>
                  <a:srgbClr val="78716C"/>
                </a:solidFill>
                <a:latin typeface="Segoe UI"/>
              </a:rPr>
              <a:t>Kafka 4.x servers need Java 17 or later</a:t>
            </a:r>
          </a:p>
        </p:txBody>
      </p:sp>
      <p:sp>
        <p:nvSpPr>
          <p:cNvPr id="27" name="a5ud360_stk26"/>
          <p:cNvSpPr/>
          <p:nvPr/>
        </p:nvSpPr>
        <p:spPr>
          <a:xfrm>
            <a:off x="5486400" y="1280160"/>
            <a:ext cx="3200400" cy="475488"/>
          </a:xfrm>
          <a:prstGeom prst="roundRect">
            <a:avLst>
              <a:gd name="adj" fmla="val 11538"/>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5ud360_stkt27"/>
          <p:cNvSpPr txBox="1"/>
          <p:nvPr/>
        </p:nvSpPr>
        <p:spPr>
          <a:xfrm>
            <a:off x="5577840" y="1280160"/>
            <a:ext cx="3017520" cy="475488"/>
          </a:xfrm>
          <a:prstGeom prst="rect">
            <a:avLst/>
          </a:prstGeom>
          <a:noFill/>
        </p:spPr>
        <p:txBody>
          <a:bodyPr wrap="square" lIns="0" tIns="0" rIns="0" bIns="0" anchor="ctr">
            <a:spAutoFit/>
          </a:bodyPr>
          <a:lstStyle/>
          <a:p>
            <a:pPr algn="ctr"/>
            <a:r>
              <a:rPr sz="900" b="1">
                <a:solidFill>
                  <a:srgbClr val="4F46E5"/>
                </a:solidFill>
                <a:latin typeface="Segoe UI"/>
              </a:rPr>
              <a:t>Client apps - Java, Python, Go, .NET...</a:t>
            </a:r>
          </a:p>
        </p:txBody>
      </p:sp>
      <p:sp>
        <p:nvSpPr>
          <p:cNvPr id="29" name="a5ud240_stk28"/>
          <p:cNvSpPr/>
          <p:nvPr/>
        </p:nvSpPr>
        <p:spPr>
          <a:xfrm>
            <a:off x="5486400" y="1847088"/>
            <a:ext cx="3200400" cy="475488"/>
          </a:xfrm>
          <a:prstGeom prst="roundRect">
            <a:avLst>
              <a:gd name="adj" fmla="val 11538"/>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5ud240_stkt29"/>
          <p:cNvSpPr txBox="1"/>
          <p:nvPr/>
        </p:nvSpPr>
        <p:spPr>
          <a:xfrm>
            <a:off x="5577840" y="1847088"/>
            <a:ext cx="3017520" cy="475488"/>
          </a:xfrm>
          <a:prstGeom prst="rect">
            <a:avLst/>
          </a:prstGeom>
          <a:noFill/>
        </p:spPr>
        <p:txBody>
          <a:bodyPr wrap="square" lIns="0" tIns="0" rIns="0" bIns="0" anchor="ctr">
            <a:spAutoFit/>
          </a:bodyPr>
          <a:lstStyle/>
          <a:p>
            <a:pPr algn="ctr"/>
            <a:r>
              <a:rPr sz="900" b="1">
                <a:solidFill>
                  <a:srgbClr val="EA580C"/>
                </a:solidFill>
                <a:latin typeface="Segoe UI"/>
              </a:rPr>
              <a:t>Kafka - Java and Scala</a:t>
            </a:r>
          </a:p>
        </p:txBody>
      </p:sp>
      <p:sp>
        <p:nvSpPr>
          <p:cNvPr id="31" name="a5ud120_stk30"/>
          <p:cNvSpPr/>
          <p:nvPr/>
        </p:nvSpPr>
        <p:spPr>
          <a:xfrm>
            <a:off x="5486400" y="2414015"/>
            <a:ext cx="3200400" cy="475488"/>
          </a:xfrm>
          <a:prstGeom prst="roundRect">
            <a:avLst>
              <a:gd name="adj" fmla="val 11538"/>
            </a:avLst>
          </a:prstGeom>
          <a:solidFill>
            <a:srgbClr val="D9F2F7"/>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5ud120_stkt31"/>
          <p:cNvSpPr txBox="1"/>
          <p:nvPr/>
        </p:nvSpPr>
        <p:spPr>
          <a:xfrm>
            <a:off x="5577840" y="2414015"/>
            <a:ext cx="3017520" cy="475488"/>
          </a:xfrm>
          <a:prstGeom prst="rect">
            <a:avLst/>
          </a:prstGeom>
          <a:noFill/>
        </p:spPr>
        <p:txBody>
          <a:bodyPr wrap="square" lIns="0" tIns="0" rIns="0" bIns="0" anchor="ctr">
            <a:spAutoFit/>
          </a:bodyPr>
          <a:lstStyle/>
          <a:p>
            <a:pPr algn="ctr"/>
            <a:r>
              <a:rPr sz="900" b="1">
                <a:solidFill>
                  <a:srgbClr val="0E7490"/>
                </a:solidFill>
                <a:latin typeface="Segoe UI"/>
              </a:rPr>
              <a:t>JVM - Java 17 or later</a:t>
            </a:r>
          </a:p>
        </p:txBody>
      </p:sp>
      <p:sp>
        <p:nvSpPr>
          <p:cNvPr id="33" name="a5u_stk32"/>
          <p:cNvSpPr/>
          <p:nvPr/>
        </p:nvSpPr>
        <p:spPr>
          <a:xfrm>
            <a:off x="5486400" y="2980944"/>
            <a:ext cx="3200400" cy="475488"/>
          </a:xfrm>
          <a:prstGeom prst="roundRect">
            <a:avLst>
              <a:gd name="adj" fmla="val 11538"/>
            </a:avLst>
          </a:prstGeom>
          <a:solidFill>
            <a:srgbClr val="E7E5E0"/>
          </a:solidFill>
          <a:ln w="12700">
            <a:solidFill>
              <a:srgbClr val="3F3F4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5u_stkt33"/>
          <p:cNvSpPr txBox="1"/>
          <p:nvPr/>
        </p:nvSpPr>
        <p:spPr>
          <a:xfrm>
            <a:off x="5577840" y="2980944"/>
            <a:ext cx="3017520" cy="475488"/>
          </a:xfrm>
          <a:prstGeom prst="rect">
            <a:avLst/>
          </a:prstGeom>
          <a:noFill/>
        </p:spPr>
        <p:txBody>
          <a:bodyPr wrap="square" lIns="0" tIns="0" rIns="0" bIns="0" anchor="ctr">
            <a:spAutoFit/>
          </a:bodyPr>
          <a:lstStyle/>
          <a:p>
            <a:pPr algn="ctr"/>
            <a:r>
              <a:rPr sz="900" b="1">
                <a:solidFill>
                  <a:srgbClr val="44403C"/>
                </a:solidFill>
                <a:latin typeface="Segoe UI"/>
              </a:rPr>
              <a:t>Operating system - Linux in production</a:t>
            </a:r>
          </a:p>
        </p:txBody>
      </p:sp>
      <p:sp>
        <p:nvSpPr>
          <p:cNvPr id="35" name="a6u_disk34"/>
          <p:cNvSpPr/>
          <p:nvPr/>
        </p:nvSpPr>
        <p:spPr>
          <a:xfrm>
            <a:off x="5486400" y="3611880"/>
            <a:ext cx="3200400" cy="420624"/>
          </a:xfrm>
          <a:prstGeom prst="roundRect">
            <a:avLst>
              <a:gd name="adj" fmla="val 13043"/>
            </a:avLst>
          </a:prstGeom>
          <a:solidFill>
            <a:srgbClr val="F7F6F3"/>
          </a:solidFill>
          <a:ln w="12700">
            <a:solidFill>
              <a:srgbClr val="A1620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6u_diskt35"/>
          <p:cNvSpPr txBox="1"/>
          <p:nvPr/>
        </p:nvSpPr>
        <p:spPr>
          <a:xfrm>
            <a:off x="5577840" y="3611880"/>
            <a:ext cx="3017520" cy="420624"/>
          </a:xfrm>
          <a:prstGeom prst="rect">
            <a:avLst/>
          </a:prstGeom>
          <a:noFill/>
        </p:spPr>
        <p:txBody>
          <a:bodyPr wrap="square" lIns="0" tIns="0" rIns="0" bIns="0" anchor="ctr">
            <a:spAutoFit/>
          </a:bodyPr>
          <a:lstStyle/>
          <a:p>
            <a:pPr algn="ctr"/>
            <a:r>
              <a:rPr sz="1000" b="1">
                <a:solidFill>
                  <a:srgbClr val="A16207"/>
                </a:solidFill>
                <a:latin typeface="Consolas"/>
              </a:rPr>
              <a:t>commit-log files on disk</a:t>
            </a:r>
          </a:p>
        </p:txBody>
      </p:sp>
      <p:sp>
        <p:nvSpPr>
          <p:cNvPr id="37" name="a6fd100_lb36"/>
          <p:cNvSpPr txBox="1"/>
          <p:nvPr/>
        </p:nvSpPr>
        <p:spPr>
          <a:xfrm>
            <a:off x="5486400" y="4069080"/>
            <a:ext cx="3200400" cy="201168"/>
          </a:xfrm>
          <a:prstGeom prst="rect">
            <a:avLst/>
          </a:prstGeom>
          <a:noFill/>
        </p:spPr>
        <p:txBody>
          <a:bodyPr wrap="square" lIns="0" tIns="0" rIns="0" bIns="0" anchor="ctr">
            <a:spAutoFit/>
          </a:bodyPr>
          <a:lstStyle/>
          <a:p>
            <a:pPr algn="ctr"/>
            <a:r>
              <a:rPr sz="800" b="0">
                <a:solidFill>
                  <a:srgbClr val="78716C"/>
                </a:solidFill>
                <a:latin typeface="Segoe UI"/>
              </a:rPr>
              <a:t>clients reach Kafka over the network</a:t>
            </a:r>
          </a:p>
        </p:txBody>
      </p:sp>
      <p:sp>
        <p:nvSpPr>
          <p:cNvPr id="38" name="ft3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63</a:t>
            </a:r>
          </a:p>
        </p:txBody>
      </p:sp>
      <p:sp>
        <p:nvSpPr>
          <p:cNvPr id="39" name="ft3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ft3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1" name="ft4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31" presetID="2" presetClass="entr" presetSubtype="4"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ppt_y+0.1"/>
                                          </p:val>
                                        </p:tav>
                                        <p:tav tm="100000">
                                          <p:val>
                                            <p:strVal val="#ppt_y"/>
                                          </p:val>
                                        </p:tav>
                                      </p:tavLst>
                                    </p:anim>
                                    <p:animEffect transition="in" filter="fade">
                                      <p:cBhvr>
                                        <p:cTn id="30" dur="500"/>
                                        <p:tgtEl>
                                          <p:spTgt spid="15"/>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ppt_y+0.1"/>
                                          </p:val>
                                        </p:tav>
                                        <p:tav tm="100000">
                                          <p:val>
                                            <p:strVal val="#ppt_y"/>
                                          </p:val>
                                        </p:tav>
                                      </p:tavLst>
                                    </p:anim>
                                    <p:animEffect transition="in" filter="fade">
                                      <p:cBhvr>
                                        <p:cTn id="40" dur="500"/>
                                        <p:tgtEl>
                                          <p:spTgt spid="17"/>
                                        </p:tgtEl>
                                      </p:cBhvr>
                                    </p:animEffect>
                                  </p:childTnLst>
                                </p:cTn>
                              </p:par>
                              <p:par>
                                <p:cTn id="46" presetID="2" presetClass="entr" presetSubtype="4"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ppt_y+0.1"/>
                                          </p:val>
                                        </p:tav>
                                        <p:tav tm="100000">
                                          <p:val>
                                            <p:strVal val="#ppt_y"/>
                                          </p:val>
                                        </p:tav>
                                      </p:tavLst>
                                    </p:anim>
                                    <p:animEffect transition="in" filter="fade">
                                      <p:cBhvr>
                                        <p:cTn id="45"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53" presetID="2" presetClass="entr" presetSubtype="4"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ppt_x"/>
                                          </p:val>
                                        </p:tav>
                                        <p:tav tm="100000">
                                          <p:val>
                                            <p:strVal val="#ppt_x"/>
                                          </p:val>
                                        </p:tav>
                                      </p:tavLst>
                                    </p:anim>
                                    <p:anim calcmode="lin" valueType="num">
                                      <p:cBhvr additive="base">
                                        <p:cTn id="51" dur="500" fill="hold"/>
                                        <p:tgtEl>
                                          <p:spTgt spid="19"/>
                                        </p:tgtEl>
                                        <p:attrNameLst>
                                          <p:attrName>ppt_y</p:attrName>
                                        </p:attrNameLst>
                                      </p:cBhvr>
                                      <p:tavLst>
                                        <p:tav tm="0">
                                          <p:val>
                                            <p:strVal val="#ppt_y+0.1"/>
                                          </p:val>
                                        </p:tav>
                                        <p:tav tm="100000">
                                          <p:val>
                                            <p:strVal val="#ppt_y"/>
                                          </p:val>
                                        </p:tav>
                                      </p:tavLst>
                                    </p:anim>
                                    <p:animEffect transition="in" filter="fade">
                                      <p:cBhvr>
                                        <p:cTn id="52" dur="500"/>
                                        <p:tgtEl>
                                          <p:spTgt spid="19"/>
                                        </p:tgtEl>
                                      </p:cBhvr>
                                    </p:animEffect>
                                  </p:childTnLst>
                                </p:cTn>
                              </p:par>
                              <p:par>
                                <p:cTn id="58" presetID="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ppt_y+0.1"/>
                                          </p:val>
                                        </p:tav>
                                        <p:tav tm="100000">
                                          <p:val>
                                            <p:strVal val="#ppt_y"/>
                                          </p:val>
                                        </p:tav>
                                      </p:tavLst>
                                    </p:anim>
                                    <p:animEffect transition="in" filter="fade">
                                      <p:cBhvr>
                                        <p:cTn id="57" dur="500"/>
                                        <p:tgtEl>
                                          <p:spTgt spid="20"/>
                                        </p:tgtEl>
                                      </p:cBhvr>
                                    </p:animEffect>
                                  </p:childTnLst>
                                </p:cTn>
                              </p:par>
                              <p:par>
                                <p:cTn id="63" presetID="2" presetClass="entr" presetSubtype="4"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additive="base">
                                        <p:cTn id="60" dur="500" fill="hold"/>
                                        <p:tgtEl>
                                          <p:spTgt spid="21"/>
                                        </p:tgtEl>
                                        <p:attrNameLst>
                                          <p:attrName>ppt_x</p:attrName>
                                        </p:attrNameLst>
                                      </p:cBhvr>
                                      <p:tavLst>
                                        <p:tav tm="0">
                                          <p:val>
                                            <p:strVal val="#ppt_x"/>
                                          </p:val>
                                        </p:tav>
                                        <p:tav tm="100000">
                                          <p:val>
                                            <p:strVal val="#ppt_x"/>
                                          </p:val>
                                        </p:tav>
                                      </p:tavLst>
                                    </p:anim>
                                    <p:anim calcmode="lin" valueType="num">
                                      <p:cBhvr additive="base">
                                        <p:cTn id="61" dur="500" fill="hold"/>
                                        <p:tgtEl>
                                          <p:spTgt spid="21"/>
                                        </p:tgtEl>
                                        <p:attrNameLst>
                                          <p:attrName>ppt_y</p:attrName>
                                        </p:attrNameLst>
                                      </p:cBhvr>
                                      <p:tavLst>
                                        <p:tav tm="0">
                                          <p:val>
                                            <p:strVal val="#ppt_y+0.1"/>
                                          </p:val>
                                        </p:tav>
                                        <p:tav tm="100000">
                                          <p:val>
                                            <p:strVal val="#ppt_y"/>
                                          </p:val>
                                        </p:tav>
                                      </p:tavLst>
                                    </p:anim>
                                    <p:animEffect transition="in" filter="fade">
                                      <p:cBhvr>
                                        <p:cTn id="62" dur="500"/>
                                        <p:tgtEl>
                                          <p:spTgt spid="21"/>
                                        </p:tgtEl>
                                      </p:cBhvr>
                                    </p:animEffect>
                                  </p:childTnLst>
                                </p:cTn>
                              </p:par>
                              <p:par>
                                <p:cTn id="68" presetID="2" presetClass="entr" presetSubtype="4"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 calcmode="lin" valueType="num">
                                      <p:cBhvr additive="base">
                                        <p:cTn id="65" dur="500" fill="hold"/>
                                        <p:tgtEl>
                                          <p:spTgt spid="22"/>
                                        </p:tgtEl>
                                        <p:attrNameLst>
                                          <p:attrName>ppt_x</p:attrName>
                                        </p:attrNameLst>
                                      </p:cBhvr>
                                      <p:tavLst>
                                        <p:tav tm="0">
                                          <p:val>
                                            <p:strVal val="#ppt_x"/>
                                          </p:val>
                                        </p:tav>
                                        <p:tav tm="100000">
                                          <p:val>
                                            <p:strVal val="#ppt_x"/>
                                          </p:val>
                                        </p:tav>
                                      </p:tavLst>
                                    </p:anim>
                                    <p:anim calcmode="lin" valueType="num">
                                      <p:cBhvr additive="base">
                                        <p:cTn id="66" dur="500" fill="hold"/>
                                        <p:tgtEl>
                                          <p:spTgt spid="22"/>
                                        </p:tgtEl>
                                        <p:attrNameLst>
                                          <p:attrName>ppt_y</p:attrName>
                                        </p:attrNameLst>
                                      </p:cBhvr>
                                      <p:tavLst>
                                        <p:tav tm="0">
                                          <p:val>
                                            <p:strVal val="#ppt_y+0.1"/>
                                          </p:val>
                                        </p:tav>
                                        <p:tav tm="100000">
                                          <p:val>
                                            <p:strVal val="#ppt_y"/>
                                          </p:val>
                                        </p:tav>
                                      </p:tavLst>
                                    </p:anim>
                                    <p:animEffect transition="in" filter="fade">
                                      <p:cBhvr>
                                        <p:cTn id="67"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5" presetID="2" presetClass="entr" presetSubtype="4"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500" fill="hold"/>
                                        <p:tgtEl>
                                          <p:spTgt spid="23"/>
                                        </p:tgtEl>
                                        <p:attrNameLst>
                                          <p:attrName>ppt_x</p:attrName>
                                        </p:attrNameLst>
                                      </p:cBhvr>
                                      <p:tavLst>
                                        <p:tav tm="0">
                                          <p:val>
                                            <p:strVal val="#ppt_x"/>
                                          </p:val>
                                        </p:tav>
                                        <p:tav tm="100000">
                                          <p:val>
                                            <p:strVal val="#ppt_x"/>
                                          </p:val>
                                        </p:tav>
                                      </p:tavLst>
                                    </p:anim>
                                    <p:anim calcmode="lin" valueType="num">
                                      <p:cBhvr additive="base">
                                        <p:cTn id="73" dur="500" fill="hold"/>
                                        <p:tgtEl>
                                          <p:spTgt spid="23"/>
                                        </p:tgtEl>
                                        <p:attrNameLst>
                                          <p:attrName>ppt_y</p:attrName>
                                        </p:attrNameLst>
                                      </p:cBhvr>
                                      <p:tavLst>
                                        <p:tav tm="0">
                                          <p:val>
                                            <p:strVal val="#ppt_y+0.1"/>
                                          </p:val>
                                        </p:tav>
                                        <p:tav tm="100000">
                                          <p:val>
                                            <p:strVal val="#ppt_y"/>
                                          </p:val>
                                        </p:tav>
                                      </p:tavLst>
                                    </p:anim>
                                    <p:animEffect transition="in" filter="fade">
                                      <p:cBhvr>
                                        <p:cTn id="74" dur="500"/>
                                        <p:tgtEl>
                                          <p:spTgt spid="23"/>
                                        </p:tgtEl>
                                      </p:cBhvr>
                                    </p:animEffect>
                                  </p:childTnLst>
                                </p:cTn>
                              </p:par>
                              <p:par>
                                <p:cTn id="80" presetID="2" presetClass="entr" presetSubtype="4"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500" fill="hold"/>
                                        <p:tgtEl>
                                          <p:spTgt spid="24"/>
                                        </p:tgtEl>
                                        <p:attrNameLst>
                                          <p:attrName>ppt_x</p:attrName>
                                        </p:attrNameLst>
                                      </p:cBhvr>
                                      <p:tavLst>
                                        <p:tav tm="0">
                                          <p:val>
                                            <p:strVal val="#ppt_x"/>
                                          </p:val>
                                        </p:tav>
                                        <p:tav tm="100000">
                                          <p:val>
                                            <p:strVal val="#ppt_x"/>
                                          </p:val>
                                        </p:tav>
                                      </p:tavLst>
                                    </p:anim>
                                    <p:anim calcmode="lin" valueType="num">
                                      <p:cBhvr additive="base">
                                        <p:cTn id="78" dur="500" fill="hold"/>
                                        <p:tgtEl>
                                          <p:spTgt spid="24"/>
                                        </p:tgtEl>
                                        <p:attrNameLst>
                                          <p:attrName>ppt_y</p:attrName>
                                        </p:attrNameLst>
                                      </p:cBhvr>
                                      <p:tavLst>
                                        <p:tav tm="0">
                                          <p:val>
                                            <p:strVal val="#ppt_y+0.1"/>
                                          </p:val>
                                        </p:tav>
                                        <p:tav tm="100000">
                                          <p:val>
                                            <p:strVal val="#ppt_y"/>
                                          </p:val>
                                        </p:tav>
                                      </p:tavLst>
                                    </p:anim>
                                    <p:animEffect transition="in" filter="fade">
                                      <p:cBhvr>
                                        <p:cTn id="79" dur="500"/>
                                        <p:tgtEl>
                                          <p:spTgt spid="24"/>
                                        </p:tgtEl>
                                      </p:cBhvr>
                                    </p:animEffect>
                                  </p:childTnLst>
                                </p:cTn>
                              </p:par>
                              <p:par>
                                <p:cTn id="85" presetID="2" presetClass="entr" presetSubtype="4"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ppt_y+0.1"/>
                                          </p:val>
                                        </p:tav>
                                        <p:tav tm="100000">
                                          <p:val>
                                            <p:strVal val="#ppt_y"/>
                                          </p:val>
                                        </p:tav>
                                      </p:tavLst>
                                    </p:anim>
                                    <p:animEffect transition="in" filter="fade">
                                      <p:cBhvr>
                                        <p:cTn id="84" dur="500"/>
                                        <p:tgtEl>
                                          <p:spTgt spid="25"/>
                                        </p:tgtEl>
                                      </p:cBhvr>
                                    </p:animEffect>
                                  </p:childTnLst>
                                </p:cTn>
                              </p:par>
                              <p:par>
                                <p:cTn id="90" presetID="2" presetClass="entr" presetSubtype="4"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ppt_y+0.1"/>
                                          </p:val>
                                        </p:tav>
                                        <p:tav tm="100000">
                                          <p:val>
                                            <p:strVal val="#ppt_y"/>
                                          </p:val>
                                        </p:tav>
                                      </p:tavLst>
                                    </p:anim>
                                    <p:animEffect transition="in" filter="fade">
                                      <p:cBhvr>
                                        <p:cTn id="89" dur="500"/>
                                        <p:tgtEl>
                                          <p:spTgt spid="26"/>
                                        </p:tgtEl>
                                      </p:cBhvr>
                                    </p:animEffect>
                                  </p:childTnLst>
                                </p:cTn>
                              </p:par>
                            </p:childTnLst>
                          </p:cTn>
                        </p:par>
                      </p:childTnLst>
                    </p:cTn>
                  </p:par>
                  <p:par>
                    <p:cTn id="91" fill="hold">
                      <p:stCondLst>
                        <p:cond delay="indefinite"/>
                      </p:stCondLst>
                      <p:childTnLst>
                        <p:par>
                          <p:cTn id="92" fill="hold">
                            <p:stCondLst>
                              <p:cond delay="0"/>
                            </p:stCondLst>
                            <p:childTnLst>
                              <p:par>
                                <p:cTn id="97" presetID="2" presetClass="entr" presetSubtype="4" fill="hold" grpId="0" nodeType="clickEffect">
                                  <p:stCondLst>
                                    <p:cond delay="0"/>
                                  </p:stCondLst>
                                  <p:childTnLst>
                                    <p:set>
                                      <p:cBhvr>
                                        <p:cTn id="93" dur="1" fill="hold">
                                          <p:stCondLst>
                                            <p:cond delay="0"/>
                                          </p:stCondLst>
                                        </p:cTn>
                                        <p:tgtEl>
                                          <p:spTgt spid="33"/>
                                        </p:tgtEl>
                                        <p:attrNameLst>
                                          <p:attrName>style.visibility</p:attrName>
                                        </p:attrNameLst>
                                      </p:cBhvr>
                                      <p:to>
                                        <p:strVal val="visible"/>
                                      </p:to>
                                    </p:set>
                                    <p:anim calcmode="lin" valueType="num">
                                      <p:cBhvr additive="base">
                                        <p:cTn id="94" dur="500" fill="hold"/>
                                        <p:tgtEl>
                                          <p:spTgt spid="33"/>
                                        </p:tgtEl>
                                        <p:attrNameLst>
                                          <p:attrName>ppt_x</p:attrName>
                                        </p:attrNameLst>
                                      </p:cBhvr>
                                      <p:tavLst>
                                        <p:tav tm="0">
                                          <p:val>
                                            <p:strVal val="#ppt_x"/>
                                          </p:val>
                                        </p:tav>
                                        <p:tav tm="100000">
                                          <p:val>
                                            <p:strVal val="#ppt_x"/>
                                          </p:val>
                                        </p:tav>
                                      </p:tavLst>
                                    </p:anim>
                                    <p:anim calcmode="lin" valueType="num">
                                      <p:cBhvr additive="base">
                                        <p:cTn id="95" dur="500" fill="hold"/>
                                        <p:tgtEl>
                                          <p:spTgt spid="33"/>
                                        </p:tgtEl>
                                        <p:attrNameLst>
                                          <p:attrName>ppt_y</p:attrName>
                                        </p:attrNameLst>
                                      </p:cBhvr>
                                      <p:tavLst>
                                        <p:tav tm="0">
                                          <p:val>
                                            <p:strVal val="#ppt_y+0.1"/>
                                          </p:val>
                                        </p:tav>
                                        <p:tav tm="100000">
                                          <p:val>
                                            <p:strVal val="#ppt_y"/>
                                          </p:val>
                                        </p:tav>
                                      </p:tavLst>
                                    </p:anim>
                                    <p:animEffect transition="in" filter="fade">
                                      <p:cBhvr>
                                        <p:cTn id="96" dur="500"/>
                                        <p:tgtEl>
                                          <p:spTgt spid="33"/>
                                        </p:tgtEl>
                                      </p:cBhvr>
                                    </p:animEffect>
                                  </p:childTnLst>
                                </p:cTn>
                              </p:par>
                              <p:par>
                                <p:cTn id="102" presetID="2" presetClass="entr" presetSubtype="4"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 calcmode="lin" valueType="num">
                                      <p:cBhvr additive="base">
                                        <p:cTn id="99" dur="500" fill="hold"/>
                                        <p:tgtEl>
                                          <p:spTgt spid="34"/>
                                        </p:tgtEl>
                                        <p:attrNameLst>
                                          <p:attrName>ppt_x</p:attrName>
                                        </p:attrNameLst>
                                      </p:cBhvr>
                                      <p:tavLst>
                                        <p:tav tm="0">
                                          <p:val>
                                            <p:strVal val="#ppt_x"/>
                                          </p:val>
                                        </p:tav>
                                        <p:tav tm="100000">
                                          <p:val>
                                            <p:strVal val="#ppt_x"/>
                                          </p:val>
                                        </p:tav>
                                      </p:tavLst>
                                    </p:anim>
                                    <p:anim calcmode="lin" valueType="num">
                                      <p:cBhvr additive="base">
                                        <p:cTn id="100" dur="500" fill="hold"/>
                                        <p:tgtEl>
                                          <p:spTgt spid="34"/>
                                        </p:tgtEl>
                                        <p:attrNameLst>
                                          <p:attrName>ppt_y</p:attrName>
                                        </p:attrNameLst>
                                      </p:cBhvr>
                                      <p:tavLst>
                                        <p:tav tm="0">
                                          <p:val>
                                            <p:strVal val="#ppt_y+0.1"/>
                                          </p:val>
                                        </p:tav>
                                        <p:tav tm="100000">
                                          <p:val>
                                            <p:strVal val="#ppt_y"/>
                                          </p:val>
                                        </p:tav>
                                      </p:tavLst>
                                    </p:anim>
                                    <p:animEffect transition="in" filter="fade">
                                      <p:cBhvr>
                                        <p:cTn id="101" dur="500"/>
                                        <p:tgtEl>
                                          <p:spTgt spid="34"/>
                                        </p:tgtEl>
                                      </p:cBhvr>
                                    </p:animEffect>
                                  </p:childTnLst>
                                </p:cTn>
                              </p:par>
                              <p:par>
                                <p:cTn id="107" presetID="2" presetClass="entr" presetSubtype="4" fill="hold" grpId="0" nodeType="withEffect">
                                  <p:stCondLst>
                                    <p:cond delay="120"/>
                                  </p:stCondLst>
                                  <p:childTnLst>
                                    <p:set>
                                      <p:cBhvr>
                                        <p:cTn id="103" dur="1" fill="hold">
                                          <p:stCondLst>
                                            <p:cond delay="0"/>
                                          </p:stCondLst>
                                        </p:cTn>
                                        <p:tgtEl>
                                          <p:spTgt spid="31"/>
                                        </p:tgtEl>
                                        <p:attrNameLst>
                                          <p:attrName>style.visibility</p:attrName>
                                        </p:attrNameLst>
                                      </p:cBhvr>
                                      <p:to>
                                        <p:strVal val="visible"/>
                                      </p:to>
                                    </p:set>
                                    <p:anim calcmode="lin" valueType="num">
                                      <p:cBhvr additive="base">
                                        <p:cTn id="104" dur="500" fill="hold"/>
                                        <p:tgtEl>
                                          <p:spTgt spid="31"/>
                                        </p:tgtEl>
                                        <p:attrNameLst>
                                          <p:attrName>ppt_x</p:attrName>
                                        </p:attrNameLst>
                                      </p:cBhvr>
                                      <p:tavLst>
                                        <p:tav tm="0">
                                          <p:val>
                                            <p:strVal val="#ppt_x"/>
                                          </p:val>
                                        </p:tav>
                                        <p:tav tm="100000">
                                          <p:val>
                                            <p:strVal val="#ppt_x"/>
                                          </p:val>
                                        </p:tav>
                                      </p:tavLst>
                                    </p:anim>
                                    <p:anim calcmode="lin" valueType="num">
                                      <p:cBhvr additive="base">
                                        <p:cTn id="105" dur="500" fill="hold"/>
                                        <p:tgtEl>
                                          <p:spTgt spid="31"/>
                                        </p:tgtEl>
                                        <p:attrNameLst>
                                          <p:attrName>ppt_y</p:attrName>
                                        </p:attrNameLst>
                                      </p:cBhvr>
                                      <p:tavLst>
                                        <p:tav tm="0">
                                          <p:val>
                                            <p:strVal val="#ppt_y+0.1"/>
                                          </p:val>
                                        </p:tav>
                                        <p:tav tm="100000">
                                          <p:val>
                                            <p:strVal val="#ppt_y"/>
                                          </p:val>
                                        </p:tav>
                                      </p:tavLst>
                                    </p:anim>
                                    <p:animEffect transition="in" filter="fade">
                                      <p:cBhvr>
                                        <p:cTn id="106" dur="500"/>
                                        <p:tgtEl>
                                          <p:spTgt spid="31"/>
                                        </p:tgtEl>
                                      </p:cBhvr>
                                    </p:animEffect>
                                  </p:childTnLst>
                                </p:cTn>
                              </p:par>
                              <p:par>
                                <p:cTn id="112" presetID="2" presetClass="entr" presetSubtype="4" fill="hold" grpId="0" nodeType="withEffect">
                                  <p:stCondLst>
                                    <p:cond delay="120"/>
                                  </p:stCondLst>
                                  <p:childTnLst>
                                    <p:set>
                                      <p:cBhvr>
                                        <p:cTn id="108" dur="1" fill="hold">
                                          <p:stCondLst>
                                            <p:cond delay="0"/>
                                          </p:stCondLst>
                                        </p:cTn>
                                        <p:tgtEl>
                                          <p:spTgt spid="32"/>
                                        </p:tgtEl>
                                        <p:attrNameLst>
                                          <p:attrName>style.visibility</p:attrName>
                                        </p:attrNameLst>
                                      </p:cBhvr>
                                      <p:to>
                                        <p:strVal val="visible"/>
                                      </p:to>
                                    </p:set>
                                    <p:anim calcmode="lin" valueType="num">
                                      <p:cBhvr additive="base">
                                        <p:cTn id="109" dur="500" fill="hold"/>
                                        <p:tgtEl>
                                          <p:spTgt spid="32"/>
                                        </p:tgtEl>
                                        <p:attrNameLst>
                                          <p:attrName>ppt_x</p:attrName>
                                        </p:attrNameLst>
                                      </p:cBhvr>
                                      <p:tavLst>
                                        <p:tav tm="0">
                                          <p:val>
                                            <p:strVal val="#ppt_x"/>
                                          </p:val>
                                        </p:tav>
                                        <p:tav tm="100000">
                                          <p:val>
                                            <p:strVal val="#ppt_x"/>
                                          </p:val>
                                        </p:tav>
                                      </p:tavLst>
                                    </p:anim>
                                    <p:anim calcmode="lin" valueType="num">
                                      <p:cBhvr additive="base">
                                        <p:cTn id="110" dur="500" fill="hold"/>
                                        <p:tgtEl>
                                          <p:spTgt spid="32"/>
                                        </p:tgtEl>
                                        <p:attrNameLst>
                                          <p:attrName>ppt_y</p:attrName>
                                        </p:attrNameLst>
                                      </p:cBhvr>
                                      <p:tavLst>
                                        <p:tav tm="0">
                                          <p:val>
                                            <p:strVal val="#ppt_y+0.1"/>
                                          </p:val>
                                        </p:tav>
                                        <p:tav tm="100000">
                                          <p:val>
                                            <p:strVal val="#ppt_y"/>
                                          </p:val>
                                        </p:tav>
                                      </p:tavLst>
                                    </p:anim>
                                    <p:animEffect transition="in" filter="fade">
                                      <p:cBhvr>
                                        <p:cTn id="111" dur="500"/>
                                        <p:tgtEl>
                                          <p:spTgt spid="32"/>
                                        </p:tgtEl>
                                      </p:cBhvr>
                                    </p:animEffect>
                                  </p:childTnLst>
                                </p:cTn>
                              </p:par>
                              <p:par>
                                <p:cTn id="117" presetID="2" presetClass="entr" presetSubtype="4" fill="hold" grpId="0" nodeType="withEffect">
                                  <p:stCondLst>
                                    <p:cond delay="240"/>
                                  </p:stCondLst>
                                  <p:childTnLst>
                                    <p:set>
                                      <p:cBhvr>
                                        <p:cTn id="113" dur="1" fill="hold">
                                          <p:stCondLst>
                                            <p:cond delay="0"/>
                                          </p:stCondLst>
                                        </p:cTn>
                                        <p:tgtEl>
                                          <p:spTgt spid="29"/>
                                        </p:tgtEl>
                                        <p:attrNameLst>
                                          <p:attrName>style.visibility</p:attrName>
                                        </p:attrNameLst>
                                      </p:cBhvr>
                                      <p:to>
                                        <p:strVal val="visible"/>
                                      </p:to>
                                    </p:set>
                                    <p:anim calcmode="lin" valueType="num">
                                      <p:cBhvr additive="base">
                                        <p:cTn id="114" dur="500" fill="hold"/>
                                        <p:tgtEl>
                                          <p:spTgt spid="29"/>
                                        </p:tgtEl>
                                        <p:attrNameLst>
                                          <p:attrName>ppt_x</p:attrName>
                                        </p:attrNameLst>
                                      </p:cBhvr>
                                      <p:tavLst>
                                        <p:tav tm="0">
                                          <p:val>
                                            <p:strVal val="#ppt_x"/>
                                          </p:val>
                                        </p:tav>
                                        <p:tav tm="100000">
                                          <p:val>
                                            <p:strVal val="#ppt_x"/>
                                          </p:val>
                                        </p:tav>
                                      </p:tavLst>
                                    </p:anim>
                                    <p:anim calcmode="lin" valueType="num">
                                      <p:cBhvr additive="base">
                                        <p:cTn id="115" dur="500" fill="hold"/>
                                        <p:tgtEl>
                                          <p:spTgt spid="29"/>
                                        </p:tgtEl>
                                        <p:attrNameLst>
                                          <p:attrName>ppt_y</p:attrName>
                                        </p:attrNameLst>
                                      </p:cBhvr>
                                      <p:tavLst>
                                        <p:tav tm="0">
                                          <p:val>
                                            <p:strVal val="#ppt_y+0.1"/>
                                          </p:val>
                                        </p:tav>
                                        <p:tav tm="100000">
                                          <p:val>
                                            <p:strVal val="#ppt_y"/>
                                          </p:val>
                                        </p:tav>
                                      </p:tavLst>
                                    </p:anim>
                                    <p:animEffect transition="in" filter="fade">
                                      <p:cBhvr>
                                        <p:cTn id="116" dur="500"/>
                                        <p:tgtEl>
                                          <p:spTgt spid="29"/>
                                        </p:tgtEl>
                                      </p:cBhvr>
                                    </p:animEffect>
                                  </p:childTnLst>
                                </p:cTn>
                              </p:par>
                              <p:par>
                                <p:cTn id="122" presetID="2" presetClass="entr" presetSubtype="4" fill="hold" grpId="0" nodeType="withEffect">
                                  <p:stCondLst>
                                    <p:cond delay="240"/>
                                  </p:stCondLst>
                                  <p:childTnLst>
                                    <p:set>
                                      <p:cBhvr>
                                        <p:cTn id="118" dur="1" fill="hold">
                                          <p:stCondLst>
                                            <p:cond delay="0"/>
                                          </p:stCondLst>
                                        </p:cTn>
                                        <p:tgtEl>
                                          <p:spTgt spid="30"/>
                                        </p:tgtEl>
                                        <p:attrNameLst>
                                          <p:attrName>style.visibility</p:attrName>
                                        </p:attrNameLst>
                                      </p:cBhvr>
                                      <p:to>
                                        <p:strVal val="visible"/>
                                      </p:to>
                                    </p:set>
                                    <p:anim calcmode="lin" valueType="num">
                                      <p:cBhvr additive="base">
                                        <p:cTn id="119" dur="500" fill="hold"/>
                                        <p:tgtEl>
                                          <p:spTgt spid="30"/>
                                        </p:tgtEl>
                                        <p:attrNameLst>
                                          <p:attrName>ppt_x</p:attrName>
                                        </p:attrNameLst>
                                      </p:cBhvr>
                                      <p:tavLst>
                                        <p:tav tm="0">
                                          <p:val>
                                            <p:strVal val="#ppt_x"/>
                                          </p:val>
                                        </p:tav>
                                        <p:tav tm="100000">
                                          <p:val>
                                            <p:strVal val="#ppt_x"/>
                                          </p:val>
                                        </p:tav>
                                      </p:tavLst>
                                    </p:anim>
                                    <p:anim calcmode="lin" valueType="num">
                                      <p:cBhvr additive="base">
                                        <p:cTn id="120" dur="500" fill="hold"/>
                                        <p:tgtEl>
                                          <p:spTgt spid="30"/>
                                        </p:tgtEl>
                                        <p:attrNameLst>
                                          <p:attrName>ppt_y</p:attrName>
                                        </p:attrNameLst>
                                      </p:cBhvr>
                                      <p:tavLst>
                                        <p:tav tm="0">
                                          <p:val>
                                            <p:strVal val="#ppt_y+0.1"/>
                                          </p:val>
                                        </p:tav>
                                        <p:tav tm="100000">
                                          <p:val>
                                            <p:strVal val="#ppt_y"/>
                                          </p:val>
                                        </p:tav>
                                      </p:tavLst>
                                    </p:anim>
                                    <p:animEffect transition="in" filter="fade">
                                      <p:cBhvr>
                                        <p:cTn id="121" dur="500"/>
                                        <p:tgtEl>
                                          <p:spTgt spid="30"/>
                                        </p:tgtEl>
                                      </p:cBhvr>
                                    </p:animEffect>
                                  </p:childTnLst>
                                </p:cTn>
                              </p:par>
                              <p:par>
                                <p:cTn id="127" presetID="2" presetClass="entr" presetSubtype="4" fill="hold" grpId="0" nodeType="withEffect">
                                  <p:stCondLst>
                                    <p:cond delay="360"/>
                                  </p:stCondLst>
                                  <p:childTnLst>
                                    <p:set>
                                      <p:cBhvr>
                                        <p:cTn id="123" dur="1" fill="hold">
                                          <p:stCondLst>
                                            <p:cond delay="0"/>
                                          </p:stCondLst>
                                        </p:cTn>
                                        <p:tgtEl>
                                          <p:spTgt spid="27"/>
                                        </p:tgtEl>
                                        <p:attrNameLst>
                                          <p:attrName>style.visibility</p:attrName>
                                        </p:attrNameLst>
                                      </p:cBhvr>
                                      <p:to>
                                        <p:strVal val="visible"/>
                                      </p:to>
                                    </p:set>
                                    <p:anim calcmode="lin" valueType="num">
                                      <p:cBhvr additive="base">
                                        <p:cTn id="124" dur="500" fill="hold"/>
                                        <p:tgtEl>
                                          <p:spTgt spid="27"/>
                                        </p:tgtEl>
                                        <p:attrNameLst>
                                          <p:attrName>ppt_x</p:attrName>
                                        </p:attrNameLst>
                                      </p:cBhvr>
                                      <p:tavLst>
                                        <p:tav tm="0">
                                          <p:val>
                                            <p:strVal val="#ppt_x"/>
                                          </p:val>
                                        </p:tav>
                                        <p:tav tm="100000">
                                          <p:val>
                                            <p:strVal val="#ppt_x"/>
                                          </p:val>
                                        </p:tav>
                                      </p:tavLst>
                                    </p:anim>
                                    <p:anim calcmode="lin" valueType="num">
                                      <p:cBhvr additive="base">
                                        <p:cTn id="125" dur="500" fill="hold"/>
                                        <p:tgtEl>
                                          <p:spTgt spid="27"/>
                                        </p:tgtEl>
                                        <p:attrNameLst>
                                          <p:attrName>ppt_y</p:attrName>
                                        </p:attrNameLst>
                                      </p:cBhvr>
                                      <p:tavLst>
                                        <p:tav tm="0">
                                          <p:val>
                                            <p:strVal val="#ppt_y+0.1"/>
                                          </p:val>
                                        </p:tav>
                                        <p:tav tm="100000">
                                          <p:val>
                                            <p:strVal val="#ppt_y"/>
                                          </p:val>
                                        </p:tav>
                                      </p:tavLst>
                                    </p:anim>
                                    <p:animEffect transition="in" filter="fade">
                                      <p:cBhvr>
                                        <p:cTn id="126" dur="500"/>
                                        <p:tgtEl>
                                          <p:spTgt spid="27"/>
                                        </p:tgtEl>
                                      </p:cBhvr>
                                    </p:animEffect>
                                  </p:childTnLst>
                                </p:cTn>
                              </p:par>
                              <p:par>
                                <p:cTn id="132" presetID="2" presetClass="entr" presetSubtype="4" fill="hold" grpId="0" nodeType="withEffect">
                                  <p:stCondLst>
                                    <p:cond delay="360"/>
                                  </p:stCondLst>
                                  <p:childTnLst>
                                    <p:set>
                                      <p:cBhvr>
                                        <p:cTn id="128" dur="1" fill="hold">
                                          <p:stCondLst>
                                            <p:cond delay="0"/>
                                          </p:stCondLst>
                                        </p:cTn>
                                        <p:tgtEl>
                                          <p:spTgt spid="28"/>
                                        </p:tgtEl>
                                        <p:attrNameLst>
                                          <p:attrName>style.visibility</p:attrName>
                                        </p:attrNameLst>
                                      </p:cBhvr>
                                      <p:to>
                                        <p:strVal val="visible"/>
                                      </p:to>
                                    </p:set>
                                    <p:anim calcmode="lin" valueType="num">
                                      <p:cBhvr additive="base">
                                        <p:cTn id="129" dur="500" fill="hold"/>
                                        <p:tgtEl>
                                          <p:spTgt spid="28"/>
                                        </p:tgtEl>
                                        <p:attrNameLst>
                                          <p:attrName>ppt_x</p:attrName>
                                        </p:attrNameLst>
                                      </p:cBhvr>
                                      <p:tavLst>
                                        <p:tav tm="0">
                                          <p:val>
                                            <p:strVal val="#ppt_x"/>
                                          </p:val>
                                        </p:tav>
                                        <p:tav tm="100000">
                                          <p:val>
                                            <p:strVal val="#ppt_x"/>
                                          </p:val>
                                        </p:tav>
                                      </p:tavLst>
                                    </p:anim>
                                    <p:anim calcmode="lin" valueType="num">
                                      <p:cBhvr additive="base">
                                        <p:cTn id="130" dur="500" fill="hold"/>
                                        <p:tgtEl>
                                          <p:spTgt spid="28"/>
                                        </p:tgtEl>
                                        <p:attrNameLst>
                                          <p:attrName>ppt_y</p:attrName>
                                        </p:attrNameLst>
                                      </p:cBhvr>
                                      <p:tavLst>
                                        <p:tav tm="0">
                                          <p:val>
                                            <p:strVal val="#ppt_y+0.1"/>
                                          </p:val>
                                        </p:tav>
                                        <p:tav tm="100000">
                                          <p:val>
                                            <p:strVal val="#ppt_y"/>
                                          </p:val>
                                        </p:tav>
                                      </p:tavLst>
                                    </p:anim>
                                    <p:animEffect transition="in" filter="fade">
                                      <p:cBhvr>
                                        <p:cTn id="131" dur="500"/>
                                        <p:tgtEl>
                                          <p:spTgt spid="28"/>
                                        </p:tgtEl>
                                      </p:cBhvr>
                                    </p:animEffect>
                                  </p:childTnLst>
                                </p:cTn>
                              </p:par>
                            </p:childTnLst>
                          </p:cTn>
                        </p:par>
                      </p:childTnLst>
                    </p:cTn>
                  </p:par>
                  <p:par>
                    <p:cTn id="133" fill="hold">
                      <p:stCondLst>
                        <p:cond delay="indefinite"/>
                      </p:stCondLst>
                      <p:childTnLst>
                        <p:par>
                          <p:cTn id="134" fill="hold">
                            <p:stCondLst>
                              <p:cond delay="0"/>
                            </p:stCondLst>
                            <p:childTnLst>
                              <p:par>
                                <p:cTn id="139" presetID="2" presetClass="entr" presetSubtype="4" fill="hold" grpId="0" nodeType="clickEffect">
                                  <p:stCondLst>
                                    <p:cond delay="0"/>
                                  </p:stCondLst>
                                  <p:childTnLst>
                                    <p:set>
                                      <p:cBhvr>
                                        <p:cTn id="135" dur="1" fill="hold">
                                          <p:stCondLst>
                                            <p:cond delay="0"/>
                                          </p:stCondLst>
                                        </p:cTn>
                                        <p:tgtEl>
                                          <p:spTgt spid="35"/>
                                        </p:tgtEl>
                                        <p:attrNameLst>
                                          <p:attrName>style.visibility</p:attrName>
                                        </p:attrNameLst>
                                      </p:cBhvr>
                                      <p:to>
                                        <p:strVal val="visible"/>
                                      </p:to>
                                    </p:set>
                                    <p:anim calcmode="lin" valueType="num">
                                      <p:cBhvr additive="base">
                                        <p:cTn id="136" dur="500" fill="hold"/>
                                        <p:tgtEl>
                                          <p:spTgt spid="35"/>
                                        </p:tgtEl>
                                        <p:attrNameLst>
                                          <p:attrName>ppt_x</p:attrName>
                                        </p:attrNameLst>
                                      </p:cBhvr>
                                      <p:tavLst>
                                        <p:tav tm="0">
                                          <p:val>
                                            <p:strVal val="#ppt_x"/>
                                          </p:val>
                                        </p:tav>
                                        <p:tav tm="100000">
                                          <p:val>
                                            <p:strVal val="#ppt_x"/>
                                          </p:val>
                                        </p:tav>
                                      </p:tavLst>
                                    </p:anim>
                                    <p:anim calcmode="lin" valueType="num">
                                      <p:cBhvr additive="base">
                                        <p:cTn id="137" dur="500" fill="hold"/>
                                        <p:tgtEl>
                                          <p:spTgt spid="35"/>
                                        </p:tgtEl>
                                        <p:attrNameLst>
                                          <p:attrName>ppt_y</p:attrName>
                                        </p:attrNameLst>
                                      </p:cBhvr>
                                      <p:tavLst>
                                        <p:tav tm="0">
                                          <p:val>
                                            <p:strVal val="#ppt_y+0.1"/>
                                          </p:val>
                                        </p:tav>
                                        <p:tav tm="100000">
                                          <p:val>
                                            <p:strVal val="#ppt_y"/>
                                          </p:val>
                                        </p:tav>
                                      </p:tavLst>
                                    </p:anim>
                                    <p:animEffect transition="in" filter="fade">
                                      <p:cBhvr>
                                        <p:cTn id="138" dur="500"/>
                                        <p:tgtEl>
                                          <p:spTgt spid="35"/>
                                        </p:tgtEl>
                                      </p:cBhvr>
                                    </p:animEffect>
                                  </p:childTnLst>
                                </p:cTn>
                              </p:par>
                              <p:par>
                                <p:cTn id="144" presetID="2" presetClass="entr" presetSubtype="4" fill="hold" grpId="0" nodeType="withEffect">
                                  <p:stCondLst>
                                    <p:cond delay="0"/>
                                  </p:stCondLst>
                                  <p:childTnLst>
                                    <p:set>
                                      <p:cBhvr>
                                        <p:cTn id="140" dur="1" fill="hold">
                                          <p:stCondLst>
                                            <p:cond delay="0"/>
                                          </p:stCondLst>
                                        </p:cTn>
                                        <p:tgtEl>
                                          <p:spTgt spid="36"/>
                                        </p:tgtEl>
                                        <p:attrNameLst>
                                          <p:attrName>style.visibility</p:attrName>
                                        </p:attrNameLst>
                                      </p:cBhvr>
                                      <p:to>
                                        <p:strVal val="visible"/>
                                      </p:to>
                                    </p:set>
                                    <p:anim calcmode="lin" valueType="num">
                                      <p:cBhvr additive="base">
                                        <p:cTn id="141" dur="500" fill="hold"/>
                                        <p:tgtEl>
                                          <p:spTgt spid="36"/>
                                        </p:tgtEl>
                                        <p:attrNameLst>
                                          <p:attrName>ppt_x</p:attrName>
                                        </p:attrNameLst>
                                      </p:cBhvr>
                                      <p:tavLst>
                                        <p:tav tm="0">
                                          <p:val>
                                            <p:strVal val="#ppt_x"/>
                                          </p:val>
                                        </p:tav>
                                        <p:tav tm="100000">
                                          <p:val>
                                            <p:strVal val="#ppt_x"/>
                                          </p:val>
                                        </p:tav>
                                      </p:tavLst>
                                    </p:anim>
                                    <p:anim calcmode="lin" valueType="num">
                                      <p:cBhvr additive="base">
                                        <p:cTn id="142" dur="500" fill="hold"/>
                                        <p:tgtEl>
                                          <p:spTgt spid="36"/>
                                        </p:tgtEl>
                                        <p:attrNameLst>
                                          <p:attrName>ppt_y</p:attrName>
                                        </p:attrNameLst>
                                      </p:cBhvr>
                                      <p:tavLst>
                                        <p:tav tm="0">
                                          <p:val>
                                            <p:strVal val="#ppt_y+0.1"/>
                                          </p:val>
                                        </p:tav>
                                        <p:tav tm="100000">
                                          <p:val>
                                            <p:strVal val="#ppt_y"/>
                                          </p:val>
                                        </p:tav>
                                      </p:tavLst>
                                    </p:anim>
                                    <p:animEffect transition="in" filter="fade">
                                      <p:cBhvr>
                                        <p:cTn id="143" dur="500"/>
                                        <p:tgtEl>
                                          <p:spTgt spid="36"/>
                                        </p:tgtEl>
                                      </p:cBhvr>
                                    </p:animEffect>
                                  </p:childTnLst>
                                </p:cTn>
                              </p:par>
                              <p:par>
                                <p:cTn id="147" presetID="10" presetClass="entr" presetSubtype="0" fill="hold" grpId="0" nodeType="withEffect">
                                  <p:stCondLst>
                                    <p:cond delay="100"/>
                                  </p:stCondLst>
                                  <p:childTnLst>
                                    <p:set>
                                      <p:cBhvr>
                                        <p:cTn id="145" dur="1" fill="hold">
                                          <p:stCondLst>
                                            <p:cond delay="0"/>
                                          </p:stCondLst>
                                        </p:cTn>
                                        <p:tgtEl>
                                          <p:spTgt spid="37"/>
                                        </p:tgtEl>
                                        <p:attrNameLst>
                                          <p:attrName>style.visibility</p:attrName>
                                        </p:attrNameLst>
                                      </p:cBhvr>
                                      <p:to>
                                        <p:strVal val="visible"/>
                                      </p:to>
                                    </p:set>
                                    <p:animEffect transition="in" filter="fade">
                                      <p:cBhvr>
                                        <p:cTn id="14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Kafka in a Nutshell: Servers and Clients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distributed system of servers and clients that talk over a fast TCP network protocol</a:t>
            </a:r>
          </a:p>
        </p:txBody>
      </p:sp>
      <p:sp>
        <p:nvSpPr>
          <p:cNvPr id="11" name="a1u_card10"/>
          <p:cNvSpPr/>
          <p:nvPr/>
        </p:nvSpPr>
        <p:spPr>
          <a:xfrm>
            <a:off x="457200" y="1234440"/>
            <a:ext cx="4572000" cy="2926080"/>
          </a:xfrm>
          <a:prstGeom prst="roundRect">
            <a:avLst>
              <a:gd name="adj" fmla="val 375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50292" cy="292608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44168"/>
            <a:ext cx="4206240" cy="237744"/>
          </a:xfrm>
          <a:prstGeom prst="rect">
            <a:avLst/>
          </a:prstGeom>
          <a:noFill/>
        </p:spPr>
        <p:txBody>
          <a:bodyPr wrap="square" lIns="0" tIns="0" rIns="0" bIns="0" anchor="ctr">
            <a:spAutoFit/>
          </a:bodyPr>
          <a:lstStyle/>
          <a:p>
            <a:pPr algn="l"/>
            <a:r>
              <a:rPr sz="900" b="1">
                <a:solidFill>
                  <a:srgbClr val="EA580C"/>
                </a:solidFill>
                <a:latin typeface="Segoe UI"/>
              </a:rPr>
              <a:t>SERVERS  ·  THE KAFKA CLUSTER</a:t>
            </a:r>
          </a:p>
        </p:txBody>
      </p:sp>
      <p:sp>
        <p:nvSpPr>
          <p:cNvPr id="14" name="a1ud100_nd13"/>
          <p:cNvSpPr/>
          <p:nvPr/>
        </p:nvSpPr>
        <p:spPr>
          <a:xfrm>
            <a:off x="731520" y="1691640"/>
            <a:ext cx="1188720" cy="640080"/>
          </a:xfrm>
          <a:prstGeom prst="roundRect">
            <a:avLst>
              <a:gd name="adj" fmla="val 11428"/>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100_ndt14"/>
          <p:cNvSpPr txBox="1"/>
          <p:nvPr/>
        </p:nvSpPr>
        <p:spPr>
          <a:xfrm>
            <a:off x="777240" y="1728216"/>
            <a:ext cx="1097280" cy="301751"/>
          </a:xfrm>
          <a:prstGeom prst="rect">
            <a:avLst/>
          </a:prstGeom>
          <a:noFill/>
        </p:spPr>
        <p:txBody>
          <a:bodyPr wrap="square" lIns="0" tIns="0" rIns="0" bIns="0" anchor="b">
            <a:spAutoFit/>
          </a:bodyPr>
          <a:lstStyle/>
          <a:p>
            <a:pPr algn="ctr"/>
            <a:r>
              <a:rPr sz="950" b="1">
                <a:solidFill>
                  <a:srgbClr val="1C1917"/>
                </a:solidFill>
                <a:latin typeface="Segoe UI"/>
              </a:rPr>
              <a:t>Broker 1</a:t>
            </a:r>
          </a:p>
        </p:txBody>
      </p:sp>
      <p:sp>
        <p:nvSpPr>
          <p:cNvPr id="16" name="a1ud100_nds15"/>
          <p:cNvSpPr txBox="1"/>
          <p:nvPr/>
        </p:nvSpPr>
        <p:spPr>
          <a:xfrm>
            <a:off x="777240" y="2039112"/>
            <a:ext cx="1097280" cy="256031"/>
          </a:xfrm>
          <a:prstGeom prst="rect">
            <a:avLst/>
          </a:prstGeom>
          <a:noFill/>
        </p:spPr>
        <p:txBody>
          <a:bodyPr wrap="square" lIns="0" tIns="0" rIns="0" bIns="0" anchor="t">
            <a:spAutoFit/>
          </a:bodyPr>
          <a:lstStyle/>
          <a:p>
            <a:pPr algn="ctr"/>
            <a:r>
              <a:rPr sz="800" b="0">
                <a:solidFill>
                  <a:srgbClr val="EA580C"/>
                </a:solidFill>
                <a:latin typeface="Segoe UI"/>
              </a:rPr>
              <a:t>stores events</a:t>
            </a:r>
          </a:p>
        </p:txBody>
      </p:sp>
      <p:sp>
        <p:nvSpPr>
          <p:cNvPr id="17" name="a1ud200_nd16"/>
          <p:cNvSpPr/>
          <p:nvPr/>
        </p:nvSpPr>
        <p:spPr>
          <a:xfrm>
            <a:off x="2103120" y="1691640"/>
            <a:ext cx="1188720" cy="640080"/>
          </a:xfrm>
          <a:prstGeom prst="roundRect">
            <a:avLst>
              <a:gd name="adj" fmla="val 11428"/>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d200_ndt17"/>
          <p:cNvSpPr txBox="1"/>
          <p:nvPr/>
        </p:nvSpPr>
        <p:spPr>
          <a:xfrm>
            <a:off x="2148839" y="1728216"/>
            <a:ext cx="1097280" cy="301751"/>
          </a:xfrm>
          <a:prstGeom prst="rect">
            <a:avLst/>
          </a:prstGeom>
          <a:noFill/>
        </p:spPr>
        <p:txBody>
          <a:bodyPr wrap="square" lIns="0" tIns="0" rIns="0" bIns="0" anchor="b">
            <a:spAutoFit/>
          </a:bodyPr>
          <a:lstStyle/>
          <a:p>
            <a:pPr algn="ctr"/>
            <a:r>
              <a:rPr sz="950" b="1">
                <a:solidFill>
                  <a:srgbClr val="1C1917"/>
                </a:solidFill>
                <a:latin typeface="Segoe UI"/>
              </a:rPr>
              <a:t>Broker 2</a:t>
            </a:r>
          </a:p>
        </p:txBody>
      </p:sp>
      <p:sp>
        <p:nvSpPr>
          <p:cNvPr id="19" name="a1ud200_nds18"/>
          <p:cNvSpPr txBox="1"/>
          <p:nvPr/>
        </p:nvSpPr>
        <p:spPr>
          <a:xfrm>
            <a:off x="2148839" y="2039112"/>
            <a:ext cx="1097280" cy="256031"/>
          </a:xfrm>
          <a:prstGeom prst="rect">
            <a:avLst/>
          </a:prstGeom>
          <a:noFill/>
        </p:spPr>
        <p:txBody>
          <a:bodyPr wrap="square" lIns="0" tIns="0" rIns="0" bIns="0" anchor="t">
            <a:spAutoFit/>
          </a:bodyPr>
          <a:lstStyle/>
          <a:p>
            <a:pPr algn="ctr"/>
            <a:r>
              <a:rPr sz="800" b="0">
                <a:solidFill>
                  <a:srgbClr val="EA580C"/>
                </a:solidFill>
                <a:latin typeface="Segoe UI"/>
              </a:rPr>
              <a:t>stores events</a:t>
            </a:r>
          </a:p>
        </p:txBody>
      </p:sp>
      <p:sp>
        <p:nvSpPr>
          <p:cNvPr id="20" name="a1ud300_nd19"/>
          <p:cNvSpPr/>
          <p:nvPr/>
        </p:nvSpPr>
        <p:spPr>
          <a:xfrm>
            <a:off x="3474720" y="1691640"/>
            <a:ext cx="1188720" cy="640080"/>
          </a:xfrm>
          <a:prstGeom prst="roundRect">
            <a:avLst>
              <a:gd name="adj" fmla="val 11428"/>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300_ndt20"/>
          <p:cNvSpPr txBox="1"/>
          <p:nvPr/>
        </p:nvSpPr>
        <p:spPr>
          <a:xfrm>
            <a:off x="3520439" y="1728216"/>
            <a:ext cx="1097280" cy="301751"/>
          </a:xfrm>
          <a:prstGeom prst="rect">
            <a:avLst/>
          </a:prstGeom>
          <a:noFill/>
        </p:spPr>
        <p:txBody>
          <a:bodyPr wrap="square" lIns="0" tIns="0" rIns="0" bIns="0" anchor="b">
            <a:spAutoFit/>
          </a:bodyPr>
          <a:lstStyle/>
          <a:p>
            <a:pPr algn="ctr"/>
            <a:r>
              <a:rPr sz="950" b="1">
                <a:solidFill>
                  <a:srgbClr val="1C1917"/>
                </a:solidFill>
                <a:latin typeface="Segoe UI"/>
              </a:rPr>
              <a:t>Broker 3</a:t>
            </a:r>
          </a:p>
        </p:txBody>
      </p:sp>
      <p:sp>
        <p:nvSpPr>
          <p:cNvPr id="22" name="a1ud300_nds21"/>
          <p:cNvSpPr txBox="1"/>
          <p:nvPr/>
        </p:nvSpPr>
        <p:spPr>
          <a:xfrm>
            <a:off x="3520439" y="2039112"/>
            <a:ext cx="1097280" cy="256031"/>
          </a:xfrm>
          <a:prstGeom prst="rect">
            <a:avLst/>
          </a:prstGeom>
          <a:noFill/>
        </p:spPr>
        <p:txBody>
          <a:bodyPr wrap="square" lIns="0" tIns="0" rIns="0" bIns="0" anchor="t">
            <a:spAutoFit/>
          </a:bodyPr>
          <a:lstStyle/>
          <a:p>
            <a:pPr algn="ctr"/>
            <a:r>
              <a:rPr sz="800" b="0">
                <a:solidFill>
                  <a:srgbClr val="EA580C"/>
                </a:solidFill>
                <a:latin typeface="Segoe UI"/>
              </a:rPr>
              <a:t>stores events</a:t>
            </a:r>
          </a:p>
        </p:txBody>
      </p:sp>
      <p:sp>
        <p:nvSpPr>
          <p:cNvPr id="23" name="a2u_nd22"/>
          <p:cNvSpPr/>
          <p:nvPr/>
        </p:nvSpPr>
        <p:spPr>
          <a:xfrm>
            <a:off x="731520" y="2697480"/>
            <a:ext cx="2011680" cy="566928"/>
          </a:xfrm>
          <a:prstGeom prst="roundRect">
            <a:avLst>
              <a:gd name="adj" fmla="val 12903"/>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_ndt23"/>
          <p:cNvSpPr txBox="1"/>
          <p:nvPr/>
        </p:nvSpPr>
        <p:spPr>
          <a:xfrm>
            <a:off x="777240" y="2734056"/>
            <a:ext cx="1920240" cy="265176"/>
          </a:xfrm>
          <a:prstGeom prst="rect">
            <a:avLst/>
          </a:prstGeom>
          <a:noFill/>
        </p:spPr>
        <p:txBody>
          <a:bodyPr wrap="square" lIns="0" tIns="0" rIns="0" bIns="0" anchor="b">
            <a:spAutoFit/>
          </a:bodyPr>
          <a:lstStyle/>
          <a:p>
            <a:pPr algn="ctr"/>
            <a:r>
              <a:rPr sz="950" b="1">
                <a:solidFill>
                  <a:srgbClr val="1C1917"/>
                </a:solidFill>
                <a:latin typeface="Segoe UI"/>
              </a:rPr>
              <a:t>Kafka Connect</a:t>
            </a:r>
          </a:p>
        </p:txBody>
      </p:sp>
      <p:sp>
        <p:nvSpPr>
          <p:cNvPr id="25" name="a2u_nds24"/>
          <p:cNvSpPr txBox="1"/>
          <p:nvPr/>
        </p:nvSpPr>
        <p:spPr>
          <a:xfrm>
            <a:off x="777240" y="3008376"/>
            <a:ext cx="1920240" cy="219456"/>
          </a:xfrm>
          <a:prstGeom prst="rect">
            <a:avLst/>
          </a:prstGeom>
          <a:noFill/>
        </p:spPr>
        <p:txBody>
          <a:bodyPr wrap="square" lIns="0" tIns="0" rIns="0" bIns="0" anchor="t">
            <a:spAutoFit/>
          </a:bodyPr>
          <a:lstStyle/>
          <a:p>
            <a:pPr algn="ctr"/>
            <a:r>
              <a:rPr sz="800" b="0">
                <a:solidFill>
                  <a:srgbClr val="A16207"/>
                </a:solidFill>
                <a:latin typeface="Segoe UI"/>
              </a:rPr>
              <a:t>imports / exports data</a:t>
            </a:r>
          </a:p>
        </p:txBody>
      </p:sp>
      <p:cxnSp>
        <p:nvCxnSpPr>
          <p:cNvPr id="26" name="a2ud100_ar25"/>
          <p:cNvCxnSpPr/>
          <p:nvPr/>
        </p:nvCxnSpPr>
        <p:spPr>
          <a:xfrm>
            <a:off x="2770632" y="2980944"/>
            <a:ext cx="402336" cy="0"/>
          </a:xfrm>
          <a:prstGeom prst="line">
            <a:avLst/>
          </a:prstGeom>
          <a:ln w="1905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a2ud150_nd26"/>
          <p:cNvSpPr/>
          <p:nvPr/>
        </p:nvSpPr>
        <p:spPr>
          <a:xfrm>
            <a:off x="3200400" y="2697480"/>
            <a:ext cx="1645920" cy="566928"/>
          </a:xfrm>
          <a:prstGeom prst="roundRect">
            <a:avLst>
              <a:gd name="adj" fmla="val 12903"/>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d150_ndt27"/>
          <p:cNvSpPr txBox="1"/>
          <p:nvPr/>
        </p:nvSpPr>
        <p:spPr>
          <a:xfrm>
            <a:off x="3246120" y="2734056"/>
            <a:ext cx="1554480" cy="265176"/>
          </a:xfrm>
          <a:prstGeom prst="rect">
            <a:avLst/>
          </a:prstGeom>
          <a:noFill/>
        </p:spPr>
        <p:txBody>
          <a:bodyPr wrap="square" lIns="0" tIns="0" rIns="0" bIns="0" anchor="b">
            <a:spAutoFit/>
          </a:bodyPr>
          <a:lstStyle/>
          <a:p>
            <a:pPr algn="ctr"/>
            <a:r>
              <a:rPr sz="950" b="1">
                <a:solidFill>
                  <a:srgbClr val="1C1917"/>
                </a:solidFill>
                <a:latin typeface="Segoe UI"/>
              </a:rPr>
              <a:t>Databases</a:t>
            </a:r>
          </a:p>
        </p:txBody>
      </p:sp>
      <p:sp>
        <p:nvSpPr>
          <p:cNvPr id="29" name="a2ud150_nds28"/>
          <p:cNvSpPr txBox="1"/>
          <p:nvPr/>
        </p:nvSpPr>
        <p:spPr>
          <a:xfrm>
            <a:off x="3246120" y="3008376"/>
            <a:ext cx="1554480" cy="219456"/>
          </a:xfrm>
          <a:prstGeom prst="rect">
            <a:avLst/>
          </a:prstGeom>
          <a:noFill/>
        </p:spPr>
        <p:txBody>
          <a:bodyPr wrap="square" lIns="0" tIns="0" rIns="0" bIns="0" anchor="t">
            <a:spAutoFit/>
          </a:bodyPr>
          <a:lstStyle/>
          <a:p>
            <a:pPr algn="ctr"/>
            <a:r>
              <a:rPr sz="800" b="0">
                <a:solidFill>
                  <a:srgbClr val="A16207"/>
                </a:solidFill>
                <a:latin typeface="Segoe UI"/>
              </a:rPr>
              <a:t>other systems</a:t>
            </a:r>
          </a:p>
        </p:txBody>
      </p:sp>
      <p:sp>
        <p:nvSpPr>
          <p:cNvPr id="30" name="a2ud300_ft29"/>
          <p:cNvSpPr txBox="1"/>
          <p:nvPr/>
        </p:nvSpPr>
        <p:spPr>
          <a:xfrm>
            <a:off x="658368" y="3474720"/>
            <a:ext cx="4206240" cy="548640"/>
          </a:xfrm>
          <a:prstGeom prst="rect">
            <a:avLst/>
          </a:prstGeom>
          <a:noFill/>
        </p:spPr>
        <p:txBody>
          <a:bodyPr wrap="square" lIns="0" tIns="0" rIns="0" bIns="0" anchor="t">
            <a:spAutoFit/>
          </a:bodyPr>
          <a:lstStyle/>
          <a:p>
            <a:pPr algn="l"/>
            <a:r>
              <a:rPr sz="900" b="0">
                <a:solidFill>
                  <a:srgbClr val="44403C"/>
                </a:solidFill>
                <a:latin typeface="Segoe UI"/>
              </a:rPr>
              <a:t>If a server fails, the others take over its work - without losing data.</a:t>
            </a:r>
          </a:p>
        </p:txBody>
      </p:sp>
      <p:sp>
        <p:nvSpPr>
          <p:cNvPr id="31" name="a3u_card30"/>
          <p:cNvSpPr/>
          <p:nvPr/>
        </p:nvSpPr>
        <p:spPr>
          <a:xfrm>
            <a:off x="5212080" y="1234440"/>
            <a:ext cx="3474720" cy="2926080"/>
          </a:xfrm>
          <a:prstGeom prst="roundRect">
            <a:avLst>
              <a:gd name="adj" fmla="val 375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3u_acc31"/>
          <p:cNvSpPr/>
          <p:nvPr/>
        </p:nvSpPr>
        <p:spPr>
          <a:xfrm>
            <a:off x="5212080" y="1234440"/>
            <a:ext cx="50292" cy="29260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3u_hh32"/>
          <p:cNvSpPr txBox="1"/>
          <p:nvPr/>
        </p:nvSpPr>
        <p:spPr>
          <a:xfrm>
            <a:off x="5413248" y="1344168"/>
            <a:ext cx="3108960" cy="237744"/>
          </a:xfrm>
          <a:prstGeom prst="rect">
            <a:avLst/>
          </a:prstGeom>
          <a:noFill/>
        </p:spPr>
        <p:txBody>
          <a:bodyPr wrap="square" lIns="0" tIns="0" rIns="0" bIns="0" anchor="ctr">
            <a:spAutoFit/>
          </a:bodyPr>
          <a:lstStyle/>
          <a:p>
            <a:pPr algn="l"/>
            <a:r>
              <a:rPr sz="900" b="1">
                <a:solidFill>
                  <a:srgbClr val="0E7490"/>
                </a:solidFill>
                <a:latin typeface="Segoe UI"/>
              </a:rPr>
              <a:t>CLIENTS  ·  YOUR APPLICATIONS</a:t>
            </a:r>
          </a:p>
        </p:txBody>
      </p:sp>
      <p:sp>
        <p:nvSpPr>
          <p:cNvPr id="34" name="a3ud100_nd33"/>
          <p:cNvSpPr/>
          <p:nvPr/>
        </p:nvSpPr>
        <p:spPr>
          <a:xfrm>
            <a:off x="5440680" y="1664208"/>
            <a:ext cx="3017520" cy="475488"/>
          </a:xfrm>
          <a:prstGeom prst="roundRect">
            <a:avLst>
              <a:gd name="adj" fmla="val 15384"/>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3ud100_ndt34"/>
          <p:cNvSpPr txBox="1"/>
          <p:nvPr/>
        </p:nvSpPr>
        <p:spPr>
          <a:xfrm>
            <a:off x="5486400" y="1700784"/>
            <a:ext cx="2926079" cy="219456"/>
          </a:xfrm>
          <a:prstGeom prst="rect">
            <a:avLst/>
          </a:prstGeom>
          <a:noFill/>
        </p:spPr>
        <p:txBody>
          <a:bodyPr wrap="square" lIns="0" tIns="0" rIns="0" bIns="0" anchor="b">
            <a:spAutoFit/>
          </a:bodyPr>
          <a:lstStyle/>
          <a:p>
            <a:pPr algn="ctr"/>
            <a:r>
              <a:rPr sz="900" b="1">
                <a:solidFill>
                  <a:srgbClr val="1C1917"/>
                </a:solidFill>
                <a:latin typeface="Segoe UI"/>
              </a:rPr>
              <a:t>Producers</a:t>
            </a:r>
          </a:p>
        </p:txBody>
      </p:sp>
      <p:sp>
        <p:nvSpPr>
          <p:cNvPr id="36" name="a3ud100_nds35"/>
          <p:cNvSpPr txBox="1"/>
          <p:nvPr/>
        </p:nvSpPr>
        <p:spPr>
          <a:xfrm>
            <a:off x="5486400" y="1929384"/>
            <a:ext cx="2926079" cy="173736"/>
          </a:xfrm>
          <a:prstGeom prst="rect">
            <a:avLst/>
          </a:prstGeom>
          <a:noFill/>
        </p:spPr>
        <p:txBody>
          <a:bodyPr wrap="square" lIns="0" tIns="0" rIns="0" bIns="0" anchor="t">
            <a:spAutoFit/>
          </a:bodyPr>
          <a:lstStyle/>
          <a:p>
            <a:pPr algn="ctr"/>
            <a:r>
              <a:rPr sz="800" b="0">
                <a:solidFill>
                  <a:srgbClr val="0E7490"/>
                </a:solidFill>
                <a:latin typeface="Segoe UI"/>
              </a:rPr>
              <a:t>write events</a:t>
            </a:r>
          </a:p>
        </p:txBody>
      </p:sp>
      <p:sp>
        <p:nvSpPr>
          <p:cNvPr id="37" name="a3ud200_nd36"/>
          <p:cNvSpPr/>
          <p:nvPr/>
        </p:nvSpPr>
        <p:spPr>
          <a:xfrm>
            <a:off x="5440680" y="2231136"/>
            <a:ext cx="3017520" cy="475488"/>
          </a:xfrm>
          <a:prstGeom prst="roundRect">
            <a:avLst>
              <a:gd name="adj" fmla="val 15384"/>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3ud200_ndt37"/>
          <p:cNvSpPr txBox="1"/>
          <p:nvPr/>
        </p:nvSpPr>
        <p:spPr>
          <a:xfrm>
            <a:off x="5486400" y="2267712"/>
            <a:ext cx="2926079" cy="219456"/>
          </a:xfrm>
          <a:prstGeom prst="rect">
            <a:avLst/>
          </a:prstGeom>
          <a:noFill/>
        </p:spPr>
        <p:txBody>
          <a:bodyPr wrap="square" lIns="0" tIns="0" rIns="0" bIns="0" anchor="b">
            <a:spAutoFit/>
          </a:bodyPr>
          <a:lstStyle/>
          <a:p>
            <a:pPr algn="ctr"/>
            <a:r>
              <a:rPr sz="900" b="1">
                <a:solidFill>
                  <a:srgbClr val="1C1917"/>
                </a:solidFill>
                <a:latin typeface="Segoe UI"/>
              </a:rPr>
              <a:t>Consumers</a:t>
            </a:r>
          </a:p>
        </p:txBody>
      </p:sp>
      <p:sp>
        <p:nvSpPr>
          <p:cNvPr id="39" name="a3ud200_nds38"/>
          <p:cNvSpPr txBox="1"/>
          <p:nvPr/>
        </p:nvSpPr>
        <p:spPr>
          <a:xfrm>
            <a:off x="5486400" y="2496312"/>
            <a:ext cx="2926079" cy="173736"/>
          </a:xfrm>
          <a:prstGeom prst="rect">
            <a:avLst/>
          </a:prstGeom>
          <a:noFill/>
        </p:spPr>
        <p:txBody>
          <a:bodyPr wrap="square" lIns="0" tIns="0" rIns="0" bIns="0" anchor="t">
            <a:spAutoFit/>
          </a:bodyPr>
          <a:lstStyle/>
          <a:p>
            <a:pPr algn="ctr"/>
            <a:r>
              <a:rPr sz="800" b="0">
                <a:solidFill>
                  <a:srgbClr val="0E7490"/>
                </a:solidFill>
                <a:latin typeface="Segoe UI"/>
              </a:rPr>
              <a:t>read events</a:t>
            </a:r>
          </a:p>
        </p:txBody>
      </p:sp>
      <p:sp>
        <p:nvSpPr>
          <p:cNvPr id="40" name="a3ud300_nd39"/>
          <p:cNvSpPr/>
          <p:nvPr/>
        </p:nvSpPr>
        <p:spPr>
          <a:xfrm>
            <a:off x="5440680" y="2798064"/>
            <a:ext cx="3017520" cy="475488"/>
          </a:xfrm>
          <a:prstGeom prst="roundRect">
            <a:avLst>
              <a:gd name="adj" fmla="val 15384"/>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3ud300_ndt40"/>
          <p:cNvSpPr txBox="1"/>
          <p:nvPr/>
        </p:nvSpPr>
        <p:spPr>
          <a:xfrm>
            <a:off x="5486400" y="2834640"/>
            <a:ext cx="2926079" cy="219456"/>
          </a:xfrm>
          <a:prstGeom prst="rect">
            <a:avLst/>
          </a:prstGeom>
          <a:noFill/>
        </p:spPr>
        <p:txBody>
          <a:bodyPr wrap="square" lIns="0" tIns="0" rIns="0" bIns="0" anchor="b">
            <a:spAutoFit/>
          </a:bodyPr>
          <a:lstStyle/>
          <a:p>
            <a:pPr algn="ctr"/>
            <a:r>
              <a:rPr sz="900" b="1">
                <a:solidFill>
                  <a:srgbClr val="1C1917"/>
                </a:solidFill>
                <a:latin typeface="Segoe UI"/>
              </a:rPr>
              <a:t>Streams apps</a:t>
            </a:r>
          </a:p>
        </p:txBody>
      </p:sp>
      <p:sp>
        <p:nvSpPr>
          <p:cNvPr id="42" name="a3ud300_nds41"/>
          <p:cNvSpPr txBox="1"/>
          <p:nvPr/>
        </p:nvSpPr>
        <p:spPr>
          <a:xfrm>
            <a:off x="5486400" y="3063240"/>
            <a:ext cx="2926079" cy="173736"/>
          </a:xfrm>
          <a:prstGeom prst="rect">
            <a:avLst/>
          </a:prstGeom>
          <a:noFill/>
        </p:spPr>
        <p:txBody>
          <a:bodyPr wrap="square" lIns="0" tIns="0" rIns="0" bIns="0" anchor="t">
            <a:spAutoFit/>
          </a:bodyPr>
          <a:lstStyle/>
          <a:p>
            <a:pPr algn="ctr"/>
            <a:r>
              <a:rPr sz="800" b="0">
                <a:solidFill>
                  <a:srgbClr val="0E7490"/>
                </a:solidFill>
                <a:latin typeface="Segoe UI"/>
              </a:rPr>
              <a:t>process events</a:t>
            </a:r>
          </a:p>
        </p:txBody>
      </p:sp>
      <p:sp>
        <p:nvSpPr>
          <p:cNvPr id="43" name="a4u_pill42"/>
          <p:cNvSpPr/>
          <p:nvPr/>
        </p:nvSpPr>
        <p:spPr>
          <a:xfrm>
            <a:off x="5440680" y="3456432"/>
            <a:ext cx="457200" cy="274320"/>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Consolas"/>
              </a:rPr>
              <a:t>Java</a:t>
            </a:r>
          </a:p>
        </p:txBody>
      </p:sp>
      <p:sp>
        <p:nvSpPr>
          <p:cNvPr id="44" name="a4ud90_pill43"/>
          <p:cNvSpPr/>
          <p:nvPr/>
        </p:nvSpPr>
        <p:spPr>
          <a:xfrm>
            <a:off x="5952744" y="3456432"/>
            <a:ext cx="457200" cy="274320"/>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Consolas"/>
              </a:rPr>
              <a:t>Python</a:t>
            </a:r>
          </a:p>
        </p:txBody>
      </p:sp>
      <p:sp>
        <p:nvSpPr>
          <p:cNvPr id="45" name="a4ud180_pill44"/>
          <p:cNvSpPr/>
          <p:nvPr/>
        </p:nvSpPr>
        <p:spPr>
          <a:xfrm>
            <a:off x="6464808" y="3456432"/>
            <a:ext cx="457200" cy="274320"/>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Consolas"/>
              </a:rPr>
              <a:t>Go</a:t>
            </a:r>
          </a:p>
        </p:txBody>
      </p:sp>
      <p:sp>
        <p:nvSpPr>
          <p:cNvPr id="46" name="a4ud270_pill45"/>
          <p:cNvSpPr/>
          <p:nvPr/>
        </p:nvSpPr>
        <p:spPr>
          <a:xfrm>
            <a:off x="6976872" y="3456432"/>
            <a:ext cx="457200" cy="274320"/>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Consolas"/>
              </a:rPr>
              <a:t>.NET</a:t>
            </a:r>
          </a:p>
        </p:txBody>
      </p:sp>
      <p:sp>
        <p:nvSpPr>
          <p:cNvPr id="47" name="a4ud360_pill46"/>
          <p:cNvSpPr/>
          <p:nvPr/>
        </p:nvSpPr>
        <p:spPr>
          <a:xfrm>
            <a:off x="7488936" y="3456432"/>
            <a:ext cx="457200" cy="274320"/>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Consolas"/>
              </a:rPr>
              <a:t>C/C++</a:t>
            </a:r>
          </a:p>
        </p:txBody>
      </p:sp>
      <p:sp>
        <p:nvSpPr>
          <p:cNvPr id="48" name="a4ud450_pill47"/>
          <p:cNvSpPr/>
          <p:nvPr/>
        </p:nvSpPr>
        <p:spPr>
          <a:xfrm>
            <a:off x="8001000" y="3456432"/>
            <a:ext cx="457200" cy="274320"/>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Consolas"/>
              </a:rPr>
              <a:t>REST</a:t>
            </a:r>
          </a:p>
        </p:txBody>
      </p:sp>
      <p:sp>
        <p:nvSpPr>
          <p:cNvPr id="49" name="ft4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64</a:t>
            </a:r>
          </a:p>
        </p:txBody>
      </p:sp>
      <p:sp>
        <p:nvSpPr>
          <p:cNvPr id="50" name="ft4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ft5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52" name="ft5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0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20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30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30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30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childTnLst>
                          </p:cTn>
                        </p:par>
                      </p:childTnLst>
                    </p:cTn>
                  </p:par>
                  <p:par>
                    <p:cTn id="65" fill="hold">
                      <p:stCondLst>
                        <p:cond delay="indefinite"/>
                      </p:stCondLst>
                      <p:childTnLst>
                        <p:par>
                          <p:cTn id="66" fill="hold">
                            <p:stCondLst>
                              <p:cond delay="0"/>
                            </p:stCondLst>
                            <p:childTnLst>
                              <p:par>
                                <p:cTn id="71" presetID="2" presetClass="entr" presetSubtype="4" fill="hold" grpId="0" nodeType="click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10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15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15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15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30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childTnLst>
                          </p:cTn>
                        </p:par>
                      </p:childTnLst>
                    </p:cTn>
                  </p:par>
                  <p:par>
                    <p:cTn id="107" fill="hold">
                      <p:stCondLst>
                        <p:cond delay="indefinite"/>
                      </p:stCondLst>
                      <p:childTnLst>
                        <p:par>
                          <p:cTn id="108" fill="hold">
                            <p:stCondLst>
                              <p:cond delay="0"/>
                            </p:stCondLst>
                            <p:childTnLst>
                              <p:par>
                                <p:cTn id="113" presetID="2" presetClass="entr" presetSubtype="4" fill="hold" grpId="0" nodeType="clickEffect">
                                  <p:stCondLst>
                                    <p:cond delay="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8" presetID="2" presetClass="entr" presetSubtype="4" fill="hold" grpId="0" nodeType="withEffect">
                                  <p:stCondLst>
                                    <p:cond delay="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par>
                                <p:cTn id="123" presetID="2" presetClass="entr" presetSubtype="4" fill="hold" grpId="0" nodeType="withEffect">
                                  <p:stCondLst>
                                    <p:cond delay="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par>
                                <p:cTn id="128" presetID="2" presetClass="entr" presetSubtype="4" fill="hold" grpId="0" nodeType="withEffect">
                                  <p:stCondLst>
                                    <p:cond delay="10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par>
                                <p:cTn id="133" presetID="2" presetClass="entr" presetSubtype="4" fill="hold" grpId="0" nodeType="withEffect">
                                  <p:stCondLst>
                                    <p:cond delay="10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par>
                                <p:cTn id="138" presetID="2" presetClass="entr" presetSubtype="4" fill="hold" grpId="0" nodeType="withEffect">
                                  <p:stCondLst>
                                    <p:cond delay="100"/>
                                  </p:stCondLst>
                                  <p:childTnLst>
                                    <p:set>
                                      <p:cBhvr>
                                        <p:cTn id="134" dur="1" fill="hold">
                                          <p:stCondLst>
                                            <p:cond delay="0"/>
                                          </p:stCondLst>
                                        </p:cTn>
                                        <p:tgtEl>
                                          <p:spTgt spid="36"/>
                                        </p:tgtEl>
                                        <p:attrNameLst>
                                          <p:attrName>style.visibility</p:attrName>
                                        </p:attrNameLst>
                                      </p:cBhvr>
                                      <p:to>
                                        <p:strVal val="visible"/>
                                      </p:to>
                                    </p:set>
                                    <p:anim calcmode="lin" valueType="num">
                                      <p:cBhvr additive="base">
                                        <p:cTn id="135" dur="500" fill="hold"/>
                                        <p:tgtEl>
                                          <p:spTgt spid="36"/>
                                        </p:tgtEl>
                                        <p:attrNameLst>
                                          <p:attrName>ppt_x</p:attrName>
                                        </p:attrNameLst>
                                      </p:cBhvr>
                                      <p:tavLst>
                                        <p:tav tm="0">
                                          <p:val>
                                            <p:strVal val="#ppt_x"/>
                                          </p:val>
                                        </p:tav>
                                        <p:tav tm="100000">
                                          <p:val>
                                            <p:strVal val="#ppt_x"/>
                                          </p:val>
                                        </p:tav>
                                      </p:tavLst>
                                    </p:anim>
                                    <p:anim calcmode="lin" valueType="num">
                                      <p:cBhvr additive="base">
                                        <p:cTn id="136" dur="500" fill="hold"/>
                                        <p:tgtEl>
                                          <p:spTgt spid="36"/>
                                        </p:tgtEl>
                                        <p:attrNameLst>
                                          <p:attrName>ppt_y</p:attrName>
                                        </p:attrNameLst>
                                      </p:cBhvr>
                                      <p:tavLst>
                                        <p:tav tm="0">
                                          <p:val>
                                            <p:strVal val="#ppt_y+0.1"/>
                                          </p:val>
                                        </p:tav>
                                        <p:tav tm="100000">
                                          <p:val>
                                            <p:strVal val="#ppt_y"/>
                                          </p:val>
                                        </p:tav>
                                      </p:tavLst>
                                    </p:anim>
                                    <p:animEffect transition="in" filter="fade">
                                      <p:cBhvr>
                                        <p:cTn id="137" dur="500"/>
                                        <p:tgtEl>
                                          <p:spTgt spid="36"/>
                                        </p:tgtEl>
                                      </p:cBhvr>
                                    </p:animEffect>
                                  </p:childTnLst>
                                </p:cTn>
                              </p:par>
                              <p:par>
                                <p:cTn id="143" presetID="2" presetClass="entr" presetSubtype="4" fill="hold" grpId="0" nodeType="withEffect">
                                  <p:stCondLst>
                                    <p:cond delay="200"/>
                                  </p:stCondLst>
                                  <p:childTnLst>
                                    <p:set>
                                      <p:cBhvr>
                                        <p:cTn id="139" dur="1" fill="hold">
                                          <p:stCondLst>
                                            <p:cond delay="0"/>
                                          </p:stCondLst>
                                        </p:cTn>
                                        <p:tgtEl>
                                          <p:spTgt spid="37"/>
                                        </p:tgtEl>
                                        <p:attrNameLst>
                                          <p:attrName>style.visibility</p:attrName>
                                        </p:attrNameLst>
                                      </p:cBhvr>
                                      <p:to>
                                        <p:strVal val="visible"/>
                                      </p:to>
                                    </p:set>
                                    <p:anim calcmode="lin" valueType="num">
                                      <p:cBhvr additive="base">
                                        <p:cTn id="140" dur="500" fill="hold"/>
                                        <p:tgtEl>
                                          <p:spTgt spid="37"/>
                                        </p:tgtEl>
                                        <p:attrNameLst>
                                          <p:attrName>ppt_x</p:attrName>
                                        </p:attrNameLst>
                                      </p:cBhvr>
                                      <p:tavLst>
                                        <p:tav tm="0">
                                          <p:val>
                                            <p:strVal val="#ppt_x"/>
                                          </p:val>
                                        </p:tav>
                                        <p:tav tm="100000">
                                          <p:val>
                                            <p:strVal val="#ppt_x"/>
                                          </p:val>
                                        </p:tav>
                                      </p:tavLst>
                                    </p:anim>
                                    <p:anim calcmode="lin" valueType="num">
                                      <p:cBhvr additive="base">
                                        <p:cTn id="141" dur="500" fill="hold"/>
                                        <p:tgtEl>
                                          <p:spTgt spid="37"/>
                                        </p:tgtEl>
                                        <p:attrNameLst>
                                          <p:attrName>ppt_y</p:attrName>
                                        </p:attrNameLst>
                                      </p:cBhvr>
                                      <p:tavLst>
                                        <p:tav tm="0">
                                          <p:val>
                                            <p:strVal val="#ppt_y+0.1"/>
                                          </p:val>
                                        </p:tav>
                                        <p:tav tm="100000">
                                          <p:val>
                                            <p:strVal val="#ppt_y"/>
                                          </p:val>
                                        </p:tav>
                                      </p:tavLst>
                                    </p:anim>
                                    <p:animEffect transition="in" filter="fade">
                                      <p:cBhvr>
                                        <p:cTn id="142" dur="500"/>
                                        <p:tgtEl>
                                          <p:spTgt spid="37"/>
                                        </p:tgtEl>
                                      </p:cBhvr>
                                    </p:animEffect>
                                  </p:childTnLst>
                                </p:cTn>
                              </p:par>
                              <p:par>
                                <p:cTn id="148" presetID="2" presetClass="entr" presetSubtype="4" fill="hold" grpId="0" nodeType="withEffect">
                                  <p:stCondLst>
                                    <p:cond delay="200"/>
                                  </p:stCondLst>
                                  <p:childTnLst>
                                    <p:set>
                                      <p:cBhvr>
                                        <p:cTn id="144" dur="1" fill="hold">
                                          <p:stCondLst>
                                            <p:cond delay="0"/>
                                          </p:stCondLst>
                                        </p:cTn>
                                        <p:tgtEl>
                                          <p:spTgt spid="38"/>
                                        </p:tgtEl>
                                        <p:attrNameLst>
                                          <p:attrName>style.visibility</p:attrName>
                                        </p:attrNameLst>
                                      </p:cBhvr>
                                      <p:to>
                                        <p:strVal val="visible"/>
                                      </p:to>
                                    </p:set>
                                    <p:anim calcmode="lin" valueType="num">
                                      <p:cBhvr additive="base">
                                        <p:cTn id="145" dur="500" fill="hold"/>
                                        <p:tgtEl>
                                          <p:spTgt spid="38"/>
                                        </p:tgtEl>
                                        <p:attrNameLst>
                                          <p:attrName>ppt_x</p:attrName>
                                        </p:attrNameLst>
                                      </p:cBhvr>
                                      <p:tavLst>
                                        <p:tav tm="0">
                                          <p:val>
                                            <p:strVal val="#ppt_x"/>
                                          </p:val>
                                        </p:tav>
                                        <p:tav tm="100000">
                                          <p:val>
                                            <p:strVal val="#ppt_x"/>
                                          </p:val>
                                        </p:tav>
                                      </p:tavLst>
                                    </p:anim>
                                    <p:anim calcmode="lin" valueType="num">
                                      <p:cBhvr additive="base">
                                        <p:cTn id="146" dur="500" fill="hold"/>
                                        <p:tgtEl>
                                          <p:spTgt spid="38"/>
                                        </p:tgtEl>
                                        <p:attrNameLst>
                                          <p:attrName>ppt_y</p:attrName>
                                        </p:attrNameLst>
                                      </p:cBhvr>
                                      <p:tavLst>
                                        <p:tav tm="0">
                                          <p:val>
                                            <p:strVal val="#ppt_y+0.1"/>
                                          </p:val>
                                        </p:tav>
                                        <p:tav tm="100000">
                                          <p:val>
                                            <p:strVal val="#ppt_y"/>
                                          </p:val>
                                        </p:tav>
                                      </p:tavLst>
                                    </p:anim>
                                    <p:animEffect transition="in" filter="fade">
                                      <p:cBhvr>
                                        <p:cTn id="147" dur="500"/>
                                        <p:tgtEl>
                                          <p:spTgt spid="38"/>
                                        </p:tgtEl>
                                      </p:cBhvr>
                                    </p:animEffect>
                                  </p:childTnLst>
                                </p:cTn>
                              </p:par>
                              <p:par>
                                <p:cTn id="153" presetID="2" presetClass="entr" presetSubtype="4" fill="hold" grpId="0" nodeType="withEffect">
                                  <p:stCondLst>
                                    <p:cond delay="200"/>
                                  </p:stCondLst>
                                  <p:childTnLst>
                                    <p:set>
                                      <p:cBhvr>
                                        <p:cTn id="149" dur="1" fill="hold">
                                          <p:stCondLst>
                                            <p:cond delay="0"/>
                                          </p:stCondLst>
                                        </p:cTn>
                                        <p:tgtEl>
                                          <p:spTgt spid="39"/>
                                        </p:tgtEl>
                                        <p:attrNameLst>
                                          <p:attrName>style.visibility</p:attrName>
                                        </p:attrNameLst>
                                      </p:cBhvr>
                                      <p:to>
                                        <p:strVal val="visible"/>
                                      </p:to>
                                    </p:set>
                                    <p:anim calcmode="lin" valueType="num">
                                      <p:cBhvr additive="base">
                                        <p:cTn id="150" dur="500" fill="hold"/>
                                        <p:tgtEl>
                                          <p:spTgt spid="39"/>
                                        </p:tgtEl>
                                        <p:attrNameLst>
                                          <p:attrName>ppt_x</p:attrName>
                                        </p:attrNameLst>
                                      </p:cBhvr>
                                      <p:tavLst>
                                        <p:tav tm="0">
                                          <p:val>
                                            <p:strVal val="#ppt_x"/>
                                          </p:val>
                                        </p:tav>
                                        <p:tav tm="100000">
                                          <p:val>
                                            <p:strVal val="#ppt_x"/>
                                          </p:val>
                                        </p:tav>
                                      </p:tavLst>
                                    </p:anim>
                                    <p:anim calcmode="lin" valueType="num">
                                      <p:cBhvr additive="base">
                                        <p:cTn id="151" dur="500" fill="hold"/>
                                        <p:tgtEl>
                                          <p:spTgt spid="39"/>
                                        </p:tgtEl>
                                        <p:attrNameLst>
                                          <p:attrName>ppt_y</p:attrName>
                                        </p:attrNameLst>
                                      </p:cBhvr>
                                      <p:tavLst>
                                        <p:tav tm="0">
                                          <p:val>
                                            <p:strVal val="#ppt_y+0.1"/>
                                          </p:val>
                                        </p:tav>
                                        <p:tav tm="100000">
                                          <p:val>
                                            <p:strVal val="#ppt_y"/>
                                          </p:val>
                                        </p:tav>
                                      </p:tavLst>
                                    </p:anim>
                                    <p:animEffect transition="in" filter="fade">
                                      <p:cBhvr>
                                        <p:cTn id="152" dur="500"/>
                                        <p:tgtEl>
                                          <p:spTgt spid="39"/>
                                        </p:tgtEl>
                                      </p:cBhvr>
                                    </p:animEffect>
                                  </p:childTnLst>
                                </p:cTn>
                              </p:par>
                              <p:par>
                                <p:cTn id="158" presetID="2" presetClass="entr" presetSubtype="4" fill="hold" grpId="0" nodeType="withEffect">
                                  <p:stCondLst>
                                    <p:cond delay="30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500" fill="hold"/>
                                        <p:tgtEl>
                                          <p:spTgt spid="40"/>
                                        </p:tgtEl>
                                        <p:attrNameLst>
                                          <p:attrName>ppt_x</p:attrName>
                                        </p:attrNameLst>
                                      </p:cBhvr>
                                      <p:tavLst>
                                        <p:tav tm="0">
                                          <p:val>
                                            <p:strVal val="#ppt_x"/>
                                          </p:val>
                                        </p:tav>
                                        <p:tav tm="100000">
                                          <p:val>
                                            <p:strVal val="#ppt_x"/>
                                          </p:val>
                                        </p:tav>
                                      </p:tavLst>
                                    </p:anim>
                                    <p:anim calcmode="lin" valueType="num">
                                      <p:cBhvr additive="base">
                                        <p:cTn id="156" dur="500" fill="hold"/>
                                        <p:tgtEl>
                                          <p:spTgt spid="40"/>
                                        </p:tgtEl>
                                        <p:attrNameLst>
                                          <p:attrName>ppt_y</p:attrName>
                                        </p:attrNameLst>
                                      </p:cBhvr>
                                      <p:tavLst>
                                        <p:tav tm="0">
                                          <p:val>
                                            <p:strVal val="#ppt_y+0.1"/>
                                          </p:val>
                                        </p:tav>
                                        <p:tav tm="100000">
                                          <p:val>
                                            <p:strVal val="#ppt_y"/>
                                          </p:val>
                                        </p:tav>
                                      </p:tavLst>
                                    </p:anim>
                                    <p:animEffect transition="in" filter="fade">
                                      <p:cBhvr>
                                        <p:cTn id="157" dur="500"/>
                                        <p:tgtEl>
                                          <p:spTgt spid="40"/>
                                        </p:tgtEl>
                                      </p:cBhvr>
                                    </p:animEffect>
                                  </p:childTnLst>
                                </p:cTn>
                              </p:par>
                              <p:par>
                                <p:cTn id="163" presetID="2" presetClass="entr" presetSubtype="4" fill="hold" grpId="0" nodeType="withEffect">
                                  <p:stCondLst>
                                    <p:cond delay="300"/>
                                  </p:stCondLst>
                                  <p:childTnLst>
                                    <p:set>
                                      <p:cBhvr>
                                        <p:cTn id="159" dur="1" fill="hold">
                                          <p:stCondLst>
                                            <p:cond delay="0"/>
                                          </p:stCondLst>
                                        </p:cTn>
                                        <p:tgtEl>
                                          <p:spTgt spid="41"/>
                                        </p:tgtEl>
                                        <p:attrNameLst>
                                          <p:attrName>style.visibility</p:attrName>
                                        </p:attrNameLst>
                                      </p:cBhvr>
                                      <p:to>
                                        <p:strVal val="visible"/>
                                      </p:to>
                                    </p:set>
                                    <p:anim calcmode="lin" valueType="num">
                                      <p:cBhvr additive="base">
                                        <p:cTn id="160" dur="500" fill="hold"/>
                                        <p:tgtEl>
                                          <p:spTgt spid="41"/>
                                        </p:tgtEl>
                                        <p:attrNameLst>
                                          <p:attrName>ppt_x</p:attrName>
                                        </p:attrNameLst>
                                      </p:cBhvr>
                                      <p:tavLst>
                                        <p:tav tm="0">
                                          <p:val>
                                            <p:strVal val="#ppt_x"/>
                                          </p:val>
                                        </p:tav>
                                        <p:tav tm="100000">
                                          <p:val>
                                            <p:strVal val="#ppt_x"/>
                                          </p:val>
                                        </p:tav>
                                      </p:tavLst>
                                    </p:anim>
                                    <p:anim calcmode="lin" valueType="num">
                                      <p:cBhvr additive="base">
                                        <p:cTn id="161" dur="500" fill="hold"/>
                                        <p:tgtEl>
                                          <p:spTgt spid="41"/>
                                        </p:tgtEl>
                                        <p:attrNameLst>
                                          <p:attrName>ppt_y</p:attrName>
                                        </p:attrNameLst>
                                      </p:cBhvr>
                                      <p:tavLst>
                                        <p:tav tm="0">
                                          <p:val>
                                            <p:strVal val="#ppt_y+0.1"/>
                                          </p:val>
                                        </p:tav>
                                        <p:tav tm="100000">
                                          <p:val>
                                            <p:strVal val="#ppt_y"/>
                                          </p:val>
                                        </p:tav>
                                      </p:tavLst>
                                    </p:anim>
                                    <p:animEffect transition="in" filter="fade">
                                      <p:cBhvr>
                                        <p:cTn id="162" dur="500"/>
                                        <p:tgtEl>
                                          <p:spTgt spid="41"/>
                                        </p:tgtEl>
                                      </p:cBhvr>
                                    </p:animEffect>
                                  </p:childTnLst>
                                </p:cTn>
                              </p:par>
                              <p:par>
                                <p:cTn id="168" presetID="2" presetClass="entr" presetSubtype="4" fill="hold" grpId="0" nodeType="withEffect">
                                  <p:stCondLst>
                                    <p:cond delay="300"/>
                                  </p:stCondLst>
                                  <p:childTnLst>
                                    <p:set>
                                      <p:cBhvr>
                                        <p:cTn id="164" dur="1" fill="hold">
                                          <p:stCondLst>
                                            <p:cond delay="0"/>
                                          </p:stCondLst>
                                        </p:cTn>
                                        <p:tgtEl>
                                          <p:spTgt spid="42"/>
                                        </p:tgtEl>
                                        <p:attrNameLst>
                                          <p:attrName>style.visibility</p:attrName>
                                        </p:attrNameLst>
                                      </p:cBhvr>
                                      <p:to>
                                        <p:strVal val="visible"/>
                                      </p:to>
                                    </p:set>
                                    <p:anim calcmode="lin" valueType="num">
                                      <p:cBhvr additive="base">
                                        <p:cTn id="165" dur="500" fill="hold"/>
                                        <p:tgtEl>
                                          <p:spTgt spid="42"/>
                                        </p:tgtEl>
                                        <p:attrNameLst>
                                          <p:attrName>ppt_x</p:attrName>
                                        </p:attrNameLst>
                                      </p:cBhvr>
                                      <p:tavLst>
                                        <p:tav tm="0">
                                          <p:val>
                                            <p:strVal val="#ppt_x"/>
                                          </p:val>
                                        </p:tav>
                                        <p:tav tm="100000">
                                          <p:val>
                                            <p:strVal val="#ppt_x"/>
                                          </p:val>
                                        </p:tav>
                                      </p:tavLst>
                                    </p:anim>
                                    <p:anim calcmode="lin" valueType="num">
                                      <p:cBhvr additive="base">
                                        <p:cTn id="166" dur="500" fill="hold"/>
                                        <p:tgtEl>
                                          <p:spTgt spid="42"/>
                                        </p:tgtEl>
                                        <p:attrNameLst>
                                          <p:attrName>ppt_y</p:attrName>
                                        </p:attrNameLst>
                                      </p:cBhvr>
                                      <p:tavLst>
                                        <p:tav tm="0">
                                          <p:val>
                                            <p:strVal val="#ppt_y+0.1"/>
                                          </p:val>
                                        </p:tav>
                                        <p:tav tm="100000">
                                          <p:val>
                                            <p:strVal val="#ppt_y"/>
                                          </p:val>
                                        </p:tav>
                                      </p:tavLst>
                                    </p:anim>
                                    <p:animEffect transition="in" filter="fade">
                                      <p:cBhvr>
                                        <p:cTn id="167" dur="500"/>
                                        <p:tgtEl>
                                          <p:spTgt spid="42"/>
                                        </p:tgtEl>
                                      </p:cBhvr>
                                    </p:animEffect>
                                  </p:childTnLst>
                                </p:cTn>
                              </p:par>
                            </p:childTnLst>
                          </p:cTn>
                        </p:par>
                      </p:childTnLst>
                    </p:cTn>
                  </p:par>
                  <p:par>
                    <p:cTn id="169" fill="hold">
                      <p:stCondLst>
                        <p:cond delay="indefinite"/>
                      </p:stCondLst>
                      <p:childTnLst>
                        <p:par>
                          <p:cTn id="170" fill="hold">
                            <p:stCondLst>
                              <p:cond delay="0"/>
                            </p:stCondLst>
                            <p:childTnLst>
                              <p:par>
                                <p:cTn id="175" presetID="2" presetClass="entr" presetSubtype="4" fill="hold" grpId="0" nodeType="clickEffect">
                                  <p:stCondLst>
                                    <p:cond delay="0"/>
                                  </p:stCondLst>
                                  <p:childTnLst>
                                    <p:set>
                                      <p:cBhvr>
                                        <p:cTn id="171" dur="1" fill="hold">
                                          <p:stCondLst>
                                            <p:cond delay="0"/>
                                          </p:stCondLst>
                                        </p:cTn>
                                        <p:tgtEl>
                                          <p:spTgt spid="43"/>
                                        </p:tgtEl>
                                        <p:attrNameLst>
                                          <p:attrName>style.visibility</p:attrName>
                                        </p:attrNameLst>
                                      </p:cBhvr>
                                      <p:to>
                                        <p:strVal val="visible"/>
                                      </p:to>
                                    </p:set>
                                    <p:anim calcmode="lin" valueType="num">
                                      <p:cBhvr additive="base">
                                        <p:cTn id="172" dur="500" fill="hold"/>
                                        <p:tgtEl>
                                          <p:spTgt spid="43"/>
                                        </p:tgtEl>
                                        <p:attrNameLst>
                                          <p:attrName>ppt_x</p:attrName>
                                        </p:attrNameLst>
                                      </p:cBhvr>
                                      <p:tavLst>
                                        <p:tav tm="0">
                                          <p:val>
                                            <p:strVal val="#ppt_x"/>
                                          </p:val>
                                        </p:tav>
                                        <p:tav tm="100000">
                                          <p:val>
                                            <p:strVal val="#ppt_x"/>
                                          </p:val>
                                        </p:tav>
                                      </p:tavLst>
                                    </p:anim>
                                    <p:anim calcmode="lin" valueType="num">
                                      <p:cBhvr additive="base">
                                        <p:cTn id="173" dur="500" fill="hold"/>
                                        <p:tgtEl>
                                          <p:spTgt spid="43"/>
                                        </p:tgtEl>
                                        <p:attrNameLst>
                                          <p:attrName>ppt_y</p:attrName>
                                        </p:attrNameLst>
                                      </p:cBhvr>
                                      <p:tavLst>
                                        <p:tav tm="0">
                                          <p:val>
                                            <p:strVal val="#ppt_y+0.1"/>
                                          </p:val>
                                        </p:tav>
                                        <p:tav tm="100000">
                                          <p:val>
                                            <p:strVal val="#ppt_y"/>
                                          </p:val>
                                        </p:tav>
                                      </p:tavLst>
                                    </p:anim>
                                    <p:animEffect transition="in" filter="fade">
                                      <p:cBhvr>
                                        <p:cTn id="174" dur="500"/>
                                        <p:tgtEl>
                                          <p:spTgt spid="43"/>
                                        </p:tgtEl>
                                      </p:cBhvr>
                                    </p:animEffect>
                                  </p:childTnLst>
                                </p:cTn>
                              </p:par>
                              <p:par>
                                <p:cTn id="180" presetID="2" presetClass="entr" presetSubtype="4" fill="hold" grpId="0" nodeType="withEffect">
                                  <p:stCondLst>
                                    <p:cond delay="90"/>
                                  </p:stCondLst>
                                  <p:childTnLst>
                                    <p:set>
                                      <p:cBhvr>
                                        <p:cTn id="176" dur="1" fill="hold">
                                          <p:stCondLst>
                                            <p:cond delay="0"/>
                                          </p:stCondLst>
                                        </p:cTn>
                                        <p:tgtEl>
                                          <p:spTgt spid="44"/>
                                        </p:tgtEl>
                                        <p:attrNameLst>
                                          <p:attrName>style.visibility</p:attrName>
                                        </p:attrNameLst>
                                      </p:cBhvr>
                                      <p:to>
                                        <p:strVal val="visible"/>
                                      </p:to>
                                    </p:set>
                                    <p:anim calcmode="lin" valueType="num">
                                      <p:cBhvr additive="base">
                                        <p:cTn id="177" dur="500" fill="hold"/>
                                        <p:tgtEl>
                                          <p:spTgt spid="44"/>
                                        </p:tgtEl>
                                        <p:attrNameLst>
                                          <p:attrName>ppt_x</p:attrName>
                                        </p:attrNameLst>
                                      </p:cBhvr>
                                      <p:tavLst>
                                        <p:tav tm="0">
                                          <p:val>
                                            <p:strVal val="#ppt_x"/>
                                          </p:val>
                                        </p:tav>
                                        <p:tav tm="100000">
                                          <p:val>
                                            <p:strVal val="#ppt_x"/>
                                          </p:val>
                                        </p:tav>
                                      </p:tavLst>
                                    </p:anim>
                                    <p:anim calcmode="lin" valueType="num">
                                      <p:cBhvr additive="base">
                                        <p:cTn id="178" dur="500" fill="hold"/>
                                        <p:tgtEl>
                                          <p:spTgt spid="44"/>
                                        </p:tgtEl>
                                        <p:attrNameLst>
                                          <p:attrName>ppt_y</p:attrName>
                                        </p:attrNameLst>
                                      </p:cBhvr>
                                      <p:tavLst>
                                        <p:tav tm="0">
                                          <p:val>
                                            <p:strVal val="#ppt_y+0.1"/>
                                          </p:val>
                                        </p:tav>
                                        <p:tav tm="100000">
                                          <p:val>
                                            <p:strVal val="#ppt_y"/>
                                          </p:val>
                                        </p:tav>
                                      </p:tavLst>
                                    </p:anim>
                                    <p:animEffect transition="in" filter="fade">
                                      <p:cBhvr>
                                        <p:cTn id="179" dur="500"/>
                                        <p:tgtEl>
                                          <p:spTgt spid="44"/>
                                        </p:tgtEl>
                                      </p:cBhvr>
                                    </p:animEffect>
                                  </p:childTnLst>
                                </p:cTn>
                              </p:par>
                              <p:par>
                                <p:cTn id="185" presetID="2" presetClass="entr" presetSubtype="4" fill="hold" grpId="0" nodeType="withEffect">
                                  <p:stCondLst>
                                    <p:cond delay="180"/>
                                  </p:stCondLst>
                                  <p:childTnLst>
                                    <p:set>
                                      <p:cBhvr>
                                        <p:cTn id="181" dur="1" fill="hold">
                                          <p:stCondLst>
                                            <p:cond delay="0"/>
                                          </p:stCondLst>
                                        </p:cTn>
                                        <p:tgtEl>
                                          <p:spTgt spid="45"/>
                                        </p:tgtEl>
                                        <p:attrNameLst>
                                          <p:attrName>style.visibility</p:attrName>
                                        </p:attrNameLst>
                                      </p:cBhvr>
                                      <p:to>
                                        <p:strVal val="visible"/>
                                      </p:to>
                                    </p:set>
                                    <p:anim calcmode="lin" valueType="num">
                                      <p:cBhvr additive="base">
                                        <p:cTn id="182" dur="500" fill="hold"/>
                                        <p:tgtEl>
                                          <p:spTgt spid="45"/>
                                        </p:tgtEl>
                                        <p:attrNameLst>
                                          <p:attrName>ppt_x</p:attrName>
                                        </p:attrNameLst>
                                      </p:cBhvr>
                                      <p:tavLst>
                                        <p:tav tm="0">
                                          <p:val>
                                            <p:strVal val="#ppt_x"/>
                                          </p:val>
                                        </p:tav>
                                        <p:tav tm="100000">
                                          <p:val>
                                            <p:strVal val="#ppt_x"/>
                                          </p:val>
                                        </p:tav>
                                      </p:tavLst>
                                    </p:anim>
                                    <p:anim calcmode="lin" valueType="num">
                                      <p:cBhvr additive="base">
                                        <p:cTn id="183" dur="500" fill="hold"/>
                                        <p:tgtEl>
                                          <p:spTgt spid="45"/>
                                        </p:tgtEl>
                                        <p:attrNameLst>
                                          <p:attrName>ppt_y</p:attrName>
                                        </p:attrNameLst>
                                      </p:cBhvr>
                                      <p:tavLst>
                                        <p:tav tm="0">
                                          <p:val>
                                            <p:strVal val="#ppt_y+0.1"/>
                                          </p:val>
                                        </p:tav>
                                        <p:tav tm="100000">
                                          <p:val>
                                            <p:strVal val="#ppt_y"/>
                                          </p:val>
                                        </p:tav>
                                      </p:tavLst>
                                    </p:anim>
                                    <p:animEffect transition="in" filter="fade">
                                      <p:cBhvr>
                                        <p:cTn id="184" dur="500"/>
                                        <p:tgtEl>
                                          <p:spTgt spid="45"/>
                                        </p:tgtEl>
                                      </p:cBhvr>
                                    </p:animEffect>
                                  </p:childTnLst>
                                </p:cTn>
                              </p:par>
                              <p:par>
                                <p:cTn id="190" presetID="2" presetClass="entr" presetSubtype="4" fill="hold" grpId="0" nodeType="withEffect">
                                  <p:stCondLst>
                                    <p:cond delay="270"/>
                                  </p:stCondLst>
                                  <p:childTnLst>
                                    <p:set>
                                      <p:cBhvr>
                                        <p:cTn id="186" dur="1" fill="hold">
                                          <p:stCondLst>
                                            <p:cond delay="0"/>
                                          </p:stCondLst>
                                        </p:cTn>
                                        <p:tgtEl>
                                          <p:spTgt spid="46"/>
                                        </p:tgtEl>
                                        <p:attrNameLst>
                                          <p:attrName>style.visibility</p:attrName>
                                        </p:attrNameLst>
                                      </p:cBhvr>
                                      <p:to>
                                        <p:strVal val="visible"/>
                                      </p:to>
                                    </p:set>
                                    <p:anim calcmode="lin" valueType="num">
                                      <p:cBhvr additive="base">
                                        <p:cTn id="187" dur="500" fill="hold"/>
                                        <p:tgtEl>
                                          <p:spTgt spid="46"/>
                                        </p:tgtEl>
                                        <p:attrNameLst>
                                          <p:attrName>ppt_x</p:attrName>
                                        </p:attrNameLst>
                                      </p:cBhvr>
                                      <p:tavLst>
                                        <p:tav tm="0">
                                          <p:val>
                                            <p:strVal val="#ppt_x"/>
                                          </p:val>
                                        </p:tav>
                                        <p:tav tm="100000">
                                          <p:val>
                                            <p:strVal val="#ppt_x"/>
                                          </p:val>
                                        </p:tav>
                                      </p:tavLst>
                                    </p:anim>
                                    <p:anim calcmode="lin" valueType="num">
                                      <p:cBhvr additive="base">
                                        <p:cTn id="188" dur="500" fill="hold"/>
                                        <p:tgtEl>
                                          <p:spTgt spid="46"/>
                                        </p:tgtEl>
                                        <p:attrNameLst>
                                          <p:attrName>ppt_y</p:attrName>
                                        </p:attrNameLst>
                                      </p:cBhvr>
                                      <p:tavLst>
                                        <p:tav tm="0">
                                          <p:val>
                                            <p:strVal val="#ppt_y+0.1"/>
                                          </p:val>
                                        </p:tav>
                                        <p:tav tm="100000">
                                          <p:val>
                                            <p:strVal val="#ppt_y"/>
                                          </p:val>
                                        </p:tav>
                                      </p:tavLst>
                                    </p:anim>
                                    <p:animEffect transition="in" filter="fade">
                                      <p:cBhvr>
                                        <p:cTn id="189" dur="500"/>
                                        <p:tgtEl>
                                          <p:spTgt spid="46"/>
                                        </p:tgtEl>
                                      </p:cBhvr>
                                    </p:animEffect>
                                  </p:childTnLst>
                                </p:cTn>
                              </p:par>
                              <p:par>
                                <p:cTn id="195" presetID="2" presetClass="entr" presetSubtype="4" fill="hold" grpId="0" nodeType="withEffect">
                                  <p:stCondLst>
                                    <p:cond delay="360"/>
                                  </p:stCondLst>
                                  <p:childTnLst>
                                    <p:set>
                                      <p:cBhvr>
                                        <p:cTn id="191" dur="1" fill="hold">
                                          <p:stCondLst>
                                            <p:cond delay="0"/>
                                          </p:stCondLst>
                                        </p:cTn>
                                        <p:tgtEl>
                                          <p:spTgt spid="47"/>
                                        </p:tgtEl>
                                        <p:attrNameLst>
                                          <p:attrName>style.visibility</p:attrName>
                                        </p:attrNameLst>
                                      </p:cBhvr>
                                      <p:to>
                                        <p:strVal val="visible"/>
                                      </p:to>
                                    </p:set>
                                    <p:anim calcmode="lin" valueType="num">
                                      <p:cBhvr additive="base">
                                        <p:cTn id="192" dur="500" fill="hold"/>
                                        <p:tgtEl>
                                          <p:spTgt spid="47"/>
                                        </p:tgtEl>
                                        <p:attrNameLst>
                                          <p:attrName>ppt_x</p:attrName>
                                        </p:attrNameLst>
                                      </p:cBhvr>
                                      <p:tavLst>
                                        <p:tav tm="0">
                                          <p:val>
                                            <p:strVal val="#ppt_x"/>
                                          </p:val>
                                        </p:tav>
                                        <p:tav tm="100000">
                                          <p:val>
                                            <p:strVal val="#ppt_x"/>
                                          </p:val>
                                        </p:tav>
                                      </p:tavLst>
                                    </p:anim>
                                    <p:anim calcmode="lin" valueType="num">
                                      <p:cBhvr additive="base">
                                        <p:cTn id="193" dur="500" fill="hold"/>
                                        <p:tgtEl>
                                          <p:spTgt spid="47"/>
                                        </p:tgtEl>
                                        <p:attrNameLst>
                                          <p:attrName>ppt_y</p:attrName>
                                        </p:attrNameLst>
                                      </p:cBhvr>
                                      <p:tavLst>
                                        <p:tav tm="0">
                                          <p:val>
                                            <p:strVal val="#ppt_y+0.1"/>
                                          </p:val>
                                        </p:tav>
                                        <p:tav tm="100000">
                                          <p:val>
                                            <p:strVal val="#ppt_y"/>
                                          </p:val>
                                        </p:tav>
                                      </p:tavLst>
                                    </p:anim>
                                    <p:animEffect transition="in" filter="fade">
                                      <p:cBhvr>
                                        <p:cTn id="194" dur="500"/>
                                        <p:tgtEl>
                                          <p:spTgt spid="47"/>
                                        </p:tgtEl>
                                      </p:cBhvr>
                                    </p:animEffect>
                                  </p:childTnLst>
                                </p:cTn>
                              </p:par>
                              <p:par>
                                <p:cTn id="200" presetID="2" presetClass="entr" presetSubtype="4" fill="hold" grpId="0" nodeType="withEffect">
                                  <p:stCondLst>
                                    <p:cond delay="450"/>
                                  </p:stCondLst>
                                  <p:childTnLst>
                                    <p:set>
                                      <p:cBhvr>
                                        <p:cTn id="196" dur="1" fill="hold">
                                          <p:stCondLst>
                                            <p:cond delay="0"/>
                                          </p:stCondLst>
                                        </p:cTn>
                                        <p:tgtEl>
                                          <p:spTgt spid="48"/>
                                        </p:tgtEl>
                                        <p:attrNameLst>
                                          <p:attrName>style.visibility</p:attrName>
                                        </p:attrNameLst>
                                      </p:cBhvr>
                                      <p:to>
                                        <p:strVal val="visible"/>
                                      </p:to>
                                    </p:set>
                                    <p:anim calcmode="lin" valueType="num">
                                      <p:cBhvr additive="base">
                                        <p:cTn id="197" dur="500" fill="hold"/>
                                        <p:tgtEl>
                                          <p:spTgt spid="48"/>
                                        </p:tgtEl>
                                        <p:attrNameLst>
                                          <p:attrName>ppt_x</p:attrName>
                                        </p:attrNameLst>
                                      </p:cBhvr>
                                      <p:tavLst>
                                        <p:tav tm="0">
                                          <p:val>
                                            <p:strVal val="#ppt_x"/>
                                          </p:val>
                                        </p:tav>
                                        <p:tav tm="100000">
                                          <p:val>
                                            <p:strVal val="#ppt_x"/>
                                          </p:val>
                                        </p:tav>
                                      </p:tavLst>
                                    </p:anim>
                                    <p:anim calcmode="lin" valueType="num">
                                      <p:cBhvr additive="base">
                                        <p:cTn id="198" dur="500" fill="hold"/>
                                        <p:tgtEl>
                                          <p:spTgt spid="48"/>
                                        </p:tgtEl>
                                        <p:attrNameLst>
                                          <p:attrName>ppt_y</p:attrName>
                                        </p:attrNameLst>
                                      </p:cBhvr>
                                      <p:tavLst>
                                        <p:tav tm="0">
                                          <p:val>
                                            <p:strVal val="#ppt_y+0.1"/>
                                          </p:val>
                                        </p:tav>
                                        <p:tav tm="100000">
                                          <p:val>
                                            <p:strVal val="#ppt_y"/>
                                          </p:val>
                                        </p:tav>
                                      </p:tavLst>
                                    </p:anim>
                                    <p:animEffect transition="in" filter="fade">
                                      <p:cBhvr>
                                        <p:cTn id="199"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An Event Is a Record</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In Kafka, an event - a message - is called a RECORD, and it is stored as key and value</a:t>
            </a:r>
          </a:p>
        </p:txBody>
      </p:sp>
      <p:sp>
        <p:nvSpPr>
          <p:cNvPr id="11" name="a1f_k10"/>
          <p:cNvSpPr txBox="1"/>
          <p:nvPr/>
        </p:nvSpPr>
        <p:spPr>
          <a:xfrm>
            <a:off x="457200" y="1234440"/>
            <a:ext cx="3931920" cy="256032"/>
          </a:xfrm>
          <a:prstGeom prst="rect">
            <a:avLst/>
          </a:prstGeom>
          <a:noFill/>
        </p:spPr>
        <p:txBody>
          <a:bodyPr wrap="square" lIns="0" tIns="0" rIns="0" bIns="0" anchor="ctr">
            <a:spAutoFit/>
          </a:bodyPr>
          <a:lstStyle/>
          <a:p>
            <a:pPr algn="l"/>
            <a:r>
              <a:rPr sz="1100" b="1">
                <a:solidFill>
                  <a:srgbClr val="1C1917"/>
                </a:solidFill>
                <a:latin typeface="Segoe UI"/>
              </a:rPr>
              <a:t>An event contains two things:</a:t>
            </a:r>
          </a:p>
        </p:txBody>
      </p:sp>
      <p:sp>
        <p:nvSpPr>
          <p:cNvPr id="12" name="a1u_nb11"/>
          <p:cNvSpPr/>
          <p:nvPr/>
        </p:nvSpPr>
        <p:spPr>
          <a:xfrm>
            <a:off x="457200" y="1600200"/>
            <a:ext cx="3931920" cy="914400"/>
          </a:xfrm>
          <a:prstGeom prst="roundRect">
            <a:avLst>
              <a:gd name="adj" fmla="val 8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nacc12"/>
          <p:cNvSpPr/>
          <p:nvPr/>
        </p:nvSpPr>
        <p:spPr>
          <a:xfrm>
            <a:off x="457200" y="1600200"/>
            <a:ext cx="54864" cy="9144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_nt13"/>
          <p:cNvSpPr txBox="1"/>
          <p:nvPr/>
        </p:nvSpPr>
        <p:spPr>
          <a:xfrm>
            <a:off x="658368" y="1600200"/>
            <a:ext cx="3529584" cy="914400"/>
          </a:xfrm>
          <a:prstGeom prst="rect">
            <a:avLst/>
          </a:prstGeom>
          <a:noFill/>
        </p:spPr>
        <p:txBody>
          <a:bodyPr wrap="square" lIns="0" tIns="0" rIns="0" bIns="0" anchor="ctr">
            <a:spAutoFit/>
          </a:bodyPr>
          <a:lstStyle/>
          <a:p>
            <a:pPr algn="l"/>
            <a:r>
              <a:rPr sz="1000" b="1">
                <a:solidFill>
                  <a:srgbClr val="C2410C"/>
                </a:solidFill>
                <a:latin typeface="Segoe UI"/>
              </a:rPr>
              <a:t>1  </a:t>
            </a:r>
            <a:r>
              <a:rPr sz="1000" b="0">
                <a:solidFill>
                  <a:srgbClr val="44403C"/>
                </a:solidFill>
                <a:latin typeface="Segoe UI"/>
              </a:rPr>
              <a:t>WHAT HAPPENED - the name of the event, e.g. PaymentMade</a:t>
            </a:r>
          </a:p>
        </p:txBody>
      </p:sp>
      <p:sp>
        <p:nvSpPr>
          <p:cNvPr id="15" name="a2u_nb14"/>
          <p:cNvSpPr/>
          <p:nvPr/>
        </p:nvSpPr>
        <p:spPr>
          <a:xfrm>
            <a:off x="457200" y="2651760"/>
            <a:ext cx="3931920" cy="914400"/>
          </a:xfrm>
          <a:prstGeom prst="roundRect">
            <a:avLst>
              <a:gd name="adj" fmla="val 8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_nacc15"/>
          <p:cNvSpPr/>
          <p:nvPr/>
        </p:nvSpPr>
        <p:spPr>
          <a:xfrm>
            <a:off x="457200" y="2651760"/>
            <a:ext cx="54864" cy="91440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_nt16"/>
          <p:cNvSpPr txBox="1"/>
          <p:nvPr/>
        </p:nvSpPr>
        <p:spPr>
          <a:xfrm>
            <a:off x="658368" y="2651760"/>
            <a:ext cx="3529584" cy="914400"/>
          </a:xfrm>
          <a:prstGeom prst="rect">
            <a:avLst/>
          </a:prstGeom>
          <a:noFill/>
        </p:spPr>
        <p:txBody>
          <a:bodyPr wrap="square" lIns="0" tIns="0" rIns="0" bIns="0" anchor="ctr">
            <a:spAutoFit/>
          </a:bodyPr>
          <a:lstStyle/>
          <a:p>
            <a:pPr algn="l"/>
            <a:r>
              <a:rPr sz="1000" b="1">
                <a:solidFill>
                  <a:srgbClr val="0E7490"/>
                </a:solidFill>
                <a:latin typeface="Segoe UI"/>
              </a:rPr>
              <a:t>2  </a:t>
            </a:r>
            <a:r>
              <a:rPr sz="1000" b="0">
                <a:solidFill>
                  <a:srgbClr val="44403C"/>
                </a:solidFill>
                <a:latin typeface="Segoe UI"/>
              </a:rPr>
              <a:t>STATE - the data about it, e.g. to Ramesh, amount 500</a:t>
            </a:r>
          </a:p>
        </p:txBody>
      </p:sp>
      <p:sp>
        <p:nvSpPr>
          <p:cNvPr id="18" name="a3f_codebg17"/>
          <p:cNvSpPr/>
          <p:nvPr/>
        </p:nvSpPr>
        <p:spPr>
          <a:xfrm>
            <a:off x="4663440" y="1234440"/>
            <a:ext cx="4023360" cy="2139696"/>
          </a:xfrm>
          <a:prstGeom prst="roundRect">
            <a:avLst>
              <a:gd name="adj" fmla="val 3418"/>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3f_codeh18"/>
          <p:cNvSpPr txBox="1"/>
          <p:nvPr/>
        </p:nvSpPr>
        <p:spPr>
          <a:xfrm>
            <a:off x="4791455" y="1289304"/>
            <a:ext cx="3767328" cy="219456"/>
          </a:xfrm>
          <a:prstGeom prst="rect">
            <a:avLst/>
          </a:prstGeom>
          <a:noFill/>
        </p:spPr>
        <p:txBody>
          <a:bodyPr wrap="square" lIns="0" tIns="0" rIns="0" bIns="0" anchor="ctr">
            <a:spAutoFit/>
          </a:bodyPr>
          <a:lstStyle/>
          <a:p>
            <a:pPr algn="l"/>
            <a:r>
              <a:rPr sz="950" b="1">
                <a:solidFill>
                  <a:srgbClr val="A8A29E"/>
                </a:solidFill>
                <a:latin typeface="Consolas"/>
              </a:rPr>
              <a:t>one Kafka record</a:t>
            </a:r>
          </a:p>
        </p:txBody>
      </p:sp>
      <p:sp>
        <p:nvSpPr>
          <p:cNvPr id="20" name="a3f_codesep19"/>
          <p:cNvSpPr/>
          <p:nvPr/>
        </p:nvSpPr>
        <p:spPr>
          <a:xfrm>
            <a:off x="4791455" y="1563624"/>
            <a:ext cx="3767328"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3w_code20"/>
          <p:cNvSpPr txBox="1"/>
          <p:nvPr/>
        </p:nvSpPr>
        <p:spPr>
          <a:xfrm>
            <a:off x="4791455" y="1636776"/>
            <a:ext cx="3767328" cy="201168"/>
          </a:xfrm>
          <a:prstGeom prst="rect">
            <a:avLst/>
          </a:prstGeom>
          <a:noFill/>
        </p:spPr>
        <p:txBody>
          <a:bodyPr wrap="none" lIns="0" tIns="0" rIns="0" bIns="0" anchor="ctr">
            <a:spAutoFit/>
          </a:bodyPr>
          <a:lstStyle/>
          <a:p>
            <a:pPr algn="l"/>
            <a:r>
              <a:rPr sz="900" b="1">
                <a:solidFill>
                  <a:srgbClr val="FDBA74"/>
                </a:solidFill>
                <a:latin typeface="Consolas"/>
              </a:rPr>
              <a:t>key        customer-101</a:t>
            </a:r>
          </a:p>
        </p:txBody>
      </p:sp>
      <p:sp>
        <p:nvSpPr>
          <p:cNvPr id="22" name="a3wd90_code21"/>
          <p:cNvSpPr txBox="1"/>
          <p:nvPr/>
        </p:nvSpPr>
        <p:spPr>
          <a:xfrm>
            <a:off x="4791455" y="1837944"/>
            <a:ext cx="3767328" cy="201168"/>
          </a:xfrm>
          <a:prstGeom prst="rect">
            <a:avLst/>
          </a:prstGeom>
          <a:noFill/>
        </p:spPr>
        <p:txBody>
          <a:bodyPr wrap="none" lIns="0" tIns="0" rIns="0" bIns="0" anchor="ctr">
            <a:spAutoFit/>
          </a:bodyPr>
          <a:lstStyle/>
          <a:p>
            <a:pPr algn="l"/>
            <a:r>
              <a:rPr sz="900" b="0">
                <a:solidFill>
                  <a:srgbClr val="E7E5E4"/>
                </a:solidFill>
                <a:latin typeface="Consolas"/>
              </a:rPr>
              <a:t>value      {</a:t>
            </a:r>
          </a:p>
        </p:txBody>
      </p:sp>
      <p:sp>
        <p:nvSpPr>
          <p:cNvPr id="23" name="a3wd180_code22"/>
          <p:cNvSpPr txBox="1"/>
          <p:nvPr/>
        </p:nvSpPr>
        <p:spPr>
          <a:xfrm>
            <a:off x="4791455" y="2039112"/>
            <a:ext cx="3767328" cy="201168"/>
          </a:xfrm>
          <a:prstGeom prst="rect">
            <a:avLst/>
          </a:prstGeom>
          <a:noFill/>
        </p:spPr>
        <p:txBody>
          <a:bodyPr wrap="none" lIns="0" tIns="0" rIns="0" bIns="0" anchor="ctr">
            <a:spAutoFit/>
          </a:bodyPr>
          <a:lstStyle/>
          <a:p>
            <a:pPr algn="l"/>
            <a:r>
              <a:rPr sz="900" b="0">
                <a:solidFill>
                  <a:srgbClr val="67E8F9"/>
                </a:solidFill>
                <a:latin typeface="Consolas"/>
              </a:rPr>
              <a:t>             "event":  "PaymentMade",</a:t>
            </a:r>
          </a:p>
        </p:txBody>
      </p:sp>
      <p:sp>
        <p:nvSpPr>
          <p:cNvPr id="24" name="a3wd270_code23"/>
          <p:cNvSpPr txBox="1"/>
          <p:nvPr/>
        </p:nvSpPr>
        <p:spPr>
          <a:xfrm>
            <a:off x="4791455" y="2240280"/>
            <a:ext cx="3767328" cy="201168"/>
          </a:xfrm>
          <a:prstGeom prst="rect">
            <a:avLst/>
          </a:prstGeom>
          <a:noFill/>
        </p:spPr>
        <p:txBody>
          <a:bodyPr wrap="none" lIns="0" tIns="0" rIns="0" bIns="0" anchor="ctr">
            <a:spAutoFit/>
          </a:bodyPr>
          <a:lstStyle/>
          <a:p>
            <a:pPr algn="l"/>
            <a:r>
              <a:rPr sz="900" b="0">
                <a:solidFill>
                  <a:srgbClr val="E7E5E4"/>
                </a:solidFill>
                <a:latin typeface="Consolas"/>
              </a:rPr>
              <a:t>             "to":     "Ramesh",</a:t>
            </a:r>
          </a:p>
        </p:txBody>
      </p:sp>
      <p:sp>
        <p:nvSpPr>
          <p:cNvPr id="25" name="a3wd360_code24"/>
          <p:cNvSpPr txBox="1"/>
          <p:nvPr/>
        </p:nvSpPr>
        <p:spPr>
          <a:xfrm>
            <a:off x="4791455" y="2441448"/>
            <a:ext cx="3767328" cy="201168"/>
          </a:xfrm>
          <a:prstGeom prst="rect">
            <a:avLst/>
          </a:prstGeom>
          <a:noFill/>
        </p:spPr>
        <p:txBody>
          <a:bodyPr wrap="none" lIns="0" tIns="0" rIns="0" bIns="0" anchor="ctr">
            <a:spAutoFit/>
          </a:bodyPr>
          <a:lstStyle/>
          <a:p>
            <a:pPr algn="l"/>
            <a:r>
              <a:rPr sz="900" b="0">
                <a:solidFill>
                  <a:srgbClr val="E7E5E4"/>
                </a:solidFill>
                <a:latin typeface="Consolas"/>
              </a:rPr>
              <a:t>             "amount": 500</a:t>
            </a:r>
          </a:p>
        </p:txBody>
      </p:sp>
      <p:sp>
        <p:nvSpPr>
          <p:cNvPr id="26" name="a3wd450_code25"/>
          <p:cNvSpPr txBox="1"/>
          <p:nvPr/>
        </p:nvSpPr>
        <p:spPr>
          <a:xfrm>
            <a:off x="4791455" y="2642616"/>
            <a:ext cx="3767328" cy="201168"/>
          </a:xfrm>
          <a:prstGeom prst="rect">
            <a:avLst/>
          </a:prstGeom>
          <a:noFill/>
        </p:spPr>
        <p:txBody>
          <a:bodyPr wrap="none" lIns="0" tIns="0" rIns="0" bIns="0" anchor="ctr">
            <a:spAutoFit/>
          </a:bodyPr>
          <a:lstStyle/>
          <a:p>
            <a:pPr algn="l"/>
            <a:r>
              <a:rPr sz="900" b="0">
                <a:solidFill>
                  <a:srgbClr val="E7E5E4"/>
                </a:solidFill>
                <a:latin typeface="Consolas"/>
              </a:rPr>
              <a:t>           }</a:t>
            </a:r>
          </a:p>
        </p:txBody>
      </p:sp>
      <p:sp>
        <p:nvSpPr>
          <p:cNvPr id="27" name="a3wd540_code26"/>
          <p:cNvSpPr txBox="1"/>
          <p:nvPr/>
        </p:nvSpPr>
        <p:spPr>
          <a:xfrm>
            <a:off x="4791455" y="2843784"/>
            <a:ext cx="3767328" cy="201168"/>
          </a:xfrm>
          <a:prstGeom prst="rect">
            <a:avLst/>
          </a:prstGeom>
          <a:noFill/>
        </p:spPr>
        <p:txBody>
          <a:bodyPr wrap="none" lIns="0" tIns="0" rIns="0" bIns="0" anchor="ctr">
            <a:spAutoFit/>
          </a:bodyPr>
          <a:lstStyle/>
          <a:p>
            <a:pPr algn="l"/>
            <a:r>
              <a:rPr sz="900" b="0">
                <a:solidFill>
                  <a:srgbClr val="E7E5E4"/>
                </a:solidFill>
                <a:latin typeface="Consolas"/>
              </a:rPr>
              <a:t>timestamp  2023-07-17 15:48:59</a:t>
            </a:r>
          </a:p>
        </p:txBody>
      </p:sp>
      <p:sp>
        <p:nvSpPr>
          <p:cNvPr id="28" name="a3wd630_code27"/>
          <p:cNvSpPr txBox="1"/>
          <p:nvPr/>
        </p:nvSpPr>
        <p:spPr>
          <a:xfrm>
            <a:off x="4791455" y="3044952"/>
            <a:ext cx="3767328" cy="201168"/>
          </a:xfrm>
          <a:prstGeom prst="rect">
            <a:avLst/>
          </a:prstGeom>
          <a:noFill/>
        </p:spPr>
        <p:txBody>
          <a:bodyPr wrap="none" lIns="0" tIns="0" rIns="0" bIns="0" anchor="ctr">
            <a:spAutoFit/>
          </a:bodyPr>
          <a:lstStyle/>
          <a:p>
            <a:pPr algn="l"/>
            <a:r>
              <a:rPr sz="900" b="0">
                <a:solidFill>
                  <a:srgbClr val="8A8580"/>
                </a:solidFill>
                <a:latin typeface="Consolas"/>
              </a:rPr>
              <a:t>headers    (optional extra details)</a:t>
            </a:r>
          </a:p>
        </p:txBody>
      </p:sp>
      <p:sp>
        <p:nvSpPr>
          <p:cNvPr id="29" name="a4u_rk28"/>
          <p:cNvSpPr txBox="1"/>
          <p:nvPr/>
        </p:nvSpPr>
        <p:spPr>
          <a:xfrm>
            <a:off x="4663440" y="3483864"/>
            <a:ext cx="1005840" cy="228600"/>
          </a:xfrm>
          <a:prstGeom prst="rect">
            <a:avLst/>
          </a:prstGeom>
          <a:noFill/>
        </p:spPr>
        <p:txBody>
          <a:bodyPr wrap="square" lIns="0" tIns="0" rIns="0" bIns="0" anchor="ctr">
            <a:spAutoFit/>
          </a:bodyPr>
          <a:lstStyle/>
          <a:p>
            <a:pPr algn="l"/>
            <a:r>
              <a:rPr sz="950" b="1">
                <a:solidFill>
                  <a:srgbClr val="C2410C"/>
                </a:solidFill>
                <a:latin typeface="Consolas"/>
              </a:rPr>
              <a:t>key</a:t>
            </a:r>
          </a:p>
        </p:txBody>
      </p:sp>
      <p:sp>
        <p:nvSpPr>
          <p:cNvPr id="30" name="a4u_rv29"/>
          <p:cNvSpPr txBox="1"/>
          <p:nvPr/>
        </p:nvSpPr>
        <p:spPr>
          <a:xfrm>
            <a:off x="5669280" y="3483864"/>
            <a:ext cx="3017520" cy="228600"/>
          </a:xfrm>
          <a:prstGeom prst="rect">
            <a:avLst/>
          </a:prstGeom>
          <a:noFill/>
        </p:spPr>
        <p:txBody>
          <a:bodyPr wrap="square" lIns="0" tIns="0" rIns="0" bIns="0" anchor="ctr">
            <a:spAutoFit/>
          </a:bodyPr>
          <a:lstStyle/>
          <a:p>
            <a:pPr algn="l"/>
            <a:r>
              <a:rPr sz="850" b="0">
                <a:solidFill>
                  <a:srgbClr val="44403C"/>
                </a:solidFill>
                <a:latin typeface="Segoe UI"/>
              </a:rPr>
              <a:t>who or what the event is about</a:t>
            </a:r>
          </a:p>
        </p:txBody>
      </p:sp>
      <p:sp>
        <p:nvSpPr>
          <p:cNvPr id="31" name="a4ud80_rk30"/>
          <p:cNvSpPr txBox="1"/>
          <p:nvPr/>
        </p:nvSpPr>
        <p:spPr>
          <a:xfrm>
            <a:off x="4663440" y="3730752"/>
            <a:ext cx="1005840" cy="228600"/>
          </a:xfrm>
          <a:prstGeom prst="rect">
            <a:avLst/>
          </a:prstGeom>
          <a:noFill/>
        </p:spPr>
        <p:txBody>
          <a:bodyPr wrap="square" lIns="0" tIns="0" rIns="0" bIns="0" anchor="ctr">
            <a:spAutoFit/>
          </a:bodyPr>
          <a:lstStyle/>
          <a:p>
            <a:pPr algn="l"/>
            <a:r>
              <a:rPr sz="950" b="1">
                <a:solidFill>
                  <a:srgbClr val="C2410C"/>
                </a:solidFill>
                <a:latin typeface="Consolas"/>
              </a:rPr>
              <a:t>value</a:t>
            </a:r>
          </a:p>
        </p:txBody>
      </p:sp>
      <p:sp>
        <p:nvSpPr>
          <p:cNvPr id="32" name="a4ud80_rv31"/>
          <p:cNvSpPr txBox="1"/>
          <p:nvPr/>
        </p:nvSpPr>
        <p:spPr>
          <a:xfrm>
            <a:off x="5669280" y="3730752"/>
            <a:ext cx="3017520" cy="228600"/>
          </a:xfrm>
          <a:prstGeom prst="rect">
            <a:avLst/>
          </a:prstGeom>
          <a:noFill/>
        </p:spPr>
        <p:txBody>
          <a:bodyPr wrap="square" lIns="0" tIns="0" rIns="0" bIns="0" anchor="ctr">
            <a:spAutoFit/>
          </a:bodyPr>
          <a:lstStyle/>
          <a:p>
            <a:pPr algn="l"/>
            <a:r>
              <a:rPr sz="850" b="0">
                <a:solidFill>
                  <a:srgbClr val="44403C"/>
                </a:solidFill>
                <a:latin typeface="Segoe UI"/>
              </a:rPr>
              <a:t>what happened, and its state</a:t>
            </a:r>
          </a:p>
        </p:txBody>
      </p:sp>
      <p:sp>
        <p:nvSpPr>
          <p:cNvPr id="33" name="a4ud160_rk32"/>
          <p:cNvSpPr txBox="1"/>
          <p:nvPr/>
        </p:nvSpPr>
        <p:spPr>
          <a:xfrm>
            <a:off x="4663440" y="3977639"/>
            <a:ext cx="1005840" cy="228600"/>
          </a:xfrm>
          <a:prstGeom prst="rect">
            <a:avLst/>
          </a:prstGeom>
          <a:noFill/>
        </p:spPr>
        <p:txBody>
          <a:bodyPr wrap="square" lIns="0" tIns="0" rIns="0" bIns="0" anchor="ctr">
            <a:spAutoFit/>
          </a:bodyPr>
          <a:lstStyle/>
          <a:p>
            <a:pPr algn="l"/>
            <a:r>
              <a:rPr sz="950" b="1">
                <a:solidFill>
                  <a:srgbClr val="C2410C"/>
                </a:solidFill>
                <a:latin typeface="Consolas"/>
              </a:rPr>
              <a:t>timestamp</a:t>
            </a:r>
          </a:p>
        </p:txBody>
      </p:sp>
      <p:sp>
        <p:nvSpPr>
          <p:cNvPr id="34" name="a4ud160_rv33"/>
          <p:cNvSpPr txBox="1"/>
          <p:nvPr/>
        </p:nvSpPr>
        <p:spPr>
          <a:xfrm>
            <a:off x="5669280" y="3977639"/>
            <a:ext cx="3017520" cy="228600"/>
          </a:xfrm>
          <a:prstGeom prst="rect">
            <a:avLst/>
          </a:prstGeom>
          <a:noFill/>
        </p:spPr>
        <p:txBody>
          <a:bodyPr wrap="square" lIns="0" tIns="0" rIns="0" bIns="0" anchor="ctr">
            <a:spAutoFit/>
          </a:bodyPr>
          <a:lstStyle/>
          <a:p>
            <a:pPr algn="l"/>
            <a:r>
              <a:rPr sz="850" b="0">
                <a:solidFill>
                  <a:srgbClr val="44403C"/>
                </a:solidFill>
                <a:latin typeface="Segoe UI"/>
              </a:rPr>
              <a:t>when it happened</a:t>
            </a:r>
          </a:p>
        </p:txBody>
      </p:sp>
      <p:sp>
        <p:nvSpPr>
          <p:cNvPr id="35" name="a4ud240_rk34"/>
          <p:cNvSpPr txBox="1"/>
          <p:nvPr/>
        </p:nvSpPr>
        <p:spPr>
          <a:xfrm>
            <a:off x="4663440" y="4224528"/>
            <a:ext cx="1005840" cy="228600"/>
          </a:xfrm>
          <a:prstGeom prst="rect">
            <a:avLst/>
          </a:prstGeom>
          <a:noFill/>
        </p:spPr>
        <p:txBody>
          <a:bodyPr wrap="square" lIns="0" tIns="0" rIns="0" bIns="0" anchor="ctr">
            <a:spAutoFit/>
          </a:bodyPr>
          <a:lstStyle/>
          <a:p>
            <a:pPr algn="l"/>
            <a:r>
              <a:rPr sz="950" b="1">
                <a:solidFill>
                  <a:srgbClr val="C2410C"/>
                </a:solidFill>
                <a:latin typeface="Consolas"/>
              </a:rPr>
              <a:t>headers</a:t>
            </a:r>
          </a:p>
        </p:txBody>
      </p:sp>
      <p:sp>
        <p:nvSpPr>
          <p:cNvPr id="36" name="a4ud240_rv35"/>
          <p:cNvSpPr txBox="1"/>
          <p:nvPr/>
        </p:nvSpPr>
        <p:spPr>
          <a:xfrm>
            <a:off x="5669280" y="4224528"/>
            <a:ext cx="3017520" cy="228600"/>
          </a:xfrm>
          <a:prstGeom prst="rect">
            <a:avLst/>
          </a:prstGeom>
          <a:noFill/>
        </p:spPr>
        <p:txBody>
          <a:bodyPr wrap="square" lIns="0" tIns="0" rIns="0" bIns="0" anchor="ctr">
            <a:spAutoFit/>
          </a:bodyPr>
          <a:lstStyle/>
          <a:p>
            <a:pPr algn="l"/>
            <a:r>
              <a:rPr sz="850" b="0">
                <a:solidFill>
                  <a:srgbClr val="44403C"/>
                </a:solidFill>
                <a:latin typeface="Segoe UI"/>
              </a:rPr>
              <a:t>optional metadata</a:t>
            </a:r>
          </a:p>
        </p:txBody>
      </p:sp>
      <p:sp>
        <p:nvSpPr>
          <p:cNvPr id="37" name="a5u_nb36"/>
          <p:cNvSpPr/>
          <p:nvPr/>
        </p:nvSpPr>
        <p:spPr>
          <a:xfrm>
            <a:off x="457200" y="3749039"/>
            <a:ext cx="3931920" cy="731520"/>
          </a:xfrm>
          <a:prstGeom prst="roundRect">
            <a:avLst>
              <a:gd name="adj" fmla="val 10000"/>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5u_nacc37"/>
          <p:cNvSpPr/>
          <p:nvPr/>
        </p:nvSpPr>
        <p:spPr>
          <a:xfrm>
            <a:off x="457200" y="3749039"/>
            <a:ext cx="54864" cy="7315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5u_nt38"/>
          <p:cNvSpPr txBox="1"/>
          <p:nvPr/>
        </p:nvSpPr>
        <p:spPr>
          <a:xfrm>
            <a:off x="658368" y="3749039"/>
            <a:ext cx="3529584" cy="731520"/>
          </a:xfrm>
          <a:prstGeom prst="rect">
            <a:avLst/>
          </a:prstGeom>
          <a:noFill/>
        </p:spPr>
        <p:txBody>
          <a:bodyPr wrap="square" lIns="0" tIns="0" rIns="0" bIns="0" anchor="ctr">
            <a:spAutoFit/>
          </a:bodyPr>
          <a:lstStyle/>
          <a:p>
            <a:pPr algn="l"/>
            <a:r>
              <a:rPr sz="850" b="1">
                <a:solidFill>
                  <a:srgbClr val="A16207"/>
                </a:solidFill>
                <a:latin typeface="Segoe UI"/>
              </a:rPr>
              <a:t>i  </a:t>
            </a:r>
            <a:r>
              <a:rPr sz="850" b="0">
                <a:solidFill>
                  <a:srgbClr val="44403C"/>
                </a:solidFill>
                <a:latin typeface="Segoe UI"/>
              </a:rPr>
              <a:t>To Kafka, key and value are just bytes. Your applications give them structure - JSON, Avro or Protobuf.</a:t>
            </a:r>
          </a:p>
        </p:txBody>
      </p:sp>
      <p:sp>
        <p:nvSpPr>
          <p:cNvPr id="40" name="ft3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65</a:t>
            </a:r>
          </a:p>
        </p:txBody>
      </p:sp>
      <p:sp>
        <p:nvSpPr>
          <p:cNvPr id="41" name="ft4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ft4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3" name="ft4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2" presetID="2" presetClass="entr" presetSubtype="4"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 calcmode="lin" valueType="num">
                                      <p:cBhvr additive="base">
                                        <p:cTn id="9" dur="500" fill="hold"/>
                                        <p:tgtEl>
                                          <p:spTgt spid="12"/>
                                        </p:tgtEl>
                                        <p:attrNameLst>
                                          <p:attrName>ppt_x</p:attrName>
                                        </p:attrNameLst>
                                      </p:cBhvr>
                                      <p:tavLst>
                                        <p:tav tm="0">
                                          <p:val>
                                            <p:strVal val="#ppt_x"/>
                                          </p:val>
                                        </p:tav>
                                        <p:tav tm="100000">
                                          <p:val>
                                            <p:strVal val="#ppt_x"/>
                                          </p:val>
                                        </p:tav>
                                      </p:tavLst>
                                    </p:anim>
                                    <p:anim calcmode="lin" valueType="num">
                                      <p:cBhvr additive="base">
                                        <p:cTn id="10" dur="500" fill="hold"/>
                                        <p:tgtEl>
                                          <p:spTgt spid="12"/>
                                        </p:tgtEl>
                                        <p:attrNameLst>
                                          <p:attrName>ppt_y</p:attrName>
                                        </p:attrNameLst>
                                      </p:cBhvr>
                                      <p:tavLst>
                                        <p:tav tm="0">
                                          <p:val>
                                            <p:strVal val="#ppt_y+0.1"/>
                                          </p:val>
                                        </p:tav>
                                        <p:tav tm="100000">
                                          <p:val>
                                            <p:strVal val="#ppt_y"/>
                                          </p:val>
                                        </p:tav>
                                      </p:tavLst>
                                    </p:anim>
                                    <p:animEffect transition="in" filter="fade">
                                      <p:cBhvr>
                                        <p:cTn id="11" dur="500"/>
                                        <p:tgtEl>
                                          <p:spTgt spid="12"/>
                                        </p:tgtEl>
                                      </p:cBhvr>
                                    </p:animEffect>
                                  </p:childTnLst>
                                </p:cTn>
                              </p:par>
                              <p:par>
                                <p:cTn id="17" presetID="2" presetClass="entr" presetSubtype="4"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500" fill="hold"/>
                                        <p:tgtEl>
                                          <p:spTgt spid="13"/>
                                        </p:tgtEl>
                                        <p:attrNameLst>
                                          <p:attrName>ppt_x</p:attrName>
                                        </p:attrNameLst>
                                      </p:cBhvr>
                                      <p:tavLst>
                                        <p:tav tm="0">
                                          <p:val>
                                            <p:strVal val="#ppt_x"/>
                                          </p:val>
                                        </p:tav>
                                        <p:tav tm="100000">
                                          <p:val>
                                            <p:strVal val="#ppt_x"/>
                                          </p:val>
                                        </p:tav>
                                      </p:tavLst>
                                    </p:anim>
                                    <p:anim calcmode="lin" valueType="num">
                                      <p:cBhvr additive="base">
                                        <p:cTn id="15" dur="500" fill="hold"/>
                                        <p:tgtEl>
                                          <p:spTgt spid="13"/>
                                        </p:tgtEl>
                                        <p:attrNameLst>
                                          <p:attrName>ppt_y</p:attrName>
                                        </p:attrNameLst>
                                      </p:cBhvr>
                                      <p:tavLst>
                                        <p:tav tm="0">
                                          <p:val>
                                            <p:strVal val="#ppt_y+0.1"/>
                                          </p:val>
                                        </p:tav>
                                        <p:tav tm="100000">
                                          <p:val>
                                            <p:strVal val="#ppt_y"/>
                                          </p:val>
                                        </p:tav>
                                      </p:tavLst>
                                    </p:anim>
                                    <p:animEffect transition="in" filter="fade">
                                      <p:cBhvr>
                                        <p:cTn id="16" dur="500"/>
                                        <p:tgtEl>
                                          <p:spTgt spid="13"/>
                                        </p:tgtEl>
                                      </p:cBhvr>
                                    </p:animEffect>
                                  </p:childTnLst>
                                </p:cTn>
                              </p:par>
                              <p:par>
                                <p:cTn id="22" presetID="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ppt_y+0.1"/>
                                          </p:val>
                                        </p:tav>
                                        <p:tav tm="100000">
                                          <p:val>
                                            <p:strVal val="#ppt_y"/>
                                          </p:val>
                                        </p:tav>
                                      </p:tavLst>
                                    </p:anim>
                                    <p:animEffect transition="in" filter="fade">
                                      <p:cBhvr>
                                        <p:cTn id="21"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9" presetID="2" presetClass="entr" presetSubtype="4"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4" presetID="10"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7"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50"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3" presetID="22" presetClass="entr" presetSubtype="8"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left)">
                                      <p:cBhvr>
                                        <p:cTn id="52" dur="500"/>
                                        <p:tgtEl>
                                          <p:spTgt spid="21"/>
                                        </p:tgtEl>
                                      </p:cBhvr>
                                    </p:animEffect>
                                  </p:childTnLst>
                                </p:cTn>
                              </p:par>
                              <p:par>
                                <p:cTn id="56" presetID="22" presetClass="entr" presetSubtype="8" fill="hold" grpId="0" nodeType="withEffect">
                                  <p:stCondLst>
                                    <p:cond delay="90"/>
                                  </p:stCondLst>
                                  <p:childTnLst>
                                    <p:set>
                                      <p:cBhvr>
                                        <p:cTn id="54" dur="1" fill="hold">
                                          <p:stCondLst>
                                            <p:cond delay="0"/>
                                          </p:stCondLst>
                                        </p:cTn>
                                        <p:tgtEl>
                                          <p:spTgt spid="22"/>
                                        </p:tgtEl>
                                        <p:attrNameLst>
                                          <p:attrName>style.visibility</p:attrName>
                                        </p:attrNameLst>
                                      </p:cBhvr>
                                      <p:to>
                                        <p:strVal val="visible"/>
                                      </p:to>
                                    </p:set>
                                    <p:animEffect transition="in" filter="wipe(left)">
                                      <p:cBhvr>
                                        <p:cTn id="55" dur="500"/>
                                        <p:tgtEl>
                                          <p:spTgt spid="22"/>
                                        </p:tgtEl>
                                      </p:cBhvr>
                                    </p:animEffect>
                                  </p:childTnLst>
                                </p:cTn>
                              </p:par>
                              <p:par>
                                <p:cTn id="59" presetID="22" presetClass="entr" presetSubtype="8" fill="hold" grpId="0" nodeType="withEffect">
                                  <p:stCondLst>
                                    <p:cond delay="180"/>
                                  </p:stCondLst>
                                  <p:childTnLst>
                                    <p:set>
                                      <p:cBhvr>
                                        <p:cTn id="57" dur="1" fill="hold">
                                          <p:stCondLst>
                                            <p:cond delay="0"/>
                                          </p:stCondLst>
                                        </p:cTn>
                                        <p:tgtEl>
                                          <p:spTgt spid="23"/>
                                        </p:tgtEl>
                                        <p:attrNameLst>
                                          <p:attrName>style.visibility</p:attrName>
                                        </p:attrNameLst>
                                      </p:cBhvr>
                                      <p:to>
                                        <p:strVal val="visible"/>
                                      </p:to>
                                    </p:set>
                                    <p:animEffect transition="in" filter="wipe(left)">
                                      <p:cBhvr>
                                        <p:cTn id="58" dur="500"/>
                                        <p:tgtEl>
                                          <p:spTgt spid="23"/>
                                        </p:tgtEl>
                                      </p:cBhvr>
                                    </p:animEffect>
                                  </p:childTnLst>
                                </p:cTn>
                              </p:par>
                              <p:par>
                                <p:cTn id="62" presetID="22" presetClass="entr" presetSubtype="8" fill="hold" grpId="0" nodeType="withEffect">
                                  <p:stCondLst>
                                    <p:cond delay="270"/>
                                  </p:stCondLst>
                                  <p:childTnLst>
                                    <p:set>
                                      <p:cBhvr>
                                        <p:cTn id="60" dur="1" fill="hold">
                                          <p:stCondLst>
                                            <p:cond delay="0"/>
                                          </p:stCondLst>
                                        </p:cTn>
                                        <p:tgtEl>
                                          <p:spTgt spid="24"/>
                                        </p:tgtEl>
                                        <p:attrNameLst>
                                          <p:attrName>style.visibility</p:attrName>
                                        </p:attrNameLst>
                                      </p:cBhvr>
                                      <p:to>
                                        <p:strVal val="visible"/>
                                      </p:to>
                                    </p:set>
                                    <p:animEffect transition="in" filter="wipe(left)">
                                      <p:cBhvr>
                                        <p:cTn id="61" dur="500"/>
                                        <p:tgtEl>
                                          <p:spTgt spid="24"/>
                                        </p:tgtEl>
                                      </p:cBhvr>
                                    </p:animEffect>
                                  </p:childTnLst>
                                </p:cTn>
                              </p:par>
                              <p:par>
                                <p:cTn id="65" presetID="22" presetClass="entr" presetSubtype="8" fill="hold" grpId="0" nodeType="withEffect">
                                  <p:stCondLst>
                                    <p:cond delay="360"/>
                                  </p:stCondLst>
                                  <p:childTnLst>
                                    <p:set>
                                      <p:cBhvr>
                                        <p:cTn id="63" dur="1" fill="hold">
                                          <p:stCondLst>
                                            <p:cond delay="0"/>
                                          </p:stCondLst>
                                        </p:cTn>
                                        <p:tgtEl>
                                          <p:spTgt spid="25"/>
                                        </p:tgtEl>
                                        <p:attrNameLst>
                                          <p:attrName>style.visibility</p:attrName>
                                        </p:attrNameLst>
                                      </p:cBhvr>
                                      <p:to>
                                        <p:strVal val="visible"/>
                                      </p:to>
                                    </p:set>
                                    <p:animEffect transition="in" filter="wipe(left)">
                                      <p:cBhvr>
                                        <p:cTn id="64" dur="500"/>
                                        <p:tgtEl>
                                          <p:spTgt spid="25"/>
                                        </p:tgtEl>
                                      </p:cBhvr>
                                    </p:animEffect>
                                  </p:childTnLst>
                                </p:cTn>
                              </p:par>
                              <p:par>
                                <p:cTn id="68" presetID="22" presetClass="entr" presetSubtype="8" fill="hold" grpId="0" nodeType="withEffect">
                                  <p:stCondLst>
                                    <p:cond delay="450"/>
                                  </p:stCondLst>
                                  <p:childTnLst>
                                    <p:set>
                                      <p:cBhvr>
                                        <p:cTn id="66" dur="1" fill="hold">
                                          <p:stCondLst>
                                            <p:cond delay="0"/>
                                          </p:stCondLst>
                                        </p:cTn>
                                        <p:tgtEl>
                                          <p:spTgt spid="26"/>
                                        </p:tgtEl>
                                        <p:attrNameLst>
                                          <p:attrName>style.visibility</p:attrName>
                                        </p:attrNameLst>
                                      </p:cBhvr>
                                      <p:to>
                                        <p:strVal val="visible"/>
                                      </p:to>
                                    </p:set>
                                    <p:animEffect transition="in" filter="wipe(left)">
                                      <p:cBhvr>
                                        <p:cTn id="67" dur="500"/>
                                        <p:tgtEl>
                                          <p:spTgt spid="26"/>
                                        </p:tgtEl>
                                      </p:cBhvr>
                                    </p:animEffect>
                                  </p:childTnLst>
                                </p:cTn>
                              </p:par>
                              <p:par>
                                <p:cTn id="71" presetID="22" presetClass="entr" presetSubtype="8" fill="hold" grpId="0" nodeType="withEffect">
                                  <p:stCondLst>
                                    <p:cond delay="540"/>
                                  </p:stCondLst>
                                  <p:childTnLst>
                                    <p:set>
                                      <p:cBhvr>
                                        <p:cTn id="69" dur="1" fill="hold">
                                          <p:stCondLst>
                                            <p:cond delay="0"/>
                                          </p:stCondLst>
                                        </p:cTn>
                                        <p:tgtEl>
                                          <p:spTgt spid="27"/>
                                        </p:tgtEl>
                                        <p:attrNameLst>
                                          <p:attrName>style.visibility</p:attrName>
                                        </p:attrNameLst>
                                      </p:cBhvr>
                                      <p:to>
                                        <p:strVal val="visible"/>
                                      </p:to>
                                    </p:set>
                                    <p:animEffect transition="in" filter="wipe(left)">
                                      <p:cBhvr>
                                        <p:cTn id="70" dur="500"/>
                                        <p:tgtEl>
                                          <p:spTgt spid="27"/>
                                        </p:tgtEl>
                                      </p:cBhvr>
                                    </p:animEffect>
                                  </p:childTnLst>
                                </p:cTn>
                              </p:par>
                              <p:par>
                                <p:cTn id="74" presetID="22" presetClass="entr" presetSubtype="8" fill="hold" grpId="0" nodeType="withEffect">
                                  <p:stCondLst>
                                    <p:cond delay="630"/>
                                  </p:stCondLst>
                                  <p:childTnLst>
                                    <p:set>
                                      <p:cBhvr>
                                        <p:cTn id="72" dur="1" fill="hold">
                                          <p:stCondLst>
                                            <p:cond delay="0"/>
                                          </p:stCondLst>
                                        </p:cTn>
                                        <p:tgtEl>
                                          <p:spTgt spid="28"/>
                                        </p:tgtEl>
                                        <p:attrNameLst>
                                          <p:attrName>style.visibility</p:attrName>
                                        </p:attrNameLst>
                                      </p:cBhvr>
                                      <p:to>
                                        <p:strVal val="visible"/>
                                      </p:to>
                                    </p:set>
                                    <p:animEffect transition="in" filter="wipe(left)">
                                      <p:cBhvr>
                                        <p:cTn id="73" dur="500"/>
                                        <p:tgtEl>
                                          <p:spTgt spid="28"/>
                                        </p:tgtEl>
                                      </p:cBhvr>
                                    </p:animEffect>
                                  </p:childTnLst>
                                </p:cTn>
                              </p:par>
                            </p:childTnLst>
                          </p:cTn>
                        </p:par>
                      </p:childTnLst>
                    </p:cTn>
                  </p:par>
                  <p:par>
                    <p:cTn id="75" fill="hold">
                      <p:stCondLst>
                        <p:cond delay="indefinite"/>
                      </p:stCondLst>
                      <p:childTnLst>
                        <p:par>
                          <p:cTn id="76" fill="hold">
                            <p:stCondLst>
                              <p:cond delay="0"/>
                            </p:stCondLst>
                            <p:childTnLst>
                              <p:par>
                                <p:cTn id="81" presetID="2" presetClass="entr" presetSubtype="4" fill="hold" grpId="0" nodeType="clickEffect">
                                  <p:stCondLst>
                                    <p:cond delay="0"/>
                                  </p:stCondLst>
                                  <p:childTnLst>
                                    <p:set>
                                      <p:cBhvr>
                                        <p:cTn id="77" dur="1" fill="hold">
                                          <p:stCondLst>
                                            <p:cond delay="0"/>
                                          </p:stCondLst>
                                        </p:cTn>
                                        <p:tgtEl>
                                          <p:spTgt spid="29"/>
                                        </p:tgtEl>
                                        <p:attrNameLst>
                                          <p:attrName>style.visibility</p:attrName>
                                        </p:attrNameLst>
                                      </p:cBhvr>
                                      <p:to>
                                        <p:strVal val="visible"/>
                                      </p:to>
                                    </p:set>
                                    <p:anim calcmode="lin" valueType="num">
                                      <p:cBhvr additive="base">
                                        <p:cTn id="78" dur="500" fill="hold"/>
                                        <p:tgtEl>
                                          <p:spTgt spid="29"/>
                                        </p:tgtEl>
                                        <p:attrNameLst>
                                          <p:attrName>ppt_x</p:attrName>
                                        </p:attrNameLst>
                                      </p:cBhvr>
                                      <p:tavLst>
                                        <p:tav tm="0">
                                          <p:val>
                                            <p:strVal val="#ppt_x"/>
                                          </p:val>
                                        </p:tav>
                                        <p:tav tm="100000">
                                          <p:val>
                                            <p:strVal val="#ppt_x"/>
                                          </p:val>
                                        </p:tav>
                                      </p:tavLst>
                                    </p:anim>
                                    <p:anim calcmode="lin" valueType="num">
                                      <p:cBhvr additive="base">
                                        <p:cTn id="79" dur="500" fill="hold"/>
                                        <p:tgtEl>
                                          <p:spTgt spid="29"/>
                                        </p:tgtEl>
                                        <p:attrNameLst>
                                          <p:attrName>ppt_y</p:attrName>
                                        </p:attrNameLst>
                                      </p:cBhvr>
                                      <p:tavLst>
                                        <p:tav tm="0">
                                          <p:val>
                                            <p:strVal val="#ppt_y+0.1"/>
                                          </p:val>
                                        </p:tav>
                                        <p:tav tm="100000">
                                          <p:val>
                                            <p:strVal val="#ppt_y"/>
                                          </p:val>
                                        </p:tav>
                                      </p:tavLst>
                                    </p:anim>
                                    <p:animEffect transition="in" filter="fade">
                                      <p:cBhvr>
                                        <p:cTn id="80" dur="500"/>
                                        <p:tgtEl>
                                          <p:spTgt spid="29"/>
                                        </p:tgtEl>
                                      </p:cBhvr>
                                    </p:animEffect>
                                  </p:childTnLst>
                                </p:cTn>
                              </p:par>
                              <p:par>
                                <p:cTn id="86" presetID="2" presetClass="entr" presetSubtype="4"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 calcmode="lin" valueType="num">
                                      <p:cBhvr additive="base">
                                        <p:cTn id="83" dur="500" fill="hold"/>
                                        <p:tgtEl>
                                          <p:spTgt spid="30"/>
                                        </p:tgtEl>
                                        <p:attrNameLst>
                                          <p:attrName>ppt_x</p:attrName>
                                        </p:attrNameLst>
                                      </p:cBhvr>
                                      <p:tavLst>
                                        <p:tav tm="0">
                                          <p:val>
                                            <p:strVal val="#ppt_x"/>
                                          </p:val>
                                        </p:tav>
                                        <p:tav tm="100000">
                                          <p:val>
                                            <p:strVal val="#ppt_x"/>
                                          </p:val>
                                        </p:tav>
                                      </p:tavLst>
                                    </p:anim>
                                    <p:anim calcmode="lin" valueType="num">
                                      <p:cBhvr additive="base">
                                        <p:cTn id="84" dur="500" fill="hold"/>
                                        <p:tgtEl>
                                          <p:spTgt spid="30"/>
                                        </p:tgtEl>
                                        <p:attrNameLst>
                                          <p:attrName>ppt_y</p:attrName>
                                        </p:attrNameLst>
                                      </p:cBhvr>
                                      <p:tavLst>
                                        <p:tav tm="0">
                                          <p:val>
                                            <p:strVal val="#ppt_y+0.1"/>
                                          </p:val>
                                        </p:tav>
                                        <p:tav tm="100000">
                                          <p:val>
                                            <p:strVal val="#ppt_y"/>
                                          </p:val>
                                        </p:tav>
                                      </p:tavLst>
                                    </p:anim>
                                    <p:animEffect transition="in" filter="fade">
                                      <p:cBhvr>
                                        <p:cTn id="85" dur="500"/>
                                        <p:tgtEl>
                                          <p:spTgt spid="30"/>
                                        </p:tgtEl>
                                      </p:cBhvr>
                                    </p:animEffect>
                                  </p:childTnLst>
                                </p:cTn>
                              </p:par>
                              <p:par>
                                <p:cTn id="91" presetID="2" presetClass="entr" presetSubtype="4" fill="hold" grpId="0" nodeType="withEffect">
                                  <p:stCondLst>
                                    <p:cond delay="80"/>
                                  </p:stCondLst>
                                  <p:childTnLst>
                                    <p:set>
                                      <p:cBhvr>
                                        <p:cTn id="87" dur="1" fill="hold">
                                          <p:stCondLst>
                                            <p:cond delay="0"/>
                                          </p:stCondLst>
                                        </p:cTn>
                                        <p:tgtEl>
                                          <p:spTgt spid="31"/>
                                        </p:tgtEl>
                                        <p:attrNameLst>
                                          <p:attrName>style.visibility</p:attrName>
                                        </p:attrNameLst>
                                      </p:cBhvr>
                                      <p:to>
                                        <p:strVal val="visible"/>
                                      </p:to>
                                    </p:set>
                                    <p:anim calcmode="lin" valueType="num">
                                      <p:cBhvr additive="base">
                                        <p:cTn id="88" dur="500" fill="hold"/>
                                        <p:tgtEl>
                                          <p:spTgt spid="31"/>
                                        </p:tgtEl>
                                        <p:attrNameLst>
                                          <p:attrName>ppt_x</p:attrName>
                                        </p:attrNameLst>
                                      </p:cBhvr>
                                      <p:tavLst>
                                        <p:tav tm="0">
                                          <p:val>
                                            <p:strVal val="#ppt_x"/>
                                          </p:val>
                                        </p:tav>
                                        <p:tav tm="100000">
                                          <p:val>
                                            <p:strVal val="#ppt_x"/>
                                          </p:val>
                                        </p:tav>
                                      </p:tavLst>
                                    </p:anim>
                                    <p:anim calcmode="lin" valueType="num">
                                      <p:cBhvr additive="base">
                                        <p:cTn id="89" dur="500" fill="hold"/>
                                        <p:tgtEl>
                                          <p:spTgt spid="31"/>
                                        </p:tgtEl>
                                        <p:attrNameLst>
                                          <p:attrName>ppt_y</p:attrName>
                                        </p:attrNameLst>
                                      </p:cBhvr>
                                      <p:tavLst>
                                        <p:tav tm="0">
                                          <p:val>
                                            <p:strVal val="#ppt_y+0.1"/>
                                          </p:val>
                                        </p:tav>
                                        <p:tav tm="100000">
                                          <p:val>
                                            <p:strVal val="#ppt_y"/>
                                          </p:val>
                                        </p:tav>
                                      </p:tavLst>
                                    </p:anim>
                                    <p:animEffect transition="in" filter="fade">
                                      <p:cBhvr>
                                        <p:cTn id="90" dur="500"/>
                                        <p:tgtEl>
                                          <p:spTgt spid="31"/>
                                        </p:tgtEl>
                                      </p:cBhvr>
                                    </p:animEffect>
                                  </p:childTnLst>
                                </p:cTn>
                              </p:par>
                              <p:par>
                                <p:cTn id="96" presetID="2" presetClass="entr" presetSubtype="4" fill="hold" grpId="0" nodeType="withEffect">
                                  <p:stCondLst>
                                    <p:cond delay="80"/>
                                  </p:stCondLst>
                                  <p:childTnLst>
                                    <p:set>
                                      <p:cBhvr>
                                        <p:cTn id="92" dur="1" fill="hold">
                                          <p:stCondLst>
                                            <p:cond delay="0"/>
                                          </p:stCondLst>
                                        </p:cTn>
                                        <p:tgtEl>
                                          <p:spTgt spid="32"/>
                                        </p:tgtEl>
                                        <p:attrNameLst>
                                          <p:attrName>style.visibility</p:attrName>
                                        </p:attrNameLst>
                                      </p:cBhvr>
                                      <p:to>
                                        <p:strVal val="visible"/>
                                      </p:to>
                                    </p:set>
                                    <p:anim calcmode="lin" valueType="num">
                                      <p:cBhvr additive="base">
                                        <p:cTn id="93" dur="500" fill="hold"/>
                                        <p:tgtEl>
                                          <p:spTgt spid="32"/>
                                        </p:tgtEl>
                                        <p:attrNameLst>
                                          <p:attrName>ppt_x</p:attrName>
                                        </p:attrNameLst>
                                      </p:cBhvr>
                                      <p:tavLst>
                                        <p:tav tm="0">
                                          <p:val>
                                            <p:strVal val="#ppt_x"/>
                                          </p:val>
                                        </p:tav>
                                        <p:tav tm="100000">
                                          <p:val>
                                            <p:strVal val="#ppt_x"/>
                                          </p:val>
                                        </p:tav>
                                      </p:tavLst>
                                    </p:anim>
                                    <p:anim calcmode="lin" valueType="num">
                                      <p:cBhvr additive="base">
                                        <p:cTn id="94" dur="500" fill="hold"/>
                                        <p:tgtEl>
                                          <p:spTgt spid="32"/>
                                        </p:tgtEl>
                                        <p:attrNameLst>
                                          <p:attrName>ppt_y</p:attrName>
                                        </p:attrNameLst>
                                      </p:cBhvr>
                                      <p:tavLst>
                                        <p:tav tm="0">
                                          <p:val>
                                            <p:strVal val="#ppt_y+0.1"/>
                                          </p:val>
                                        </p:tav>
                                        <p:tav tm="100000">
                                          <p:val>
                                            <p:strVal val="#ppt_y"/>
                                          </p:val>
                                        </p:tav>
                                      </p:tavLst>
                                    </p:anim>
                                    <p:animEffect transition="in" filter="fade">
                                      <p:cBhvr>
                                        <p:cTn id="95" dur="500"/>
                                        <p:tgtEl>
                                          <p:spTgt spid="32"/>
                                        </p:tgtEl>
                                      </p:cBhvr>
                                    </p:animEffect>
                                  </p:childTnLst>
                                </p:cTn>
                              </p:par>
                              <p:par>
                                <p:cTn id="101" presetID="2" presetClass="entr" presetSubtype="4" fill="hold" grpId="0" nodeType="withEffect">
                                  <p:stCondLst>
                                    <p:cond delay="160"/>
                                  </p:stCondLst>
                                  <p:childTnLst>
                                    <p:set>
                                      <p:cBhvr>
                                        <p:cTn id="97" dur="1" fill="hold">
                                          <p:stCondLst>
                                            <p:cond delay="0"/>
                                          </p:stCondLst>
                                        </p:cTn>
                                        <p:tgtEl>
                                          <p:spTgt spid="33"/>
                                        </p:tgtEl>
                                        <p:attrNameLst>
                                          <p:attrName>style.visibility</p:attrName>
                                        </p:attrNameLst>
                                      </p:cBhvr>
                                      <p:to>
                                        <p:strVal val="visible"/>
                                      </p:to>
                                    </p:set>
                                    <p:anim calcmode="lin" valueType="num">
                                      <p:cBhvr additive="base">
                                        <p:cTn id="98" dur="500" fill="hold"/>
                                        <p:tgtEl>
                                          <p:spTgt spid="33"/>
                                        </p:tgtEl>
                                        <p:attrNameLst>
                                          <p:attrName>ppt_x</p:attrName>
                                        </p:attrNameLst>
                                      </p:cBhvr>
                                      <p:tavLst>
                                        <p:tav tm="0">
                                          <p:val>
                                            <p:strVal val="#ppt_x"/>
                                          </p:val>
                                        </p:tav>
                                        <p:tav tm="100000">
                                          <p:val>
                                            <p:strVal val="#ppt_x"/>
                                          </p:val>
                                        </p:tav>
                                      </p:tavLst>
                                    </p:anim>
                                    <p:anim calcmode="lin" valueType="num">
                                      <p:cBhvr additive="base">
                                        <p:cTn id="99" dur="500" fill="hold"/>
                                        <p:tgtEl>
                                          <p:spTgt spid="33"/>
                                        </p:tgtEl>
                                        <p:attrNameLst>
                                          <p:attrName>ppt_y</p:attrName>
                                        </p:attrNameLst>
                                      </p:cBhvr>
                                      <p:tavLst>
                                        <p:tav tm="0">
                                          <p:val>
                                            <p:strVal val="#ppt_y+0.1"/>
                                          </p:val>
                                        </p:tav>
                                        <p:tav tm="100000">
                                          <p:val>
                                            <p:strVal val="#ppt_y"/>
                                          </p:val>
                                        </p:tav>
                                      </p:tavLst>
                                    </p:anim>
                                    <p:animEffect transition="in" filter="fade">
                                      <p:cBhvr>
                                        <p:cTn id="100" dur="500"/>
                                        <p:tgtEl>
                                          <p:spTgt spid="33"/>
                                        </p:tgtEl>
                                      </p:cBhvr>
                                    </p:animEffect>
                                  </p:childTnLst>
                                </p:cTn>
                              </p:par>
                              <p:par>
                                <p:cTn id="106" presetID="2" presetClass="entr" presetSubtype="4" fill="hold" grpId="0" nodeType="withEffect">
                                  <p:stCondLst>
                                    <p:cond delay="160"/>
                                  </p:stCondLst>
                                  <p:childTnLst>
                                    <p:set>
                                      <p:cBhvr>
                                        <p:cTn id="102" dur="1" fill="hold">
                                          <p:stCondLst>
                                            <p:cond delay="0"/>
                                          </p:stCondLst>
                                        </p:cTn>
                                        <p:tgtEl>
                                          <p:spTgt spid="34"/>
                                        </p:tgtEl>
                                        <p:attrNameLst>
                                          <p:attrName>style.visibility</p:attrName>
                                        </p:attrNameLst>
                                      </p:cBhvr>
                                      <p:to>
                                        <p:strVal val="visible"/>
                                      </p:to>
                                    </p:set>
                                    <p:anim calcmode="lin" valueType="num">
                                      <p:cBhvr additive="base">
                                        <p:cTn id="103" dur="500" fill="hold"/>
                                        <p:tgtEl>
                                          <p:spTgt spid="34"/>
                                        </p:tgtEl>
                                        <p:attrNameLst>
                                          <p:attrName>ppt_x</p:attrName>
                                        </p:attrNameLst>
                                      </p:cBhvr>
                                      <p:tavLst>
                                        <p:tav tm="0">
                                          <p:val>
                                            <p:strVal val="#ppt_x"/>
                                          </p:val>
                                        </p:tav>
                                        <p:tav tm="100000">
                                          <p:val>
                                            <p:strVal val="#ppt_x"/>
                                          </p:val>
                                        </p:tav>
                                      </p:tavLst>
                                    </p:anim>
                                    <p:anim calcmode="lin" valueType="num">
                                      <p:cBhvr additive="base">
                                        <p:cTn id="104" dur="500" fill="hold"/>
                                        <p:tgtEl>
                                          <p:spTgt spid="34"/>
                                        </p:tgtEl>
                                        <p:attrNameLst>
                                          <p:attrName>ppt_y</p:attrName>
                                        </p:attrNameLst>
                                      </p:cBhvr>
                                      <p:tavLst>
                                        <p:tav tm="0">
                                          <p:val>
                                            <p:strVal val="#ppt_y+0.1"/>
                                          </p:val>
                                        </p:tav>
                                        <p:tav tm="100000">
                                          <p:val>
                                            <p:strVal val="#ppt_y"/>
                                          </p:val>
                                        </p:tav>
                                      </p:tavLst>
                                    </p:anim>
                                    <p:animEffect transition="in" filter="fade">
                                      <p:cBhvr>
                                        <p:cTn id="105" dur="500"/>
                                        <p:tgtEl>
                                          <p:spTgt spid="34"/>
                                        </p:tgtEl>
                                      </p:cBhvr>
                                    </p:animEffect>
                                  </p:childTnLst>
                                </p:cTn>
                              </p:par>
                              <p:par>
                                <p:cTn id="111" presetID="2" presetClass="entr" presetSubtype="4" fill="hold" grpId="0" nodeType="withEffect">
                                  <p:stCondLst>
                                    <p:cond delay="240"/>
                                  </p:stCondLst>
                                  <p:childTnLst>
                                    <p:set>
                                      <p:cBhvr>
                                        <p:cTn id="107" dur="1" fill="hold">
                                          <p:stCondLst>
                                            <p:cond delay="0"/>
                                          </p:stCondLst>
                                        </p:cTn>
                                        <p:tgtEl>
                                          <p:spTgt spid="35"/>
                                        </p:tgtEl>
                                        <p:attrNameLst>
                                          <p:attrName>style.visibility</p:attrName>
                                        </p:attrNameLst>
                                      </p:cBhvr>
                                      <p:to>
                                        <p:strVal val="visible"/>
                                      </p:to>
                                    </p:set>
                                    <p:anim calcmode="lin" valueType="num">
                                      <p:cBhvr additive="base">
                                        <p:cTn id="108" dur="500" fill="hold"/>
                                        <p:tgtEl>
                                          <p:spTgt spid="35"/>
                                        </p:tgtEl>
                                        <p:attrNameLst>
                                          <p:attrName>ppt_x</p:attrName>
                                        </p:attrNameLst>
                                      </p:cBhvr>
                                      <p:tavLst>
                                        <p:tav tm="0">
                                          <p:val>
                                            <p:strVal val="#ppt_x"/>
                                          </p:val>
                                        </p:tav>
                                        <p:tav tm="100000">
                                          <p:val>
                                            <p:strVal val="#ppt_x"/>
                                          </p:val>
                                        </p:tav>
                                      </p:tavLst>
                                    </p:anim>
                                    <p:anim calcmode="lin" valueType="num">
                                      <p:cBhvr additive="base">
                                        <p:cTn id="109" dur="500" fill="hold"/>
                                        <p:tgtEl>
                                          <p:spTgt spid="35"/>
                                        </p:tgtEl>
                                        <p:attrNameLst>
                                          <p:attrName>ppt_y</p:attrName>
                                        </p:attrNameLst>
                                      </p:cBhvr>
                                      <p:tavLst>
                                        <p:tav tm="0">
                                          <p:val>
                                            <p:strVal val="#ppt_y+0.1"/>
                                          </p:val>
                                        </p:tav>
                                        <p:tav tm="100000">
                                          <p:val>
                                            <p:strVal val="#ppt_y"/>
                                          </p:val>
                                        </p:tav>
                                      </p:tavLst>
                                    </p:anim>
                                    <p:animEffect transition="in" filter="fade">
                                      <p:cBhvr>
                                        <p:cTn id="110" dur="500"/>
                                        <p:tgtEl>
                                          <p:spTgt spid="35"/>
                                        </p:tgtEl>
                                      </p:cBhvr>
                                    </p:animEffect>
                                  </p:childTnLst>
                                </p:cTn>
                              </p:par>
                              <p:par>
                                <p:cTn id="116" presetID="2" presetClass="entr" presetSubtype="4" fill="hold" grpId="0" nodeType="withEffect">
                                  <p:stCondLst>
                                    <p:cond delay="240"/>
                                  </p:stCondLst>
                                  <p:childTnLst>
                                    <p:set>
                                      <p:cBhvr>
                                        <p:cTn id="112" dur="1" fill="hold">
                                          <p:stCondLst>
                                            <p:cond delay="0"/>
                                          </p:stCondLst>
                                        </p:cTn>
                                        <p:tgtEl>
                                          <p:spTgt spid="36"/>
                                        </p:tgtEl>
                                        <p:attrNameLst>
                                          <p:attrName>style.visibility</p:attrName>
                                        </p:attrNameLst>
                                      </p:cBhvr>
                                      <p:to>
                                        <p:strVal val="visible"/>
                                      </p:to>
                                    </p:set>
                                    <p:anim calcmode="lin" valueType="num">
                                      <p:cBhvr additive="base">
                                        <p:cTn id="113" dur="500" fill="hold"/>
                                        <p:tgtEl>
                                          <p:spTgt spid="36"/>
                                        </p:tgtEl>
                                        <p:attrNameLst>
                                          <p:attrName>ppt_x</p:attrName>
                                        </p:attrNameLst>
                                      </p:cBhvr>
                                      <p:tavLst>
                                        <p:tav tm="0">
                                          <p:val>
                                            <p:strVal val="#ppt_x"/>
                                          </p:val>
                                        </p:tav>
                                        <p:tav tm="100000">
                                          <p:val>
                                            <p:strVal val="#ppt_x"/>
                                          </p:val>
                                        </p:tav>
                                      </p:tavLst>
                                    </p:anim>
                                    <p:anim calcmode="lin" valueType="num">
                                      <p:cBhvr additive="base">
                                        <p:cTn id="114" dur="500" fill="hold"/>
                                        <p:tgtEl>
                                          <p:spTgt spid="36"/>
                                        </p:tgtEl>
                                        <p:attrNameLst>
                                          <p:attrName>ppt_y</p:attrName>
                                        </p:attrNameLst>
                                      </p:cBhvr>
                                      <p:tavLst>
                                        <p:tav tm="0">
                                          <p:val>
                                            <p:strVal val="#ppt_y+0.1"/>
                                          </p:val>
                                        </p:tav>
                                        <p:tav tm="100000">
                                          <p:val>
                                            <p:strVal val="#ppt_y"/>
                                          </p:val>
                                        </p:tav>
                                      </p:tavLst>
                                    </p:anim>
                                    <p:animEffect transition="in" filter="fade">
                                      <p:cBhvr>
                                        <p:cTn id="115" dur="500"/>
                                        <p:tgtEl>
                                          <p:spTgt spid="36"/>
                                        </p:tgtEl>
                                      </p:cBhvr>
                                    </p:animEffect>
                                  </p:childTnLst>
                                </p:cTn>
                              </p:par>
                            </p:childTnLst>
                          </p:cTn>
                        </p:par>
                      </p:childTnLst>
                    </p:cTn>
                  </p:par>
                  <p:par>
                    <p:cTn id="117" fill="hold">
                      <p:stCondLst>
                        <p:cond delay="indefinite"/>
                      </p:stCondLst>
                      <p:childTnLst>
                        <p:par>
                          <p:cTn id="118" fill="hold">
                            <p:stCondLst>
                              <p:cond delay="0"/>
                            </p:stCondLst>
                            <p:childTnLst>
                              <p:par>
                                <p:cTn id="123" presetID="2" presetClass="entr" presetSubtype="4" fill="hold" grpId="0" nodeType="clickEffect">
                                  <p:stCondLst>
                                    <p:cond delay="0"/>
                                  </p:stCondLst>
                                  <p:childTnLst>
                                    <p:set>
                                      <p:cBhvr>
                                        <p:cTn id="119" dur="1" fill="hold">
                                          <p:stCondLst>
                                            <p:cond delay="0"/>
                                          </p:stCondLst>
                                        </p:cTn>
                                        <p:tgtEl>
                                          <p:spTgt spid="37"/>
                                        </p:tgtEl>
                                        <p:attrNameLst>
                                          <p:attrName>style.visibility</p:attrName>
                                        </p:attrNameLst>
                                      </p:cBhvr>
                                      <p:to>
                                        <p:strVal val="visible"/>
                                      </p:to>
                                    </p:set>
                                    <p:anim calcmode="lin" valueType="num">
                                      <p:cBhvr additive="base">
                                        <p:cTn id="120" dur="500" fill="hold"/>
                                        <p:tgtEl>
                                          <p:spTgt spid="37"/>
                                        </p:tgtEl>
                                        <p:attrNameLst>
                                          <p:attrName>ppt_x</p:attrName>
                                        </p:attrNameLst>
                                      </p:cBhvr>
                                      <p:tavLst>
                                        <p:tav tm="0">
                                          <p:val>
                                            <p:strVal val="#ppt_x"/>
                                          </p:val>
                                        </p:tav>
                                        <p:tav tm="100000">
                                          <p:val>
                                            <p:strVal val="#ppt_x"/>
                                          </p:val>
                                        </p:tav>
                                      </p:tavLst>
                                    </p:anim>
                                    <p:anim calcmode="lin" valueType="num">
                                      <p:cBhvr additive="base">
                                        <p:cTn id="121" dur="500" fill="hold"/>
                                        <p:tgtEl>
                                          <p:spTgt spid="37"/>
                                        </p:tgtEl>
                                        <p:attrNameLst>
                                          <p:attrName>ppt_y</p:attrName>
                                        </p:attrNameLst>
                                      </p:cBhvr>
                                      <p:tavLst>
                                        <p:tav tm="0">
                                          <p:val>
                                            <p:strVal val="#ppt_y+0.1"/>
                                          </p:val>
                                        </p:tav>
                                        <p:tav tm="100000">
                                          <p:val>
                                            <p:strVal val="#ppt_y"/>
                                          </p:val>
                                        </p:tav>
                                      </p:tavLst>
                                    </p:anim>
                                    <p:animEffect transition="in" filter="fade">
                                      <p:cBhvr>
                                        <p:cTn id="122" dur="500"/>
                                        <p:tgtEl>
                                          <p:spTgt spid="37"/>
                                        </p:tgtEl>
                                      </p:cBhvr>
                                    </p:animEffect>
                                  </p:childTnLst>
                                </p:cTn>
                              </p:par>
                              <p:par>
                                <p:cTn id="128" presetID="2" presetClass="entr" presetSubtype="4" fill="hold" grpId="0" nodeType="withEffect">
                                  <p:stCondLst>
                                    <p:cond delay="0"/>
                                  </p:stCondLst>
                                  <p:childTnLst>
                                    <p:set>
                                      <p:cBhvr>
                                        <p:cTn id="124" dur="1" fill="hold">
                                          <p:stCondLst>
                                            <p:cond delay="0"/>
                                          </p:stCondLst>
                                        </p:cTn>
                                        <p:tgtEl>
                                          <p:spTgt spid="38"/>
                                        </p:tgtEl>
                                        <p:attrNameLst>
                                          <p:attrName>style.visibility</p:attrName>
                                        </p:attrNameLst>
                                      </p:cBhvr>
                                      <p:to>
                                        <p:strVal val="visible"/>
                                      </p:to>
                                    </p:set>
                                    <p:anim calcmode="lin" valueType="num">
                                      <p:cBhvr additive="base">
                                        <p:cTn id="125" dur="500" fill="hold"/>
                                        <p:tgtEl>
                                          <p:spTgt spid="38"/>
                                        </p:tgtEl>
                                        <p:attrNameLst>
                                          <p:attrName>ppt_x</p:attrName>
                                        </p:attrNameLst>
                                      </p:cBhvr>
                                      <p:tavLst>
                                        <p:tav tm="0">
                                          <p:val>
                                            <p:strVal val="#ppt_x"/>
                                          </p:val>
                                        </p:tav>
                                        <p:tav tm="100000">
                                          <p:val>
                                            <p:strVal val="#ppt_x"/>
                                          </p:val>
                                        </p:tav>
                                      </p:tavLst>
                                    </p:anim>
                                    <p:anim calcmode="lin" valueType="num">
                                      <p:cBhvr additive="base">
                                        <p:cTn id="126" dur="500" fill="hold"/>
                                        <p:tgtEl>
                                          <p:spTgt spid="38"/>
                                        </p:tgtEl>
                                        <p:attrNameLst>
                                          <p:attrName>ppt_y</p:attrName>
                                        </p:attrNameLst>
                                      </p:cBhvr>
                                      <p:tavLst>
                                        <p:tav tm="0">
                                          <p:val>
                                            <p:strVal val="#ppt_y+0.1"/>
                                          </p:val>
                                        </p:tav>
                                        <p:tav tm="100000">
                                          <p:val>
                                            <p:strVal val="#ppt_y"/>
                                          </p:val>
                                        </p:tav>
                                      </p:tavLst>
                                    </p:anim>
                                    <p:animEffect transition="in" filter="fade">
                                      <p:cBhvr>
                                        <p:cTn id="127" dur="500"/>
                                        <p:tgtEl>
                                          <p:spTgt spid="38"/>
                                        </p:tgtEl>
                                      </p:cBhvr>
                                    </p:animEffect>
                                  </p:childTnLst>
                                </p:cTn>
                              </p:par>
                              <p:par>
                                <p:cTn id="133" presetID="2" presetClass="entr" presetSubtype="4" fill="hold" grpId="0" nodeType="withEffect">
                                  <p:stCondLst>
                                    <p:cond delay="0"/>
                                  </p:stCondLst>
                                  <p:childTnLst>
                                    <p:set>
                                      <p:cBhvr>
                                        <p:cTn id="129" dur="1" fill="hold">
                                          <p:stCondLst>
                                            <p:cond delay="0"/>
                                          </p:stCondLst>
                                        </p:cTn>
                                        <p:tgtEl>
                                          <p:spTgt spid="39"/>
                                        </p:tgtEl>
                                        <p:attrNameLst>
                                          <p:attrName>style.visibility</p:attrName>
                                        </p:attrNameLst>
                                      </p:cBhvr>
                                      <p:to>
                                        <p:strVal val="visible"/>
                                      </p:to>
                                    </p:set>
                                    <p:anim calcmode="lin" valueType="num">
                                      <p:cBhvr additive="base">
                                        <p:cTn id="130" dur="500" fill="hold"/>
                                        <p:tgtEl>
                                          <p:spTgt spid="39"/>
                                        </p:tgtEl>
                                        <p:attrNameLst>
                                          <p:attrName>ppt_x</p:attrName>
                                        </p:attrNameLst>
                                      </p:cBhvr>
                                      <p:tavLst>
                                        <p:tav tm="0">
                                          <p:val>
                                            <p:strVal val="#ppt_x"/>
                                          </p:val>
                                        </p:tav>
                                        <p:tav tm="100000">
                                          <p:val>
                                            <p:strVal val="#ppt_x"/>
                                          </p:val>
                                        </p:tav>
                                      </p:tavLst>
                                    </p:anim>
                                    <p:anim calcmode="lin" valueType="num">
                                      <p:cBhvr additive="base">
                                        <p:cTn id="131" dur="500" fill="hold"/>
                                        <p:tgtEl>
                                          <p:spTgt spid="39"/>
                                        </p:tgtEl>
                                        <p:attrNameLst>
                                          <p:attrName>ppt_y</p:attrName>
                                        </p:attrNameLst>
                                      </p:cBhvr>
                                      <p:tavLst>
                                        <p:tav tm="0">
                                          <p:val>
                                            <p:strVal val="#ppt_y+0.1"/>
                                          </p:val>
                                        </p:tav>
                                        <p:tav tm="100000">
                                          <p:val>
                                            <p:strVal val="#ppt_y"/>
                                          </p:val>
                                        </p:tav>
                                      </p:tavLst>
                                    </p:anim>
                                    <p:animEffect transition="in" filter="fade">
                                      <p:cBhvr>
                                        <p:cTn id="13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Topics: Where Events Live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topic is a named log of events - think of a folder, with the events as its files</a:t>
            </a:r>
          </a:p>
        </p:txBody>
      </p:sp>
      <p:sp>
        <p:nvSpPr>
          <p:cNvPr id="11" name="a1u_nd10"/>
          <p:cNvSpPr/>
          <p:nvPr/>
        </p:nvSpPr>
        <p:spPr>
          <a:xfrm>
            <a:off x="457200" y="1417320"/>
            <a:ext cx="1143000" cy="457200"/>
          </a:xfrm>
          <a:prstGeom prst="roundRect">
            <a:avLst>
              <a:gd name="adj" fmla="val 16000"/>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417320"/>
            <a:ext cx="1051560" cy="457200"/>
          </a:xfrm>
          <a:prstGeom prst="rect">
            <a:avLst/>
          </a:prstGeom>
          <a:noFill/>
        </p:spPr>
        <p:txBody>
          <a:bodyPr wrap="square" lIns="0" tIns="0" rIns="0" bIns="0" anchor="ctr">
            <a:spAutoFit/>
          </a:bodyPr>
          <a:lstStyle/>
          <a:p>
            <a:pPr algn="ctr"/>
            <a:r>
              <a:rPr sz="850" b="1">
                <a:solidFill>
                  <a:srgbClr val="1C1917"/>
                </a:solidFill>
                <a:latin typeface="Segoe UI"/>
              </a:rPr>
              <a:t>Producer A</a:t>
            </a:r>
          </a:p>
        </p:txBody>
      </p:sp>
      <p:sp>
        <p:nvSpPr>
          <p:cNvPr id="13" name="a1ud100_nd12"/>
          <p:cNvSpPr/>
          <p:nvPr/>
        </p:nvSpPr>
        <p:spPr>
          <a:xfrm>
            <a:off x="457200" y="2331720"/>
            <a:ext cx="1143000" cy="457200"/>
          </a:xfrm>
          <a:prstGeom prst="roundRect">
            <a:avLst>
              <a:gd name="adj" fmla="val 16000"/>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100_ndt13"/>
          <p:cNvSpPr txBox="1"/>
          <p:nvPr/>
        </p:nvSpPr>
        <p:spPr>
          <a:xfrm>
            <a:off x="502920" y="2331720"/>
            <a:ext cx="1051560" cy="457200"/>
          </a:xfrm>
          <a:prstGeom prst="rect">
            <a:avLst/>
          </a:prstGeom>
          <a:noFill/>
        </p:spPr>
        <p:txBody>
          <a:bodyPr wrap="square" lIns="0" tIns="0" rIns="0" bIns="0" anchor="ctr">
            <a:spAutoFit/>
          </a:bodyPr>
          <a:lstStyle/>
          <a:p>
            <a:pPr algn="ctr"/>
            <a:r>
              <a:rPr sz="850" b="1">
                <a:solidFill>
                  <a:srgbClr val="1C1917"/>
                </a:solidFill>
                <a:latin typeface="Segoe UI"/>
              </a:rPr>
              <a:t>Producer B</a:t>
            </a:r>
          </a:p>
        </p:txBody>
      </p:sp>
      <p:sp>
        <p:nvSpPr>
          <p:cNvPr id="15" name="a1ud200_tn14"/>
          <p:cNvSpPr txBox="1"/>
          <p:nvPr/>
        </p:nvSpPr>
        <p:spPr>
          <a:xfrm>
            <a:off x="1874519" y="1371600"/>
            <a:ext cx="1005840" cy="347472"/>
          </a:xfrm>
          <a:prstGeom prst="rect">
            <a:avLst/>
          </a:prstGeom>
          <a:noFill/>
        </p:spPr>
        <p:txBody>
          <a:bodyPr wrap="square" lIns="0" tIns="0" rIns="0" bIns="0" anchor="ctr">
            <a:spAutoFit/>
          </a:bodyPr>
          <a:lstStyle/>
          <a:p>
            <a:pPr algn="l"/>
            <a:r>
              <a:rPr sz="1000" b="1">
                <a:solidFill>
                  <a:srgbClr val="C2410C"/>
                </a:solidFill>
                <a:latin typeface="Consolas"/>
              </a:rPr>
              <a:t>payments</a:t>
            </a:r>
          </a:p>
        </p:txBody>
      </p:sp>
      <p:sp>
        <p:nvSpPr>
          <p:cNvPr id="16" name="a1wd200_cell15"/>
          <p:cNvSpPr/>
          <p:nvPr/>
        </p:nvSpPr>
        <p:spPr>
          <a:xfrm>
            <a:off x="2880360" y="1389888"/>
            <a:ext cx="347472" cy="310896"/>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wd200_cellt16"/>
          <p:cNvSpPr txBox="1"/>
          <p:nvPr/>
        </p:nvSpPr>
        <p:spPr>
          <a:xfrm>
            <a:off x="2880360" y="1389888"/>
            <a:ext cx="347472" cy="310896"/>
          </a:xfrm>
          <a:prstGeom prst="rect">
            <a:avLst/>
          </a:prstGeom>
          <a:noFill/>
        </p:spPr>
        <p:txBody>
          <a:bodyPr wrap="square" lIns="0" tIns="0" rIns="0" bIns="0" anchor="ctr">
            <a:spAutoFit/>
          </a:bodyPr>
          <a:lstStyle/>
          <a:p>
            <a:pPr algn="ctr"/>
            <a:r>
              <a:rPr sz="850" b="1">
                <a:solidFill>
                  <a:srgbClr val="C2410C"/>
                </a:solidFill>
                <a:latin typeface="Consolas"/>
              </a:rPr>
              <a:t>0</a:t>
            </a:r>
          </a:p>
        </p:txBody>
      </p:sp>
      <p:sp>
        <p:nvSpPr>
          <p:cNvPr id="18" name="a1wd230_cell17"/>
          <p:cNvSpPr/>
          <p:nvPr/>
        </p:nvSpPr>
        <p:spPr>
          <a:xfrm>
            <a:off x="3227832" y="1389888"/>
            <a:ext cx="347472" cy="310896"/>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wd230_cellt18"/>
          <p:cNvSpPr txBox="1"/>
          <p:nvPr/>
        </p:nvSpPr>
        <p:spPr>
          <a:xfrm>
            <a:off x="3227832" y="1389888"/>
            <a:ext cx="347472" cy="310896"/>
          </a:xfrm>
          <a:prstGeom prst="rect">
            <a:avLst/>
          </a:prstGeom>
          <a:noFill/>
        </p:spPr>
        <p:txBody>
          <a:bodyPr wrap="square" lIns="0" tIns="0" rIns="0" bIns="0" anchor="ctr">
            <a:spAutoFit/>
          </a:bodyPr>
          <a:lstStyle/>
          <a:p>
            <a:pPr algn="ctr"/>
            <a:r>
              <a:rPr sz="850" b="1">
                <a:solidFill>
                  <a:srgbClr val="C2410C"/>
                </a:solidFill>
                <a:latin typeface="Consolas"/>
              </a:rPr>
              <a:t>1</a:t>
            </a:r>
          </a:p>
        </p:txBody>
      </p:sp>
      <p:sp>
        <p:nvSpPr>
          <p:cNvPr id="20" name="a1wd260_cell19"/>
          <p:cNvSpPr/>
          <p:nvPr/>
        </p:nvSpPr>
        <p:spPr>
          <a:xfrm>
            <a:off x="3575304" y="1389888"/>
            <a:ext cx="347472" cy="310896"/>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wd260_cellt20"/>
          <p:cNvSpPr txBox="1"/>
          <p:nvPr/>
        </p:nvSpPr>
        <p:spPr>
          <a:xfrm>
            <a:off x="3575304" y="1389888"/>
            <a:ext cx="347472" cy="310896"/>
          </a:xfrm>
          <a:prstGeom prst="rect">
            <a:avLst/>
          </a:prstGeom>
          <a:noFill/>
        </p:spPr>
        <p:txBody>
          <a:bodyPr wrap="square" lIns="0" tIns="0" rIns="0" bIns="0" anchor="ctr">
            <a:spAutoFit/>
          </a:bodyPr>
          <a:lstStyle/>
          <a:p>
            <a:pPr algn="ctr"/>
            <a:r>
              <a:rPr sz="850" b="1">
                <a:solidFill>
                  <a:srgbClr val="C2410C"/>
                </a:solidFill>
                <a:latin typeface="Consolas"/>
              </a:rPr>
              <a:t>2</a:t>
            </a:r>
          </a:p>
        </p:txBody>
      </p:sp>
      <p:sp>
        <p:nvSpPr>
          <p:cNvPr id="22" name="a1wd290_cell21"/>
          <p:cNvSpPr/>
          <p:nvPr/>
        </p:nvSpPr>
        <p:spPr>
          <a:xfrm>
            <a:off x="3922776" y="1389888"/>
            <a:ext cx="347472" cy="310896"/>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wd290_cellt22"/>
          <p:cNvSpPr txBox="1"/>
          <p:nvPr/>
        </p:nvSpPr>
        <p:spPr>
          <a:xfrm>
            <a:off x="3922776" y="1389888"/>
            <a:ext cx="347472" cy="310896"/>
          </a:xfrm>
          <a:prstGeom prst="rect">
            <a:avLst/>
          </a:prstGeom>
          <a:noFill/>
        </p:spPr>
        <p:txBody>
          <a:bodyPr wrap="square" lIns="0" tIns="0" rIns="0" bIns="0" anchor="ctr">
            <a:spAutoFit/>
          </a:bodyPr>
          <a:lstStyle/>
          <a:p>
            <a:pPr algn="ctr"/>
            <a:r>
              <a:rPr sz="850" b="1">
                <a:solidFill>
                  <a:srgbClr val="C2410C"/>
                </a:solidFill>
                <a:latin typeface="Consolas"/>
              </a:rPr>
              <a:t>3</a:t>
            </a:r>
          </a:p>
        </p:txBody>
      </p:sp>
      <p:sp>
        <p:nvSpPr>
          <p:cNvPr id="24" name="a1wd320_cell23"/>
          <p:cNvSpPr/>
          <p:nvPr/>
        </p:nvSpPr>
        <p:spPr>
          <a:xfrm>
            <a:off x="4270248" y="1389888"/>
            <a:ext cx="347472" cy="310896"/>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wd320_cellt24"/>
          <p:cNvSpPr txBox="1"/>
          <p:nvPr/>
        </p:nvSpPr>
        <p:spPr>
          <a:xfrm>
            <a:off x="4270248" y="1389888"/>
            <a:ext cx="347472" cy="310896"/>
          </a:xfrm>
          <a:prstGeom prst="rect">
            <a:avLst/>
          </a:prstGeom>
          <a:noFill/>
        </p:spPr>
        <p:txBody>
          <a:bodyPr wrap="square" lIns="0" tIns="0" rIns="0" bIns="0" anchor="ctr">
            <a:spAutoFit/>
          </a:bodyPr>
          <a:lstStyle/>
          <a:p>
            <a:pPr algn="ctr"/>
            <a:r>
              <a:rPr sz="850" b="1">
                <a:solidFill>
                  <a:srgbClr val="C2410C"/>
                </a:solidFill>
                <a:latin typeface="Consolas"/>
              </a:rPr>
              <a:t>4</a:t>
            </a:r>
          </a:p>
        </p:txBody>
      </p:sp>
      <p:sp>
        <p:nvSpPr>
          <p:cNvPr id="26" name="a1wd350_cell25"/>
          <p:cNvSpPr/>
          <p:nvPr/>
        </p:nvSpPr>
        <p:spPr>
          <a:xfrm>
            <a:off x="4617720" y="1389888"/>
            <a:ext cx="347472" cy="310896"/>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wd350_cellt26"/>
          <p:cNvSpPr txBox="1"/>
          <p:nvPr/>
        </p:nvSpPr>
        <p:spPr>
          <a:xfrm>
            <a:off x="4617720" y="1389888"/>
            <a:ext cx="347472" cy="310896"/>
          </a:xfrm>
          <a:prstGeom prst="rect">
            <a:avLst/>
          </a:prstGeom>
          <a:noFill/>
        </p:spPr>
        <p:txBody>
          <a:bodyPr wrap="square" lIns="0" tIns="0" rIns="0" bIns="0" anchor="ctr">
            <a:spAutoFit/>
          </a:bodyPr>
          <a:lstStyle/>
          <a:p>
            <a:pPr algn="ctr"/>
            <a:r>
              <a:rPr sz="850" b="1">
                <a:solidFill>
                  <a:srgbClr val="C2410C"/>
                </a:solidFill>
                <a:latin typeface="Consolas"/>
              </a:rPr>
              <a:t>5</a:t>
            </a:r>
          </a:p>
        </p:txBody>
      </p:sp>
      <p:sp>
        <p:nvSpPr>
          <p:cNvPr id="28" name="a1wd380_cell27"/>
          <p:cNvSpPr/>
          <p:nvPr/>
        </p:nvSpPr>
        <p:spPr>
          <a:xfrm>
            <a:off x="4965192" y="1389888"/>
            <a:ext cx="347472" cy="310896"/>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wd380_cellt28"/>
          <p:cNvSpPr txBox="1"/>
          <p:nvPr/>
        </p:nvSpPr>
        <p:spPr>
          <a:xfrm>
            <a:off x="4965192" y="1389888"/>
            <a:ext cx="347472" cy="310896"/>
          </a:xfrm>
          <a:prstGeom prst="rect">
            <a:avLst/>
          </a:prstGeom>
          <a:noFill/>
        </p:spPr>
        <p:txBody>
          <a:bodyPr wrap="square" lIns="0" tIns="0" rIns="0" bIns="0" anchor="ctr">
            <a:spAutoFit/>
          </a:bodyPr>
          <a:lstStyle/>
          <a:p>
            <a:pPr algn="ctr"/>
            <a:r>
              <a:rPr sz="850" b="1">
                <a:solidFill>
                  <a:srgbClr val="C2410C"/>
                </a:solidFill>
                <a:latin typeface="Consolas"/>
              </a:rPr>
              <a:t>6</a:t>
            </a:r>
          </a:p>
        </p:txBody>
      </p:sp>
      <p:sp>
        <p:nvSpPr>
          <p:cNvPr id="30" name="a1ud300_tn29"/>
          <p:cNvSpPr txBox="1"/>
          <p:nvPr/>
        </p:nvSpPr>
        <p:spPr>
          <a:xfrm>
            <a:off x="1874519" y="1920240"/>
            <a:ext cx="1005840" cy="347472"/>
          </a:xfrm>
          <a:prstGeom prst="rect">
            <a:avLst/>
          </a:prstGeom>
          <a:noFill/>
        </p:spPr>
        <p:txBody>
          <a:bodyPr wrap="square" lIns="0" tIns="0" rIns="0" bIns="0" anchor="ctr">
            <a:spAutoFit/>
          </a:bodyPr>
          <a:lstStyle/>
          <a:p>
            <a:pPr algn="l"/>
            <a:r>
              <a:rPr sz="1000" b="1">
                <a:solidFill>
                  <a:srgbClr val="0E7490"/>
                </a:solidFill>
                <a:latin typeface="Consolas"/>
              </a:rPr>
              <a:t>clicks</a:t>
            </a:r>
          </a:p>
        </p:txBody>
      </p:sp>
      <p:sp>
        <p:nvSpPr>
          <p:cNvPr id="31" name="a1wd300_cell30"/>
          <p:cNvSpPr/>
          <p:nvPr/>
        </p:nvSpPr>
        <p:spPr>
          <a:xfrm>
            <a:off x="2880360" y="1938528"/>
            <a:ext cx="347472" cy="31089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1wd300_cellt31"/>
          <p:cNvSpPr txBox="1"/>
          <p:nvPr/>
        </p:nvSpPr>
        <p:spPr>
          <a:xfrm>
            <a:off x="2880360" y="1938528"/>
            <a:ext cx="347472" cy="310896"/>
          </a:xfrm>
          <a:prstGeom prst="rect">
            <a:avLst/>
          </a:prstGeom>
          <a:noFill/>
        </p:spPr>
        <p:txBody>
          <a:bodyPr wrap="square" lIns="0" tIns="0" rIns="0" bIns="0" anchor="ctr">
            <a:spAutoFit/>
          </a:bodyPr>
          <a:lstStyle/>
          <a:p>
            <a:pPr algn="ctr"/>
            <a:r>
              <a:rPr sz="850" b="1">
                <a:solidFill>
                  <a:srgbClr val="0E7490"/>
                </a:solidFill>
                <a:latin typeface="Consolas"/>
              </a:rPr>
              <a:t>0</a:t>
            </a:r>
          </a:p>
        </p:txBody>
      </p:sp>
      <p:sp>
        <p:nvSpPr>
          <p:cNvPr id="33" name="a1wd330_cell32"/>
          <p:cNvSpPr/>
          <p:nvPr/>
        </p:nvSpPr>
        <p:spPr>
          <a:xfrm>
            <a:off x="3227832" y="1938528"/>
            <a:ext cx="347472" cy="31089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1wd330_cellt33"/>
          <p:cNvSpPr txBox="1"/>
          <p:nvPr/>
        </p:nvSpPr>
        <p:spPr>
          <a:xfrm>
            <a:off x="3227832" y="1938528"/>
            <a:ext cx="347472" cy="310896"/>
          </a:xfrm>
          <a:prstGeom prst="rect">
            <a:avLst/>
          </a:prstGeom>
          <a:noFill/>
        </p:spPr>
        <p:txBody>
          <a:bodyPr wrap="square" lIns="0" tIns="0" rIns="0" bIns="0" anchor="ctr">
            <a:spAutoFit/>
          </a:bodyPr>
          <a:lstStyle/>
          <a:p>
            <a:pPr algn="ctr"/>
            <a:r>
              <a:rPr sz="850" b="1">
                <a:solidFill>
                  <a:srgbClr val="0E7490"/>
                </a:solidFill>
                <a:latin typeface="Consolas"/>
              </a:rPr>
              <a:t>1</a:t>
            </a:r>
          </a:p>
        </p:txBody>
      </p:sp>
      <p:sp>
        <p:nvSpPr>
          <p:cNvPr id="35" name="a1wd360_cell34"/>
          <p:cNvSpPr/>
          <p:nvPr/>
        </p:nvSpPr>
        <p:spPr>
          <a:xfrm>
            <a:off x="3575304" y="1938528"/>
            <a:ext cx="347472" cy="31089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1wd360_cellt35"/>
          <p:cNvSpPr txBox="1"/>
          <p:nvPr/>
        </p:nvSpPr>
        <p:spPr>
          <a:xfrm>
            <a:off x="3575304" y="1938528"/>
            <a:ext cx="347472" cy="310896"/>
          </a:xfrm>
          <a:prstGeom prst="rect">
            <a:avLst/>
          </a:prstGeom>
          <a:noFill/>
        </p:spPr>
        <p:txBody>
          <a:bodyPr wrap="square" lIns="0" tIns="0" rIns="0" bIns="0" anchor="ctr">
            <a:spAutoFit/>
          </a:bodyPr>
          <a:lstStyle/>
          <a:p>
            <a:pPr algn="ctr"/>
            <a:r>
              <a:rPr sz="850" b="1">
                <a:solidFill>
                  <a:srgbClr val="0E7490"/>
                </a:solidFill>
                <a:latin typeface="Consolas"/>
              </a:rPr>
              <a:t>2</a:t>
            </a:r>
          </a:p>
        </p:txBody>
      </p:sp>
      <p:sp>
        <p:nvSpPr>
          <p:cNvPr id="37" name="a1wd390_cell36"/>
          <p:cNvSpPr/>
          <p:nvPr/>
        </p:nvSpPr>
        <p:spPr>
          <a:xfrm>
            <a:off x="3922776" y="1938528"/>
            <a:ext cx="347472" cy="31089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1wd390_cellt37"/>
          <p:cNvSpPr txBox="1"/>
          <p:nvPr/>
        </p:nvSpPr>
        <p:spPr>
          <a:xfrm>
            <a:off x="3922776" y="1938528"/>
            <a:ext cx="347472" cy="310896"/>
          </a:xfrm>
          <a:prstGeom prst="rect">
            <a:avLst/>
          </a:prstGeom>
          <a:noFill/>
        </p:spPr>
        <p:txBody>
          <a:bodyPr wrap="square" lIns="0" tIns="0" rIns="0" bIns="0" anchor="ctr">
            <a:spAutoFit/>
          </a:bodyPr>
          <a:lstStyle/>
          <a:p>
            <a:pPr algn="ctr"/>
            <a:r>
              <a:rPr sz="850" b="1">
                <a:solidFill>
                  <a:srgbClr val="0E7490"/>
                </a:solidFill>
                <a:latin typeface="Consolas"/>
              </a:rPr>
              <a:t>3</a:t>
            </a:r>
          </a:p>
        </p:txBody>
      </p:sp>
      <p:sp>
        <p:nvSpPr>
          <p:cNvPr id="39" name="a1wd420_cell38"/>
          <p:cNvSpPr/>
          <p:nvPr/>
        </p:nvSpPr>
        <p:spPr>
          <a:xfrm>
            <a:off x="4270248" y="1938528"/>
            <a:ext cx="347472" cy="310896"/>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1wd420_cellt39"/>
          <p:cNvSpPr txBox="1"/>
          <p:nvPr/>
        </p:nvSpPr>
        <p:spPr>
          <a:xfrm>
            <a:off x="4270248" y="1938528"/>
            <a:ext cx="347472" cy="310896"/>
          </a:xfrm>
          <a:prstGeom prst="rect">
            <a:avLst/>
          </a:prstGeom>
          <a:noFill/>
        </p:spPr>
        <p:txBody>
          <a:bodyPr wrap="square" lIns="0" tIns="0" rIns="0" bIns="0" anchor="ctr">
            <a:spAutoFit/>
          </a:bodyPr>
          <a:lstStyle/>
          <a:p>
            <a:pPr algn="ctr"/>
            <a:r>
              <a:rPr sz="850" b="1">
                <a:solidFill>
                  <a:srgbClr val="0E7490"/>
                </a:solidFill>
                <a:latin typeface="Consolas"/>
              </a:rPr>
              <a:t>4</a:t>
            </a:r>
          </a:p>
        </p:txBody>
      </p:sp>
      <p:sp>
        <p:nvSpPr>
          <p:cNvPr id="41" name="a1ud400_tn40"/>
          <p:cNvSpPr txBox="1"/>
          <p:nvPr/>
        </p:nvSpPr>
        <p:spPr>
          <a:xfrm>
            <a:off x="1874519" y="2468880"/>
            <a:ext cx="1005840" cy="347472"/>
          </a:xfrm>
          <a:prstGeom prst="rect">
            <a:avLst/>
          </a:prstGeom>
          <a:noFill/>
        </p:spPr>
        <p:txBody>
          <a:bodyPr wrap="square" lIns="0" tIns="0" rIns="0" bIns="0" anchor="ctr">
            <a:spAutoFit/>
          </a:bodyPr>
          <a:lstStyle/>
          <a:p>
            <a:pPr algn="l"/>
            <a:r>
              <a:rPr sz="1000" b="1">
                <a:solidFill>
                  <a:srgbClr val="A16207"/>
                </a:solidFill>
                <a:latin typeface="Consolas"/>
              </a:rPr>
              <a:t>locations</a:t>
            </a:r>
          </a:p>
        </p:txBody>
      </p:sp>
      <p:sp>
        <p:nvSpPr>
          <p:cNvPr id="42" name="a1wd400_cell41"/>
          <p:cNvSpPr/>
          <p:nvPr/>
        </p:nvSpPr>
        <p:spPr>
          <a:xfrm>
            <a:off x="2880360" y="2487168"/>
            <a:ext cx="347472" cy="310896"/>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1wd400_cellt42"/>
          <p:cNvSpPr txBox="1"/>
          <p:nvPr/>
        </p:nvSpPr>
        <p:spPr>
          <a:xfrm>
            <a:off x="2880360" y="2487168"/>
            <a:ext cx="347472" cy="310896"/>
          </a:xfrm>
          <a:prstGeom prst="rect">
            <a:avLst/>
          </a:prstGeom>
          <a:noFill/>
        </p:spPr>
        <p:txBody>
          <a:bodyPr wrap="square" lIns="0" tIns="0" rIns="0" bIns="0" anchor="ctr">
            <a:spAutoFit/>
          </a:bodyPr>
          <a:lstStyle/>
          <a:p>
            <a:pPr algn="ctr"/>
            <a:r>
              <a:rPr sz="850" b="1">
                <a:solidFill>
                  <a:srgbClr val="A16207"/>
                </a:solidFill>
                <a:latin typeface="Consolas"/>
              </a:rPr>
              <a:t>0</a:t>
            </a:r>
          </a:p>
        </p:txBody>
      </p:sp>
      <p:sp>
        <p:nvSpPr>
          <p:cNvPr id="44" name="a1wd430_cell43"/>
          <p:cNvSpPr/>
          <p:nvPr/>
        </p:nvSpPr>
        <p:spPr>
          <a:xfrm>
            <a:off x="3227832" y="2487168"/>
            <a:ext cx="347472" cy="310896"/>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1wd430_cellt44"/>
          <p:cNvSpPr txBox="1"/>
          <p:nvPr/>
        </p:nvSpPr>
        <p:spPr>
          <a:xfrm>
            <a:off x="3227832" y="2487168"/>
            <a:ext cx="347472" cy="310896"/>
          </a:xfrm>
          <a:prstGeom prst="rect">
            <a:avLst/>
          </a:prstGeom>
          <a:noFill/>
        </p:spPr>
        <p:txBody>
          <a:bodyPr wrap="square" lIns="0" tIns="0" rIns="0" bIns="0" anchor="ctr">
            <a:spAutoFit/>
          </a:bodyPr>
          <a:lstStyle/>
          <a:p>
            <a:pPr algn="ctr"/>
            <a:r>
              <a:rPr sz="850" b="1">
                <a:solidFill>
                  <a:srgbClr val="A16207"/>
                </a:solidFill>
                <a:latin typeface="Consolas"/>
              </a:rPr>
              <a:t>1</a:t>
            </a:r>
          </a:p>
        </p:txBody>
      </p:sp>
      <p:sp>
        <p:nvSpPr>
          <p:cNvPr id="46" name="a1wd460_cell45"/>
          <p:cNvSpPr/>
          <p:nvPr/>
        </p:nvSpPr>
        <p:spPr>
          <a:xfrm>
            <a:off x="3575304" y="2487168"/>
            <a:ext cx="347472" cy="310896"/>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1wd460_cellt46"/>
          <p:cNvSpPr txBox="1"/>
          <p:nvPr/>
        </p:nvSpPr>
        <p:spPr>
          <a:xfrm>
            <a:off x="3575304" y="2487168"/>
            <a:ext cx="347472" cy="310896"/>
          </a:xfrm>
          <a:prstGeom prst="rect">
            <a:avLst/>
          </a:prstGeom>
          <a:noFill/>
        </p:spPr>
        <p:txBody>
          <a:bodyPr wrap="square" lIns="0" tIns="0" rIns="0" bIns="0" anchor="ctr">
            <a:spAutoFit/>
          </a:bodyPr>
          <a:lstStyle/>
          <a:p>
            <a:pPr algn="ctr"/>
            <a:r>
              <a:rPr sz="850" b="1">
                <a:solidFill>
                  <a:srgbClr val="A16207"/>
                </a:solidFill>
                <a:latin typeface="Consolas"/>
              </a:rPr>
              <a:t>2</a:t>
            </a:r>
          </a:p>
        </p:txBody>
      </p:sp>
      <p:sp>
        <p:nvSpPr>
          <p:cNvPr id="48" name="a1wd490_cell47"/>
          <p:cNvSpPr/>
          <p:nvPr/>
        </p:nvSpPr>
        <p:spPr>
          <a:xfrm>
            <a:off x="3922776" y="2487168"/>
            <a:ext cx="347472" cy="310896"/>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1wd490_cellt48"/>
          <p:cNvSpPr txBox="1"/>
          <p:nvPr/>
        </p:nvSpPr>
        <p:spPr>
          <a:xfrm>
            <a:off x="3922776" y="2487168"/>
            <a:ext cx="347472" cy="310896"/>
          </a:xfrm>
          <a:prstGeom prst="rect">
            <a:avLst/>
          </a:prstGeom>
          <a:noFill/>
        </p:spPr>
        <p:txBody>
          <a:bodyPr wrap="square" lIns="0" tIns="0" rIns="0" bIns="0" anchor="ctr">
            <a:spAutoFit/>
          </a:bodyPr>
          <a:lstStyle/>
          <a:p>
            <a:pPr algn="ctr"/>
            <a:r>
              <a:rPr sz="850" b="1">
                <a:solidFill>
                  <a:srgbClr val="A16207"/>
                </a:solidFill>
                <a:latin typeface="Consolas"/>
              </a:rPr>
              <a:t>3</a:t>
            </a:r>
          </a:p>
        </p:txBody>
      </p:sp>
      <p:sp>
        <p:nvSpPr>
          <p:cNvPr id="50" name="a1wd520_cell49"/>
          <p:cNvSpPr/>
          <p:nvPr/>
        </p:nvSpPr>
        <p:spPr>
          <a:xfrm>
            <a:off x="4270248" y="2487168"/>
            <a:ext cx="347472" cy="310896"/>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1wd520_cellt50"/>
          <p:cNvSpPr txBox="1"/>
          <p:nvPr/>
        </p:nvSpPr>
        <p:spPr>
          <a:xfrm>
            <a:off x="4270248" y="2487168"/>
            <a:ext cx="347472" cy="310896"/>
          </a:xfrm>
          <a:prstGeom prst="rect">
            <a:avLst/>
          </a:prstGeom>
          <a:noFill/>
        </p:spPr>
        <p:txBody>
          <a:bodyPr wrap="square" lIns="0" tIns="0" rIns="0" bIns="0" anchor="ctr">
            <a:spAutoFit/>
          </a:bodyPr>
          <a:lstStyle/>
          <a:p>
            <a:pPr algn="ctr"/>
            <a:r>
              <a:rPr sz="850" b="1">
                <a:solidFill>
                  <a:srgbClr val="A16207"/>
                </a:solidFill>
                <a:latin typeface="Consolas"/>
              </a:rPr>
              <a:t>4</a:t>
            </a:r>
          </a:p>
        </p:txBody>
      </p:sp>
      <p:sp>
        <p:nvSpPr>
          <p:cNvPr id="52" name="a1wd550_cell51"/>
          <p:cNvSpPr/>
          <p:nvPr/>
        </p:nvSpPr>
        <p:spPr>
          <a:xfrm>
            <a:off x="4617720" y="2487168"/>
            <a:ext cx="347472" cy="310896"/>
          </a:xfrm>
          <a:prstGeom prst="rect">
            <a:avLst/>
          </a:prstGeom>
          <a:solidFill>
            <a:srgbClr val="FEF9C3"/>
          </a:solidFill>
          <a:ln w="9525">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1wd550_cellt52"/>
          <p:cNvSpPr txBox="1"/>
          <p:nvPr/>
        </p:nvSpPr>
        <p:spPr>
          <a:xfrm>
            <a:off x="4617720" y="2487168"/>
            <a:ext cx="347472" cy="310896"/>
          </a:xfrm>
          <a:prstGeom prst="rect">
            <a:avLst/>
          </a:prstGeom>
          <a:noFill/>
        </p:spPr>
        <p:txBody>
          <a:bodyPr wrap="square" lIns="0" tIns="0" rIns="0" bIns="0" anchor="ctr">
            <a:spAutoFit/>
          </a:bodyPr>
          <a:lstStyle/>
          <a:p>
            <a:pPr algn="ctr"/>
            <a:r>
              <a:rPr sz="850" b="1">
                <a:solidFill>
                  <a:srgbClr val="A16207"/>
                </a:solidFill>
                <a:latin typeface="Consolas"/>
              </a:rPr>
              <a:t>5</a:t>
            </a:r>
          </a:p>
        </p:txBody>
      </p:sp>
      <p:cxnSp>
        <p:nvCxnSpPr>
          <p:cNvPr id="54" name="a2f_ar53"/>
          <p:cNvCxnSpPr/>
          <p:nvPr/>
        </p:nvCxnSpPr>
        <p:spPr>
          <a:xfrm flipV="1">
            <a:off x="1627632" y="1545336"/>
            <a:ext cx="201168" cy="100584"/>
          </a:xfrm>
          <a:prstGeom prst="line">
            <a:avLst/>
          </a:prstGeom>
          <a:ln w="127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a2fd100_ar54"/>
          <p:cNvCxnSpPr/>
          <p:nvPr/>
        </p:nvCxnSpPr>
        <p:spPr>
          <a:xfrm flipV="1">
            <a:off x="1627632" y="2093976"/>
            <a:ext cx="201168" cy="374904"/>
          </a:xfrm>
          <a:prstGeom prst="line">
            <a:avLst/>
          </a:prstGeom>
          <a:ln w="127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a2fd200_ar55"/>
          <p:cNvCxnSpPr/>
          <p:nvPr/>
        </p:nvCxnSpPr>
        <p:spPr>
          <a:xfrm>
            <a:off x="1627632" y="2578608"/>
            <a:ext cx="201168" cy="64008"/>
          </a:xfrm>
          <a:prstGeom prst="line">
            <a:avLst/>
          </a:prstGeom>
          <a:ln w="127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a3u_nd56"/>
          <p:cNvSpPr/>
          <p:nvPr/>
        </p:nvSpPr>
        <p:spPr>
          <a:xfrm>
            <a:off x="5852160" y="1344168"/>
            <a:ext cx="1463040" cy="384048"/>
          </a:xfrm>
          <a:prstGeom prst="roundRect">
            <a:avLst>
              <a:gd name="adj" fmla="val 19047"/>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3u_ndt57"/>
          <p:cNvSpPr txBox="1"/>
          <p:nvPr/>
        </p:nvSpPr>
        <p:spPr>
          <a:xfrm>
            <a:off x="5897880" y="1344168"/>
            <a:ext cx="1371600" cy="384048"/>
          </a:xfrm>
          <a:prstGeom prst="rect">
            <a:avLst/>
          </a:prstGeom>
          <a:noFill/>
        </p:spPr>
        <p:txBody>
          <a:bodyPr wrap="square" lIns="0" tIns="0" rIns="0" bIns="0" anchor="ctr">
            <a:spAutoFit/>
          </a:bodyPr>
          <a:lstStyle/>
          <a:p>
            <a:pPr algn="ctr"/>
            <a:r>
              <a:rPr sz="850" b="1">
                <a:solidFill>
                  <a:srgbClr val="1C1917"/>
                </a:solidFill>
                <a:latin typeface="Segoe UI"/>
              </a:rPr>
              <a:t>Fraud check</a:t>
            </a:r>
          </a:p>
        </p:txBody>
      </p:sp>
      <p:cxnSp>
        <p:nvCxnSpPr>
          <p:cNvPr id="59" name="a3u_ar58"/>
          <p:cNvCxnSpPr/>
          <p:nvPr/>
        </p:nvCxnSpPr>
        <p:spPr>
          <a:xfrm flipV="1">
            <a:off x="5349240" y="1536192"/>
            <a:ext cx="475488" cy="9144"/>
          </a:xfrm>
          <a:prstGeom prst="line">
            <a:avLst/>
          </a:prstGeom>
          <a:ln w="127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a3ud100_nd59"/>
          <p:cNvSpPr/>
          <p:nvPr/>
        </p:nvSpPr>
        <p:spPr>
          <a:xfrm>
            <a:off x="5852160" y="1892807"/>
            <a:ext cx="1463040" cy="384048"/>
          </a:xfrm>
          <a:prstGeom prst="roundRect">
            <a:avLst>
              <a:gd name="adj" fmla="val 19047"/>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a3ud100_ndt60"/>
          <p:cNvSpPr txBox="1"/>
          <p:nvPr/>
        </p:nvSpPr>
        <p:spPr>
          <a:xfrm>
            <a:off x="5897880" y="1892807"/>
            <a:ext cx="1371600" cy="384048"/>
          </a:xfrm>
          <a:prstGeom prst="rect">
            <a:avLst/>
          </a:prstGeom>
          <a:noFill/>
        </p:spPr>
        <p:txBody>
          <a:bodyPr wrap="square" lIns="0" tIns="0" rIns="0" bIns="0" anchor="ctr">
            <a:spAutoFit/>
          </a:bodyPr>
          <a:lstStyle/>
          <a:p>
            <a:pPr algn="ctr"/>
            <a:r>
              <a:rPr sz="850" b="1">
                <a:solidFill>
                  <a:srgbClr val="1C1917"/>
                </a:solidFill>
                <a:latin typeface="Segoe UI"/>
              </a:rPr>
              <a:t>Dashboard</a:t>
            </a:r>
          </a:p>
        </p:txBody>
      </p:sp>
      <p:cxnSp>
        <p:nvCxnSpPr>
          <p:cNvPr id="62" name="a3ud100_ar61"/>
          <p:cNvCxnSpPr/>
          <p:nvPr/>
        </p:nvCxnSpPr>
        <p:spPr>
          <a:xfrm flipV="1">
            <a:off x="5349240" y="2084831"/>
            <a:ext cx="475488" cy="9145"/>
          </a:xfrm>
          <a:prstGeom prst="line">
            <a:avLst/>
          </a:prstGeom>
          <a:ln w="1270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a3ud200_nd62"/>
          <p:cNvSpPr/>
          <p:nvPr/>
        </p:nvSpPr>
        <p:spPr>
          <a:xfrm>
            <a:off x="5852160" y="2441448"/>
            <a:ext cx="1463040" cy="384048"/>
          </a:xfrm>
          <a:prstGeom prst="roundRect">
            <a:avLst>
              <a:gd name="adj" fmla="val 19047"/>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a3ud200_ndt63"/>
          <p:cNvSpPr txBox="1"/>
          <p:nvPr/>
        </p:nvSpPr>
        <p:spPr>
          <a:xfrm>
            <a:off x="5897880" y="2441448"/>
            <a:ext cx="1371600" cy="384048"/>
          </a:xfrm>
          <a:prstGeom prst="rect">
            <a:avLst/>
          </a:prstGeom>
          <a:noFill/>
        </p:spPr>
        <p:txBody>
          <a:bodyPr wrap="square" lIns="0" tIns="0" rIns="0" bIns="0" anchor="ctr">
            <a:spAutoFit/>
          </a:bodyPr>
          <a:lstStyle/>
          <a:p>
            <a:pPr algn="ctr"/>
            <a:r>
              <a:rPr sz="850" b="1">
                <a:solidFill>
                  <a:srgbClr val="1C1917"/>
                </a:solidFill>
                <a:latin typeface="Segoe UI"/>
              </a:rPr>
              <a:t>Data lake</a:t>
            </a:r>
          </a:p>
        </p:txBody>
      </p:sp>
      <p:cxnSp>
        <p:nvCxnSpPr>
          <p:cNvPr id="65" name="a3ud200_ar64"/>
          <p:cNvCxnSpPr/>
          <p:nvPr/>
        </p:nvCxnSpPr>
        <p:spPr>
          <a:xfrm flipV="1">
            <a:off x="5349240" y="2633472"/>
            <a:ext cx="475488" cy="9143"/>
          </a:xfrm>
          <a:prstGeom prst="line">
            <a:avLst/>
          </a:prstGeom>
          <a:ln w="1270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a3ud300_side65"/>
          <p:cNvSpPr txBox="1"/>
          <p:nvPr/>
        </p:nvSpPr>
        <p:spPr>
          <a:xfrm>
            <a:off x="7452360" y="1344168"/>
            <a:ext cx="1234440" cy="1463040"/>
          </a:xfrm>
          <a:prstGeom prst="rect">
            <a:avLst/>
          </a:prstGeom>
          <a:noFill/>
        </p:spPr>
        <p:txBody>
          <a:bodyPr wrap="square" lIns="0" tIns="0" rIns="0" bIns="0" anchor="t">
            <a:spAutoFit/>
          </a:bodyPr>
          <a:lstStyle/>
          <a:p>
            <a:pPr algn="l"/>
            <a:r>
              <a:rPr sz="850" b="1">
                <a:solidFill>
                  <a:srgbClr val="1C1917"/>
                </a:solidFill>
                <a:latin typeface="Segoe UI"/>
              </a:rPr>
              <a:t>Consumers</a:t>
            </a:r>
          </a:p>
          <a:p>
            <a:pPr algn="l"/>
            <a:r>
              <a:rPr sz="850" b="0">
                <a:solidFill>
                  <a:srgbClr val="78716C"/>
                </a:solidFill>
                <a:latin typeface="Segoe UI"/>
              </a:rPr>
              <a:t>read at their own pace</a:t>
            </a:r>
          </a:p>
        </p:txBody>
      </p:sp>
      <p:sp>
        <p:nvSpPr>
          <p:cNvPr id="67" name="a4u_dot66"/>
          <p:cNvSpPr/>
          <p:nvPr/>
        </p:nvSpPr>
        <p:spPr>
          <a:xfrm>
            <a:off x="457200" y="323240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a4u_b67"/>
          <p:cNvSpPr txBox="1"/>
          <p:nvPr/>
        </p:nvSpPr>
        <p:spPr>
          <a:xfrm>
            <a:off x="676656" y="3136392"/>
            <a:ext cx="8010144" cy="347472"/>
          </a:xfrm>
          <a:prstGeom prst="rect">
            <a:avLst/>
          </a:prstGeom>
          <a:noFill/>
        </p:spPr>
        <p:txBody>
          <a:bodyPr wrap="square" lIns="0" tIns="0" rIns="0" bIns="0" anchor="t">
            <a:spAutoFit/>
          </a:bodyPr>
          <a:lstStyle/>
          <a:p>
            <a:pPr algn="l"/>
            <a:r>
              <a:rPr sz="950" b="1">
                <a:solidFill>
                  <a:srgbClr val="1C1917"/>
                </a:solidFill>
                <a:latin typeface="Segoe UI"/>
              </a:rPr>
              <a:t>Many writers, many readers:  </a:t>
            </a:r>
            <a:r>
              <a:rPr sz="950" b="0">
                <a:solidFill>
                  <a:srgbClr val="44403C"/>
                </a:solidFill>
                <a:latin typeface="Segoe UI"/>
              </a:rPr>
              <a:t>a topic can have zero, one or many producers and consumers</a:t>
            </a:r>
          </a:p>
        </p:txBody>
      </p:sp>
      <p:sp>
        <p:nvSpPr>
          <p:cNvPr id="69" name="a4ud150_dot68"/>
          <p:cNvSpPr/>
          <p:nvPr/>
        </p:nvSpPr>
        <p:spPr>
          <a:xfrm>
            <a:off x="457200" y="361645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a4ud150_b69"/>
          <p:cNvSpPr txBox="1"/>
          <p:nvPr/>
        </p:nvSpPr>
        <p:spPr>
          <a:xfrm>
            <a:off x="676656" y="3520440"/>
            <a:ext cx="8010144" cy="347472"/>
          </a:xfrm>
          <a:prstGeom prst="rect">
            <a:avLst/>
          </a:prstGeom>
          <a:noFill/>
        </p:spPr>
        <p:txBody>
          <a:bodyPr wrap="square" lIns="0" tIns="0" rIns="0" bIns="0" anchor="t">
            <a:spAutoFit/>
          </a:bodyPr>
          <a:lstStyle/>
          <a:p>
            <a:pPr algn="l"/>
            <a:r>
              <a:rPr sz="950" b="1">
                <a:solidFill>
                  <a:srgbClr val="1C1917"/>
                </a:solidFill>
                <a:latin typeface="Segoe UI"/>
              </a:rPr>
              <a:t>Reading does not delete:  </a:t>
            </a:r>
            <a:r>
              <a:rPr sz="950" b="0">
                <a:solidFill>
                  <a:srgbClr val="44403C"/>
                </a:solidFill>
                <a:latin typeface="Segoe UI"/>
              </a:rPr>
              <a:t>events are kept for a retention time you set per topic</a:t>
            </a:r>
          </a:p>
        </p:txBody>
      </p:sp>
      <p:sp>
        <p:nvSpPr>
          <p:cNvPr id="71" name="a4ud300_dot70"/>
          <p:cNvSpPr/>
          <p:nvPr/>
        </p:nvSpPr>
        <p:spPr>
          <a:xfrm>
            <a:off x="457200" y="4000500"/>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a4ud300_b71"/>
          <p:cNvSpPr txBox="1"/>
          <p:nvPr/>
        </p:nvSpPr>
        <p:spPr>
          <a:xfrm>
            <a:off x="676656" y="3904488"/>
            <a:ext cx="8010144" cy="347472"/>
          </a:xfrm>
          <a:prstGeom prst="rect">
            <a:avLst/>
          </a:prstGeom>
          <a:noFill/>
        </p:spPr>
        <p:txBody>
          <a:bodyPr wrap="square" lIns="0" tIns="0" rIns="0" bIns="0" anchor="t">
            <a:spAutoFit/>
          </a:bodyPr>
          <a:lstStyle/>
          <a:p>
            <a:pPr algn="l"/>
            <a:r>
              <a:rPr sz="950" b="1">
                <a:solidFill>
                  <a:srgbClr val="1C1917"/>
                </a:solidFill>
                <a:latin typeface="Segoe UI"/>
              </a:rPr>
              <a:t>Immutable:  </a:t>
            </a:r>
            <a:r>
              <a:rPr sz="950" b="0">
                <a:solidFill>
                  <a:srgbClr val="44403C"/>
                </a:solidFill>
                <a:latin typeface="Segoe UI"/>
              </a:rPr>
              <a:t>events in a topic are never changed - new facts are new events</a:t>
            </a:r>
          </a:p>
        </p:txBody>
      </p:sp>
      <p:sp>
        <p:nvSpPr>
          <p:cNvPr id="73" name="ft72"/>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66</a:t>
            </a:r>
          </a:p>
        </p:txBody>
      </p:sp>
      <p:sp>
        <p:nvSpPr>
          <p:cNvPr id="74" name="ft73"/>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ft74"/>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76" name="ft75"/>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10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2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2" presetID="22" presetClass="entr" presetSubtype="8" fill="hold" grpId="0" nodeType="withEffect">
                                  <p:stCondLst>
                                    <p:cond delay="200"/>
                                  </p:stCondLst>
                                  <p:childTnLst>
                                    <p:set>
                                      <p:cBhvr>
                                        <p:cTn id="30" dur="1" fill="hold">
                                          <p:stCondLst>
                                            <p:cond delay="0"/>
                                          </p:stCondLst>
                                        </p:cTn>
                                        <p:tgtEl>
                                          <p:spTgt spid="16"/>
                                        </p:tgtEl>
                                        <p:attrNameLst>
                                          <p:attrName>style.visibility</p:attrName>
                                        </p:attrNameLst>
                                      </p:cBhvr>
                                      <p:to>
                                        <p:strVal val="visible"/>
                                      </p:to>
                                    </p:set>
                                    <p:animEffect transition="in" filter="wipe(left)">
                                      <p:cBhvr>
                                        <p:cTn id="31" dur="500"/>
                                        <p:tgtEl>
                                          <p:spTgt spid="16"/>
                                        </p:tgtEl>
                                      </p:cBhvr>
                                    </p:animEffect>
                                  </p:childTnLst>
                                </p:cTn>
                              </p:par>
                              <p:par>
                                <p:cTn id="35" presetID="22" presetClass="entr" presetSubtype="8" fill="hold" grpId="0" nodeType="withEffect">
                                  <p:stCondLst>
                                    <p:cond delay="20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par>
                                <p:cTn id="38" presetID="22" presetClass="entr" presetSubtype="8" fill="hold" grpId="0" nodeType="withEffect">
                                  <p:stCondLst>
                                    <p:cond delay="23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par>
                                <p:cTn id="41" presetID="22" presetClass="entr" presetSubtype="8" fill="hold" grpId="0" nodeType="withEffect">
                                  <p:stCondLst>
                                    <p:cond delay="23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500"/>
                                        <p:tgtEl>
                                          <p:spTgt spid="19"/>
                                        </p:tgtEl>
                                      </p:cBhvr>
                                    </p:animEffect>
                                  </p:childTnLst>
                                </p:cTn>
                              </p:par>
                              <p:par>
                                <p:cTn id="44" presetID="22" presetClass="entr" presetSubtype="8" fill="hold" grpId="0" nodeType="withEffect">
                                  <p:stCondLst>
                                    <p:cond delay="26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par>
                                <p:cTn id="47" presetID="22" presetClass="entr" presetSubtype="8" fill="hold" grpId="0" nodeType="withEffect">
                                  <p:stCondLst>
                                    <p:cond delay="260"/>
                                  </p:stCondLst>
                                  <p:childTnLst>
                                    <p:set>
                                      <p:cBhvr>
                                        <p:cTn id="45" dur="1" fill="hold">
                                          <p:stCondLst>
                                            <p:cond delay="0"/>
                                          </p:stCondLst>
                                        </p:cTn>
                                        <p:tgtEl>
                                          <p:spTgt spid="21"/>
                                        </p:tgtEl>
                                        <p:attrNameLst>
                                          <p:attrName>style.visibility</p:attrName>
                                        </p:attrNameLst>
                                      </p:cBhvr>
                                      <p:to>
                                        <p:strVal val="visible"/>
                                      </p:to>
                                    </p:set>
                                    <p:animEffect transition="in" filter="wipe(left)">
                                      <p:cBhvr>
                                        <p:cTn id="46" dur="500"/>
                                        <p:tgtEl>
                                          <p:spTgt spid="21"/>
                                        </p:tgtEl>
                                      </p:cBhvr>
                                    </p:animEffect>
                                  </p:childTnLst>
                                </p:cTn>
                              </p:par>
                              <p:par>
                                <p:cTn id="50" presetID="22" presetClass="entr" presetSubtype="8" fill="hold" grpId="0" nodeType="withEffect">
                                  <p:stCondLst>
                                    <p:cond delay="290"/>
                                  </p:stCondLst>
                                  <p:childTnLst>
                                    <p:set>
                                      <p:cBhvr>
                                        <p:cTn id="48" dur="1" fill="hold">
                                          <p:stCondLst>
                                            <p:cond delay="0"/>
                                          </p:stCondLst>
                                        </p:cTn>
                                        <p:tgtEl>
                                          <p:spTgt spid="22"/>
                                        </p:tgtEl>
                                        <p:attrNameLst>
                                          <p:attrName>style.visibility</p:attrName>
                                        </p:attrNameLst>
                                      </p:cBhvr>
                                      <p:to>
                                        <p:strVal val="visible"/>
                                      </p:to>
                                    </p:set>
                                    <p:animEffect transition="in" filter="wipe(left)">
                                      <p:cBhvr>
                                        <p:cTn id="49" dur="500"/>
                                        <p:tgtEl>
                                          <p:spTgt spid="22"/>
                                        </p:tgtEl>
                                      </p:cBhvr>
                                    </p:animEffect>
                                  </p:childTnLst>
                                </p:cTn>
                              </p:par>
                              <p:par>
                                <p:cTn id="53" presetID="22" presetClass="entr" presetSubtype="8" fill="hold" grpId="0" nodeType="withEffect">
                                  <p:stCondLst>
                                    <p:cond delay="290"/>
                                  </p:stCondLst>
                                  <p:childTnLst>
                                    <p:set>
                                      <p:cBhvr>
                                        <p:cTn id="51" dur="1" fill="hold">
                                          <p:stCondLst>
                                            <p:cond delay="0"/>
                                          </p:stCondLst>
                                        </p:cTn>
                                        <p:tgtEl>
                                          <p:spTgt spid="23"/>
                                        </p:tgtEl>
                                        <p:attrNameLst>
                                          <p:attrName>style.visibility</p:attrName>
                                        </p:attrNameLst>
                                      </p:cBhvr>
                                      <p:to>
                                        <p:strVal val="visible"/>
                                      </p:to>
                                    </p:set>
                                    <p:animEffect transition="in" filter="wipe(left)">
                                      <p:cBhvr>
                                        <p:cTn id="52" dur="500"/>
                                        <p:tgtEl>
                                          <p:spTgt spid="23"/>
                                        </p:tgtEl>
                                      </p:cBhvr>
                                    </p:animEffect>
                                  </p:childTnLst>
                                </p:cTn>
                              </p:par>
                              <p:par>
                                <p:cTn id="58" presetID="2" presetClass="entr" presetSubtype="4" fill="hold" grpId="0" nodeType="withEffect">
                                  <p:stCondLst>
                                    <p:cond delay="300"/>
                                  </p:stCondLst>
                                  <p:childTnLst>
                                    <p:set>
                                      <p:cBhvr>
                                        <p:cTn id="54" dur="1" fill="hold">
                                          <p:stCondLst>
                                            <p:cond delay="0"/>
                                          </p:stCondLst>
                                        </p:cTn>
                                        <p:tgtEl>
                                          <p:spTgt spid="30"/>
                                        </p:tgtEl>
                                        <p:attrNameLst>
                                          <p:attrName>style.visibility</p:attrName>
                                        </p:attrNameLst>
                                      </p:cBhvr>
                                      <p:to>
                                        <p:strVal val="visible"/>
                                      </p:to>
                                    </p:set>
                                    <p:anim calcmode="lin" valueType="num">
                                      <p:cBhvr additive="base">
                                        <p:cTn id="55" dur="500" fill="hold"/>
                                        <p:tgtEl>
                                          <p:spTgt spid="30"/>
                                        </p:tgtEl>
                                        <p:attrNameLst>
                                          <p:attrName>ppt_x</p:attrName>
                                        </p:attrNameLst>
                                      </p:cBhvr>
                                      <p:tavLst>
                                        <p:tav tm="0">
                                          <p:val>
                                            <p:strVal val="#ppt_x"/>
                                          </p:val>
                                        </p:tav>
                                        <p:tav tm="100000">
                                          <p:val>
                                            <p:strVal val="#ppt_x"/>
                                          </p:val>
                                        </p:tav>
                                      </p:tavLst>
                                    </p:anim>
                                    <p:anim calcmode="lin" valueType="num">
                                      <p:cBhvr additive="base">
                                        <p:cTn id="56" dur="500" fill="hold"/>
                                        <p:tgtEl>
                                          <p:spTgt spid="30"/>
                                        </p:tgtEl>
                                        <p:attrNameLst>
                                          <p:attrName>ppt_y</p:attrName>
                                        </p:attrNameLst>
                                      </p:cBhvr>
                                      <p:tavLst>
                                        <p:tav tm="0">
                                          <p:val>
                                            <p:strVal val="#ppt_y+0.1"/>
                                          </p:val>
                                        </p:tav>
                                        <p:tav tm="100000">
                                          <p:val>
                                            <p:strVal val="#ppt_y"/>
                                          </p:val>
                                        </p:tav>
                                      </p:tavLst>
                                    </p:anim>
                                    <p:animEffect transition="in" filter="fade">
                                      <p:cBhvr>
                                        <p:cTn id="57" dur="500"/>
                                        <p:tgtEl>
                                          <p:spTgt spid="30"/>
                                        </p:tgtEl>
                                      </p:cBhvr>
                                    </p:animEffect>
                                  </p:childTnLst>
                                </p:cTn>
                              </p:par>
                              <p:par>
                                <p:cTn id="61" presetID="22" presetClass="entr" presetSubtype="8" fill="hold" grpId="0" nodeType="withEffect">
                                  <p:stCondLst>
                                    <p:cond delay="300"/>
                                  </p:stCondLst>
                                  <p:childTnLst>
                                    <p:set>
                                      <p:cBhvr>
                                        <p:cTn id="59" dur="1" fill="hold">
                                          <p:stCondLst>
                                            <p:cond delay="0"/>
                                          </p:stCondLst>
                                        </p:cTn>
                                        <p:tgtEl>
                                          <p:spTgt spid="31"/>
                                        </p:tgtEl>
                                        <p:attrNameLst>
                                          <p:attrName>style.visibility</p:attrName>
                                        </p:attrNameLst>
                                      </p:cBhvr>
                                      <p:to>
                                        <p:strVal val="visible"/>
                                      </p:to>
                                    </p:set>
                                    <p:animEffect transition="in" filter="wipe(left)">
                                      <p:cBhvr>
                                        <p:cTn id="60" dur="500"/>
                                        <p:tgtEl>
                                          <p:spTgt spid="31"/>
                                        </p:tgtEl>
                                      </p:cBhvr>
                                    </p:animEffect>
                                  </p:childTnLst>
                                </p:cTn>
                              </p:par>
                              <p:par>
                                <p:cTn id="64" presetID="22" presetClass="entr" presetSubtype="8" fill="hold" grpId="0" nodeType="withEffect">
                                  <p:stCondLst>
                                    <p:cond delay="300"/>
                                  </p:stCondLst>
                                  <p:childTnLst>
                                    <p:set>
                                      <p:cBhvr>
                                        <p:cTn id="62" dur="1" fill="hold">
                                          <p:stCondLst>
                                            <p:cond delay="0"/>
                                          </p:stCondLst>
                                        </p:cTn>
                                        <p:tgtEl>
                                          <p:spTgt spid="32"/>
                                        </p:tgtEl>
                                        <p:attrNameLst>
                                          <p:attrName>style.visibility</p:attrName>
                                        </p:attrNameLst>
                                      </p:cBhvr>
                                      <p:to>
                                        <p:strVal val="visible"/>
                                      </p:to>
                                    </p:set>
                                    <p:animEffect transition="in" filter="wipe(left)">
                                      <p:cBhvr>
                                        <p:cTn id="63" dur="500"/>
                                        <p:tgtEl>
                                          <p:spTgt spid="32"/>
                                        </p:tgtEl>
                                      </p:cBhvr>
                                    </p:animEffect>
                                  </p:childTnLst>
                                </p:cTn>
                              </p:par>
                              <p:par>
                                <p:cTn id="67" presetID="22" presetClass="entr" presetSubtype="8" fill="hold" grpId="0" nodeType="withEffect">
                                  <p:stCondLst>
                                    <p:cond delay="320"/>
                                  </p:stCondLst>
                                  <p:childTnLst>
                                    <p:set>
                                      <p:cBhvr>
                                        <p:cTn id="65" dur="1" fill="hold">
                                          <p:stCondLst>
                                            <p:cond delay="0"/>
                                          </p:stCondLst>
                                        </p:cTn>
                                        <p:tgtEl>
                                          <p:spTgt spid="24"/>
                                        </p:tgtEl>
                                        <p:attrNameLst>
                                          <p:attrName>style.visibility</p:attrName>
                                        </p:attrNameLst>
                                      </p:cBhvr>
                                      <p:to>
                                        <p:strVal val="visible"/>
                                      </p:to>
                                    </p:set>
                                    <p:animEffect transition="in" filter="wipe(left)">
                                      <p:cBhvr>
                                        <p:cTn id="66" dur="500"/>
                                        <p:tgtEl>
                                          <p:spTgt spid="24"/>
                                        </p:tgtEl>
                                      </p:cBhvr>
                                    </p:animEffect>
                                  </p:childTnLst>
                                </p:cTn>
                              </p:par>
                              <p:par>
                                <p:cTn id="70" presetID="22" presetClass="entr" presetSubtype="8" fill="hold" grpId="0" nodeType="withEffect">
                                  <p:stCondLst>
                                    <p:cond delay="320"/>
                                  </p:stCondLst>
                                  <p:childTnLst>
                                    <p:set>
                                      <p:cBhvr>
                                        <p:cTn id="68" dur="1" fill="hold">
                                          <p:stCondLst>
                                            <p:cond delay="0"/>
                                          </p:stCondLst>
                                        </p:cTn>
                                        <p:tgtEl>
                                          <p:spTgt spid="25"/>
                                        </p:tgtEl>
                                        <p:attrNameLst>
                                          <p:attrName>style.visibility</p:attrName>
                                        </p:attrNameLst>
                                      </p:cBhvr>
                                      <p:to>
                                        <p:strVal val="visible"/>
                                      </p:to>
                                    </p:set>
                                    <p:animEffect transition="in" filter="wipe(left)">
                                      <p:cBhvr>
                                        <p:cTn id="69" dur="500"/>
                                        <p:tgtEl>
                                          <p:spTgt spid="25"/>
                                        </p:tgtEl>
                                      </p:cBhvr>
                                    </p:animEffect>
                                  </p:childTnLst>
                                </p:cTn>
                              </p:par>
                              <p:par>
                                <p:cTn id="73" presetID="22" presetClass="entr" presetSubtype="8" fill="hold" grpId="0" nodeType="withEffect">
                                  <p:stCondLst>
                                    <p:cond delay="330"/>
                                  </p:stCondLst>
                                  <p:childTnLst>
                                    <p:set>
                                      <p:cBhvr>
                                        <p:cTn id="71" dur="1" fill="hold">
                                          <p:stCondLst>
                                            <p:cond delay="0"/>
                                          </p:stCondLst>
                                        </p:cTn>
                                        <p:tgtEl>
                                          <p:spTgt spid="33"/>
                                        </p:tgtEl>
                                        <p:attrNameLst>
                                          <p:attrName>style.visibility</p:attrName>
                                        </p:attrNameLst>
                                      </p:cBhvr>
                                      <p:to>
                                        <p:strVal val="visible"/>
                                      </p:to>
                                    </p:set>
                                    <p:animEffect transition="in" filter="wipe(left)">
                                      <p:cBhvr>
                                        <p:cTn id="72" dur="500"/>
                                        <p:tgtEl>
                                          <p:spTgt spid="33"/>
                                        </p:tgtEl>
                                      </p:cBhvr>
                                    </p:animEffect>
                                  </p:childTnLst>
                                </p:cTn>
                              </p:par>
                              <p:par>
                                <p:cTn id="76" presetID="22" presetClass="entr" presetSubtype="8" fill="hold" grpId="0" nodeType="withEffect">
                                  <p:stCondLst>
                                    <p:cond delay="330"/>
                                  </p:stCondLst>
                                  <p:childTnLst>
                                    <p:set>
                                      <p:cBhvr>
                                        <p:cTn id="74" dur="1" fill="hold">
                                          <p:stCondLst>
                                            <p:cond delay="0"/>
                                          </p:stCondLst>
                                        </p:cTn>
                                        <p:tgtEl>
                                          <p:spTgt spid="34"/>
                                        </p:tgtEl>
                                        <p:attrNameLst>
                                          <p:attrName>style.visibility</p:attrName>
                                        </p:attrNameLst>
                                      </p:cBhvr>
                                      <p:to>
                                        <p:strVal val="visible"/>
                                      </p:to>
                                    </p:set>
                                    <p:animEffect transition="in" filter="wipe(left)">
                                      <p:cBhvr>
                                        <p:cTn id="75" dur="500"/>
                                        <p:tgtEl>
                                          <p:spTgt spid="34"/>
                                        </p:tgtEl>
                                      </p:cBhvr>
                                    </p:animEffect>
                                  </p:childTnLst>
                                </p:cTn>
                              </p:par>
                              <p:par>
                                <p:cTn id="79" presetID="22" presetClass="entr" presetSubtype="8" fill="hold" grpId="0" nodeType="withEffect">
                                  <p:stCondLst>
                                    <p:cond delay="350"/>
                                  </p:stCondLst>
                                  <p:childTnLst>
                                    <p:set>
                                      <p:cBhvr>
                                        <p:cTn id="77" dur="1" fill="hold">
                                          <p:stCondLst>
                                            <p:cond delay="0"/>
                                          </p:stCondLst>
                                        </p:cTn>
                                        <p:tgtEl>
                                          <p:spTgt spid="26"/>
                                        </p:tgtEl>
                                        <p:attrNameLst>
                                          <p:attrName>style.visibility</p:attrName>
                                        </p:attrNameLst>
                                      </p:cBhvr>
                                      <p:to>
                                        <p:strVal val="visible"/>
                                      </p:to>
                                    </p:set>
                                    <p:animEffect transition="in" filter="wipe(left)">
                                      <p:cBhvr>
                                        <p:cTn id="78" dur="500"/>
                                        <p:tgtEl>
                                          <p:spTgt spid="26"/>
                                        </p:tgtEl>
                                      </p:cBhvr>
                                    </p:animEffect>
                                  </p:childTnLst>
                                </p:cTn>
                              </p:par>
                              <p:par>
                                <p:cTn id="82" presetID="22" presetClass="entr" presetSubtype="8" fill="hold" grpId="0" nodeType="withEffect">
                                  <p:stCondLst>
                                    <p:cond delay="350"/>
                                  </p:stCondLst>
                                  <p:childTnLst>
                                    <p:set>
                                      <p:cBhvr>
                                        <p:cTn id="80" dur="1" fill="hold">
                                          <p:stCondLst>
                                            <p:cond delay="0"/>
                                          </p:stCondLst>
                                        </p:cTn>
                                        <p:tgtEl>
                                          <p:spTgt spid="27"/>
                                        </p:tgtEl>
                                        <p:attrNameLst>
                                          <p:attrName>style.visibility</p:attrName>
                                        </p:attrNameLst>
                                      </p:cBhvr>
                                      <p:to>
                                        <p:strVal val="visible"/>
                                      </p:to>
                                    </p:set>
                                    <p:animEffect transition="in" filter="wipe(left)">
                                      <p:cBhvr>
                                        <p:cTn id="81" dur="500"/>
                                        <p:tgtEl>
                                          <p:spTgt spid="27"/>
                                        </p:tgtEl>
                                      </p:cBhvr>
                                    </p:animEffect>
                                  </p:childTnLst>
                                </p:cTn>
                              </p:par>
                              <p:par>
                                <p:cTn id="85" presetID="22" presetClass="entr" presetSubtype="8" fill="hold" grpId="0" nodeType="withEffect">
                                  <p:stCondLst>
                                    <p:cond delay="360"/>
                                  </p:stCondLst>
                                  <p:childTnLst>
                                    <p:set>
                                      <p:cBhvr>
                                        <p:cTn id="83" dur="1" fill="hold">
                                          <p:stCondLst>
                                            <p:cond delay="0"/>
                                          </p:stCondLst>
                                        </p:cTn>
                                        <p:tgtEl>
                                          <p:spTgt spid="35"/>
                                        </p:tgtEl>
                                        <p:attrNameLst>
                                          <p:attrName>style.visibility</p:attrName>
                                        </p:attrNameLst>
                                      </p:cBhvr>
                                      <p:to>
                                        <p:strVal val="visible"/>
                                      </p:to>
                                    </p:set>
                                    <p:animEffect transition="in" filter="wipe(left)">
                                      <p:cBhvr>
                                        <p:cTn id="84" dur="500"/>
                                        <p:tgtEl>
                                          <p:spTgt spid="35"/>
                                        </p:tgtEl>
                                      </p:cBhvr>
                                    </p:animEffect>
                                  </p:childTnLst>
                                </p:cTn>
                              </p:par>
                              <p:par>
                                <p:cTn id="88" presetID="22" presetClass="entr" presetSubtype="8" fill="hold" grpId="0" nodeType="withEffect">
                                  <p:stCondLst>
                                    <p:cond delay="360"/>
                                  </p:stCondLst>
                                  <p:childTnLst>
                                    <p:set>
                                      <p:cBhvr>
                                        <p:cTn id="86" dur="1" fill="hold">
                                          <p:stCondLst>
                                            <p:cond delay="0"/>
                                          </p:stCondLst>
                                        </p:cTn>
                                        <p:tgtEl>
                                          <p:spTgt spid="36"/>
                                        </p:tgtEl>
                                        <p:attrNameLst>
                                          <p:attrName>style.visibility</p:attrName>
                                        </p:attrNameLst>
                                      </p:cBhvr>
                                      <p:to>
                                        <p:strVal val="visible"/>
                                      </p:to>
                                    </p:set>
                                    <p:animEffect transition="in" filter="wipe(left)">
                                      <p:cBhvr>
                                        <p:cTn id="87" dur="500"/>
                                        <p:tgtEl>
                                          <p:spTgt spid="36"/>
                                        </p:tgtEl>
                                      </p:cBhvr>
                                    </p:animEffect>
                                  </p:childTnLst>
                                </p:cTn>
                              </p:par>
                              <p:par>
                                <p:cTn id="91" presetID="22" presetClass="entr" presetSubtype="8" fill="hold" grpId="0" nodeType="withEffect">
                                  <p:stCondLst>
                                    <p:cond delay="380"/>
                                  </p:stCondLst>
                                  <p:childTnLst>
                                    <p:set>
                                      <p:cBhvr>
                                        <p:cTn id="89" dur="1" fill="hold">
                                          <p:stCondLst>
                                            <p:cond delay="0"/>
                                          </p:stCondLst>
                                        </p:cTn>
                                        <p:tgtEl>
                                          <p:spTgt spid="28"/>
                                        </p:tgtEl>
                                        <p:attrNameLst>
                                          <p:attrName>style.visibility</p:attrName>
                                        </p:attrNameLst>
                                      </p:cBhvr>
                                      <p:to>
                                        <p:strVal val="visible"/>
                                      </p:to>
                                    </p:set>
                                    <p:animEffect transition="in" filter="wipe(left)">
                                      <p:cBhvr>
                                        <p:cTn id="90" dur="500"/>
                                        <p:tgtEl>
                                          <p:spTgt spid="28"/>
                                        </p:tgtEl>
                                      </p:cBhvr>
                                    </p:animEffect>
                                  </p:childTnLst>
                                </p:cTn>
                              </p:par>
                              <p:par>
                                <p:cTn id="94" presetID="22" presetClass="entr" presetSubtype="8" fill="hold" grpId="0" nodeType="withEffect">
                                  <p:stCondLst>
                                    <p:cond delay="380"/>
                                  </p:stCondLst>
                                  <p:childTnLst>
                                    <p:set>
                                      <p:cBhvr>
                                        <p:cTn id="92" dur="1" fill="hold">
                                          <p:stCondLst>
                                            <p:cond delay="0"/>
                                          </p:stCondLst>
                                        </p:cTn>
                                        <p:tgtEl>
                                          <p:spTgt spid="29"/>
                                        </p:tgtEl>
                                        <p:attrNameLst>
                                          <p:attrName>style.visibility</p:attrName>
                                        </p:attrNameLst>
                                      </p:cBhvr>
                                      <p:to>
                                        <p:strVal val="visible"/>
                                      </p:to>
                                    </p:set>
                                    <p:animEffect transition="in" filter="wipe(left)">
                                      <p:cBhvr>
                                        <p:cTn id="93" dur="500"/>
                                        <p:tgtEl>
                                          <p:spTgt spid="29"/>
                                        </p:tgtEl>
                                      </p:cBhvr>
                                    </p:animEffect>
                                  </p:childTnLst>
                                </p:cTn>
                              </p:par>
                              <p:par>
                                <p:cTn id="97" presetID="22" presetClass="entr" presetSubtype="8" fill="hold" grpId="0" nodeType="withEffect">
                                  <p:stCondLst>
                                    <p:cond delay="390"/>
                                  </p:stCondLst>
                                  <p:childTnLst>
                                    <p:set>
                                      <p:cBhvr>
                                        <p:cTn id="95" dur="1" fill="hold">
                                          <p:stCondLst>
                                            <p:cond delay="0"/>
                                          </p:stCondLst>
                                        </p:cTn>
                                        <p:tgtEl>
                                          <p:spTgt spid="37"/>
                                        </p:tgtEl>
                                        <p:attrNameLst>
                                          <p:attrName>style.visibility</p:attrName>
                                        </p:attrNameLst>
                                      </p:cBhvr>
                                      <p:to>
                                        <p:strVal val="visible"/>
                                      </p:to>
                                    </p:set>
                                    <p:animEffect transition="in" filter="wipe(left)">
                                      <p:cBhvr>
                                        <p:cTn id="96" dur="500"/>
                                        <p:tgtEl>
                                          <p:spTgt spid="37"/>
                                        </p:tgtEl>
                                      </p:cBhvr>
                                    </p:animEffect>
                                  </p:childTnLst>
                                </p:cTn>
                              </p:par>
                              <p:par>
                                <p:cTn id="100" presetID="22" presetClass="entr" presetSubtype="8" fill="hold" grpId="0" nodeType="withEffect">
                                  <p:stCondLst>
                                    <p:cond delay="390"/>
                                  </p:stCondLst>
                                  <p:childTnLst>
                                    <p:set>
                                      <p:cBhvr>
                                        <p:cTn id="98" dur="1" fill="hold">
                                          <p:stCondLst>
                                            <p:cond delay="0"/>
                                          </p:stCondLst>
                                        </p:cTn>
                                        <p:tgtEl>
                                          <p:spTgt spid="38"/>
                                        </p:tgtEl>
                                        <p:attrNameLst>
                                          <p:attrName>style.visibility</p:attrName>
                                        </p:attrNameLst>
                                      </p:cBhvr>
                                      <p:to>
                                        <p:strVal val="visible"/>
                                      </p:to>
                                    </p:set>
                                    <p:animEffect transition="in" filter="wipe(left)">
                                      <p:cBhvr>
                                        <p:cTn id="99" dur="500"/>
                                        <p:tgtEl>
                                          <p:spTgt spid="38"/>
                                        </p:tgtEl>
                                      </p:cBhvr>
                                    </p:animEffect>
                                  </p:childTnLst>
                                </p:cTn>
                              </p:par>
                              <p:par>
                                <p:cTn id="105" presetID="2" presetClass="entr" presetSubtype="4" fill="hold" grpId="0" nodeType="withEffect">
                                  <p:stCondLst>
                                    <p:cond delay="400"/>
                                  </p:stCondLst>
                                  <p:childTnLst>
                                    <p:set>
                                      <p:cBhvr>
                                        <p:cTn id="101" dur="1" fill="hold">
                                          <p:stCondLst>
                                            <p:cond delay="0"/>
                                          </p:stCondLst>
                                        </p:cTn>
                                        <p:tgtEl>
                                          <p:spTgt spid="41"/>
                                        </p:tgtEl>
                                        <p:attrNameLst>
                                          <p:attrName>style.visibility</p:attrName>
                                        </p:attrNameLst>
                                      </p:cBhvr>
                                      <p:to>
                                        <p:strVal val="visible"/>
                                      </p:to>
                                    </p:set>
                                    <p:anim calcmode="lin" valueType="num">
                                      <p:cBhvr additive="base">
                                        <p:cTn id="102" dur="500" fill="hold"/>
                                        <p:tgtEl>
                                          <p:spTgt spid="41"/>
                                        </p:tgtEl>
                                        <p:attrNameLst>
                                          <p:attrName>ppt_x</p:attrName>
                                        </p:attrNameLst>
                                      </p:cBhvr>
                                      <p:tavLst>
                                        <p:tav tm="0">
                                          <p:val>
                                            <p:strVal val="#ppt_x"/>
                                          </p:val>
                                        </p:tav>
                                        <p:tav tm="100000">
                                          <p:val>
                                            <p:strVal val="#ppt_x"/>
                                          </p:val>
                                        </p:tav>
                                      </p:tavLst>
                                    </p:anim>
                                    <p:anim calcmode="lin" valueType="num">
                                      <p:cBhvr additive="base">
                                        <p:cTn id="103" dur="500" fill="hold"/>
                                        <p:tgtEl>
                                          <p:spTgt spid="41"/>
                                        </p:tgtEl>
                                        <p:attrNameLst>
                                          <p:attrName>ppt_y</p:attrName>
                                        </p:attrNameLst>
                                      </p:cBhvr>
                                      <p:tavLst>
                                        <p:tav tm="0">
                                          <p:val>
                                            <p:strVal val="#ppt_y+0.1"/>
                                          </p:val>
                                        </p:tav>
                                        <p:tav tm="100000">
                                          <p:val>
                                            <p:strVal val="#ppt_y"/>
                                          </p:val>
                                        </p:tav>
                                      </p:tavLst>
                                    </p:anim>
                                    <p:animEffect transition="in" filter="fade">
                                      <p:cBhvr>
                                        <p:cTn id="104" dur="500"/>
                                        <p:tgtEl>
                                          <p:spTgt spid="41"/>
                                        </p:tgtEl>
                                      </p:cBhvr>
                                    </p:animEffect>
                                  </p:childTnLst>
                                </p:cTn>
                              </p:par>
                              <p:par>
                                <p:cTn id="108" presetID="22" presetClass="entr" presetSubtype="8" fill="hold" grpId="0" nodeType="withEffect">
                                  <p:stCondLst>
                                    <p:cond delay="400"/>
                                  </p:stCondLst>
                                  <p:childTnLst>
                                    <p:set>
                                      <p:cBhvr>
                                        <p:cTn id="106" dur="1" fill="hold">
                                          <p:stCondLst>
                                            <p:cond delay="0"/>
                                          </p:stCondLst>
                                        </p:cTn>
                                        <p:tgtEl>
                                          <p:spTgt spid="42"/>
                                        </p:tgtEl>
                                        <p:attrNameLst>
                                          <p:attrName>style.visibility</p:attrName>
                                        </p:attrNameLst>
                                      </p:cBhvr>
                                      <p:to>
                                        <p:strVal val="visible"/>
                                      </p:to>
                                    </p:set>
                                    <p:animEffect transition="in" filter="wipe(left)">
                                      <p:cBhvr>
                                        <p:cTn id="107" dur="500"/>
                                        <p:tgtEl>
                                          <p:spTgt spid="42"/>
                                        </p:tgtEl>
                                      </p:cBhvr>
                                    </p:animEffect>
                                  </p:childTnLst>
                                </p:cTn>
                              </p:par>
                              <p:par>
                                <p:cTn id="111" presetID="22" presetClass="entr" presetSubtype="8" fill="hold" grpId="0" nodeType="withEffect">
                                  <p:stCondLst>
                                    <p:cond delay="400"/>
                                  </p:stCondLst>
                                  <p:childTnLst>
                                    <p:set>
                                      <p:cBhvr>
                                        <p:cTn id="109" dur="1" fill="hold">
                                          <p:stCondLst>
                                            <p:cond delay="0"/>
                                          </p:stCondLst>
                                        </p:cTn>
                                        <p:tgtEl>
                                          <p:spTgt spid="43"/>
                                        </p:tgtEl>
                                        <p:attrNameLst>
                                          <p:attrName>style.visibility</p:attrName>
                                        </p:attrNameLst>
                                      </p:cBhvr>
                                      <p:to>
                                        <p:strVal val="visible"/>
                                      </p:to>
                                    </p:set>
                                    <p:animEffect transition="in" filter="wipe(left)">
                                      <p:cBhvr>
                                        <p:cTn id="110" dur="500"/>
                                        <p:tgtEl>
                                          <p:spTgt spid="43"/>
                                        </p:tgtEl>
                                      </p:cBhvr>
                                    </p:animEffect>
                                  </p:childTnLst>
                                </p:cTn>
                              </p:par>
                              <p:par>
                                <p:cTn id="114" presetID="22" presetClass="entr" presetSubtype="8" fill="hold" grpId="0" nodeType="withEffect">
                                  <p:stCondLst>
                                    <p:cond delay="420"/>
                                  </p:stCondLst>
                                  <p:childTnLst>
                                    <p:set>
                                      <p:cBhvr>
                                        <p:cTn id="112" dur="1" fill="hold">
                                          <p:stCondLst>
                                            <p:cond delay="0"/>
                                          </p:stCondLst>
                                        </p:cTn>
                                        <p:tgtEl>
                                          <p:spTgt spid="39"/>
                                        </p:tgtEl>
                                        <p:attrNameLst>
                                          <p:attrName>style.visibility</p:attrName>
                                        </p:attrNameLst>
                                      </p:cBhvr>
                                      <p:to>
                                        <p:strVal val="visible"/>
                                      </p:to>
                                    </p:set>
                                    <p:animEffect transition="in" filter="wipe(left)">
                                      <p:cBhvr>
                                        <p:cTn id="113" dur="500"/>
                                        <p:tgtEl>
                                          <p:spTgt spid="39"/>
                                        </p:tgtEl>
                                      </p:cBhvr>
                                    </p:animEffect>
                                  </p:childTnLst>
                                </p:cTn>
                              </p:par>
                              <p:par>
                                <p:cTn id="117" presetID="22" presetClass="entr" presetSubtype="8" fill="hold" grpId="0" nodeType="withEffect">
                                  <p:stCondLst>
                                    <p:cond delay="420"/>
                                  </p:stCondLst>
                                  <p:childTnLst>
                                    <p:set>
                                      <p:cBhvr>
                                        <p:cTn id="115" dur="1" fill="hold">
                                          <p:stCondLst>
                                            <p:cond delay="0"/>
                                          </p:stCondLst>
                                        </p:cTn>
                                        <p:tgtEl>
                                          <p:spTgt spid="40"/>
                                        </p:tgtEl>
                                        <p:attrNameLst>
                                          <p:attrName>style.visibility</p:attrName>
                                        </p:attrNameLst>
                                      </p:cBhvr>
                                      <p:to>
                                        <p:strVal val="visible"/>
                                      </p:to>
                                    </p:set>
                                    <p:animEffect transition="in" filter="wipe(left)">
                                      <p:cBhvr>
                                        <p:cTn id="116" dur="500"/>
                                        <p:tgtEl>
                                          <p:spTgt spid="40"/>
                                        </p:tgtEl>
                                      </p:cBhvr>
                                    </p:animEffect>
                                  </p:childTnLst>
                                </p:cTn>
                              </p:par>
                              <p:par>
                                <p:cTn id="120" presetID="22" presetClass="entr" presetSubtype="8" fill="hold" grpId="0" nodeType="withEffect">
                                  <p:stCondLst>
                                    <p:cond delay="4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9" dur="500"/>
                                        <p:tgtEl>
                                          <p:spTgt spid="44"/>
                                        </p:tgtEl>
                                      </p:cBhvr>
                                    </p:animEffect>
                                  </p:childTnLst>
                                </p:cTn>
                              </p:par>
                              <p:par>
                                <p:cTn id="123" presetID="22" presetClass="entr" presetSubtype="8" fill="hold" grpId="0" nodeType="withEffect">
                                  <p:stCondLst>
                                    <p:cond delay="43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2" dur="500"/>
                                        <p:tgtEl>
                                          <p:spTgt spid="45"/>
                                        </p:tgtEl>
                                      </p:cBhvr>
                                    </p:animEffect>
                                  </p:childTnLst>
                                </p:cTn>
                              </p:par>
                              <p:par>
                                <p:cTn id="126" presetID="22" presetClass="entr" presetSubtype="8" fill="hold" grpId="0" nodeType="withEffect">
                                  <p:stCondLst>
                                    <p:cond delay="46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5" dur="500"/>
                                        <p:tgtEl>
                                          <p:spTgt spid="46"/>
                                        </p:tgtEl>
                                      </p:cBhvr>
                                    </p:animEffect>
                                  </p:childTnLst>
                                </p:cTn>
                              </p:par>
                              <p:par>
                                <p:cTn id="129" presetID="22" presetClass="entr" presetSubtype="8" fill="hold" grpId="0" nodeType="withEffect">
                                  <p:stCondLst>
                                    <p:cond delay="4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8" dur="500"/>
                                        <p:tgtEl>
                                          <p:spTgt spid="47"/>
                                        </p:tgtEl>
                                      </p:cBhvr>
                                    </p:animEffect>
                                  </p:childTnLst>
                                </p:cTn>
                              </p:par>
                              <p:par>
                                <p:cTn id="132" presetID="22" presetClass="entr" presetSubtype="8" fill="hold" grpId="0" nodeType="withEffect">
                                  <p:stCondLst>
                                    <p:cond delay="49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31" dur="500"/>
                                        <p:tgtEl>
                                          <p:spTgt spid="48"/>
                                        </p:tgtEl>
                                      </p:cBhvr>
                                    </p:animEffect>
                                  </p:childTnLst>
                                </p:cTn>
                              </p:par>
                              <p:par>
                                <p:cTn id="135" presetID="22" presetClass="entr" presetSubtype="8" fill="hold" grpId="0" nodeType="withEffect">
                                  <p:stCondLst>
                                    <p:cond delay="49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4" dur="500"/>
                                        <p:tgtEl>
                                          <p:spTgt spid="49"/>
                                        </p:tgtEl>
                                      </p:cBhvr>
                                    </p:animEffect>
                                  </p:childTnLst>
                                </p:cTn>
                              </p:par>
                              <p:par>
                                <p:cTn id="138" presetID="22" presetClass="entr" presetSubtype="8" fill="hold" grpId="0" nodeType="withEffect">
                                  <p:stCondLst>
                                    <p:cond delay="52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7" dur="500"/>
                                        <p:tgtEl>
                                          <p:spTgt spid="50"/>
                                        </p:tgtEl>
                                      </p:cBhvr>
                                    </p:animEffect>
                                  </p:childTnLst>
                                </p:cTn>
                              </p:par>
                              <p:par>
                                <p:cTn id="141" presetID="22" presetClass="entr" presetSubtype="8" fill="hold" grpId="0" nodeType="withEffect">
                                  <p:stCondLst>
                                    <p:cond delay="52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40" dur="500"/>
                                        <p:tgtEl>
                                          <p:spTgt spid="51"/>
                                        </p:tgtEl>
                                      </p:cBhvr>
                                    </p:animEffect>
                                  </p:childTnLst>
                                </p:cTn>
                              </p:par>
                              <p:par>
                                <p:cTn id="144" presetID="22" presetClass="entr" presetSubtype="8" fill="hold" grpId="0" nodeType="withEffect">
                                  <p:stCondLst>
                                    <p:cond delay="55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3" dur="500"/>
                                        <p:tgtEl>
                                          <p:spTgt spid="52"/>
                                        </p:tgtEl>
                                      </p:cBhvr>
                                    </p:animEffect>
                                  </p:childTnLst>
                                </p:cTn>
                              </p:par>
                              <p:par>
                                <p:cTn id="147" presetID="22" presetClass="entr" presetSubtype="8" fill="hold" grpId="0" nodeType="withEffect">
                                  <p:stCondLst>
                                    <p:cond delay="55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6" dur="500"/>
                                        <p:tgtEl>
                                          <p:spTgt spid="53"/>
                                        </p:tgtEl>
                                      </p:cBhvr>
                                    </p:animEffect>
                                  </p:childTnLst>
                                </p:cTn>
                              </p:par>
                            </p:childTnLst>
                          </p:cTn>
                        </p:par>
                      </p:childTnLst>
                    </p:cTn>
                  </p:par>
                  <p:par>
                    <p:cTn id="148" fill="hold">
                      <p:stCondLst>
                        <p:cond delay="indefinite"/>
                      </p:stCondLst>
                      <p:childTnLst>
                        <p:par>
                          <p:cTn id="149" fill="hold">
                            <p:stCondLst>
                              <p:cond delay="0"/>
                            </p:stCondLst>
                            <p:childTnLst>
                              <p:par>
                                <p:cTn id="152" presetID="10" presetClass="entr" presetSubtype="0" fill="hold" grpId="0" nodeType="clickEffect">
                                  <p:stCondLst>
                                    <p:cond delay="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1" dur="500"/>
                                        <p:tgtEl>
                                          <p:spTgt spid="54"/>
                                        </p:tgtEl>
                                      </p:cBhvr>
                                    </p:animEffect>
                                  </p:childTnLst>
                                </p:cTn>
                              </p:par>
                              <p:par>
                                <p:cTn id="155" presetID="10" presetClass="entr" presetSubtype="0" fill="hold" grpId="0" nodeType="withEffect">
                                  <p:stCondLst>
                                    <p:cond delay="100"/>
                                  </p:stCondLst>
                                  <p:childTnLst>
                                    <p:set>
                                      <p:cBhvr>
                                        <p:cTn id="153" dur="1" fill="hold">
                                          <p:stCondLst>
                                            <p:cond delay="0"/>
                                          </p:stCondLst>
                                        </p:cTn>
                                        <p:tgtEl>
                                          <p:spTgt spid="55"/>
                                        </p:tgtEl>
                                        <p:attrNameLst>
                                          <p:attrName>style.visibility</p:attrName>
                                        </p:attrNameLst>
                                      </p:cBhvr>
                                      <p:to>
                                        <p:strVal val="visible"/>
                                      </p:to>
                                    </p:set>
                                    <p:animEffect transition="in" filter="fade">
                                      <p:cBhvr>
                                        <p:cTn id="154" dur="500"/>
                                        <p:tgtEl>
                                          <p:spTgt spid="55"/>
                                        </p:tgtEl>
                                      </p:cBhvr>
                                    </p:animEffect>
                                  </p:childTnLst>
                                </p:cTn>
                              </p:par>
                              <p:par>
                                <p:cTn id="158" presetID="10" presetClass="entr" presetSubtype="0" fill="hold" grpId="0" nodeType="withEffect">
                                  <p:stCondLst>
                                    <p:cond delay="20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500"/>
                                        <p:tgtEl>
                                          <p:spTgt spid="56"/>
                                        </p:tgtEl>
                                      </p:cBhvr>
                                    </p:animEffect>
                                  </p:childTnLst>
                                </p:cTn>
                              </p:par>
                            </p:childTnLst>
                          </p:cTn>
                        </p:par>
                      </p:childTnLst>
                    </p:cTn>
                  </p:par>
                  <p:par>
                    <p:cTn id="159" fill="hold">
                      <p:stCondLst>
                        <p:cond delay="indefinite"/>
                      </p:stCondLst>
                      <p:childTnLst>
                        <p:par>
                          <p:cTn id="160" fill="hold">
                            <p:stCondLst>
                              <p:cond delay="0"/>
                            </p:stCondLst>
                            <p:childTnLst>
                              <p:par>
                                <p:cTn id="165" presetID="2" presetClass="entr" presetSubtype="4" fill="hold" grpId="0" nodeType="clickEffect">
                                  <p:stCondLst>
                                    <p:cond delay="0"/>
                                  </p:stCondLst>
                                  <p:childTnLst>
                                    <p:set>
                                      <p:cBhvr>
                                        <p:cTn id="161" dur="1" fill="hold">
                                          <p:stCondLst>
                                            <p:cond delay="0"/>
                                          </p:stCondLst>
                                        </p:cTn>
                                        <p:tgtEl>
                                          <p:spTgt spid="57"/>
                                        </p:tgtEl>
                                        <p:attrNameLst>
                                          <p:attrName>style.visibility</p:attrName>
                                        </p:attrNameLst>
                                      </p:cBhvr>
                                      <p:to>
                                        <p:strVal val="visible"/>
                                      </p:to>
                                    </p:set>
                                    <p:anim calcmode="lin" valueType="num">
                                      <p:cBhvr additive="base">
                                        <p:cTn id="162" dur="500" fill="hold"/>
                                        <p:tgtEl>
                                          <p:spTgt spid="57"/>
                                        </p:tgtEl>
                                        <p:attrNameLst>
                                          <p:attrName>ppt_x</p:attrName>
                                        </p:attrNameLst>
                                      </p:cBhvr>
                                      <p:tavLst>
                                        <p:tav tm="0">
                                          <p:val>
                                            <p:strVal val="#ppt_x"/>
                                          </p:val>
                                        </p:tav>
                                        <p:tav tm="100000">
                                          <p:val>
                                            <p:strVal val="#ppt_x"/>
                                          </p:val>
                                        </p:tav>
                                      </p:tavLst>
                                    </p:anim>
                                    <p:anim calcmode="lin" valueType="num">
                                      <p:cBhvr additive="base">
                                        <p:cTn id="163" dur="500" fill="hold"/>
                                        <p:tgtEl>
                                          <p:spTgt spid="57"/>
                                        </p:tgtEl>
                                        <p:attrNameLst>
                                          <p:attrName>ppt_y</p:attrName>
                                        </p:attrNameLst>
                                      </p:cBhvr>
                                      <p:tavLst>
                                        <p:tav tm="0">
                                          <p:val>
                                            <p:strVal val="#ppt_y+0.1"/>
                                          </p:val>
                                        </p:tav>
                                        <p:tav tm="100000">
                                          <p:val>
                                            <p:strVal val="#ppt_y"/>
                                          </p:val>
                                        </p:tav>
                                      </p:tavLst>
                                    </p:anim>
                                    <p:animEffect transition="in" filter="fade">
                                      <p:cBhvr>
                                        <p:cTn id="164" dur="500"/>
                                        <p:tgtEl>
                                          <p:spTgt spid="57"/>
                                        </p:tgtEl>
                                      </p:cBhvr>
                                    </p:animEffect>
                                  </p:childTnLst>
                                </p:cTn>
                              </p:par>
                              <p:par>
                                <p:cTn id="170" presetID="2" presetClass="entr" presetSubtype="4" fill="hold" grpId="0" nodeType="withEffect">
                                  <p:stCondLst>
                                    <p:cond delay="0"/>
                                  </p:stCondLst>
                                  <p:childTnLst>
                                    <p:set>
                                      <p:cBhvr>
                                        <p:cTn id="166" dur="1" fill="hold">
                                          <p:stCondLst>
                                            <p:cond delay="0"/>
                                          </p:stCondLst>
                                        </p:cTn>
                                        <p:tgtEl>
                                          <p:spTgt spid="58"/>
                                        </p:tgtEl>
                                        <p:attrNameLst>
                                          <p:attrName>style.visibility</p:attrName>
                                        </p:attrNameLst>
                                      </p:cBhvr>
                                      <p:to>
                                        <p:strVal val="visible"/>
                                      </p:to>
                                    </p:set>
                                    <p:anim calcmode="lin" valueType="num">
                                      <p:cBhvr additive="base">
                                        <p:cTn id="167" dur="500" fill="hold"/>
                                        <p:tgtEl>
                                          <p:spTgt spid="58"/>
                                        </p:tgtEl>
                                        <p:attrNameLst>
                                          <p:attrName>ppt_x</p:attrName>
                                        </p:attrNameLst>
                                      </p:cBhvr>
                                      <p:tavLst>
                                        <p:tav tm="0">
                                          <p:val>
                                            <p:strVal val="#ppt_x"/>
                                          </p:val>
                                        </p:tav>
                                        <p:tav tm="100000">
                                          <p:val>
                                            <p:strVal val="#ppt_x"/>
                                          </p:val>
                                        </p:tav>
                                      </p:tavLst>
                                    </p:anim>
                                    <p:anim calcmode="lin" valueType="num">
                                      <p:cBhvr additive="base">
                                        <p:cTn id="168" dur="500" fill="hold"/>
                                        <p:tgtEl>
                                          <p:spTgt spid="58"/>
                                        </p:tgtEl>
                                        <p:attrNameLst>
                                          <p:attrName>ppt_y</p:attrName>
                                        </p:attrNameLst>
                                      </p:cBhvr>
                                      <p:tavLst>
                                        <p:tav tm="0">
                                          <p:val>
                                            <p:strVal val="#ppt_y+0.1"/>
                                          </p:val>
                                        </p:tav>
                                        <p:tav tm="100000">
                                          <p:val>
                                            <p:strVal val="#ppt_y"/>
                                          </p:val>
                                        </p:tav>
                                      </p:tavLst>
                                    </p:anim>
                                    <p:animEffect transition="in" filter="fade">
                                      <p:cBhvr>
                                        <p:cTn id="169" dur="500"/>
                                        <p:tgtEl>
                                          <p:spTgt spid="58"/>
                                        </p:tgtEl>
                                      </p:cBhvr>
                                    </p:animEffect>
                                  </p:childTnLst>
                                </p:cTn>
                              </p:par>
                              <p:par>
                                <p:cTn id="175" presetID="2" presetClass="entr" presetSubtype="4" fill="hold" grpId="0" nodeType="withEffect">
                                  <p:stCondLst>
                                    <p:cond delay="0"/>
                                  </p:stCondLst>
                                  <p:childTnLst>
                                    <p:set>
                                      <p:cBhvr>
                                        <p:cTn id="171" dur="1" fill="hold">
                                          <p:stCondLst>
                                            <p:cond delay="0"/>
                                          </p:stCondLst>
                                        </p:cTn>
                                        <p:tgtEl>
                                          <p:spTgt spid="59"/>
                                        </p:tgtEl>
                                        <p:attrNameLst>
                                          <p:attrName>style.visibility</p:attrName>
                                        </p:attrNameLst>
                                      </p:cBhvr>
                                      <p:to>
                                        <p:strVal val="visible"/>
                                      </p:to>
                                    </p:set>
                                    <p:anim calcmode="lin" valueType="num">
                                      <p:cBhvr additive="base">
                                        <p:cTn id="172" dur="500" fill="hold"/>
                                        <p:tgtEl>
                                          <p:spTgt spid="59"/>
                                        </p:tgtEl>
                                        <p:attrNameLst>
                                          <p:attrName>ppt_x</p:attrName>
                                        </p:attrNameLst>
                                      </p:cBhvr>
                                      <p:tavLst>
                                        <p:tav tm="0">
                                          <p:val>
                                            <p:strVal val="#ppt_x"/>
                                          </p:val>
                                        </p:tav>
                                        <p:tav tm="100000">
                                          <p:val>
                                            <p:strVal val="#ppt_x"/>
                                          </p:val>
                                        </p:tav>
                                      </p:tavLst>
                                    </p:anim>
                                    <p:anim calcmode="lin" valueType="num">
                                      <p:cBhvr additive="base">
                                        <p:cTn id="173" dur="500" fill="hold"/>
                                        <p:tgtEl>
                                          <p:spTgt spid="59"/>
                                        </p:tgtEl>
                                        <p:attrNameLst>
                                          <p:attrName>ppt_y</p:attrName>
                                        </p:attrNameLst>
                                      </p:cBhvr>
                                      <p:tavLst>
                                        <p:tav tm="0">
                                          <p:val>
                                            <p:strVal val="#ppt_y+0.1"/>
                                          </p:val>
                                        </p:tav>
                                        <p:tav tm="100000">
                                          <p:val>
                                            <p:strVal val="#ppt_y"/>
                                          </p:val>
                                        </p:tav>
                                      </p:tavLst>
                                    </p:anim>
                                    <p:animEffect transition="in" filter="fade">
                                      <p:cBhvr>
                                        <p:cTn id="174" dur="500"/>
                                        <p:tgtEl>
                                          <p:spTgt spid="59"/>
                                        </p:tgtEl>
                                      </p:cBhvr>
                                    </p:animEffect>
                                  </p:childTnLst>
                                </p:cTn>
                              </p:par>
                              <p:par>
                                <p:cTn id="180" presetID="2" presetClass="entr" presetSubtype="4" fill="hold" grpId="0" nodeType="withEffect">
                                  <p:stCondLst>
                                    <p:cond delay="100"/>
                                  </p:stCondLst>
                                  <p:childTnLst>
                                    <p:set>
                                      <p:cBhvr>
                                        <p:cTn id="176" dur="1" fill="hold">
                                          <p:stCondLst>
                                            <p:cond delay="0"/>
                                          </p:stCondLst>
                                        </p:cTn>
                                        <p:tgtEl>
                                          <p:spTgt spid="60"/>
                                        </p:tgtEl>
                                        <p:attrNameLst>
                                          <p:attrName>style.visibility</p:attrName>
                                        </p:attrNameLst>
                                      </p:cBhvr>
                                      <p:to>
                                        <p:strVal val="visible"/>
                                      </p:to>
                                    </p:set>
                                    <p:anim calcmode="lin" valueType="num">
                                      <p:cBhvr additive="base">
                                        <p:cTn id="177" dur="500" fill="hold"/>
                                        <p:tgtEl>
                                          <p:spTgt spid="60"/>
                                        </p:tgtEl>
                                        <p:attrNameLst>
                                          <p:attrName>ppt_x</p:attrName>
                                        </p:attrNameLst>
                                      </p:cBhvr>
                                      <p:tavLst>
                                        <p:tav tm="0">
                                          <p:val>
                                            <p:strVal val="#ppt_x"/>
                                          </p:val>
                                        </p:tav>
                                        <p:tav tm="100000">
                                          <p:val>
                                            <p:strVal val="#ppt_x"/>
                                          </p:val>
                                        </p:tav>
                                      </p:tavLst>
                                    </p:anim>
                                    <p:anim calcmode="lin" valueType="num">
                                      <p:cBhvr additive="base">
                                        <p:cTn id="178" dur="500" fill="hold"/>
                                        <p:tgtEl>
                                          <p:spTgt spid="60"/>
                                        </p:tgtEl>
                                        <p:attrNameLst>
                                          <p:attrName>ppt_y</p:attrName>
                                        </p:attrNameLst>
                                      </p:cBhvr>
                                      <p:tavLst>
                                        <p:tav tm="0">
                                          <p:val>
                                            <p:strVal val="#ppt_y+0.1"/>
                                          </p:val>
                                        </p:tav>
                                        <p:tav tm="100000">
                                          <p:val>
                                            <p:strVal val="#ppt_y"/>
                                          </p:val>
                                        </p:tav>
                                      </p:tavLst>
                                    </p:anim>
                                    <p:animEffect transition="in" filter="fade">
                                      <p:cBhvr>
                                        <p:cTn id="179" dur="500"/>
                                        <p:tgtEl>
                                          <p:spTgt spid="60"/>
                                        </p:tgtEl>
                                      </p:cBhvr>
                                    </p:animEffect>
                                  </p:childTnLst>
                                </p:cTn>
                              </p:par>
                              <p:par>
                                <p:cTn id="185" presetID="2" presetClass="entr" presetSubtype="4" fill="hold" grpId="0" nodeType="withEffect">
                                  <p:stCondLst>
                                    <p:cond delay="100"/>
                                  </p:stCondLst>
                                  <p:childTnLst>
                                    <p:set>
                                      <p:cBhvr>
                                        <p:cTn id="181" dur="1" fill="hold">
                                          <p:stCondLst>
                                            <p:cond delay="0"/>
                                          </p:stCondLst>
                                        </p:cTn>
                                        <p:tgtEl>
                                          <p:spTgt spid="61"/>
                                        </p:tgtEl>
                                        <p:attrNameLst>
                                          <p:attrName>style.visibility</p:attrName>
                                        </p:attrNameLst>
                                      </p:cBhvr>
                                      <p:to>
                                        <p:strVal val="visible"/>
                                      </p:to>
                                    </p:set>
                                    <p:anim calcmode="lin" valueType="num">
                                      <p:cBhvr additive="base">
                                        <p:cTn id="182" dur="500" fill="hold"/>
                                        <p:tgtEl>
                                          <p:spTgt spid="61"/>
                                        </p:tgtEl>
                                        <p:attrNameLst>
                                          <p:attrName>ppt_x</p:attrName>
                                        </p:attrNameLst>
                                      </p:cBhvr>
                                      <p:tavLst>
                                        <p:tav tm="0">
                                          <p:val>
                                            <p:strVal val="#ppt_x"/>
                                          </p:val>
                                        </p:tav>
                                        <p:tav tm="100000">
                                          <p:val>
                                            <p:strVal val="#ppt_x"/>
                                          </p:val>
                                        </p:tav>
                                      </p:tavLst>
                                    </p:anim>
                                    <p:anim calcmode="lin" valueType="num">
                                      <p:cBhvr additive="base">
                                        <p:cTn id="183" dur="500" fill="hold"/>
                                        <p:tgtEl>
                                          <p:spTgt spid="61"/>
                                        </p:tgtEl>
                                        <p:attrNameLst>
                                          <p:attrName>ppt_y</p:attrName>
                                        </p:attrNameLst>
                                      </p:cBhvr>
                                      <p:tavLst>
                                        <p:tav tm="0">
                                          <p:val>
                                            <p:strVal val="#ppt_y+0.1"/>
                                          </p:val>
                                        </p:tav>
                                        <p:tav tm="100000">
                                          <p:val>
                                            <p:strVal val="#ppt_y"/>
                                          </p:val>
                                        </p:tav>
                                      </p:tavLst>
                                    </p:anim>
                                    <p:animEffect transition="in" filter="fade">
                                      <p:cBhvr>
                                        <p:cTn id="184" dur="500"/>
                                        <p:tgtEl>
                                          <p:spTgt spid="61"/>
                                        </p:tgtEl>
                                      </p:cBhvr>
                                    </p:animEffect>
                                  </p:childTnLst>
                                </p:cTn>
                              </p:par>
                              <p:par>
                                <p:cTn id="190" presetID="2" presetClass="entr" presetSubtype="4" fill="hold" grpId="0" nodeType="withEffect">
                                  <p:stCondLst>
                                    <p:cond delay="100"/>
                                  </p:stCondLst>
                                  <p:childTnLst>
                                    <p:set>
                                      <p:cBhvr>
                                        <p:cTn id="186" dur="1" fill="hold">
                                          <p:stCondLst>
                                            <p:cond delay="0"/>
                                          </p:stCondLst>
                                        </p:cTn>
                                        <p:tgtEl>
                                          <p:spTgt spid="62"/>
                                        </p:tgtEl>
                                        <p:attrNameLst>
                                          <p:attrName>style.visibility</p:attrName>
                                        </p:attrNameLst>
                                      </p:cBhvr>
                                      <p:to>
                                        <p:strVal val="visible"/>
                                      </p:to>
                                    </p:set>
                                    <p:anim calcmode="lin" valueType="num">
                                      <p:cBhvr additive="base">
                                        <p:cTn id="187" dur="500" fill="hold"/>
                                        <p:tgtEl>
                                          <p:spTgt spid="62"/>
                                        </p:tgtEl>
                                        <p:attrNameLst>
                                          <p:attrName>ppt_x</p:attrName>
                                        </p:attrNameLst>
                                      </p:cBhvr>
                                      <p:tavLst>
                                        <p:tav tm="0">
                                          <p:val>
                                            <p:strVal val="#ppt_x"/>
                                          </p:val>
                                        </p:tav>
                                        <p:tav tm="100000">
                                          <p:val>
                                            <p:strVal val="#ppt_x"/>
                                          </p:val>
                                        </p:tav>
                                      </p:tavLst>
                                    </p:anim>
                                    <p:anim calcmode="lin" valueType="num">
                                      <p:cBhvr additive="base">
                                        <p:cTn id="188" dur="500" fill="hold"/>
                                        <p:tgtEl>
                                          <p:spTgt spid="62"/>
                                        </p:tgtEl>
                                        <p:attrNameLst>
                                          <p:attrName>ppt_y</p:attrName>
                                        </p:attrNameLst>
                                      </p:cBhvr>
                                      <p:tavLst>
                                        <p:tav tm="0">
                                          <p:val>
                                            <p:strVal val="#ppt_y+0.1"/>
                                          </p:val>
                                        </p:tav>
                                        <p:tav tm="100000">
                                          <p:val>
                                            <p:strVal val="#ppt_y"/>
                                          </p:val>
                                        </p:tav>
                                      </p:tavLst>
                                    </p:anim>
                                    <p:animEffect transition="in" filter="fade">
                                      <p:cBhvr>
                                        <p:cTn id="189" dur="500"/>
                                        <p:tgtEl>
                                          <p:spTgt spid="62"/>
                                        </p:tgtEl>
                                      </p:cBhvr>
                                    </p:animEffect>
                                  </p:childTnLst>
                                </p:cTn>
                              </p:par>
                              <p:par>
                                <p:cTn id="195" presetID="2" presetClass="entr" presetSubtype="4" fill="hold" grpId="0" nodeType="withEffect">
                                  <p:stCondLst>
                                    <p:cond delay="200"/>
                                  </p:stCondLst>
                                  <p:childTnLst>
                                    <p:set>
                                      <p:cBhvr>
                                        <p:cTn id="191" dur="1" fill="hold">
                                          <p:stCondLst>
                                            <p:cond delay="0"/>
                                          </p:stCondLst>
                                        </p:cTn>
                                        <p:tgtEl>
                                          <p:spTgt spid="63"/>
                                        </p:tgtEl>
                                        <p:attrNameLst>
                                          <p:attrName>style.visibility</p:attrName>
                                        </p:attrNameLst>
                                      </p:cBhvr>
                                      <p:to>
                                        <p:strVal val="visible"/>
                                      </p:to>
                                    </p:set>
                                    <p:anim calcmode="lin" valueType="num">
                                      <p:cBhvr additive="base">
                                        <p:cTn id="192" dur="500" fill="hold"/>
                                        <p:tgtEl>
                                          <p:spTgt spid="63"/>
                                        </p:tgtEl>
                                        <p:attrNameLst>
                                          <p:attrName>ppt_x</p:attrName>
                                        </p:attrNameLst>
                                      </p:cBhvr>
                                      <p:tavLst>
                                        <p:tav tm="0">
                                          <p:val>
                                            <p:strVal val="#ppt_x"/>
                                          </p:val>
                                        </p:tav>
                                        <p:tav tm="100000">
                                          <p:val>
                                            <p:strVal val="#ppt_x"/>
                                          </p:val>
                                        </p:tav>
                                      </p:tavLst>
                                    </p:anim>
                                    <p:anim calcmode="lin" valueType="num">
                                      <p:cBhvr additive="base">
                                        <p:cTn id="193" dur="500" fill="hold"/>
                                        <p:tgtEl>
                                          <p:spTgt spid="63"/>
                                        </p:tgtEl>
                                        <p:attrNameLst>
                                          <p:attrName>ppt_y</p:attrName>
                                        </p:attrNameLst>
                                      </p:cBhvr>
                                      <p:tavLst>
                                        <p:tav tm="0">
                                          <p:val>
                                            <p:strVal val="#ppt_y+0.1"/>
                                          </p:val>
                                        </p:tav>
                                        <p:tav tm="100000">
                                          <p:val>
                                            <p:strVal val="#ppt_y"/>
                                          </p:val>
                                        </p:tav>
                                      </p:tavLst>
                                    </p:anim>
                                    <p:animEffect transition="in" filter="fade">
                                      <p:cBhvr>
                                        <p:cTn id="194" dur="500"/>
                                        <p:tgtEl>
                                          <p:spTgt spid="63"/>
                                        </p:tgtEl>
                                      </p:cBhvr>
                                    </p:animEffect>
                                  </p:childTnLst>
                                </p:cTn>
                              </p:par>
                              <p:par>
                                <p:cTn id="200" presetID="2" presetClass="entr" presetSubtype="4" fill="hold" grpId="0" nodeType="withEffect">
                                  <p:stCondLst>
                                    <p:cond delay="200"/>
                                  </p:stCondLst>
                                  <p:childTnLst>
                                    <p:set>
                                      <p:cBhvr>
                                        <p:cTn id="196" dur="1" fill="hold">
                                          <p:stCondLst>
                                            <p:cond delay="0"/>
                                          </p:stCondLst>
                                        </p:cTn>
                                        <p:tgtEl>
                                          <p:spTgt spid="64"/>
                                        </p:tgtEl>
                                        <p:attrNameLst>
                                          <p:attrName>style.visibility</p:attrName>
                                        </p:attrNameLst>
                                      </p:cBhvr>
                                      <p:to>
                                        <p:strVal val="visible"/>
                                      </p:to>
                                    </p:set>
                                    <p:anim calcmode="lin" valueType="num">
                                      <p:cBhvr additive="base">
                                        <p:cTn id="197" dur="500" fill="hold"/>
                                        <p:tgtEl>
                                          <p:spTgt spid="64"/>
                                        </p:tgtEl>
                                        <p:attrNameLst>
                                          <p:attrName>ppt_x</p:attrName>
                                        </p:attrNameLst>
                                      </p:cBhvr>
                                      <p:tavLst>
                                        <p:tav tm="0">
                                          <p:val>
                                            <p:strVal val="#ppt_x"/>
                                          </p:val>
                                        </p:tav>
                                        <p:tav tm="100000">
                                          <p:val>
                                            <p:strVal val="#ppt_x"/>
                                          </p:val>
                                        </p:tav>
                                      </p:tavLst>
                                    </p:anim>
                                    <p:anim calcmode="lin" valueType="num">
                                      <p:cBhvr additive="base">
                                        <p:cTn id="198" dur="500" fill="hold"/>
                                        <p:tgtEl>
                                          <p:spTgt spid="64"/>
                                        </p:tgtEl>
                                        <p:attrNameLst>
                                          <p:attrName>ppt_y</p:attrName>
                                        </p:attrNameLst>
                                      </p:cBhvr>
                                      <p:tavLst>
                                        <p:tav tm="0">
                                          <p:val>
                                            <p:strVal val="#ppt_y+0.1"/>
                                          </p:val>
                                        </p:tav>
                                        <p:tav tm="100000">
                                          <p:val>
                                            <p:strVal val="#ppt_y"/>
                                          </p:val>
                                        </p:tav>
                                      </p:tavLst>
                                    </p:anim>
                                    <p:animEffect transition="in" filter="fade">
                                      <p:cBhvr>
                                        <p:cTn id="199" dur="500"/>
                                        <p:tgtEl>
                                          <p:spTgt spid="64"/>
                                        </p:tgtEl>
                                      </p:cBhvr>
                                    </p:animEffect>
                                  </p:childTnLst>
                                </p:cTn>
                              </p:par>
                              <p:par>
                                <p:cTn id="205" presetID="2" presetClass="entr" presetSubtype="4" fill="hold" grpId="0" nodeType="withEffect">
                                  <p:stCondLst>
                                    <p:cond delay="200"/>
                                  </p:stCondLst>
                                  <p:childTnLst>
                                    <p:set>
                                      <p:cBhvr>
                                        <p:cTn id="201" dur="1" fill="hold">
                                          <p:stCondLst>
                                            <p:cond delay="0"/>
                                          </p:stCondLst>
                                        </p:cTn>
                                        <p:tgtEl>
                                          <p:spTgt spid="65"/>
                                        </p:tgtEl>
                                        <p:attrNameLst>
                                          <p:attrName>style.visibility</p:attrName>
                                        </p:attrNameLst>
                                      </p:cBhvr>
                                      <p:to>
                                        <p:strVal val="visible"/>
                                      </p:to>
                                    </p:set>
                                    <p:anim calcmode="lin" valueType="num">
                                      <p:cBhvr additive="base">
                                        <p:cTn id="202" dur="500" fill="hold"/>
                                        <p:tgtEl>
                                          <p:spTgt spid="65"/>
                                        </p:tgtEl>
                                        <p:attrNameLst>
                                          <p:attrName>ppt_x</p:attrName>
                                        </p:attrNameLst>
                                      </p:cBhvr>
                                      <p:tavLst>
                                        <p:tav tm="0">
                                          <p:val>
                                            <p:strVal val="#ppt_x"/>
                                          </p:val>
                                        </p:tav>
                                        <p:tav tm="100000">
                                          <p:val>
                                            <p:strVal val="#ppt_x"/>
                                          </p:val>
                                        </p:tav>
                                      </p:tavLst>
                                    </p:anim>
                                    <p:anim calcmode="lin" valueType="num">
                                      <p:cBhvr additive="base">
                                        <p:cTn id="203" dur="500" fill="hold"/>
                                        <p:tgtEl>
                                          <p:spTgt spid="65"/>
                                        </p:tgtEl>
                                        <p:attrNameLst>
                                          <p:attrName>ppt_y</p:attrName>
                                        </p:attrNameLst>
                                      </p:cBhvr>
                                      <p:tavLst>
                                        <p:tav tm="0">
                                          <p:val>
                                            <p:strVal val="#ppt_y+0.1"/>
                                          </p:val>
                                        </p:tav>
                                        <p:tav tm="100000">
                                          <p:val>
                                            <p:strVal val="#ppt_y"/>
                                          </p:val>
                                        </p:tav>
                                      </p:tavLst>
                                    </p:anim>
                                    <p:animEffect transition="in" filter="fade">
                                      <p:cBhvr>
                                        <p:cTn id="204" dur="500"/>
                                        <p:tgtEl>
                                          <p:spTgt spid="65"/>
                                        </p:tgtEl>
                                      </p:cBhvr>
                                    </p:animEffect>
                                  </p:childTnLst>
                                </p:cTn>
                              </p:par>
                              <p:par>
                                <p:cTn id="210" presetID="2" presetClass="entr" presetSubtype="4" fill="hold" grpId="0" nodeType="withEffect">
                                  <p:stCondLst>
                                    <p:cond delay="300"/>
                                  </p:stCondLst>
                                  <p:childTnLst>
                                    <p:set>
                                      <p:cBhvr>
                                        <p:cTn id="206" dur="1" fill="hold">
                                          <p:stCondLst>
                                            <p:cond delay="0"/>
                                          </p:stCondLst>
                                        </p:cTn>
                                        <p:tgtEl>
                                          <p:spTgt spid="66"/>
                                        </p:tgtEl>
                                        <p:attrNameLst>
                                          <p:attrName>style.visibility</p:attrName>
                                        </p:attrNameLst>
                                      </p:cBhvr>
                                      <p:to>
                                        <p:strVal val="visible"/>
                                      </p:to>
                                    </p:set>
                                    <p:anim calcmode="lin" valueType="num">
                                      <p:cBhvr additive="base">
                                        <p:cTn id="207" dur="500" fill="hold"/>
                                        <p:tgtEl>
                                          <p:spTgt spid="66"/>
                                        </p:tgtEl>
                                        <p:attrNameLst>
                                          <p:attrName>ppt_x</p:attrName>
                                        </p:attrNameLst>
                                      </p:cBhvr>
                                      <p:tavLst>
                                        <p:tav tm="0">
                                          <p:val>
                                            <p:strVal val="#ppt_x"/>
                                          </p:val>
                                        </p:tav>
                                        <p:tav tm="100000">
                                          <p:val>
                                            <p:strVal val="#ppt_x"/>
                                          </p:val>
                                        </p:tav>
                                      </p:tavLst>
                                    </p:anim>
                                    <p:anim calcmode="lin" valueType="num">
                                      <p:cBhvr additive="base">
                                        <p:cTn id="208" dur="500" fill="hold"/>
                                        <p:tgtEl>
                                          <p:spTgt spid="66"/>
                                        </p:tgtEl>
                                        <p:attrNameLst>
                                          <p:attrName>ppt_y</p:attrName>
                                        </p:attrNameLst>
                                      </p:cBhvr>
                                      <p:tavLst>
                                        <p:tav tm="0">
                                          <p:val>
                                            <p:strVal val="#ppt_y+0.1"/>
                                          </p:val>
                                        </p:tav>
                                        <p:tav tm="100000">
                                          <p:val>
                                            <p:strVal val="#ppt_y"/>
                                          </p:val>
                                        </p:tav>
                                      </p:tavLst>
                                    </p:anim>
                                    <p:animEffect transition="in" filter="fade">
                                      <p:cBhvr>
                                        <p:cTn id="209" dur="500"/>
                                        <p:tgtEl>
                                          <p:spTgt spid="66"/>
                                        </p:tgtEl>
                                      </p:cBhvr>
                                    </p:animEffect>
                                  </p:childTnLst>
                                </p:cTn>
                              </p:par>
                            </p:childTnLst>
                          </p:cTn>
                        </p:par>
                      </p:childTnLst>
                    </p:cTn>
                  </p:par>
                  <p:par>
                    <p:cTn id="211" fill="hold">
                      <p:stCondLst>
                        <p:cond delay="indefinite"/>
                      </p:stCondLst>
                      <p:childTnLst>
                        <p:par>
                          <p:cTn id="212" fill="hold">
                            <p:stCondLst>
                              <p:cond delay="0"/>
                            </p:stCondLst>
                            <p:childTnLst>
                              <p:par>
                                <p:cTn id="217" presetID="2" presetClass="entr" presetSubtype="4" fill="hold" grpId="0" nodeType="clickEffect">
                                  <p:stCondLst>
                                    <p:cond delay="0"/>
                                  </p:stCondLst>
                                  <p:childTnLst>
                                    <p:set>
                                      <p:cBhvr>
                                        <p:cTn id="213" dur="1" fill="hold">
                                          <p:stCondLst>
                                            <p:cond delay="0"/>
                                          </p:stCondLst>
                                        </p:cTn>
                                        <p:tgtEl>
                                          <p:spTgt spid="67"/>
                                        </p:tgtEl>
                                        <p:attrNameLst>
                                          <p:attrName>style.visibility</p:attrName>
                                        </p:attrNameLst>
                                      </p:cBhvr>
                                      <p:to>
                                        <p:strVal val="visible"/>
                                      </p:to>
                                    </p:set>
                                    <p:anim calcmode="lin" valueType="num">
                                      <p:cBhvr additive="base">
                                        <p:cTn id="214" dur="500" fill="hold"/>
                                        <p:tgtEl>
                                          <p:spTgt spid="67"/>
                                        </p:tgtEl>
                                        <p:attrNameLst>
                                          <p:attrName>ppt_x</p:attrName>
                                        </p:attrNameLst>
                                      </p:cBhvr>
                                      <p:tavLst>
                                        <p:tav tm="0">
                                          <p:val>
                                            <p:strVal val="#ppt_x"/>
                                          </p:val>
                                        </p:tav>
                                        <p:tav tm="100000">
                                          <p:val>
                                            <p:strVal val="#ppt_x"/>
                                          </p:val>
                                        </p:tav>
                                      </p:tavLst>
                                    </p:anim>
                                    <p:anim calcmode="lin" valueType="num">
                                      <p:cBhvr additive="base">
                                        <p:cTn id="215" dur="500" fill="hold"/>
                                        <p:tgtEl>
                                          <p:spTgt spid="67"/>
                                        </p:tgtEl>
                                        <p:attrNameLst>
                                          <p:attrName>ppt_y</p:attrName>
                                        </p:attrNameLst>
                                      </p:cBhvr>
                                      <p:tavLst>
                                        <p:tav tm="0">
                                          <p:val>
                                            <p:strVal val="#ppt_y+0.1"/>
                                          </p:val>
                                        </p:tav>
                                        <p:tav tm="100000">
                                          <p:val>
                                            <p:strVal val="#ppt_y"/>
                                          </p:val>
                                        </p:tav>
                                      </p:tavLst>
                                    </p:anim>
                                    <p:animEffect transition="in" filter="fade">
                                      <p:cBhvr>
                                        <p:cTn id="216" dur="500"/>
                                        <p:tgtEl>
                                          <p:spTgt spid="67"/>
                                        </p:tgtEl>
                                      </p:cBhvr>
                                    </p:animEffect>
                                  </p:childTnLst>
                                </p:cTn>
                              </p:par>
                              <p:par>
                                <p:cTn id="222" presetID="2" presetClass="entr" presetSubtype="4" fill="hold" grpId="0" nodeType="withEffect">
                                  <p:stCondLst>
                                    <p:cond delay="0"/>
                                  </p:stCondLst>
                                  <p:childTnLst>
                                    <p:set>
                                      <p:cBhvr>
                                        <p:cTn id="218" dur="1" fill="hold">
                                          <p:stCondLst>
                                            <p:cond delay="0"/>
                                          </p:stCondLst>
                                        </p:cTn>
                                        <p:tgtEl>
                                          <p:spTgt spid="68"/>
                                        </p:tgtEl>
                                        <p:attrNameLst>
                                          <p:attrName>style.visibility</p:attrName>
                                        </p:attrNameLst>
                                      </p:cBhvr>
                                      <p:to>
                                        <p:strVal val="visible"/>
                                      </p:to>
                                    </p:set>
                                    <p:anim calcmode="lin" valueType="num">
                                      <p:cBhvr additive="base">
                                        <p:cTn id="219" dur="500" fill="hold"/>
                                        <p:tgtEl>
                                          <p:spTgt spid="68"/>
                                        </p:tgtEl>
                                        <p:attrNameLst>
                                          <p:attrName>ppt_x</p:attrName>
                                        </p:attrNameLst>
                                      </p:cBhvr>
                                      <p:tavLst>
                                        <p:tav tm="0">
                                          <p:val>
                                            <p:strVal val="#ppt_x"/>
                                          </p:val>
                                        </p:tav>
                                        <p:tav tm="100000">
                                          <p:val>
                                            <p:strVal val="#ppt_x"/>
                                          </p:val>
                                        </p:tav>
                                      </p:tavLst>
                                    </p:anim>
                                    <p:anim calcmode="lin" valueType="num">
                                      <p:cBhvr additive="base">
                                        <p:cTn id="220" dur="500" fill="hold"/>
                                        <p:tgtEl>
                                          <p:spTgt spid="68"/>
                                        </p:tgtEl>
                                        <p:attrNameLst>
                                          <p:attrName>ppt_y</p:attrName>
                                        </p:attrNameLst>
                                      </p:cBhvr>
                                      <p:tavLst>
                                        <p:tav tm="0">
                                          <p:val>
                                            <p:strVal val="#ppt_y+0.1"/>
                                          </p:val>
                                        </p:tav>
                                        <p:tav tm="100000">
                                          <p:val>
                                            <p:strVal val="#ppt_y"/>
                                          </p:val>
                                        </p:tav>
                                      </p:tavLst>
                                    </p:anim>
                                    <p:animEffect transition="in" filter="fade">
                                      <p:cBhvr>
                                        <p:cTn id="221" dur="500"/>
                                        <p:tgtEl>
                                          <p:spTgt spid="68"/>
                                        </p:tgtEl>
                                      </p:cBhvr>
                                    </p:animEffect>
                                  </p:childTnLst>
                                </p:cTn>
                              </p:par>
                              <p:par>
                                <p:cTn id="227" presetID="2" presetClass="entr" presetSubtype="4" fill="hold" grpId="0" nodeType="withEffect">
                                  <p:stCondLst>
                                    <p:cond delay="150"/>
                                  </p:stCondLst>
                                  <p:childTnLst>
                                    <p:set>
                                      <p:cBhvr>
                                        <p:cTn id="223" dur="1" fill="hold">
                                          <p:stCondLst>
                                            <p:cond delay="0"/>
                                          </p:stCondLst>
                                        </p:cTn>
                                        <p:tgtEl>
                                          <p:spTgt spid="69"/>
                                        </p:tgtEl>
                                        <p:attrNameLst>
                                          <p:attrName>style.visibility</p:attrName>
                                        </p:attrNameLst>
                                      </p:cBhvr>
                                      <p:to>
                                        <p:strVal val="visible"/>
                                      </p:to>
                                    </p:set>
                                    <p:anim calcmode="lin" valueType="num">
                                      <p:cBhvr additive="base">
                                        <p:cTn id="224" dur="500" fill="hold"/>
                                        <p:tgtEl>
                                          <p:spTgt spid="69"/>
                                        </p:tgtEl>
                                        <p:attrNameLst>
                                          <p:attrName>ppt_x</p:attrName>
                                        </p:attrNameLst>
                                      </p:cBhvr>
                                      <p:tavLst>
                                        <p:tav tm="0">
                                          <p:val>
                                            <p:strVal val="#ppt_x"/>
                                          </p:val>
                                        </p:tav>
                                        <p:tav tm="100000">
                                          <p:val>
                                            <p:strVal val="#ppt_x"/>
                                          </p:val>
                                        </p:tav>
                                      </p:tavLst>
                                    </p:anim>
                                    <p:anim calcmode="lin" valueType="num">
                                      <p:cBhvr additive="base">
                                        <p:cTn id="225" dur="500" fill="hold"/>
                                        <p:tgtEl>
                                          <p:spTgt spid="69"/>
                                        </p:tgtEl>
                                        <p:attrNameLst>
                                          <p:attrName>ppt_y</p:attrName>
                                        </p:attrNameLst>
                                      </p:cBhvr>
                                      <p:tavLst>
                                        <p:tav tm="0">
                                          <p:val>
                                            <p:strVal val="#ppt_y+0.1"/>
                                          </p:val>
                                        </p:tav>
                                        <p:tav tm="100000">
                                          <p:val>
                                            <p:strVal val="#ppt_y"/>
                                          </p:val>
                                        </p:tav>
                                      </p:tavLst>
                                    </p:anim>
                                    <p:animEffect transition="in" filter="fade">
                                      <p:cBhvr>
                                        <p:cTn id="226" dur="500"/>
                                        <p:tgtEl>
                                          <p:spTgt spid="69"/>
                                        </p:tgtEl>
                                      </p:cBhvr>
                                    </p:animEffect>
                                  </p:childTnLst>
                                </p:cTn>
                              </p:par>
                              <p:par>
                                <p:cTn id="232" presetID="2" presetClass="entr" presetSubtype="4" fill="hold" grpId="0" nodeType="withEffect">
                                  <p:stCondLst>
                                    <p:cond delay="150"/>
                                  </p:stCondLst>
                                  <p:childTnLst>
                                    <p:set>
                                      <p:cBhvr>
                                        <p:cTn id="228" dur="1" fill="hold">
                                          <p:stCondLst>
                                            <p:cond delay="0"/>
                                          </p:stCondLst>
                                        </p:cTn>
                                        <p:tgtEl>
                                          <p:spTgt spid="70"/>
                                        </p:tgtEl>
                                        <p:attrNameLst>
                                          <p:attrName>style.visibility</p:attrName>
                                        </p:attrNameLst>
                                      </p:cBhvr>
                                      <p:to>
                                        <p:strVal val="visible"/>
                                      </p:to>
                                    </p:set>
                                    <p:anim calcmode="lin" valueType="num">
                                      <p:cBhvr additive="base">
                                        <p:cTn id="229" dur="500" fill="hold"/>
                                        <p:tgtEl>
                                          <p:spTgt spid="70"/>
                                        </p:tgtEl>
                                        <p:attrNameLst>
                                          <p:attrName>ppt_x</p:attrName>
                                        </p:attrNameLst>
                                      </p:cBhvr>
                                      <p:tavLst>
                                        <p:tav tm="0">
                                          <p:val>
                                            <p:strVal val="#ppt_x"/>
                                          </p:val>
                                        </p:tav>
                                        <p:tav tm="100000">
                                          <p:val>
                                            <p:strVal val="#ppt_x"/>
                                          </p:val>
                                        </p:tav>
                                      </p:tavLst>
                                    </p:anim>
                                    <p:anim calcmode="lin" valueType="num">
                                      <p:cBhvr additive="base">
                                        <p:cTn id="230" dur="500" fill="hold"/>
                                        <p:tgtEl>
                                          <p:spTgt spid="70"/>
                                        </p:tgtEl>
                                        <p:attrNameLst>
                                          <p:attrName>ppt_y</p:attrName>
                                        </p:attrNameLst>
                                      </p:cBhvr>
                                      <p:tavLst>
                                        <p:tav tm="0">
                                          <p:val>
                                            <p:strVal val="#ppt_y+0.1"/>
                                          </p:val>
                                        </p:tav>
                                        <p:tav tm="100000">
                                          <p:val>
                                            <p:strVal val="#ppt_y"/>
                                          </p:val>
                                        </p:tav>
                                      </p:tavLst>
                                    </p:anim>
                                    <p:animEffect transition="in" filter="fade">
                                      <p:cBhvr>
                                        <p:cTn id="231" dur="500"/>
                                        <p:tgtEl>
                                          <p:spTgt spid="70"/>
                                        </p:tgtEl>
                                      </p:cBhvr>
                                    </p:animEffect>
                                  </p:childTnLst>
                                </p:cTn>
                              </p:par>
                              <p:par>
                                <p:cTn id="237" presetID="2" presetClass="entr" presetSubtype="4" fill="hold" grpId="0" nodeType="withEffect">
                                  <p:stCondLst>
                                    <p:cond delay="300"/>
                                  </p:stCondLst>
                                  <p:childTnLst>
                                    <p:set>
                                      <p:cBhvr>
                                        <p:cTn id="233" dur="1" fill="hold">
                                          <p:stCondLst>
                                            <p:cond delay="0"/>
                                          </p:stCondLst>
                                        </p:cTn>
                                        <p:tgtEl>
                                          <p:spTgt spid="71"/>
                                        </p:tgtEl>
                                        <p:attrNameLst>
                                          <p:attrName>style.visibility</p:attrName>
                                        </p:attrNameLst>
                                      </p:cBhvr>
                                      <p:to>
                                        <p:strVal val="visible"/>
                                      </p:to>
                                    </p:set>
                                    <p:anim calcmode="lin" valueType="num">
                                      <p:cBhvr additive="base">
                                        <p:cTn id="234" dur="500" fill="hold"/>
                                        <p:tgtEl>
                                          <p:spTgt spid="71"/>
                                        </p:tgtEl>
                                        <p:attrNameLst>
                                          <p:attrName>ppt_x</p:attrName>
                                        </p:attrNameLst>
                                      </p:cBhvr>
                                      <p:tavLst>
                                        <p:tav tm="0">
                                          <p:val>
                                            <p:strVal val="#ppt_x"/>
                                          </p:val>
                                        </p:tav>
                                        <p:tav tm="100000">
                                          <p:val>
                                            <p:strVal val="#ppt_x"/>
                                          </p:val>
                                        </p:tav>
                                      </p:tavLst>
                                    </p:anim>
                                    <p:anim calcmode="lin" valueType="num">
                                      <p:cBhvr additive="base">
                                        <p:cTn id="235" dur="500" fill="hold"/>
                                        <p:tgtEl>
                                          <p:spTgt spid="71"/>
                                        </p:tgtEl>
                                        <p:attrNameLst>
                                          <p:attrName>ppt_y</p:attrName>
                                        </p:attrNameLst>
                                      </p:cBhvr>
                                      <p:tavLst>
                                        <p:tav tm="0">
                                          <p:val>
                                            <p:strVal val="#ppt_y+0.1"/>
                                          </p:val>
                                        </p:tav>
                                        <p:tav tm="100000">
                                          <p:val>
                                            <p:strVal val="#ppt_y"/>
                                          </p:val>
                                        </p:tav>
                                      </p:tavLst>
                                    </p:anim>
                                    <p:animEffect transition="in" filter="fade">
                                      <p:cBhvr>
                                        <p:cTn id="236" dur="500"/>
                                        <p:tgtEl>
                                          <p:spTgt spid="71"/>
                                        </p:tgtEl>
                                      </p:cBhvr>
                                    </p:animEffect>
                                  </p:childTnLst>
                                </p:cTn>
                              </p:par>
                              <p:par>
                                <p:cTn id="242" presetID="2" presetClass="entr" presetSubtype="4" fill="hold" grpId="0" nodeType="withEffect">
                                  <p:stCondLst>
                                    <p:cond delay="300"/>
                                  </p:stCondLst>
                                  <p:childTnLst>
                                    <p:set>
                                      <p:cBhvr>
                                        <p:cTn id="238" dur="1" fill="hold">
                                          <p:stCondLst>
                                            <p:cond delay="0"/>
                                          </p:stCondLst>
                                        </p:cTn>
                                        <p:tgtEl>
                                          <p:spTgt spid="72"/>
                                        </p:tgtEl>
                                        <p:attrNameLst>
                                          <p:attrName>style.visibility</p:attrName>
                                        </p:attrNameLst>
                                      </p:cBhvr>
                                      <p:to>
                                        <p:strVal val="visible"/>
                                      </p:to>
                                    </p:set>
                                    <p:anim calcmode="lin" valueType="num">
                                      <p:cBhvr additive="base">
                                        <p:cTn id="239" dur="500" fill="hold"/>
                                        <p:tgtEl>
                                          <p:spTgt spid="72"/>
                                        </p:tgtEl>
                                        <p:attrNameLst>
                                          <p:attrName>ppt_x</p:attrName>
                                        </p:attrNameLst>
                                      </p:cBhvr>
                                      <p:tavLst>
                                        <p:tav tm="0">
                                          <p:val>
                                            <p:strVal val="#ppt_x"/>
                                          </p:val>
                                        </p:tav>
                                        <p:tav tm="100000">
                                          <p:val>
                                            <p:strVal val="#ppt_x"/>
                                          </p:val>
                                        </p:tav>
                                      </p:tavLst>
                                    </p:anim>
                                    <p:anim calcmode="lin" valueType="num">
                                      <p:cBhvr additive="base">
                                        <p:cTn id="240" dur="500" fill="hold"/>
                                        <p:tgtEl>
                                          <p:spTgt spid="72"/>
                                        </p:tgtEl>
                                        <p:attrNameLst>
                                          <p:attrName>ppt_y</p:attrName>
                                        </p:attrNameLst>
                                      </p:cBhvr>
                                      <p:tavLst>
                                        <p:tav tm="0">
                                          <p:val>
                                            <p:strVal val="#ppt_y+0.1"/>
                                          </p:val>
                                        </p:tav>
                                        <p:tav tm="100000">
                                          <p:val>
                                            <p:strVal val="#ppt_y"/>
                                          </p:val>
                                        </p:tav>
                                      </p:tavLst>
                                    </p:anim>
                                    <p:animEffect transition="in" filter="fade">
                                      <p:cBhvr>
                                        <p:cTn id="241"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Partitions and Replication - The Idea</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How one topic grows beyond one machine - and survives when a machine fails</a:t>
            </a:r>
          </a:p>
        </p:txBody>
      </p:sp>
      <p:sp>
        <p:nvSpPr>
          <p:cNvPr id="11" name="a1u_card10"/>
          <p:cNvSpPr/>
          <p:nvPr/>
        </p:nvSpPr>
        <p:spPr>
          <a:xfrm>
            <a:off x="457200" y="1234440"/>
            <a:ext cx="4023360" cy="3108960"/>
          </a:xfrm>
          <a:prstGeom prst="roundRect">
            <a:avLst>
              <a:gd name="adj" fmla="val 352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50292" cy="310896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44168"/>
            <a:ext cx="3657600" cy="237744"/>
          </a:xfrm>
          <a:prstGeom prst="rect">
            <a:avLst/>
          </a:prstGeom>
          <a:noFill/>
        </p:spPr>
        <p:txBody>
          <a:bodyPr wrap="square" lIns="0" tIns="0" rIns="0" bIns="0" anchor="ctr">
            <a:spAutoFit/>
          </a:bodyPr>
          <a:lstStyle/>
          <a:p>
            <a:pPr algn="l"/>
            <a:r>
              <a:rPr sz="900" b="1">
                <a:solidFill>
                  <a:srgbClr val="EA580C"/>
                </a:solidFill>
                <a:latin typeface="Segoe UI"/>
              </a:rPr>
              <a:t>PARTITIONS  ·  FOR SCALE</a:t>
            </a:r>
          </a:p>
        </p:txBody>
      </p:sp>
      <p:sp>
        <p:nvSpPr>
          <p:cNvPr id="14" name="a1u_pl13"/>
          <p:cNvSpPr txBox="1"/>
          <p:nvPr/>
        </p:nvSpPr>
        <p:spPr>
          <a:xfrm>
            <a:off x="658368" y="1645920"/>
            <a:ext cx="1188720" cy="310896"/>
          </a:xfrm>
          <a:prstGeom prst="rect">
            <a:avLst/>
          </a:prstGeom>
          <a:noFill/>
        </p:spPr>
        <p:txBody>
          <a:bodyPr wrap="square" lIns="0" tIns="0" rIns="0" bIns="0" anchor="ctr">
            <a:spAutoFit/>
          </a:bodyPr>
          <a:lstStyle/>
          <a:p>
            <a:pPr algn="l"/>
            <a:r>
              <a:rPr sz="900" b="1">
                <a:solidFill>
                  <a:srgbClr val="EA580C"/>
                </a:solidFill>
                <a:latin typeface="Consolas"/>
              </a:rPr>
              <a:t>P0 · broker 1</a:t>
            </a:r>
          </a:p>
        </p:txBody>
      </p:sp>
      <p:sp>
        <p:nvSpPr>
          <p:cNvPr id="15" name="a1w_cell14"/>
          <p:cNvSpPr/>
          <p:nvPr/>
        </p:nvSpPr>
        <p:spPr>
          <a:xfrm>
            <a:off x="1874519" y="1645920"/>
            <a:ext cx="384048" cy="310896"/>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w_cellt15"/>
          <p:cNvSpPr txBox="1"/>
          <p:nvPr/>
        </p:nvSpPr>
        <p:spPr>
          <a:xfrm>
            <a:off x="1874519" y="1645920"/>
            <a:ext cx="384048" cy="310896"/>
          </a:xfrm>
          <a:prstGeom prst="rect">
            <a:avLst/>
          </a:prstGeom>
          <a:noFill/>
        </p:spPr>
        <p:txBody>
          <a:bodyPr wrap="square" lIns="0" tIns="0" rIns="0" bIns="0" anchor="ctr">
            <a:spAutoFit/>
          </a:bodyPr>
          <a:lstStyle/>
          <a:p>
            <a:pPr algn="ctr"/>
            <a:r>
              <a:rPr sz="850" b="1">
                <a:solidFill>
                  <a:srgbClr val="EA580C"/>
                </a:solidFill>
                <a:latin typeface="Consolas"/>
              </a:rPr>
              <a:t>0</a:t>
            </a:r>
          </a:p>
        </p:txBody>
      </p:sp>
      <p:sp>
        <p:nvSpPr>
          <p:cNvPr id="17" name="a1wd30_cell16"/>
          <p:cNvSpPr/>
          <p:nvPr/>
        </p:nvSpPr>
        <p:spPr>
          <a:xfrm>
            <a:off x="2258568" y="1645920"/>
            <a:ext cx="384048" cy="310896"/>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wd30_cellt17"/>
          <p:cNvSpPr txBox="1"/>
          <p:nvPr/>
        </p:nvSpPr>
        <p:spPr>
          <a:xfrm>
            <a:off x="2258568" y="1645920"/>
            <a:ext cx="384048" cy="310896"/>
          </a:xfrm>
          <a:prstGeom prst="rect">
            <a:avLst/>
          </a:prstGeom>
          <a:noFill/>
        </p:spPr>
        <p:txBody>
          <a:bodyPr wrap="square" lIns="0" tIns="0" rIns="0" bIns="0" anchor="ctr">
            <a:spAutoFit/>
          </a:bodyPr>
          <a:lstStyle/>
          <a:p>
            <a:pPr algn="ctr"/>
            <a:r>
              <a:rPr sz="850" b="1">
                <a:solidFill>
                  <a:srgbClr val="EA580C"/>
                </a:solidFill>
                <a:latin typeface="Consolas"/>
              </a:rPr>
              <a:t>1</a:t>
            </a:r>
          </a:p>
        </p:txBody>
      </p:sp>
      <p:sp>
        <p:nvSpPr>
          <p:cNvPr id="19" name="a1wd60_cell18"/>
          <p:cNvSpPr/>
          <p:nvPr/>
        </p:nvSpPr>
        <p:spPr>
          <a:xfrm>
            <a:off x="2642615" y="1645920"/>
            <a:ext cx="384048" cy="310896"/>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wd60_cellt19"/>
          <p:cNvSpPr txBox="1"/>
          <p:nvPr/>
        </p:nvSpPr>
        <p:spPr>
          <a:xfrm>
            <a:off x="2642615" y="1645920"/>
            <a:ext cx="384048" cy="310896"/>
          </a:xfrm>
          <a:prstGeom prst="rect">
            <a:avLst/>
          </a:prstGeom>
          <a:noFill/>
        </p:spPr>
        <p:txBody>
          <a:bodyPr wrap="square" lIns="0" tIns="0" rIns="0" bIns="0" anchor="ctr">
            <a:spAutoFit/>
          </a:bodyPr>
          <a:lstStyle/>
          <a:p>
            <a:pPr algn="ctr"/>
            <a:r>
              <a:rPr sz="850" b="1">
                <a:solidFill>
                  <a:srgbClr val="EA580C"/>
                </a:solidFill>
                <a:latin typeface="Consolas"/>
              </a:rPr>
              <a:t>2</a:t>
            </a:r>
          </a:p>
        </p:txBody>
      </p:sp>
      <p:sp>
        <p:nvSpPr>
          <p:cNvPr id="21" name="a1wd90_cell20"/>
          <p:cNvSpPr/>
          <p:nvPr/>
        </p:nvSpPr>
        <p:spPr>
          <a:xfrm>
            <a:off x="3026663" y="1645920"/>
            <a:ext cx="384048" cy="310896"/>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wd90_cellt21"/>
          <p:cNvSpPr txBox="1"/>
          <p:nvPr/>
        </p:nvSpPr>
        <p:spPr>
          <a:xfrm>
            <a:off x="3026663" y="1645920"/>
            <a:ext cx="384048" cy="310896"/>
          </a:xfrm>
          <a:prstGeom prst="rect">
            <a:avLst/>
          </a:prstGeom>
          <a:noFill/>
        </p:spPr>
        <p:txBody>
          <a:bodyPr wrap="square" lIns="0" tIns="0" rIns="0" bIns="0" anchor="ctr">
            <a:spAutoFit/>
          </a:bodyPr>
          <a:lstStyle/>
          <a:p>
            <a:pPr algn="ctr"/>
            <a:r>
              <a:rPr sz="850" b="1">
                <a:solidFill>
                  <a:srgbClr val="EA580C"/>
                </a:solidFill>
                <a:latin typeface="Consolas"/>
              </a:rPr>
              <a:t>3</a:t>
            </a:r>
          </a:p>
        </p:txBody>
      </p:sp>
      <p:sp>
        <p:nvSpPr>
          <p:cNvPr id="23" name="a1wd120_cell22"/>
          <p:cNvSpPr/>
          <p:nvPr/>
        </p:nvSpPr>
        <p:spPr>
          <a:xfrm>
            <a:off x="3410711" y="1645920"/>
            <a:ext cx="384048" cy="310896"/>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wd120_cellt23"/>
          <p:cNvSpPr txBox="1"/>
          <p:nvPr/>
        </p:nvSpPr>
        <p:spPr>
          <a:xfrm>
            <a:off x="3410711" y="1645920"/>
            <a:ext cx="384048" cy="310896"/>
          </a:xfrm>
          <a:prstGeom prst="rect">
            <a:avLst/>
          </a:prstGeom>
          <a:noFill/>
        </p:spPr>
        <p:txBody>
          <a:bodyPr wrap="square" lIns="0" tIns="0" rIns="0" bIns="0" anchor="ctr">
            <a:spAutoFit/>
          </a:bodyPr>
          <a:lstStyle/>
          <a:p>
            <a:pPr algn="ctr"/>
            <a:r>
              <a:rPr sz="850" b="1">
                <a:solidFill>
                  <a:srgbClr val="EA580C"/>
                </a:solidFill>
                <a:latin typeface="Consolas"/>
              </a:rPr>
              <a:t>4</a:t>
            </a:r>
          </a:p>
        </p:txBody>
      </p:sp>
      <p:sp>
        <p:nvSpPr>
          <p:cNvPr id="25" name="a1ud100_pl24"/>
          <p:cNvSpPr txBox="1"/>
          <p:nvPr/>
        </p:nvSpPr>
        <p:spPr>
          <a:xfrm>
            <a:off x="658368" y="2121408"/>
            <a:ext cx="1188720" cy="310896"/>
          </a:xfrm>
          <a:prstGeom prst="rect">
            <a:avLst/>
          </a:prstGeom>
          <a:noFill/>
        </p:spPr>
        <p:txBody>
          <a:bodyPr wrap="square" lIns="0" tIns="0" rIns="0" bIns="0" anchor="ctr">
            <a:spAutoFit/>
          </a:bodyPr>
          <a:lstStyle/>
          <a:p>
            <a:pPr algn="l"/>
            <a:r>
              <a:rPr sz="900" b="1">
                <a:solidFill>
                  <a:srgbClr val="0E7490"/>
                </a:solidFill>
                <a:latin typeface="Consolas"/>
              </a:rPr>
              <a:t>P1 · broker 2</a:t>
            </a:r>
          </a:p>
        </p:txBody>
      </p:sp>
      <p:sp>
        <p:nvSpPr>
          <p:cNvPr id="26" name="a1wd100_cell25"/>
          <p:cNvSpPr/>
          <p:nvPr/>
        </p:nvSpPr>
        <p:spPr>
          <a:xfrm>
            <a:off x="1874519" y="2121408"/>
            <a:ext cx="384048" cy="310896"/>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wd100_cellt26"/>
          <p:cNvSpPr txBox="1"/>
          <p:nvPr/>
        </p:nvSpPr>
        <p:spPr>
          <a:xfrm>
            <a:off x="1874519" y="2121408"/>
            <a:ext cx="384048" cy="310896"/>
          </a:xfrm>
          <a:prstGeom prst="rect">
            <a:avLst/>
          </a:prstGeom>
          <a:noFill/>
        </p:spPr>
        <p:txBody>
          <a:bodyPr wrap="square" lIns="0" tIns="0" rIns="0" bIns="0" anchor="ctr">
            <a:spAutoFit/>
          </a:bodyPr>
          <a:lstStyle/>
          <a:p>
            <a:pPr algn="ctr"/>
            <a:r>
              <a:rPr sz="850" b="1">
                <a:solidFill>
                  <a:srgbClr val="0E7490"/>
                </a:solidFill>
                <a:latin typeface="Consolas"/>
              </a:rPr>
              <a:t>0</a:t>
            </a:r>
          </a:p>
        </p:txBody>
      </p:sp>
      <p:sp>
        <p:nvSpPr>
          <p:cNvPr id="28" name="a1wd130_cell27"/>
          <p:cNvSpPr/>
          <p:nvPr/>
        </p:nvSpPr>
        <p:spPr>
          <a:xfrm>
            <a:off x="2258568" y="2121408"/>
            <a:ext cx="384048" cy="310896"/>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wd130_cellt28"/>
          <p:cNvSpPr txBox="1"/>
          <p:nvPr/>
        </p:nvSpPr>
        <p:spPr>
          <a:xfrm>
            <a:off x="2258568" y="2121408"/>
            <a:ext cx="384048" cy="310896"/>
          </a:xfrm>
          <a:prstGeom prst="rect">
            <a:avLst/>
          </a:prstGeom>
          <a:noFill/>
        </p:spPr>
        <p:txBody>
          <a:bodyPr wrap="square" lIns="0" tIns="0" rIns="0" bIns="0" anchor="ctr">
            <a:spAutoFit/>
          </a:bodyPr>
          <a:lstStyle/>
          <a:p>
            <a:pPr algn="ctr"/>
            <a:r>
              <a:rPr sz="850" b="1">
                <a:solidFill>
                  <a:srgbClr val="0E7490"/>
                </a:solidFill>
                <a:latin typeface="Consolas"/>
              </a:rPr>
              <a:t>1</a:t>
            </a:r>
          </a:p>
        </p:txBody>
      </p:sp>
      <p:sp>
        <p:nvSpPr>
          <p:cNvPr id="30" name="a1wd160_cell29"/>
          <p:cNvSpPr/>
          <p:nvPr/>
        </p:nvSpPr>
        <p:spPr>
          <a:xfrm>
            <a:off x="2642615" y="2121408"/>
            <a:ext cx="384048" cy="310896"/>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1wd160_cellt30"/>
          <p:cNvSpPr txBox="1"/>
          <p:nvPr/>
        </p:nvSpPr>
        <p:spPr>
          <a:xfrm>
            <a:off x="2642615" y="2121408"/>
            <a:ext cx="384048" cy="310896"/>
          </a:xfrm>
          <a:prstGeom prst="rect">
            <a:avLst/>
          </a:prstGeom>
          <a:noFill/>
        </p:spPr>
        <p:txBody>
          <a:bodyPr wrap="square" lIns="0" tIns="0" rIns="0" bIns="0" anchor="ctr">
            <a:spAutoFit/>
          </a:bodyPr>
          <a:lstStyle/>
          <a:p>
            <a:pPr algn="ctr"/>
            <a:r>
              <a:rPr sz="850" b="1">
                <a:solidFill>
                  <a:srgbClr val="0E7490"/>
                </a:solidFill>
                <a:latin typeface="Consolas"/>
              </a:rPr>
              <a:t>2</a:t>
            </a:r>
          </a:p>
        </p:txBody>
      </p:sp>
      <p:sp>
        <p:nvSpPr>
          <p:cNvPr id="32" name="a1wd190_cell31"/>
          <p:cNvSpPr/>
          <p:nvPr/>
        </p:nvSpPr>
        <p:spPr>
          <a:xfrm>
            <a:off x="3026663" y="2121408"/>
            <a:ext cx="384048" cy="310896"/>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1wd190_cellt32"/>
          <p:cNvSpPr txBox="1"/>
          <p:nvPr/>
        </p:nvSpPr>
        <p:spPr>
          <a:xfrm>
            <a:off x="3026663" y="2121408"/>
            <a:ext cx="384048" cy="310896"/>
          </a:xfrm>
          <a:prstGeom prst="rect">
            <a:avLst/>
          </a:prstGeom>
          <a:noFill/>
        </p:spPr>
        <p:txBody>
          <a:bodyPr wrap="square" lIns="0" tIns="0" rIns="0" bIns="0" anchor="ctr">
            <a:spAutoFit/>
          </a:bodyPr>
          <a:lstStyle/>
          <a:p>
            <a:pPr algn="ctr"/>
            <a:r>
              <a:rPr sz="850" b="1">
                <a:solidFill>
                  <a:srgbClr val="0E7490"/>
                </a:solidFill>
                <a:latin typeface="Consolas"/>
              </a:rPr>
              <a:t>3</a:t>
            </a:r>
          </a:p>
        </p:txBody>
      </p:sp>
      <p:sp>
        <p:nvSpPr>
          <p:cNvPr id="34" name="a1ud200_pl33"/>
          <p:cNvSpPr txBox="1"/>
          <p:nvPr/>
        </p:nvSpPr>
        <p:spPr>
          <a:xfrm>
            <a:off x="658368" y="2596896"/>
            <a:ext cx="1188720" cy="310896"/>
          </a:xfrm>
          <a:prstGeom prst="rect">
            <a:avLst/>
          </a:prstGeom>
          <a:noFill/>
        </p:spPr>
        <p:txBody>
          <a:bodyPr wrap="square" lIns="0" tIns="0" rIns="0" bIns="0" anchor="ctr">
            <a:spAutoFit/>
          </a:bodyPr>
          <a:lstStyle/>
          <a:p>
            <a:pPr algn="l"/>
            <a:r>
              <a:rPr sz="900" b="1">
                <a:solidFill>
                  <a:srgbClr val="A16207"/>
                </a:solidFill>
                <a:latin typeface="Consolas"/>
              </a:rPr>
              <a:t>P2 · broker 3</a:t>
            </a:r>
          </a:p>
        </p:txBody>
      </p:sp>
      <p:sp>
        <p:nvSpPr>
          <p:cNvPr id="35" name="a1wd200_cell34"/>
          <p:cNvSpPr/>
          <p:nvPr/>
        </p:nvSpPr>
        <p:spPr>
          <a:xfrm>
            <a:off x="1874519" y="2596896"/>
            <a:ext cx="384048" cy="310896"/>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1wd200_cellt35"/>
          <p:cNvSpPr txBox="1"/>
          <p:nvPr/>
        </p:nvSpPr>
        <p:spPr>
          <a:xfrm>
            <a:off x="1874519" y="2596896"/>
            <a:ext cx="384048" cy="310896"/>
          </a:xfrm>
          <a:prstGeom prst="rect">
            <a:avLst/>
          </a:prstGeom>
          <a:noFill/>
        </p:spPr>
        <p:txBody>
          <a:bodyPr wrap="square" lIns="0" tIns="0" rIns="0" bIns="0" anchor="ctr">
            <a:spAutoFit/>
          </a:bodyPr>
          <a:lstStyle/>
          <a:p>
            <a:pPr algn="ctr"/>
            <a:r>
              <a:rPr sz="850" b="1">
                <a:solidFill>
                  <a:srgbClr val="A16207"/>
                </a:solidFill>
                <a:latin typeface="Consolas"/>
              </a:rPr>
              <a:t>0</a:t>
            </a:r>
          </a:p>
        </p:txBody>
      </p:sp>
      <p:sp>
        <p:nvSpPr>
          <p:cNvPr id="37" name="a1wd230_cell36"/>
          <p:cNvSpPr/>
          <p:nvPr/>
        </p:nvSpPr>
        <p:spPr>
          <a:xfrm>
            <a:off x="2258568" y="2596896"/>
            <a:ext cx="384048" cy="310896"/>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1wd230_cellt37"/>
          <p:cNvSpPr txBox="1"/>
          <p:nvPr/>
        </p:nvSpPr>
        <p:spPr>
          <a:xfrm>
            <a:off x="2258568" y="2596896"/>
            <a:ext cx="384048" cy="310896"/>
          </a:xfrm>
          <a:prstGeom prst="rect">
            <a:avLst/>
          </a:prstGeom>
          <a:noFill/>
        </p:spPr>
        <p:txBody>
          <a:bodyPr wrap="square" lIns="0" tIns="0" rIns="0" bIns="0" anchor="ctr">
            <a:spAutoFit/>
          </a:bodyPr>
          <a:lstStyle/>
          <a:p>
            <a:pPr algn="ctr"/>
            <a:r>
              <a:rPr sz="850" b="1">
                <a:solidFill>
                  <a:srgbClr val="A16207"/>
                </a:solidFill>
                <a:latin typeface="Consolas"/>
              </a:rPr>
              <a:t>1</a:t>
            </a:r>
          </a:p>
        </p:txBody>
      </p:sp>
      <p:sp>
        <p:nvSpPr>
          <p:cNvPr id="39" name="a1wd260_cell38"/>
          <p:cNvSpPr/>
          <p:nvPr/>
        </p:nvSpPr>
        <p:spPr>
          <a:xfrm>
            <a:off x="2642615" y="2596896"/>
            <a:ext cx="384048" cy="310896"/>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1wd260_cellt39"/>
          <p:cNvSpPr txBox="1"/>
          <p:nvPr/>
        </p:nvSpPr>
        <p:spPr>
          <a:xfrm>
            <a:off x="2642615" y="2596896"/>
            <a:ext cx="384048" cy="310896"/>
          </a:xfrm>
          <a:prstGeom prst="rect">
            <a:avLst/>
          </a:prstGeom>
          <a:noFill/>
        </p:spPr>
        <p:txBody>
          <a:bodyPr wrap="square" lIns="0" tIns="0" rIns="0" bIns="0" anchor="ctr">
            <a:spAutoFit/>
          </a:bodyPr>
          <a:lstStyle/>
          <a:p>
            <a:pPr algn="ctr"/>
            <a:r>
              <a:rPr sz="850" b="1">
                <a:solidFill>
                  <a:srgbClr val="A16207"/>
                </a:solidFill>
                <a:latin typeface="Consolas"/>
              </a:rPr>
              <a:t>2</a:t>
            </a:r>
          </a:p>
        </p:txBody>
      </p:sp>
      <p:sp>
        <p:nvSpPr>
          <p:cNvPr id="41" name="a1wd290_cell40"/>
          <p:cNvSpPr/>
          <p:nvPr/>
        </p:nvSpPr>
        <p:spPr>
          <a:xfrm>
            <a:off x="3026663" y="2596896"/>
            <a:ext cx="384048" cy="310896"/>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1wd290_cellt41"/>
          <p:cNvSpPr txBox="1"/>
          <p:nvPr/>
        </p:nvSpPr>
        <p:spPr>
          <a:xfrm>
            <a:off x="3026663" y="2596896"/>
            <a:ext cx="384048" cy="310896"/>
          </a:xfrm>
          <a:prstGeom prst="rect">
            <a:avLst/>
          </a:prstGeom>
          <a:noFill/>
        </p:spPr>
        <p:txBody>
          <a:bodyPr wrap="square" lIns="0" tIns="0" rIns="0" bIns="0" anchor="ctr">
            <a:spAutoFit/>
          </a:bodyPr>
          <a:lstStyle/>
          <a:p>
            <a:pPr algn="ctr"/>
            <a:r>
              <a:rPr sz="850" b="1">
                <a:solidFill>
                  <a:srgbClr val="A16207"/>
                </a:solidFill>
                <a:latin typeface="Consolas"/>
              </a:rPr>
              <a:t>3</a:t>
            </a:r>
          </a:p>
        </p:txBody>
      </p:sp>
      <p:sp>
        <p:nvSpPr>
          <p:cNvPr id="43" name="a1wd320_cell42"/>
          <p:cNvSpPr/>
          <p:nvPr/>
        </p:nvSpPr>
        <p:spPr>
          <a:xfrm>
            <a:off x="3410711" y="2596896"/>
            <a:ext cx="384048" cy="310896"/>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1wd320_cellt43"/>
          <p:cNvSpPr txBox="1"/>
          <p:nvPr/>
        </p:nvSpPr>
        <p:spPr>
          <a:xfrm>
            <a:off x="3410711" y="2596896"/>
            <a:ext cx="384048" cy="310896"/>
          </a:xfrm>
          <a:prstGeom prst="rect">
            <a:avLst/>
          </a:prstGeom>
          <a:noFill/>
        </p:spPr>
        <p:txBody>
          <a:bodyPr wrap="square" lIns="0" tIns="0" rIns="0" bIns="0" anchor="ctr">
            <a:spAutoFit/>
          </a:bodyPr>
          <a:lstStyle/>
          <a:p>
            <a:pPr algn="ctr"/>
            <a:r>
              <a:rPr sz="850" b="1">
                <a:solidFill>
                  <a:srgbClr val="A16207"/>
                </a:solidFill>
                <a:latin typeface="Consolas"/>
              </a:rPr>
              <a:t>4</a:t>
            </a:r>
          </a:p>
        </p:txBody>
      </p:sp>
      <p:sp>
        <p:nvSpPr>
          <p:cNvPr id="45" name="a2u_dot44"/>
          <p:cNvSpPr/>
          <p:nvPr/>
        </p:nvSpPr>
        <p:spPr>
          <a:xfrm>
            <a:off x="658368" y="323240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2u_b45"/>
          <p:cNvSpPr txBox="1"/>
          <p:nvPr/>
        </p:nvSpPr>
        <p:spPr>
          <a:xfrm>
            <a:off x="877824" y="3136392"/>
            <a:ext cx="3401568" cy="420624"/>
          </a:xfrm>
          <a:prstGeom prst="rect">
            <a:avLst/>
          </a:prstGeom>
          <a:noFill/>
        </p:spPr>
        <p:txBody>
          <a:bodyPr wrap="square" lIns="0" tIns="0" rIns="0" bIns="0" anchor="t">
            <a:spAutoFit/>
          </a:bodyPr>
          <a:lstStyle/>
          <a:p>
            <a:pPr algn="l"/>
            <a:r>
              <a:rPr sz="900" b="0">
                <a:solidFill>
                  <a:srgbClr val="44403C"/>
                </a:solidFill>
                <a:latin typeface="Segoe UI"/>
              </a:rPr>
              <a:t>A topic is split into partitions on different brokers</a:t>
            </a:r>
          </a:p>
        </p:txBody>
      </p:sp>
      <p:sp>
        <p:nvSpPr>
          <p:cNvPr id="47" name="a2ud150_dot46"/>
          <p:cNvSpPr/>
          <p:nvPr/>
        </p:nvSpPr>
        <p:spPr>
          <a:xfrm>
            <a:off x="658368" y="368960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2ud150_b47"/>
          <p:cNvSpPr txBox="1"/>
          <p:nvPr/>
        </p:nvSpPr>
        <p:spPr>
          <a:xfrm>
            <a:off x="877824" y="3593592"/>
            <a:ext cx="3401568" cy="420624"/>
          </a:xfrm>
          <a:prstGeom prst="rect">
            <a:avLst/>
          </a:prstGeom>
          <a:noFill/>
        </p:spPr>
        <p:txBody>
          <a:bodyPr wrap="square" lIns="0" tIns="0" rIns="0" bIns="0" anchor="t">
            <a:spAutoFit/>
          </a:bodyPr>
          <a:lstStyle/>
          <a:p>
            <a:pPr algn="l"/>
            <a:r>
              <a:rPr sz="900" b="0">
                <a:solidFill>
                  <a:srgbClr val="44403C"/>
                </a:solidFill>
                <a:latin typeface="Segoe UI"/>
              </a:rPr>
              <a:t>Same key (e.g. customer id) -&gt; same partition -&gt; kept in order</a:t>
            </a:r>
          </a:p>
        </p:txBody>
      </p:sp>
      <p:sp>
        <p:nvSpPr>
          <p:cNvPr id="49" name="a3u_card48"/>
          <p:cNvSpPr/>
          <p:nvPr/>
        </p:nvSpPr>
        <p:spPr>
          <a:xfrm>
            <a:off x="4663440" y="1234440"/>
            <a:ext cx="4023360" cy="3108960"/>
          </a:xfrm>
          <a:prstGeom prst="roundRect">
            <a:avLst>
              <a:gd name="adj" fmla="val 352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3u_acc49"/>
          <p:cNvSpPr/>
          <p:nvPr/>
        </p:nvSpPr>
        <p:spPr>
          <a:xfrm>
            <a:off x="4663440" y="1234440"/>
            <a:ext cx="50292" cy="310896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3u_hh50"/>
          <p:cNvSpPr txBox="1"/>
          <p:nvPr/>
        </p:nvSpPr>
        <p:spPr>
          <a:xfrm>
            <a:off x="4864607" y="1344168"/>
            <a:ext cx="3657600" cy="237744"/>
          </a:xfrm>
          <a:prstGeom prst="rect">
            <a:avLst/>
          </a:prstGeom>
          <a:noFill/>
        </p:spPr>
        <p:txBody>
          <a:bodyPr wrap="square" lIns="0" tIns="0" rIns="0" bIns="0" anchor="ctr">
            <a:spAutoFit/>
          </a:bodyPr>
          <a:lstStyle/>
          <a:p>
            <a:pPr algn="l"/>
            <a:r>
              <a:rPr sz="900" b="1">
                <a:solidFill>
                  <a:srgbClr val="0E7490"/>
                </a:solidFill>
                <a:latin typeface="Segoe UI"/>
              </a:rPr>
              <a:t>REPLICATION  ·  FOR SAFETY</a:t>
            </a:r>
          </a:p>
        </p:txBody>
      </p:sp>
      <p:sp>
        <p:nvSpPr>
          <p:cNvPr id="52" name="a3u_nd51"/>
          <p:cNvSpPr/>
          <p:nvPr/>
        </p:nvSpPr>
        <p:spPr>
          <a:xfrm>
            <a:off x="4892040" y="1691640"/>
            <a:ext cx="1115568" cy="731520"/>
          </a:xfrm>
          <a:prstGeom prst="roundRect">
            <a:avLst>
              <a:gd name="adj" fmla="val 10000"/>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3u_ndt52"/>
          <p:cNvSpPr txBox="1"/>
          <p:nvPr/>
        </p:nvSpPr>
        <p:spPr>
          <a:xfrm>
            <a:off x="4937759" y="1728216"/>
            <a:ext cx="1024127" cy="347472"/>
          </a:xfrm>
          <a:prstGeom prst="rect">
            <a:avLst/>
          </a:prstGeom>
          <a:noFill/>
        </p:spPr>
        <p:txBody>
          <a:bodyPr wrap="square" lIns="0" tIns="0" rIns="0" bIns="0" anchor="b">
            <a:spAutoFit/>
          </a:bodyPr>
          <a:lstStyle/>
          <a:p>
            <a:pPr algn="ctr"/>
            <a:r>
              <a:rPr sz="900" b="1">
                <a:solidFill>
                  <a:srgbClr val="1C1917"/>
                </a:solidFill>
                <a:latin typeface="Segoe UI"/>
              </a:rPr>
              <a:t>Broker 1</a:t>
            </a:r>
          </a:p>
        </p:txBody>
      </p:sp>
      <p:sp>
        <p:nvSpPr>
          <p:cNvPr id="54" name="a3u_nds53"/>
          <p:cNvSpPr txBox="1"/>
          <p:nvPr/>
        </p:nvSpPr>
        <p:spPr>
          <a:xfrm>
            <a:off x="4937759" y="2084831"/>
            <a:ext cx="1024127" cy="301752"/>
          </a:xfrm>
          <a:prstGeom prst="rect">
            <a:avLst/>
          </a:prstGeom>
          <a:noFill/>
        </p:spPr>
        <p:txBody>
          <a:bodyPr wrap="square" lIns="0" tIns="0" rIns="0" bIns="0" anchor="t">
            <a:spAutoFit/>
          </a:bodyPr>
          <a:lstStyle/>
          <a:p>
            <a:pPr algn="ctr"/>
            <a:r>
              <a:rPr sz="800" b="0">
                <a:solidFill>
                  <a:srgbClr val="0E7490"/>
                </a:solidFill>
                <a:latin typeface="Segoe UI"/>
              </a:rPr>
              <a:t>P0  ·  leader</a:t>
            </a:r>
          </a:p>
        </p:txBody>
      </p:sp>
      <p:sp>
        <p:nvSpPr>
          <p:cNvPr id="55" name="a3ud100_nd54"/>
          <p:cNvSpPr/>
          <p:nvPr/>
        </p:nvSpPr>
        <p:spPr>
          <a:xfrm>
            <a:off x="6144768" y="1691640"/>
            <a:ext cx="1115568" cy="731520"/>
          </a:xfrm>
          <a:prstGeom prst="roundRect">
            <a:avLst>
              <a:gd name="adj" fmla="val 10000"/>
            </a:avLst>
          </a:prstGeom>
          <a:solidFill>
            <a:srgbClr val="F7F6F3"/>
          </a:solidFill>
          <a:ln w="15875">
            <a:solidFill>
              <a:srgbClr val="7871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3ud100_ndt55"/>
          <p:cNvSpPr txBox="1"/>
          <p:nvPr/>
        </p:nvSpPr>
        <p:spPr>
          <a:xfrm>
            <a:off x="6190488" y="1728216"/>
            <a:ext cx="1024127" cy="347472"/>
          </a:xfrm>
          <a:prstGeom prst="rect">
            <a:avLst/>
          </a:prstGeom>
          <a:noFill/>
        </p:spPr>
        <p:txBody>
          <a:bodyPr wrap="square" lIns="0" tIns="0" rIns="0" bIns="0" anchor="b">
            <a:spAutoFit/>
          </a:bodyPr>
          <a:lstStyle/>
          <a:p>
            <a:pPr algn="ctr"/>
            <a:r>
              <a:rPr sz="900" b="1">
                <a:solidFill>
                  <a:srgbClr val="1C1917"/>
                </a:solidFill>
                <a:latin typeface="Segoe UI"/>
              </a:rPr>
              <a:t>Broker 2</a:t>
            </a:r>
          </a:p>
        </p:txBody>
      </p:sp>
      <p:sp>
        <p:nvSpPr>
          <p:cNvPr id="57" name="a3ud100_nds56"/>
          <p:cNvSpPr txBox="1"/>
          <p:nvPr/>
        </p:nvSpPr>
        <p:spPr>
          <a:xfrm>
            <a:off x="6190488" y="2084831"/>
            <a:ext cx="1024127" cy="301752"/>
          </a:xfrm>
          <a:prstGeom prst="rect">
            <a:avLst/>
          </a:prstGeom>
          <a:noFill/>
        </p:spPr>
        <p:txBody>
          <a:bodyPr wrap="square" lIns="0" tIns="0" rIns="0" bIns="0" anchor="t">
            <a:spAutoFit/>
          </a:bodyPr>
          <a:lstStyle/>
          <a:p>
            <a:pPr algn="ctr"/>
            <a:r>
              <a:rPr sz="800" b="0">
                <a:solidFill>
                  <a:srgbClr val="78716C"/>
                </a:solidFill>
                <a:latin typeface="Segoe UI"/>
              </a:rPr>
              <a:t>P0  ·  copy</a:t>
            </a:r>
          </a:p>
        </p:txBody>
      </p:sp>
      <p:cxnSp>
        <p:nvCxnSpPr>
          <p:cNvPr id="58" name="a3ud100_ar57"/>
          <p:cNvCxnSpPr/>
          <p:nvPr/>
        </p:nvCxnSpPr>
        <p:spPr>
          <a:xfrm>
            <a:off x="6025896" y="2057400"/>
            <a:ext cx="100584" cy="0"/>
          </a:xfrm>
          <a:prstGeom prst="line">
            <a:avLst/>
          </a:prstGeom>
          <a:ln w="1270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a3ud200_nd58"/>
          <p:cNvSpPr/>
          <p:nvPr/>
        </p:nvSpPr>
        <p:spPr>
          <a:xfrm>
            <a:off x="7397496" y="1691640"/>
            <a:ext cx="1115568" cy="731520"/>
          </a:xfrm>
          <a:prstGeom prst="roundRect">
            <a:avLst>
              <a:gd name="adj" fmla="val 10000"/>
            </a:avLst>
          </a:prstGeom>
          <a:solidFill>
            <a:srgbClr val="F7F6F3"/>
          </a:solidFill>
          <a:ln w="15875">
            <a:solidFill>
              <a:srgbClr val="7871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3ud200_ndt59"/>
          <p:cNvSpPr txBox="1"/>
          <p:nvPr/>
        </p:nvSpPr>
        <p:spPr>
          <a:xfrm>
            <a:off x="7443216" y="1728216"/>
            <a:ext cx="1024127" cy="347472"/>
          </a:xfrm>
          <a:prstGeom prst="rect">
            <a:avLst/>
          </a:prstGeom>
          <a:noFill/>
        </p:spPr>
        <p:txBody>
          <a:bodyPr wrap="square" lIns="0" tIns="0" rIns="0" bIns="0" anchor="b">
            <a:spAutoFit/>
          </a:bodyPr>
          <a:lstStyle/>
          <a:p>
            <a:pPr algn="ctr"/>
            <a:r>
              <a:rPr sz="900" b="1">
                <a:solidFill>
                  <a:srgbClr val="1C1917"/>
                </a:solidFill>
                <a:latin typeface="Segoe UI"/>
              </a:rPr>
              <a:t>Broker 3</a:t>
            </a:r>
          </a:p>
        </p:txBody>
      </p:sp>
      <p:sp>
        <p:nvSpPr>
          <p:cNvPr id="61" name="a3ud200_nds60"/>
          <p:cNvSpPr txBox="1"/>
          <p:nvPr/>
        </p:nvSpPr>
        <p:spPr>
          <a:xfrm>
            <a:off x="7443216" y="2084831"/>
            <a:ext cx="1024127" cy="301752"/>
          </a:xfrm>
          <a:prstGeom prst="rect">
            <a:avLst/>
          </a:prstGeom>
          <a:noFill/>
        </p:spPr>
        <p:txBody>
          <a:bodyPr wrap="square" lIns="0" tIns="0" rIns="0" bIns="0" anchor="t">
            <a:spAutoFit/>
          </a:bodyPr>
          <a:lstStyle/>
          <a:p>
            <a:pPr algn="ctr"/>
            <a:r>
              <a:rPr sz="800" b="0">
                <a:solidFill>
                  <a:srgbClr val="78716C"/>
                </a:solidFill>
                <a:latin typeface="Segoe UI"/>
              </a:rPr>
              <a:t>P0  ·  copy</a:t>
            </a:r>
          </a:p>
        </p:txBody>
      </p:sp>
      <p:cxnSp>
        <p:nvCxnSpPr>
          <p:cNvPr id="62" name="a3ud200_ar61"/>
          <p:cNvCxnSpPr/>
          <p:nvPr/>
        </p:nvCxnSpPr>
        <p:spPr>
          <a:xfrm>
            <a:off x="7278624" y="2057400"/>
            <a:ext cx="100584" cy="0"/>
          </a:xfrm>
          <a:prstGeom prst="line">
            <a:avLst/>
          </a:prstGeom>
          <a:ln w="1270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a4u_dot62"/>
          <p:cNvSpPr/>
          <p:nvPr/>
        </p:nvSpPr>
        <p:spPr>
          <a:xfrm>
            <a:off x="4864608" y="282092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a4u_b63"/>
          <p:cNvSpPr txBox="1"/>
          <p:nvPr/>
        </p:nvSpPr>
        <p:spPr>
          <a:xfrm>
            <a:off x="5084064" y="2724912"/>
            <a:ext cx="3401568" cy="365760"/>
          </a:xfrm>
          <a:prstGeom prst="rect">
            <a:avLst/>
          </a:prstGeom>
          <a:noFill/>
        </p:spPr>
        <p:txBody>
          <a:bodyPr wrap="square" lIns="0" tIns="0" rIns="0" bIns="0" anchor="t">
            <a:spAutoFit/>
          </a:bodyPr>
          <a:lstStyle/>
          <a:p>
            <a:pPr algn="l"/>
            <a:r>
              <a:rPr sz="900" b="0">
                <a:solidFill>
                  <a:srgbClr val="44403C"/>
                </a:solidFill>
                <a:latin typeface="Segoe UI"/>
              </a:rPr>
              <a:t>Each partition is copied to other brokers</a:t>
            </a:r>
          </a:p>
        </p:txBody>
      </p:sp>
      <p:sp>
        <p:nvSpPr>
          <p:cNvPr id="65" name="a4ud150_dot64"/>
          <p:cNvSpPr/>
          <p:nvPr/>
        </p:nvSpPr>
        <p:spPr>
          <a:xfrm>
            <a:off x="4864608" y="3223260"/>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a4ud150_b65"/>
          <p:cNvSpPr txBox="1"/>
          <p:nvPr/>
        </p:nvSpPr>
        <p:spPr>
          <a:xfrm>
            <a:off x="5084064" y="3127248"/>
            <a:ext cx="3401568" cy="365760"/>
          </a:xfrm>
          <a:prstGeom prst="rect">
            <a:avLst/>
          </a:prstGeom>
          <a:noFill/>
        </p:spPr>
        <p:txBody>
          <a:bodyPr wrap="square" lIns="0" tIns="0" rIns="0" bIns="0" anchor="t">
            <a:spAutoFit/>
          </a:bodyPr>
          <a:lstStyle/>
          <a:p>
            <a:pPr algn="l"/>
            <a:r>
              <a:rPr sz="900" b="0">
                <a:solidFill>
                  <a:srgbClr val="44403C"/>
                </a:solidFill>
                <a:latin typeface="Segoe UI"/>
              </a:rPr>
              <a:t>A common production setting: 3 copies</a:t>
            </a:r>
          </a:p>
        </p:txBody>
      </p:sp>
      <p:sp>
        <p:nvSpPr>
          <p:cNvPr id="67" name="a4ud300_dot66"/>
          <p:cNvSpPr/>
          <p:nvPr/>
        </p:nvSpPr>
        <p:spPr>
          <a:xfrm>
            <a:off x="4864608" y="3625596"/>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a4ud300_b67"/>
          <p:cNvSpPr txBox="1"/>
          <p:nvPr/>
        </p:nvSpPr>
        <p:spPr>
          <a:xfrm>
            <a:off x="5084064" y="3529584"/>
            <a:ext cx="3401568" cy="365760"/>
          </a:xfrm>
          <a:prstGeom prst="rect">
            <a:avLst/>
          </a:prstGeom>
          <a:noFill/>
        </p:spPr>
        <p:txBody>
          <a:bodyPr wrap="square" lIns="0" tIns="0" rIns="0" bIns="0" anchor="t">
            <a:spAutoFit/>
          </a:bodyPr>
          <a:lstStyle/>
          <a:p>
            <a:pPr algn="l"/>
            <a:r>
              <a:rPr sz="900" b="0">
                <a:solidFill>
                  <a:srgbClr val="44403C"/>
                </a:solidFill>
                <a:latin typeface="Segoe UI"/>
              </a:rPr>
              <a:t>A broker fails? A copy takes over</a:t>
            </a:r>
          </a:p>
        </p:txBody>
      </p:sp>
      <p:sp>
        <p:nvSpPr>
          <p:cNvPr id="69" name="ft6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67</a:t>
            </a:r>
          </a:p>
        </p:txBody>
      </p:sp>
      <p:sp>
        <p:nvSpPr>
          <p:cNvPr id="70" name="ft6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ft7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72" name="ft7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7" presetID="22" presetClass="entr" presetSubtype="8"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par>
                                <p:cTn id="30" presetID="22" presetClass="entr" presetSubtype="8"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par>
                                <p:cTn id="33" presetID="22" presetClass="entr" presetSubtype="8" fill="hold" grpId="0" nodeType="withEffect">
                                  <p:stCondLst>
                                    <p:cond delay="3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500"/>
                                        <p:tgtEl>
                                          <p:spTgt spid="17"/>
                                        </p:tgtEl>
                                      </p:cBhvr>
                                    </p:animEffect>
                                  </p:childTnLst>
                                </p:cTn>
                              </p:par>
                              <p:par>
                                <p:cTn id="36" presetID="22" presetClass="entr" presetSubtype="8" fill="hold" grpId="0" nodeType="withEffect">
                                  <p:stCondLst>
                                    <p:cond delay="3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5" dur="500"/>
                                        <p:tgtEl>
                                          <p:spTgt spid="18"/>
                                        </p:tgtEl>
                                      </p:cBhvr>
                                    </p:animEffect>
                                  </p:childTnLst>
                                </p:cTn>
                              </p:par>
                              <p:par>
                                <p:cTn id="39" presetID="22" presetClass="entr" presetSubtype="8" fill="hold" grpId="0" nodeType="withEffect">
                                  <p:stCondLst>
                                    <p:cond delay="60"/>
                                  </p:stCondLst>
                                  <p:childTnLst>
                                    <p:set>
                                      <p:cBhvr>
                                        <p:cTn id="37" dur="1" fill="hold">
                                          <p:stCondLst>
                                            <p:cond delay="0"/>
                                          </p:stCondLst>
                                        </p:cTn>
                                        <p:tgtEl>
                                          <p:spTgt spid="19"/>
                                        </p:tgtEl>
                                        <p:attrNameLst>
                                          <p:attrName>style.visibility</p:attrName>
                                        </p:attrNameLst>
                                      </p:cBhvr>
                                      <p:to>
                                        <p:strVal val="visible"/>
                                      </p:to>
                                    </p:set>
                                    <p:animEffect transition="in" filter="wipe(left)">
                                      <p:cBhvr>
                                        <p:cTn id="38" dur="500"/>
                                        <p:tgtEl>
                                          <p:spTgt spid="19"/>
                                        </p:tgtEl>
                                      </p:cBhvr>
                                    </p:animEffect>
                                  </p:childTnLst>
                                </p:cTn>
                              </p:par>
                              <p:par>
                                <p:cTn id="42" presetID="22" presetClass="entr" presetSubtype="8" fill="hold" grpId="0" nodeType="withEffect">
                                  <p:stCondLst>
                                    <p:cond delay="60"/>
                                  </p:stCondLst>
                                  <p:childTnLst>
                                    <p:set>
                                      <p:cBhvr>
                                        <p:cTn id="40" dur="1" fill="hold">
                                          <p:stCondLst>
                                            <p:cond delay="0"/>
                                          </p:stCondLst>
                                        </p:cTn>
                                        <p:tgtEl>
                                          <p:spTgt spid="20"/>
                                        </p:tgtEl>
                                        <p:attrNameLst>
                                          <p:attrName>style.visibility</p:attrName>
                                        </p:attrNameLst>
                                      </p:cBhvr>
                                      <p:to>
                                        <p:strVal val="visible"/>
                                      </p:to>
                                    </p:set>
                                    <p:animEffect transition="in" filter="wipe(left)">
                                      <p:cBhvr>
                                        <p:cTn id="41" dur="500"/>
                                        <p:tgtEl>
                                          <p:spTgt spid="20"/>
                                        </p:tgtEl>
                                      </p:cBhvr>
                                    </p:animEffect>
                                  </p:childTnLst>
                                </p:cTn>
                              </p:par>
                              <p:par>
                                <p:cTn id="45" presetID="22" presetClass="entr" presetSubtype="8" fill="hold" grpId="0" nodeType="withEffect">
                                  <p:stCondLst>
                                    <p:cond delay="90"/>
                                  </p:stCondLst>
                                  <p:childTnLst>
                                    <p:set>
                                      <p:cBhvr>
                                        <p:cTn id="43" dur="1" fill="hold">
                                          <p:stCondLst>
                                            <p:cond delay="0"/>
                                          </p:stCondLst>
                                        </p:cTn>
                                        <p:tgtEl>
                                          <p:spTgt spid="21"/>
                                        </p:tgtEl>
                                        <p:attrNameLst>
                                          <p:attrName>style.visibility</p:attrName>
                                        </p:attrNameLst>
                                      </p:cBhvr>
                                      <p:to>
                                        <p:strVal val="visible"/>
                                      </p:to>
                                    </p:set>
                                    <p:animEffect transition="in" filter="wipe(left)">
                                      <p:cBhvr>
                                        <p:cTn id="44" dur="500"/>
                                        <p:tgtEl>
                                          <p:spTgt spid="21"/>
                                        </p:tgtEl>
                                      </p:cBhvr>
                                    </p:animEffect>
                                  </p:childTnLst>
                                </p:cTn>
                              </p:par>
                              <p:par>
                                <p:cTn id="48" presetID="22" presetClass="entr" presetSubtype="8" fill="hold" grpId="0" nodeType="withEffect">
                                  <p:stCondLst>
                                    <p:cond delay="90"/>
                                  </p:stCondLst>
                                  <p:childTnLst>
                                    <p:set>
                                      <p:cBhvr>
                                        <p:cTn id="46" dur="1" fill="hold">
                                          <p:stCondLst>
                                            <p:cond delay="0"/>
                                          </p:stCondLst>
                                        </p:cTn>
                                        <p:tgtEl>
                                          <p:spTgt spid="22"/>
                                        </p:tgtEl>
                                        <p:attrNameLst>
                                          <p:attrName>style.visibility</p:attrName>
                                        </p:attrNameLst>
                                      </p:cBhvr>
                                      <p:to>
                                        <p:strVal val="visible"/>
                                      </p:to>
                                    </p:set>
                                    <p:animEffect transition="in" filter="wipe(left)">
                                      <p:cBhvr>
                                        <p:cTn id="47" dur="500"/>
                                        <p:tgtEl>
                                          <p:spTgt spid="22"/>
                                        </p:tgtEl>
                                      </p:cBhvr>
                                    </p:animEffect>
                                  </p:childTnLst>
                                </p:cTn>
                              </p:par>
                              <p:par>
                                <p:cTn id="53" presetID="2" presetClass="entr" presetSubtype="4" fill="hold" grpId="0" nodeType="withEffect">
                                  <p:stCondLst>
                                    <p:cond delay="100"/>
                                  </p:stCondLst>
                                  <p:childTnLst>
                                    <p:set>
                                      <p:cBhvr>
                                        <p:cTn id="49" dur="1" fill="hold">
                                          <p:stCondLst>
                                            <p:cond delay="0"/>
                                          </p:stCondLst>
                                        </p:cTn>
                                        <p:tgtEl>
                                          <p:spTgt spid="25"/>
                                        </p:tgtEl>
                                        <p:attrNameLst>
                                          <p:attrName>style.visibility</p:attrName>
                                        </p:attrNameLst>
                                      </p:cBhvr>
                                      <p:to>
                                        <p:strVal val="visible"/>
                                      </p:to>
                                    </p:set>
                                    <p:anim calcmode="lin" valueType="num">
                                      <p:cBhvr additive="base">
                                        <p:cTn id="50" dur="500" fill="hold"/>
                                        <p:tgtEl>
                                          <p:spTgt spid="25"/>
                                        </p:tgtEl>
                                        <p:attrNameLst>
                                          <p:attrName>ppt_x</p:attrName>
                                        </p:attrNameLst>
                                      </p:cBhvr>
                                      <p:tavLst>
                                        <p:tav tm="0">
                                          <p:val>
                                            <p:strVal val="#ppt_x"/>
                                          </p:val>
                                        </p:tav>
                                        <p:tav tm="100000">
                                          <p:val>
                                            <p:strVal val="#ppt_x"/>
                                          </p:val>
                                        </p:tav>
                                      </p:tavLst>
                                    </p:anim>
                                    <p:anim calcmode="lin" valueType="num">
                                      <p:cBhvr additive="base">
                                        <p:cTn id="51" dur="500" fill="hold"/>
                                        <p:tgtEl>
                                          <p:spTgt spid="25"/>
                                        </p:tgtEl>
                                        <p:attrNameLst>
                                          <p:attrName>ppt_y</p:attrName>
                                        </p:attrNameLst>
                                      </p:cBhvr>
                                      <p:tavLst>
                                        <p:tav tm="0">
                                          <p:val>
                                            <p:strVal val="#ppt_y+0.1"/>
                                          </p:val>
                                        </p:tav>
                                        <p:tav tm="100000">
                                          <p:val>
                                            <p:strVal val="#ppt_y"/>
                                          </p:val>
                                        </p:tav>
                                      </p:tavLst>
                                    </p:anim>
                                    <p:animEffect transition="in" filter="fade">
                                      <p:cBhvr>
                                        <p:cTn id="52" dur="500"/>
                                        <p:tgtEl>
                                          <p:spTgt spid="25"/>
                                        </p:tgtEl>
                                      </p:cBhvr>
                                    </p:animEffect>
                                  </p:childTnLst>
                                </p:cTn>
                              </p:par>
                              <p:par>
                                <p:cTn id="56" presetID="22" presetClass="entr" presetSubtype="8" fill="hold" grpId="0" nodeType="withEffect">
                                  <p:stCondLst>
                                    <p:cond delay="100"/>
                                  </p:stCondLst>
                                  <p:childTnLst>
                                    <p:set>
                                      <p:cBhvr>
                                        <p:cTn id="54" dur="1" fill="hold">
                                          <p:stCondLst>
                                            <p:cond delay="0"/>
                                          </p:stCondLst>
                                        </p:cTn>
                                        <p:tgtEl>
                                          <p:spTgt spid="26"/>
                                        </p:tgtEl>
                                        <p:attrNameLst>
                                          <p:attrName>style.visibility</p:attrName>
                                        </p:attrNameLst>
                                      </p:cBhvr>
                                      <p:to>
                                        <p:strVal val="visible"/>
                                      </p:to>
                                    </p:set>
                                    <p:animEffect transition="in" filter="wipe(left)">
                                      <p:cBhvr>
                                        <p:cTn id="55" dur="500"/>
                                        <p:tgtEl>
                                          <p:spTgt spid="26"/>
                                        </p:tgtEl>
                                      </p:cBhvr>
                                    </p:animEffect>
                                  </p:childTnLst>
                                </p:cTn>
                              </p:par>
                              <p:par>
                                <p:cTn id="59" presetID="22" presetClass="entr" presetSubtype="8" fill="hold" grpId="0" nodeType="withEffect">
                                  <p:stCondLst>
                                    <p:cond delay="100"/>
                                  </p:stCondLst>
                                  <p:childTnLst>
                                    <p:set>
                                      <p:cBhvr>
                                        <p:cTn id="57" dur="1" fill="hold">
                                          <p:stCondLst>
                                            <p:cond delay="0"/>
                                          </p:stCondLst>
                                        </p:cTn>
                                        <p:tgtEl>
                                          <p:spTgt spid="27"/>
                                        </p:tgtEl>
                                        <p:attrNameLst>
                                          <p:attrName>style.visibility</p:attrName>
                                        </p:attrNameLst>
                                      </p:cBhvr>
                                      <p:to>
                                        <p:strVal val="visible"/>
                                      </p:to>
                                    </p:set>
                                    <p:animEffect transition="in" filter="wipe(left)">
                                      <p:cBhvr>
                                        <p:cTn id="58" dur="500"/>
                                        <p:tgtEl>
                                          <p:spTgt spid="27"/>
                                        </p:tgtEl>
                                      </p:cBhvr>
                                    </p:animEffect>
                                  </p:childTnLst>
                                </p:cTn>
                              </p:par>
                              <p:par>
                                <p:cTn id="62" presetID="22" presetClass="entr" presetSubtype="8" fill="hold" grpId="0" nodeType="withEffect">
                                  <p:stCondLst>
                                    <p:cond delay="120"/>
                                  </p:stCondLst>
                                  <p:childTnLst>
                                    <p:set>
                                      <p:cBhvr>
                                        <p:cTn id="60" dur="1" fill="hold">
                                          <p:stCondLst>
                                            <p:cond delay="0"/>
                                          </p:stCondLst>
                                        </p:cTn>
                                        <p:tgtEl>
                                          <p:spTgt spid="23"/>
                                        </p:tgtEl>
                                        <p:attrNameLst>
                                          <p:attrName>style.visibility</p:attrName>
                                        </p:attrNameLst>
                                      </p:cBhvr>
                                      <p:to>
                                        <p:strVal val="visible"/>
                                      </p:to>
                                    </p:set>
                                    <p:animEffect transition="in" filter="wipe(left)">
                                      <p:cBhvr>
                                        <p:cTn id="61" dur="500"/>
                                        <p:tgtEl>
                                          <p:spTgt spid="23"/>
                                        </p:tgtEl>
                                      </p:cBhvr>
                                    </p:animEffect>
                                  </p:childTnLst>
                                </p:cTn>
                              </p:par>
                              <p:par>
                                <p:cTn id="65" presetID="22" presetClass="entr" presetSubtype="8" fill="hold" grpId="0" nodeType="withEffect">
                                  <p:stCondLst>
                                    <p:cond delay="120"/>
                                  </p:stCondLst>
                                  <p:childTnLst>
                                    <p:set>
                                      <p:cBhvr>
                                        <p:cTn id="63" dur="1" fill="hold">
                                          <p:stCondLst>
                                            <p:cond delay="0"/>
                                          </p:stCondLst>
                                        </p:cTn>
                                        <p:tgtEl>
                                          <p:spTgt spid="24"/>
                                        </p:tgtEl>
                                        <p:attrNameLst>
                                          <p:attrName>style.visibility</p:attrName>
                                        </p:attrNameLst>
                                      </p:cBhvr>
                                      <p:to>
                                        <p:strVal val="visible"/>
                                      </p:to>
                                    </p:set>
                                    <p:animEffect transition="in" filter="wipe(left)">
                                      <p:cBhvr>
                                        <p:cTn id="64" dur="500"/>
                                        <p:tgtEl>
                                          <p:spTgt spid="24"/>
                                        </p:tgtEl>
                                      </p:cBhvr>
                                    </p:animEffect>
                                  </p:childTnLst>
                                </p:cTn>
                              </p:par>
                              <p:par>
                                <p:cTn id="68" presetID="22" presetClass="entr" presetSubtype="8" fill="hold" grpId="0" nodeType="withEffect">
                                  <p:stCondLst>
                                    <p:cond delay="130"/>
                                  </p:stCondLst>
                                  <p:childTnLst>
                                    <p:set>
                                      <p:cBhvr>
                                        <p:cTn id="66" dur="1" fill="hold">
                                          <p:stCondLst>
                                            <p:cond delay="0"/>
                                          </p:stCondLst>
                                        </p:cTn>
                                        <p:tgtEl>
                                          <p:spTgt spid="28"/>
                                        </p:tgtEl>
                                        <p:attrNameLst>
                                          <p:attrName>style.visibility</p:attrName>
                                        </p:attrNameLst>
                                      </p:cBhvr>
                                      <p:to>
                                        <p:strVal val="visible"/>
                                      </p:to>
                                    </p:set>
                                    <p:animEffect transition="in" filter="wipe(left)">
                                      <p:cBhvr>
                                        <p:cTn id="67" dur="500"/>
                                        <p:tgtEl>
                                          <p:spTgt spid="28"/>
                                        </p:tgtEl>
                                      </p:cBhvr>
                                    </p:animEffect>
                                  </p:childTnLst>
                                </p:cTn>
                              </p:par>
                              <p:par>
                                <p:cTn id="71" presetID="22" presetClass="entr" presetSubtype="8" fill="hold" grpId="0" nodeType="withEffect">
                                  <p:stCondLst>
                                    <p:cond delay="130"/>
                                  </p:stCondLst>
                                  <p:childTnLst>
                                    <p:set>
                                      <p:cBhvr>
                                        <p:cTn id="69" dur="1" fill="hold">
                                          <p:stCondLst>
                                            <p:cond delay="0"/>
                                          </p:stCondLst>
                                        </p:cTn>
                                        <p:tgtEl>
                                          <p:spTgt spid="29"/>
                                        </p:tgtEl>
                                        <p:attrNameLst>
                                          <p:attrName>style.visibility</p:attrName>
                                        </p:attrNameLst>
                                      </p:cBhvr>
                                      <p:to>
                                        <p:strVal val="visible"/>
                                      </p:to>
                                    </p:set>
                                    <p:animEffect transition="in" filter="wipe(left)">
                                      <p:cBhvr>
                                        <p:cTn id="70" dur="500"/>
                                        <p:tgtEl>
                                          <p:spTgt spid="29"/>
                                        </p:tgtEl>
                                      </p:cBhvr>
                                    </p:animEffect>
                                  </p:childTnLst>
                                </p:cTn>
                              </p:par>
                              <p:par>
                                <p:cTn id="74" presetID="22" presetClass="entr" presetSubtype="8" fill="hold" grpId="0" nodeType="withEffect">
                                  <p:stCondLst>
                                    <p:cond delay="160"/>
                                  </p:stCondLst>
                                  <p:childTnLst>
                                    <p:set>
                                      <p:cBhvr>
                                        <p:cTn id="72" dur="1" fill="hold">
                                          <p:stCondLst>
                                            <p:cond delay="0"/>
                                          </p:stCondLst>
                                        </p:cTn>
                                        <p:tgtEl>
                                          <p:spTgt spid="30"/>
                                        </p:tgtEl>
                                        <p:attrNameLst>
                                          <p:attrName>style.visibility</p:attrName>
                                        </p:attrNameLst>
                                      </p:cBhvr>
                                      <p:to>
                                        <p:strVal val="visible"/>
                                      </p:to>
                                    </p:set>
                                    <p:animEffect transition="in" filter="wipe(left)">
                                      <p:cBhvr>
                                        <p:cTn id="73" dur="500"/>
                                        <p:tgtEl>
                                          <p:spTgt spid="30"/>
                                        </p:tgtEl>
                                      </p:cBhvr>
                                    </p:animEffect>
                                  </p:childTnLst>
                                </p:cTn>
                              </p:par>
                              <p:par>
                                <p:cTn id="77" presetID="22" presetClass="entr" presetSubtype="8" fill="hold" grpId="0" nodeType="withEffect">
                                  <p:stCondLst>
                                    <p:cond delay="160"/>
                                  </p:stCondLst>
                                  <p:childTnLst>
                                    <p:set>
                                      <p:cBhvr>
                                        <p:cTn id="75" dur="1" fill="hold">
                                          <p:stCondLst>
                                            <p:cond delay="0"/>
                                          </p:stCondLst>
                                        </p:cTn>
                                        <p:tgtEl>
                                          <p:spTgt spid="31"/>
                                        </p:tgtEl>
                                        <p:attrNameLst>
                                          <p:attrName>style.visibility</p:attrName>
                                        </p:attrNameLst>
                                      </p:cBhvr>
                                      <p:to>
                                        <p:strVal val="visible"/>
                                      </p:to>
                                    </p:set>
                                    <p:animEffect transition="in" filter="wipe(left)">
                                      <p:cBhvr>
                                        <p:cTn id="76" dur="500"/>
                                        <p:tgtEl>
                                          <p:spTgt spid="31"/>
                                        </p:tgtEl>
                                      </p:cBhvr>
                                    </p:animEffect>
                                  </p:childTnLst>
                                </p:cTn>
                              </p:par>
                              <p:par>
                                <p:cTn id="80" presetID="22" presetClass="entr" presetSubtype="8" fill="hold" grpId="0" nodeType="withEffect">
                                  <p:stCondLst>
                                    <p:cond delay="190"/>
                                  </p:stCondLst>
                                  <p:childTnLst>
                                    <p:set>
                                      <p:cBhvr>
                                        <p:cTn id="78" dur="1" fill="hold">
                                          <p:stCondLst>
                                            <p:cond delay="0"/>
                                          </p:stCondLst>
                                        </p:cTn>
                                        <p:tgtEl>
                                          <p:spTgt spid="32"/>
                                        </p:tgtEl>
                                        <p:attrNameLst>
                                          <p:attrName>style.visibility</p:attrName>
                                        </p:attrNameLst>
                                      </p:cBhvr>
                                      <p:to>
                                        <p:strVal val="visible"/>
                                      </p:to>
                                    </p:set>
                                    <p:animEffect transition="in" filter="wipe(left)">
                                      <p:cBhvr>
                                        <p:cTn id="79" dur="500"/>
                                        <p:tgtEl>
                                          <p:spTgt spid="32"/>
                                        </p:tgtEl>
                                      </p:cBhvr>
                                    </p:animEffect>
                                  </p:childTnLst>
                                </p:cTn>
                              </p:par>
                              <p:par>
                                <p:cTn id="83" presetID="22" presetClass="entr" presetSubtype="8" fill="hold" grpId="0" nodeType="withEffect">
                                  <p:stCondLst>
                                    <p:cond delay="190"/>
                                  </p:stCondLst>
                                  <p:childTnLst>
                                    <p:set>
                                      <p:cBhvr>
                                        <p:cTn id="81" dur="1" fill="hold">
                                          <p:stCondLst>
                                            <p:cond delay="0"/>
                                          </p:stCondLst>
                                        </p:cTn>
                                        <p:tgtEl>
                                          <p:spTgt spid="33"/>
                                        </p:tgtEl>
                                        <p:attrNameLst>
                                          <p:attrName>style.visibility</p:attrName>
                                        </p:attrNameLst>
                                      </p:cBhvr>
                                      <p:to>
                                        <p:strVal val="visible"/>
                                      </p:to>
                                    </p:set>
                                    <p:animEffect transition="in" filter="wipe(left)">
                                      <p:cBhvr>
                                        <p:cTn id="82" dur="500"/>
                                        <p:tgtEl>
                                          <p:spTgt spid="33"/>
                                        </p:tgtEl>
                                      </p:cBhvr>
                                    </p:animEffect>
                                  </p:childTnLst>
                                </p:cTn>
                              </p:par>
                              <p:par>
                                <p:cTn id="88" presetID="2" presetClass="entr" presetSubtype="4" fill="hold" grpId="0" nodeType="withEffect">
                                  <p:stCondLst>
                                    <p:cond delay="200"/>
                                  </p:stCondLst>
                                  <p:childTnLst>
                                    <p:set>
                                      <p:cBhvr>
                                        <p:cTn id="84" dur="1" fill="hold">
                                          <p:stCondLst>
                                            <p:cond delay="0"/>
                                          </p:stCondLst>
                                        </p:cTn>
                                        <p:tgtEl>
                                          <p:spTgt spid="34"/>
                                        </p:tgtEl>
                                        <p:attrNameLst>
                                          <p:attrName>style.visibility</p:attrName>
                                        </p:attrNameLst>
                                      </p:cBhvr>
                                      <p:to>
                                        <p:strVal val="visible"/>
                                      </p:to>
                                    </p:set>
                                    <p:anim calcmode="lin" valueType="num">
                                      <p:cBhvr additive="base">
                                        <p:cTn id="85" dur="500" fill="hold"/>
                                        <p:tgtEl>
                                          <p:spTgt spid="34"/>
                                        </p:tgtEl>
                                        <p:attrNameLst>
                                          <p:attrName>ppt_x</p:attrName>
                                        </p:attrNameLst>
                                      </p:cBhvr>
                                      <p:tavLst>
                                        <p:tav tm="0">
                                          <p:val>
                                            <p:strVal val="#ppt_x"/>
                                          </p:val>
                                        </p:tav>
                                        <p:tav tm="100000">
                                          <p:val>
                                            <p:strVal val="#ppt_x"/>
                                          </p:val>
                                        </p:tav>
                                      </p:tavLst>
                                    </p:anim>
                                    <p:anim calcmode="lin" valueType="num">
                                      <p:cBhvr additive="base">
                                        <p:cTn id="86" dur="500" fill="hold"/>
                                        <p:tgtEl>
                                          <p:spTgt spid="34"/>
                                        </p:tgtEl>
                                        <p:attrNameLst>
                                          <p:attrName>ppt_y</p:attrName>
                                        </p:attrNameLst>
                                      </p:cBhvr>
                                      <p:tavLst>
                                        <p:tav tm="0">
                                          <p:val>
                                            <p:strVal val="#ppt_y+0.1"/>
                                          </p:val>
                                        </p:tav>
                                        <p:tav tm="100000">
                                          <p:val>
                                            <p:strVal val="#ppt_y"/>
                                          </p:val>
                                        </p:tav>
                                      </p:tavLst>
                                    </p:anim>
                                    <p:animEffect transition="in" filter="fade">
                                      <p:cBhvr>
                                        <p:cTn id="87" dur="500"/>
                                        <p:tgtEl>
                                          <p:spTgt spid="34"/>
                                        </p:tgtEl>
                                      </p:cBhvr>
                                    </p:animEffect>
                                  </p:childTnLst>
                                </p:cTn>
                              </p:par>
                              <p:par>
                                <p:cTn id="91" presetID="22" presetClass="entr" presetSubtype="8" fill="hold" grpId="0" nodeType="withEffect">
                                  <p:stCondLst>
                                    <p:cond delay="200"/>
                                  </p:stCondLst>
                                  <p:childTnLst>
                                    <p:set>
                                      <p:cBhvr>
                                        <p:cTn id="89" dur="1" fill="hold">
                                          <p:stCondLst>
                                            <p:cond delay="0"/>
                                          </p:stCondLst>
                                        </p:cTn>
                                        <p:tgtEl>
                                          <p:spTgt spid="35"/>
                                        </p:tgtEl>
                                        <p:attrNameLst>
                                          <p:attrName>style.visibility</p:attrName>
                                        </p:attrNameLst>
                                      </p:cBhvr>
                                      <p:to>
                                        <p:strVal val="visible"/>
                                      </p:to>
                                    </p:set>
                                    <p:animEffect transition="in" filter="wipe(left)">
                                      <p:cBhvr>
                                        <p:cTn id="90" dur="500"/>
                                        <p:tgtEl>
                                          <p:spTgt spid="35"/>
                                        </p:tgtEl>
                                      </p:cBhvr>
                                    </p:animEffect>
                                  </p:childTnLst>
                                </p:cTn>
                              </p:par>
                              <p:par>
                                <p:cTn id="94" presetID="22" presetClass="entr" presetSubtype="8" fill="hold" grpId="0" nodeType="withEffect">
                                  <p:stCondLst>
                                    <p:cond delay="200"/>
                                  </p:stCondLst>
                                  <p:childTnLst>
                                    <p:set>
                                      <p:cBhvr>
                                        <p:cTn id="92" dur="1" fill="hold">
                                          <p:stCondLst>
                                            <p:cond delay="0"/>
                                          </p:stCondLst>
                                        </p:cTn>
                                        <p:tgtEl>
                                          <p:spTgt spid="36"/>
                                        </p:tgtEl>
                                        <p:attrNameLst>
                                          <p:attrName>style.visibility</p:attrName>
                                        </p:attrNameLst>
                                      </p:cBhvr>
                                      <p:to>
                                        <p:strVal val="visible"/>
                                      </p:to>
                                    </p:set>
                                    <p:animEffect transition="in" filter="wipe(left)">
                                      <p:cBhvr>
                                        <p:cTn id="93" dur="500"/>
                                        <p:tgtEl>
                                          <p:spTgt spid="36"/>
                                        </p:tgtEl>
                                      </p:cBhvr>
                                    </p:animEffect>
                                  </p:childTnLst>
                                </p:cTn>
                              </p:par>
                              <p:par>
                                <p:cTn id="97" presetID="22" presetClass="entr" presetSubtype="8" fill="hold" grpId="0" nodeType="withEffect">
                                  <p:stCondLst>
                                    <p:cond delay="230"/>
                                  </p:stCondLst>
                                  <p:childTnLst>
                                    <p:set>
                                      <p:cBhvr>
                                        <p:cTn id="95" dur="1" fill="hold">
                                          <p:stCondLst>
                                            <p:cond delay="0"/>
                                          </p:stCondLst>
                                        </p:cTn>
                                        <p:tgtEl>
                                          <p:spTgt spid="37"/>
                                        </p:tgtEl>
                                        <p:attrNameLst>
                                          <p:attrName>style.visibility</p:attrName>
                                        </p:attrNameLst>
                                      </p:cBhvr>
                                      <p:to>
                                        <p:strVal val="visible"/>
                                      </p:to>
                                    </p:set>
                                    <p:animEffect transition="in" filter="wipe(left)">
                                      <p:cBhvr>
                                        <p:cTn id="96" dur="500"/>
                                        <p:tgtEl>
                                          <p:spTgt spid="37"/>
                                        </p:tgtEl>
                                      </p:cBhvr>
                                    </p:animEffect>
                                  </p:childTnLst>
                                </p:cTn>
                              </p:par>
                              <p:par>
                                <p:cTn id="100" presetID="22" presetClass="entr" presetSubtype="8" fill="hold" grpId="0" nodeType="withEffect">
                                  <p:stCondLst>
                                    <p:cond delay="230"/>
                                  </p:stCondLst>
                                  <p:childTnLst>
                                    <p:set>
                                      <p:cBhvr>
                                        <p:cTn id="98" dur="1" fill="hold">
                                          <p:stCondLst>
                                            <p:cond delay="0"/>
                                          </p:stCondLst>
                                        </p:cTn>
                                        <p:tgtEl>
                                          <p:spTgt spid="38"/>
                                        </p:tgtEl>
                                        <p:attrNameLst>
                                          <p:attrName>style.visibility</p:attrName>
                                        </p:attrNameLst>
                                      </p:cBhvr>
                                      <p:to>
                                        <p:strVal val="visible"/>
                                      </p:to>
                                    </p:set>
                                    <p:animEffect transition="in" filter="wipe(left)">
                                      <p:cBhvr>
                                        <p:cTn id="99" dur="500"/>
                                        <p:tgtEl>
                                          <p:spTgt spid="38"/>
                                        </p:tgtEl>
                                      </p:cBhvr>
                                    </p:animEffect>
                                  </p:childTnLst>
                                </p:cTn>
                              </p:par>
                              <p:par>
                                <p:cTn id="103" presetID="22" presetClass="entr" presetSubtype="8" fill="hold" grpId="0" nodeType="withEffect">
                                  <p:stCondLst>
                                    <p:cond delay="260"/>
                                  </p:stCondLst>
                                  <p:childTnLst>
                                    <p:set>
                                      <p:cBhvr>
                                        <p:cTn id="101" dur="1" fill="hold">
                                          <p:stCondLst>
                                            <p:cond delay="0"/>
                                          </p:stCondLst>
                                        </p:cTn>
                                        <p:tgtEl>
                                          <p:spTgt spid="39"/>
                                        </p:tgtEl>
                                        <p:attrNameLst>
                                          <p:attrName>style.visibility</p:attrName>
                                        </p:attrNameLst>
                                      </p:cBhvr>
                                      <p:to>
                                        <p:strVal val="visible"/>
                                      </p:to>
                                    </p:set>
                                    <p:animEffect transition="in" filter="wipe(left)">
                                      <p:cBhvr>
                                        <p:cTn id="102" dur="500"/>
                                        <p:tgtEl>
                                          <p:spTgt spid="39"/>
                                        </p:tgtEl>
                                      </p:cBhvr>
                                    </p:animEffect>
                                  </p:childTnLst>
                                </p:cTn>
                              </p:par>
                              <p:par>
                                <p:cTn id="106" presetID="22" presetClass="entr" presetSubtype="8" fill="hold" grpId="0" nodeType="withEffect">
                                  <p:stCondLst>
                                    <p:cond delay="260"/>
                                  </p:stCondLst>
                                  <p:childTnLst>
                                    <p:set>
                                      <p:cBhvr>
                                        <p:cTn id="104" dur="1" fill="hold">
                                          <p:stCondLst>
                                            <p:cond delay="0"/>
                                          </p:stCondLst>
                                        </p:cTn>
                                        <p:tgtEl>
                                          <p:spTgt spid="40"/>
                                        </p:tgtEl>
                                        <p:attrNameLst>
                                          <p:attrName>style.visibility</p:attrName>
                                        </p:attrNameLst>
                                      </p:cBhvr>
                                      <p:to>
                                        <p:strVal val="visible"/>
                                      </p:to>
                                    </p:set>
                                    <p:animEffect transition="in" filter="wipe(left)">
                                      <p:cBhvr>
                                        <p:cTn id="105" dur="500"/>
                                        <p:tgtEl>
                                          <p:spTgt spid="40"/>
                                        </p:tgtEl>
                                      </p:cBhvr>
                                    </p:animEffect>
                                  </p:childTnLst>
                                </p:cTn>
                              </p:par>
                              <p:par>
                                <p:cTn id="109" presetID="22" presetClass="entr" presetSubtype="8" fill="hold" grpId="0" nodeType="withEffect">
                                  <p:stCondLst>
                                    <p:cond delay="290"/>
                                  </p:stCondLst>
                                  <p:childTnLst>
                                    <p:set>
                                      <p:cBhvr>
                                        <p:cTn id="107" dur="1" fill="hold">
                                          <p:stCondLst>
                                            <p:cond delay="0"/>
                                          </p:stCondLst>
                                        </p:cTn>
                                        <p:tgtEl>
                                          <p:spTgt spid="41"/>
                                        </p:tgtEl>
                                        <p:attrNameLst>
                                          <p:attrName>style.visibility</p:attrName>
                                        </p:attrNameLst>
                                      </p:cBhvr>
                                      <p:to>
                                        <p:strVal val="visible"/>
                                      </p:to>
                                    </p:set>
                                    <p:animEffect transition="in" filter="wipe(left)">
                                      <p:cBhvr>
                                        <p:cTn id="108" dur="500"/>
                                        <p:tgtEl>
                                          <p:spTgt spid="41"/>
                                        </p:tgtEl>
                                      </p:cBhvr>
                                    </p:animEffect>
                                  </p:childTnLst>
                                </p:cTn>
                              </p:par>
                              <p:par>
                                <p:cTn id="112" presetID="22" presetClass="entr" presetSubtype="8" fill="hold" grpId="0" nodeType="withEffect">
                                  <p:stCondLst>
                                    <p:cond delay="290"/>
                                  </p:stCondLst>
                                  <p:childTnLst>
                                    <p:set>
                                      <p:cBhvr>
                                        <p:cTn id="110" dur="1" fill="hold">
                                          <p:stCondLst>
                                            <p:cond delay="0"/>
                                          </p:stCondLst>
                                        </p:cTn>
                                        <p:tgtEl>
                                          <p:spTgt spid="42"/>
                                        </p:tgtEl>
                                        <p:attrNameLst>
                                          <p:attrName>style.visibility</p:attrName>
                                        </p:attrNameLst>
                                      </p:cBhvr>
                                      <p:to>
                                        <p:strVal val="visible"/>
                                      </p:to>
                                    </p:set>
                                    <p:animEffect transition="in" filter="wipe(left)">
                                      <p:cBhvr>
                                        <p:cTn id="111" dur="500"/>
                                        <p:tgtEl>
                                          <p:spTgt spid="42"/>
                                        </p:tgtEl>
                                      </p:cBhvr>
                                    </p:animEffect>
                                  </p:childTnLst>
                                </p:cTn>
                              </p:par>
                              <p:par>
                                <p:cTn id="115" presetID="22" presetClass="entr" presetSubtype="8" fill="hold" grpId="0" nodeType="withEffect">
                                  <p:stCondLst>
                                    <p:cond delay="320"/>
                                  </p:stCondLst>
                                  <p:childTnLst>
                                    <p:set>
                                      <p:cBhvr>
                                        <p:cTn id="113" dur="1" fill="hold">
                                          <p:stCondLst>
                                            <p:cond delay="0"/>
                                          </p:stCondLst>
                                        </p:cTn>
                                        <p:tgtEl>
                                          <p:spTgt spid="43"/>
                                        </p:tgtEl>
                                        <p:attrNameLst>
                                          <p:attrName>style.visibility</p:attrName>
                                        </p:attrNameLst>
                                      </p:cBhvr>
                                      <p:to>
                                        <p:strVal val="visible"/>
                                      </p:to>
                                    </p:set>
                                    <p:animEffect transition="in" filter="wipe(left)">
                                      <p:cBhvr>
                                        <p:cTn id="114" dur="500"/>
                                        <p:tgtEl>
                                          <p:spTgt spid="43"/>
                                        </p:tgtEl>
                                      </p:cBhvr>
                                    </p:animEffect>
                                  </p:childTnLst>
                                </p:cTn>
                              </p:par>
                              <p:par>
                                <p:cTn id="118" presetID="22" presetClass="entr" presetSubtype="8" fill="hold" grpId="0" nodeType="withEffect">
                                  <p:stCondLst>
                                    <p:cond delay="320"/>
                                  </p:stCondLst>
                                  <p:childTnLst>
                                    <p:set>
                                      <p:cBhvr>
                                        <p:cTn id="116" dur="1" fill="hold">
                                          <p:stCondLst>
                                            <p:cond delay="0"/>
                                          </p:stCondLst>
                                        </p:cTn>
                                        <p:tgtEl>
                                          <p:spTgt spid="44"/>
                                        </p:tgtEl>
                                        <p:attrNameLst>
                                          <p:attrName>style.visibility</p:attrName>
                                        </p:attrNameLst>
                                      </p:cBhvr>
                                      <p:to>
                                        <p:strVal val="visible"/>
                                      </p:to>
                                    </p:set>
                                    <p:animEffect transition="in" filter="wipe(left)">
                                      <p:cBhvr>
                                        <p:cTn id="117" dur="500"/>
                                        <p:tgtEl>
                                          <p:spTgt spid="44"/>
                                        </p:tgtEl>
                                      </p:cBhvr>
                                    </p:animEffect>
                                  </p:childTnLst>
                                </p:cTn>
                              </p:par>
                            </p:childTnLst>
                          </p:cTn>
                        </p:par>
                      </p:childTnLst>
                    </p:cTn>
                  </p:par>
                  <p:par>
                    <p:cTn id="119" fill="hold">
                      <p:stCondLst>
                        <p:cond delay="indefinite"/>
                      </p:stCondLst>
                      <p:childTnLst>
                        <p:par>
                          <p:cTn id="120" fill="hold">
                            <p:stCondLst>
                              <p:cond delay="0"/>
                            </p:stCondLst>
                            <p:childTnLst>
                              <p:par>
                                <p:cTn id="125" presetID="2" presetClass="entr" presetSubtype="4" fill="hold" grpId="0" nodeType="clickEffect">
                                  <p:stCondLst>
                                    <p:cond delay="0"/>
                                  </p:stCondLst>
                                  <p:childTnLst>
                                    <p:set>
                                      <p:cBhvr>
                                        <p:cTn id="121" dur="1" fill="hold">
                                          <p:stCondLst>
                                            <p:cond delay="0"/>
                                          </p:stCondLst>
                                        </p:cTn>
                                        <p:tgtEl>
                                          <p:spTgt spid="45"/>
                                        </p:tgtEl>
                                        <p:attrNameLst>
                                          <p:attrName>style.visibility</p:attrName>
                                        </p:attrNameLst>
                                      </p:cBhvr>
                                      <p:to>
                                        <p:strVal val="visible"/>
                                      </p:to>
                                    </p:set>
                                    <p:anim calcmode="lin" valueType="num">
                                      <p:cBhvr additive="base">
                                        <p:cTn id="122" dur="500" fill="hold"/>
                                        <p:tgtEl>
                                          <p:spTgt spid="45"/>
                                        </p:tgtEl>
                                        <p:attrNameLst>
                                          <p:attrName>ppt_x</p:attrName>
                                        </p:attrNameLst>
                                      </p:cBhvr>
                                      <p:tavLst>
                                        <p:tav tm="0">
                                          <p:val>
                                            <p:strVal val="#ppt_x"/>
                                          </p:val>
                                        </p:tav>
                                        <p:tav tm="100000">
                                          <p:val>
                                            <p:strVal val="#ppt_x"/>
                                          </p:val>
                                        </p:tav>
                                      </p:tavLst>
                                    </p:anim>
                                    <p:anim calcmode="lin" valueType="num">
                                      <p:cBhvr additive="base">
                                        <p:cTn id="123" dur="500" fill="hold"/>
                                        <p:tgtEl>
                                          <p:spTgt spid="45"/>
                                        </p:tgtEl>
                                        <p:attrNameLst>
                                          <p:attrName>ppt_y</p:attrName>
                                        </p:attrNameLst>
                                      </p:cBhvr>
                                      <p:tavLst>
                                        <p:tav tm="0">
                                          <p:val>
                                            <p:strVal val="#ppt_y+0.1"/>
                                          </p:val>
                                        </p:tav>
                                        <p:tav tm="100000">
                                          <p:val>
                                            <p:strVal val="#ppt_y"/>
                                          </p:val>
                                        </p:tav>
                                      </p:tavLst>
                                    </p:anim>
                                    <p:animEffect transition="in" filter="fade">
                                      <p:cBhvr>
                                        <p:cTn id="124" dur="500"/>
                                        <p:tgtEl>
                                          <p:spTgt spid="45"/>
                                        </p:tgtEl>
                                      </p:cBhvr>
                                    </p:animEffect>
                                  </p:childTnLst>
                                </p:cTn>
                              </p:par>
                              <p:par>
                                <p:cTn id="130" presetID="2" presetClass="entr" presetSubtype="4"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anim calcmode="lin" valueType="num">
                                      <p:cBhvr additive="base">
                                        <p:cTn id="127" dur="500" fill="hold"/>
                                        <p:tgtEl>
                                          <p:spTgt spid="46"/>
                                        </p:tgtEl>
                                        <p:attrNameLst>
                                          <p:attrName>ppt_x</p:attrName>
                                        </p:attrNameLst>
                                      </p:cBhvr>
                                      <p:tavLst>
                                        <p:tav tm="0">
                                          <p:val>
                                            <p:strVal val="#ppt_x"/>
                                          </p:val>
                                        </p:tav>
                                        <p:tav tm="100000">
                                          <p:val>
                                            <p:strVal val="#ppt_x"/>
                                          </p:val>
                                        </p:tav>
                                      </p:tavLst>
                                    </p:anim>
                                    <p:anim calcmode="lin" valueType="num">
                                      <p:cBhvr additive="base">
                                        <p:cTn id="128" dur="500" fill="hold"/>
                                        <p:tgtEl>
                                          <p:spTgt spid="46"/>
                                        </p:tgtEl>
                                        <p:attrNameLst>
                                          <p:attrName>ppt_y</p:attrName>
                                        </p:attrNameLst>
                                      </p:cBhvr>
                                      <p:tavLst>
                                        <p:tav tm="0">
                                          <p:val>
                                            <p:strVal val="#ppt_y+0.1"/>
                                          </p:val>
                                        </p:tav>
                                        <p:tav tm="100000">
                                          <p:val>
                                            <p:strVal val="#ppt_y"/>
                                          </p:val>
                                        </p:tav>
                                      </p:tavLst>
                                    </p:anim>
                                    <p:animEffect transition="in" filter="fade">
                                      <p:cBhvr>
                                        <p:cTn id="129" dur="500"/>
                                        <p:tgtEl>
                                          <p:spTgt spid="46"/>
                                        </p:tgtEl>
                                      </p:cBhvr>
                                    </p:animEffect>
                                  </p:childTnLst>
                                </p:cTn>
                              </p:par>
                              <p:par>
                                <p:cTn id="135" presetID="2" presetClass="entr" presetSubtype="4" fill="hold" grpId="0" nodeType="withEffect">
                                  <p:stCondLst>
                                    <p:cond delay="150"/>
                                  </p:stCondLst>
                                  <p:childTnLst>
                                    <p:set>
                                      <p:cBhvr>
                                        <p:cTn id="131" dur="1" fill="hold">
                                          <p:stCondLst>
                                            <p:cond delay="0"/>
                                          </p:stCondLst>
                                        </p:cTn>
                                        <p:tgtEl>
                                          <p:spTgt spid="47"/>
                                        </p:tgtEl>
                                        <p:attrNameLst>
                                          <p:attrName>style.visibility</p:attrName>
                                        </p:attrNameLst>
                                      </p:cBhvr>
                                      <p:to>
                                        <p:strVal val="visible"/>
                                      </p:to>
                                    </p:set>
                                    <p:anim calcmode="lin" valueType="num">
                                      <p:cBhvr additive="base">
                                        <p:cTn id="132" dur="500" fill="hold"/>
                                        <p:tgtEl>
                                          <p:spTgt spid="47"/>
                                        </p:tgtEl>
                                        <p:attrNameLst>
                                          <p:attrName>ppt_x</p:attrName>
                                        </p:attrNameLst>
                                      </p:cBhvr>
                                      <p:tavLst>
                                        <p:tav tm="0">
                                          <p:val>
                                            <p:strVal val="#ppt_x"/>
                                          </p:val>
                                        </p:tav>
                                        <p:tav tm="100000">
                                          <p:val>
                                            <p:strVal val="#ppt_x"/>
                                          </p:val>
                                        </p:tav>
                                      </p:tavLst>
                                    </p:anim>
                                    <p:anim calcmode="lin" valueType="num">
                                      <p:cBhvr additive="base">
                                        <p:cTn id="133" dur="500" fill="hold"/>
                                        <p:tgtEl>
                                          <p:spTgt spid="47"/>
                                        </p:tgtEl>
                                        <p:attrNameLst>
                                          <p:attrName>ppt_y</p:attrName>
                                        </p:attrNameLst>
                                      </p:cBhvr>
                                      <p:tavLst>
                                        <p:tav tm="0">
                                          <p:val>
                                            <p:strVal val="#ppt_y+0.1"/>
                                          </p:val>
                                        </p:tav>
                                        <p:tav tm="100000">
                                          <p:val>
                                            <p:strVal val="#ppt_y"/>
                                          </p:val>
                                        </p:tav>
                                      </p:tavLst>
                                    </p:anim>
                                    <p:animEffect transition="in" filter="fade">
                                      <p:cBhvr>
                                        <p:cTn id="134" dur="500"/>
                                        <p:tgtEl>
                                          <p:spTgt spid="47"/>
                                        </p:tgtEl>
                                      </p:cBhvr>
                                    </p:animEffect>
                                  </p:childTnLst>
                                </p:cTn>
                              </p:par>
                              <p:par>
                                <p:cTn id="140" presetID="2" presetClass="entr" presetSubtype="4" fill="hold" grpId="0" nodeType="withEffect">
                                  <p:stCondLst>
                                    <p:cond delay="150"/>
                                  </p:stCondLst>
                                  <p:childTnLst>
                                    <p:set>
                                      <p:cBhvr>
                                        <p:cTn id="136" dur="1" fill="hold">
                                          <p:stCondLst>
                                            <p:cond delay="0"/>
                                          </p:stCondLst>
                                        </p:cTn>
                                        <p:tgtEl>
                                          <p:spTgt spid="48"/>
                                        </p:tgtEl>
                                        <p:attrNameLst>
                                          <p:attrName>style.visibility</p:attrName>
                                        </p:attrNameLst>
                                      </p:cBhvr>
                                      <p:to>
                                        <p:strVal val="visible"/>
                                      </p:to>
                                    </p:set>
                                    <p:anim calcmode="lin" valueType="num">
                                      <p:cBhvr additive="base">
                                        <p:cTn id="137" dur="500" fill="hold"/>
                                        <p:tgtEl>
                                          <p:spTgt spid="48"/>
                                        </p:tgtEl>
                                        <p:attrNameLst>
                                          <p:attrName>ppt_x</p:attrName>
                                        </p:attrNameLst>
                                      </p:cBhvr>
                                      <p:tavLst>
                                        <p:tav tm="0">
                                          <p:val>
                                            <p:strVal val="#ppt_x"/>
                                          </p:val>
                                        </p:tav>
                                        <p:tav tm="100000">
                                          <p:val>
                                            <p:strVal val="#ppt_x"/>
                                          </p:val>
                                        </p:tav>
                                      </p:tavLst>
                                    </p:anim>
                                    <p:anim calcmode="lin" valueType="num">
                                      <p:cBhvr additive="base">
                                        <p:cTn id="138" dur="500" fill="hold"/>
                                        <p:tgtEl>
                                          <p:spTgt spid="48"/>
                                        </p:tgtEl>
                                        <p:attrNameLst>
                                          <p:attrName>ppt_y</p:attrName>
                                        </p:attrNameLst>
                                      </p:cBhvr>
                                      <p:tavLst>
                                        <p:tav tm="0">
                                          <p:val>
                                            <p:strVal val="#ppt_y+0.1"/>
                                          </p:val>
                                        </p:tav>
                                        <p:tav tm="100000">
                                          <p:val>
                                            <p:strVal val="#ppt_y"/>
                                          </p:val>
                                        </p:tav>
                                      </p:tavLst>
                                    </p:anim>
                                    <p:animEffect transition="in" filter="fade">
                                      <p:cBhvr>
                                        <p:cTn id="139" dur="500"/>
                                        <p:tgtEl>
                                          <p:spTgt spid="48"/>
                                        </p:tgtEl>
                                      </p:cBhvr>
                                    </p:animEffect>
                                  </p:childTnLst>
                                </p:cTn>
                              </p:par>
                            </p:childTnLst>
                          </p:cTn>
                        </p:par>
                      </p:childTnLst>
                    </p:cTn>
                  </p:par>
                  <p:par>
                    <p:cTn id="141" fill="hold">
                      <p:stCondLst>
                        <p:cond delay="indefinite"/>
                      </p:stCondLst>
                      <p:childTnLst>
                        <p:par>
                          <p:cTn id="142" fill="hold">
                            <p:stCondLst>
                              <p:cond delay="0"/>
                            </p:stCondLst>
                            <p:childTnLst>
                              <p:par>
                                <p:cTn id="147" presetID="2" presetClass="entr" presetSubtype="4" fill="hold" grpId="0" nodeType="clickEffect">
                                  <p:stCondLst>
                                    <p:cond delay="0"/>
                                  </p:stCondLst>
                                  <p:childTnLst>
                                    <p:set>
                                      <p:cBhvr>
                                        <p:cTn id="143" dur="1" fill="hold">
                                          <p:stCondLst>
                                            <p:cond delay="0"/>
                                          </p:stCondLst>
                                        </p:cTn>
                                        <p:tgtEl>
                                          <p:spTgt spid="49"/>
                                        </p:tgtEl>
                                        <p:attrNameLst>
                                          <p:attrName>style.visibility</p:attrName>
                                        </p:attrNameLst>
                                      </p:cBhvr>
                                      <p:to>
                                        <p:strVal val="visible"/>
                                      </p:to>
                                    </p:set>
                                    <p:anim calcmode="lin" valueType="num">
                                      <p:cBhvr additive="base">
                                        <p:cTn id="144" dur="500" fill="hold"/>
                                        <p:tgtEl>
                                          <p:spTgt spid="49"/>
                                        </p:tgtEl>
                                        <p:attrNameLst>
                                          <p:attrName>ppt_x</p:attrName>
                                        </p:attrNameLst>
                                      </p:cBhvr>
                                      <p:tavLst>
                                        <p:tav tm="0">
                                          <p:val>
                                            <p:strVal val="#ppt_x"/>
                                          </p:val>
                                        </p:tav>
                                        <p:tav tm="100000">
                                          <p:val>
                                            <p:strVal val="#ppt_x"/>
                                          </p:val>
                                        </p:tav>
                                      </p:tavLst>
                                    </p:anim>
                                    <p:anim calcmode="lin" valueType="num">
                                      <p:cBhvr additive="base">
                                        <p:cTn id="145" dur="500" fill="hold"/>
                                        <p:tgtEl>
                                          <p:spTgt spid="49"/>
                                        </p:tgtEl>
                                        <p:attrNameLst>
                                          <p:attrName>ppt_y</p:attrName>
                                        </p:attrNameLst>
                                      </p:cBhvr>
                                      <p:tavLst>
                                        <p:tav tm="0">
                                          <p:val>
                                            <p:strVal val="#ppt_y+0.1"/>
                                          </p:val>
                                        </p:tav>
                                        <p:tav tm="100000">
                                          <p:val>
                                            <p:strVal val="#ppt_y"/>
                                          </p:val>
                                        </p:tav>
                                      </p:tavLst>
                                    </p:anim>
                                    <p:animEffect transition="in" filter="fade">
                                      <p:cBhvr>
                                        <p:cTn id="146" dur="500"/>
                                        <p:tgtEl>
                                          <p:spTgt spid="49"/>
                                        </p:tgtEl>
                                      </p:cBhvr>
                                    </p:animEffect>
                                  </p:childTnLst>
                                </p:cTn>
                              </p:par>
                              <p:par>
                                <p:cTn id="152" presetID="2" presetClass="entr" presetSubtype="4" fill="hold" grpId="0" nodeType="withEffect">
                                  <p:stCondLst>
                                    <p:cond delay="0"/>
                                  </p:stCondLst>
                                  <p:childTnLst>
                                    <p:set>
                                      <p:cBhvr>
                                        <p:cTn id="148" dur="1" fill="hold">
                                          <p:stCondLst>
                                            <p:cond delay="0"/>
                                          </p:stCondLst>
                                        </p:cTn>
                                        <p:tgtEl>
                                          <p:spTgt spid="50"/>
                                        </p:tgtEl>
                                        <p:attrNameLst>
                                          <p:attrName>style.visibility</p:attrName>
                                        </p:attrNameLst>
                                      </p:cBhvr>
                                      <p:to>
                                        <p:strVal val="visible"/>
                                      </p:to>
                                    </p:set>
                                    <p:anim calcmode="lin" valueType="num">
                                      <p:cBhvr additive="base">
                                        <p:cTn id="149" dur="500" fill="hold"/>
                                        <p:tgtEl>
                                          <p:spTgt spid="50"/>
                                        </p:tgtEl>
                                        <p:attrNameLst>
                                          <p:attrName>ppt_x</p:attrName>
                                        </p:attrNameLst>
                                      </p:cBhvr>
                                      <p:tavLst>
                                        <p:tav tm="0">
                                          <p:val>
                                            <p:strVal val="#ppt_x"/>
                                          </p:val>
                                        </p:tav>
                                        <p:tav tm="100000">
                                          <p:val>
                                            <p:strVal val="#ppt_x"/>
                                          </p:val>
                                        </p:tav>
                                      </p:tavLst>
                                    </p:anim>
                                    <p:anim calcmode="lin" valueType="num">
                                      <p:cBhvr additive="base">
                                        <p:cTn id="150" dur="500" fill="hold"/>
                                        <p:tgtEl>
                                          <p:spTgt spid="50"/>
                                        </p:tgtEl>
                                        <p:attrNameLst>
                                          <p:attrName>ppt_y</p:attrName>
                                        </p:attrNameLst>
                                      </p:cBhvr>
                                      <p:tavLst>
                                        <p:tav tm="0">
                                          <p:val>
                                            <p:strVal val="#ppt_y+0.1"/>
                                          </p:val>
                                        </p:tav>
                                        <p:tav tm="100000">
                                          <p:val>
                                            <p:strVal val="#ppt_y"/>
                                          </p:val>
                                        </p:tav>
                                      </p:tavLst>
                                    </p:anim>
                                    <p:animEffect transition="in" filter="fade">
                                      <p:cBhvr>
                                        <p:cTn id="151" dur="500"/>
                                        <p:tgtEl>
                                          <p:spTgt spid="50"/>
                                        </p:tgtEl>
                                      </p:cBhvr>
                                    </p:animEffect>
                                  </p:childTnLst>
                                </p:cTn>
                              </p:par>
                              <p:par>
                                <p:cTn id="157" presetID="2" presetClass="entr" presetSubtype="4" fill="hold" grpId="0" nodeType="withEffect">
                                  <p:stCondLst>
                                    <p:cond delay="0"/>
                                  </p:stCondLst>
                                  <p:childTnLst>
                                    <p:set>
                                      <p:cBhvr>
                                        <p:cTn id="153" dur="1" fill="hold">
                                          <p:stCondLst>
                                            <p:cond delay="0"/>
                                          </p:stCondLst>
                                        </p:cTn>
                                        <p:tgtEl>
                                          <p:spTgt spid="51"/>
                                        </p:tgtEl>
                                        <p:attrNameLst>
                                          <p:attrName>style.visibility</p:attrName>
                                        </p:attrNameLst>
                                      </p:cBhvr>
                                      <p:to>
                                        <p:strVal val="visible"/>
                                      </p:to>
                                    </p:set>
                                    <p:anim calcmode="lin" valueType="num">
                                      <p:cBhvr additive="base">
                                        <p:cTn id="154" dur="500" fill="hold"/>
                                        <p:tgtEl>
                                          <p:spTgt spid="51"/>
                                        </p:tgtEl>
                                        <p:attrNameLst>
                                          <p:attrName>ppt_x</p:attrName>
                                        </p:attrNameLst>
                                      </p:cBhvr>
                                      <p:tavLst>
                                        <p:tav tm="0">
                                          <p:val>
                                            <p:strVal val="#ppt_x"/>
                                          </p:val>
                                        </p:tav>
                                        <p:tav tm="100000">
                                          <p:val>
                                            <p:strVal val="#ppt_x"/>
                                          </p:val>
                                        </p:tav>
                                      </p:tavLst>
                                    </p:anim>
                                    <p:anim calcmode="lin" valueType="num">
                                      <p:cBhvr additive="base">
                                        <p:cTn id="155" dur="500" fill="hold"/>
                                        <p:tgtEl>
                                          <p:spTgt spid="51"/>
                                        </p:tgtEl>
                                        <p:attrNameLst>
                                          <p:attrName>ppt_y</p:attrName>
                                        </p:attrNameLst>
                                      </p:cBhvr>
                                      <p:tavLst>
                                        <p:tav tm="0">
                                          <p:val>
                                            <p:strVal val="#ppt_y+0.1"/>
                                          </p:val>
                                        </p:tav>
                                        <p:tav tm="100000">
                                          <p:val>
                                            <p:strVal val="#ppt_y"/>
                                          </p:val>
                                        </p:tav>
                                      </p:tavLst>
                                    </p:anim>
                                    <p:animEffect transition="in" filter="fade">
                                      <p:cBhvr>
                                        <p:cTn id="156" dur="500"/>
                                        <p:tgtEl>
                                          <p:spTgt spid="51"/>
                                        </p:tgtEl>
                                      </p:cBhvr>
                                    </p:animEffect>
                                  </p:childTnLst>
                                </p:cTn>
                              </p:par>
                              <p:par>
                                <p:cTn id="162" presetID="2" presetClass="entr" presetSubtype="4" fill="hold" grpId="0" nodeType="withEffect">
                                  <p:stCondLst>
                                    <p:cond delay="0"/>
                                  </p:stCondLst>
                                  <p:childTnLst>
                                    <p:set>
                                      <p:cBhvr>
                                        <p:cTn id="158" dur="1" fill="hold">
                                          <p:stCondLst>
                                            <p:cond delay="0"/>
                                          </p:stCondLst>
                                        </p:cTn>
                                        <p:tgtEl>
                                          <p:spTgt spid="52"/>
                                        </p:tgtEl>
                                        <p:attrNameLst>
                                          <p:attrName>style.visibility</p:attrName>
                                        </p:attrNameLst>
                                      </p:cBhvr>
                                      <p:to>
                                        <p:strVal val="visible"/>
                                      </p:to>
                                    </p:set>
                                    <p:anim calcmode="lin" valueType="num">
                                      <p:cBhvr additive="base">
                                        <p:cTn id="159" dur="500" fill="hold"/>
                                        <p:tgtEl>
                                          <p:spTgt spid="52"/>
                                        </p:tgtEl>
                                        <p:attrNameLst>
                                          <p:attrName>ppt_x</p:attrName>
                                        </p:attrNameLst>
                                      </p:cBhvr>
                                      <p:tavLst>
                                        <p:tav tm="0">
                                          <p:val>
                                            <p:strVal val="#ppt_x"/>
                                          </p:val>
                                        </p:tav>
                                        <p:tav tm="100000">
                                          <p:val>
                                            <p:strVal val="#ppt_x"/>
                                          </p:val>
                                        </p:tav>
                                      </p:tavLst>
                                    </p:anim>
                                    <p:anim calcmode="lin" valueType="num">
                                      <p:cBhvr additive="base">
                                        <p:cTn id="160" dur="500" fill="hold"/>
                                        <p:tgtEl>
                                          <p:spTgt spid="52"/>
                                        </p:tgtEl>
                                        <p:attrNameLst>
                                          <p:attrName>ppt_y</p:attrName>
                                        </p:attrNameLst>
                                      </p:cBhvr>
                                      <p:tavLst>
                                        <p:tav tm="0">
                                          <p:val>
                                            <p:strVal val="#ppt_y+0.1"/>
                                          </p:val>
                                        </p:tav>
                                        <p:tav tm="100000">
                                          <p:val>
                                            <p:strVal val="#ppt_y"/>
                                          </p:val>
                                        </p:tav>
                                      </p:tavLst>
                                    </p:anim>
                                    <p:animEffect transition="in" filter="fade">
                                      <p:cBhvr>
                                        <p:cTn id="161" dur="500"/>
                                        <p:tgtEl>
                                          <p:spTgt spid="52"/>
                                        </p:tgtEl>
                                      </p:cBhvr>
                                    </p:animEffect>
                                  </p:childTnLst>
                                </p:cTn>
                              </p:par>
                              <p:par>
                                <p:cTn id="167" presetID="2" presetClass="entr" presetSubtype="4" fill="hold" grpId="0" nodeType="withEffect">
                                  <p:stCondLst>
                                    <p:cond delay="0"/>
                                  </p:stCondLst>
                                  <p:childTnLst>
                                    <p:set>
                                      <p:cBhvr>
                                        <p:cTn id="163" dur="1" fill="hold">
                                          <p:stCondLst>
                                            <p:cond delay="0"/>
                                          </p:stCondLst>
                                        </p:cTn>
                                        <p:tgtEl>
                                          <p:spTgt spid="53"/>
                                        </p:tgtEl>
                                        <p:attrNameLst>
                                          <p:attrName>style.visibility</p:attrName>
                                        </p:attrNameLst>
                                      </p:cBhvr>
                                      <p:to>
                                        <p:strVal val="visible"/>
                                      </p:to>
                                    </p:set>
                                    <p:anim calcmode="lin" valueType="num">
                                      <p:cBhvr additive="base">
                                        <p:cTn id="164" dur="500" fill="hold"/>
                                        <p:tgtEl>
                                          <p:spTgt spid="53"/>
                                        </p:tgtEl>
                                        <p:attrNameLst>
                                          <p:attrName>ppt_x</p:attrName>
                                        </p:attrNameLst>
                                      </p:cBhvr>
                                      <p:tavLst>
                                        <p:tav tm="0">
                                          <p:val>
                                            <p:strVal val="#ppt_x"/>
                                          </p:val>
                                        </p:tav>
                                        <p:tav tm="100000">
                                          <p:val>
                                            <p:strVal val="#ppt_x"/>
                                          </p:val>
                                        </p:tav>
                                      </p:tavLst>
                                    </p:anim>
                                    <p:anim calcmode="lin" valueType="num">
                                      <p:cBhvr additive="base">
                                        <p:cTn id="165" dur="500" fill="hold"/>
                                        <p:tgtEl>
                                          <p:spTgt spid="53"/>
                                        </p:tgtEl>
                                        <p:attrNameLst>
                                          <p:attrName>ppt_y</p:attrName>
                                        </p:attrNameLst>
                                      </p:cBhvr>
                                      <p:tavLst>
                                        <p:tav tm="0">
                                          <p:val>
                                            <p:strVal val="#ppt_y+0.1"/>
                                          </p:val>
                                        </p:tav>
                                        <p:tav tm="100000">
                                          <p:val>
                                            <p:strVal val="#ppt_y"/>
                                          </p:val>
                                        </p:tav>
                                      </p:tavLst>
                                    </p:anim>
                                    <p:animEffect transition="in" filter="fade">
                                      <p:cBhvr>
                                        <p:cTn id="166" dur="500"/>
                                        <p:tgtEl>
                                          <p:spTgt spid="53"/>
                                        </p:tgtEl>
                                      </p:cBhvr>
                                    </p:animEffect>
                                  </p:childTnLst>
                                </p:cTn>
                              </p:par>
                              <p:par>
                                <p:cTn id="172" presetID="2" presetClass="entr" presetSubtype="4" fill="hold" grpId="0" nodeType="withEffect">
                                  <p:stCondLst>
                                    <p:cond delay="0"/>
                                  </p:stCondLst>
                                  <p:childTnLst>
                                    <p:set>
                                      <p:cBhvr>
                                        <p:cTn id="168" dur="1" fill="hold">
                                          <p:stCondLst>
                                            <p:cond delay="0"/>
                                          </p:stCondLst>
                                        </p:cTn>
                                        <p:tgtEl>
                                          <p:spTgt spid="54"/>
                                        </p:tgtEl>
                                        <p:attrNameLst>
                                          <p:attrName>style.visibility</p:attrName>
                                        </p:attrNameLst>
                                      </p:cBhvr>
                                      <p:to>
                                        <p:strVal val="visible"/>
                                      </p:to>
                                    </p:set>
                                    <p:anim calcmode="lin" valueType="num">
                                      <p:cBhvr additive="base">
                                        <p:cTn id="169" dur="500" fill="hold"/>
                                        <p:tgtEl>
                                          <p:spTgt spid="54"/>
                                        </p:tgtEl>
                                        <p:attrNameLst>
                                          <p:attrName>ppt_x</p:attrName>
                                        </p:attrNameLst>
                                      </p:cBhvr>
                                      <p:tavLst>
                                        <p:tav tm="0">
                                          <p:val>
                                            <p:strVal val="#ppt_x"/>
                                          </p:val>
                                        </p:tav>
                                        <p:tav tm="100000">
                                          <p:val>
                                            <p:strVal val="#ppt_x"/>
                                          </p:val>
                                        </p:tav>
                                      </p:tavLst>
                                    </p:anim>
                                    <p:anim calcmode="lin" valueType="num">
                                      <p:cBhvr additive="base">
                                        <p:cTn id="170" dur="500" fill="hold"/>
                                        <p:tgtEl>
                                          <p:spTgt spid="54"/>
                                        </p:tgtEl>
                                        <p:attrNameLst>
                                          <p:attrName>ppt_y</p:attrName>
                                        </p:attrNameLst>
                                      </p:cBhvr>
                                      <p:tavLst>
                                        <p:tav tm="0">
                                          <p:val>
                                            <p:strVal val="#ppt_y+0.1"/>
                                          </p:val>
                                        </p:tav>
                                        <p:tav tm="100000">
                                          <p:val>
                                            <p:strVal val="#ppt_y"/>
                                          </p:val>
                                        </p:tav>
                                      </p:tavLst>
                                    </p:anim>
                                    <p:animEffect transition="in" filter="fade">
                                      <p:cBhvr>
                                        <p:cTn id="171" dur="500"/>
                                        <p:tgtEl>
                                          <p:spTgt spid="54"/>
                                        </p:tgtEl>
                                      </p:cBhvr>
                                    </p:animEffect>
                                  </p:childTnLst>
                                </p:cTn>
                              </p:par>
                              <p:par>
                                <p:cTn id="177" presetID="2" presetClass="entr" presetSubtype="4" fill="hold" grpId="0" nodeType="withEffect">
                                  <p:stCondLst>
                                    <p:cond delay="100"/>
                                  </p:stCondLst>
                                  <p:childTnLst>
                                    <p:set>
                                      <p:cBhvr>
                                        <p:cTn id="173" dur="1" fill="hold">
                                          <p:stCondLst>
                                            <p:cond delay="0"/>
                                          </p:stCondLst>
                                        </p:cTn>
                                        <p:tgtEl>
                                          <p:spTgt spid="55"/>
                                        </p:tgtEl>
                                        <p:attrNameLst>
                                          <p:attrName>style.visibility</p:attrName>
                                        </p:attrNameLst>
                                      </p:cBhvr>
                                      <p:to>
                                        <p:strVal val="visible"/>
                                      </p:to>
                                    </p:set>
                                    <p:anim calcmode="lin" valueType="num">
                                      <p:cBhvr additive="base">
                                        <p:cTn id="174" dur="500" fill="hold"/>
                                        <p:tgtEl>
                                          <p:spTgt spid="55"/>
                                        </p:tgtEl>
                                        <p:attrNameLst>
                                          <p:attrName>ppt_x</p:attrName>
                                        </p:attrNameLst>
                                      </p:cBhvr>
                                      <p:tavLst>
                                        <p:tav tm="0">
                                          <p:val>
                                            <p:strVal val="#ppt_x"/>
                                          </p:val>
                                        </p:tav>
                                        <p:tav tm="100000">
                                          <p:val>
                                            <p:strVal val="#ppt_x"/>
                                          </p:val>
                                        </p:tav>
                                      </p:tavLst>
                                    </p:anim>
                                    <p:anim calcmode="lin" valueType="num">
                                      <p:cBhvr additive="base">
                                        <p:cTn id="175" dur="500" fill="hold"/>
                                        <p:tgtEl>
                                          <p:spTgt spid="55"/>
                                        </p:tgtEl>
                                        <p:attrNameLst>
                                          <p:attrName>ppt_y</p:attrName>
                                        </p:attrNameLst>
                                      </p:cBhvr>
                                      <p:tavLst>
                                        <p:tav tm="0">
                                          <p:val>
                                            <p:strVal val="#ppt_y+0.1"/>
                                          </p:val>
                                        </p:tav>
                                        <p:tav tm="100000">
                                          <p:val>
                                            <p:strVal val="#ppt_y"/>
                                          </p:val>
                                        </p:tav>
                                      </p:tavLst>
                                    </p:anim>
                                    <p:animEffect transition="in" filter="fade">
                                      <p:cBhvr>
                                        <p:cTn id="176" dur="500"/>
                                        <p:tgtEl>
                                          <p:spTgt spid="55"/>
                                        </p:tgtEl>
                                      </p:cBhvr>
                                    </p:animEffect>
                                  </p:childTnLst>
                                </p:cTn>
                              </p:par>
                              <p:par>
                                <p:cTn id="182" presetID="2" presetClass="entr" presetSubtype="4" fill="hold" grpId="0" nodeType="withEffect">
                                  <p:stCondLst>
                                    <p:cond delay="100"/>
                                  </p:stCondLst>
                                  <p:childTnLst>
                                    <p:set>
                                      <p:cBhvr>
                                        <p:cTn id="178" dur="1" fill="hold">
                                          <p:stCondLst>
                                            <p:cond delay="0"/>
                                          </p:stCondLst>
                                        </p:cTn>
                                        <p:tgtEl>
                                          <p:spTgt spid="56"/>
                                        </p:tgtEl>
                                        <p:attrNameLst>
                                          <p:attrName>style.visibility</p:attrName>
                                        </p:attrNameLst>
                                      </p:cBhvr>
                                      <p:to>
                                        <p:strVal val="visible"/>
                                      </p:to>
                                    </p:set>
                                    <p:anim calcmode="lin" valueType="num">
                                      <p:cBhvr additive="base">
                                        <p:cTn id="179" dur="500" fill="hold"/>
                                        <p:tgtEl>
                                          <p:spTgt spid="56"/>
                                        </p:tgtEl>
                                        <p:attrNameLst>
                                          <p:attrName>ppt_x</p:attrName>
                                        </p:attrNameLst>
                                      </p:cBhvr>
                                      <p:tavLst>
                                        <p:tav tm="0">
                                          <p:val>
                                            <p:strVal val="#ppt_x"/>
                                          </p:val>
                                        </p:tav>
                                        <p:tav tm="100000">
                                          <p:val>
                                            <p:strVal val="#ppt_x"/>
                                          </p:val>
                                        </p:tav>
                                      </p:tavLst>
                                    </p:anim>
                                    <p:anim calcmode="lin" valueType="num">
                                      <p:cBhvr additive="base">
                                        <p:cTn id="180" dur="500" fill="hold"/>
                                        <p:tgtEl>
                                          <p:spTgt spid="56"/>
                                        </p:tgtEl>
                                        <p:attrNameLst>
                                          <p:attrName>ppt_y</p:attrName>
                                        </p:attrNameLst>
                                      </p:cBhvr>
                                      <p:tavLst>
                                        <p:tav tm="0">
                                          <p:val>
                                            <p:strVal val="#ppt_y+0.1"/>
                                          </p:val>
                                        </p:tav>
                                        <p:tav tm="100000">
                                          <p:val>
                                            <p:strVal val="#ppt_y"/>
                                          </p:val>
                                        </p:tav>
                                      </p:tavLst>
                                    </p:anim>
                                    <p:animEffect transition="in" filter="fade">
                                      <p:cBhvr>
                                        <p:cTn id="181" dur="500"/>
                                        <p:tgtEl>
                                          <p:spTgt spid="56"/>
                                        </p:tgtEl>
                                      </p:cBhvr>
                                    </p:animEffect>
                                  </p:childTnLst>
                                </p:cTn>
                              </p:par>
                              <p:par>
                                <p:cTn id="187" presetID="2" presetClass="entr" presetSubtype="4" fill="hold" grpId="0" nodeType="withEffect">
                                  <p:stCondLst>
                                    <p:cond delay="100"/>
                                  </p:stCondLst>
                                  <p:childTnLst>
                                    <p:set>
                                      <p:cBhvr>
                                        <p:cTn id="183" dur="1" fill="hold">
                                          <p:stCondLst>
                                            <p:cond delay="0"/>
                                          </p:stCondLst>
                                        </p:cTn>
                                        <p:tgtEl>
                                          <p:spTgt spid="57"/>
                                        </p:tgtEl>
                                        <p:attrNameLst>
                                          <p:attrName>style.visibility</p:attrName>
                                        </p:attrNameLst>
                                      </p:cBhvr>
                                      <p:to>
                                        <p:strVal val="visible"/>
                                      </p:to>
                                    </p:set>
                                    <p:anim calcmode="lin" valueType="num">
                                      <p:cBhvr additive="base">
                                        <p:cTn id="184" dur="500" fill="hold"/>
                                        <p:tgtEl>
                                          <p:spTgt spid="57"/>
                                        </p:tgtEl>
                                        <p:attrNameLst>
                                          <p:attrName>ppt_x</p:attrName>
                                        </p:attrNameLst>
                                      </p:cBhvr>
                                      <p:tavLst>
                                        <p:tav tm="0">
                                          <p:val>
                                            <p:strVal val="#ppt_x"/>
                                          </p:val>
                                        </p:tav>
                                        <p:tav tm="100000">
                                          <p:val>
                                            <p:strVal val="#ppt_x"/>
                                          </p:val>
                                        </p:tav>
                                      </p:tavLst>
                                    </p:anim>
                                    <p:anim calcmode="lin" valueType="num">
                                      <p:cBhvr additive="base">
                                        <p:cTn id="185" dur="500" fill="hold"/>
                                        <p:tgtEl>
                                          <p:spTgt spid="57"/>
                                        </p:tgtEl>
                                        <p:attrNameLst>
                                          <p:attrName>ppt_y</p:attrName>
                                        </p:attrNameLst>
                                      </p:cBhvr>
                                      <p:tavLst>
                                        <p:tav tm="0">
                                          <p:val>
                                            <p:strVal val="#ppt_y+0.1"/>
                                          </p:val>
                                        </p:tav>
                                        <p:tav tm="100000">
                                          <p:val>
                                            <p:strVal val="#ppt_y"/>
                                          </p:val>
                                        </p:tav>
                                      </p:tavLst>
                                    </p:anim>
                                    <p:animEffect transition="in" filter="fade">
                                      <p:cBhvr>
                                        <p:cTn id="186" dur="500"/>
                                        <p:tgtEl>
                                          <p:spTgt spid="57"/>
                                        </p:tgtEl>
                                      </p:cBhvr>
                                    </p:animEffect>
                                  </p:childTnLst>
                                </p:cTn>
                              </p:par>
                              <p:par>
                                <p:cTn id="192" presetID="2" presetClass="entr" presetSubtype="4" fill="hold" grpId="0" nodeType="withEffect">
                                  <p:stCondLst>
                                    <p:cond delay="100"/>
                                  </p:stCondLst>
                                  <p:childTnLst>
                                    <p:set>
                                      <p:cBhvr>
                                        <p:cTn id="188" dur="1" fill="hold">
                                          <p:stCondLst>
                                            <p:cond delay="0"/>
                                          </p:stCondLst>
                                        </p:cTn>
                                        <p:tgtEl>
                                          <p:spTgt spid="58"/>
                                        </p:tgtEl>
                                        <p:attrNameLst>
                                          <p:attrName>style.visibility</p:attrName>
                                        </p:attrNameLst>
                                      </p:cBhvr>
                                      <p:to>
                                        <p:strVal val="visible"/>
                                      </p:to>
                                    </p:set>
                                    <p:anim calcmode="lin" valueType="num">
                                      <p:cBhvr additive="base">
                                        <p:cTn id="189" dur="500" fill="hold"/>
                                        <p:tgtEl>
                                          <p:spTgt spid="58"/>
                                        </p:tgtEl>
                                        <p:attrNameLst>
                                          <p:attrName>ppt_x</p:attrName>
                                        </p:attrNameLst>
                                      </p:cBhvr>
                                      <p:tavLst>
                                        <p:tav tm="0">
                                          <p:val>
                                            <p:strVal val="#ppt_x"/>
                                          </p:val>
                                        </p:tav>
                                        <p:tav tm="100000">
                                          <p:val>
                                            <p:strVal val="#ppt_x"/>
                                          </p:val>
                                        </p:tav>
                                      </p:tavLst>
                                    </p:anim>
                                    <p:anim calcmode="lin" valueType="num">
                                      <p:cBhvr additive="base">
                                        <p:cTn id="190" dur="500" fill="hold"/>
                                        <p:tgtEl>
                                          <p:spTgt spid="58"/>
                                        </p:tgtEl>
                                        <p:attrNameLst>
                                          <p:attrName>ppt_y</p:attrName>
                                        </p:attrNameLst>
                                      </p:cBhvr>
                                      <p:tavLst>
                                        <p:tav tm="0">
                                          <p:val>
                                            <p:strVal val="#ppt_y+0.1"/>
                                          </p:val>
                                        </p:tav>
                                        <p:tav tm="100000">
                                          <p:val>
                                            <p:strVal val="#ppt_y"/>
                                          </p:val>
                                        </p:tav>
                                      </p:tavLst>
                                    </p:anim>
                                    <p:animEffect transition="in" filter="fade">
                                      <p:cBhvr>
                                        <p:cTn id="191" dur="500"/>
                                        <p:tgtEl>
                                          <p:spTgt spid="58"/>
                                        </p:tgtEl>
                                      </p:cBhvr>
                                    </p:animEffect>
                                  </p:childTnLst>
                                </p:cTn>
                              </p:par>
                              <p:par>
                                <p:cTn id="197" presetID="2" presetClass="entr" presetSubtype="4" fill="hold" grpId="0" nodeType="withEffect">
                                  <p:stCondLst>
                                    <p:cond delay="200"/>
                                  </p:stCondLst>
                                  <p:childTnLst>
                                    <p:set>
                                      <p:cBhvr>
                                        <p:cTn id="193" dur="1" fill="hold">
                                          <p:stCondLst>
                                            <p:cond delay="0"/>
                                          </p:stCondLst>
                                        </p:cTn>
                                        <p:tgtEl>
                                          <p:spTgt spid="59"/>
                                        </p:tgtEl>
                                        <p:attrNameLst>
                                          <p:attrName>style.visibility</p:attrName>
                                        </p:attrNameLst>
                                      </p:cBhvr>
                                      <p:to>
                                        <p:strVal val="visible"/>
                                      </p:to>
                                    </p:set>
                                    <p:anim calcmode="lin" valueType="num">
                                      <p:cBhvr additive="base">
                                        <p:cTn id="194" dur="500" fill="hold"/>
                                        <p:tgtEl>
                                          <p:spTgt spid="59"/>
                                        </p:tgtEl>
                                        <p:attrNameLst>
                                          <p:attrName>ppt_x</p:attrName>
                                        </p:attrNameLst>
                                      </p:cBhvr>
                                      <p:tavLst>
                                        <p:tav tm="0">
                                          <p:val>
                                            <p:strVal val="#ppt_x"/>
                                          </p:val>
                                        </p:tav>
                                        <p:tav tm="100000">
                                          <p:val>
                                            <p:strVal val="#ppt_x"/>
                                          </p:val>
                                        </p:tav>
                                      </p:tavLst>
                                    </p:anim>
                                    <p:anim calcmode="lin" valueType="num">
                                      <p:cBhvr additive="base">
                                        <p:cTn id="195" dur="500" fill="hold"/>
                                        <p:tgtEl>
                                          <p:spTgt spid="59"/>
                                        </p:tgtEl>
                                        <p:attrNameLst>
                                          <p:attrName>ppt_y</p:attrName>
                                        </p:attrNameLst>
                                      </p:cBhvr>
                                      <p:tavLst>
                                        <p:tav tm="0">
                                          <p:val>
                                            <p:strVal val="#ppt_y+0.1"/>
                                          </p:val>
                                        </p:tav>
                                        <p:tav tm="100000">
                                          <p:val>
                                            <p:strVal val="#ppt_y"/>
                                          </p:val>
                                        </p:tav>
                                      </p:tavLst>
                                    </p:anim>
                                    <p:animEffect transition="in" filter="fade">
                                      <p:cBhvr>
                                        <p:cTn id="196" dur="500"/>
                                        <p:tgtEl>
                                          <p:spTgt spid="59"/>
                                        </p:tgtEl>
                                      </p:cBhvr>
                                    </p:animEffect>
                                  </p:childTnLst>
                                </p:cTn>
                              </p:par>
                              <p:par>
                                <p:cTn id="202" presetID="2" presetClass="entr" presetSubtype="4" fill="hold" grpId="0" nodeType="withEffect">
                                  <p:stCondLst>
                                    <p:cond delay="200"/>
                                  </p:stCondLst>
                                  <p:childTnLst>
                                    <p:set>
                                      <p:cBhvr>
                                        <p:cTn id="198" dur="1" fill="hold">
                                          <p:stCondLst>
                                            <p:cond delay="0"/>
                                          </p:stCondLst>
                                        </p:cTn>
                                        <p:tgtEl>
                                          <p:spTgt spid="60"/>
                                        </p:tgtEl>
                                        <p:attrNameLst>
                                          <p:attrName>style.visibility</p:attrName>
                                        </p:attrNameLst>
                                      </p:cBhvr>
                                      <p:to>
                                        <p:strVal val="visible"/>
                                      </p:to>
                                    </p:set>
                                    <p:anim calcmode="lin" valueType="num">
                                      <p:cBhvr additive="base">
                                        <p:cTn id="199" dur="500" fill="hold"/>
                                        <p:tgtEl>
                                          <p:spTgt spid="60"/>
                                        </p:tgtEl>
                                        <p:attrNameLst>
                                          <p:attrName>ppt_x</p:attrName>
                                        </p:attrNameLst>
                                      </p:cBhvr>
                                      <p:tavLst>
                                        <p:tav tm="0">
                                          <p:val>
                                            <p:strVal val="#ppt_x"/>
                                          </p:val>
                                        </p:tav>
                                        <p:tav tm="100000">
                                          <p:val>
                                            <p:strVal val="#ppt_x"/>
                                          </p:val>
                                        </p:tav>
                                      </p:tavLst>
                                    </p:anim>
                                    <p:anim calcmode="lin" valueType="num">
                                      <p:cBhvr additive="base">
                                        <p:cTn id="200" dur="500" fill="hold"/>
                                        <p:tgtEl>
                                          <p:spTgt spid="60"/>
                                        </p:tgtEl>
                                        <p:attrNameLst>
                                          <p:attrName>ppt_y</p:attrName>
                                        </p:attrNameLst>
                                      </p:cBhvr>
                                      <p:tavLst>
                                        <p:tav tm="0">
                                          <p:val>
                                            <p:strVal val="#ppt_y+0.1"/>
                                          </p:val>
                                        </p:tav>
                                        <p:tav tm="100000">
                                          <p:val>
                                            <p:strVal val="#ppt_y"/>
                                          </p:val>
                                        </p:tav>
                                      </p:tavLst>
                                    </p:anim>
                                    <p:animEffect transition="in" filter="fade">
                                      <p:cBhvr>
                                        <p:cTn id="201" dur="500"/>
                                        <p:tgtEl>
                                          <p:spTgt spid="60"/>
                                        </p:tgtEl>
                                      </p:cBhvr>
                                    </p:animEffect>
                                  </p:childTnLst>
                                </p:cTn>
                              </p:par>
                              <p:par>
                                <p:cTn id="207" presetID="2" presetClass="entr" presetSubtype="4" fill="hold" grpId="0" nodeType="withEffect">
                                  <p:stCondLst>
                                    <p:cond delay="200"/>
                                  </p:stCondLst>
                                  <p:childTnLst>
                                    <p:set>
                                      <p:cBhvr>
                                        <p:cTn id="203" dur="1" fill="hold">
                                          <p:stCondLst>
                                            <p:cond delay="0"/>
                                          </p:stCondLst>
                                        </p:cTn>
                                        <p:tgtEl>
                                          <p:spTgt spid="61"/>
                                        </p:tgtEl>
                                        <p:attrNameLst>
                                          <p:attrName>style.visibility</p:attrName>
                                        </p:attrNameLst>
                                      </p:cBhvr>
                                      <p:to>
                                        <p:strVal val="visible"/>
                                      </p:to>
                                    </p:set>
                                    <p:anim calcmode="lin" valueType="num">
                                      <p:cBhvr additive="base">
                                        <p:cTn id="204" dur="500" fill="hold"/>
                                        <p:tgtEl>
                                          <p:spTgt spid="61"/>
                                        </p:tgtEl>
                                        <p:attrNameLst>
                                          <p:attrName>ppt_x</p:attrName>
                                        </p:attrNameLst>
                                      </p:cBhvr>
                                      <p:tavLst>
                                        <p:tav tm="0">
                                          <p:val>
                                            <p:strVal val="#ppt_x"/>
                                          </p:val>
                                        </p:tav>
                                        <p:tav tm="100000">
                                          <p:val>
                                            <p:strVal val="#ppt_x"/>
                                          </p:val>
                                        </p:tav>
                                      </p:tavLst>
                                    </p:anim>
                                    <p:anim calcmode="lin" valueType="num">
                                      <p:cBhvr additive="base">
                                        <p:cTn id="205" dur="500" fill="hold"/>
                                        <p:tgtEl>
                                          <p:spTgt spid="61"/>
                                        </p:tgtEl>
                                        <p:attrNameLst>
                                          <p:attrName>ppt_y</p:attrName>
                                        </p:attrNameLst>
                                      </p:cBhvr>
                                      <p:tavLst>
                                        <p:tav tm="0">
                                          <p:val>
                                            <p:strVal val="#ppt_y+0.1"/>
                                          </p:val>
                                        </p:tav>
                                        <p:tav tm="100000">
                                          <p:val>
                                            <p:strVal val="#ppt_y"/>
                                          </p:val>
                                        </p:tav>
                                      </p:tavLst>
                                    </p:anim>
                                    <p:animEffect transition="in" filter="fade">
                                      <p:cBhvr>
                                        <p:cTn id="206" dur="500"/>
                                        <p:tgtEl>
                                          <p:spTgt spid="61"/>
                                        </p:tgtEl>
                                      </p:cBhvr>
                                    </p:animEffect>
                                  </p:childTnLst>
                                </p:cTn>
                              </p:par>
                              <p:par>
                                <p:cTn id="212" presetID="2" presetClass="entr" presetSubtype="4" fill="hold" grpId="0" nodeType="withEffect">
                                  <p:stCondLst>
                                    <p:cond delay="200"/>
                                  </p:stCondLst>
                                  <p:childTnLst>
                                    <p:set>
                                      <p:cBhvr>
                                        <p:cTn id="208" dur="1" fill="hold">
                                          <p:stCondLst>
                                            <p:cond delay="0"/>
                                          </p:stCondLst>
                                        </p:cTn>
                                        <p:tgtEl>
                                          <p:spTgt spid="62"/>
                                        </p:tgtEl>
                                        <p:attrNameLst>
                                          <p:attrName>style.visibility</p:attrName>
                                        </p:attrNameLst>
                                      </p:cBhvr>
                                      <p:to>
                                        <p:strVal val="visible"/>
                                      </p:to>
                                    </p:set>
                                    <p:anim calcmode="lin" valueType="num">
                                      <p:cBhvr additive="base">
                                        <p:cTn id="209" dur="500" fill="hold"/>
                                        <p:tgtEl>
                                          <p:spTgt spid="62"/>
                                        </p:tgtEl>
                                        <p:attrNameLst>
                                          <p:attrName>ppt_x</p:attrName>
                                        </p:attrNameLst>
                                      </p:cBhvr>
                                      <p:tavLst>
                                        <p:tav tm="0">
                                          <p:val>
                                            <p:strVal val="#ppt_x"/>
                                          </p:val>
                                        </p:tav>
                                        <p:tav tm="100000">
                                          <p:val>
                                            <p:strVal val="#ppt_x"/>
                                          </p:val>
                                        </p:tav>
                                      </p:tavLst>
                                    </p:anim>
                                    <p:anim calcmode="lin" valueType="num">
                                      <p:cBhvr additive="base">
                                        <p:cTn id="210" dur="500" fill="hold"/>
                                        <p:tgtEl>
                                          <p:spTgt spid="62"/>
                                        </p:tgtEl>
                                        <p:attrNameLst>
                                          <p:attrName>ppt_y</p:attrName>
                                        </p:attrNameLst>
                                      </p:cBhvr>
                                      <p:tavLst>
                                        <p:tav tm="0">
                                          <p:val>
                                            <p:strVal val="#ppt_y+0.1"/>
                                          </p:val>
                                        </p:tav>
                                        <p:tav tm="100000">
                                          <p:val>
                                            <p:strVal val="#ppt_y"/>
                                          </p:val>
                                        </p:tav>
                                      </p:tavLst>
                                    </p:anim>
                                    <p:animEffect transition="in" filter="fade">
                                      <p:cBhvr>
                                        <p:cTn id="211" dur="500"/>
                                        <p:tgtEl>
                                          <p:spTgt spid="62"/>
                                        </p:tgtEl>
                                      </p:cBhvr>
                                    </p:animEffect>
                                  </p:childTnLst>
                                </p:cTn>
                              </p:par>
                            </p:childTnLst>
                          </p:cTn>
                        </p:par>
                      </p:childTnLst>
                    </p:cTn>
                  </p:par>
                  <p:par>
                    <p:cTn id="213" fill="hold">
                      <p:stCondLst>
                        <p:cond delay="indefinite"/>
                      </p:stCondLst>
                      <p:childTnLst>
                        <p:par>
                          <p:cTn id="214" fill="hold">
                            <p:stCondLst>
                              <p:cond delay="0"/>
                            </p:stCondLst>
                            <p:childTnLst>
                              <p:par>
                                <p:cTn id="219" presetID="2" presetClass="entr" presetSubtype="4" fill="hold" grpId="0" nodeType="clickEffect">
                                  <p:stCondLst>
                                    <p:cond delay="0"/>
                                  </p:stCondLst>
                                  <p:childTnLst>
                                    <p:set>
                                      <p:cBhvr>
                                        <p:cTn id="215" dur="1" fill="hold">
                                          <p:stCondLst>
                                            <p:cond delay="0"/>
                                          </p:stCondLst>
                                        </p:cTn>
                                        <p:tgtEl>
                                          <p:spTgt spid="63"/>
                                        </p:tgtEl>
                                        <p:attrNameLst>
                                          <p:attrName>style.visibility</p:attrName>
                                        </p:attrNameLst>
                                      </p:cBhvr>
                                      <p:to>
                                        <p:strVal val="visible"/>
                                      </p:to>
                                    </p:set>
                                    <p:anim calcmode="lin" valueType="num">
                                      <p:cBhvr additive="base">
                                        <p:cTn id="216" dur="500" fill="hold"/>
                                        <p:tgtEl>
                                          <p:spTgt spid="63"/>
                                        </p:tgtEl>
                                        <p:attrNameLst>
                                          <p:attrName>ppt_x</p:attrName>
                                        </p:attrNameLst>
                                      </p:cBhvr>
                                      <p:tavLst>
                                        <p:tav tm="0">
                                          <p:val>
                                            <p:strVal val="#ppt_x"/>
                                          </p:val>
                                        </p:tav>
                                        <p:tav tm="100000">
                                          <p:val>
                                            <p:strVal val="#ppt_x"/>
                                          </p:val>
                                        </p:tav>
                                      </p:tavLst>
                                    </p:anim>
                                    <p:anim calcmode="lin" valueType="num">
                                      <p:cBhvr additive="base">
                                        <p:cTn id="217" dur="500" fill="hold"/>
                                        <p:tgtEl>
                                          <p:spTgt spid="63"/>
                                        </p:tgtEl>
                                        <p:attrNameLst>
                                          <p:attrName>ppt_y</p:attrName>
                                        </p:attrNameLst>
                                      </p:cBhvr>
                                      <p:tavLst>
                                        <p:tav tm="0">
                                          <p:val>
                                            <p:strVal val="#ppt_y+0.1"/>
                                          </p:val>
                                        </p:tav>
                                        <p:tav tm="100000">
                                          <p:val>
                                            <p:strVal val="#ppt_y"/>
                                          </p:val>
                                        </p:tav>
                                      </p:tavLst>
                                    </p:anim>
                                    <p:animEffect transition="in" filter="fade">
                                      <p:cBhvr>
                                        <p:cTn id="218" dur="500"/>
                                        <p:tgtEl>
                                          <p:spTgt spid="63"/>
                                        </p:tgtEl>
                                      </p:cBhvr>
                                    </p:animEffect>
                                  </p:childTnLst>
                                </p:cTn>
                              </p:par>
                              <p:par>
                                <p:cTn id="224" presetID="2" presetClass="entr" presetSubtype="4" fill="hold" grpId="0" nodeType="withEffect">
                                  <p:stCondLst>
                                    <p:cond delay="0"/>
                                  </p:stCondLst>
                                  <p:childTnLst>
                                    <p:set>
                                      <p:cBhvr>
                                        <p:cTn id="220" dur="1" fill="hold">
                                          <p:stCondLst>
                                            <p:cond delay="0"/>
                                          </p:stCondLst>
                                        </p:cTn>
                                        <p:tgtEl>
                                          <p:spTgt spid="64"/>
                                        </p:tgtEl>
                                        <p:attrNameLst>
                                          <p:attrName>style.visibility</p:attrName>
                                        </p:attrNameLst>
                                      </p:cBhvr>
                                      <p:to>
                                        <p:strVal val="visible"/>
                                      </p:to>
                                    </p:set>
                                    <p:anim calcmode="lin" valueType="num">
                                      <p:cBhvr additive="base">
                                        <p:cTn id="221" dur="500" fill="hold"/>
                                        <p:tgtEl>
                                          <p:spTgt spid="64"/>
                                        </p:tgtEl>
                                        <p:attrNameLst>
                                          <p:attrName>ppt_x</p:attrName>
                                        </p:attrNameLst>
                                      </p:cBhvr>
                                      <p:tavLst>
                                        <p:tav tm="0">
                                          <p:val>
                                            <p:strVal val="#ppt_x"/>
                                          </p:val>
                                        </p:tav>
                                        <p:tav tm="100000">
                                          <p:val>
                                            <p:strVal val="#ppt_x"/>
                                          </p:val>
                                        </p:tav>
                                      </p:tavLst>
                                    </p:anim>
                                    <p:anim calcmode="lin" valueType="num">
                                      <p:cBhvr additive="base">
                                        <p:cTn id="222" dur="500" fill="hold"/>
                                        <p:tgtEl>
                                          <p:spTgt spid="64"/>
                                        </p:tgtEl>
                                        <p:attrNameLst>
                                          <p:attrName>ppt_y</p:attrName>
                                        </p:attrNameLst>
                                      </p:cBhvr>
                                      <p:tavLst>
                                        <p:tav tm="0">
                                          <p:val>
                                            <p:strVal val="#ppt_y+0.1"/>
                                          </p:val>
                                        </p:tav>
                                        <p:tav tm="100000">
                                          <p:val>
                                            <p:strVal val="#ppt_y"/>
                                          </p:val>
                                        </p:tav>
                                      </p:tavLst>
                                    </p:anim>
                                    <p:animEffect transition="in" filter="fade">
                                      <p:cBhvr>
                                        <p:cTn id="223" dur="500"/>
                                        <p:tgtEl>
                                          <p:spTgt spid="64"/>
                                        </p:tgtEl>
                                      </p:cBhvr>
                                    </p:animEffect>
                                  </p:childTnLst>
                                </p:cTn>
                              </p:par>
                              <p:par>
                                <p:cTn id="229" presetID="2" presetClass="entr" presetSubtype="4" fill="hold" grpId="0" nodeType="withEffect">
                                  <p:stCondLst>
                                    <p:cond delay="150"/>
                                  </p:stCondLst>
                                  <p:childTnLst>
                                    <p:set>
                                      <p:cBhvr>
                                        <p:cTn id="225" dur="1" fill="hold">
                                          <p:stCondLst>
                                            <p:cond delay="0"/>
                                          </p:stCondLst>
                                        </p:cTn>
                                        <p:tgtEl>
                                          <p:spTgt spid="65"/>
                                        </p:tgtEl>
                                        <p:attrNameLst>
                                          <p:attrName>style.visibility</p:attrName>
                                        </p:attrNameLst>
                                      </p:cBhvr>
                                      <p:to>
                                        <p:strVal val="visible"/>
                                      </p:to>
                                    </p:set>
                                    <p:anim calcmode="lin" valueType="num">
                                      <p:cBhvr additive="base">
                                        <p:cTn id="226" dur="500" fill="hold"/>
                                        <p:tgtEl>
                                          <p:spTgt spid="65"/>
                                        </p:tgtEl>
                                        <p:attrNameLst>
                                          <p:attrName>ppt_x</p:attrName>
                                        </p:attrNameLst>
                                      </p:cBhvr>
                                      <p:tavLst>
                                        <p:tav tm="0">
                                          <p:val>
                                            <p:strVal val="#ppt_x"/>
                                          </p:val>
                                        </p:tav>
                                        <p:tav tm="100000">
                                          <p:val>
                                            <p:strVal val="#ppt_x"/>
                                          </p:val>
                                        </p:tav>
                                      </p:tavLst>
                                    </p:anim>
                                    <p:anim calcmode="lin" valueType="num">
                                      <p:cBhvr additive="base">
                                        <p:cTn id="227" dur="500" fill="hold"/>
                                        <p:tgtEl>
                                          <p:spTgt spid="65"/>
                                        </p:tgtEl>
                                        <p:attrNameLst>
                                          <p:attrName>ppt_y</p:attrName>
                                        </p:attrNameLst>
                                      </p:cBhvr>
                                      <p:tavLst>
                                        <p:tav tm="0">
                                          <p:val>
                                            <p:strVal val="#ppt_y+0.1"/>
                                          </p:val>
                                        </p:tav>
                                        <p:tav tm="100000">
                                          <p:val>
                                            <p:strVal val="#ppt_y"/>
                                          </p:val>
                                        </p:tav>
                                      </p:tavLst>
                                    </p:anim>
                                    <p:animEffect transition="in" filter="fade">
                                      <p:cBhvr>
                                        <p:cTn id="228" dur="500"/>
                                        <p:tgtEl>
                                          <p:spTgt spid="65"/>
                                        </p:tgtEl>
                                      </p:cBhvr>
                                    </p:animEffect>
                                  </p:childTnLst>
                                </p:cTn>
                              </p:par>
                              <p:par>
                                <p:cTn id="234" presetID="2" presetClass="entr" presetSubtype="4" fill="hold" grpId="0" nodeType="withEffect">
                                  <p:stCondLst>
                                    <p:cond delay="150"/>
                                  </p:stCondLst>
                                  <p:childTnLst>
                                    <p:set>
                                      <p:cBhvr>
                                        <p:cTn id="230" dur="1" fill="hold">
                                          <p:stCondLst>
                                            <p:cond delay="0"/>
                                          </p:stCondLst>
                                        </p:cTn>
                                        <p:tgtEl>
                                          <p:spTgt spid="66"/>
                                        </p:tgtEl>
                                        <p:attrNameLst>
                                          <p:attrName>style.visibility</p:attrName>
                                        </p:attrNameLst>
                                      </p:cBhvr>
                                      <p:to>
                                        <p:strVal val="visible"/>
                                      </p:to>
                                    </p:set>
                                    <p:anim calcmode="lin" valueType="num">
                                      <p:cBhvr additive="base">
                                        <p:cTn id="231" dur="500" fill="hold"/>
                                        <p:tgtEl>
                                          <p:spTgt spid="66"/>
                                        </p:tgtEl>
                                        <p:attrNameLst>
                                          <p:attrName>ppt_x</p:attrName>
                                        </p:attrNameLst>
                                      </p:cBhvr>
                                      <p:tavLst>
                                        <p:tav tm="0">
                                          <p:val>
                                            <p:strVal val="#ppt_x"/>
                                          </p:val>
                                        </p:tav>
                                        <p:tav tm="100000">
                                          <p:val>
                                            <p:strVal val="#ppt_x"/>
                                          </p:val>
                                        </p:tav>
                                      </p:tavLst>
                                    </p:anim>
                                    <p:anim calcmode="lin" valueType="num">
                                      <p:cBhvr additive="base">
                                        <p:cTn id="232" dur="500" fill="hold"/>
                                        <p:tgtEl>
                                          <p:spTgt spid="66"/>
                                        </p:tgtEl>
                                        <p:attrNameLst>
                                          <p:attrName>ppt_y</p:attrName>
                                        </p:attrNameLst>
                                      </p:cBhvr>
                                      <p:tavLst>
                                        <p:tav tm="0">
                                          <p:val>
                                            <p:strVal val="#ppt_y+0.1"/>
                                          </p:val>
                                        </p:tav>
                                        <p:tav tm="100000">
                                          <p:val>
                                            <p:strVal val="#ppt_y"/>
                                          </p:val>
                                        </p:tav>
                                      </p:tavLst>
                                    </p:anim>
                                    <p:animEffect transition="in" filter="fade">
                                      <p:cBhvr>
                                        <p:cTn id="233" dur="500"/>
                                        <p:tgtEl>
                                          <p:spTgt spid="66"/>
                                        </p:tgtEl>
                                      </p:cBhvr>
                                    </p:animEffect>
                                  </p:childTnLst>
                                </p:cTn>
                              </p:par>
                              <p:par>
                                <p:cTn id="239" presetID="2" presetClass="entr" presetSubtype="4" fill="hold" grpId="0" nodeType="withEffect">
                                  <p:stCondLst>
                                    <p:cond delay="300"/>
                                  </p:stCondLst>
                                  <p:childTnLst>
                                    <p:set>
                                      <p:cBhvr>
                                        <p:cTn id="235" dur="1" fill="hold">
                                          <p:stCondLst>
                                            <p:cond delay="0"/>
                                          </p:stCondLst>
                                        </p:cTn>
                                        <p:tgtEl>
                                          <p:spTgt spid="67"/>
                                        </p:tgtEl>
                                        <p:attrNameLst>
                                          <p:attrName>style.visibility</p:attrName>
                                        </p:attrNameLst>
                                      </p:cBhvr>
                                      <p:to>
                                        <p:strVal val="visible"/>
                                      </p:to>
                                    </p:set>
                                    <p:anim calcmode="lin" valueType="num">
                                      <p:cBhvr additive="base">
                                        <p:cTn id="236" dur="500" fill="hold"/>
                                        <p:tgtEl>
                                          <p:spTgt spid="67"/>
                                        </p:tgtEl>
                                        <p:attrNameLst>
                                          <p:attrName>ppt_x</p:attrName>
                                        </p:attrNameLst>
                                      </p:cBhvr>
                                      <p:tavLst>
                                        <p:tav tm="0">
                                          <p:val>
                                            <p:strVal val="#ppt_x"/>
                                          </p:val>
                                        </p:tav>
                                        <p:tav tm="100000">
                                          <p:val>
                                            <p:strVal val="#ppt_x"/>
                                          </p:val>
                                        </p:tav>
                                      </p:tavLst>
                                    </p:anim>
                                    <p:anim calcmode="lin" valueType="num">
                                      <p:cBhvr additive="base">
                                        <p:cTn id="237" dur="500" fill="hold"/>
                                        <p:tgtEl>
                                          <p:spTgt spid="67"/>
                                        </p:tgtEl>
                                        <p:attrNameLst>
                                          <p:attrName>ppt_y</p:attrName>
                                        </p:attrNameLst>
                                      </p:cBhvr>
                                      <p:tavLst>
                                        <p:tav tm="0">
                                          <p:val>
                                            <p:strVal val="#ppt_y+0.1"/>
                                          </p:val>
                                        </p:tav>
                                        <p:tav tm="100000">
                                          <p:val>
                                            <p:strVal val="#ppt_y"/>
                                          </p:val>
                                        </p:tav>
                                      </p:tavLst>
                                    </p:anim>
                                    <p:animEffect transition="in" filter="fade">
                                      <p:cBhvr>
                                        <p:cTn id="238" dur="500"/>
                                        <p:tgtEl>
                                          <p:spTgt spid="67"/>
                                        </p:tgtEl>
                                      </p:cBhvr>
                                    </p:animEffect>
                                  </p:childTnLst>
                                </p:cTn>
                              </p:par>
                              <p:par>
                                <p:cTn id="244" presetID="2" presetClass="entr" presetSubtype="4" fill="hold" grpId="0" nodeType="withEffect">
                                  <p:stCondLst>
                                    <p:cond delay="300"/>
                                  </p:stCondLst>
                                  <p:childTnLst>
                                    <p:set>
                                      <p:cBhvr>
                                        <p:cTn id="240" dur="1" fill="hold">
                                          <p:stCondLst>
                                            <p:cond delay="0"/>
                                          </p:stCondLst>
                                        </p:cTn>
                                        <p:tgtEl>
                                          <p:spTgt spid="68"/>
                                        </p:tgtEl>
                                        <p:attrNameLst>
                                          <p:attrName>style.visibility</p:attrName>
                                        </p:attrNameLst>
                                      </p:cBhvr>
                                      <p:to>
                                        <p:strVal val="visible"/>
                                      </p:to>
                                    </p:set>
                                    <p:anim calcmode="lin" valueType="num">
                                      <p:cBhvr additive="base">
                                        <p:cTn id="241" dur="500" fill="hold"/>
                                        <p:tgtEl>
                                          <p:spTgt spid="68"/>
                                        </p:tgtEl>
                                        <p:attrNameLst>
                                          <p:attrName>ppt_x</p:attrName>
                                        </p:attrNameLst>
                                      </p:cBhvr>
                                      <p:tavLst>
                                        <p:tav tm="0">
                                          <p:val>
                                            <p:strVal val="#ppt_x"/>
                                          </p:val>
                                        </p:tav>
                                        <p:tav tm="100000">
                                          <p:val>
                                            <p:strVal val="#ppt_x"/>
                                          </p:val>
                                        </p:tav>
                                      </p:tavLst>
                                    </p:anim>
                                    <p:anim calcmode="lin" valueType="num">
                                      <p:cBhvr additive="base">
                                        <p:cTn id="242" dur="500" fill="hold"/>
                                        <p:tgtEl>
                                          <p:spTgt spid="68"/>
                                        </p:tgtEl>
                                        <p:attrNameLst>
                                          <p:attrName>ppt_y</p:attrName>
                                        </p:attrNameLst>
                                      </p:cBhvr>
                                      <p:tavLst>
                                        <p:tav tm="0">
                                          <p:val>
                                            <p:strVal val="#ppt_y+0.1"/>
                                          </p:val>
                                        </p:tav>
                                        <p:tav tm="100000">
                                          <p:val>
                                            <p:strVal val="#ppt_y"/>
                                          </p:val>
                                        </p:tav>
                                      </p:tavLst>
                                    </p:anim>
                                    <p:animEffect transition="in" filter="fade">
                                      <p:cBhvr>
                                        <p:cTn id="243"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Producers and Consumers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Writers and readers never talk to each other - only to Kafka</a:t>
            </a:r>
          </a:p>
        </p:txBody>
      </p:sp>
      <p:sp>
        <p:nvSpPr>
          <p:cNvPr id="11" name="a1u_nd10"/>
          <p:cNvSpPr/>
          <p:nvPr/>
        </p:nvSpPr>
        <p:spPr>
          <a:xfrm>
            <a:off x="457200" y="1325880"/>
            <a:ext cx="1645920" cy="438912"/>
          </a:xfrm>
          <a:prstGeom prst="roundRect">
            <a:avLst>
              <a:gd name="adj" fmla="val 16666"/>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325880"/>
            <a:ext cx="1554480" cy="438912"/>
          </a:xfrm>
          <a:prstGeom prst="rect">
            <a:avLst/>
          </a:prstGeom>
          <a:noFill/>
        </p:spPr>
        <p:txBody>
          <a:bodyPr wrap="square" lIns="0" tIns="0" rIns="0" bIns="0" anchor="ctr">
            <a:spAutoFit/>
          </a:bodyPr>
          <a:lstStyle/>
          <a:p>
            <a:pPr algn="ctr"/>
            <a:r>
              <a:rPr sz="900" b="1">
                <a:solidFill>
                  <a:srgbClr val="1C1917"/>
                </a:solidFill>
                <a:latin typeface="Segoe UI"/>
              </a:rPr>
              <a:t>Payment service</a:t>
            </a:r>
          </a:p>
        </p:txBody>
      </p:sp>
      <p:cxnSp>
        <p:nvCxnSpPr>
          <p:cNvPr id="13" name="a1u_ar12"/>
          <p:cNvCxnSpPr/>
          <p:nvPr/>
        </p:nvCxnSpPr>
        <p:spPr>
          <a:xfrm>
            <a:off x="2130552" y="1545336"/>
            <a:ext cx="1042416" cy="557784"/>
          </a:xfrm>
          <a:prstGeom prst="line">
            <a:avLst/>
          </a:prstGeom>
          <a:ln w="127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a1ud100_nd13"/>
          <p:cNvSpPr/>
          <p:nvPr/>
        </p:nvSpPr>
        <p:spPr>
          <a:xfrm>
            <a:off x="457200" y="1892807"/>
            <a:ext cx="1645920" cy="438912"/>
          </a:xfrm>
          <a:prstGeom prst="roundRect">
            <a:avLst>
              <a:gd name="adj" fmla="val 16666"/>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100_ndt14"/>
          <p:cNvSpPr txBox="1"/>
          <p:nvPr/>
        </p:nvSpPr>
        <p:spPr>
          <a:xfrm>
            <a:off x="502920" y="1892807"/>
            <a:ext cx="1554480" cy="438912"/>
          </a:xfrm>
          <a:prstGeom prst="rect">
            <a:avLst/>
          </a:prstGeom>
          <a:noFill/>
        </p:spPr>
        <p:txBody>
          <a:bodyPr wrap="square" lIns="0" tIns="0" rIns="0" bIns="0" anchor="ctr">
            <a:spAutoFit/>
          </a:bodyPr>
          <a:lstStyle/>
          <a:p>
            <a:pPr algn="ctr"/>
            <a:r>
              <a:rPr sz="900" b="1">
                <a:solidFill>
                  <a:srgbClr val="1C1917"/>
                </a:solidFill>
                <a:latin typeface="Segoe UI"/>
              </a:rPr>
              <a:t>Web app</a:t>
            </a:r>
          </a:p>
        </p:txBody>
      </p:sp>
      <p:cxnSp>
        <p:nvCxnSpPr>
          <p:cNvPr id="16" name="a1ud100_ar15"/>
          <p:cNvCxnSpPr/>
          <p:nvPr/>
        </p:nvCxnSpPr>
        <p:spPr>
          <a:xfrm flipV="1">
            <a:off x="2130552" y="2103120"/>
            <a:ext cx="1042416" cy="9144"/>
          </a:xfrm>
          <a:prstGeom prst="line">
            <a:avLst/>
          </a:prstGeom>
          <a:ln w="127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a1ud200_nd16"/>
          <p:cNvSpPr/>
          <p:nvPr/>
        </p:nvSpPr>
        <p:spPr>
          <a:xfrm>
            <a:off x="457200" y="2459736"/>
            <a:ext cx="1645920" cy="438912"/>
          </a:xfrm>
          <a:prstGeom prst="roundRect">
            <a:avLst>
              <a:gd name="adj" fmla="val 16666"/>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d200_ndt17"/>
          <p:cNvSpPr txBox="1"/>
          <p:nvPr/>
        </p:nvSpPr>
        <p:spPr>
          <a:xfrm>
            <a:off x="502920" y="2459736"/>
            <a:ext cx="1554480" cy="438912"/>
          </a:xfrm>
          <a:prstGeom prst="rect">
            <a:avLst/>
          </a:prstGeom>
          <a:noFill/>
        </p:spPr>
        <p:txBody>
          <a:bodyPr wrap="square" lIns="0" tIns="0" rIns="0" bIns="0" anchor="ctr">
            <a:spAutoFit/>
          </a:bodyPr>
          <a:lstStyle/>
          <a:p>
            <a:pPr algn="ctr"/>
            <a:r>
              <a:rPr sz="900" b="1">
                <a:solidFill>
                  <a:srgbClr val="1C1917"/>
                </a:solidFill>
                <a:latin typeface="Segoe UI"/>
              </a:rPr>
              <a:t>Mobile app</a:t>
            </a:r>
          </a:p>
        </p:txBody>
      </p:sp>
      <p:cxnSp>
        <p:nvCxnSpPr>
          <p:cNvPr id="19" name="a1ud200_ar18"/>
          <p:cNvCxnSpPr/>
          <p:nvPr/>
        </p:nvCxnSpPr>
        <p:spPr>
          <a:xfrm flipV="1">
            <a:off x="2130552" y="2103120"/>
            <a:ext cx="1042416" cy="576071"/>
          </a:xfrm>
          <a:prstGeom prst="line">
            <a:avLst/>
          </a:prstGeom>
          <a:ln w="127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a1ud300_nd19"/>
          <p:cNvSpPr/>
          <p:nvPr/>
        </p:nvSpPr>
        <p:spPr>
          <a:xfrm>
            <a:off x="3200400" y="1691640"/>
            <a:ext cx="1828800" cy="822960"/>
          </a:xfrm>
          <a:prstGeom prst="roundRect">
            <a:avLst>
              <a:gd name="adj" fmla="val 8888"/>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300_ndt20"/>
          <p:cNvSpPr txBox="1"/>
          <p:nvPr/>
        </p:nvSpPr>
        <p:spPr>
          <a:xfrm>
            <a:off x="3246120" y="1728216"/>
            <a:ext cx="1737360" cy="393192"/>
          </a:xfrm>
          <a:prstGeom prst="rect">
            <a:avLst/>
          </a:prstGeom>
          <a:noFill/>
        </p:spPr>
        <p:txBody>
          <a:bodyPr wrap="square" lIns="0" tIns="0" rIns="0" bIns="0" anchor="b">
            <a:spAutoFit/>
          </a:bodyPr>
          <a:lstStyle/>
          <a:p>
            <a:pPr algn="ctr"/>
            <a:r>
              <a:rPr sz="1300" b="1">
                <a:solidFill>
                  <a:srgbClr val="1C1917"/>
                </a:solidFill>
                <a:latin typeface="Segoe UI"/>
              </a:rPr>
              <a:t>Kafka</a:t>
            </a:r>
          </a:p>
        </p:txBody>
      </p:sp>
      <p:sp>
        <p:nvSpPr>
          <p:cNvPr id="22" name="a1ud300_nds21"/>
          <p:cNvSpPr txBox="1"/>
          <p:nvPr/>
        </p:nvSpPr>
        <p:spPr>
          <a:xfrm>
            <a:off x="3246120" y="2130552"/>
            <a:ext cx="1737360" cy="347472"/>
          </a:xfrm>
          <a:prstGeom prst="rect">
            <a:avLst/>
          </a:prstGeom>
          <a:noFill/>
        </p:spPr>
        <p:txBody>
          <a:bodyPr wrap="square" lIns="0" tIns="0" rIns="0" bIns="0" anchor="t">
            <a:spAutoFit/>
          </a:bodyPr>
          <a:lstStyle/>
          <a:p>
            <a:pPr algn="ctr"/>
            <a:r>
              <a:rPr sz="800" b="0">
                <a:solidFill>
                  <a:srgbClr val="0E7490"/>
                </a:solidFill>
                <a:latin typeface="Segoe UI"/>
              </a:rPr>
              <a:t>topics</a:t>
            </a:r>
          </a:p>
        </p:txBody>
      </p:sp>
      <p:sp>
        <p:nvSpPr>
          <p:cNvPr id="23" name="a2u_nd22"/>
          <p:cNvSpPr/>
          <p:nvPr/>
        </p:nvSpPr>
        <p:spPr>
          <a:xfrm>
            <a:off x="7040880" y="1325880"/>
            <a:ext cx="1645920" cy="438912"/>
          </a:xfrm>
          <a:prstGeom prst="roundRect">
            <a:avLst>
              <a:gd name="adj" fmla="val 16666"/>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_ndt23"/>
          <p:cNvSpPr txBox="1"/>
          <p:nvPr/>
        </p:nvSpPr>
        <p:spPr>
          <a:xfrm>
            <a:off x="7086600" y="1325880"/>
            <a:ext cx="1554480" cy="438912"/>
          </a:xfrm>
          <a:prstGeom prst="rect">
            <a:avLst/>
          </a:prstGeom>
          <a:noFill/>
        </p:spPr>
        <p:txBody>
          <a:bodyPr wrap="square" lIns="0" tIns="0" rIns="0" bIns="0" anchor="ctr">
            <a:spAutoFit/>
          </a:bodyPr>
          <a:lstStyle/>
          <a:p>
            <a:pPr algn="ctr"/>
            <a:r>
              <a:rPr sz="900" b="1">
                <a:solidFill>
                  <a:srgbClr val="1C1917"/>
                </a:solidFill>
                <a:latin typeface="Segoe UI"/>
              </a:rPr>
              <a:t>Fraud service</a:t>
            </a:r>
          </a:p>
        </p:txBody>
      </p:sp>
      <p:cxnSp>
        <p:nvCxnSpPr>
          <p:cNvPr id="25" name="a2u_ar24"/>
          <p:cNvCxnSpPr/>
          <p:nvPr/>
        </p:nvCxnSpPr>
        <p:spPr>
          <a:xfrm flipV="1">
            <a:off x="5056632" y="1545336"/>
            <a:ext cx="1956816" cy="557784"/>
          </a:xfrm>
          <a:prstGeom prst="line">
            <a:avLst/>
          </a:prstGeom>
          <a:ln w="1270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a2ud100_nd25"/>
          <p:cNvSpPr/>
          <p:nvPr/>
        </p:nvSpPr>
        <p:spPr>
          <a:xfrm>
            <a:off x="7040880" y="1892807"/>
            <a:ext cx="1645920" cy="438912"/>
          </a:xfrm>
          <a:prstGeom prst="roundRect">
            <a:avLst>
              <a:gd name="adj" fmla="val 16666"/>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ud100_ndt26"/>
          <p:cNvSpPr txBox="1"/>
          <p:nvPr/>
        </p:nvSpPr>
        <p:spPr>
          <a:xfrm>
            <a:off x="7086600" y="1892807"/>
            <a:ext cx="1554480" cy="438912"/>
          </a:xfrm>
          <a:prstGeom prst="rect">
            <a:avLst/>
          </a:prstGeom>
          <a:noFill/>
        </p:spPr>
        <p:txBody>
          <a:bodyPr wrap="square" lIns="0" tIns="0" rIns="0" bIns="0" anchor="ctr">
            <a:spAutoFit/>
          </a:bodyPr>
          <a:lstStyle/>
          <a:p>
            <a:pPr algn="ctr"/>
            <a:r>
              <a:rPr sz="900" b="1">
                <a:solidFill>
                  <a:srgbClr val="1C1917"/>
                </a:solidFill>
                <a:latin typeface="Segoe UI"/>
              </a:rPr>
              <a:t>Notifications</a:t>
            </a:r>
          </a:p>
        </p:txBody>
      </p:sp>
      <p:cxnSp>
        <p:nvCxnSpPr>
          <p:cNvPr id="28" name="a2ud100_ar27"/>
          <p:cNvCxnSpPr/>
          <p:nvPr/>
        </p:nvCxnSpPr>
        <p:spPr>
          <a:xfrm>
            <a:off x="5056632" y="2103120"/>
            <a:ext cx="1956816" cy="9144"/>
          </a:xfrm>
          <a:prstGeom prst="line">
            <a:avLst/>
          </a:prstGeom>
          <a:ln w="1270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a2ud200_nd28"/>
          <p:cNvSpPr/>
          <p:nvPr/>
        </p:nvSpPr>
        <p:spPr>
          <a:xfrm>
            <a:off x="7040880" y="2459736"/>
            <a:ext cx="1645920" cy="438912"/>
          </a:xfrm>
          <a:prstGeom prst="roundRect">
            <a:avLst>
              <a:gd name="adj" fmla="val 16666"/>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ud200_ndt29"/>
          <p:cNvSpPr txBox="1"/>
          <p:nvPr/>
        </p:nvSpPr>
        <p:spPr>
          <a:xfrm>
            <a:off x="7086600" y="2459736"/>
            <a:ext cx="1554480" cy="438912"/>
          </a:xfrm>
          <a:prstGeom prst="rect">
            <a:avLst/>
          </a:prstGeom>
          <a:noFill/>
        </p:spPr>
        <p:txBody>
          <a:bodyPr wrap="square" lIns="0" tIns="0" rIns="0" bIns="0" anchor="ctr">
            <a:spAutoFit/>
          </a:bodyPr>
          <a:lstStyle/>
          <a:p>
            <a:pPr algn="ctr"/>
            <a:r>
              <a:rPr sz="900" b="1">
                <a:solidFill>
                  <a:srgbClr val="1C1917"/>
                </a:solidFill>
                <a:latin typeface="Segoe UI"/>
              </a:rPr>
              <a:t>Analytics</a:t>
            </a:r>
          </a:p>
        </p:txBody>
      </p:sp>
      <p:cxnSp>
        <p:nvCxnSpPr>
          <p:cNvPr id="31" name="a2ud200_ar30"/>
          <p:cNvCxnSpPr/>
          <p:nvPr/>
        </p:nvCxnSpPr>
        <p:spPr>
          <a:xfrm>
            <a:off x="5056632" y="2103120"/>
            <a:ext cx="1956816" cy="576071"/>
          </a:xfrm>
          <a:prstGeom prst="line">
            <a:avLst/>
          </a:prstGeom>
          <a:ln w="1270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a1u_lb31"/>
          <p:cNvSpPr txBox="1"/>
          <p:nvPr/>
        </p:nvSpPr>
        <p:spPr>
          <a:xfrm>
            <a:off x="457200" y="3063240"/>
            <a:ext cx="1645920" cy="201168"/>
          </a:xfrm>
          <a:prstGeom prst="rect">
            <a:avLst/>
          </a:prstGeom>
          <a:noFill/>
        </p:spPr>
        <p:txBody>
          <a:bodyPr wrap="square" lIns="0" tIns="0" rIns="0" bIns="0" anchor="ctr">
            <a:spAutoFit/>
          </a:bodyPr>
          <a:lstStyle/>
          <a:p>
            <a:pPr algn="ctr"/>
            <a:r>
              <a:rPr sz="850" b="1">
                <a:solidFill>
                  <a:srgbClr val="C2410C"/>
                </a:solidFill>
                <a:latin typeface="Segoe UI"/>
              </a:rPr>
              <a:t>PRODUCERS</a:t>
            </a:r>
          </a:p>
        </p:txBody>
      </p:sp>
      <p:sp>
        <p:nvSpPr>
          <p:cNvPr id="33" name="a2u_lb32"/>
          <p:cNvSpPr txBox="1"/>
          <p:nvPr/>
        </p:nvSpPr>
        <p:spPr>
          <a:xfrm>
            <a:off x="7040880" y="3063240"/>
            <a:ext cx="1645920" cy="201168"/>
          </a:xfrm>
          <a:prstGeom prst="rect">
            <a:avLst/>
          </a:prstGeom>
          <a:noFill/>
        </p:spPr>
        <p:txBody>
          <a:bodyPr wrap="square" lIns="0" tIns="0" rIns="0" bIns="0" anchor="ctr">
            <a:spAutoFit/>
          </a:bodyPr>
          <a:lstStyle/>
          <a:p>
            <a:pPr algn="ctr"/>
            <a:r>
              <a:rPr sz="850" b="1">
                <a:solidFill>
                  <a:srgbClr val="A16207"/>
                </a:solidFill>
                <a:latin typeface="Segoe UI"/>
              </a:rPr>
              <a:t>CONSUMERS</a:t>
            </a:r>
          </a:p>
        </p:txBody>
      </p:sp>
      <p:sp>
        <p:nvSpPr>
          <p:cNvPr id="34" name="a3u_nb33"/>
          <p:cNvSpPr/>
          <p:nvPr/>
        </p:nvSpPr>
        <p:spPr>
          <a:xfrm>
            <a:off x="457200" y="3429000"/>
            <a:ext cx="2615184" cy="914400"/>
          </a:xfrm>
          <a:prstGeom prst="roundRect">
            <a:avLst>
              <a:gd name="adj" fmla="val 8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3u_nacc34"/>
          <p:cNvSpPr/>
          <p:nvPr/>
        </p:nvSpPr>
        <p:spPr>
          <a:xfrm>
            <a:off x="457200" y="3429000"/>
            <a:ext cx="54864" cy="9144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3u_nt35"/>
          <p:cNvSpPr txBox="1"/>
          <p:nvPr/>
        </p:nvSpPr>
        <p:spPr>
          <a:xfrm>
            <a:off x="658368" y="3429000"/>
            <a:ext cx="2212848" cy="914400"/>
          </a:xfrm>
          <a:prstGeom prst="rect">
            <a:avLst/>
          </a:prstGeom>
          <a:noFill/>
        </p:spPr>
        <p:txBody>
          <a:bodyPr wrap="square" lIns="0" tIns="0" rIns="0" bIns="0" anchor="ctr">
            <a:spAutoFit/>
          </a:bodyPr>
          <a:lstStyle/>
          <a:p>
            <a:pPr algn="l"/>
            <a:r>
              <a:rPr sz="900" b="1">
                <a:solidFill>
                  <a:srgbClr val="C2410C"/>
                </a:solidFill>
                <a:latin typeface="Segoe UI"/>
              </a:rPr>
              <a:t>1  </a:t>
            </a:r>
            <a:r>
              <a:rPr sz="900" b="0">
                <a:solidFill>
                  <a:srgbClr val="44403C"/>
                </a:solidFill>
                <a:latin typeface="Segoe UI"/>
              </a:rPr>
              <a:t>Producers never wait for consumers.</a:t>
            </a:r>
          </a:p>
        </p:txBody>
      </p:sp>
      <p:sp>
        <p:nvSpPr>
          <p:cNvPr id="37" name="a3ud150_nb36"/>
          <p:cNvSpPr/>
          <p:nvPr/>
        </p:nvSpPr>
        <p:spPr>
          <a:xfrm>
            <a:off x="3264408" y="3429000"/>
            <a:ext cx="2615184" cy="914400"/>
          </a:xfrm>
          <a:prstGeom prst="roundRect">
            <a:avLst>
              <a:gd name="adj" fmla="val 8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3ud150_nacc37"/>
          <p:cNvSpPr/>
          <p:nvPr/>
        </p:nvSpPr>
        <p:spPr>
          <a:xfrm>
            <a:off x="3264408" y="3429000"/>
            <a:ext cx="54864" cy="91440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3ud150_nt38"/>
          <p:cNvSpPr txBox="1"/>
          <p:nvPr/>
        </p:nvSpPr>
        <p:spPr>
          <a:xfrm>
            <a:off x="3465576" y="3429000"/>
            <a:ext cx="2212848" cy="914400"/>
          </a:xfrm>
          <a:prstGeom prst="rect">
            <a:avLst/>
          </a:prstGeom>
          <a:noFill/>
        </p:spPr>
        <p:txBody>
          <a:bodyPr wrap="square" lIns="0" tIns="0" rIns="0" bIns="0" anchor="ctr">
            <a:spAutoFit/>
          </a:bodyPr>
          <a:lstStyle/>
          <a:p>
            <a:pPr algn="l"/>
            <a:r>
              <a:rPr sz="900" b="1">
                <a:solidFill>
                  <a:srgbClr val="0E7490"/>
                </a:solidFill>
                <a:latin typeface="Segoe UI"/>
              </a:rPr>
              <a:t>2  </a:t>
            </a:r>
            <a:r>
              <a:rPr sz="900" b="0">
                <a:solidFill>
                  <a:srgbClr val="44403C"/>
                </a:solidFill>
                <a:latin typeface="Segoe UI"/>
              </a:rPr>
              <a:t>Each consumer reads at its own pace.</a:t>
            </a:r>
          </a:p>
        </p:txBody>
      </p:sp>
      <p:sp>
        <p:nvSpPr>
          <p:cNvPr id="40" name="a3ud300_nb39"/>
          <p:cNvSpPr/>
          <p:nvPr/>
        </p:nvSpPr>
        <p:spPr>
          <a:xfrm>
            <a:off x="6071616" y="3429000"/>
            <a:ext cx="2615184" cy="914400"/>
          </a:xfrm>
          <a:prstGeom prst="roundRect">
            <a:avLst>
              <a:gd name="adj" fmla="val 8000"/>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3ud300_nacc40"/>
          <p:cNvSpPr/>
          <p:nvPr/>
        </p:nvSpPr>
        <p:spPr>
          <a:xfrm>
            <a:off x="6071616" y="3429000"/>
            <a:ext cx="54864" cy="91440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3ud300_nt41"/>
          <p:cNvSpPr txBox="1"/>
          <p:nvPr/>
        </p:nvSpPr>
        <p:spPr>
          <a:xfrm>
            <a:off x="6272783" y="3429000"/>
            <a:ext cx="2212848" cy="914400"/>
          </a:xfrm>
          <a:prstGeom prst="rect">
            <a:avLst/>
          </a:prstGeom>
          <a:noFill/>
        </p:spPr>
        <p:txBody>
          <a:bodyPr wrap="square" lIns="0" tIns="0" rIns="0" bIns="0" anchor="ctr">
            <a:spAutoFit/>
          </a:bodyPr>
          <a:lstStyle/>
          <a:p>
            <a:pPr algn="l"/>
            <a:r>
              <a:rPr sz="900" b="1">
                <a:solidFill>
                  <a:srgbClr val="A16207"/>
                </a:solidFill>
                <a:latin typeface="Segoe UI"/>
              </a:rPr>
              <a:t>3  </a:t>
            </a:r>
            <a:r>
              <a:rPr sz="900" b="0">
                <a:solidFill>
                  <a:srgbClr val="44403C"/>
                </a:solidFill>
                <a:latin typeface="Segoe UI"/>
              </a:rPr>
              <a:t>Add a consumer without touching any producer.</a:t>
            </a:r>
          </a:p>
        </p:txBody>
      </p:sp>
      <p:sp>
        <p:nvSpPr>
          <p:cNvPr id="43" name="ft42"/>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68</a:t>
            </a:r>
          </a:p>
        </p:txBody>
      </p:sp>
      <p:sp>
        <p:nvSpPr>
          <p:cNvPr id="44" name="ft43"/>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ft44"/>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6" name="ft45"/>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anim calcmode="lin" valueType="num">
                                      <p:cBhvr additive="base">
                                        <p:cTn id="21" dur="500" fill="hold"/>
                                        <p:tgtEl>
                                          <p:spTgt spid="32"/>
                                        </p:tgtEl>
                                        <p:attrNameLst>
                                          <p:attrName>ppt_x</p:attrName>
                                        </p:attrNameLst>
                                      </p:cBhvr>
                                      <p:tavLst>
                                        <p:tav tm="0">
                                          <p:val>
                                            <p:strVal val="#ppt_x"/>
                                          </p:val>
                                        </p:tav>
                                        <p:tav tm="100000">
                                          <p:val>
                                            <p:strVal val="#ppt_x"/>
                                          </p:val>
                                        </p:tav>
                                      </p:tavLst>
                                    </p:anim>
                                    <p:anim calcmode="lin" valueType="num">
                                      <p:cBhvr additive="base">
                                        <p:cTn id="22" dur="500" fill="hold"/>
                                        <p:tgtEl>
                                          <p:spTgt spid="32"/>
                                        </p:tgtEl>
                                        <p:attrNameLst>
                                          <p:attrName>ppt_y</p:attrName>
                                        </p:attrNameLst>
                                      </p:cBhvr>
                                      <p:tavLst>
                                        <p:tav tm="0">
                                          <p:val>
                                            <p:strVal val="#ppt_y+0.1"/>
                                          </p:val>
                                        </p:tav>
                                        <p:tav tm="100000">
                                          <p:val>
                                            <p:strVal val="#ppt_y"/>
                                          </p:val>
                                        </p:tav>
                                      </p:tavLst>
                                    </p:anim>
                                    <p:animEffect transition="in" filter="fade">
                                      <p:cBhvr>
                                        <p:cTn id="23" dur="500"/>
                                        <p:tgtEl>
                                          <p:spTgt spid="32"/>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ppt_x"/>
                                          </p:val>
                                        </p:tav>
                                        <p:tav tm="100000">
                                          <p:val>
                                            <p:strVal val="#ppt_x"/>
                                          </p:val>
                                        </p:tav>
                                      </p:tavLst>
                                    </p:anim>
                                    <p:anim calcmode="lin" valueType="num">
                                      <p:cBhvr additive="base">
                                        <p:cTn id="27" dur="500" fill="hold"/>
                                        <p:tgtEl>
                                          <p:spTgt spid="14"/>
                                        </p:tgtEl>
                                        <p:attrNameLst>
                                          <p:attrName>ppt_y</p:attrName>
                                        </p:attrNameLst>
                                      </p:cBhvr>
                                      <p:tavLst>
                                        <p:tav tm="0">
                                          <p:val>
                                            <p:strVal val="#ppt_y+0.1"/>
                                          </p:val>
                                        </p:tav>
                                        <p:tav tm="100000">
                                          <p:val>
                                            <p:strVal val="#ppt_y"/>
                                          </p:val>
                                        </p:tav>
                                      </p:tavLst>
                                    </p:anim>
                                    <p:animEffect transition="in" filter="fade">
                                      <p:cBhvr>
                                        <p:cTn id="28" dur="500"/>
                                        <p:tgtEl>
                                          <p:spTgt spid="14"/>
                                        </p:tgtEl>
                                      </p:cBhvr>
                                    </p:animEffect>
                                  </p:childTnLst>
                                </p:cTn>
                              </p:par>
                              <p:par>
                                <p:cTn id="34" presetID="2" presetClass="entr" presetSubtype="4" fill="hold" grpId="0" nodeType="withEffect">
                                  <p:stCondLst>
                                    <p:cond delay="10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ppt_y+0.1"/>
                                          </p:val>
                                        </p:tav>
                                        <p:tav tm="100000">
                                          <p:val>
                                            <p:strVal val="#ppt_y"/>
                                          </p:val>
                                        </p:tav>
                                      </p:tavLst>
                                    </p:anim>
                                    <p:animEffect transition="in" filter="fade">
                                      <p:cBhvr>
                                        <p:cTn id="33" dur="500"/>
                                        <p:tgtEl>
                                          <p:spTgt spid="15"/>
                                        </p:tgtEl>
                                      </p:cBhvr>
                                    </p:animEffect>
                                  </p:childTnLst>
                                </p:cTn>
                              </p:par>
                              <p:par>
                                <p:cTn id="39" presetID="2" presetClass="entr" presetSubtype="4" fill="hold" grpId="0" nodeType="withEffect">
                                  <p:stCondLst>
                                    <p:cond delay="100"/>
                                  </p:stCondLst>
                                  <p:childTnLst>
                                    <p:set>
                                      <p:cBhvr>
                                        <p:cTn id="35" dur="1" fill="hold">
                                          <p:stCondLst>
                                            <p:cond delay="0"/>
                                          </p:stCondLst>
                                        </p:cTn>
                                        <p:tgtEl>
                                          <p:spTgt spid="16"/>
                                        </p:tgtEl>
                                        <p:attrNameLst>
                                          <p:attrName>style.visibility</p:attrName>
                                        </p:attrNameLst>
                                      </p:cBhvr>
                                      <p:to>
                                        <p:strVal val="visible"/>
                                      </p:to>
                                    </p:set>
                                    <p:anim calcmode="lin" valueType="num">
                                      <p:cBhvr additive="base">
                                        <p:cTn id="36" dur="500" fill="hold"/>
                                        <p:tgtEl>
                                          <p:spTgt spid="16"/>
                                        </p:tgtEl>
                                        <p:attrNameLst>
                                          <p:attrName>ppt_x</p:attrName>
                                        </p:attrNameLst>
                                      </p:cBhvr>
                                      <p:tavLst>
                                        <p:tav tm="0">
                                          <p:val>
                                            <p:strVal val="#ppt_x"/>
                                          </p:val>
                                        </p:tav>
                                        <p:tav tm="100000">
                                          <p:val>
                                            <p:strVal val="#ppt_x"/>
                                          </p:val>
                                        </p:tav>
                                      </p:tavLst>
                                    </p:anim>
                                    <p:anim calcmode="lin" valueType="num">
                                      <p:cBhvr additive="base">
                                        <p:cTn id="37" dur="500" fill="hold"/>
                                        <p:tgtEl>
                                          <p:spTgt spid="16"/>
                                        </p:tgtEl>
                                        <p:attrNameLst>
                                          <p:attrName>ppt_y</p:attrName>
                                        </p:attrNameLst>
                                      </p:cBhvr>
                                      <p:tavLst>
                                        <p:tav tm="0">
                                          <p:val>
                                            <p:strVal val="#ppt_y+0.1"/>
                                          </p:val>
                                        </p:tav>
                                        <p:tav tm="100000">
                                          <p:val>
                                            <p:strVal val="#ppt_y"/>
                                          </p:val>
                                        </p:tav>
                                      </p:tavLst>
                                    </p:anim>
                                    <p:animEffect transition="in" filter="fade">
                                      <p:cBhvr>
                                        <p:cTn id="38" dur="500"/>
                                        <p:tgtEl>
                                          <p:spTgt spid="16"/>
                                        </p:tgtEl>
                                      </p:cBhvr>
                                    </p:animEffect>
                                  </p:childTnLst>
                                </p:cTn>
                              </p:par>
                              <p:par>
                                <p:cTn id="44" presetID="2" presetClass="entr" presetSubtype="4" fill="hold" grpId="0" nodeType="withEffect">
                                  <p:stCondLst>
                                    <p:cond delay="200"/>
                                  </p:stCondLst>
                                  <p:childTnLst>
                                    <p:set>
                                      <p:cBhvr>
                                        <p:cTn id="40" dur="1" fill="hold">
                                          <p:stCondLst>
                                            <p:cond delay="0"/>
                                          </p:stCondLst>
                                        </p:cTn>
                                        <p:tgtEl>
                                          <p:spTgt spid="17"/>
                                        </p:tgtEl>
                                        <p:attrNameLst>
                                          <p:attrName>style.visibility</p:attrName>
                                        </p:attrNameLst>
                                      </p:cBhvr>
                                      <p:to>
                                        <p:strVal val="visible"/>
                                      </p:to>
                                    </p:set>
                                    <p:anim calcmode="lin" valueType="num">
                                      <p:cBhvr additive="base">
                                        <p:cTn id="41" dur="500" fill="hold"/>
                                        <p:tgtEl>
                                          <p:spTgt spid="17"/>
                                        </p:tgtEl>
                                        <p:attrNameLst>
                                          <p:attrName>ppt_x</p:attrName>
                                        </p:attrNameLst>
                                      </p:cBhvr>
                                      <p:tavLst>
                                        <p:tav tm="0">
                                          <p:val>
                                            <p:strVal val="#ppt_x"/>
                                          </p:val>
                                        </p:tav>
                                        <p:tav tm="100000">
                                          <p:val>
                                            <p:strVal val="#ppt_x"/>
                                          </p:val>
                                        </p:tav>
                                      </p:tavLst>
                                    </p:anim>
                                    <p:anim calcmode="lin" valueType="num">
                                      <p:cBhvr additive="base">
                                        <p:cTn id="42" dur="500" fill="hold"/>
                                        <p:tgtEl>
                                          <p:spTgt spid="17"/>
                                        </p:tgtEl>
                                        <p:attrNameLst>
                                          <p:attrName>ppt_y</p:attrName>
                                        </p:attrNameLst>
                                      </p:cBhvr>
                                      <p:tavLst>
                                        <p:tav tm="0">
                                          <p:val>
                                            <p:strVal val="#ppt_y+0.1"/>
                                          </p:val>
                                        </p:tav>
                                        <p:tav tm="100000">
                                          <p:val>
                                            <p:strVal val="#ppt_y"/>
                                          </p:val>
                                        </p:tav>
                                      </p:tavLst>
                                    </p:anim>
                                    <p:animEffect transition="in" filter="fade">
                                      <p:cBhvr>
                                        <p:cTn id="43" dur="500"/>
                                        <p:tgtEl>
                                          <p:spTgt spid="17"/>
                                        </p:tgtEl>
                                      </p:cBhvr>
                                    </p:animEffect>
                                  </p:childTnLst>
                                </p:cTn>
                              </p:par>
                              <p:par>
                                <p:cTn id="49" presetID="2" presetClass="entr" presetSubtype="4" fill="hold" grpId="0" nodeType="withEffect">
                                  <p:stCondLst>
                                    <p:cond delay="200"/>
                                  </p:stCondLst>
                                  <p:childTnLst>
                                    <p:set>
                                      <p:cBhvr>
                                        <p:cTn id="45" dur="1" fill="hold">
                                          <p:stCondLst>
                                            <p:cond delay="0"/>
                                          </p:stCondLst>
                                        </p:cTn>
                                        <p:tgtEl>
                                          <p:spTgt spid="18"/>
                                        </p:tgtEl>
                                        <p:attrNameLst>
                                          <p:attrName>style.visibility</p:attrName>
                                        </p:attrNameLst>
                                      </p:cBhvr>
                                      <p:to>
                                        <p:strVal val="visible"/>
                                      </p:to>
                                    </p:set>
                                    <p:anim calcmode="lin" valueType="num">
                                      <p:cBhvr additive="base">
                                        <p:cTn id="46" dur="500" fill="hold"/>
                                        <p:tgtEl>
                                          <p:spTgt spid="18"/>
                                        </p:tgtEl>
                                        <p:attrNameLst>
                                          <p:attrName>ppt_x</p:attrName>
                                        </p:attrNameLst>
                                      </p:cBhvr>
                                      <p:tavLst>
                                        <p:tav tm="0">
                                          <p:val>
                                            <p:strVal val="#ppt_x"/>
                                          </p:val>
                                        </p:tav>
                                        <p:tav tm="100000">
                                          <p:val>
                                            <p:strVal val="#ppt_x"/>
                                          </p:val>
                                        </p:tav>
                                      </p:tavLst>
                                    </p:anim>
                                    <p:anim calcmode="lin" valueType="num">
                                      <p:cBhvr additive="base">
                                        <p:cTn id="47" dur="500" fill="hold"/>
                                        <p:tgtEl>
                                          <p:spTgt spid="18"/>
                                        </p:tgtEl>
                                        <p:attrNameLst>
                                          <p:attrName>ppt_y</p:attrName>
                                        </p:attrNameLst>
                                      </p:cBhvr>
                                      <p:tavLst>
                                        <p:tav tm="0">
                                          <p:val>
                                            <p:strVal val="#ppt_y+0.1"/>
                                          </p:val>
                                        </p:tav>
                                        <p:tav tm="100000">
                                          <p:val>
                                            <p:strVal val="#ppt_y"/>
                                          </p:val>
                                        </p:tav>
                                      </p:tavLst>
                                    </p:anim>
                                    <p:animEffect transition="in" filter="fade">
                                      <p:cBhvr>
                                        <p:cTn id="48" dur="500"/>
                                        <p:tgtEl>
                                          <p:spTgt spid="18"/>
                                        </p:tgtEl>
                                      </p:cBhvr>
                                    </p:animEffect>
                                  </p:childTnLst>
                                </p:cTn>
                              </p:par>
                              <p:par>
                                <p:cTn id="54" presetID="2" presetClass="entr" presetSubtype="4" fill="hold" grpId="0" nodeType="withEffect">
                                  <p:stCondLst>
                                    <p:cond delay="20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ppt_y+0.1"/>
                                          </p:val>
                                        </p:tav>
                                        <p:tav tm="100000">
                                          <p:val>
                                            <p:strVal val="#ppt_y"/>
                                          </p:val>
                                        </p:tav>
                                      </p:tavLst>
                                    </p:anim>
                                    <p:animEffect transition="in" filter="fade">
                                      <p:cBhvr>
                                        <p:cTn id="53" dur="500"/>
                                        <p:tgtEl>
                                          <p:spTgt spid="19"/>
                                        </p:tgtEl>
                                      </p:cBhvr>
                                    </p:animEffect>
                                  </p:childTnLst>
                                </p:cTn>
                              </p:par>
                              <p:par>
                                <p:cTn id="59" presetID="2" presetClass="entr" presetSubtype="4" fill="hold" grpId="0" nodeType="withEffect">
                                  <p:stCondLst>
                                    <p:cond delay="300"/>
                                  </p:stCondLst>
                                  <p:childTnLst>
                                    <p:set>
                                      <p:cBhvr>
                                        <p:cTn id="55" dur="1" fill="hold">
                                          <p:stCondLst>
                                            <p:cond delay="0"/>
                                          </p:stCondLst>
                                        </p:cTn>
                                        <p:tgtEl>
                                          <p:spTgt spid="20"/>
                                        </p:tgtEl>
                                        <p:attrNameLst>
                                          <p:attrName>style.visibility</p:attrName>
                                        </p:attrNameLst>
                                      </p:cBhvr>
                                      <p:to>
                                        <p:strVal val="visible"/>
                                      </p:to>
                                    </p:set>
                                    <p:anim calcmode="lin" valueType="num">
                                      <p:cBhvr additive="base">
                                        <p:cTn id="56" dur="500" fill="hold"/>
                                        <p:tgtEl>
                                          <p:spTgt spid="20"/>
                                        </p:tgtEl>
                                        <p:attrNameLst>
                                          <p:attrName>ppt_x</p:attrName>
                                        </p:attrNameLst>
                                      </p:cBhvr>
                                      <p:tavLst>
                                        <p:tav tm="0">
                                          <p:val>
                                            <p:strVal val="#ppt_x"/>
                                          </p:val>
                                        </p:tav>
                                        <p:tav tm="100000">
                                          <p:val>
                                            <p:strVal val="#ppt_x"/>
                                          </p:val>
                                        </p:tav>
                                      </p:tavLst>
                                    </p:anim>
                                    <p:anim calcmode="lin" valueType="num">
                                      <p:cBhvr additive="base">
                                        <p:cTn id="57" dur="500" fill="hold"/>
                                        <p:tgtEl>
                                          <p:spTgt spid="20"/>
                                        </p:tgtEl>
                                        <p:attrNameLst>
                                          <p:attrName>ppt_y</p:attrName>
                                        </p:attrNameLst>
                                      </p:cBhvr>
                                      <p:tavLst>
                                        <p:tav tm="0">
                                          <p:val>
                                            <p:strVal val="#ppt_y+0.1"/>
                                          </p:val>
                                        </p:tav>
                                        <p:tav tm="100000">
                                          <p:val>
                                            <p:strVal val="#ppt_y"/>
                                          </p:val>
                                        </p:tav>
                                      </p:tavLst>
                                    </p:anim>
                                    <p:animEffect transition="in" filter="fade">
                                      <p:cBhvr>
                                        <p:cTn id="58" dur="500"/>
                                        <p:tgtEl>
                                          <p:spTgt spid="20"/>
                                        </p:tgtEl>
                                      </p:cBhvr>
                                    </p:animEffect>
                                  </p:childTnLst>
                                </p:cTn>
                              </p:par>
                              <p:par>
                                <p:cTn id="64" presetID="2" presetClass="entr" presetSubtype="4" fill="hold" grpId="0" nodeType="withEffect">
                                  <p:stCondLst>
                                    <p:cond delay="300"/>
                                  </p:stCondLst>
                                  <p:childTnLst>
                                    <p:set>
                                      <p:cBhvr>
                                        <p:cTn id="60" dur="1" fill="hold">
                                          <p:stCondLst>
                                            <p:cond delay="0"/>
                                          </p:stCondLst>
                                        </p:cTn>
                                        <p:tgtEl>
                                          <p:spTgt spid="21"/>
                                        </p:tgtEl>
                                        <p:attrNameLst>
                                          <p:attrName>style.visibility</p:attrName>
                                        </p:attrNameLst>
                                      </p:cBhvr>
                                      <p:to>
                                        <p:strVal val="visible"/>
                                      </p:to>
                                    </p:set>
                                    <p:anim calcmode="lin" valueType="num">
                                      <p:cBhvr additive="base">
                                        <p:cTn id="61" dur="500" fill="hold"/>
                                        <p:tgtEl>
                                          <p:spTgt spid="21"/>
                                        </p:tgtEl>
                                        <p:attrNameLst>
                                          <p:attrName>ppt_x</p:attrName>
                                        </p:attrNameLst>
                                      </p:cBhvr>
                                      <p:tavLst>
                                        <p:tav tm="0">
                                          <p:val>
                                            <p:strVal val="#ppt_x"/>
                                          </p:val>
                                        </p:tav>
                                        <p:tav tm="100000">
                                          <p:val>
                                            <p:strVal val="#ppt_x"/>
                                          </p:val>
                                        </p:tav>
                                      </p:tavLst>
                                    </p:anim>
                                    <p:anim calcmode="lin" valueType="num">
                                      <p:cBhvr additive="base">
                                        <p:cTn id="62" dur="500" fill="hold"/>
                                        <p:tgtEl>
                                          <p:spTgt spid="21"/>
                                        </p:tgtEl>
                                        <p:attrNameLst>
                                          <p:attrName>ppt_y</p:attrName>
                                        </p:attrNameLst>
                                      </p:cBhvr>
                                      <p:tavLst>
                                        <p:tav tm="0">
                                          <p:val>
                                            <p:strVal val="#ppt_y+0.1"/>
                                          </p:val>
                                        </p:tav>
                                        <p:tav tm="100000">
                                          <p:val>
                                            <p:strVal val="#ppt_y"/>
                                          </p:val>
                                        </p:tav>
                                      </p:tavLst>
                                    </p:anim>
                                    <p:animEffect transition="in" filter="fade">
                                      <p:cBhvr>
                                        <p:cTn id="63" dur="500"/>
                                        <p:tgtEl>
                                          <p:spTgt spid="21"/>
                                        </p:tgtEl>
                                      </p:cBhvr>
                                    </p:animEffect>
                                  </p:childTnLst>
                                </p:cTn>
                              </p:par>
                              <p:par>
                                <p:cTn id="69" presetID="2" presetClass="entr" presetSubtype="4" fill="hold" grpId="0" nodeType="withEffect">
                                  <p:stCondLst>
                                    <p:cond delay="300"/>
                                  </p:stCondLst>
                                  <p:childTnLst>
                                    <p:set>
                                      <p:cBhvr>
                                        <p:cTn id="65" dur="1" fill="hold">
                                          <p:stCondLst>
                                            <p:cond delay="0"/>
                                          </p:stCondLst>
                                        </p:cTn>
                                        <p:tgtEl>
                                          <p:spTgt spid="22"/>
                                        </p:tgtEl>
                                        <p:attrNameLst>
                                          <p:attrName>style.visibility</p:attrName>
                                        </p:attrNameLst>
                                      </p:cBhvr>
                                      <p:to>
                                        <p:strVal val="visible"/>
                                      </p:to>
                                    </p:set>
                                    <p:anim calcmode="lin" valueType="num">
                                      <p:cBhvr additive="base">
                                        <p:cTn id="66" dur="500" fill="hold"/>
                                        <p:tgtEl>
                                          <p:spTgt spid="22"/>
                                        </p:tgtEl>
                                        <p:attrNameLst>
                                          <p:attrName>ppt_x</p:attrName>
                                        </p:attrNameLst>
                                      </p:cBhvr>
                                      <p:tavLst>
                                        <p:tav tm="0">
                                          <p:val>
                                            <p:strVal val="#ppt_x"/>
                                          </p:val>
                                        </p:tav>
                                        <p:tav tm="100000">
                                          <p:val>
                                            <p:strVal val="#ppt_x"/>
                                          </p:val>
                                        </p:tav>
                                      </p:tavLst>
                                    </p:anim>
                                    <p:anim calcmode="lin" valueType="num">
                                      <p:cBhvr additive="base">
                                        <p:cTn id="67" dur="500" fill="hold"/>
                                        <p:tgtEl>
                                          <p:spTgt spid="22"/>
                                        </p:tgtEl>
                                        <p:attrNameLst>
                                          <p:attrName>ppt_y</p:attrName>
                                        </p:attrNameLst>
                                      </p:cBhvr>
                                      <p:tavLst>
                                        <p:tav tm="0">
                                          <p:val>
                                            <p:strVal val="#ppt_y+0.1"/>
                                          </p:val>
                                        </p:tav>
                                        <p:tav tm="100000">
                                          <p:val>
                                            <p:strVal val="#ppt_y"/>
                                          </p:val>
                                        </p:tav>
                                      </p:tavLst>
                                    </p:anim>
                                    <p:animEffect transition="in" filter="fade">
                                      <p:cBhvr>
                                        <p:cTn id="68" dur="500"/>
                                        <p:tgtEl>
                                          <p:spTgt spid="22"/>
                                        </p:tgtEl>
                                      </p:cBhvr>
                                    </p:animEffect>
                                  </p:childTnLst>
                                </p:cTn>
                              </p:par>
                            </p:childTnLst>
                          </p:cTn>
                        </p:par>
                      </p:childTnLst>
                    </p:cTn>
                  </p:par>
                  <p:par>
                    <p:cTn id="70" fill="hold">
                      <p:stCondLst>
                        <p:cond delay="indefinite"/>
                      </p:stCondLst>
                      <p:childTnLst>
                        <p:par>
                          <p:cTn id="71" fill="hold">
                            <p:stCondLst>
                              <p:cond delay="0"/>
                            </p:stCondLst>
                            <p:childTnLst>
                              <p:par>
                                <p:cTn id="76" presetID="2" presetClass="entr" presetSubtype="4"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additive="base">
                                        <p:cTn id="73" dur="500" fill="hold"/>
                                        <p:tgtEl>
                                          <p:spTgt spid="23"/>
                                        </p:tgtEl>
                                        <p:attrNameLst>
                                          <p:attrName>ppt_x</p:attrName>
                                        </p:attrNameLst>
                                      </p:cBhvr>
                                      <p:tavLst>
                                        <p:tav tm="0">
                                          <p:val>
                                            <p:strVal val="#ppt_x"/>
                                          </p:val>
                                        </p:tav>
                                        <p:tav tm="100000">
                                          <p:val>
                                            <p:strVal val="#ppt_x"/>
                                          </p:val>
                                        </p:tav>
                                      </p:tavLst>
                                    </p:anim>
                                    <p:anim calcmode="lin" valueType="num">
                                      <p:cBhvr additive="base">
                                        <p:cTn id="74" dur="500" fill="hold"/>
                                        <p:tgtEl>
                                          <p:spTgt spid="23"/>
                                        </p:tgtEl>
                                        <p:attrNameLst>
                                          <p:attrName>ppt_y</p:attrName>
                                        </p:attrNameLst>
                                      </p:cBhvr>
                                      <p:tavLst>
                                        <p:tav tm="0">
                                          <p:val>
                                            <p:strVal val="#ppt_y+0.1"/>
                                          </p:val>
                                        </p:tav>
                                        <p:tav tm="100000">
                                          <p:val>
                                            <p:strVal val="#ppt_y"/>
                                          </p:val>
                                        </p:tav>
                                      </p:tavLst>
                                    </p:anim>
                                    <p:animEffect transition="in" filter="fade">
                                      <p:cBhvr>
                                        <p:cTn id="75" dur="500"/>
                                        <p:tgtEl>
                                          <p:spTgt spid="23"/>
                                        </p:tgtEl>
                                      </p:cBhvr>
                                    </p:animEffect>
                                  </p:childTnLst>
                                </p:cTn>
                              </p:par>
                              <p:par>
                                <p:cTn id="81" presetID="2" presetClass="entr" presetSubtype="4" fill="hold" grpId="0" nodeType="withEffect">
                                  <p:stCondLst>
                                    <p:cond delay="0"/>
                                  </p:stCondLst>
                                  <p:childTnLst>
                                    <p:set>
                                      <p:cBhvr>
                                        <p:cTn id="77" dur="1" fill="hold">
                                          <p:stCondLst>
                                            <p:cond delay="0"/>
                                          </p:stCondLst>
                                        </p:cTn>
                                        <p:tgtEl>
                                          <p:spTgt spid="24"/>
                                        </p:tgtEl>
                                        <p:attrNameLst>
                                          <p:attrName>style.visibility</p:attrName>
                                        </p:attrNameLst>
                                      </p:cBhvr>
                                      <p:to>
                                        <p:strVal val="visible"/>
                                      </p:to>
                                    </p:set>
                                    <p:anim calcmode="lin" valueType="num">
                                      <p:cBhvr additive="base">
                                        <p:cTn id="78" dur="500" fill="hold"/>
                                        <p:tgtEl>
                                          <p:spTgt spid="24"/>
                                        </p:tgtEl>
                                        <p:attrNameLst>
                                          <p:attrName>ppt_x</p:attrName>
                                        </p:attrNameLst>
                                      </p:cBhvr>
                                      <p:tavLst>
                                        <p:tav tm="0">
                                          <p:val>
                                            <p:strVal val="#ppt_x"/>
                                          </p:val>
                                        </p:tav>
                                        <p:tav tm="100000">
                                          <p:val>
                                            <p:strVal val="#ppt_x"/>
                                          </p:val>
                                        </p:tav>
                                      </p:tavLst>
                                    </p:anim>
                                    <p:anim calcmode="lin" valueType="num">
                                      <p:cBhvr additive="base">
                                        <p:cTn id="79" dur="500" fill="hold"/>
                                        <p:tgtEl>
                                          <p:spTgt spid="24"/>
                                        </p:tgtEl>
                                        <p:attrNameLst>
                                          <p:attrName>ppt_y</p:attrName>
                                        </p:attrNameLst>
                                      </p:cBhvr>
                                      <p:tavLst>
                                        <p:tav tm="0">
                                          <p:val>
                                            <p:strVal val="#ppt_y+0.1"/>
                                          </p:val>
                                        </p:tav>
                                        <p:tav tm="100000">
                                          <p:val>
                                            <p:strVal val="#ppt_y"/>
                                          </p:val>
                                        </p:tav>
                                      </p:tavLst>
                                    </p:anim>
                                    <p:animEffect transition="in" filter="fade">
                                      <p:cBhvr>
                                        <p:cTn id="80" dur="500"/>
                                        <p:tgtEl>
                                          <p:spTgt spid="24"/>
                                        </p:tgtEl>
                                      </p:cBhvr>
                                    </p:animEffect>
                                  </p:childTnLst>
                                </p:cTn>
                              </p:par>
                              <p:par>
                                <p:cTn id="86" presetID="2" presetClass="entr" presetSubtype="4"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additive="base">
                                        <p:cTn id="83" dur="500" fill="hold"/>
                                        <p:tgtEl>
                                          <p:spTgt spid="25"/>
                                        </p:tgtEl>
                                        <p:attrNameLst>
                                          <p:attrName>ppt_x</p:attrName>
                                        </p:attrNameLst>
                                      </p:cBhvr>
                                      <p:tavLst>
                                        <p:tav tm="0">
                                          <p:val>
                                            <p:strVal val="#ppt_x"/>
                                          </p:val>
                                        </p:tav>
                                        <p:tav tm="100000">
                                          <p:val>
                                            <p:strVal val="#ppt_x"/>
                                          </p:val>
                                        </p:tav>
                                      </p:tavLst>
                                    </p:anim>
                                    <p:anim calcmode="lin" valueType="num">
                                      <p:cBhvr additive="base">
                                        <p:cTn id="84" dur="500" fill="hold"/>
                                        <p:tgtEl>
                                          <p:spTgt spid="25"/>
                                        </p:tgtEl>
                                        <p:attrNameLst>
                                          <p:attrName>ppt_y</p:attrName>
                                        </p:attrNameLst>
                                      </p:cBhvr>
                                      <p:tavLst>
                                        <p:tav tm="0">
                                          <p:val>
                                            <p:strVal val="#ppt_y+0.1"/>
                                          </p:val>
                                        </p:tav>
                                        <p:tav tm="100000">
                                          <p:val>
                                            <p:strVal val="#ppt_y"/>
                                          </p:val>
                                        </p:tav>
                                      </p:tavLst>
                                    </p:anim>
                                    <p:animEffect transition="in" filter="fade">
                                      <p:cBhvr>
                                        <p:cTn id="85" dur="500"/>
                                        <p:tgtEl>
                                          <p:spTgt spid="25"/>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 calcmode="lin" valueType="num">
                                      <p:cBhvr additive="base">
                                        <p:cTn id="88" dur="500" fill="hold"/>
                                        <p:tgtEl>
                                          <p:spTgt spid="33"/>
                                        </p:tgtEl>
                                        <p:attrNameLst>
                                          <p:attrName>ppt_x</p:attrName>
                                        </p:attrNameLst>
                                      </p:cBhvr>
                                      <p:tavLst>
                                        <p:tav tm="0">
                                          <p:val>
                                            <p:strVal val="#ppt_x"/>
                                          </p:val>
                                        </p:tav>
                                        <p:tav tm="100000">
                                          <p:val>
                                            <p:strVal val="#ppt_x"/>
                                          </p:val>
                                        </p:tav>
                                      </p:tavLst>
                                    </p:anim>
                                    <p:anim calcmode="lin" valueType="num">
                                      <p:cBhvr additive="base">
                                        <p:cTn id="89" dur="500" fill="hold"/>
                                        <p:tgtEl>
                                          <p:spTgt spid="33"/>
                                        </p:tgtEl>
                                        <p:attrNameLst>
                                          <p:attrName>ppt_y</p:attrName>
                                        </p:attrNameLst>
                                      </p:cBhvr>
                                      <p:tavLst>
                                        <p:tav tm="0">
                                          <p:val>
                                            <p:strVal val="#ppt_y+0.1"/>
                                          </p:val>
                                        </p:tav>
                                        <p:tav tm="100000">
                                          <p:val>
                                            <p:strVal val="#ppt_y"/>
                                          </p:val>
                                        </p:tav>
                                      </p:tavLst>
                                    </p:anim>
                                    <p:animEffect transition="in" filter="fade">
                                      <p:cBhvr>
                                        <p:cTn id="90" dur="500"/>
                                        <p:tgtEl>
                                          <p:spTgt spid="33"/>
                                        </p:tgtEl>
                                      </p:cBhvr>
                                    </p:animEffect>
                                  </p:childTnLst>
                                </p:cTn>
                              </p:par>
                              <p:par>
                                <p:cTn id="96" presetID="2" presetClass="entr" presetSubtype="4" fill="hold" grpId="0" nodeType="withEffect">
                                  <p:stCondLst>
                                    <p:cond delay="100"/>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00" fill="hold"/>
                                        <p:tgtEl>
                                          <p:spTgt spid="26"/>
                                        </p:tgtEl>
                                        <p:attrNameLst>
                                          <p:attrName>ppt_x</p:attrName>
                                        </p:attrNameLst>
                                      </p:cBhvr>
                                      <p:tavLst>
                                        <p:tav tm="0">
                                          <p:val>
                                            <p:strVal val="#ppt_x"/>
                                          </p:val>
                                        </p:tav>
                                        <p:tav tm="100000">
                                          <p:val>
                                            <p:strVal val="#ppt_x"/>
                                          </p:val>
                                        </p:tav>
                                      </p:tavLst>
                                    </p:anim>
                                    <p:anim calcmode="lin" valueType="num">
                                      <p:cBhvr additive="base">
                                        <p:cTn id="94" dur="500" fill="hold"/>
                                        <p:tgtEl>
                                          <p:spTgt spid="26"/>
                                        </p:tgtEl>
                                        <p:attrNameLst>
                                          <p:attrName>ppt_y</p:attrName>
                                        </p:attrNameLst>
                                      </p:cBhvr>
                                      <p:tavLst>
                                        <p:tav tm="0">
                                          <p:val>
                                            <p:strVal val="#ppt_y+0.1"/>
                                          </p:val>
                                        </p:tav>
                                        <p:tav tm="100000">
                                          <p:val>
                                            <p:strVal val="#ppt_y"/>
                                          </p:val>
                                        </p:tav>
                                      </p:tavLst>
                                    </p:anim>
                                    <p:animEffect transition="in" filter="fade">
                                      <p:cBhvr>
                                        <p:cTn id="95" dur="500"/>
                                        <p:tgtEl>
                                          <p:spTgt spid="26"/>
                                        </p:tgtEl>
                                      </p:cBhvr>
                                    </p:animEffect>
                                  </p:childTnLst>
                                </p:cTn>
                              </p:par>
                              <p:par>
                                <p:cTn id="101" presetID="2" presetClass="entr" presetSubtype="4" fill="hold" grpId="0" nodeType="withEffect">
                                  <p:stCondLst>
                                    <p:cond delay="100"/>
                                  </p:stCondLst>
                                  <p:childTnLst>
                                    <p:set>
                                      <p:cBhvr>
                                        <p:cTn id="97" dur="1" fill="hold">
                                          <p:stCondLst>
                                            <p:cond delay="0"/>
                                          </p:stCondLst>
                                        </p:cTn>
                                        <p:tgtEl>
                                          <p:spTgt spid="27"/>
                                        </p:tgtEl>
                                        <p:attrNameLst>
                                          <p:attrName>style.visibility</p:attrName>
                                        </p:attrNameLst>
                                      </p:cBhvr>
                                      <p:to>
                                        <p:strVal val="visible"/>
                                      </p:to>
                                    </p:set>
                                    <p:anim calcmode="lin" valueType="num">
                                      <p:cBhvr additive="base">
                                        <p:cTn id="98" dur="500" fill="hold"/>
                                        <p:tgtEl>
                                          <p:spTgt spid="27"/>
                                        </p:tgtEl>
                                        <p:attrNameLst>
                                          <p:attrName>ppt_x</p:attrName>
                                        </p:attrNameLst>
                                      </p:cBhvr>
                                      <p:tavLst>
                                        <p:tav tm="0">
                                          <p:val>
                                            <p:strVal val="#ppt_x"/>
                                          </p:val>
                                        </p:tav>
                                        <p:tav tm="100000">
                                          <p:val>
                                            <p:strVal val="#ppt_x"/>
                                          </p:val>
                                        </p:tav>
                                      </p:tavLst>
                                    </p:anim>
                                    <p:anim calcmode="lin" valueType="num">
                                      <p:cBhvr additive="base">
                                        <p:cTn id="99" dur="500" fill="hold"/>
                                        <p:tgtEl>
                                          <p:spTgt spid="27"/>
                                        </p:tgtEl>
                                        <p:attrNameLst>
                                          <p:attrName>ppt_y</p:attrName>
                                        </p:attrNameLst>
                                      </p:cBhvr>
                                      <p:tavLst>
                                        <p:tav tm="0">
                                          <p:val>
                                            <p:strVal val="#ppt_y+0.1"/>
                                          </p:val>
                                        </p:tav>
                                        <p:tav tm="100000">
                                          <p:val>
                                            <p:strVal val="#ppt_y"/>
                                          </p:val>
                                        </p:tav>
                                      </p:tavLst>
                                    </p:anim>
                                    <p:animEffect transition="in" filter="fade">
                                      <p:cBhvr>
                                        <p:cTn id="100" dur="500"/>
                                        <p:tgtEl>
                                          <p:spTgt spid="27"/>
                                        </p:tgtEl>
                                      </p:cBhvr>
                                    </p:animEffect>
                                  </p:childTnLst>
                                </p:cTn>
                              </p:par>
                              <p:par>
                                <p:cTn id="106" presetID="2" presetClass="entr" presetSubtype="4" fill="hold" grpId="0" nodeType="withEffect">
                                  <p:stCondLst>
                                    <p:cond delay="100"/>
                                  </p:stCondLst>
                                  <p:childTnLst>
                                    <p:set>
                                      <p:cBhvr>
                                        <p:cTn id="102" dur="1" fill="hold">
                                          <p:stCondLst>
                                            <p:cond delay="0"/>
                                          </p:stCondLst>
                                        </p:cTn>
                                        <p:tgtEl>
                                          <p:spTgt spid="28"/>
                                        </p:tgtEl>
                                        <p:attrNameLst>
                                          <p:attrName>style.visibility</p:attrName>
                                        </p:attrNameLst>
                                      </p:cBhvr>
                                      <p:to>
                                        <p:strVal val="visible"/>
                                      </p:to>
                                    </p:set>
                                    <p:anim calcmode="lin" valueType="num">
                                      <p:cBhvr additive="base">
                                        <p:cTn id="103" dur="500" fill="hold"/>
                                        <p:tgtEl>
                                          <p:spTgt spid="28"/>
                                        </p:tgtEl>
                                        <p:attrNameLst>
                                          <p:attrName>ppt_x</p:attrName>
                                        </p:attrNameLst>
                                      </p:cBhvr>
                                      <p:tavLst>
                                        <p:tav tm="0">
                                          <p:val>
                                            <p:strVal val="#ppt_x"/>
                                          </p:val>
                                        </p:tav>
                                        <p:tav tm="100000">
                                          <p:val>
                                            <p:strVal val="#ppt_x"/>
                                          </p:val>
                                        </p:tav>
                                      </p:tavLst>
                                    </p:anim>
                                    <p:anim calcmode="lin" valueType="num">
                                      <p:cBhvr additive="base">
                                        <p:cTn id="104" dur="500" fill="hold"/>
                                        <p:tgtEl>
                                          <p:spTgt spid="28"/>
                                        </p:tgtEl>
                                        <p:attrNameLst>
                                          <p:attrName>ppt_y</p:attrName>
                                        </p:attrNameLst>
                                      </p:cBhvr>
                                      <p:tavLst>
                                        <p:tav tm="0">
                                          <p:val>
                                            <p:strVal val="#ppt_y+0.1"/>
                                          </p:val>
                                        </p:tav>
                                        <p:tav tm="100000">
                                          <p:val>
                                            <p:strVal val="#ppt_y"/>
                                          </p:val>
                                        </p:tav>
                                      </p:tavLst>
                                    </p:anim>
                                    <p:animEffect transition="in" filter="fade">
                                      <p:cBhvr>
                                        <p:cTn id="105" dur="500"/>
                                        <p:tgtEl>
                                          <p:spTgt spid="28"/>
                                        </p:tgtEl>
                                      </p:cBhvr>
                                    </p:animEffect>
                                  </p:childTnLst>
                                </p:cTn>
                              </p:par>
                              <p:par>
                                <p:cTn id="111" presetID="2" presetClass="entr" presetSubtype="4" fill="hold" grpId="0" nodeType="withEffect">
                                  <p:stCondLst>
                                    <p:cond delay="200"/>
                                  </p:stCondLst>
                                  <p:childTnLst>
                                    <p:set>
                                      <p:cBhvr>
                                        <p:cTn id="107" dur="1" fill="hold">
                                          <p:stCondLst>
                                            <p:cond delay="0"/>
                                          </p:stCondLst>
                                        </p:cTn>
                                        <p:tgtEl>
                                          <p:spTgt spid="29"/>
                                        </p:tgtEl>
                                        <p:attrNameLst>
                                          <p:attrName>style.visibility</p:attrName>
                                        </p:attrNameLst>
                                      </p:cBhvr>
                                      <p:to>
                                        <p:strVal val="visible"/>
                                      </p:to>
                                    </p:set>
                                    <p:anim calcmode="lin" valueType="num">
                                      <p:cBhvr additive="base">
                                        <p:cTn id="108" dur="500" fill="hold"/>
                                        <p:tgtEl>
                                          <p:spTgt spid="29"/>
                                        </p:tgtEl>
                                        <p:attrNameLst>
                                          <p:attrName>ppt_x</p:attrName>
                                        </p:attrNameLst>
                                      </p:cBhvr>
                                      <p:tavLst>
                                        <p:tav tm="0">
                                          <p:val>
                                            <p:strVal val="#ppt_x"/>
                                          </p:val>
                                        </p:tav>
                                        <p:tav tm="100000">
                                          <p:val>
                                            <p:strVal val="#ppt_x"/>
                                          </p:val>
                                        </p:tav>
                                      </p:tavLst>
                                    </p:anim>
                                    <p:anim calcmode="lin" valueType="num">
                                      <p:cBhvr additive="base">
                                        <p:cTn id="109" dur="500" fill="hold"/>
                                        <p:tgtEl>
                                          <p:spTgt spid="29"/>
                                        </p:tgtEl>
                                        <p:attrNameLst>
                                          <p:attrName>ppt_y</p:attrName>
                                        </p:attrNameLst>
                                      </p:cBhvr>
                                      <p:tavLst>
                                        <p:tav tm="0">
                                          <p:val>
                                            <p:strVal val="#ppt_y+0.1"/>
                                          </p:val>
                                        </p:tav>
                                        <p:tav tm="100000">
                                          <p:val>
                                            <p:strVal val="#ppt_y"/>
                                          </p:val>
                                        </p:tav>
                                      </p:tavLst>
                                    </p:anim>
                                    <p:animEffect transition="in" filter="fade">
                                      <p:cBhvr>
                                        <p:cTn id="110" dur="500"/>
                                        <p:tgtEl>
                                          <p:spTgt spid="29"/>
                                        </p:tgtEl>
                                      </p:cBhvr>
                                    </p:animEffect>
                                  </p:childTnLst>
                                </p:cTn>
                              </p:par>
                              <p:par>
                                <p:cTn id="116" presetID="2" presetClass="entr" presetSubtype="4" fill="hold" grpId="0" nodeType="withEffect">
                                  <p:stCondLst>
                                    <p:cond delay="200"/>
                                  </p:stCondLst>
                                  <p:childTnLst>
                                    <p:set>
                                      <p:cBhvr>
                                        <p:cTn id="112" dur="1" fill="hold">
                                          <p:stCondLst>
                                            <p:cond delay="0"/>
                                          </p:stCondLst>
                                        </p:cTn>
                                        <p:tgtEl>
                                          <p:spTgt spid="30"/>
                                        </p:tgtEl>
                                        <p:attrNameLst>
                                          <p:attrName>style.visibility</p:attrName>
                                        </p:attrNameLst>
                                      </p:cBhvr>
                                      <p:to>
                                        <p:strVal val="visible"/>
                                      </p:to>
                                    </p:set>
                                    <p:anim calcmode="lin" valueType="num">
                                      <p:cBhvr additive="base">
                                        <p:cTn id="113" dur="500" fill="hold"/>
                                        <p:tgtEl>
                                          <p:spTgt spid="30"/>
                                        </p:tgtEl>
                                        <p:attrNameLst>
                                          <p:attrName>ppt_x</p:attrName>
                                        </p:attrNameLst>
                                      </p:cBhvr>
                                      <p:tavLst>
                                        <p:tav tm="0">
                                          <p:val>
                                            <p:strVal val="#ppt_x"/>
                                          </p:val>
                                        </p:tav>
                                        <p:tav tm="100000">
                                          <p:val>
                                            <p:strVal val="#ppt_x"/>
                                          </p:val>
                                        </p:tav>
                                      </p:tavLst>
                                    </p:anim>
                                    <p:anim calcmode="lin" valueType="num">
                                      <p:cBhvr additive="base">
                                        <p:cTn id="114" dur="500" fill="hold"/>
                                        <p:tgtEl>
                                          <p:spTgt spid="30"/>
                                        </p:tgtEl>
                                        <p:attrNameLst>
                                          <p:attrName>ppt_y</p:attrName>
                                        </p:attrNameLst>
                                      </p:cBhvr>
                                      <p:tavLst>
                                        <p:tav tm="0">
                                          <p:val>
                                            <p:strVal val="#ppt_y+0.1"/>
                                          </p:val>
                                        </p:tav>
                                        <p:tav tm="100000">
                                          <p:val>
                                            <p:strVal val="#ppt_y"/>
                                          </p:val>
                                        </p:tav>
                                      </p:tavLst>
                                    </p:anim>
                                    <p:animEffect transition="in" filter="fade">
                                      <p:cBhvr>
                                        <p:cTn id="115" dur="500"/>
                                        <p:tgtEl>
                                          <p:spTgt spid="30"/>
                                        </p:tgtEl>
                                      </p:cBhvr>
                                    </p:animEffect>
                                  </p:childTnLst>
                                </p:cTn>
                              </p:par>
                              <p:par>
                                <p:cTn id="121" presetID="2" presetClass="entr" presetSubtype="4" fill="hold" grpId="0" nodeType="withEffect">
                                  <p:stCondLst>
                                    <p:cond delay="200"/>
                                  </p:stCondLst>
                                  <p:childTnLst>
                                    <p:set>
                                      <p:cBhvr>
                                        <p:cTn id="117" dur="1" fill="hold">
                                          <p:stCondLst>
                                            <p:cond delay="0"/>
                                          </p:stCondLst>
                                        </p:cTn>
                                        <p:tgtEl>
                                          <p:spTgt spid="31"/>
                                        </p:tgtEl>
                                        <p:attrNameLst>
                                          <p:attrName>style.visibility</p:attrName>
                                        </p:attrNameLst>
                                      </p:cBhvr>
                                      <p:to>
                                        <p:strVal val="visible"/>
                                      </p:to>
                                    </p:set>
                                    <p:anim calcmode="lin" valueType="num">
                                      <p:cBhvr additive="base">
                                        <p:cTn id="118" dur="500" fill="hold"/>
                                        <p:tgtEl>
                                          <p:spTgt spid="31"/>
                                        </p:tgtEl>
                                        <p:attrNameLst>
                                          <p:attrName>ppt_x</p:attrName>
                                        </p:attrNameLst>
                                      </p:cBhvr>
                                      <p:tavLst>
                                        <p:tav tm="0">
                                          <p:val>
                                            <p:strVal val="#ppt_x"/>
                                          </p:val>
                                        </p:tav>
                                        <p:tav tm="100000">
                                          <p:val>
                                            <p:strVal val="#ppt_x"/>
                                          </p:val>
                                        </p:tav>
                                      </p:tavLst>
                                    </p:anim>
                                    <p:anim calcmode="lin" valueType="num">
                                      <p:cBhvr additive="base">
                                        <p:cTn id="119" dur="500" fill="hold"/>
                                        <p:tgtEl>
                                          <p:spTgt spid="31"/>
                                        </p:tgtEl>
                                        <p:attrNameLst>
                                          <p:attrName>ppt_y</p:attrName>
                                        </p:attrNameLst>
                                      </p:cBhvr>
                                      <p:tavLst>
                                        <p:tav tm="0">
                                          <p:val>
                                            <p:strVal val="#ppt_y+0.1"/>
                                          </p:val>
                                        </p:tav>
                                        <p:tav tm="100000">
                                          <p:val>
                                            <p:strVal val="#ppt_y"/>
                                          </p:val>
                                        </p:tav>
                                      </p:tavLst>
                                    </p:anim>
                                    <p:animEffect transition="in" filter="fade">
                                      <p:cBhvr>
                                        <p:cTn id="120" dur="500"/>
                                        <p:tgtEl>
                                          <p:spTgt spid="31"/>
                                        </p:tgtEl>
                                      </p:cBhvr>
                                    </p:animEffect>
                                  </p:childTnLst>
                                </p:cTn>
                              </p:par>
                            </p:childTnLst>
                          </p:cTn>
                        </p:par>
                      </p:childTnLst>
                    </p:cTn>
                  </p:par>
                  <p:par>
                    <p:cTn id="122" fill="hold">
                      <p:stCondLst>
                        <p:cond delay="indefinite"/>
                      </p:stCondLst>
                      <p:childTnLst>
                        <p:par>
                          <p:cTn id="123" fill="hold">
                            <p:stCondLst>
                              <p:cond delay="0"/>
                            </p:stCondLst>
                            <p:childTnLst>
                              <p:par>
                                <p:cTn id="128" presetID="2" presetClass="entr" presetSubtype="4" fill="hold" grpId="0" nodeType="clickEffect">
                                  <p:stCondLst>
                                    <p:cond delay="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par>
                                <p:cTn id="133" presetID="2" presetClass="entr" presetSubtype="4" fill="hold" grpId="0" nodeType="withEffect">
                                  <p:stCondLst>
                                    <p:cond delay="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par>
                                <p:cTn id="138" presetID="2" presetClass="entr" presetSubtype="4" fill="hold" grpId="0" nodeType="withEffect">
                                  <p:stCondLst>
                                    <p:cond delay="0"/>
                                  </p:stCondLst>
                                  <p:childTnLst>
                                    <p:set>
                                      <p:cBhvr>
                                        <p:cTn id="134" dur="1" fill="hold">
                                          <p:stCondLst>
                                            <p:cond delay="0"/>
                                          </p:stCondLst>
                                        </p:cTn>
                                        <p:tgtEl>
                                          <p:spTgt spid="36"/>
                                        </p:tgtEl>
                                        <p:attrNameLst>
                                          <p:attrName>style.visibility</p:attrName>
                                        </p:attrNameLst>
                                      </p:cBhvr>
                                      <p:to>
                                        <p:strVal val="visible"/>
                                      </p:to>
                                    </p:set>
                                    <p:anim calcmode="lin" valueType="num">
                                      <p:cBhvr additive="base">
                                        <p:cTn id="135" dur="500" fill="hold"/>
                                        <p:tgtEl>
                                          <p:spTgt spid="36"/>
                                        </p:tgtEl>
                                        <p:attrNameLst>
                                          <p:attrName>ppt_x</p:attrName>
                                        </p:attrNameLst>
                                      </p:cBhvr>
                                      <p:tavLst>
                                        <p:tav tm="0">
                                          <p:val>
                                            <p:strVal val="#ppt_x"/>
                                          </p:val>
                                        </p:tav>
                                        <p:tav tm="100000">
                                          <p:val>
                                            <p:strVal val="#ppt_x"/>
                                          </p:val>
                                        </p:tav>
                                      </p:tavLst>
                                    </p:anim>
                                    <p:anim calcmode="lin" valueType="num">
                                      <p:cBhvr additive="base">
                                        <p:cTn id="136" dur="500" fill="hold"/>
                                        <p:tgtEl>
                                          <p:spTgt spid="36"/>
                                        </p:tgtEl>
                                        <p:attrNameLst>
                                          <p:attrName>ppt_y</p:attrName>
                                        </p:attrNameLst>
                                      </p:cBhvr>
                                      <p:tavLst>
                                        <p:tav tm="0">
                                          <p:val>
                                            <p:strVal val="#ppt_y+0.1"/>
                                          </p:val>
                                        </p:tav>
                                        <p:tav tm="100000">
                                          <p:val>
                                            <p:strVal val="#ppt_y"/>
                                          </p:val>
                                        </p:tav>
                                      </p:tavLst>
                                    </p:anim>
                                    <p:animEffect transition="in" filter="fade">
                                      <p:cBhvr>
                                        <p:cTn id="137" dur="500"/>
                                        <p:tgtEl>
                                          <p:spTgt spid="36"/>
                                        </p:tgtEl>
                                      </p:cBhvr>
                                    </p:animEffect>
                                  </p:childTnLst>
                                </p:cTn>
                              </p:par>
                              <p:par>
                                <p:cTn id="143" presetID="2" presetClass="entr" presetSubtype="4" fill="hold" grpId="0" nodeType="withEffect">
                                  <p:stCondLst>
                                    <p:cond delay="150"/>
                                  </p:stCondLst>
                                  <p:childTnLst>
                                    <p:set>
                                      <p:cBhvr>
                                        <p:cTn id="139" dur="1" fill="hold">
                                          <p:stCondLst>
                                            <p:cond delay="0"/>
                                          </p:stCondLst>
                                        </p:cTn>
                                        <p:tgtEl>
                                          <p:spTgt spid="37"/>
                                        </p:tgtEl>
                                        <p:attrNameLst>
                                          <p:attrName>style.visibility</p:attrName>
                                        </p:attrNameLst>
                                      </p:cBhvr>
                                      <p:to>
                                        <p:strVal val="visible"/>
                                      </p:to>
                                    </p:set>
                                    <p:anim calcmode="lin" valueType="num">
                                      <p:cBhvr additive="base">
                                        <p:cTn id="140" dur="500" fill="hold"/>
                                        <p:tgtEl>
                                          <p:spTgt spid="37"/>
                                        </p:tgtEl>
                                        <p:attrNameLst>
                                          <p:attrName>ppt_x</p:attrName>
                                        </p:attrNameLst>
                                      </p:cBhvr>
                                      <p:tavLst>
                                        <p:tav tm="0">
                                          <p:val>
                                            <p:strVal val="#ppt_x"/>
                                          </p:val>
                                        </p:tav>
                                        <p:tav tm="100000">
                                          <p:val>
                                            <p:strVal val="#ppt_x"/>
                                          </p:val>
                                        </p:tav>
                                      </p:tavLst>
                                    </p:anim>
                                    <p:anim calcmode="lin" valueType="num">
                                      <p:cBhvr additive="base">
                                        <p:cTn id="141" dur="500" fill="hold"/>
                                        <p:tgtEl>
                                          <p:spTgt spid="37"/>
                                        </p:tgtEl>
                                        <p:attrNameLst>
                                          <p:attrName>ppt_y</p:attrName>
                                        </p:attrNameLst>
                                      </p:cBhvr>
                                      <p:tavLst>
                                        <p:tav tm="0">
                                          <p:val>
                                            <p:strVal val="#ppt_y+0.1"/>
                                          </p:val>
                                        </p:tav>
                                        <p:tav tm="100000">
                                          <p:val>
                                            <p:strVal val="#ppt_y"/>
                                          </p:val>
                                        </p:tav>
                                      </p:tavLst>
                                    </p:anim>
                                    <p:animEffect transition="in" filter="fade">
                                      <p:cBhvr>
                                        <p:cTn id="142" dur="500"/>
                                        <p:tgtEl>
                                          <p:spTgt spid="37"/>
                                        </p:tgtEl>
                                      </p:cBhvr>
                                    </p:animEffect>
                                  </p:childTnLst>
                                </p:cTn>
                              </p:par>
                              <p:par>
                                <p:cTn id="148" presetID="2" presetClass="entr" presetSubtype="4" fill="hold" grpId="0" nodeType="withEffect">
                                  <p:stCondLst>
                                    <p:cond delay="150"/>
                                  </p:stCondLst>
                                  <p:childTnLst>
                                    <p:set>
                                      <p:cBhvr>
                                        <p:cTn id="144" dur="1" fill="hold">
                                          <p:stCondLst>
                                            <p:cond delay="0"/>
                                          </p:stCondLst>
                                        </p:cTn>
                                        <p:tgtEl>
                                          <p:spTgt spid="38"/>
                                        </p:tgtEl>
                                        <p:attrNameLst>
                                          <p:attrName>style.visibility</p:attrName>
                                        </p:attrNameLst>
                                      </p:cBhvr>
                                      <p:to>
                                        <p:strVal val="visible"/>
                                      </p:to>
                                    </p:set>
                                    <p:anim calcmode="lin" valueType="num">
                                      <p:cBhvr additive="base">
                                        <p:cTn id="145" dur="500" fill="hold"/>
                                        <p:tgtEl>
                                          <p:spTgt spid="38"/>
                                        </p:tgtEl>
                                        <p:attrNameLst>
                                          <p:attrName>ppt_x</p:attrName>
                                        </p:attrNameLst>
                                      </p:cBhvr>
                                      <p:tavLst>
                                        <p:tav tm="0">
                                          <p:val>
                                            <p:strVal val="#ppt_x"/>
                                          </p:val>
                                        </p:tav>
                                        <p:tav tm="100000">
                                          <p:val>
                                            <p:strVal val="#ppt_x"/>
                                          </p:val>
                                        </p:tav>
                                      </p:tavLst>
                                    </p:anim>
                                    <p:anim calcmode="lin" valueType="num">
                                      <p:cBhvr additive="base">
                                        <p:cTn id="146" dur="500" fill="hold"/>
                                        <p:tgtEl>
                                          <p:spTgt spid="38"/>
                                        </p:tgtEl>
                                        <p:attrNameLst>
                                          <p:attrName>ppt_y</p:attrName>
                                        </p:attrNameLst>
                                      </p:cBhvr>
                                      <p:tavLst>
                                        <p:tav tm="0">
                                          <p:val>
                                            <p:strVal val="#ppt_y+0.1"/>
                                          </p:val>
                                        </p:tav>
                                        <p:tav tm="100000">
                                          <p:val>
                                            <p:strVal val="#ppt_y"/>
                                          </p:val>
                                        </p:tav>
                                      </p:tavLst>
                                    </p:anim>
                                    <p:animEffect transition="in" filter="fade">
                                      <p:cBhvr>
                                        <p:cTn id="147" dur="500"/>
                                        <p:tgtEl>
                                          <p:spTgt spid="38"/>
                                        </p:tgtEl>
                                      </p:cBhvr>
                                    </p:animEffect>
                                  </p:childTnLst>
                                </p:cTn>
                              </p:par>
                              <p:par>
                                <p:cTn id="153" presetID="2" presetClass="entr" presetSubtype="4" fill="hold" grpId="0" nodeType="withEffect">
                                  <p:stCondLst>
                                    <p:cond delay="150"/>
                                  </p:stCondLst>
                                  <p:childTnLst>
                                    <p:set>
                                      <p:cBhvr>
                                        <p:cTn id="149" dur="1" fill="hold">
                                          <p:stCondLst>
                                            <p:cond delay="0"/>
                                          </p:stCondLst>
                                        </p:cTn>
                                        <p:tgtEl>
                                          <p:spTgt spid="39"/>
                                        </p:tgtEl>
                                        <p:attrNameLst>
                                          <p:attrName>style.visibility</p:attrName>
                                        </p:attrNameLst>
                                      </p:cBhvr>
                                      <p:to>
                                        <p:strVal val="visible"/>
                                      </p:to>
                                    </p:set>
                                    <p:anim calcmode="lin" valueType="num">
                                      <p:cBhvr additive="base">
                                        <p:cTn id="150" dur="500" fill="hold"/>
                                        <p:tgtEl>
                                          <p:spTgt spid="39"/>
                                        </p:tgtEl>
                                        <p:attrNameLst>
                                          <p:attrName>ppt_x</p:attrName>
                                        </p:attrNameLst>
                                      </p:cBhvr>
                                      <p:tavLst>
                                        <p:tav tm="0">
                                          <p:val>
                                            <p:strVal val="#ppt_x"/>
                                          </p:val>
                                        </p:tav>
                                        <p:tav tm="100000">
                                          <p:val>
                                            <p:strVal val="#ppt_x"/>
                                          </p:val>
                                        </p:tav>
                                      </p:tavLst>
                                    </p:anim>
                                    <p:anim calcmode="lin" valueType="num">
                                      <p:cBhvr additive="base">
                                        <p:cTn id="151" dur="500" fill="hold"/>
                                        <p:tgtEl>
                                          <p:spTgt spid="39"/>
                                        </p:tgtEl>
                                        <p:attrNameLst>
                                          <p:attrName>ppt_y</p:attrName>
                                        </p:attrNameLst>
                                      </p:cBhvr>
                                      <p:tavLst>
                                        <p:tav tm="0">
                                          <p:val>
                                            <p:strVal val="#ppt_y+0.1"/>
                                          </p:val>
                                        </p:tav>
                                        <p:tav tm="100000">
                                          <p:val>
                                            <p:strVal val="#ppt_y"/>
                                          </p:val>
                                        </p:tav>
                                      </p:tavLst>
                                    </p:anim>
                                    <p:animEffect transition="in" filter="fade">
                                      <p:cBhvr>
                                        <p:cTn id="152" dur="500"/>
                                        <p:tgtEl>
                                          <p:spTgt spid="39"/>
                                        </p:tgtEl>
                                      </p:cBhvr>
                                    </p:animEffect>
                                  </p:childTnLst>
                                </p:cTn>
                              </p:par>
                              <p:par>
                                <p:cTn id="158" presetID="2" presetClass="entr" presetSubtype="4" fill="hold" grpId="0" nodeType="withEffect">
                                  <p:stCondLst>
                                    <p:cond delay="30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500" fill="hold"/>
                                        <p:tgtEl>
                                          <p:spTgt spid="40"/>
                                        </p:tgtEl>
                                        <p:attrNameLst>
                                          <p:attrName>ppt_x</p:attrName>
                                        </p:attrNameLst>
                                      </p:cBhvr>
                                      <p:tavLst>
                                        <p:tav tm="0">
                                          <p:val>
                                            <p:strVal val="#ppt_x"/>
                                          </p:val>
                                        </p:tav>
                                        <p:tav tm="100000">
                                          <p:val>
                                            <p:strVal val="#ppt_x"/>
                                          </p:val>
                                        </p:tav>
                                      </p:tavLst>
                                    </p:anim>
                                    <p:anim calcmode="lin" valueType="num">
                                      <p:cBhvr additive="base">
                                        <p:cTn id="156" dur="500" fill="hold"/>
                                        <p:tgtEl>
                                          <p:spTgt spid="40"/>
                                        </p:tgtEl>
                                        <p:attrNameLst>
                                          <p:attrName>ppt_y</p:attrName>
                                        </p:attrNameLst>
                                      </p:cBhvr>
                                      <p:tavLst>
                                        <p:tav tm="0">
                                          <p:val>
                                            <p:strVal val="#ppt_y+0.1"/>
                                          </p:val>
                                        </p:tav>
                                        <p:tav tm="100000">
                                          <p:val>
                                            <p:strVal val="#ppt_y"/>
                                          </p:val>
                                        </p:tav>
                                      </p:tavLst>
                                    </p:anim>
                                    <p:animEffect transition="in" filter="fade">
                                      <p:cBhvr>
                                        <p:cTn id="157" dur="500"/>
                                        <p:tgtEl>
                                          <p:spTgt spid="40"/>
                                        </p:tgtEl>
                                      </p:cBhvr>
                                    </p:animEffect>
                                  </p:childTnLst>
                                </p:cTn>
                              </p:par>
                              <p:par>
                                <p:cTn id="163" presetID="2" presetClass="entr" presetSubtype="4" fill="hold" grpId="0" nodeType="withEffect">
                                  <p:stCondLst>
                                    <p:cond delay="300"/>
                                  </p:stCondLst>
                                  <p:childTnLst>
                                    <p:set>
                                      <p:cBhvr>
                                        <p:cTn id="159" dur="1" fill="hold">
                                          <p:stCondLst>
                                            <p:cond delay="0"/>
                                          </p:stCondLst>
                                        </p:cTn>
                                        <p:tgtEl>
                                          <p:spTgt spid="41"/>
                                        </p:tgtEl>
                                        <p:attrNameLst>
                                          <p:attrName>style.visibility</p:attrName>
                                        </p:attrNameLst>
                                      </p:cBhvr>
                                      <p:to>
                                        <p:strVal val="visible"/>
                                      </p:to>
                                    </p:set>
                                    <p:anim calcmode="lin" valueType="num">
                                      <p:cBhvr additive="base">
                                        <p:cTn id="160" dur="500" fill="hold"/>
                                        <p:tgtEl>
                                          <p:spTgt spid="41"/>
                                        </p:tgtEl>
                                        <p:attrNameLst>
                                          <p:attrName>ppt_x</p:attrName>
                                        </p:attrNameLst>
                                      </p:cBhvr>
                                      <p:tavLst>
                                        <p:tav tm="0">
                                          <p:val>
                                            <p:strVal val="#ppt_x"/>
                                          </p:val>
                                        </p:tav>
                                        <p:tav tm="100000">
                                          <p:val>
                                            <p:strVal val="#ppt_x"/>
                                          </p:val>
                                        </p:tav>
                                      </p:tavLst>
                                    </p:anim>
                                    <p:anim calcmode="lin" valueType="num">
                                      <p:cBhvr additive="base">
                                        <p:cTn id="161" dur="500" fill="hold"/>
                                        <p:tgtEl>
                                          <p:spTgt spid="41"/>
                                        </p:tgtEl>
                                        <p:attrNameLst>
                                          <p:attrName>ppt_y</p:attrName>
                                        </p:attrNameLst>
                                      </p:cBhvr>
                                      <p:tavLst>
                                        <p:tav tm="0">
                                          <p:val>
                                            <p:strVal val="#ppt_y+0.1"/>
                                          </p:val>
                                        </p:tav>
                                        <p:tav tm="100000">
                                          <p:val>
                                            <p:strVal val="#ppt_y"/>
                                          </p:val>
                                        </p:tav>
                                      </p:tavLst>
                                    </p:anim>
                                    <p:animEffect transition="in" filter="fade">
                                      <p:cBhvr>
                                        <p:cTn id="162" dur="500"/>
                                        <p:tgtEl>
                                          <p:spTgt spid="41"/>
                                        </p:tgtEl>
                                      </p:cBhvr>
                                    </p:animEffect>
                                  </p:childTnLst>
                                </p:cTn>
                              </p:par>
                              <p:par>
                                <p:cTn id="168" presetID="2" presetClass="entr" presetSubtype="4" fill="hold" grpId="0" nodeType="withEffect">
                                  <p:stCondLst>
                                    <p:cond delay="300"/>
                                  </p:stCondLst>
                                  <p:childTnLst>
                                    <p:set>
                                      <p:cBhvr>
                                        <p:cTn id="164" dur="1" fill="hold">
                                          <p:stCondLst>
                                            <p:cond delay="0"/>
                                          </p:stCondLst>
                                        </p:cTn>
                                        <p:tgtEl>
                                          <p:spTgt spid="42"/>
                                        </p:tgtEl>
                                        <p:attrNameLst>
                                          <p:attrName>style.visibility</p:attrName>
                                        </p:attrNameLst>
                                      </p:cBhvr>
                                      <p:to>
                                        <p:strVal val="visible"/>
                                      </p:to>
                                    </p:set>
                                    <p:anim calcmode="lin" valueType="num">
                                      <p:cBhvr additive="base">
                                        <p:cTn id="165" dur="500" fill="hold"/>
                                        <p:tgtEl>
                                          <p:spTgt spid="42"/>
                                        </p:tgtEl>
                                        <p:attrNameLst>
                                          <p:attrName>ppt_x</p:attrName>
                                        </p:attrNameLst>
                                      </p:cBhvr>
                                      <p:tavLst>
                                        <p:tav tm="0">
                                          <p:val>
                                            <p:strVal val="#ppt_x"/>
                                          </p:val>
                                        </p:tav>
                                        <p:tav tm="100000">
                                          <p:val>
                                            <p:strVal val="#ppt_x"/>
                                          </p:val>
                                        </p:tav>
                                      </p:tavLst>
                                    </p:anim>
                                    <p:anim calcmode="lin" valueType="num">
                                      <p:cBhvr additive="base">
                                        <p:cTn id="166" dur="500" fill="hold"/>
                                        <p:tgtEl>
                                          <p:spTgt spid="42"/>
                                        </p:tgtEl>
                                        <p:attrNameLst>
                                          <p:attrName>ppt_y</p:attrName>
                                        </p:attrNameLst>
                                      </p:cBhvr>
                                      <p:tavLst>
                                        <p:tav tm="0">
                                          <p:val>
                                            <p:strVal val="#ppt_y+0.1"/>
                                          </p:val>
                                        </p:tav>
                                        <p:tav tm="100000">
                                          <p:val>
                                            <p:strVal val="#ppt_y"/>
                                          </p:val>
                                        </p:tav>
                                      </p:tavLst>
                                    </p:anim>
                                    <p:animEffect transition="in" filter="fade">
                                      <p:cBhvr>
                                        <p:cTn id="16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Kafka Ecosystem</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Apache Kafka at the core - and a data streaming platform growing around it</a:t>
            </a:r>
          </a:p>
        </p:txBody>
      </p:sp>
      <p:sp>
        <p:nvSpPr>
          <p:cNvPr id="11" name="a1u_card10"/>
          <p:cNvSpPr/>
          <p:nvPr/>
        </p:nvSpPr>
        <p:spPr>
          <a:xfrm>
            <a:off x="457200" y="1234440"/>
            <a:ext cx="4023360" cy="3108960"/>
          </a:xfrm>
          <a:prstGeom prst="roundRect">
            <a:avLst>
              <a:gd name="adj" fmla="val 352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50292" cy="310896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44168"/>
            <a:ext cx="3657600" cy="237744"/>
          </a:xfrm>
          <a:prstGeom prst="rect">
            <a:avLst/>
          </a:prstGeom>
          <a:noFill/>
        </p:spPr>
        <p:txBody>
          <a:bodyPr wrap="square" lIns="0" tIns="0" rIns="0" bIns="0" anchor="ctr">
            <a:spAutoFit/>
          </a:bodyPr>
          <a:lstStyle/>
          <a:p>
            <a:pPr algn="l"/>
            <a:r>
              <a:rPr sz="900" b="1">
                <a:solidFill>
                  <a:srgbClr val="EA580C"/>
                </a:solidFill>
                <a:latin typeface="Segoe UI"/>
              </a:rPr>
              <a:t>PART OF APACHE KAFKA</a:t>
            </a:r>
          </a:p>
        </p:txBody>
      </p:sp>
      <p:sp>
        <p:nvSpPr>
          <p:cNvPr id="14" name="a1u_et13"/>
          <p:cNvSpPr txBox="1"/>
          <p:nvPr/>
        </p:nvSpPr>
        <p:spPr>
          <a:xfrm>
            <a:off x="658368" y="1645920"/>
            <a:ext cx="1417320" cy="237744"/>
          </a:xfrm>
          <a:prstGeom prst="rect">
            <a:avLst/>
          </a:prstGeom>
          <a:noFill/>
        </p:spPr>
        <p:txBody>
          <a:bodyPr wrap="square" lIns="0" tIns="0" rIns="0" bIns="0" anchor="ctr">
            <a:spAutoFit/>
          </a:bodyPr>
          <a:lstStyle/>
          <a:p>
            <a:pPr algn="l"/>
            <a:r>
              <a:rPr sz="950" b="1">
                <a:solidFill>
                  <a:srgbClr val="C2410C"/>
                </a:solidFill>
                <a:latin typeface="Segoe UI"/>
              </a:rPr>
              <a:t>Producer API</a:t>
            </a:r>
          </a:p>
        </p:txBody>
      </p:sp>
      <p:sp>
        <p:nvSpPr>
          <p:cNvPr id="15" name="a1u_ed14"/>
          <p:cNvSpPr txBox="1"/>
          <p:nvPr/>
        </p:nvSpPr>
        <p:spPr>
          <a:xfrm>
            <a:off x="2103120" y="1645920"/>
            <a:ext cx="2286000" cy="237744"/>
          </a:xfrm>
          <a:prstGeom prst="rect">
            <a:avLst/>
          </a:prstGeom>
          <a:noFill/>
        </p:spPr>
        <p:txBody>
          <a:bodyPr wrap="square" lIns="0" tIns="0" rIns="0" bIns="0" anchor="ctr">
            <a:spAutoFit/>
          </a:bodyPr>
          <a:lstStyle/>
          <a:p>
            <a:pPr algn="l"/>
            <a:r>
              <a:rPr sz="850" b="0">
                <a:solidFill>
                  <a:srgbClr val="44403C"/>
                </a:solidFill>
                <a:latin typeface="Segoe UI"/>
              </a:rPr>
              <a:t>write streams of events</a:t>
            </a:r>
          </a:p>
        </p:txBody>
      </p:sp>
      <p:sp>
        <p:nvSpPr>
          <p:cNvPr id="16" name="a1ud80_et15"/>
          <p:cNvSpPr txBox="1"/>
          <p:nvPr/>
        </p:nvSpPr>
        <p:spPr>
          <a:xfrm>
            <a:off x="658368" y="2157984"/>
            <a:ext cx="1417320" cy="237744"/>
          </a:xfrm>
          <a:prstGeom prst="rect">
            <a:avLst/>
          </a:prstGeom>
          <a:noFill/>
        </p:spPr>
        <p:txBody>
          <a:bodyPr wrap="square" lIns="0" tIns="0" rIns="0" bIns="0" anchor="ctr">
            <a:spAutoFit/>
          </a:bodyPr>
          <a:lstStyle/>
          <a:p>
            <a:pPr algn="l"/>
            <a:r>
              <a:rPr sz="950" b="1">
                <a:solidFill>
                  <a:srgbClr val="C2410C"/>
                </a:solidFill>
                <a:latin typeface="Segoe UI"/>
              </a:rPr>
              <a:t>Consumer API</a:t>
            </a:r>
          </a:p>
        </p:txBody>
      </p:sp>
      <p:sp>
        <p:nvSpPr>
          <p:cNvPr id="17" name="a1ud80_ed16"/>
          <p:cNvSpPr txBox="1"/>
          <p:nvPr/>
        </p:nvSpPr>
        <p:spPr>
          <a:xfrm>
            <a:off x="2103120" y="2157984"/>
            <a:ext cx="2286000" cy="237744"/>
          </a:xfrm>
          <a:prstGeom prst="rect">
            <a:avLst/>
          </a:prstGeom>
          <a:noFill/>
        </p:spPr>
        <p:txBody>
          <a:bodyPr wrap="square" lIns="0" tIns="0" rIns="0" bIns="0" anchor="ctr">
            <a:spAutoFit/>
          </a:bodyPr>
          <a:lstStyle/>
          <a:p>
            <a:pPr algn="l"/>
            <a:r>
              <a:rPr sz="850" b="0">
                <a:solidFill>
                  <a:srgbClr val="44403C"/>
                </a:solidFill>
                <a:latin typeface="Segoe UI"/>
              </a:rPr>
              <a:t>read and process them</a:t>
            </a:r>
          </a:p>
        </p:txBody>
      </p:sp>
      <p:sp>
        <p:nvSpPr>
          <p:cNvPr id="18" name="a1ud160_et17"/>
          <p:cNvSpPr txBox="1"/>
          <p:nvPr/>
        </p:nvSpPr>
        <p:spPr>
          <a:xfrm>
            <a:off x="658368" y="2670048"/>
            <a:ext cx="1417320" cy="237744"/>
          </a:xfrm>
          <a:prstGeom prst="rect">
            <a:avLst/>
          </a:prstGeom>
          <a:noFill/>
        </p:spPr>
        <p:txBody>
          <a:bodyPr wrap="square" lIns="0" tIns="0" rIns="0" bIns="0" anchor="ctr">
            <a:spAutoFit/>
          </a:bodyPr>
          <a:lstStyle/>
          <a:p>
            <a:pPr algn="l"/>
            <a:r>
              <a:rPr sz="950" b="1">
                <a:solidFill>
                  <a:srgbClr val="C2410C"/>
                </a:solidFill>
                <a:latin typeface="Segoe UI"/>
              </a:rPr>
              <a:t>Admin API</a:t>
            </a:r>
          </a:p>
        </p:txBody>
      </p:sp>
      <p:sp>
        <p:nvSpPr>
          <p:cNvPr id="19" name="a1ud160_ed18"/>
          <p:cNvSpPr txBox="1"/>
          <p:nvPr/>
        </p:nvSpPr>
        <p:spPr>
          <a:xfrm>
            <a:off x="2103120" y="2670048"/>
            <a:ext cx="2286000" cy="237744"/>
          </a:xfrm>
          <a:prstGeom prst="rect">
            <a:avLst/>
          </a:prstGeom>
          <a:noFill/>
        </p:spPr>
        <p:txBody>
          <a:bodyPr wrap="square" lIns="0" tIns="0" rIns="0" bIns="0" anchor="ctr">
            <a:spAutoFit/>
          </a:bodyPr>
          <a:lstStyle/>
          <a:p>
            <a:pPr algn="l"/>
            <a:r>
              <a:rPr sz="850" b="0">
                <a:solidFill>
                  <a:srgbClr val="44403C"/>
                </a:solidFill>
                <a:latin typeface="Segoe UI"/>
              </a:rPr>
              <a:t>manage topics and brokers</a:t>
            </a:r>
          </a:p>
        </p:txBody>
      </p:sp>
      <p:sp>
        <p:nvSpPr>
          <p:cNvPr id="20" name="a1ud240_et19"/>
          <p:cNvSpPr txBox="1"/>
          <p:nvPr/>
        </p:nvSpPr>
        <p:spPr>
          <a:xfrm>
            <a:off x="658368" y="3182112"/>
            <a:ext cx="1417320" cy="237744"/>
          </a:xfrm>
          <a:prstGeom prst="rect">
            <a:avLst/>
          </a:prstGeom>
          <a:noFill/>
        </p:spPr>
        <p:txBody>
          <a:bodyPr wrap="square" lIns="0" tIns="0" rIns="0" bIns="0" anchor="ctr">
            <a:spAutoFit/>
          </a:bodyPr>
          <a:lstStyle/>
          <a:p>
            <a:pPr algn="l"/>
            <a:r>
              <a:rPr sz="950" b="1">
                <a:solidFill>
                  <a:srgbClr val="C2410C"/>
                </a:solidFill>
                <a:latin typeface="Segoe UI"/>
              </a:rPr>
              <a:t>Kafka Connect</a:t>
            </a:r>
          </a:p>
        </p:txBody>
      </p:sp>
      <p:sp>
        <p:nvSpPr>
          <p:cNvPr id="21" name="a1ud240_ed20"/>
          <p:cNvSpPr txBox="1"/>
          <p:nvPr/>
        </p:nvSpPr>
        <p:spPr>
          <a:xfrm>
            <a:off x="2103120" y="3182112"/>
            <a:ext cx="2286000" cy="237744"/>
          </a:xfrm>
          <a:prstGeom prst="rect">
            <a:avLst/>
          </a:prstGeom>
          <a:noFill/>
        </p:spPr>
        <p:txBody>
          <a:bodyPr wrap="square" lIns="0" tIns="0" rIns="0" bIns="0" anchor="ctr">
            <a:spAutoFit/>
          </a:bodyPr>
          <a:lstStyle/>
          <a:p>
            <a:pPr algn="l"/>
            <a:r>
              <a:rPr sz="850" b="0">
                <a:solidFill>
                  <a:srgbClr val="44403C"/>
                </a:solidFill>
                <a:latin typeface="Segoe UI"/>
              </a:rPr>
              <a:t>import / export - hundreds of connectors</a:t>
            </a:r>
          </a:p>
        </p:txBody>
      </p:sp>
      <p:sp>
        <p:nvSpPr>
          <p:cNvPr id="22" name="a1ud320_et21"/>
          <p:cNvSpPr txBox="1"/>
          <p:nvPr/>
        </p:nvSpPr>
        <p:spPr>
          <a:xfrm>
            <a:off x="658368" y="3694176"/>
            <a:ext cx="1417320" cy="237744"/>
          </a:xfrm>
          <a:prstGeom prst="rect">
            <a:avLst/>
          </a:prstGeom>
          <a:noFill/>
        </p:spPr>
        <p:txBody>
          <a:bodyPr wrap="square" lIns="0" tIns="0" rIns="0" bIns="0" anchor="ctr">
            <a:spAutoFit/>
          </a:bodyPr>
          <a:lstStyle/>
          <a:p>
            <a:pPr algn="l"/>
            <a:r>
              <a:rPr sz="950" b="1">
                <a:solidFill>
                  <a:srgbClr val="C2410C"/>
                </a:solidFill>
                <a:latin typeface="Segoe UI"/>
              </a:rPr>
              <a:t>Kafka Streams</a:t>
            </a:r>
          </a:p>
        </p:txBody>
      </p:sp>
      <p:sp>
        <p:nvSpPr>
          <p:cNvPr id="23" name="a1ud320_ed22"/>
          <p:cNvSpPr txBox="1"/>
          <p:nvPr/>
        </p:nvSpPr>
        <p:spPr>
          <a:xfrm>
            <a:off x="2103120" y="3694176"/>
            <a:ext cx="2286000" cy="237744"/>
          </a:xfrm>
          <a:prstGeom prst="rect">
            <a:avLst/>
          </a:prstGeom>
          <a:noFill/>
        </p:spPr>
        <p:txBody>
          <a:bodyPr wrap="square" lIns="0" tIns="0" rIns="0" bIns="0" anchor="ctr">
            <a:spAutoFit/>
          </a:bodyPr>
          <a:lstStyle/>
          <a:p>
            <a:pPr algn="l"/>
            <a:r>
              <a:rPr sz="850" b="0">
                <a:solidFill>
                  <a:srgbClr val="44403C"/>
                </a:solidFill>
                <a:latin typeface="Segoe UI"/>
              </a:rPr>
              <a:t>a Java library to process streams</a:t>
            </a:r>
          </a:p>
        </p:txBody>
      </p:sp>
      <p:sp>
        <p:nvSpPr>
          <p:cNvPr id="24" name="a2u_card23"/>
          <p:cNvSpPr/>
          <p:nvPr/>
        </p:nvSpPr>
        <p:spPr>
          <a:xfrm>
            <a:off x="4663440" y="1234440"/>
            <a:ext cx="4023360" cy="3108960"/>
          </a:xfrm>
          <a:prstGeom prst="roundRect">
            <a:avLst>
              <a:gd name="adj" fmla="val 352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u_acc24"/>
          <p:cNvSpPr/>
          <p:nvPr/>
        </p:nvSpPr>
        <p:spPr>
          <a:xfrm>
            <a:off x="4663440" y="1234440"/>
            <a:ext cx="50292" cy="310896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_hh25"/>
          <p:cNvSpPr txBox="1"/>
          <p:nvPr/>
        </p:nvSpPr>
        <p:spPr>
          <a:xfrm>
            <a:off x="4864607" y="1344168"/>
            <a:ext cx="3657600" cy="237744"/>
          </a:xfrm>
          <a:prstGeom prst="rect">
            <a:avLst/>
          </a:prstGeom>
          <a:noFill/>
        </p:spPr>
        <p:txBody>
          <a:bodyPr wrap="square" lIns="0" tIns="0" rIns="0" bIns="0" anchor="ctr">
            <a:spAutoFit/>
          </a:bodyPr>
          <a:lstStyle/>
          <a:p>
            <a:pPr algn="l"/>
            <a:r>
              <a:rPr sz="900" b="1">
                <a:solidFill>
                  <a:srgbClr val="0E7490"/>
                </a:solidFill>
                <a:latin typeface="Segoe UI"/>
              </a:rPr>
              <a:t>AROUND KAFKA</a:t>
            </a:r>
          </a:p>
        </p:txBody>
      </p:sp>
      <p:sp>
        <p:nvSpPr>
          <p:cNvPr id="27" name="a2u_et26"/>
          <p:cNvSpPr txBox="1"/>
          <p:nvPr/>
        </p:nvSpPr>
        <p:spPr>
          <a:xfrm>
            <a:off x="4864608" y="1645920"/>
            <a:ext cx="3611880" cy="237744"/>
          </a:xfrm>
          <a:prstGeom prst="rect">
            <a:avLst/>
          </a:prstGeom>
          <a:noFill/>
        </p:spPr>
        <p:txBody>
          <a:bodyPr wrap="square" lIns="0" tIns="0" rIns="0" bIns="0" anchor="ctr">
            <a:spAutoFit/>
          </a:bodyPr>
          <a:lstStyle/>
          <a:p>
            <a:pPr algn="l"/>
            <a:r>
              <a:rPr sz="950" b="1">
                <a:solidFill>
                  <a:srgbClr val="0E7490"/>
                </a:solidFill>
                <a:latin typeface="Segoe UI"/>
              </a:rPr>
              <a:t>Schema Registry</a:t>
            </a:r>
          </a:p>
        </p:txBody>
      </p:sp>
      <p:sp>
        <p:nvSpPr>
          <p:cNvPr id="28" name="a2u_ed27"/>
          <p:cNvSpPr txBox="1"/>
          <p:nvPr/>
        </p:nvSpPr>
        <p:spPr>
          <a:xfrm>
            <a:off x="4864608" y="1892808"/>
            <a:ext cx="3611880" cy="274320"/>
          </a:xfrm>
          <a:prstGeom prst="rect">
            <a:avLst/>
          </a:prstGeom>
          <a:noFill/>
        </p:spPr>
        <p:txBody>
          <a:bodyPr wrap="square" lIns="0" tIns="0" rIns="0" bIns="0" anchor="ctr">
            <a:spAutoFit/>
          </a:bodyPr>
          <a:lstStyle/>
          <a:p>
            <a:pPr algn="l"/>
            <a:r>
              <a:rPr sz="850" b="0">
                <a:solidFill>
                  <a:srgbClr val="44403C"/>
                </a:solidFill>
                <a:latin typeface="Segoe UI"/>
              </a:rPr>
              <a:t>keeps event formats compatible (Confluent)</a:t>
            </a:r>
          </a:p>
        </p:txBody>
      </p:sp>
      <p:sp>
        <p:nvSpPr>
          <p:cNvPr id="29" name="a2ud80_et28"/>
          <p:cNvSpPr txBox="1"/>
          <p:nvPr/>
        </p:nvSpPr>
        <p:spPr>
          <a:xfrm>
            <a:off x="4864608" y="2286000"/>
            <a:ext cx="3611880" cy="237744"/>
          </a:xfrm>
          <a:prstGeom prst="rect">
            <a:avLst/>
          </a:prstGeom>
          <a:noFill/>
        </p:spPr>
        <p:txBody>
          <a:bodyPr wrap="square" lIns="0" tIns="0" rIns="0" bIns="0" anchor="ctr">
            <a:spAutoFit/>
          </a:bodyPr>
          <a:lstStyle/>
          <a:p>
            <a:pPr algn="l"/>
            <a:r>
              <a:rPr sz="950" b="1">
                <a:solidFill>
                  <a:srgbClr val="0E7490"/>
                </a:solidFill>
                <a:latin typeface="Segoe UI"/>
              </a:rPr>
              <a:t>Stream processing</a:t>
            </a:r>
          </a:p>
        </p:txBody>
      </p:sp>
      <p:sp>
        <p:nvSpPr>
          <p:cNvPr id="30" name="a2ud80_ed29"/>
          <p:cNvSpPr txBox="1"/>
          <p:nvPr/>
        </p:nvSpPr>
        <p:spPr>
          <a:xfrm>
            <a:off x="4864608" y="2532888"/>
            <a:ext cx="3611880" cy="274320"/>
          </a:xfrm>
          <a:prstGeom prst="rect">
            <a:avLst/>
          </a:prstGeom>
          <a:noFill/>
        </p:spPr>
        <p:txBody>
          <a:bodyPr wrap="square" lIns="0" tIns="0" rIns="0" bIns="0" anchor="ctr">
            <a:spAutoFit/>
          </a:bodyPr>
          <a:lstStyle/>
          <a:p>
            <a:pPr algn="l"/>
            <a:r>
              <a:rPr sz="850" b="0">
                <a:solidFill>
                  <a:srgbClr val="44403C"/>
                </a:solidFill>
                <a:latin typeface="Segoe UI"/>
              </a:rPr>
              <a:t>Apache Flink, ksqlDB</a:t>
            </a:r>
          </a:p>
        </p:txBody>
      </p:sp>
      <p:sp>
        <p:nvSpPr>
          <p:cNvPr id="31" name="a2ud160_et30"/>
          <p:cNvSpPr txBox="1"/>
          <p:nvPr/>
        </p:nvSpPr>
        <p:spPr>
          <a:xfrm>
            <a:off x="4864608" y="2926080"/>
            <a:ext cx="3611880" cy="237744"/>
          </a:xfrm>
          <a:prstGeom prst="rect">
            <a:avLst/>
          </a:prstGeom>
          <a:noFill/>
        </p:spPr>
        <p:txBody>
          <a:bodyPr wrap="square" lIns="0" tIns="0" rIns="0" bIns="0" anchor="ctr">
            <a:spAutoFit/>
          </a:bodyPr>
          <a:lstStyle/>
          <a:p>
            <a:pPr algn="l"/>
            <a:r>
              <a:rPr sz="950" b="1">
                <a:solidFill>
                  <a:srgbClr val="0E7490"/>
                </a:solidFill>
                <a:latin typeface="Segoe UI"/>
              </a:rPr>
              <a:t>Managed Kafka</a:t>
            </a:r>
          </a:p>
        </p:txBody>
      </p:sp>
      <p:sp>
        <p:nvSpPr>
          <p:cNvPr id="32" name="a2ud160_ed31"/>
          <p:cNvSpPr txBox="1"/>
          <p:nvPr/>
        </p:nvSpPr>
        <p:spPr>
          <a:xfrm>
            <a:off x="4864608" y="3172968"/>
            <a:ext cx="3611880" cy="274320"/>
          </a:xfrm>
          <a:prstGeom prst="rect">
            <a:avLst/>
          </a:prstGeom>
          <a:noFill/>
        </p:spPr>
        <p:txBody>
          <a:bodyPr wrap="square" lIns="0" tIns="0" rIns="0" bIns="0" anchor="ctr">
            <a:spAutoFit/>
          </a:bodyPr>
          <a:lstStyle/>
          <a:p>
            <a:pPr algn="l"/>
            <a:r>
              <a:rPr sz="850" b="0">
                <a:solidFill>
                  <a:srgbClr val="44403C"/>
                </a:solidFill>
                <a:latin typeface="Segoe UI"/>
              </a:rPr>
              <a:t>Confluent Cloud, Amazon MSK and others</a:t>
            </a:r>
          </a:p>
        </p:txBody>
      </p:sp>
      <p:sp>
        <p:nvSpPr>
          <p:cNvPr id="33" name="a2ud240_et32"/>
          <p:cNvSpPr txBox="1"/>
          <p:nvPr/>
        </p:nvSpPr>
        <p:spPr>
          <a:xfrm>
            <a:off x="4864608" y="3566159"/>
            <a:ext cx="3611880" cy="237744"/>
          </a:xfrm>
          <a:prstGeom prst="rect">
            <a:avLst/>
          </a:prstGeom>
          <a:noFill/>
        </p:spPr>
        <p:txBody>
          <a:bodyPr wrap="square" lIns="0" tIns="0" rIns="0" bIns="0" anchor="ctr">
            <a:spAutoFit/>
          </a:bodyPr>
          <a:lstStyle/>
          <a:p>
            <a:pPr algn="l"/>
            <a:r>
              <a:rPr sz="950" b="1">
                <a:solidFill>
                  <a:srgbClr val="0E7490"/>
                </a:solidFill>
                <a:latin typeface="Segoe UI"/>
              </a:rPr>
              <a:t>Monitoring and UIs</a:t>
            </a:r>
          </a:p>
        </p:txBody>
      </p:sp>
      <p:sp>
        <p:nvSpPr>
          <p:cNvPr id="34" name="a2ud240_ed33"/>
          <p:cNvSpPr txBox="1"/>
          <p:nvPr/>
        </p:nvSpPr>
        <p:spPr>
          <a:xfrm>
            <a:off x="4864608" y="3813048"/>
            <a:ext cx="3611880" cy="274320"/>
          </a:xfrm>
          <a:prstGeom prst="rect">
            <a:avLst/>
          </a:prstGeom>
          <a:noFill/>
        </p:spPr>
        <p:txBody>
          <a:bodyPr wrap="square" lIns="0" tIns="0" rIns="0" bIns="0" anchor="ctr">
            <a:spAutoFit/>
          </a:bodyPr>
          <a:lstStyle/>
          <a:p>
            <a:pPr algn="l"/>
            <a:r>
              <a:rPr sz="850" b="0">
                <a:solidFill>
                  <a:srgbClr val="44403C"/>
                </a:solidFill>
                <a:latin typeface="Segoe UI"/>
              </a:rPr>
              <a:t>Kafka UI, Control Center, Grafana</a:t>
            </a:r>
          </a:p>
        </p:txBody>
      </p:sp>
      <p:sp>
        <p:nvSpPr>
          <p:cNvPr id="35" name="ft3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69</a:t>
            </a:r>
          </a:p>
        </p:txBody>
      </p:sp>
      <p:sp>
        <p:nvSpPr>
          <p:cNvPr id="36" name="ft3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ft3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38" name="ft3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8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8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16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16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24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24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32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32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childTnLst>
                          </p:cTn>
                        </p:par>
                      </p:childTnLst>
                    </p:cTn>
                  </p:par>
                  <p:par>
                    <p:cTn id="70" fill="hold">
                      <p:stCondLst>
                        <p:cond delay="indefinite"/>
                      </p:stCondLst>
                      <p:childTnLst>
                        <p:par>
                          <p:cTn id="71" fill="hold">
                            <p:stCondLst>
                              <p:cond delay="0"/>
                            </p:stCondLst>
                            <p:childTnLst>
                              <p:par>
                                <p:cTn id="76" presetID="2" presetClass="entr" presetSubtype="4"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8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8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par>
                                <p:cTn id="111" presetID="2" presetClass="entr" presetSubtype="4" fill="hold" grpId="0" nodeType="withEffect">
                                  <p:stCondLst>
                                    <p:cond delay="16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par>
                                <p:cTn id="116" presetID="2" presetClass="entr" presetSubtype="4" fill="hold" grpId="0" nodeType="withEffect">
                                  <p:stCondLst>
                                    <p:cond delay="16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24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par>
                                <p:cTn id="126" presetID="2" presetClass="entr" presetSubtype="4" fill="hold" grpId="0" nodeType="withEffect">
                                  <p:stCondLst>
                                    <p:cond delay="24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What Kafka Does: Three Core Jobs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 way the Apache Kafka project itself sums up the platform</a:t>
            </a:r>
          </a:p>
        </p:txBody>
      </p:sp>
      <p:sp>
        <p:nvSpPr>
          <p:cNvPr id="11" name="a1u_card10"/>
          <p:cNvSpPr/>
          <p:nvPr/>
        </p:nvSpPr>
        <p:spPr>
          <a:xfrm>
            <a:off x="457200" y="1234440"/>
            <a:ext cx="2609088" cy="2194560"/>
          </a:xfrm>
          <a:prstGeom prst="roundRect">
            <a:avLst>
              <a:gd name="adj" fmla="val 5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2609088" cy="6400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d60_ic12"/>
          <p:cNvSpPr/>
          <p:nvPr/>
        </p:nvSpPr>
        <p:spPr>
          <a:xfrm>
            <a:off x="621792" y="1435608"/>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60_ict13"/>
          <p:cNvSpPr txBox="1"/>
          <p:nvPr/>
        </p:nvSpPr>
        <p:spPr>
          <a:xfrm>
            <a:off x="621792" y="1435608"/>
            <a:ext cx="384048" cy="384048"/>
          </a:xfrm>
          <a:prstGeom prst="rect">
            <a:avLst/>
          </a:prstGeom>
          <a:noFill/>
        </p:spPr>
        <p:txBody>
          <a:bodyPr wrap="square" lIns="0" tIns="0" rIns="0" bIns="0" anchor="ctr">
            <a:spAutoFit/>
          </a:bodyPr>
          <a:lstStyle/>
          <a:p>
            <a:pPr algn="ctr"/>
            <a:r>
              <a:rPr sz="1200" b="1">
                <a:solidFill>
                  <a:srgbClr val="FFFFFF"/>
                </a:solidFill>
                <a:latin typeface="Segoe UI"/>
              </a:rPr>
              <a:t>1</a:t>
            </a:r>
          </a:p>
        </p:txBody>
      </p:sp>
      <p:sp>
        <p:nvSpPr>
          <p:cNvPr id="15" name="a1ud90_ct14"/>
          <p:cNvSpPr txBox="1"/>
          <p:nvPr/>
        </p:nvSpPr>
        <p:spPr>
          <a:xfrm>
            <a:off x="621792" y="1911095"/>
            <a:ext cx="2279904" cy="274320"/>
          </a:xfrm>
          <a:prstGeom prst="rect">
            <a:avLst/>
          </a:prstGeom>
          <a:noFill/>
        </p:spPr>
        <p:txBody>
          <a:bodyPr wrap="square" lIns="0" tIns="0" rIns="0" bIns="0" anchor="ctr">
            <a:spAutoFit/>
          </a:bodyPr>
          <a:lstStyle/>
          <a:p>
            <a:pPr algn="l"/>
            <a:r>
              <a:rPr sz="1300" b="1">
                <a:solidFill>
                  <a:srgbClr val="1C1917"/>
                </a:solidFill>
                <a:latin typeface="Segoe UI"/>
              </a:rPr>
              <a:t>Publish and subscribe</a:t>
            </a:r>
          </a:p>
        </p:txBody>
      </p:sp>
      <p:sp>
        <p:nvSpPr>
          <p:cNvPr id="16" name="a1ud120_cs15"/>
          <p:cNvSpPr txBox="1"/>
          <p:nvPr/>
        </p:nvSpPr>
        <p:spPr>
          <a:xfrm>
            <a:off x="621792" y="2185415"/>
            <a:ext cx="2279904" cy="237744"/>
          </a:xfrm>
          <a:prstGeom prst="rect">
            <a:avLst/>
          </a:prstGeom>
          <a:noFill/>
        </p:spPr>
        <p:txBody>
          <a:bodyPr wrap="square" lIns="0" tIns="0" rIns="0" bIns="0" anchor="ctr">
            <a:spAutoFit/>
          </a:bodyPr>
          <a:lstStyle/>
          <a:p>
            <a:pPr algn="l"/>
            <a:r>
              <a:rPr sz="1000" b="1">
                <a:solidFill>
                  <a:srgbClr val="EA580C"/>
                </a:solidFill>
                <a:latin typeface="Consolas"/>
              </a:rPr>
              <a:t>WRITE AND READ</a:t>
            </a:r>
          </a:p>
        </p:txBody>
      </p:sp>
      <p:sp>
        <p:nvSpPr>
          <p:cNvPr id="17" name="a1ud150_cb16"/>
          <p:cNvSpPr txBox="1"/>
          <p:nvPr/>
        </p:nvSpPr>
        <p:spPr>
          <a:xfrm>
            <a:off x="621792" y="2441448"/>
            <a:ext cx="2279904" cy="475488"/>
          </a:xfrm>
          <a:prstGeom prst="rect">
            <a:avLst/>
          </a:prstGeom>
          <a:noFill/>
        </p:spPr>
        <p:txBody>
          <a:bodyPr wrap="square" lIns="0" tIns="0" rIns="0" bIns="0" anchor="t">
            <a:spAutoFit/>
          </a:bodyPr>
          <a:lstStyle/>
          <a:p>
            <a:pPr algn="l"/>
            <a:r>
              <a:rPr sz="950" b="1">
                <a:solidFill>
                  <a:srgbClr val="EA580C"/>
                </a:solidFill>
                <a:latin typeface="Segoe UI"/>
              </a:rPr>
              <a:t>· </a:t>
            </a:r>
            <a:r>
              <a:rPr sz="950" b="0">
                <a:solidFill>
                  <a:srgbClr val="44403C"/>
                </a:solidFill>
                <a:latin typeface="Segoe UI"/>
              </a:rPr>
              <a:t>Applications write streams of events</a:t>
            </a:r>
          </a:p>
        </p:txBody>
      </p:sp>
      <p:sp>
        <p:nvSpPr>
          <p:cNvPr id="18" name="a1ud220_cb17"/>
          <p:cNvSpPr txBox="1"/>
          <p:nvPr/>
        </p:nvSpPr>
        <p:spPr>
          <a:xfrm>
            <a:off x="621792" y="2825496"/>
            <a:ext cx="2279904" cy="475488"/>
          </a:xfrm>
          <a:prstGeom prst="rect">
            <a:avLst/>
          </a:prstGeom>
          <a:noFill/>
        </p:spPr>
        <p:txBody>
          <a:bodyPr wrap="square" lIns="0" tIns="0" rIns="0" bIns="0" anchor="t">
            <a:spAutoFit/>
          </a:bodyPr>
          <a:lstStyle/>
          <a:p>
            <a:pPr algn="l"/>
            <a:r>
              <a:rPr sz="950" b="1">
                <a:solidFill>
                  <a:srgbClr val="EA580C"/>
                </a:solidFill>
                <a:latin typeface="Segoe UI"/>
              </a:rPr>
              <a:t>· </a:t>
            </a:r>
            <a:r>
              <a:rPr sz="950" b="0">
                <a:solidFill>
                  <a:srgbClr val="44403C"/>
                </a:solidFill>
                <a:latin typeface="Segoe UI"/>
              </a:rPr>
              <a:t>Other applications read them</a:t>
            </a:r>
          </a:p>
        </p:txBody>
      </p:sp>
      <p:sp>
        <p:nvSpPr>
          <p:cNvPr id="19" name="a2u_card18"/>
          <p:cNvSpPr/>
          <p:nvPr/>
        </p:nvSpPr>
        <p:spPr>
          <a:xfrm>
            <a:off x="3267456" y="1234440"/>
            <a:ext cx="2609088" cy="2194560"/>
          </a:xfrm>
          <a:prstGeom prst="roundRect">
            <a:avLst>
              <a:gd name="adj" fmla="val 5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u_acc19"/>
          <p:cNvSpPr/>
          <p:nvPr/>
        </p:nvSpPr>
        <p:spPr>
          <a:xfrm>
            <a:off x="3267456" y="1234440"/>
            <a:ext cx="2609088" cy="6400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d60_ic20"/>
          <p:cNvSpPr/>
          <p:nvPr/>
        </p:nvSpPr>
        <p:spPr>
          <a:xfrm>
            <a:off x="3432048" y="1435608"/>
            <a:ext cx="384048" cy="384048"/>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d60_ict21"/>
          <p:cNvSpPr txBox="1"/>
          <p:nvPr/>
        </p:nvSpPr>
        <p:spPr>
          <a:xfrm>
            <a:off x="3432048" y="1435608"/>
            <a:ext cx="384048" cy="384048"/>
          </a:xfrm>
          <a:prstGeom prst="rect">
            <a:avLst/>
          </a:prstGeom>
          <a:noFill/>
        </p:spPr>
        <p:txBody>
          <a:bodyPr wrap="square" lIns="0" tIns="0" rIns="0" bIns="0" anchor="ctr">
            <a:spAutoFit/>
          </a:bodyPr>
          <a:lstStyle/>
          <a:p>
            <a:pPr algn="ctr"/>
            <a:r>
              <a:rPr sz="1200" b="1">
                <a:solidFill>
                  <a:srgbClr val="FFFFFF"/>
                </a:solidFill>
                <a:latin typeface="Segoe UI"/>
              </a:rPr>
              <a:t>2</a:t>
            </a:r>
          </a:p>
        </p:txBody>
      </p:sp>
      <p:sp>
        <p:nvSpPr>
          <p:cNvPr id="23" name="a2ud90_ct22"/>
          <p:cNvSpPr txBox="1"/>
          <p:nvPr/>
        </p:nvSpPr>
        <p:spPr>
          <a:xfrm>
            <a:off x="3432048" y="1911095"/>
            <a:ext cx="2279904" cy="274320"/>
          </a:xfrm>
          <a:prstGeom prst="rect">
            <a:avLst/>
          </a:prstGeom>
          <a:noFill/>
        </p:spPr>
        <p:txBody>
          <a:bodyPr wrap="square" lIns="0" tIns="0" rIns="0" bIns="0" anchor="ctr">
            <a:spAutoFit/>
          </a:bodyPr>
          <a:lstStyle/>
          <a:p>
            <a:pPr algn="l"/>
            <a:r>
              <a:rPr sz="1300" b="1">
                <a:solidFill>
                  <a:srgbClr val="1C1917"/>
                </a:solidFill>
                <a:latin typeface="Segoe UI"/>
              </a:rPr>
              <a:t>Store</a:t>
            </a:r>
          </a:p>
        </p:txBody>
      </p:sp>
      <p:sp>
        <p:nvSpPr>
          <p:cNvPr id="24" name="a2ud120_cs23"/>
          <p:cNvSpPr txBox="1"/>
          <p:nvPr/>
        </p:nvSpPr>
        <p:spPr>
          <a:xfrm>
            <a:off x="3432048" y="2185415"/>
            <a:ext cx="2279904" cy="237744"/>
          </a:xfrm>
          <a:prstGeom prst="rect">
            <a:avLst/>
          </a:prstGeom>
          <a:noFill/>
        </p:spPr>
        <p:txBody>
          <a:bodyPr wrap="square" lIns="0" tIns="0" rIns="0" bIns="0" anchor="ctr">
            <a:spAutoFit/>
          </a:bodyPr>
          <a:lstStyle/>
          <a:p>
            <a:pPr algn="l"/>
            <a:r>
              <a:rPr sz="1000" b="1">
                <a:solidFill>
                  <a:srgbClr val="0E7490"/>
                </a:solidFill>
                <a:latin typeface="Consolas"/>
              </a:rPr>
              <a:t>DURABLY AND RELIABLY</a:t>
            </a:r>
          </a:p>
        </p:txBody>
      </p:sp>
      <p:sp>
        <p:nvSpPr>
          <p:cNvPr id="25" name="a2ud150_cb24"/>
          <p:cNvSpPr txBox="1"/>
          <p:nvPr/>
        </p:nvSpPr>
        <p:spPr>
          <a:xfrm>
            <a:off x="3432048" y="2441448"/>
            <a:ext cx="2279904" cy="475488"/>
          </a:xfrm>
          <a:prstGeom prst="rect">
            <a:avLst/>
          </a:prstGeom>
          <a:noFill/>
        </p:spPr>
        <p:txBody>
          <a:bodyPr wrap="square" lIns="0" tIns="0" rIns="0" bIns="0" anchor="t">
            <a:spAutoFit/>
          </a:bodyPr>
          <a:lstStyle/>
          <a:p>
            <a:pPr algn="l"/>
            <a:r>
              <a:rPr sz="950" b="1">
                <a:solidFill>
                  <a:srgbClr val="0E7490"/>
                </a:solidFill>
                <a:latin typeface="Segoe UI"/>
              </a:rPr>
              <a:t>· </a:t>
            </a:r>
            <a:r>
              <a:rPr sz="950" b="0">
                <a:solidFill>
                  <a:srgbClr val="44403C"/>
                </a:solidFill>
                <a:latin typeface="Segoe UI"/>
              </a:rPr>
              <a:t>Events are kept safely on disk</a:t>
            </a:r>
          </a:p>
        </p:txBody>
      </p:sp>
      <p:sp>
        <p:nvSpPr>
          <p:cNvPr id="26" name="a2ud220_cb25"/>
          <p:cNvSpPr txBox="1"/>
          <p:nvPr/>
        </p:nvSpPr>
        <p:spPr>
          <a:xfrm>
            <a:off x="3432048" y="2825496"/>
            <a:ext cx="2279904" cy="475488"/>
          </a:xfrm>
          <a:prstGeom prst="rect">
            <a:avLst/>
          </a:prstGeom>
          <a:noFill/>
        </p:spPr>
        <p:txBody>
          <a:bodyPr wrap="square" lIns="0" tIns="0" rIns="0" bIns="0" anchor="t">
            <a:spAutoFit/>
          </a:bodyPr>
          <a:lstStyle/>
          <a:p>
            <a:pPr algn="l"/>
            <a:r>
              <a:rPr sz="950" b="1">
                <a:solidFill>
                  <a:srgbClr val="0E7490"/>
                </a:solidFill>
                <a:latin typeface="Segoe UI"/>
              </a:rPr>
              <a:t>· </a:t>
            </a:r>
            <a:r>
              <a:rPr sz="950" b="0">
                <a:solidFill>
                  <a:srgbClr val="44403C"/>
                </a:solidFill>
                <a:latin typeface="Segoe UI"/>
              </a:rPr>
              <a:t>For as long as you choose</a:t>
            </a:r>
          </a:p>
        </p:txBody>
      </p:sp>
      <p:sp>
        <p:nvSpPr>
          <p:cNvPr id="27" name="a3u_card26"/>
          <p:cNvSpPr/>
          <p:nvPr/>
        </p:nvSpPr>
        <p:spPr>
          <a:xfrm>
            <a:off x="6077712" y="1234440"/>
            <a:ext cx="2609088" cy="2194560"/>
          </a:xfrm>
          <a:prstGeom prst="roundRect">
            <a:avLst>
              <a:gd name="adj" fmla="val 5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u_acc27"/>
          <p:cNvSpPr/>
          <p:nvPr/>
        </p:nvSpPr>
        <p:spPr>
          <a:xfrm>
            <a:off x="6077712" y="1234440"/>
            <a:ext cx="2609088" cy="64008"/>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3ud60_ic28"/>
          <p:cNvSpPr/>
          <p:nvPr/>
        </p:nvSpPr>
        <p:spPr>
          <a:xfrm>
            <a:off x="6242304" y="1435608"/>
            <a:ext cx="384048" cy="384048"/>
          </a:xfrm>
          <a:prstGeom prst="ellipse">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d60_ict29"/>
          <p:cNvSpPr txBox="1"/>
          <p:nvPr/>
        </p:nvSpPr>
        <p:spPr>
          <a:xfrm>
            <a:off x="6242304" y="1435608"/>
            <a:ext cx="384048" cy="384048"/>
          </a:xfrm>
          <a:prstGeom prst="rect">
            <a:avLst/>
          </a:prstGeom>
          <a:noFill/>
        </p:spPr>
        <p:txBody>
          <a:bodyPr wrap="square" lIns="0" tIns="0" rIns="0" bIns="0" anchor="ctr">
            <a:spAutoFit/>
          </a:bodyPr>
          <a:lstStyle/>
          <a:p>
            <a:pPr algn="ctr"/>
            <a:r>
              <a:rPr sz="1200" b="1">
                <a:solidFill>
                  <a:srgbClr val="FFFFFF"/>
                </a:solidFill>
                <a:latin typeface="Segoe UI"/>
              </a:rPr>
              <a:t>3</a:t>
            </a:r>
          </a:p>
        </p:txBody>
      </p:sp>
      <p:sp>
        <p:nvSpPr>
          <p:cNvPr id="31" name="a3ud90_ct30"/>
          <p:cNvSpPr txBox="1"/>
          <p:nvPr/>
        </p:nvSpPr>
        <p:spPr>
          <a:xfrm>
            <a:off x="6242304" y="1911095"/>
            <a:ext cx="2279904" cy="274320"/>
          </a:xfrm>
          <a:prstGeom prst="rect">
            <a:avLst/>
          </a:prstGeom>
          <a:noFill/>
        </p:spPr>
        <p:txBody>
          <a:bodyPr wrap="square" lIns="0" tIns="0" rIns="0" bIns="0" anchor="ctr">
            <a:spAutoFit/>
          </a:bodyPr>
          <a:lstStyle/>
          <a:p>
            <a:pPr algn="l"/>
            <a:r>
              <a:rPr sz="1300" b="1">
                <a:solidFill>
                  <a:srgbClr val="1C1917"/>
                </a:solidFill>
                <a:latin typeface="Segoe UI"/>
              </a:rPr>
              <a:t>Process</a:t>
            </a:r>
          </a:p>
        </p:txBody>
      </p:sp>
      <p:sp>
        <p:nvSpPr>
          <p:cNvPr id="32" name="a3ud120_cs31"/>
          <p:cNvSpPr txBox="1"/>
          <p:nvPr/>
        </p:nvSpPr>
        <p:spPr>
          <a:xfrm>
            <a:off x="6242304" y="2185415"/>
            <a:ext cx="2279904" cy="237744"/>
          </a:xfrm>
          <a:prstGeom prst="rect">
            <a:avLst/>
          </a:prstGeom>
          <a:noFill/>
        </p:spPr>
        <p:txBody>
          <a:bodyPr wrap="square" lIns="0" tIns="0" rIns="0" bIns="0" anchor="ctr">
            <a:spAutoFit/>
          </a:bodyPr>
          <a:lstStyle/>
          <a:p>
            <a:pPr algn="l"/>
            <a:r>
              <a:rPr sz="1000" b="1">
                <a:solidFill>
                  <a:srgbClr val="A16207"/>
                </a:solidFill>
                <a:latin typeface="Consolas"/>
              </a:rPr>
              <a:t>NOW OR LATER</a:t>
            </a:r>
          </a:p>
        </p:txBody>
      </p:sp>
      <p:sp>
        <p:nvSpPr>
          <p:cNvPr id="33" name="a3ud150_cb32"/>
          <p:cNvSpPr txBox="1"/>
          <p:nvPr/>
        </p:nvSpPr>
        <p:spPr>
          <a:xfrm>
            <a:off x="6242304" y="2441448"/>
            <a:ext cx="2279904" cy="475488"/>
          </a:xfrm>
          <a:prstGeom prst="rect">
            <a:avLst/>
          </a:prstGeom>
          <a:noFill/>
        </p:spPr>
        <p:txBody>
          <a:bodyPr wrap="square" lIns="0" tIns="0" rIns="0" bIns="0" anchor="t">
            <a:spAutoFit/>
          </a:bodyPr>
          <a:lstStyle/>
          <a:p>
            <a:pPr algn="l"/>
            <a:r>
              <a:rPr sz="950" b="1">
                <a:solidFill>
                  <a:srgbClr val="A16207"/>
                </a:solidFill>
                <a:latin typeface="Segoe UI"/>
              </a:rPr>
              <a:t>· </a:t>
            </a:r>
            <a:r>
              <a:rPr sz="950" b="0">
                <a:solidFill>
                  <a:srgbClr val="44403C"/>
                </a:solidFill>
                <a:latin typeface="Segoe UI"/>
              </a:rPr>
              <a:t>Handle events as they occur</a:t>
            </a:r>
          </a:p>
        </p:txBody>
      </p:sp>
      <p:sp>
        <p:nvSpPr>
          <p:cNvPr id="34" name="a3ud220_cb33"/>
          <p:cNvSpPr txBox="1"/>
          <p:nvPr/>
        </p:nvSpPr>
        <p:spPr>
          <a:xfrm>
            <a:off x="6242304" y="2825496"/>
            <a:ext cx="2279904" cy="475488"/>
          </a:xfrm>
          <a:prstGeom prst="rect">
            <a:avLst/>
          </a:prstGeom>
          <a:noFill/>
        </p:spPr>
        <p:txBody>
          <a:bodyPr wrap="square" lIns="0" tIns="0" rIns="0" bIns="0" anchor="t">
            <a:spAutoFit/>
          </a:bodyPr>
          <a:lstStyle/>
          <a:p>
            <a:pPr algn="l"/>
            <a:r>
              <a:rPr sz="950" b="1">
                <a:solidFill>
                  <a:srgbClr val="A16207"/>
                </a:solidFill>
                <a:latin typeface="Segoe UI"/>
              </a:rPr>
              <a:t>· </a:t>
            </a:r>
            <a:r>
              <a:rPr sz="950" b="0">
                <a:solidFill>
                  <a:srgbClr val="44403C"/>
                </a:solidFill>
                <a:latin typeface="Segoe UI"/>
              </a:rPr>
              <a:t>Or replay them later</a:t>
            </a:r>
          </a:p>
        </p:txBody>
      </p:sp>
      <p:sp>
        <p:nvSpPr>
          <p:cNvPr id="35" name="a4u_nb34"/>
          <p:cNvSpPr/>
          <p:nvPr/>
        </p:nvSpPr>
        <p:spPr>
          <a:xfrm>
            <a:off x="457200" y="3611880"/>
            <a:ext cx="8229600" cy="640080"/>
          </a:xfrm>
          <a:prstGeom prst="roundRect">
            <a:avLst>
              <a:gd name="adj" fmla="val 11428"/>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4u_nacc35"/>
          <p:cNvSpPr/>
          <p:nvPr/>
        </p:nvSpPr>
        <p:spPr>
          <a:xfrm>
            <a:off x="457200" y="3611880"/>
            <a:ext cx="54864" cy="64008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4u_nt36"/>
          <p:cNvSpPr txBox="1"/>
          <p:nvPr/>
        </p:nvSpPr>
        <p:spPr>
          <a:xfrm>
            <a:off x="658368" y="3611880"/>
            <a:ext cx="7827264" cy="640080"/>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All three trace back to this deck: publish/subscribe (Part 3), the log (Part 4), and events you can replay (Part 5).</a:t>
            </a:r>
          </a:p>
        </p:txBody>
      </p:sp>
      <p:sp>
        <p:nvSpPr>
          <p:cNvPr id="38" name="ft3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70</a:t>
            </a:r>
          </a:p>
        </p:txBody>
      </p:sp>
      <p:sp>
        <p:nvSpPr>
          <p:cNvPr id="39" name="ft3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ft3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1" name="ft4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6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6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9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2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5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2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51" presetID="2" presetClass="entr" presetSubtype="4"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ppt_x</p:attrName>
                                        </p:attrNameLst>
                                      </p:cBhvr>
                                      <p:tavLst>
                                        <p:tav tm="0">
                                          <p:val>
                                            <p:strVal val="#ppt_x"/>
                                          </p:val>
                                        </p:tav>
                                        <p:tav tm="100000">
                                          <p:val>
                                            <p:strVal val="#ppt_x"/>
                                          </p:val>
                                        </p:tav>
                                      </p:tavLst>
                                    </p:anim>
                                    <p:anim calcmode="lin" valueType="num">
                                      <p:cBhvr additive="base">
                                        <p:cTn id="49" dur="500" fill="hold"/>
                                        <p:tgtEl>
                                          <p:spTgt spid="19"/>
                                        </p:tgtEl>
                                        <p:attrNameLst>
                                          <p:attrName>ppt_y</p:attrName>
                                        </p:attrNameLst>
                                      </p:cBhvr>
                                      <p:tavLst>
                                        <p:tav tm="0">
                                          <p:val>
                                            <p:strVal val="#ppt_y+0.1"/>
                                          </p:val>
                                        </p:tav>
                                        <p:tav tm="100000">
                                          <p:val>
                                            <p:strVal val="#ppt_y"/>
                                          </p:val>
                                        </p:tav>
                                      </p:tavLst>
                                    </p:anim>
                                    <p:animEffect transition="in" filter="fade">
                                      <p:cBhvr>
                                        <p:cTn id="50" dur="500"/>
                                        <p:tgtEl>
                                          <p:spTgt spid="19"/>
                                        </p:tgtEl>
                                      </p:cBhvr>
                                    </p:animEffect>
                                  </p:childTnLst>
                                </p:cTn>
                              </p:par>
                              <p:par>
                                <p:cTn id="56" presetID="2" presetClass="entr" presetSubtype="4"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par>
                                <p:cTn id="61" presetID="2" presetClass="entr" presetSubtype="4" fill="hold" grpId="0" nodeType="withEffect">
                                  <p:stCondLst>
                                    <p:cond delay="6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6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9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12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15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22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childTnLst>
                          </p:cTn>
                        </p:par>
                      </p:childTnLst>
                    </p:cTn>
                  </p:par>
                  <p:par>
                    <p:cTn id="87" fill="hold">
                      <p:stCondLst>
                        <p:cond delay="indefinite"/>
                      </p:stCondLst>
                      <p:childTnLst>
                        <p:par>
                          <p:cTn id="88" fill="hold">
                            <p:stCondLst>
                              <p:cond delay="0"/>
                            </p:stCondLst>
                            <p:childTnLst>
                              <p:par>
                                <p:cTn id="93" presetID="2" presetClass="entr" presetSubtype="4" fill="hold" grpId="0" nodeType="clickEffect">
                                  <p:stCondLst>
                                    <p:cond delay="0"/>
                                  </p:stCondLst>
                                  <p:childTnLst>
                                    <p:set>
                                      <p:cBhvr>
                                        <p:cTn id="89" dur="1" fill="hold">
                                          <p:stCondLst>
                                            <p:cond delay="0"/>
                                          </p:stCondLst>
                                        </p:cTn>
                                        <p:tgtEl>
                                          <p:spTgt spid="27"/>
                                        </p:tgtEl>
                                        <p:attrNameLst>
                                          <p:attrName>style.visibility</p:attrName>
                                        </p:attrNameLst>
                                      </p:cBhvr>
                                      <p:to>
                                        <p:strVal val="visible"/>
                                      </p:to>
                                    </p:set>
                                    <p:anim calcmode="lin" valueType="num">
                                      <p:cBhvr additive="base">
                                        <p:cTn id="90" dur="500" fill="hold"/>
                                        <p:tgtEl>
                                          <p:spTgt spid="27"/>
                                        </p:tgtEl>
                                        <p:attrNameLst>
                                          <p:attrName>ppt_x</p:attrName>
                                        </p:attrNameLst>
                                      </p:cBhvr>
                                      <p:tavLst>
                                        <p:tav tm="0">
                                          <p:val>
                                            <p:strVal val="#ppt_x"/>
                                          </p:val>
                                        </p:tav>
                                        <p:tav tm="100000">
                                          <p:val>
                                            <p:strVal val="#ppt_x"/>
                                          </p:val>
                                        </p:tav>
                                      </p:tavLst>
                                    </p:anim>
                                    <p:anim calcmode="lin" valueType="num">
                                      <p:cBhvr additive="base">
                                        <p:cTn id="91" dur="500" fill="hold"/>
                                        <p:tgtEl>
                                          <p:spTgt spid="27"/>
                                        </p:tgtEl>
                                        <p:attrNameLst>
                                          <p:attrName>ppt_y</p:attrName>
                                        </p:attrNameLst>
                                      </p:cBhvr>
                                      <p:tavLst>
                                        <p:tav tm="0">
                                          <p:val>
                                            <p:strVal val="#ppt_y+0.1"/>
                                          </p:val>
                                        </p:tav>
                                        <p:tav tm="100000">
                                          <p:val>
                                            <p:strVal val="#ppt_y"/>
                                          </p:val>
                                        </p:tav>
                                      </p:tavLst>
                                    </p:anim>
                                    <p:animEffect transition="in" filter="fade">
                                      <p:cBhvr>
                                        <p:cTn id="92" dur="500"/>
                                        <p:tgtEl>
                                          <p:spTgt spid="27"/>
                                        </p:tgtEl>
                                      </p:cBhvr>
                                    </p:animEffect>
                                  </p:childTnLst>
                                </p:cTn>
                              </p:par>
                              <p:par>
                                <p:cTn id="98" presetID="2" presetClass="entr" presetSubtype="4" fill="hold" grpId="0" nodeType="withEffect">
                                  <p:stCondLst>
                                    <p:cond delay="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ppt_x"/>
                                          </p:val>
                                        </p:tav>
                                        <p:tav tm="100000">
                                          <p:val>
                                            <p:strVal val="#ppt_x"/>
                                          </p:val>
                                        </p:tav>
                                      </p:tavLst>
                                    </p:anim>
                                    <p:anim calcmode="lin" valueType="num">
                                      <p:cBhvr additive="base">
                                        <p:cTn id="96" dur="500" fill="hold"/>
                                        <p:tgtEl>
                                          <p:spTgt spid="28"/>
                                        </p:tgtEl>
                                        <p:attrNameLst>
                                          <p:attrName>ppt_y</p:attrName>
                                        </p:attrNameLst>
                                      </p:cBhvr>
                                      <p:tavLst>
                                        <p:tav tm="0">
                                          <p:val>
                                            <p:strVal val="#ppt_y+0.1"/>
                                          </p:val>
                                        </p:tav>
                                        <p:tav tm="100000">
                                          <p:val>
                                            <p:strVal val="#ppt_y"/>
                                          </p:val>
                                        </p:tav>
                                      </p:tavLst>
                                    </p:anim>
                                    <p:animEffect transition="in" filter="fade">
                                      <p:cBhvr>
                                        <p:cTn id="97" dur="500"/>
                                        <p:tgtEl>
                                          <p:spTgt spid="28"/>
                                        </p:tgtEl>
                                      </p:cBhvr>
                                    </p:animEffect>
                                  </p:childTnLst>
                                </p:cTn>
                              </p:par>
                              <p:par>
                                <p:cTn id="103" presetID="2" presetClass="entr" presetSubtype="4" fill="hold" grpId="0" nodeType="withEffect">
                                  <p:stCondLst>
                                    <p:cond delay="60"/>
                                  </p:stCondLst>
                                  <p:childTnLst>
                                    <p:set>
                                      <p:cBhvr>
                                        <p:cTn id="99" dur="1" fill="hold">
                                          <p:stCondLst>
                                            <p:cond delay="0"/>
                                          </p:stCondLst>
                                        </p:cTn>
                                        <p:tgtEl>
                                          <p:spTgt spid="29"/>
                                        </p:tgtEl>
                                        <p:attrNameLst>
                                          <p:attrName>style.visibility</p:attrName>
                                        </p:attrNameLst>
                                      </p:cBhvr>
                                      <p:to>
                                        <p:strVal val="visible"/>
                                      </p:to>
                                    </p:set>
                                    <p:anim calcmode="lin" valueType="num">
                                      <p:cBhvr additive="base">
                                        <p:cTn id="100" dur="500" fill="hold"/>
                                        <p:tgtEl>
                                          <p:spTgt spid="29"/>
                                        </p:tgtEl>
                                        <p:attrNameLst>
                                          <p:attrName>ppt_x</p:attrName>
                                        </p:attrNameLst>
                                      </p:cBhvr>
                                      <p:tavLst>
                                        <p:tav tm="0">
                                          <p:val>
                                            <p:strVal val="#ppt_x"/>
                                          </p:val>
                                        </p:tav>
                                        <p:tav tm="100000">
                                          <p:val>
                                            <p:strVal val="#ppt_x"/>
                                          </p:val>
                                        </p:tav>
                                      </p:tavLst>
                                    </p:anim>
                                    <p:anim calcmode="lin" valueType="num">
                                      <p:cBhvr additive="base">
                                        <p:cTn id="101" dur="500" fill="hold"/>
                                        <p:tgtEl>
                                          <p:spTgt spid="29"/>
                                        </p:tgtEl>
                                        <p:attrNameLst>
                                          <p:attrName>ppt_y</p:attrName>
                                        </p:attrNameLst>
                                      </p:cBhvr>
                                      <p:tavLst>
                                        <p:tav tm="0">
                                          <p:val>
                                            <p:strVal val="#ppt_y+0.1"/>
                                          </p:val>
                                        </p:tav>
                                        <p:tav tm="100000">
                                          <p:val>
                                            <p:strVal val="#ppt_y"/>
                                          </p:val>
                                        </p:tav>
                                      </p:tavLst>
                                    </p:anim>
                                    <p:animEffect transition="in" filter="fade">
                                      <p:cBhvr>
                                        <p:cTn id="102" dur="500"/>
                                        <p:tgtEl>
                                          <p:spTgt spid="29"/>
                                        </p:tgtEl>
                                      </p:cBhvr>
                                    </p:animEffect>
                                  </p:childTnLst>
                                </p:cTn>
                              </p:par>
                              <p:par>
                                <p:cTn id="108" presetID="2" presetClass="entr" presetSubtype="4" fill="hold" grpId="0" nodeType="withEffect">
                                  <p:stCondLst>
                                    <p:cond delay="6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ppt_x"/>
                                          </p:val>
                                        </p:tav>
                                        <p:tav tm="100000">
                                          <p:val>
                                            <p:strVal val="#ppt_x"/>
                                          </p:val>
                                        </p:tav>
                                      </p:tavLst>
                                    </p:anim>
                                    <p:anim calcmode="lin" valueType="num">
                                      <p:cBhvr additive="base">
                                        <p:cTn id="106" dur="500" fill="hold"/>
                                        <p:tgtEl>
                                          <p:spTgt spid="30"/>
                                        </p:tgtEl>
                                        <p:attrNameLst>
                                          <p:attrName>ppt_y</p:attrName>
                                        </p:attrNameLst>
                                      </p:cBhvr>
                                      <p:tavLst>
                                        <p:tav tm="0">
                                          <p:val>
                                            <p:strVal val="#ppt_y+0.1"/>
                                          </p:val>
                                        </p:tav>
                                        <p:tav tm="100000">
                                          <p:val>
                                            <p:strVal val="#ppt_y"/>
                                          </p:val>
                                        </p:tav>
                                      </p:tavLst>
                                    </p:anim>
                                    <p:animEffect transition="in" filter="fade">
                                      <p:cBhvr>
                                        <p:cTn id="107" dur="500"/>
                                        <p:tgtEl>
                                          <p:spTgt spid="30"/>
                                        </p:tgtEl>
                                      </p:cBhvr>
                                    </p:animEffect>
                                  </p:childTnLst>
                                </p:cTn>
                              </p:par>
                              <p:par>
                                <p:cTn id="113" presetID="2" presetClass="entr" presetSubtype="4" fill="hold" grpId="0" nodeType="withEffect">
                                  <p:stCondLst>
                                    <p:cond delay="9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8" presetID="2" presetClass="entr" presetSubtype="4" fill="hold" grpId="0" nodeType="withEffect">
                                  <p:stCondLst>
                                    <p:cond delay="12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par>
                                <p:cTn id="123" presetID="2" presetClass="entr" presetSubtype="4" fill="hold" grpId="0" nodeType="withEffect">
                                  <p:stCondLst>
                                    <p:cond delay="15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par>
                                <p:cTn id="128" presetID="2" presetClass="entr" presetSubtype="4" fill="hold" grpId="0" nodeType="withEffect">
                                  <p:stCondLst>
                                    <p:cond delay="22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childTnLst>
                          </p:cTn>
                        </p:par>
                      </p:childTnLst>
                    </p:cTn>
                  </p:par>
                  <p:par>
                    <p:cTn id="129" fill="hold">
                      <p:stCondLst>
                        <p:cond delay="indefinite"/>
                      </p:stCondLst>
                      <p:childTnLst>
                        <p:par>
                          <p:cTn id="130" fill="hold">
                            <p:stCondLst>
                              <p:cond delay="0"/>
                            </p:stCondLst>
                            <p:childTnLst>
                              <p:par>
                                <p:cTn id="135" presetID="2" presetClass="entr" presetSubtype="4" fill="hold" grpId="0" nodeType="clickEffect">
                                  <p:stCondLst>
                                    <p:cond delay="0"/>
                                  </p:stCondLst>
                                  <p:childTnLst>
                                    <p:set>
                                      <p:cBhvr>
                                        <p:cTn id="131" dur="1" fill="hold">
                                          <p:stCondLst>
                                            <p:cond delay="0"/>
                                          </p:stCondLst>
                                        </p:cTn>
                                        <p:tgtEl>
                                          <p:spTgt spid="35"/>
                                        </p:tgtEl>
                                        <p:attrNameLst>
                                          <p:attrName>style.visibility</p:attrName>
                                        </p:attrNameLst>
                                      </p:cBhvr>
                                      <p:to>
                                        <p:strVal val="visible"/>
                                      </p:to>
                                    </p:set>
                                    <p:anim calcmode="lin" valueType="num">
                                      <p:cBhvr additive="base">
                                        <p:cTn id="132" dur="500" fill="hold"/>
                                        <p:tgtEl>
                                          <p:spTgt spid="35"/>
                                        </p:tgtEl>
                                        <p:attrNameLst>
                                          <p:attrName>ppt_x</p:attrName>
                                        </p:attrNameLst>
                                      </p:cBhvr>
                                      <p:tavLst>
                                        <p:tav tm="0">
                                          <p:val>
                                            <p:strVal val="#ppt_x"/>
                                          </p:val>
                                        </p:tav>
                                        <p:tav tm="100000">
                                          <p:val>
                                            <p:strVal val="#ppt_x"/>
                                          </p:val>
                                        </p:tav>
                                      </p:tavLst>
                                    </p:anim>
                                    <p:anim calcmode="lin" valueType="num">
                                      <p:cBhvr additive="base">
                                        <p:cTn id="133" dur="500" fill="hold"/>
                                        <p:tgtEl>
                                          <p:spTgt spid="35"/>
                                        </p:tgtEl>
                                        <p:attrNameLst>
                                          <p:attrName>ppt_y</p:attrName>
                                        </p:attrNameLst>
                                      </p:cBhvr>
                                      <p:tavLst>
                                        <p:tav tm="0">
                                          <p:val>
                                            <p:strVal val="#ppt_y+0.1"/>
                                          </p:val>
                                        </p:tav>
                                        <p:tav tm="100000">
                                          <p:val>
                                            <p:strVal val="#ppt_y"/>
                                          </p:val>
                                        </p:tav>
                                      </p:tavLst>
                                    </p:anim>
                                    <p:animEffect transition="in" filter="fade">
                                      <p:cBhvr>
                                        <p:cTn id="134" dur="500"/>
                                        <p:tgtEl>
                                          <p:spTgt spid="35"/>
                                        </p:tgtEl>
                                      </p:cBhvr>
                                    </p:animEffect>
                                  </p:childTnLst>
                                </p:cTn>
                              </p:par>
                              <p:par>
                                <p:cTn id="140" presetID="2" presetClass="entr" presetSubtype="4" fill="hold" grpId="0" nodeType="withEffect">
                                  <p:stCondLst>
                                    <p:cond delay="0"/>
                                  </p:stCondLst>
                                  <p:childTnLst>
                                    <p:set>
                                      <p:cBhvr>
                                        <p:cTn id="136" dur="1" fill="hold">
                                          <p:stCondLst>
                                            <p:cond delay="0"/>
                                          </p:stCondLst>
                                        </p:cTn>
                                        <p:tgtEl>
                                          <p:spTgt spid="36"/>
                                        </p:tgtEl>
                                        <p:attrNameLst>
                                          <p:attrName>style.visibility</p:attrName>
                                        </p:attrNameLst>
                                      </p:cBhvr>
                                      <p:to>
                                        <p:strVal val="visible"/>
                                      </p:to>
                                    </p:set>
                                    <p:anim calcmode="lin" valueType="num">
                                      <p:cBhvr additive="base">
                                        <p:cTn id="137" dur="500" fill="hold"/>
                                        <p:tgtEl>
                                          <p:spTgt spid="36"/>
                                        </p:tgtEl>
                                        <p:attrNameLst>
                                          <p:attrName>ppt_x</p:attrName>
                                        </p:attrNameLst>
                                      </p:cBhvr>
                                      <p:tavLst>
                                        <p:tav tm="0">
                                          <p:val>
                                            <p:strVal val="#ppt_x"/>
                                          </p:val>
                                        </p:tav>
                                        <p:tav tm="100000">
                                          <p:val>
                                            <p:strVal val="#ppt_x"/>
                                          </p:val>
                                        </p:tav>
                                      </p:tavLst>
                                    </p:anim>
                                    <p:anim calcmode="lin" valueType="num">
                                      <p:cBhvr additive="base">
                                        <p:cTn id="138" dur="500" fill="hold"/>
                                        <p:tgtEl>
                                          <p:spTgt spid="36"/>
                                        </p:tgtEl>
                                        <p:attrNameLst>
                                          <p:attrName>ppt_y</p:attrName>
                                        </p:attrNameLst>
                                      </p:cBhvr>
                                      <p:tavLst>
                                        <p:tav tm="0">
                                          <p:val>
                                            <p:strVal val="#ppt_y+0.1"/>
                                          </p:val>
                                        </p:tav>
                                        <p:tav tm="100000">
                                          <p:val>
                                            <p:strVal val="#ppt_y"/>
                                          </p:val>
                                        </p:tav>
                                      </p:tavLst>
                                    </p:anim>
                                    <p:animEffect transition="in" filter="fade">
                                      <p:cBhvr>
                                        <p:cTn id="139" dur="500"/>
                                        <p:tgtEl>
                                          <p:spTgt spid="36"/>
                                        </p:tgtEl>
                                      </p:cBhvr>
                                    </p:animEffect>
                                  </p:childTnLst>
                                </p:cTn>
                              </p:par>
                              <p:par>
                                <p:cTn id="145" presetID="2" presetClass="entr" presetSubtype="4" fill="hold" grpId="0" nodeType="withEffect">
                                  <p:stCondLst>
                                    <p:cond delay="0"/>
                                  </p:stCondLst>
                                  <p:childTnLst>
                                    <p:set>
                                      <p:cBhvr>
                                        <p:cTn id="141" dur="1" fill="hold">
                                          <p:stCondLst>
                                            <p:cond delay="0"/>
                                          </p:stCondLst>
                                        </p:cTn>
                                        <p:tgtEl>
                                          <p:spTgt spid="37"/>
                                        </p:tgtEl>
                                        <p:attrNameLst>
                                          <p:attrName>style.visibility</p:attrName>
                                        </p:attrNameLst>
                                      </p:cBhvr>
                                      <p:to>
                                        <p:strVal val="visible"/>
                                      </p:to>
                                    </p:set>
                                    <p:anim calcmode="lin" valueType="num">
                                      <p:cBhvr additive="base">
                                        <p:cTn id="142" dur="500" fill="hold"/>
                                        <p:tgtEl>
                                          <p:spTgt spid="37"/>
                                        </p:tgtEl>
                                        <p:attrNameLst>
                                          <p:attrName>ppt_x</p:attrName>
                                        </p:attrNameLst>
                                      </p:cBhvr>
                                      <p:tavLst>
                                        <p:tav tm="0">
                                          <p:val>
                                            <p:strVal val="#ppt_x"/>
                                          </p:val>
                                        </p:tav>
                                        <p:tav tm="100000">
                                          <p:val>
                                            <p:strVal val="#ppt_x"/>
                                          </p:val>
                                        </p:tav>
                                      </p:tavLst>
                                    </p:anim>
                                    <p:anim calcmode="lin" valueType="num">
                                      <p:cBhvr additive="base">
                                        <p:cTn id="143" dur="500" fill="hold"/>
                                        <p:tgtEl>
                                          <p:spTgt spid="37"/>
                                        </p:tgtEl>
                                        <p:attrNameLst>
                                          <p:attrName>ppt_y</p:attrName>
                                        </p:attrNameLst>
                                      </p:cBhvr>
                                      <p:tavLst>
                                        <p:tav tm="0">
                                          <p:val>
                                            <p:strVal val="#ppt_y+0.1"/>
                                          </p:val>
                                        </p:tav>
                                        <p:tav tm="100000">
                                          <p:val>
                                            <p:strVal val="#ppt_y"/>
                                          </p:val>
                                        </p:tav>
                                      </p:tavLst>
                                    </p:anim>
                                    <p:animEffect transition="in" filter="fade">
                                      <p:cBhvr>
                                        <p:cTn id="144"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Apache Kafka - The Definition</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kafka.apache.org says it in four words: an event streaming platform</a:t>
            </a:r>
          </a:p>
        </p:txBody>
      </p:sp>
      <p:sp>
        <p:nvSpPr>
          <p:cNvPr id="11" name="a1u_card10"/>
          <p:cNvSpPr/>
          <p:nvPr/>
        </p:nvSpPr>
        <p:spPr>
          <a:xfrm>
            <a:off x="457200" y="1234440"/>
            <a:ext cx="8229600" cy="1188720"/>
          </a:xfrm>
          <a:prstGeom prst="roundRect">
            <a:avLst>
              <a:gd name="adj" fmla="val 923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34440"/>
            <a:ext cx="50292" cy="1188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quote12"/>
          <p:cNvSpPr txBox="1"/>
          <p:nvPr/>
        </p:nvSpPr>
        <p:spPr>
          <a:xfrm>
            <a:off x="731520" y="1280160"/>
            <a:ext cx="7772400" cy="1097280"/>
          </a:xfrm>
          <a:prstGeom prst="rect">
            <a:avLst/>
          </a:prstGeom>
          <a:noFill/>
        </p:spPr>
        <p:txBody>
          <a:bodyPr wrap="square" lIns="0" tIns="0" rIns="0" bIns="0" anchor="ctr">
            <a:spAutoFit/>
          </a:bodyPr>
          <a:lstStyle/>
          <a:p>
            <a:pPr algn="l"/>
            <a:r>
              <a:rPr sz="1450" b="1" i="1">
                <a:solidFill>
                  <a:srgbClr val="C2410C"/>
                </a:solidFill>
                <a:latin typeface="Segoe UI"/>
              </a:rPr>
              <a:t>"Apache Kafka is an open-source distributed streaming system used for stream processing, real-time data pipelines, and data integration at scale."</a:t>
            </a:r>
          </a:p>
        </p:txBody>
      </p:sp>
      <p:sp>
        <p:nvSpPr>
          <p:cNvPr id="14" name="a2u_card13"/>
          <p:cNvSpPr/>
          <p:nvPr/>
        </p:nvSpPr>
        <p:spPr>
          <a:xfrm>
            <a:off x="457200" y="2606040"/>
            <a:ext cx="2615184" cy="841248"/>
          </a:xfrm>
          <a:prstGeom prst="roundRect">
            <a:avLst>
              <a:gd name="adj" fmla="val 1304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2u_acc14"/>
          <p:cNvSpPr/>
          <p:nvPr/>
        </p:nvSpPr>
        <p:spPr>
          <a:xfrm>
            <a:off x="457200" y="2606040"/>
            <a:ext cx="2615184"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_tt15"/>
          <p:cNvSpPr txBox="1"/>
          <p:nvPr/>
        </p:nvSpPr>
        <p:spPr>
          <a:xfrm>
            <a:off x="603504" y="2715768"/>
            <a:ext cx="2340864" cy="256032"/>
          </a:xfrm>
          <a:prstGeom prst="rect">
            <a:avLst/>
          </a:prstGeom>
          <a:noFill/>
        </p:spPr>
        <p:txBody>
          <a:bodyPr wrap="square" lIns="0" tIns="0" rIns="0" bIns="0" anchor="ctr">
            <a:spAutoFit/>
          </a:bodyPr>
          <a:lstStyle/>
          <a:p>
            <a:pPr algn="l"/>
            <a:r>
              <a:rPr sz="1100" b="1">
                <a:solidFill>
                  <a:srgbClr val="1C1917"/>
                </a:solidFill>
                <a:latin typeface="Segoe UI"/>
              </a:rPr>
              <a:t>Open source</a:t>
            </a:r>
          </a:p>
        </p:txBody>
      </p:sp>
      <p:sp>
        <p:nvSpPr>
          <p:cNvPr id="17" name="a2ud60_tb16"/>
          <p:cNvSpPr txBox="1"/>
          <p:nvPr/>
        </p:nvSpPr>
        <p:spPr>
          <a:xfrm>
            <a:off x="603504" y="3008376"/>
            <a:ext cx="2340864" cy="384048"/>
          </a:xfrm>
          <a:prstGeom prst="rect">
            <a:avLst/>
          </a:prstGeom>
          <a:noFill/>
        </p:spPr>
        <p:txBody>
          <a:bodyPr wrap="square" lIns="0" tIns="0" rIns="0" bIns="0" anchor="t">
            <a:spAutoFit/>
          </a:bodyPr>
          <a:lstStyle/>
          <a:p>
            <a:pPr algn="l"/>
            <a:r>
              <a:rPr sz="850" b="0">
                <a:solidFill>
                  <a:srgbClr val="44403C"/>
                </a:solidFill>
                <a:latin typeface="Segoe UI"/>
              </a:rPr>
              <a:t>free to use and change (Apache License 2.0)</a:t>
            </a:r>
          </a:p>
        </p:txBody>
      </p:sp>
      <p:sp>
        <p:nvSpPr>
          <p:cNvPr id="18" name="a3u_card17"/>
          <p:cNvSpPr/>
          <p:nvPr/>
        </p:nvSpPr>
        <p:spPr>
          <a:xfrm>
            <a:off x="3264408" y="2606040"/>
            <a:ext cx="2615184" cy="841248"/>
          </a:xfrm>
          <a:prstGeom prst="roundRect">
            <a:avLst>
              <a:gd name="adj" fmla="val 1304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3u_acc18"/>
          <p:cNvSpPr/>
          <p:nvPr/>
        </p:nvSpPr>
        <p:spPr>
          <a:xfrm>
            <a:off x="3264408" y="2606040"/>
            <a:ext cx="2615184"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3u_tt19"/>
          <p:cNvSpPr txBox="1"/>
          <p:nvPr/>
        </p:nvSpPr>
        <p:spPr>
          <a:xfrm>
            <a:off x="3410712" y="2715768"/>
            <a:ext cx="2340864" cy="256032"/>
          </a:xfrm>
          <a:prstGeom prst="rect">
            <a:avLst/>
          </a:prstGeom>
          <a:noFill/>
        </p:spPr>
        <p:txBody>
          <a:bodyPr wrap="square" lIns="0" tIns="0" rIns="0" bIns="0" anchor="ctr">
            <a:spAutoFit/>
          </a:bodyPr>
          <a:lstStyle/>
          <a:p>
            <a:pPr algn="l"/>
            <a:r>
              <a:rPr sz="1100" b="1">
                <a:solidFill>
                  <a:srgbClr val="1C1917"/>
                </a:solidFill>
                <a:latin typeface="Segoe UI"/>
              </a:rPr>
              <a:t>Distributed</a:t>
            </a:r>
          </a:p>
        </p:txBody>
      </p:sp>
      <p:sp>
        <p:nvSpPr>
          <p:cNvPr id="21" name="a3ud60_tb20"/>
          <p:cNvSpPr txBox="1"/>
          <p:nvPr/>
        </p:nvSpPr>
        <p:spPr>
          <a:xfrm>
            <a:off x="3410712" y="3008376"/>
            <a:ext cx="2340864" cy="384048"/>
          </a:xfrm>
          <a:prstGeom prst="rect">
            <a:avLst/>
          </a:prstGeom>
          <a:noFill/>
        </p:spPr>
        <p:txBody>
          <a:bodyPr wrap="square" lIns="0" tIns="0" rIns="0" bIns="0" anchor="t">
            <a:spAutoFit/>
          </a:bodyPr>
          <a:lstStyle/>
          <a:p>
            <a:pPr algn="l"/>
            <a:r>
              <a:rPr sz="850" b="0">
                <a:solidFill>
                  <a:srgbClr val="44403C"/>
                </a:solidFill>
                <a:latin typeface="Segoe UI"/>
              </a:rPr>
              <a:t>runs on many servers working as one</a:t>
            </a:r>
          </a:p>
        </p:txBody>
      </p:sp>
      <p:sp>
        <p:nvSpPr>
          <p:cNvPr id="22" name="a4u_card21"/>
          <p:cNvSpPr/>
          <p:nvPr/>
        </p:nvSpPr>
        <p:spPr>
          <a:xfrm>
            <a:off x="6071616" y="2606040"/>
            <a:ext cx="2615184" cy="841248"/>
          </a:xfrm>
          <a:prstGeom prst="roundRect">
            <a:avLst>
              <a:gd name="adj" fmla="val 1304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4u_acc22"/>
          <p:cNvSpPr/>
          <p:nvPr/>
        </p:nvSpPr>
        <p:spPr>
          <a:xfrm>
            <a:off x="6071616" y="2606040"/>
            <a:ext cx="2615184"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4u_tt23"/>
          <p:cNvSpPr txBox="1"/>
          <p:nvPr/>
        </p:nvSpPr>
        <p:spPr>
          <a:xfrm>
            <a:off x="6217920" y="2715768"/>
            <a:ext cx="2340864" cy="256032"/>
          </a:xfrm>
          <a:prstGeom prst="rect">
            <a:avLst/>
          </a:prstGeom>
          <a:noFill/>
        </p:spPr>
        <p:txBody>
          <a:bodyPr wrap="square" lIns="0" tIns="0" rIns="0" bIns="0" anchor="ctr">
            <a:spAutoFit/>
          </a:bodyPr>
          <a:lstStyle/>
          <a:p>
            <a:pPr algn="l"/>
            <a:r>
              <a:rPr sz="1100" b="1">
                <a:solidFill>
                  <a:srgbClr val="1C1917"/>
                </a:solidFill>
                <a:latin typeface="Segoe UI"/>
              </a:rPr>
              <a:t>Streaming</a:t>
            </a:r>
          </a:p>
        </p:txBody>
      </p:sp>
      <p:sp>
        <p:nvSpPr>
          <p:cNvPr id="25" name="a4ud60_tb24"/>
          <p:cNvSpPr txBox="1"/>
          <p:nvPr/>
        </p:nvSpPr>
        <p:spPr>
          <a:xfrm>
            <a:off x="6217920" y="3008376"/>
            <a:ext cx="2340864" cy="384048"/>
          </a:xfrm>
          <a:prstGeom prst="rect">
            <a:avLst/>
          </a:prstGeom>
          <a:noFill/>
        </p:spPr>
        <p:txBody>
          <a:bodyPr wrap="square" lIns="0" tIns="0" rIns="0" bIns="0" anchor="t">
            <a:spAutoFit/>
          </a:bodyPr>
          <a:lstStyle/>
          <a:p>
            <a:pPr algn="l"/>
            <a:r>
              <a:rPr sz="850" b="0">
                <a:solidFill>
                  <a:srgbClr val="44403C"/>
                </a:solidFill>
                <a:latin typeface="Segoe UI"/>
              </a:rPr>
              <a:t>data flows continuously, event by event</a:t>
            </a:r>
          </a:p>
        </p:txBody>
      </p:sp>
      <p:sp>
        <p:nvSpPr>
          <p:cNvPr id="26" name="a5u_card25"/>
          <p:cNvSpPr/>
          <p:nvPr/>
        </p:nvSpPr>
        <p:spPr>
          <a:xfrm>
            <a:off x="457200" y="3566160"/>
            <a:ext cx="2615184" cy="841248"/>
          </a:xfrm>
          <a:prstGeom prst="roundRect">
            <a:avLst>
              <a:gd name="adj" fmla="val 1304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5u_acc26"/>
          <p:cNvSpPr/>
          <p:nvPr/>
        </p:nvSpPr>
        <p:spPr>
          <a:xfrm>
            <a:off x="457200" y="3566160"/>
            <a:ext cx="2615184"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5u_tt27"/>
          <p:cNvSpPr txBox="1"/>
          <p:nvPr/>
        </p:nvSpPr>
        <p:spPr>
          <a:xfrm>
            <a:off x="603504" y="3675888"/>
            <a:ext cx="2340864" cy="256032"/>
          </a:xfrm>
          <a:prstGeom prst="rect">
            <a:avLst/>
          </a:prstGeom>
          <a:noFill/>
        </p:spPr>
        <p:txBody>
          <a:bodyPr wrap="square" lIns="0" tIns="0" rIns="0" bIns="0" anchor="ctr">
            <a:spAutoFit/>
          </a:bodyPr>
          <a:lstStyle/>
          <a:p>
            <a:pPr algn="l"/>
            <a:r>
              <a:rPr sz="1100" b="1">
                <a:solidFill>
                  <a:srgbClr val="1C1917"/>
                </a:solidFill>
                <a:latin typeface="Segoe UI"/>
              </a:rPr>
              <a:t>Stream processing</a:t>
            </a:r>
          </a:p>
        </p:txBody>
      </p:sp>
      <p:sp>
        <p:nvSpPr>
          <p:cNvPr id="29" name="a5ud60_tb28"/>
          <p:cNvSpPr txBox="1"/>
          <p:nvPr/>
        </p:nvSpPr>
        <p:spPr>
          <a:xfrm>
            <a:off x="603504" y="3968496"/>
            <a:ext cx="2340864" cy="384048"/>
          </a:xfrm>
          <a:prstGeom prst="rect">
            <a:avLst/>
          </a:prstGeom>
          <a:noFill/>
        </p:spPr>
        <p:txBody>
          <a:bodyPr wrap="square" lIns="0" tIns="0" rIns="0" bIns="0" anchor="t">
            <a:spAutoFit/>
          </a:bodyPr>
          <a:lstStyle/>
          <a:p>
            <a:pPr algn="l"/>
            <a:r>
              <a:rPr sz="850" b="0">
                <a:solidFill>
                  <a:srgbClr val="44403C"/>
                </a:solidFill>
                <a:latin typeface="Segoe UI"/>
              </a:rPr>
              <a:t>act on events as they arrive</a:t>
            </a:r>
          </a:p>
        </p:txBody>
      </p:sp>
      <p:sp>
        <p:nvSpPr>
          <p:cNvPr id="30" name="a6u_card29"/>
          <p:cNvSpPr/>
          <p:nvPr/>
        </p:nvSpPr>
        <p:spPr>
          <a:xfrm>
            <a:off x="3264408" y="3566160"/>
            <a:ext cx="2615184" cy="841248"/>
          </a:xfrm>
          <a:prstGeom prst="roundRect">
            <a:avLst>
              <a:gd name="adj" fmla="val 1304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6u_acc30"/>
          <p:cNvSpPr/>
          <p:nvPr/>
        </p:nvSpPr>
        <p:spPr>
          <a:xfrm>
            <a:off x="3264408" y="3566160"/>
            <a:ext cx="2615184"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6u_tt31"/>
          <p:cNvSpPr txBox="1"/>
          <p:nvPr/>
        </p:nvSpPr>
        <p:spPr>
          <a:xfrm>
            <a:off x="3410712" y="3675888"/>
            <a:ext cx="2340864" cy="256032"/>
          </a:xfrm>
          <a:prstGeom prst="rect">
            <a:avLst/>
          </a:prstGeom>
          <a:noFill/>
        </p:spPr>
        <p:txBody>
          <a:bodyPr wrap="square" lIns="0" tIns="0" rIns="0" bIns="0" anchor="ctr">
            <a:spAutoFit/>
          </a:bodyPr>
          <a:lstStyle/>
          <a:p>
            <a:pPr algn="l"/>
            <a:r>
              <a:rPr sz="1100" b="1">
                <a:solidFill>
                  <a:srgbClr val="1C1917"/>
                </a:solidFill>
                <a:latin typeface="Segoe UI"/>
              </a:rPr>
              <a:t>Real-time data pipelines</a:t>
            </a:r>
          </a:p>
        </p:txBody>
      </p:sp>
      <p:sp>
        <p:nvSpPr>
          <p:cNvPr id="33" name="a6ud60_tb32"/>
          <p:cNvSpPr txBox="1"/>
          <p:nvPr/>
        </p:nvSpPr>
        <p:spPr>
          <a:xfrm>
            <a:off x="3410712" y="3968496"/>
            <a:ext cx="2340864" cy="384048"/>
          </a:xfrm>
          <a:prstGeom prst="rect">
            <a:avLst/>
          </a:prstGeom>
          <a:noFill/>
        </p:spPr>
        <p:txBody>
          <a:bodyPr wrap="square" lIns="0" tIns="0" rIns="0" bIns="0" anchor="t">
            <a:spAutoFit/>
          </a:bodyPr>
          <a:lstStyle/>
          <a:p>
            <a:pPr algn="l"/>
            <a:r>
              <a:rPr sz="850" b="0">
                <a:solidFill>
                  <a:srgbClr val="44403C"/>
                </a:solidFill>
                <a:latin typeface="Segoe UI"/>
              </a:rPr>
              <a:t>move data between systems within moments</a:t>
            </a:r>
          </a:p>
        </p:txBody>
      </p:sp>
      <p:sp>
        <p:nvSpPr>
          <p:cNvPr id="34" name="a7u_card33"/>
          <p:cNvSpPr/>
          <p:nvPr/>
        </p:nvSpPr>
        <p:spPr>
          <a:xfrm>
            <a:off x="6071616" y="3566160"/>
            <a:ext cx="2615184" cy="841248"/>
          </a:xfrm>
          <a:prstGeom prst="roundRect">
            <a:avLst>
              <a:gd name="adj" fmla="val 13043"/>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7u_acc34"/>
          <p:cNvSpPr/>
          <p:nvPr/>
        </p:nvSpPr>
        <p:spPr>
          <a:xfrm>
            <a:off x="6071616" y="3566160"/>
            <a:ext cx="2615184" cy="457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7u_tt35"/>
          <p:cNvSpPr txBox="1"/>
          <p:nvPr/>
        </p:nvSpPr>
        <p:spPr>
          <a:xfrm>
            <a:off x="6217920" y="3675888"/>
            <a:ext cx="2340864" cy="256032"/>
          </a:xfrm>
          <a:prstGeom prst="rect">
            <a:avLst/>
          </a:prstGeom>
          <a:noFill/>
        </p:spPr>
        <p:txBody>
          <a:bodyPr wrap="square" lIns="0" tIns="0" rIns="0" bIns="0" anchor="ctr">
            <a:spAutoFit/>
          </a:bodyPr>
          <a:lstStyle/>
          <a:p>
            <a:pPr algn="l"/>
            <a:r>
              <a:rPr sz="1100" b="1">
                <a:solidFill>
                  <a:srgbClr val="1C1917"/>
                </a:solidFill>
                <a:latin typeface="Segoe UI"/>
              </a:rPr>
              <a:t>Data integration at scale</a:t>
            </a:r>
          </a:p>
        </p:txBody>
      </p:sp>
      <p:sp>
        <p:nvSpPr>
          <p:cNvPr id="37" name="a7ud60_tb36"/>
          <p:cNvSpPr txBox="1"/>
          <p:nvPr/>
        </p:nvSpPr>
        <p:spPr>
          <a:xfrm>
            <a:off x="6217920" y="3968496"/>
            <a:ext cx="2340864" cy="384048"/>
          </a:xfrm>
          <a:prstGeom prst="rect">
            <a:avLst/>
          </a:prstGeom>
          <a:noFill/>
        </p:spPr>
        <p:txBody>
          <a:bodyPr wrap="square" lIns="0" tIns="0" rIns="0" bIns="0" anchor="t">
            <a:spAutoFit/>
          </a:bodyPr>
          <a:lstStyle/>
          <a:p>
            <a:pPr algn="l"/>
            <a:r>
              <a:rPr sz="850" b="0">
                <a:solidFill>
                  <a:srgbClr val="44403C"/>
                </a:solidFill>
                <a:latin typeface="Segoe UI"/>
              </a:rPr>
              <a:t>connect many systems, at huge volume</a:t>
            </a:r>
          </a:p>
        </p:txBody>
      </p:sp>
      <p:sp>
        <p:nvSpPr>
          <p:cNvPr id="38" name="ft3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71</a:t>
            </a:r>
          </a:p>
        </p:txBody>
      </p:sp>
      <p:sp>
        <p:nvSpPr>
          <p:cNvPr id="39" name="ft3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ft3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1" name="ft4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6" presetID="2" presetClass="entr" presetSubtype="4"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ppt_y+0.1"/>
                                          </p:val>
                                        </p:tav>
                                        <p:tav tm="100000">
                                          <p:val>
                                            <p:strVal val="#ppt_y"/>
                                          </p:val>
                                        </p:tav>
                                      </p:tavLst>
                                    </p:anim>
                                    <p:animEffect transition="in" filter="fade">
                                      <p:cBhvr>
                                        <p:cTn id="25" dur="500"/>
                                        <p:tgtEl>
                                          <p:spTgt spid="14"/>
                                        </p:tgtEl>
                                      </p:cBhvr>
                                    </p:animEffect>
                                  </p:childTnLst>
                                </p:cTn>
                              </p:par>
                              <p:par>
                                <p:cTn id="31" presetID="2" presetClass="entr" presetSubtype="4"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ppt_y+0.1"/>
                                          </p:val>
                                        </p:tav>
                                        <p:tav tm="100000">
                                          <p:val>
                                            <p:strVal val="#ppt_y"/>
                                          </p:val>
                                        </p:tav>
                                      </p:tavLst>
                                    </p:anim>
                                    <p:animEffect transition="in" filter="fade">
                                      <p:cBhvr>
                                        <p:cTn id="30" dur="500"/>
                                        <p:tgtEl>
                                          <p:spTgt spid="15"/>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par>
                                <p:cTn id="41" presetID="2" presetClass="entr" presetSubtype="4" fill="hold" grpId="0" nodeType="withEffect">
                                  <p:stCondLst>
                                    <p:cond delay="6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ppt_y+0.1"/>
                                          </p:val>
                                        </p:tav>
                                        <p:tav tm="100000">
                                          <p:val>
                                            <p:strVal val="#ppt_y"/>
                                          </p:val>
                                        </p:tav>
                                      </p:tavLst>
                                    </p:anim>
                                    <p:animEffect transition="in" filter="fade">
                                      <p:cBhvr>
                                        <p:cTn id="40"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8" presetID="2" presetClass="entr" presetSubtype="4"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additive="base">
                                        <p:cTn id="45" dur="500" fill="hold"/>
                                        <p:tgtEl>
                                          <p:spTgt spid="18"/>
                                        </p:tgtEl>
                                        <p:attrNameLst>
                                          <p:attrName>ppt_x</p:attrName>
                                        </p:attrNameLst>
                                      </p:cBhvr>
                                      <p:tavLst>
                                        <p:tav tm="0">
                                          <p:val>
                                            <p:strVal val="#ppt_x"/>
                                          </p:val>
                                        </p:tav>
                                        <p:tav tm="100000">
                                          <p:val>
                                            <p:strVal val="#ppt_x"/>
                                          </p:val>
                                        </p:tav>
                                      </p:tavLst>
                                    </p:anim>
                                    <p:anim calcmode="lin" valueType="num">
                                      <p:cBhvr additive="base">
                                        <p:cTn id="46" dur="500" fill="hold"/>
                                        <p:tgtEl>
                                          <p:spTgt spid="18"/>
                                        </p:tgtEl>
                                        <p:attrNameLst>
                                          <p:attrName>ppt_y</p:attrName>
                                        </p:attrNameLst>
                                      </p:cBhvr>
                                      <p:tavLst>
                                        <p:tav tm="0">
                                          <p:val>
                                            <p:strVal val="#ppt_y+0.1"/>
                                          </p:val>
                                        </p:tav>
                                        <p:tav tm="100000">
                                          <p:val>
                                            <p:strVal val="#ppt_y"/>
                                          </p:val>
                                        </p:tav>
                                      </p:tavLst>
                                    </p:anim>
                                    <p:animEffect transition="in" filter="fade">
                                      <p:cBhvr>
                                        <p:cTn id="47" dur="500"/>
                                        <p:tgtEl>
                                          <p:spTgt spid="18"/>
                                        </p:tgtEl>
                                      </p:cBhvr>
                                    </p:animEffect>
                                  </p:childTnLst>
                                </p:cTn>
                              </p:par>
                              <p:par>
                                <p:cTn id="53" presetID="2" presetClass="entr" presetSubtype="4"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ppt_x"/>
                                          </p:val>
                                        </p:tav>
                                        <p:tav tm="100000">
                                          <p:val>
                                            <p:strVal val="#ppt_x"/>
                                          </p:val>
                                        </p:tav>
                                      </p:tavLst>
                                    </p:anim>
                                    <p:anim calcmode="lin" valueType="num">
                                      <p:cBhvr additive="base">
                                        <p:cTn id="51" dur="500" fill="hold"/>
                                        <p:tgtEl>
                                          <p:spTgt spid="19"/>
                                        </p:tgtEl>
                                        <p:attrNameLst>
                                          <p:attrName>ppt_y</p:attrName>
                                        </p:attrNameLst>
                                      </p:cBhvr>
                                      <p:tavLst>
                                        <p:tav tm="0">
                                          <p:val>
                                            <p:strVal val="#ppt_y+0.1"/>
                                          </p:val>
                                        </p:tav>
                                        <p:tav tm="100000">
                                          <p:val>
                                            <p:strVal val="#ppt_y"/>
                                          </p:val>
                                        </p:tav>
                                      </p:tavLst>
                                    </p:anim>
                                    <p:animEffect transition="in" filter="fade">
                                      <p:cBhvr>
                                        <p:cTn id="52" dur="500"/>
                                        <p:tgtEl>
                                          <p:spTgt spid="19"/>
                                        </p:tgtEl>
                                      </p:cBhvr>
                                    </p:animEffect>
                                  </p:childTnLst>
                                </p:cTn>
                              </p:par>
                              <p:par>
                                <p:cTn id="58" presetID="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ppt_y+0.1"/>
                                          </p:val>
                                        </p:tav>
                                        <p:tav tm="100000">
                                          <p:val>
                                            <p:strVal val="#ppt_y"/>
                                          </p:val>
                                        </p:tav>
                                      </p:tavLst>
                                    </p:anim>
                                    <p:animEffect transition="in" filter="fade">
                                      <p:cBhvr>
                                        <p:cTn id="57" dur="500"/>
                                        <p:tgtEl>
                                          <p:spTgt spid="20"/>
                                        </p:tgtEl>
                                      </p:cBhvr>
                                    </p:animEffect>
                                  </p:childTnLst>
                                </p:cTn>
                              </p:par>
                              <p:par>
                                <p:cTn id="63" presetID="2" presetClass="entr" presetSubtype="4" fill="hold" grpId="0" nodeType="withEffect">
                                  <p:stCondLst>
                                    <p:cond delay="60"/>
                                  </p:stCondLst>
                                  <p:childTnLst>
                                    <p:set>
                                      <p:cBhvr>
                                        <p:cTn id="59" dur="1" fill="hold">
                                          <p:stCondLst>
                                            <p:cond delay="0"/>
                                          </p:stCondLst>
                                        </p:cTn>
                                        <p:tgtEl>
                                          <p:spTgt spid="21"/>
                                        </p:tgtEl>
                                        <p:attrNameLst>
                                          <p:attrName>style.visibility</p:attrName>
                                        </p:attrNameLst>
                                      </p:cBhvr>
                                      <p:to>
                                        <p:strVal val="visible"/>
                                      </p:to>
                                    </p:set>
                                    <p:anim calcmode="lin" valueType="num">
                                      <p:cBhvr additive="base">
                                        <p:cTn id="60" dur="500" fill="hold"/>
                                        <p:tgtEl>
                                          <p:spTgt spid="21"/>
                                        </p:tgtEl>
                                        <p:attrNameLst>
                                          <p:attrName>ppt_x</p:attrName>
                                        </p:attrNameLst>
                                      </p:cBhvr>
                                      <p:tavLst>
                                        <p:tav tm="0">
                                          <p:val>
                                            <p:strVal val="#ppt_x"/>
                                          </p:val>
                                        </p:tav>
                                        <p:tav tm="100000">
                                          <p:val>
                                            <p:strVal val="#ppt_x"/>
                                          </p:val>
                                        </p:tav>
                                      </p:tavLst>
                                    </p:anim>
                                    <p:anim calcmode="lin" valueType="num">
                                      <p:cBhvr additive="base">
                                        <p:cTn id="61" dur="500" fill="hold"/>
                                        <p:tgtEl>
                                          <p:spTgt spid="21"/>
                                        </p:tgtEl>
                                        <p:attrNameLst>
                                          <p:attrName>ppt_y</p:attrName>
                                        </p:attrNameLst>
                                      </p:cBhvr>
                                      <p:tavLst>
                                        <p:tav tm="0">
                                          <p:val>
                                            <p:strVal val="#ppt_y+0.1"/>
                                          </p:val>
                                        </p:tav>
                                        <p:tav tm="100000">
                                          <p:val>
                                            <p:strVal val="#ppt_y"/>
                                          </p:val>
                                        </p:tav>
                                      </p:tavLst>
                                    </p:anim>
                                    <p:animEffect transition="in" filter="fade">
                                      <p:cBhvr>
                                        <p:cTn id="62" dur="500"/>
                                        <p:tgtEl>
                                          <p:spTgt spid="21"/>
                                        </p:tgtEl>
                                      </p:cBhvr>
                                    </p:animEffect>
                                  </p:childTnLst>
                                </p:cTn>
                              </p:par>
                            </p:childTnLst>
                          </p:cTn>
                        </p:par>
                      </p:childTnLst>
                    </p:cTn>
                  </p:par>
                  <p:par>
                    <p:cTn id="64" fill="hold">
                      <p:stCondLst>
                        <p:cond delay="indefinite"/>
                      </p:stCondLst>
                      <p:childTnLst>
                        <p:par>
                          <p:cTn id="65" fill="hold">
                            <p:stCondLst>
                              <p:cond delay="0"/>
                            </p:stCondLst>
                            <p:childTnLst>
                              <p:par>
                                <p:cTn id="70" presetID="2" presetClass="entr" presetSubtype="4"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ppt_x"/>
                                          </p:val>
                                        </p:tav>
                                        <p:tav tm="100000">
                                          <p:val>
                                            <p:strVal val="#ppt_x"/>
                                          </p:val>
                                        </p:tav>
                                      </p:tavLst>
                                    </p:anim>
                                    <p:anim calcmode="lin" valueType="num">
                                      <p:cBhvr additive="base">
                                        <p:cTn id="68" dur="500" fill="hold"/>
                                        <p:tgtEl>
                                          <p:spTgt spid="22"/>
                                        </p:tgtEl>
                                        <p:attrNameLst>
                                          <p:attrName>ppt_y</p:attrName>
                                        </p:attrNameLst>
                                      </p:cBhvr>
                                      <p:tavLst>
                                        <p:tav tm="0">
                                          <p:val>
                                            <p:strVal val="#ppt_y+0.1"/>
                                          </p:val>
                                        </p:tav>
                                        <p:tav tm="100000">
                                          <p:val>
                                            <p:strVal val="#ppt_y"/>
                                          </p:val>
                                        </p:tav>
                                      </p:tavLst>
                                    </p:anim>
                                    <p:animEffect transition="in" filter="fade">
                                      <p:cBhvr>
                                        <p:cTn id="69" dur="500"/>
                                        <p:tgtEl>
                                          <p:spTgt spid="22"/>
                                        </p:tgtEl>
                                      </p:cBhvr>
                                    </p:animEffect>
                                  </p:childTnLst>
                                </p:cTn>
                              </p:par>
                              <p:par>
                                <p:cTn id="75" presetID="2" presetClass="entr" presetSubtype="4"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500" fill="hold"/>
                                        <p:tgtEl>
                                          <p:spTgt spid="23"/>
                                        </p:tgtEl>
                                        <p:attrNameLst>
                                          <p:attrName>ppt_x</p:attrName>
                                        </p:attrNameLst>
                                      </p:cBhvr>
                                      <p:tavLst>
                                        <p:tav tm="0">
                                          <p:val>
                                            <p:strVal val="#ppt_x"/>
                                          </p:val>
                                        </p:tav>
                                        <p:tav tm="100000">
                                          <p:val>
                                            <p:strVal val="#ppt_x"/>
                                          </p:val>
                                        </p:tav>
                                      </p:tavLst>
                                    </p:anim>
                                    <p:anim calcmode="lin" valueType="num">
                                      <p:cBhvr additive="base">
                                        <p:cTn id="73" dur="500" fill="hold"/>
                                        <p:tgtEl>
                                          <p:spTgt spid="23"/>
                                        </p:tgtEl>
                                        <p:attrNameLst>
                                          <p:attrName>ppt_y</p:attrName>
                                        </p:attrNameLst>
                                      </p:cBhvr>
                                      <p:tavLst>
                                        <p:tav tm="0">
                                          <p:val>
                                            <p:strVal val="#ppt_y+0.1"/>
                                          </p:val>
                                        </p:tav>
                                        <p:tav tm="100000">
                                          <p:val>
                                            <p:strVal val="#ppt_y"/>
                                          </p:val>
                                        </p:tav>
                                      </p:tavLst>
                                    </p:anim>
                                    <p:animEffect transition="in" filter="fade">
                                      <p:cBhvr>
                                        <p:cTn id="74" dur="500"/>
                                        <p:tgtEl>
                                          <p:spTgt spid="23"/>
                                        </p:tgtEl>
                                      </p:cBhvr>
                                    </p:animEffect>
                                  </p:childTnLst>
                                </p:cTn>
                              </p:par>
                              <p:par>
                                <p:cTn id="80" presetID="2" presetClass="entr" presetSubtype="4"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500" fill="hold"/>
                                        <p:tgtEl>
                                          <p:spTgt spid="24"/>
                                        </p:tgtEl>
                                        <p:attrNameLst>
                                          <p:attrName>ppt_x</p:attrName>
                                        </p:attrNameLst>
                                      </p:cBhvr>
                                      <p:tavLst>
                                        <p:tav tm="0">
                                          <p:val>
                                            <p:strVal val="#ppt_x"/>
                                          </p:val>
                                        </p:tav>
                                        <p:tav tm="100000">
                                          <p:val>
                                            <p:strVal val="#ppt_x"/>
                                          </p:val>
                                        </p:tav>
                                      </p:tavLst>
                                    </p:anim>
                                    <p:anim calcmode="lin" valueType="num">
                                      <p:cBhvr additive="base">
                                        <p:cTn id="78" dur="500" fill="hold"/>
                                        <p:tgtEl>
                                          <p:spTgt spid="24"/>
                                        </p:tgtEl>
                                        <p:attrNameLst>
                                          <p:attrName>ppt_y</p:attrName>
                                        </p:attrNameLst>
                                      </p:cBhvr>
                                      <p:tavLst>
                                        <p:tav tm="0">
                                          <p:val>
                                            <p:strVal val="#ppt_y+0.1"/>
                                          </p:val>
                                        </p:tav>
                                        <p:tav tm="100000">
                                          <p:val>
                                            <p:strVal val="#ppt_y"/>
                                          </p:val>
                                        </p:tav>
                                      </p:tavLst>
                                    </p:anim>
                                    <p:animEffect transition="in" filter="fade">
                                      <p:cBhvr>
                                        <p:cTn id="79" dur="500"/>
                                        <p:tgtEl>
                                          <p:spTgt spid="24"/>
                                        </p:tgtEl>
                                      </p:cBhvr>
                                    </p:animEffect>
                                  </p:childTnLst>
                                </p:cTn>
                              </p:par>
                              <p:par>
                                <p:cTn id="85" presetID="2" presetClass="entr" presetSubtype="4" fill="hold" grpId="0" nodeType="withEffect">
                                  <p:stCondLst>
                                    <p:cond delay="6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ppt_y+0.1"/>
                                          </p:val>
                                        </p:tav>
                                        <p:tav tm="100000">
                                          <p:val>
                                            <p:strVal val="#ppt_y"/>
                                          </p:val>
                                        </p:tav>
                                      </p:tavLst>
                                    </p:anim>
                                    <p:animEffect transition="in" filter="fade">
                                      <p:cBhvr>
                                        <p:cTn id="84" dur="500"/>
                                        <p:tgtEl>
                                          <p:spTgt spid="25"/>
                                        </p:tgtEl>
                                      </p:cBhvr>
                                    </p:animEffect>
                                  </p:childTnLst>
                                </p:cTn>
                              </p:par>
                            </p:childTnLst>
                          </p:cTn>
                        </p:par>
                      </p:childTnLst>
                    </p:cTn>
                  </p:par>
                  <p:par>
                    <p:cTn id="86" fill="hold">
                      <p:stCondLst>
                        <p:cond delay="indefinite"/>
                      </p:stCondLst>
                      <p:childTnLst>
                        <p:par>
                          <p:cTn id="87" fill="hold">
                            <p:stCondLst>
                              <p:cond delay="0"/>
                            </p:stCondLst>
                            <p:childTnLst>
                              <p:par>
                                <p:cTn id="92" presetID="2" presetClass="entr" presetSubtype="4" fill="hold" grpId="0" nodeType="clickEffect">
                                  <p:stCondLst>
                                    <p:cond delay="0"/>
                                  </p:stCondLst>
                                  <p:childTnLst>
                                    <p:set>
                                      <p:cBhvr>
                                        <p:cTn id="88" dur="1" fill="hold">
                                          <p:stCondLst>
                                            <p:cond delay="0"/>
                                          </p:stCondLst>
                                        </p:cTn>
                                        <p:tgtEl>
                                          <p:spTgt spid="26"/>
                                        </p:tgtEl>
                                        <p:attrNameLst>
                                          <p:attrName>style.visibility</p:attrName>
                                        </p:attrNameLst>
                                      </p:cBhvr>
                                      <p:to>
                                        <p:strVal val="visible"/>
                                      </p:to>
                                    </p:set>
                                    <p:anim calcmode="lin" valueType="num">
                                      <p:cBhvr additive="base">
                                        <p:cTn id="89" dur="500" fill="hold"/>
                                        <p:tgtEl>
                                          <p:spTgt spid="26"/>
                                        </p:tgtEl>
                                        <p:attrNameLst>
                                          <p:attrName>ppt_x</p:attrName>
                                        </p:attrNameLst>
                                      </p:cBhvr>
                                      <p:tavLst>
                                        <p:tav tm="0">
                                          <p:val>
                                            <p:strVal val="#ppt_x"/>
                                          </p:val>
                                        </p:tav>
                                        <p:tav tm="100000">
                                          <p:val>
                                            <p:strVal val="#ppt_x"/>
                                          </p:val>
                                        </p:tav>
                                      </p:tavLst>
                                    </p:anim>
                                    <p:anim calcmode="lin" valueType="num">
                                      <p:cBhvr additive="base">
                                        <p:cTn id="90" dur="500" fill="hold"/>
                                        <p:tgtEl>
                                          <p:spTgt spid="26"/>
                                        </p:tgtEl>
                                        <p:attrNameLst>
                                          <p:attrName>ppt_y</p:attrName>
                                        </p:attrNameLst>
                                      </p:cBhvr>
                                      <p:tavLst>
                                        <p:tav tm="0">
                                          <p:val>
                                            <p:strVal val="#ppt_y+0.1"/>
                                          </p:val>
                                        </p:tav>
                                        <p:tav tm="100000">
                                          <p:val>
                                            <p:strVal val="#ppt_y"/>
                                          </p:val>
                                        </p:tav>
                                      </p:tavLst>
                                    </p:anim>
                                    <p:animEffect transition="in" filter="fade">
                                      <p:cBhvr>
                                        <p:cTn id="91" dur="500"/>
                                        <p:tgtEl>
                                          <p:spTgt spid="26"/>
                                        </p:tgtEl>
                                      </p:cBhvr>
                                    </p:animEffect>
                                  </p:childTnLst>
                                </p:cTn>
                              </p:par>
                              <p:par>
                                <p:cTn id="97" presetID="2" presetClass="entr" presetSubtype="4" fill="hold" grpId="0" nodeType="withEffect">
                                  <p:stCondLst>
                                    <p:cond delay="0"/>
                                  </p:stCondLst>
                                  <p:childTnLst>
                                    <p:set>
                                      <p:cBhvr>
                                        <p:cTn id="93" dur="1" fill="hold">
                                          <p:stCondLst>
                                            <p:cond delay="0"/>
                                          </p:stCondLst>
                                        </p:cTn>
                                        <p:tgtEl>
                                          <p:spTgt spid="27"/>
                                        </p:tgtEl>
                                        <p:attrNameLst>
                                          <p:attrName>style.visibility</p:attrName>
                                        </p:attrNameLst>
                                      </p:cBhvr>
                                      <p:to>
                                        <p:strVal val="visible"/>
                                      </p:to>
                                    </p:set>
                                    <p:anim calcmode="lin" valueType="num">
                                      <p:cBhvr additive="base">
                                        <p:cTn id="94" dur="500" fill="hold"/>
                                        <p:tgtEl>
                                          <p:spTgt spid="27"/>
                                        </p:tgtEl>
                                        <p:attrNameLst>
                                          <p:attrName>ppt_x</p:attrName>
                                        </p:attrNameLst>
                                      </p:cBhvr>
                                      <p:tavLst>
                                        <p:tav tm="0">
                                          <p:val>
                                            <p:strVal val="#ppt_x"/>
                                          </p:val>
                                        </p:tav>
                                        <p:tav tm="100000">
                                          <p:val>
                                            <p:strVal val="#ppt_x"/>
                                          </p:val>
                                        </p:tav>
                                      </p:tavLst>
                                    </p:anim>
                                    <p:anim calcmode="lin" valueType="num">
                                      <p:cBhvr additive="base">
                                        <p:cTn id="95" dur="500" fill="hold"/>
                                        <p:tgtEl>
                                          <p:spTgt spid="27"/>
                                        </p:tgtEl>
                                        <p:attrNameLst>
                                          <p:attrName>ppt_y</p:attrName>
                                        </p:attrNameLst>
                                      </p:cBhvr>
                                      <p:tavLst>
                                        <p:tav tm="0">
                                          <p:val>
                                            <p:strVal val="#ppt_y+0.1"/>
                                          </p:val>
                                        </p:tav>
                                        <p:tav tm="100000">
                                          <p:val>
                                            <p:strVal val="#ppt_y"/>
                                          </p:val>
                                        </p:tav>
                                      </p:tavLst>
                                    </p:anim>
                                    <p:animEffect transition="in" filter="fade">
                                      <p:cBhvr>
                                        <p:cTn id="96" dur="500"/>
                                        <p:tgtEl>
                                          <p:spTgt spid="27"/>
                                        </p:tgtEl>
                                      </p:cBhvr>
                                    </p:animEffect>
                                  </p:childTnLst>
                                </p:cTn>
                              </p:par>
                              <p:par>
                                <p:cTn id="102" presetID="2" presetClass="entr" presetSubtype="4" fill="hold" grpId="0" nodeType="withEffect">
                                  <p:stCondLst>
                                    <p:cond delay="0"/>
                                  </p:stCondLst>
                                  <p:childTnLst>
                                    <p:set>
                                      <p:cBhvr>
                                        <p:cTn id="98" dur="1" fill="hold">
                                          <p:stCondLst>
                                            <p:cond delay="0"/>
                                          </p:stCondLst>
                                        </p:cTn>
                                        <p:tgtEl>
                                          <p:spTgt spid="28"/>
                                        </p:tgtEl>
                                        <p:attrNameLst>
                                          <p:attrName>style.visibility</p:attrName>
                                        </p:attrNameLst>
                                      </p:cBhvr>
                                      <p:to>
                                        <p:strVal val="visible"/>
                                      </p:to>
                                    </p:set>
                                    <p:anim calcmode="lin" valueType="num">
                                      <p:cBhvr additive="base">
                                        <p:cTn id="99" dur="500" fill="hold"/>
                                        <p:tgtEl>
                                          <p:spTgt spid="28"/>
                                        </p:tgtEl>
                                        <p:attrNameLst>
                                          <p:attrName>ppt_x</p:attrName>
                                        </p:attrNameLst>
                                      </p:cBhvr>
                                      <p:tavLst>
                                        <p:tav tm="0">
                                          <p:val>
                                            <p:strVal val="#ppt_x"/>
                                          </p:val>
                                        </p:tav>
                                        <p:tav tm="100000">
                                          <p:val>
                                            <p:strVal val="#ppt_x"/>
                                          </p:val>
                                        </p:tav>
                                      </p:tavLst>
                                    </p:anim>
                                    <p:anim calcmode="lin" valueType="num">
                                      <p:cBhvr additive="base">
                                        <p:cTn id="100" dur="500" fill="hold"/>
                                        <p:tgtEl>
                                          <p:spTgt spid="28"/>
                                        </p:tgtEl>
                                        <p:attrNameLst>
                                          <p:attrName>ppt_y</p:attrName>
                                        </p:attrNameLst>
                                      </p:cBhvr>
                                      <p:tavLst>
                                        <p:tav tm="0">
                                          <p:val>
                                            <p:strVal val="#ppt_y+0.1"/>
                                          </p:val>
                                        </p:tav>
                                        <p:tav tm="100000">
                                          <p:val>
                                            <p:strVal val="#ppt_y"/>
                                          </p:val>
                                        </p:tav>
                                      </p:tavLst>
                                    </p:anim>
                                    <p:animEffect transition="in" filter="fade">
                                      <p:cBhvr>
                                        <p:cTn id="101" dur="500"/>
                                        <p:tgtEl>
                                          <p:spTgt spid="28"/>
                                        </p:tgtEl>
                                      </p:cBhvr>
                                    </p:animEffect>
                                  </p:childTnLst>
                                </p:cTn>
                              </p:par>
                              <p:par>
                                <p:cTn id="107" presetID="2" presetClass="entr" presetSubtype="4" fill="hold" grpId="0" nodeType="withEffect">
                                  <p:stCondLst>
                                    <p:cond delay="60"/>
                                  </p:stCondLst>
                                  <p:childTnLst>
                                    <p:set>
                                      <p:cBhvr>
                                        <p:cTn id="103" dur="1" fill="hold">
                                          <p:stCondLst>
                                            <p:cond delay="0"/>
                                          </p:stCondLst>
                                        </p:cTn>
                                        <p:tgtEl>
                                          <p:spTgt spid="29"/>
                                        </p:tgtEl>
                                        <p:attrNameLst>
                                          <p:attrName>style.visibility</p:attrName>
                                        </p:attrNameLst>
                                      </p:cBhvr>
                                      <p:to>
                                        <p:strVal val="visible"/>
                                      </p:to>
                                    </p:set>
                                    <p:anim calcmode="lin" valueType="num">
                                      <p:cBhvr additive="base">
                                        <p:cTn id="104" dur="500" fill="hold"/>
                                        <p:tgtEl>
                                          <p:spTgt spid="29"/>
                                        </p:tgtEl>
                                        <p:attrNameLst>
                                          <p:attrName>ppt_x</p:attrName>
                                        </p:attrNameLst>
                                      </p:cBhvr>
                                      <p:tavLst>
                                        <p:tav tm="0">
                                          <p:val>
                                            <p:strVal val="#ppt_x"/>
                                          </p:val>
                                        </p:tav>
                                        <p:tav tm="100000">
                                          <p:val>
                                            <p:strVal val="#ppt_x"/>
                                          </p:val>
                                        </p:tav>
                                      </p:tavLst>
                                    </p:anim>
                                    <p:anim calcmode="lin" valueType="num">
                                      <p:cBhvr additive="base">
                                        <p:cTn id="105" dur="500" fill="hold"/>
                                        <p:tgtEl>
                                          <p:spTgt spid="29"/>
                                        </p:tgtEl>
                                        <p:attrNameLst>
                                          <p:attrName>ppt_y</p:attrName>
                                        </p:attrNameLst>
                                      </p:cBhvr>
                                      <p:tavLst>
                                        <p:tav tm="0">
                                          <p:val>
                                            <p:strVal val="#ppt_y+0.1"/>
                                          </p:val>
                                        </p:tav>
                                        <p:tav tm="100000">
                                          <p:val>
                                            <p:strVal val="#ppt_y"/>
                                          </p:val>
                                        </p:tav>
                                      </p:tavLst>
                                    </p:anim>
                                    <p:animEffect transition="in" filter="fade">
                                      <p:cBhvr>
                                        <p:cTn id="106" dur="500"/>
                                        <p:tgtEl>
                                          <p:spTgt spid="29"/>
                                        </p:tgtEl>
                                      </p:cBhvr>
                                    </p:animEffect>
                                  </p:childTnLst>
                                </p:cTn>
                              </p:par>
                            </p:childTnLst>
                          </p:cTn>
                        </p:par>
                      </p:childTnLst>
                    </p:cTn>
                  </p:par>
                  <p:par>
                    <p:cTn id="108" fill="hold">
                      <p:stCondLst>
                        <p:cond delay="indefinite"/>
                      </p:stCondLst>
                      <p:childTnLst>
                        <p:par>
                          <p:cTn id="109" fill="hold">
                            <p:stCondLst>
                              <p:cond delay="0"/>
                            </p:stCondLst>
                            <p:childTnLst>
                              <p:par>
                                <p:cTn id="114" presetID="2" presetClass="entr" presetSubtype="4" fill="hold" grpId="0" nodeType="clickEffect">
                                  <p:stCondLst>
                                    <p:cond delay="0"/>
                                  </p:stCondLst>
                                  <p:childTnLst>
                                    <p:set>
                                      <p:cBhvr>
                                        <p:cTn id="110" dur="1" fill="hold">
                                          <p:stCondLst>
                                            <p:cond delay="0"/>
                                          </p:stCondLst>
                                        </p:cTn>
                                        <p:tgtEl>
                                          <p:spTgt spid="30"/>
                                        </p:tgtEl>
                                        <p:attrNameLst>
                                          <p:attrName>style.visibility</p:attrName>
                                        </p:attrNameLst>
                                      </p:cBhvr>
                                      <p:to>
                                        <p:strVal val="visible"/>
                                      </p:to>
                                    </p:set>
                                    <p:anim calcmode="lin" valueType="num">
                                      <p:cBhvr additive="base">
                                        <p:cTn id="111" dur="500" fill="hold"/>
                                        <p:tgtEl>
                                          <p:spTgt spid="30"/>
                                        </p:tgtEl>
                                        <p:attrNameLst>
                                          <p:attrName>ppt_x</p:attrName>
                                        </p:attrNameLst>
                                      </p:cBhvr>
                                      <p:tavLst>
                                        <p:tav tm="0">
                                          <p:val>
                                            <p:strVal val="#ppt_x"/>
                                          </p:val>
                                        </p:tav>
                                        <p:tav tm="100000">
                                          <p:val>
                                            <p:strVal val="#ppt_x"/>
                                          </p:val>
                                        </p:tav>
                                      </p:tavLst>
                                    </p:anim>
                                    <p:anim calcmode="lin" valueType="num">
                                      <p:cBhvr additive="base">
                                        <p:cTn id="112" dur="500" fill="hold"/>
                                        <p:tgtEl>
                                          <p:spTgt spid="30"/>
                                        </p:tgtEl>
                                        <p:attrNameLst>
                                          <p:attrName>ppt_y</p:attrName>
                                        </p:attrNameLst>
                                      </p:cBhvr>
                                      <p:tavLst>
                                        <p:tav tm="0">
                                          <p:val>
                                            <p:strVal val="#ppt_y+0.1"/>
                                          </p:val>
                                        </p:tav>
                                        <p:tav tm="100000">
                                          <p:val>
                                            <p:strVal val="#ppt_y"/>
                                          </p:val>
                                        </p:tav>
                                      </p:tavLst>
                                    </p:anim>
                                    <p:animEffect transition="in" filter="fade">
                                      <p:cBhvr>
                                        <p:cTn id="113" dur="500"/>
                                        <p:tgtEl>
                                          <p:spTgt spid="30"/>
                                        </p:tgtEl>
                                      </p:cBhvr>
                                    </p:animEffect>
                                  </p:childTnLst>
                                </p:cTn>
                              </p:par>
                              <p:par>
                                <p:cTn id="119" presetID="2" presetClass="entr" presetSubtype="4" fill="hold" grpId="0" nodeType="withEffect">
                                  <p:stCondLst>
                                    <p:cond delay="0"/>
                                  </p:stCondLst>
                                  <p:childTnLst>
                                    <p:set>
                                      <p:cBhvr>
                                        <p:cTn id="115" dur="1" fill="hold">
                                          <p:stCondLst>
                                            <p:cond delay="0"/>
                                          </p:stCondLst>
                                        </p:cTn>
                                        <p:tgtEl>
                                          <p:spTgt spid="31"/>
                                        </p:tgtEl>
                                        <p:attrNameLst>
                                          <p:attrName>style.visibility</p:attrName>
                                        </p:attrNameLst>
                                      </p:cBhvr>
                                      <p:to>
                                        <p:strVal val="visible"/>
                                      </p:to>
                                    </p:set>
                                    <p:anim calcmode="lin" valueType="num">
                                      <p:cBhvr additive="base">
                                        <p:cTn id="116" dur="500" fill="hold"/>
                                        <p:tgtEl>
                                          <p:spTgt spid="31"/>
                                        </p:tgtEl>
                                        <p:attrNameLst>
                                          <p:attrName>ppt_x</p:attrName>
                                        </p:attrNameLst>
                                      </p:cBhvr>
                                      <p:tavLst>
                                        <p:tav tm="0">
                                          <p:val>
                                            <p:strVal val="#ppt_x"/>
                                          </p:val>
                                        </p:tav>
                                        <p:tav tm="100000">
                                          <p:val>
                                            <p:strVal val="#ppt_x"/>
                                          </p:val>
                                        </p:tav>
                                      </p:tavLst>
                                    </p:anim>
                                    <p:anim calcmode="lin" valueType="num">
                                      <p:cBhvr additive="base">
                                        <p:cTn id="117" dur="500" fill="hold"/>
                                        <p:tgtEl>
                                          <p:spTgt spid="31"/>
                                        </p:tgtEl>
                                        <p:attrNameLst>
                                          <p:attrName>ppt_y</p:attrName>
                                        </p:attrNameLst>
                                      </p:cBhvr>
                                      <p:tavLst>
                                        <p:tav tm="0">
                                          <p:val>
                                            <p:strVal val="#ppt_y+0.1"/>
                                          </p:val>
                                        </p:tav>
                                        <p:tav tm="100000">
                                          <p:val>
                                            <p:strVal val="#ppt_y"/>
                                          </p:val>
                                        </p:tav>
                                      </p:tavLst>
                                    </p:anim>
                                    <p:animEffect transition="in" filter="fade">
                                      <p:cBhvr>
                                        <p:cTn id="118" dur="500"/>
                                        <p:tgtEl>
                                          <p:spTgt spid="31"/>
                                        </p:tgtEl>
                                      </p:cBhvr>
                                    </p:animEffect>
                                  </p:childTnLst>
                                </p:cTn>
                              </p:par>
                              <p:par>
                                <p:cTn id="124" presetID="2" presetClass="entr" presetSubtype="4" fill="hold" grpId="0" nodeType="withEffect">
                                  <p:stCondLst>
                                    <p:cond delay="0"/>
                                  </p:stCondLst>
                                  <p:childTnLst>
                                    <p:set>
                                      <p:cBhvr>
                                        <p:cTn id="120" dur="1" fill="hold">
                                          <p:stCondLst>
                                            <p:cond delay="0"/>
                                          </p:stCondLst>
                                        </p:cTn>
                                        <p:tgtEl>
                                          <p:spTgt spid="32"/>
                                        </p:tgtEl>
                                        <p:attrNameLst>
                                          <p:attrName>style.visibility</p:attrName>
                                        </p:attrNameLst>
                                      </p:cBhvr>
                                      <p:to>
                                        <p:strVal val="visible"/>
                                      </p:to>
                                    </p:set>
                                    <p:anim calcmode="lin" valueType="num">
                                      <p:cBhvr additive="base">
                                        <p:cTn id="121" dur="500" fill="hold"/>
                                        <p:tgtEl>
                                          <p:spTgt spid="32"/>
                                        </p:tgtEl>
                                        <p:attrNameLst>
                                          <p:attrName>ppt_x</p:attrName>
                                        </p:attrNameLst>
                                      </p:cBhvr>
                                      <p:tavLst>
                                        <p:tav tm="0">
                                          <p:val>
                                            <p:strVal val="#ppt_x"/>
                                          </p:val>
                                        </p:tav>
                                        <p:tav tm="100000">
                                          <p:val>
                                            <p:strVal val="#ppt_x"/>
                                          </p:val>
                                        </p:tav>
                                      </p:tavLst>
                                    </p:anim>
                                    <p:anim calcmode="lin" valueType="num">
                                      <p:cBhvr additive="base">
                                        <p:cTn id="122" dur="500" fill="hold"/>
                                        <p:tgtEl>
                                          <p:spTgt spid="32"/>
                                        </p:tgtEl>
                                        <p:attrNameLst>
                                          <p:attrName>ppt_y</p:attrName>
                                        </p:attrNameLst>
                                      </p:cBhvr>
                                      <p:tavLst>
                                        <p:tav tm="0">
                                          <p:val>
                                            <p:strVal val="#ppt_y+0.1"/>
                                          </p:val>
                                        </p:tav>
                                        <p:tav tm="100000">
                                          <p:val>
                                            <p:strVal val="#ppt_y"/>
                                          </p:val>
                                        </p:tav>
                                      </p:tavLst>
                                    </p:anim>
                                    <p:animEffect transition="in" filter="fade">
                                      <p:cBhvr>
                                        <p:cTn id="123" dur="500"/>
                                        <p:tgtEl>
                                          <p:spTgt spid="32"/>
                                        </p:tgtEl>
                                      </p:cBhvr>
                                    </p:animEffect>
                                  </p:childTnLst>
                                </p:cTn>
                              </p:par>
                              <p:par>
                                <p:cTn id="129" presetID="2" presetClass="entr" presetSubtype="4" fill="hold" grpId="0" nodeType="withEffect">
                                  <p:stCondLst>
                                    <p:cond delay="60"/>
                                  </p:stCondLst>
                                  <p:childTnLst>
                                    <p:set>
                                      <p:cBhvr>
                                        <p:cTn id="125" dur="1" fill="hold">
                                          <p:stCondLst>
                                            <p:cond delay="0"/>
                                          </p:stCondLst>
                                        </p:cTn>
                                        <p:tgtEl>
                                          <p:spTgt spid="33"/>
                                        </p:tgtEl>
                                        <p:attrNameLst>
                                          <p:attrName>style.visibility</p:attrName>
                                        </p:attrNameLst>
                                      </p:cBhvr>
                                      <p:to>
                                        <p:strVal val="visible"/>
                                      </p:to>
                                    </p:set>
                                    <p:anim calcmode="lin" valueType="num">
                                      <p:cBhvr additive="base">
                                        <p:cTn id="126" dur="500" fill="hold"/>
                                        <p:tgtEl>
                                          <p:spTgt spid="33"/>
                                        </p:tgtEl>
                                        <p:attrNameLst>
                                          <p:attrName>ppt_x</p:attrName>
                                        </p:attrNameLst>
                                      </p:cBhvr>
                                      <p:tavLst>
                                        <p:tav tm="0">
                                          <p:val>
                                            <p:strVal val="#ppt_x"/>
                                          </p:val>
                                        </p:tav>
                                        <p:tav tm="100000">
                                          <p:val>
                                            <p:strVal val="#ppt_x"/>
                                          </p:val>
                                        </p:tav>
                                      </p:tavLst>
                                    </p:anim>
                                    <p:anim calcmode="lin" valueType="num">
                                      <p:cBhvr additive="base">
                                        <p:cTn id="127" dur="500" fill="hold"/>
                                        <p:tgtEl>
                                          <p:spTgt spid="33"/>
                                        </p:tgtEl>
                                        <p:attrNameLst>
                                          <p:attrName>ppt_y</p:attrName>
                                        </p:attrNameLst>
                                      </p:cBhvr>
                                      <p:tavLst>
                                        <p:tav tm="0">
                                          <p:val>
                                            <p:strVal val="#ppt_y+0.1"/>
                                          </p:val>
                                        </p:tav>
                                        <p:tav tm="100000">
                                          <p:val>
                                            <p:strVal val="#ppt_y"/>
                                          </p:val>
                                        </p:tav>
                                      </p:tavLst>
                                    </p:anim>
                                    <p:animEffect transition="in" filter="fade">
                                      <p:cBhvr>
                                        <p:cTn id="128" dur="500"/>
                                        <p:tgtEl>
                                          <p:spTgt spid="33"/>
                                        </p:tgtEl>
                                      </p:cBhvr>
                                    </p:animEffect>
                                  </p:childTnLst>
                                </p:cTn>
                              </p:par>
                            </p:childTnLst>
                          </p:cTn>
                        </p:par>
                      </p:childTnLst>
                    </p:cTn>
                  </p:par>
                  <p:par>
                    <p:cTn id="130" fill="hold">
                      <p:stCondLst>
                        <p:cond delay="indefinite"/>
                      </p:stCondLst>
                      <p:childTnLst>
                        <p:par>
                          <p:cTn id="131" fill="hold">
                            <p:stCondLst>
                              <p:cond delay="0"/>
                            </p:stCondLst>
                            <p:childTnLst>
                              <p:par>
                                <p:cTn id="136" presetID="2" presetClass="entr" presetSubtype="4" fill="hold" grpId="0" nodeType="clickEffect">
                                  <p:stCondLst>
                                    <p:cond delay="0"/>
                                  </p:stCondLst>
                                  <p:childTnLst>
                                    <p:set>
                                      <p:cBhvr>
                                        <p:cTn id="132" dur="1" fill="hold">
                                          <p:stCondLst>
                                            <p:cond delay="0"/>
                                          </p:stCondLst>
                                        </p:cTn>
                                        <p:tgtEl>
                                          <p:spTgt spid="34"/>
                                        </p:tgtEl>
                                        <p:attrNameLst>
                                          <p:attrName>style.visibility</p:attrName>
                                        </p:attrNameLst>
                                      </p:cBhvr>
                                      <p:to>
                                        <p:strVal val="visible"/>
                                      </p:to>
                                    </p:set>
                                    <p:anim calcmode="lin" valueType="num">
                                      <p:cBhvr additive="base">
                                        <p:cTn id="133" dur="500" fill="hold"/>
                                        <p:tgtEl>
                                          <p:spTgt spid="34"/>
                                        </p:tgtEl>
                                        <p:attrNameLst>
                                          <p:attrName>ppt_x</p:attrName>
                                        </p:attrNameLst>
                                      </p:cBhvr>
                                      <p:tavLst>
                                        <p:tav tm="0">
                                          <p:val>
                                            <p:strVal val="#ppt_x"/>
                                          </p:val>
                                        </p:tav>
                                        <p:tav tm="100000">
                                          <p:val>
                                            <p:strVal val="#ppt_x"/>
                                          </p:val>
                                        </p:tav>
                                      </p:tavLst>
                                    </p:anim>
                                    <p:anim calcmode="lin" valueType="num">
                                      <p:cBhvr additive="base">
                                        <p:cTn id="134" dur="500" fill="hold"/>
                                        <p:tgtEl>
                                          <p:spTgt spid="34"/>
                                        </p:tgtEl>
                                        <p:attrNameLst>
                                          <p:attrName>ppt_y</p:attrName>
                                        </p:attrNameLst>
                                      </p:cBhvr>
                                      <p:tavLst>
                                        <p:tav tm="0">
                                          <p:val>
                                            <p:strVal val="#ppt_y+0.1"/>
                                          </p:val>
                                        </p:tav>
                                        <p:tav tm="100000">
                                          <p:val>
                                            <p:strVal val="#ppt_y"/>
                                          </p:val>
                                        </p:tav>
                                      </p:tavLst>
                                    </p:anim>
                                    <p:animEffect transition="in" filter="fade">
                                      <p:cBhvr>
                                        <p:cTn id="135" dur="500"/>
                                        <p:tgtEl>
                                          <p:spTgt spid="34"/>
                                        </p:tgtEl>
                                      </p:cBhvr>
                                    </p:animEffect>
                                  </p:childTnLst>
                                </p:cTn>
                              </p:par>
                              <p:par>
                                <p:cTn id="141" presetID="2" presetClass="entr" presetSubtype="4" fill="hold" grpId="0" nodeType="withEffect">
                                  <p:stCondLst>
                                    <p:cond delay="0"/>
                                  </p:stCondLst>
                                  <p:childTnLst>
                                    <p:set>
                                      <p:cBhvr>
                                        <p:cTn id="137" dur="1" fill="hold">
                                          <p:stCondLst>
                                            <p:cond delay="0"/>
                                          </p:stCondLst>
                                        </p:cTn>
                                        <p:tgtEl>
                                          <p:spTgt spid="35"/>
                                        </p:tgtEl>
                                        <p:attrNameLst>
                                          <p:attrName>style.visibility</p:attrName>
                                        </p:attrNameLst>
                                      </p:cBhvr>
                                      <p:to>
                                        <p:strVal val="visible"/>
                                      </p:to>
                                    </p:set>
                                    <p:anim calcmode="lin" valueType="num">
                                      <p:cBhvr additive="base">
                                        <p:cTn id="138" dur="500" fill="hold"/>
                                        <p:tgtEl>
                                          <p:spTgt spid="35"/>
                                        </p:tgtEl>
                                        <p:attrNameLst>
                                          <p:attrName>ppt_x</p:attrName>
                                        </p:attrNameLst>
                                      </p:cBhvr>
                                      <p:tavLst>
                                        <p:tav tm="0">
                                          <p:val>
                                            <p:strVal val="#ppt_x"/>
                                          </p:val>
                                        </p:tav>
                                        <p:tav tm="100000">
                                          <p:val>
                                            <p:strVal val="#ppt_x"/>
                                          </p:val>
                                        </p:tav>
                                      </p:tavLst>
                                    </p:anim>
                                    <p:anim calcmode="lin" valueType="num">
                                      <p:cBhvr additive="base">
                                        <p:cTn id="139" dur="500" fill="hold"/>
                                        <p:tgtEl>
                                          <p:spTgt spid="35"/>
                                        </p:tgtEl>
                                        <p:attrNameLst>
                                          <p:attrName>ppt_y</p:attrName>
                                        </p:attrNameLst>
                                      </p:cBhvr>
                                      <p:tavLst>
                                        <p:tav tm="0">
                                          <p:val>
                                            <p:strVal val="#ppt_y+0.1"/>
                                          </p:val>
                                        </p:tav>
                                        <p:tav tm="100000">
                                          <p:val>
                                            <p:strVal val="#ppt_y"/>
                                          </p:val>
                                        </p:tav>
                                      </p:tavLst>
                                    </p:anim>
                                    <p:animEffect transition="in" filter="fade">
                                      <p:cBhvr>
                                        <p:cTn id="140" dur="500"/>
                                        <p:tgtEl>
                                          <p:spTgt spid="35"/>
                                        </p:tgtEl>
                                      </p:cBhvr>
                                    </p:animEffect>
                                  </p:childTnLst>
                                </p:cTn>
                              </p:par>
                              <p:par>
                                <p:cTn id="146" presetID="2" presetClass="entr" presetSubtype="4" fill="hold" grpId="0" nodeType="withEffect">
                                  <p:stCondLst>
                                    <p:cond delay="0"/>
                                  </p:stCondLst>
                                  <p:childTnLst>
                                    <p:set>
                                      <p:cBhvr>
                                        <p:cTn id="142" dur="1" fill="hold">
                                          <p:stCondLst>
                                            <p:cond delay="0"/>
                                          </p:stCondLst>
                                        </p:cTn>
                                        <p:tgtEl>
                                          <p:spTgt spid="36"/>
                                        </p:tgtEl>
                                        <p:attrNameLst>
                                          <p:attrName>style.visibility</p:attrName>
                                        </p:attrNameLst>
                                      </p:cBhvr>
                                      <p:to>
                                        <p:strVal val="visible"/>
                                      </p:to>
                                    </p:set>
                                    <p:anim calcmode="lin" valueType="num">
                                      <p:cBhvr additive="base">
                                        <p:cTn id="143" dur="500" fill="hold"/>
                                        <p:tgtEl>
                                          <p:spTgt spid="36"/>
                                        </p:tgtEl>
                                        <p:attrNameLst>
                                          <p:attrName>ppt_x</p:attrName>
                                        </p:attrNameLst>
                                      </p:cBhvr>
                                      <p:tavLst>
                                        <p:tav tm="0">
                                          <p:val>
                                            <p:strVal val="#ppt_x"/>
                                          </p:val>
                                        </p:tav>
                                        <p:tav tm="100000">
                                          <p:val>
                                            <p:strVal val="#ppt_x"/>
                                          </p:val>
                                        </p:tav>
                                      </p:tavLst>
                                    </p:anim>
                                    <p:anim calcmode="lin" valueType="num">
                                      <p:cBhvr additive="base">
                                        <p:cTn id="144" dur="500" fill="hold"/>
                                        <p:tgtEl>
                                          <p:spTgt spid="36"/>
                                        </p:tgtEl>
                                        <p:attrNameLst>
                                          <p:attrName>ppt_y</p:attrName>
                                        </p:attrNameLst>
                                      </p:cBhvr>
                                      <p:tavLst>
                                        <p:tav tm="0">
                                          <p:val>
                                            <p:strVal val="#ppt_y+0.1"/>
                                          </p:val>
                                        </p:tav>
                                        <p:tav tm="100000">
                                          <p:val>
                                            <p:strVal val="#ppt_y"/>
                                          </p:val>
                                        </p:tav>
                                      </p:tavLst>
                                    </p:anim>
                                    <p:animEffect transition="in" filter="fade">
                                      <p:cBhvr>
                                        <p:cTn id="145" dur="500"/>
                                        <p:tgtEl>
                                          <p:spTgt spid="36"/>
                                        </p:tgtEl>
                                      </p:cBhvr>
                                    </p:animEffect>
                                  </p:childTnLst>
                                </p:cTn>
                              </p:par>
                              <p:par>
                                <p:cTn id="151" presetID="2" presetClass="entr" presetSubtype="4" fill="hold" grpId="0" nodeType="withEffect">
                                  <p:stCondLst>
                                    <p:cond delay="60"/>
                                  </p:stCondLst>
                                  <p:childTnLst>
                                    <p:set>
                                      <p:cBhvr>
                                        <p:cTn id="147" dur="1" fill="hold">
                                          <p:stCondLst>
                                            <p:cond delay="0"/>
                                          </p:stCondLst>
                                        </p:cTn>
                                        <p:tgtEl>
                                          <p:spTgt spid="37"/>
                                        </p:tgtEl>
                                        <p:attrNameLst>
                                          <p:attrName>style.visibility</p:attrName>
                                        </p:attrNameLst>
                                      </p:cBhvr>
                                      <p:to>
                                        <p:strVal val="visible"/>
                                      </p:to>
                                    </p:set>
                                    <p:anim calcmode="lin" valueType="num">
                                      <p:cBhvr additive="base">
                                        <p:cTn id="148" dur="500" fill="hold"/>
                                        <p:tgtEl>
                                          <p:spTgt spid="37"/>
                                        </p:tgtEl>
                                        <p:attrNameLst>
                                          <p:attrName>ppt_x</p:attrName>
                                        </p:attrNameLst>
                                      </p:cBhvr>
                                      <p:tavLst>
                                        <p:tav tm="0">
                                          <p:val>
                                            <p:strVal val="#ppt_x"/>
                                          </p:val>
                                        </p:tav>
                                        <p:tav tm="100000">
                                          <p:val>
                                            <p:strVal val="#ppt_x"/>
                                          </p:val>
                                        </p:tav>
                                      </p:tavLst>
                                    </p:anim>
                                    <p:anim calcmode="lin" valueType="num">
                                      <p:cBhvr additive="base">
                                        <p:cTn id="149" dur="500" fill="hold"/>
                                        <p:tgtEl>
                                          <p:spTgt spid="37"/>
                                        </p:tgtEl>
                                        <p:attrNameLst>
                                          <p:attrName>ppt_y</p:attrName>
                                        </p:attrNameLst>
                                      </p:cBhvr>
                                      <p:tavLst>
                                        <p:tav tm="0">
                                          <p:val>
                                            <p:strVal val="#ppt_y+0.1"/>
                                          </p:val>
                                        </p:tav>
                                        <p:tav tm="100000">
                                          <p:val>
                                            <p:strVal val="#ppt_y"/>
                                          </p:val>
                                        </p:tav>
                                      </p:tavLst>
                                    </p:anim>
                                    <p:animEffect transition="in" filter="fade">
                                      <p:cBhvr>
                                        <p:cTn id="15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Kafka in the Real World</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From one company's data problem to the backbone of modern data systems</a:t>
            </a:r>
          </a:p>
        </p:txBody>
      </p:sp>
      <p:sp>
        <p:nvSpPr>
          <p:cNvPr id="11" name="a1u_card10"/>
          <p:cNvSpPr/>
          <p:nvPr/>
        </p:nvSpPr>
        <p:spPr>
          <a:xfrm>
            <a:off x="457200" y="1280160"/>
            <a:ext cx="2615184" cy="1691640"/>
          </a:xfrm>
          <a:prstGeom prst="roundRect">
            <a:avLst>
              <a:gd name="adj" fmla="val 648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2615184"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big12"/>
          <p:cNvSpPr txBox="1"/>
          <p:nvPr/>
        </p:nvSpPr>
        <p:spPr>
          <a:xfrm>
            <a:off x="594360" y="1417320"/>
            <a:ext cx="2340864" cy="566928"/>
          </a:xfrm>
          <a:prstGeom prst="rect">
            <a:avLst/>
          </a:prstGeom>
          <a:noFill/>
        </p:spPr>
        <p:txBody>
          <a:bodyPr wrap="square" lIns="0" tIns="0" rIns="0" bIns="0" anchor="ctr">
            <a:spAutoFit/>
          </a:bodyPr>
          <a:lstStyle/>
          <a:p>
            <a:pPr algn="ctr"/>
            <a:r>
              <a:rPr sz="2650" b="0">
                <a:solidFill>
                  <a:srgbClr val="EA580C"/>
                </a:solidFill>
                <a:latin typeface="Bahnschrift SemiBold"/>
              </a:rPr>
              <a:t>80%+</a:t>
            </a:r>
          </a:p>
        </p:txBody>
      </p:sp>
      <p:sp>
        <p:nvSpPr>
          <p:cNvPr id="14" name="a1ud100_cap13"/>
          <p:cNvSpPr txBox="1"/>
          <p:nvPr/>
        </p:nvSpPr>
        <p:spPr>
          <a:xfrm>
            <a:off x="594360" y="2011680"/>
            <a:ext cx="2340864" cy="502920"/>
          </a:xfrm>
          <a:prstGeom prst="rect">
            <a:avLst/>
          </a:prstGeom>
          <a:noFill/>
        </p:spPr>
        <p:txBody>
          <a:bodyPr wrap="square" lIns="0" tIns="0" rIns="0" bIns="0" anchor="t">
            <a:spAutoFit/>
          </a:bodyPr>
          <a:lstStyle/>
          <a:p>
            <a:pPr algn="ctr"/>
            <a:r>
              <a:rPr sz="1000" b="0">
                <a:solidFill>
                  <a:srgbClr val="1C1917"/>
                </a:solidFill>
                <a:latin typeface="Segoe UI"/>
              </a:rPr>
              <a:t>of Fortune 100 companies use Kafka</a:t>
            </a:r>
          </a:p>
        </p:txBody>
      </p:sp>
      <p:sp>
        <p:nvSpPr>
          <p:cNvPr id="15" name="a1ud100_src14"/>
          <p:cNvSpPr txBox="1"/>
          <p:nvPr/>
        </p:nvSpPr>
        <p:spPr>
          <a:xfrm>
            <a:off x="594360" y="2606040"/>
            <a:ext cx="2340864" cy="237744"/>
          </a:xfrm>
          <a:prstGeom prst="rect">
            <a:avLst/>
          </a:prstGeom>
          <a:noFill/>
        </p:spPr>
        <p:txBody>
          <a:bodyPr wrap="square" lIns="0" tIns="0" rIns="0" bIns="0" anchor="ctr">
            <a:spAutoFit/>
          </a:bodyPr>
          <a:lstStyle/>
          <a:p>
            <a:pPr algn="ctr"/>
            <a:r>
              <a:rPr sz="800" b="0">
                <a:solidFill>
                  <a:srgbClr val="78716C"/>
                </a:solidFill>
                <a:latin typeface="Segoe UI"/>
              </a:rPr>
              <a:t>kafka.apache.org</a:t>
            </a:r>
          </a:p>
        </p:txBody>
      </p:sp>
      <p:sp>
        <p:nvSpPr>
          <p:cNvPr id="16" name="a2u_card15"/>
          <p:cNvSpPr/>
          <p:nvPr/>
        </p:nvSpPr>
        <p:spPr>
          <a:xfrm>
            <a:off x="3264408" y="1280160"/>
            <a:ext cx="2615184" cy="1691640"/>
          </a:xfrm>
          <a:prstGeom prst="roundRect">
            <a:avLst>
              <a:gd name="adj" fmla="val 648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_acc16"/>
          <p:cNvSpPr/>
          <p:nvPr/>
        </p:nvSpPr>
        <p:spPr>
          <a:xfrm>
            <a:off x="3264408" y="1280160"/>
            <a:ext cx="2615184"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2u_big17"/>
          <p:cNvSpPr txBox="1"/>
          <p:nvPr/>
        </p:nvSpPr>
        <p:spPr>
          <a:xfrm>
            <a:off x="3401568" y="1417320"/>
            <a:ext cx="2340864" cy="566928"/>
          </a:xfrm>
          <a:prstGeom prst="rect">
            <a:avLst/>
          </a:prstGeom>
          <a:noFill/>
        </p:spPr>
        <p:txBody>
          <a:bodyPr wrap="square" lIns="0" tIns="0" rIns="0" bIns="0" anchor="ctr">
            <a:spAutoFit/>
          </a:bodyPr>
          <a:lstStyle/>
          <a:p>
            <a:pPr algn="ctr"/>
            <a:r>
              <a:rPr sz="2650" b="0">
                <a:solidFill>
                  <a:srgbClr val="0E7490"/>
                </a:solidFill>
                <a:latin typeface="Bahnschrift SemiBold"/>
              </a:rPr>
              <a:t>7 trillion</a:t>
            </a:r>
          </a:p>
        </p:txBody>
      </p:sp>
      <p:sp>
        <p:nvSpPr>
          <p:cNvPr id="19" name="a2ud100_cap18"/>
          <p:cNvSpPr txBox="1"/>
          <p:nvPr/>
        </p:nvSpPr>
        <p:spPr>
          <a:xfrm>
            <a:off x="3401568" y="2011680"/>
            <a:ext cx="2340864" cy="502920"/>
          </a:xfrm>
          <a:prstGeom prst="rect">
            <a:avLst/>
          </a:prstGeom>
          <a:noFill/>
        </p:spPr>
        <p:txBody>
          <a:bodyPr wrap="square" lIns="0" tIns="0" rIns="0" bIns="0" anchor="t">
            <a:spAutoFit/>
          </a:bodyPr>
          <a:lstStyle/>
          <a:p>
            <a:pPr algn="ctr"/>
            <a:r>
              <a:rPr sz="1000" b="0">
                <a:solidFill>
                  <a:srgbClr val="1C1917"/>
                </a:solidFill>
                <a:latin typeface="Segoe UI"/>
              </a:rPr>
              <a:t>messages a day at LinkedIn</a:t>
            </a:r>
          </a:p>
        </p:txBody>
      </p:sp>
      <p:sp>
        <p:nvSpPr>
          <p:cNvPr id="20" name="a2ud100_src19"/>
          <p:cNvSpPr txBox="1"/>
          <p:nvPr/>
        </p:nvSpPr>
        <p:spPr>
          <a:xfrm>
            <a:off x="3401568" y="2606040"/>
            <a:ext cx="2340864" cy="237744"/>
          </a:xfrm>
          <a:prstGeom prst="rect">
            <a:avLst/>
          </a:prstGeom>
          <a:noFill/>
        </p:spPr>
        <p:txBody>
          <a:bodyPr wrap="square" lIns="0" tIns="0" rIns="0" bIns="0" anchor="ctr">
            <a:spAutoFit/>
          </a:bodyPr>
          <a:lstStyle/>
          <a:p>
            <a:pPr algn="ctr"/>
            <a:r>
              <a:rPr sz="800" b="0">
                <a:solidFill>
                  <a:srgbClr val="78716C"/>
                </a:solidFill>
                <a:latin typeface="Segoe UI"/>
              </a:rPr>
              <a:t>LinkedIn Engineering, 2019</a:t>
            </a:r>
          </a:p>
        </p:txBody>
      </p:sp>
      <p:sp>
        <p:nvSpPr>
          <p:cNvPr id="21" name="a3u_card20"/>
          <p:cNvSpPr/>
          <p:nvPr/>
        </p:nvSpPr>
        <p:spPr>
          <a:xfrm>
            <a:off x="6071616" y="1280160"/>
            <a:ext cx="2615184" cy="1691640"/>
          </a:xfrm>
          <a:prstGeom prst="roundRect">
            <a:avLst>
              <a:gd name="adj" fmla="val 648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3u_acc21"/>
          <p:cNvSpPr/>
          <p:nvPr/>
        </p:nvSpPr>
        <p:spPr>
          <a:xfrm>
            <a:off x="6071616" y="1280160"/>
            <a:ext cx="2615184" cy="54864"/>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3u_big22"/>
          <p:cNvSpPr txBox="1"/>
          <p:nvPr/>
        </p:nvSpPr>
        <p:spPr>
          <a:xfrm>
            <a:off x="6208776" y="1417320"/>
            <a:ext cx="2340864" cy="566928"/>
          </a:xfrm>
          <a:prstGeom prst="rect">
            <a:avLst/>
          </a:prstGeom>
          <a:noFill/>
        </p:spPr>
        <p:txBody>
          <a:bodyPr wrap="square" lIns="0" tIns="0" rIns="0" bIns="0" anchor="ctr">
            <a:spAutoFit/>
          </a:bodyPr>
          <a:lstStyle/>
          <a:p>
            <a:pPr algn="ctr"/>
            <a:r>
              <a:rPr sz="2650" b="0">
                <a:solidFill>
                  <a:srgbClr val="A16207"/>
                </a:solidFill>
                <a:latin typeface="Bahnschrift SemiBold"/>
              </a:rPr>
              <a:t>Millions</a:t>
            </a:r>
          </a:p>
        </p:txBody>
      </p:sp>
      <p:sp>
        <p:nvSpPr>
          <p:cNvPr id="24" name="a3ud100_cap23"/>
          <p:cNvSpPr txBox="1"/>
          <p:nvPr/>
        </p:nvSpPr>
        <p:spPr>
          <a:xfrm>
            <a:off x="6208776" y="2011680"/>
            <a:ext cx="2340864" cy="502920"/>
          </a:xfrm>
          <a:prstGeom prst="rect">
            <a:avLst/>
          </a:prstGeom>
          <a:noFill/>
        </p:spPr>
        <p:txBody>
          <a:bodyPr wrap="square" lIns="0" tIns="0" rIns="0" bIns="0" anchor="t">
            <a:spAutoFit/>
          </a:bodyPr>
          <a:lstStyle/>
          <a:p>
            <a:pPr algn="ctr"/>
            <a:r>
              <a:rPr sz="1000" b="0">
                <a:solidFill>
                  <a:srgbClr val="1C1917"/>
                </a:solidFill>
                <a:latin typeface="Segoe UI"/>
              </a:rPr>
              <a:t>of events per second at the largest users</a:t>
            </a:r>
          </a:p>
        </p:txBody>
      </p:sp>
      <p:sp>
        <p:nvSpPr>
          <p:cNvPr id="25" name="a3ud100_src24"/>
          <p:cNvSpPr txBox="1"/>
          <p:nvPr/>
        </p:nvSpPr>
        <p:spPr>
          <a:xfrm>
            <a:off x="6208776" y="2606040"/>
            <a:ext cx="2340864" cy="237744"/>
          </a:xfrm>
          <a:prstGeom prst="rect">
            <a:avLst/>
          </a:prstGeom>
          <a:noFill/>
        </p:spPr>
        <p:txBody>
          <a:bodyPr wrap="square" lIns="0" tIns="0" rIns="0" bIns="0" anchor="ctr">
            <a:spAutoFit/>
          </a:bodyPr>
          <a:lstStyle/>
          <a:p>
            <a:pPr algn="ctr"/>
            <a:r>
              <a:rPr sz="800" b="0">
                <a:solidFill>
                  <a:srgbClr val="78716C"/>
                </a:solidFill>
                <a:latin typeface="Segoe UI"/>
              </a:rPr>
              <a:t>Confluent, Kafka 101</a:t>
            </a:r>
          </a:p>
        </p:txBody>
      </p:sp>
      <p:sp>
        <p:nvSpPr>
          <p:cNvPr id="26" name="a4f_lb25"/>
          <p:cNvSpPr txBox="1"/>
          <p:nvPr/>
        </p:nvSpPr>
        <p:spPr>
          <a:xfrm>
            <a:off x="457200" y="3200400"/>
            <a:ext cx="8229600" cy="201168"/>
          </a:xfrm>
          <a:prstGeom prst="rect">
            <a:avLst/>
          </a:prstGeom>
          <a:noFill/>
        </p:spPr>
        <p:txBody>
          <a:bodyPr wrap="square" lIns="0" tIns="0" rIns="0" bIns="0" anchor="ctr">
            <a:spAutoFit/>
          </a:bodyPr>
          <a:lstStyle/>
          <a:p>
            <a:pPr algn="l"/>
            <a:r>
              <a:rPr sz="950" b="1">
                <a:solidFill>
                  <a:srgbClr val="44403C"/>
                </a:solidFill>
                <a:latin typeface="Segoe UI"/>
              </a:rPr>
              <a:t>Used across industries:</a:t>
            </a:r>
          </a:p>
        </p:txBody>
      </p:sp>
      <p:sp>
        <p:nvSpPr>
          <p:cNvPr id="27" name="a4u_pill26"/>
          <p:cNvSpPr/>
          <p:nvPr/>
        </p:nvSpPr>
        <p:spPr>
          <a:xfrm>
            <a:off x="457200" y="3493008"/>
            <a:ext cx="932688" cy="310896"/>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banking</a:t>
            </a:r>
          </a:p>
        </p:txBody>
      </p:sp>
      <p:sp>
        <p:nvSpPr>
          <p:cNvPr id="28" name="a4ud90_pill27"/>
          <p:cNvSpPr/>
          <p:nvPr/>
        </p:nvSpPr>
        <p:spPr>
          <a:xfrm>
            <a:off x="1481328" y="3493008"/>
            <a:ext cx="932688" cy="310896"/>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insurance</a:t>
            </a:r>
          </a:p>
        </p:txBody>
      </p:sp>
      <p:sp>
        <p:nvSpPr>
          <p:cNvPr id="29" name="a4ud180_pill28"/>
          <p:cNvSpPr/>
          <p:nvPr/>
        </p:nvSpPr>
        <p:spPr>
          <a:xfrm>
            <a:off x="2505456" y="3493008"/>
            <a:ext cx="932688" cy="310896"/>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retail</a:t>
            </a:r>
          </a:p>
        </p:txBody>
      </p:sp>
      <p:sp>
        <p:nvSpPr>
          <p:cNvPr id="30" name="a4ud270_pill29"/>
          <p:cNvSpPr/>
          <p:nvPr/>
        </p:nvSpPr>
        <p:spPr>
          <a:xfrm>
            <a:off x="3529584" y="3493008"/>
            <a:ext cx="932688" cy="310896"/>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telecom</a:t>
            </a:r>
          </a:p>
        </p:txBody>
      </p:sp>
      <p:sp>
        <p:nvSpPr>
          <p:cNvPr id="31" name="a4ud360_pill30"/>
          <p:cNvSpPr/>
          <p:nvPr/>
        </p:nvSpPr>
        <p:spPr>
          <a:xfrm>
            <a:off x="4553712" y="3493008"/>
            <a:ext cx="932688" cy="310896"/>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travel</a:t>
            </a:r>
          </a:p>
        </p:txBody>
      </p:sp>
      <p:sp>
        <p:nvSpPr>
          <p:cNvPr id="32" name="a4ud450_pill31"/>
          <p:cNvSpPr/>
          <p:nvPr/>
        </p:nvSpPr>
        <p:spPr>
          <a:xfrm>
            <a:off x="5577840" y="3493008"/>
            <a:ext cx="932688" cy="310896"/>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healthcare</a:t>
            </a:r>
          </a:p>
        </p:txBody>
      </p:sp>
      <p:sp>
        <p:nvSpPr>
          <p:cNvPr id="33" name="a4ud540_pill32"/>
          <p:cNvSpPr/>
          <p:nvPr/>
        </p:nvSpPr>
        <p:spPr>
          <a:xfrm>
            <a:off x="6601968" y="3493008"/>
            <a:ext cx="932688" cy="310896"/>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gaming</a:t>
            </a:r>
          </a:p>
        </p:txBody>
      </p:sp>
      <p:sp>
        <p:nvSpPr>
          <p:cNvPr id="34" name="a4ud630_pill33"/>
          <p:cNvSpPr/>
          <p:nvPr/>
        </p:nvSpPr>
        <p:spPr>
          <a:xfrm>
            <a:off x="7626096" y="3493008"/>
            <a:ext cx="932688" cy="310896"/>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C2410C"/>
                </a:solidFill>
                <a:latin typeface="Consolas"/>
              </a:rPr>
              <a:t>government</a:t>
            </a:r>
          </a:p>
        </p:txBody>
      </p:sp>
      <p:sp>
        <p:nvSpPr>
          <p:cNvPr id="35" name="a5u_nb34"/>
          <p:cNvSpPr/>
          <p:nvPr/>
        </p:nvSpPr>
        <p:spPr>
          <a:xfrm>
            <a:off x="457200" y="3977639"/>
            <a:ext cx="8229600" cy="502920"/>
          </a:xfrm>
          <a:prstGeom prst="roundRect">
            <a:avLst>
              <a:gd name="adj" fmla="val 14545"/>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5u_nacc35"/>
          <p:cNvSpPr/>
          <p:nvPr/>
        </p:nvSpPr>
        <p:spPr>
          <a:xfrm>
            <a:off x="457200" y="3977639"/>
            <a:ext cx="54864" cy="5029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5u_nt36"/>
          <p:cNvSpPr txBox="1"/>
          <p:nvPr/>
        </p:nvSpPr>
        <p:spPr>
          <a:xfrm>
            <a:off x="658368" y="3977639"/>
            <a:ext cx="7827264" cy="502920"/>
          </a:xfrm>
          <a:prstGeom prst="rect">
            <a:avLst/>
          </a:prstGeom>
          <a:noFill/>
        </p:spPr>
        <p:txBody>
          <a:bodyPr wrap="square" lIns="0" tIns="0" rIns="0" bIns="0" anchor="ctr">
            <a:spAutoFit/>
          </a:bodyPr>
          <a:lstStyle/>
          <a:p>
            <a:pPr algn="l"/>
            <a:r>
              <a:rPr sz="900" b="1">
                <a:solidFill>
                  <a:srgbClr val="0E7490"/>
                </a:solidFill>
                <a:latin typeface="Segoe UI"/>
              </a:rPr>
              <a:t>i  </a:t>
            </a:r>
            <a:r>
              <a:rPr sz="900" b="0">
                <a:solidFill>
                  <a:srgbClr val="44403C"/>
                </a:solidFill>
                <a:latin typeface="Segoe UI"/>
              </a:rPr>
              <a:t>Kafka is open source (Apache License 2.0): run it yourself, or use a managed service.</a:t>
            </a:r>
          </a:p>
        </p:txBody>
      </p:sp>
      <p:sp>
        <p:nvSpPr>
          <p:cNvPr id="38" name="ft3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72</a:t>
            </a:r>
          </a:p>
        </p:txBody>
      </p:sp>
      <p:sp>
        <p:nvSpPr>
          <p:cNvPr id="39" name="ft3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ft3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Training</a:t>
            </a:r>
          </a:p>
        </p:txBody>
      </p:sp>
      <p:sp>
        <p:nvSpPr>
          <p:cNvPr id="41" name="ft4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KAFKA FUNDAMENTALS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6" presetID="2" presetClass="entr" presetSubtype="4"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ppt_y+0.1"/>
                                          </p:val>
                                        </p:tav>
                                        <p:tav tm="100000">
                                          <p:val>
                                            <p:strVal val="#ppt_y"/>
                                          </p:val>
                                        </p:tav>
                                      </p:tavLst>
                                    </p:anim>
                                    <p:animEffect transition="in" filter="fade">
                                      <p:cBhvr>
                                        <p:cTn id="40" dur="500"/>
                                        <p:tgtEl>
                                          <p:spTgt spid="17"/>
                                        </p:tgtEl>
                                      </p:cBhvr>
                                    </p:animEffect>
                                  </p:childTnLst>
                                </p:cTn>
                              </p:par>
                              <p:par>
                                <p:cTn id="46" presetID="2" presetClass="entr" presetSubtype="4"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ppt_y+0.1"/>
                                          </p:val>
                                        </p:tav>
                                        <p:tav tm="100000">
                                          <p:val>
                                            <p:strVal val="#ppt_y"/>
                                          </p:val>
                                        </p:tav>
                                      </p:tavLst>
                                    </p:anim>
                                    <p:animEffect transition="in" filter="fade">
                                      <p:cBhvr>
                                        <p:cTn id="45" dur="500"/>
                                        <p:tgtEl>
                                          <p:spTgt spid="18"/>
                                        </p:tgtEl>
                                      </p:cBhvr>
                                    </p:animEffect>
                                  </p:childTnLst>
                                </p:cTn>
                              </p:par>
                              <p:par>
                                <p:cTn id="51" presetID="2" presetClass="entr" presetSubtype="4" fill="hold" grpId="0" nodeType="withEffect">
                                  <p:stCondLst>
                                    <p:cond delay="10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ppt_x</p:attrName>
                                        </p:attrNameLst>
                                      </p:cBhvr>
                                      <p:tavLst>
                                        <p:tav tm="0">
                                          <p:val>
                                            <p:strVal val="#ppt_x"/>
                                          </p:val>
                                        </p:tav>
                                        <p:tav tm="100000">
                                          <p:val>
                                            <p:strVal val="#ppt_x"/>
                                          </p:val>
                                        </p:tav>
                                      </p:tavLst>
                                    </p:anim>
                                    <p:anim calcmode="lin" valueType="num">
                                      <p:cBhvr additive="base">
                                        <p:cTn id="49" dur="500" fill="hold"/>
                                        <p:tgtEl>
                                          <p:spTgt spid="19"/>
                                        </p:tgtEl>
                                        <p:attrNameLst>
                                          <p:attrName>ppt_y</p:attrName>
                                        </p:attrNameLst>
                                      </p:cBhvr>
                                      <p:tavLst>
                                        <p:tav tm="0">
                                          <p:val>
                                            <p:strVal val="#ppt_y+0.1"/>
                                          </p:val>
                                        </p:tav>
                                        <p:tav tm="100000">
                                          <p:val>
                                            <p:strVal val="#ppt_y"/>
                                          </p:val>
                                        </p:tav>
                                      </p:tavLst>
                                    </p:anim>
                                    <p:animEffect transition="in" filter="fade">
                                      <p:cBhvr>
                                        <p:cTn id="50" dur="500"/>
                                        <p:tgtEl>
                                          <p:spTgt spid="19"/>
                                        </p:tgtEl>
                                      </p:cBhvr>
                                    </p:animEffect>
                                  </p:childTnLst>
                                </p:cTn>
                              </p:par>
                              <p:par>
                                <p:cTn id="56" presetID="2" presetClass="entr" presetSubtype="4" fill="hold" grpId="0" nodeType="withEffect">
                                  <p:stCondLst>
                                    <p:cond delay="10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childTnLst>
                          </p:cTn>
                        </p:par>
                      </p:childTnLst>
                    </p:cTn>
                  </p:par>
                  <p:par>
                    <p:cTn id="57" fill="hold">
                      <p:stCondLst>
                        <p:cond delay="indefinite"/>
                      </p:stCondLst>
                      <p:childTnLst>
                        <p:par>
                          <p:cTn id="58" fill="hold">
                            <p:stCondLst>
                              <p:cond delay="0"/>
                            </p:stCondLst>
                            <p:childTnLst>
                              <p:par>
                                <p:cTn id="63" presetID="2" presetClass="entr" presetSubtype="4"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additive="base">
                                        <p:cTn id="60" dur="500" fill="hold"/>
                                        <p:tgtEl>
                                          <p:spTgt spid="21"/>
                                        </p:tgtEl>
                                        <p:attrNameLst>
                                          <p:attrName>ppt_x</p:attrName>
                                        </p:attrNameLst>
                                      </p:cBhvr>
                                      <p:tavLst>
                                        <p:tav tm="0">
                                          <p:val>
                                            <p:strVal val="#ppt_x"/>
                                          </p:val>
                                        </p:tav>
                                        <p:tav tm="100000">
                                          <p:val>
                                            <p:strVal val="#ppt_x"/>
                                          </p:val>
                                        </p:tav>
                                      </p:tavLst>
                                    </p:anim>
                                    <p:anim calcmode="lin" valueType="num">
                                      <p:cBhvr additive="base">
                                        <p:cTn id="61" dur="500" fill="hold"/>
                                        <p:tgtEl>
                                          <p:spTgt spid="21"/>
                                        </p:tgtEl>
                                        <p:attrNameLst>
                                          <p:attrName>ppt_y</p:attrName>
                                        </p:attrNameLst>
                                      </p:cBhvr>
                                      <p:tavLst>
                                        <p:tav tm="0">
                                          <p:val>
                                            <p:strVal val="#ppt_y+0.1"/>
                                          </p:val>
                                        </p:tav>
                                        <p:tav tm="100000">
                                          <p:val>
                                            <p:strVal val="#ppt_y"/>
                                          </p:val>
                                        </p:tav>
                                      </p:tavLst>
                                    </p:anim>
                                    <p:animEffect transition="in" filter="fade">
                                      <p:cBhvr>
                                        <p:cTn id="62" dur="500"/>
                                        <p:tgtEl>
                                          <p:spTgt spid="21"/>
                                        </p:tgtEl>
                                      </p:cBhvr>
                                    </p:animEffect>
                                  </p:childTnLst>
                                </p:cTn>
                              </p:par>
                              <p:par>
                                <p:cTn id="68" presetID="2" presetClass="entr" presetSubtype="4"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 calcmode="lin" valueType="num">
                                      <p:cBhvr additive="base">
                                        <p:cTn id="65" dur="500" fill="hold"/>
                                        <p:tgtEl>
                                          <p:spTgt spid="22"/>
                                        </p:tgtEl>
                                        <p:attrNameLst>
                                          <p:attrName>ppt_x</p:attrName>
                                        </p:attrNameLst>
                                      </p:cBhvr>
                                      <p:tavLst>
                                        <p:tav tm="0">
                                          <p:val>
                                            <p:strVal val="#ppt_x"/>
                                          </p:val>
                                        </p:tav>
                                        <p:tav tm="100000">
                                          <p:val>
                                            <p:strVal val="#ppt_x"/>
                                          </p:val>
                                        </p:tav>
                                      </p:tavLst>
                                    </p:anim>
                                    <p:anim calcmode="lin" valueType="num">
                                      <p:cBhvr additive="base">
                                        <p:cTn id="66" dur="500" fill="hold"/>
                                        <p:tgtEl>
                                          <p:spTgt spid="22"/>
                                        </p:tgtEl>
                                        <p:attrNameLst>
                                          <p:attrName>ppt_y</p:attrName>
                                        </p:attrNameLst>
                                      </p:cBhvr>
                                      <p:tavLst>
                                        <p:tav tm="0">
                                          <p:val>
                                            <p:strVal val="#ppt_y+0.1"/>
                                          </p:val>
                                        </p:tav>
                                        <p:tav tm="100000">
                                          <p:val>
                                            <p:strVal val="#ppt_y"/>
                                          </p:val>
                                        </p:tav>
                                      </p:tavLst>
                                    </p:anim>
                                    <p:animEffect transition="in" filter="fade">
                                      <p:cBhvr>
                                        <p:cTn id="67" dur="500"/>
                                        <p:tgtEl>
                                          <p:spTgt spid="22"/>
                                        </p:tgtEl>
                                      </p:cBhvr>
                                    </p:animEffect>
                                  </p:childTnLst>
                                </p:cTn>
                              </p:par>
                              <p:par>
                                <p:cTn id="73" presetID="2" presetClass="entr" presetSubtype="4"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 calcmode="lin" valueType="num">
                                      <p:cBhvr additive="base">
                                        <p:cTn id="70" dur="500" fill="hold"/>
                                        <p:tgtEl>
                                          <p:spTgt spid="23"/>
                                        </p:tgtEl>
                                        <p:attrNameLst>
                                          <p:attrName>ppt_x</p:attrName>
                                        </p:attrNameLst>
                                      </p:cBhvr>
                                      <p:tavLst>
                                        <p:tav tm="0">
                                          <p:val>
                                            <p:strVal val="#ppt_x"/>
                                          </p:val>
                                        </p:tav>
                                        <p:tav tm="100000">
                                          <p:val>
                                            <p:strVal val="#ppt_x"/>
                                          </p:val>
                                        </p:tav>
                                      </p:tavLst>
                                    </p:anim>
                                    <p:anim calcmode="lin" valueType="num">
                                      <p:cBhvr additive="base">
                                        <p:cTn id="71" dur="500" fill="hold"/>
                                        <p:tgtEl>
                                          <p:spTgt spid="23"/>
                                        </p:tgtEl>
                                        <p:attrNameLst>
                                          <p:attrName>ppt_y</p:attrName>
                                        </p:attrNameLst>
                                      </p:cBhvr>
                                      <p:tavLst>
                                        <p:tav tm="0">
                                          <p:val>
                                            <p:strVal val="#ppt_y+0.1"/>
                                          </p:val>
                                        </p:tav>
                                        <p:tav tm="100000">
                                          <p:val>
                                            <p:strVal val="#ppt_y"/>
                                          </p:val>
                                        </p:tav>
                                      </p:tavLst>
                                    </p:anim>
                                    <p:animEffect transition="in" filter="fade">
                                      <p:cBhvr>
                                        <p:cTn id="72" dur="500"/>
                                        <p:tgtEl>
                                          <p:spTgt spid="23"/>
                                        </p:tgtEl>
                                      </p:cBhvr>
                                    </p:animEffect>
                                  </p:childTnLst>
                                </p:cTn>
                              </p:par>
                              <p:par>
                                <p:cTn id="78" presetID="2" presetClass="entr" presetSubtype="4" fill="hold" grpId="0" nodeType="withEffect">
                                  <p:stCondLst>
                                    <p:cond delay="10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ppt_x"/>
                                          </p:val>
                                        </p:tav>
                                        <p:tav tm="100000">
                                          <p:val>
                                            <p:strVal val="#ppt_x"/>
                                          </p:val>
                                        </p:tav>
                                      </p:tavLst>
                                    </p:anim>
                                    <p:anim calcmode="lin" valueType="num">
                                      <p:cBhvr additive="base">
                                        <p:cTn id="76" dur="500" fill="hold"/>
                                        <p:tgtEl>
                                          <p:spTgt spid="24"/>
                                        </p:tgtEl>
                                        <p:attrNameLst>
                                          <p:attrName>ppt_y</p:attrName>
                                        </p:attrNameLst>
                                      </p:cBhvr>
                                      <p:tavLst>
                                        <p:tav tm="0">
                                          <p:val>
                                            <p:strVal val="#ppt_y+0.1"/>
                                          </p:val>
                                        </p:tav>
                                        <p:tav tm="100000">
                                          <p:val>
                                            <p:strVal val="#ppt_y"/>
                                          </p:val>
                                        </p:tav>
                                      </p:tavLst>
                                    </p:anim>
                                    <p:animEffect transition="in" filter="fade">
                                      <p:cBhvr>
                                        <p:cTn id="77" dur="500"/>
                                        <p:tgtEl>
                                          <p:spTgt spid="24"/>
                                        </p:tgtEl>
                                      </p:cBhvr>
                                    </p:animEffect>
                                  </p:childTnLst>
                                </p:cTn>
                              </p:par>
                              <p:par>
                                <p:cTn id="83" presetID="2" presetClass="entr" presetSubtype="4" fill="hold" grpId="0" nodeType="withEffect">
                                  <p:stCondLst>
                                    <p:cond delay="100"/>
                                  </p:stCondLst>
                                  <p:childTnLst>
                                    <p:set>
                                      <p:cBhvr>
                                        <p:cTn id="79" dur="1" fill="hold">
                                          <p:stCondLst>
                                            <p:cond delay="0"/>
                                          </p:stCondLst>
                                        </p:cTn>
                                        <p:tgtEl>
                                          <p:spTgt spid="25"/>
                                        </p:tgtEl>
                                        <p:attrNameLst>
                                          <p:attrName>style.visibility</p:attrName>
                                        </p:attrNameLst>
                                      </p:cBhvr>
                                      <p:to>
                                        <p:strVal val="visible"/>
                                      </p:to>
                                    </p:set>
                                    <p:anim calcmode="lin" valueType="num">
                                      <p:cBhvr additive="base">
                                        <p:cTn id="80" dur="500" fill="hold"/>
                                        <p:tgtEl>
                                          <p:spTgt spid="25"/>
                                        </p:tgtEl>
                                        <p:attrNameLst>
                                          <p:attrName>ppt_x</p:attrName>
                                        </p:attrNameLst>
                                      </p:cBhvr>
                                      <p:tavLst>
                                        <p:tav tm="0">
                                          <p:val>
                                            <p:strVal val="#ppt_x"/>
                                          </p:val>
                                        </p:tav>
                                        <p:tav tm="100000">
                                          <p:val>
                                            <p:strVal val="#ppt_x"/>
                                          </p:val>
                                        </p:tav>
                                      </p:tavLst>
                                    </p:anim>
                                    <p:anim calcmode="lin" valueType="num">
                                      <p:cBhvr additive="base">
                                        <p:cTn id="81" dur="500" fill="hold"/>
                                        <p:tgtEl>
                                          <p:spTgt spid="25"/>
                                        </p:tgtEl>
                                        <p:attrNameLst>
                                          <p:attrName>ppt_y</p:attrName>
                                        </p:attrNameLst>
                                      </p:cBhvr>
                                      <p:tavLst>
                                        <p:tav tm="0">
                                          <p:val>
                                            <p:strVal val="#ppt_y+0.1"/>
                                          </p:val>
                                        </p:tav>
                                        <p:tav tm="100000">
                                          <p:val>
                                            <p:strVal val="#ppt_y"/>
                                          </p:val>
                                        </p:tav>
                                      </p:tavLst>
                                    </p:anim>
                                    <p:animEffect transition="in" filter="fade">
                                      <p:cBhvr>
                                        <p:cTn id="82" dur="500"/>
                                        <p:tgtEl>
                                          <p:spTgt spid="25"/>
                                        </p:tgtEl>
                                      </p:cBhvr>
                                    </p:animEffect>
                                  </p:childTnLst>
                                </p:cTn>
                              </p:par>
                            </p:childTnLst>
                          </p:cTn>
                        </p:par>
                      </p:childTnLst>
                    </p:cTn>
                  </p:par>
                  <p:par>
                    <p:cTn id="84" fill="hold">
                      <p:stCondLst>
                        <p:cond delay="indefinite"/>
                      </p:stCondLst>
                      <p:childTnLst>
                        <p:par>
                          <p:cTn id="85" fill="hold">
                            <p:stCondLst>
                              <p:cond delay="0"/>
                            </p:stCondLst>
                            <p:childTnLst>
                              <p:par>
                                <p:cTn id="88" presetID="10" presetClass="entr" presetSubtype="0" fill="hold" grpId="0" nodeType="clickEffect">
                                  <p:stCondLst>
                                    <p:cond delay="0"/>
                                  </p:stCondLst>
                                  <p:childTnLst>
                                    <p:set>
                                      <p:cBhvr>
                                        <p:cTn id="86" dur="1" fill="hold">
                                          <p:stCondLst>
                                            <p:cond delay="0"/>
                                          </p:stCondLst>
                                        </p:cTn>
                                        <p:tgtEl>
                                          <p:spTgt spid="26"/>
                                        </p:tgtEl>
                                        <p:attrNameLst>
                                          <p:attrName>style.visibility</p:attrName>
                                        </p:attrNameLst>
                                      </p:cBhvr>
                                      <p:to>
                                        <p:strVal val="visible"/>
                                      </p:to>
                                    </p:set>
                                    <p:animEffect transition="in" filter="fade">
                                      <p:cBhvr>
                                        <p:cTn id="87" dur="500"/>
                                        <p:tgtEl>
                                          <p:spTgt spid="26"/>
                                        </p:tgtEl>
                                      </p:cBhvr>
                                    </p:animEffect>
                                  </p:childTnLst>
                                </p:cTn>
                              </p:par>
                              <p:par>
                                <p:cTn id="93" presetID="2" presetClass="entr" presetSubtype="4" fill="hold" grpId="0" nodeType="withEffect">
                                  <p:stCondLst>
                                    <p:cond delay="0"/>
                                  </p:stCondLst>
                                  <p:childTnLst>
                                    <p:set>
                                      <p:cBhvr>
                                        <p:cTn id="89" dur="1" fill="hold">
                                          <p:stCondLst>
                                            <p:cond delay="0"/>
                                          </p:stCondLst>
                                        </p:cTn>
                                        <p:tgtEl>
                                          <p:spTgt spid="27"/>
                                        </p:tgtEl>
                                        <p:attrNameLst>
                                          <p:attrName>style.visibility</p:attrName>
                                        </p:attrNameLst>
                                      </p:cBhvr>
                                      <p:to>
                                        <p:strVal val="visible"/>
                                      </p:to>
                                    </p:set>
                                    <p:anim calcmode="lin" valueType="num">
                                      <p:cBhvr additive="base">
                                        <p:cTn id="90" dur="500" fill="hold"/>
                                        <p:tgtEl>
                                          <p:spTgt spid="27"/>
                                        </p:tgtEl>
                                        <p:attrNameLst>
                                          <p:attrName>ppt_x</p:attrName>
                                        </p:attrNameLst>
                                      </p:cBhvr>
                                      <p:tavLst>
                                        <p:tav tm="0">
                                          <p:val>
                                            <p:strVal val="#ppt_x"/>
                                          </p:val>
                                        </p:tav>
                                        <p:tav tm="100000">
                                          <p:val>
                                            <p:strVal val="#ppt_x"/>
                                          </p:val>
                                        </p:tav>
                                      </p:tavLst>
                                    </p:anim>
                                    <p:anim calcmode="lin" valueType="num">
                                      <p:cBhvr additive="base">
                                        <p:cTn id="91" dur="500" fill="hold"/>
                                        <p:tgtEl>
                                          <p:spTgt spid="27"/>
                                        </p:tgtEl>
                                        <p:attrNameLst>
                                          <p:attrName>ppt_y</p:attrName>
                                        </p:attrNameLst>
                                      </p:cBhvr>
                                      <p:tavLst>
                                        <p:tav tm="0">
                                          <p:val>
                                            <p:strVal val="#ppt_y+0.1"/>
                                          </p:val>
                                        </p:tav>
                                        <p:tav tm="100000">
                                          <p:val>
                                            <p:strVal val="#ppt_y"/>
                                          </p:val>
                                        </p:tav>
                                      </p:tavLst>
                                    </p:anim>
                                    <p:animEffect transition="in" filter="fade">
                                      <p:cBhvr>
                                        <p:cTn id="92" dur="500"/>
                                        <p:tgtEl>
                                          <p:spTgt spid="27"/>
                                        </p:tgtEl>
                                      </p:cBhvr>
                                    </p:animEffect>
                                  </p:childTnLst>
                                </p:cTn>
                              </p:par>
                              <p:par>
                                <p:cTn id="98" presetID="2" presetClass="entr" presetSubtype="4" fill="hold" grpId="0" nodeType="withEffect">
                                  <p:stCondLst>
                                    <p:cond delay="9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ppt_x"/>
                                          </p:val>
                                        </p:tav>
                                        <p:tav tm="100000">
                                          <p:val>
                                            <p:strVal val="#ppt_x"/>
                                          </p:val>
                                        </p:tav>
                                      </p:tavLst>
                                    </p:anim>
                                    <p:anim calcmode="lin" valueType="num">
                                      <p:cBhvr additive="base">
                                        <p:cTn id="96" dur="500" fill="hold"/>
                                        <p:tgtEl>
                                          <p:spTgt spid="28"/>
                                        </p:tgtEl>
                                        <p:attrNameLst>
                                          <p:attrName>ppt_y</p:attrName>
                                        </p:attrNameLst>
                                      </p:cBhvr>
                                      <p:tavLst>
                                        <p:tav tm="0">
                                          <p:val>
                                            <p:strVal val="#ppt_y+0.1"/>
                                          </p:val>
                                        </p:tav>
                                        <p:tav tm="100000">
                                          <p:val>
                                            <p:strVal val="#ppt_y"/>
                                          </p:val>
                                        </p:tav>
                                      </p:tavLst>
                                    </p:anim>
                                    <p:animEffect transition="in" filter="fade">
                                      <p:cBhvr>
                                        <p:cTn id="97" dur="500"/>
                                        <p:tgtEl>
                                          <p:spTgt spid="28"/>
                                        </p:tgtEl>
                                      </p:cBhvr>
                                    </p:animEffect>
                                  </p:childTnLst>
                                </p:cTn>
                              </p:par>
                              <p:par>
                                <p:cTn id="103" presetID="2" presetClass="entr" presetSubtype="4" fill="hold" grpId="0" nodeType="withEffect">
                                  <p:stCondLst>
                                    <p:cond delay="180"/>
                                  </p:stCondLst>
                                  <p:childTnLst>
                                    <p:set>
                                      <p:cBhvr>
                                        <p:cTn id="99" dur="1" fill="hold">
                                          <p:stCondLst>
                                            <p:cond delay="0"/>
                                          </p:stCondLst>
                                        </p:cTn>
                                        <p:tgtEl>
                                          <p:spTgt spid="29"/>
                                        </p:tgtEl>
                                        <p:attrNameLst>
                                          <p:attrName>style.visibility</p:attrName>
                                        </p:attrNameLst>
                                      </p:cBhvr>
                                      <p:to>
                                        <p:strVal val="visible"/>
                                      </p:to>
                                    </p:set>
                                    <p:anim calcmode="lin" valueType="num">
                                      <p:cBhvr additive="base">
                                        <p:cTn id="100" dur="500" fill="hold"/>
                                        <p:tgtEl>
                                          <p:spTgt spid="29"/>
                                        </p:tgtEl>
                                        <p:attrNameLst>
                                          <p:attrName>ppt_x</p:attrName>
                                        </p:attrNameLst>
                                      </p:cBhvr>
                                      <p:tavLst>
                                        <p:tav tm="0">
                                          <p:val>
                                            <p:strVal val="#ppt_x"/>
                                          </p:val>
                                        </p:tav>
                                        <p:tav tm="100000">
                                          <p:val>
                                            <p:strVal val="#ppt_x"/>
                                          </p:val>
                                        </p:tav>
                                      </p:tavLst>
                                    </p:anim>
                                    <p:anim calcmode="lin" valueType="num">
                                      <p:cBhvr additive="base">
                                        <p:cTn id="101" dur="500" fill="hold"/>
                                        <p:tgtEl>
                                          <p:spTgt spid="29"/>
                                        </p:tgtEl>
                                        <p:attrNameLst>
                                          <p:attrName>ppt_y</p:attrName>
                                        </p:attrNameLst>
                                      </p:cBhvr>
                                      <p:tavLst>
                                        <p:tav tm="0">
                                          <p:val>
                                            <p:strVal val="#ppt_y+0.1"/>
                                          </p:val>
                                        </p:tav>
                                        <p:tav tm="100000">
                                          <p:val>
                                            <p:strVal val="#ppt_y"/>
                                          </p:val>
                                        </p:tav>
                                      </p:tavLst>
                                    </p:anim>
                                    <p:animEffect transition="in" filter="fade">
                                      <p:cBhvr>
                                        <p:cTn id="102" dur="500"/>
                                        <p:tgtEl>
                                          <p:spTgt spid="29"/>
                                        </p:tgtEl>
                                      </p:cBhvr>
                                    </p:animEffect>
                                  </p:childTnLst>
                                </p:cTn>
                              </p:par>
                              <p:par>
                                <p:cTn id="108" presetID="2" presetClass="entr" presetSubtype="4" fill="hold" grpId="0" nodeType="withEffect">
                                  <p:stCondLst>
                                    <p:cond delay="27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ppt_x"/>
                                          </p:val>
                                        </p:tav>
                                        <p:tav tm="100000">
                                          <p:val>
                                            <p:strVal val="#ppt_x"/>
                                          </p:val>
                                        </p:tav>
                                      </p:tavLst>
                                    </p:anim>
                                    <p:anim calcmode="lin" valueType="num">
                                      <p:cBhvr additive="base">
                                        <p:cTn id="106" dur="500" fill="hold"/>
                                        <p:tgtEl>
                                          <p:spTgt spid="30"/>
                                        </p:tgtEl>
                                        <p:attrNameLst>
                                          <p:attrName>ppt_y</p:attrName>
                                        </p:attrNameLst>
                                      </p:cBhvr>
                                      <p:tavLst>
                                        <p:tav tm="0">
                                          <p:val>
                                            <p:strVal val="#ppt_y+0.1"/>
                                          </p:val>
                                        </p:tav>
                                        <p:tav tm="100000">
                                          <p:val>
                                            <p:strVal val="#ppt_y"/>
                                          </p:val>
                                        </p:tav>
                                      </p:tavLst>
                                    </p:anim>
                                    <p:animEffect transition="in" filter="fade">
                                      <p:cBhvr>
                                        <p:cTn id="107" dur="500"/>
                                        <p:tgtEl>
                                          <p:spTgt spid="30"/>
                                        </p:tgtEl>
                                      </p:cBhvr>
                                    </p:animEffect>
                                  </p:childTnLst>
                                </p:cTn>
                              </p:par>
                              <p:par>
                                <p:cTn id="113" presetID="2" presetClass="entr" presetSubtype="4" fill="hold" grpId="0" nodeType="withEffect">
                                  <p:stCondLst>
                                    <p:cond delay="36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8" presetID="2" presetClass="entr" presetSubtype="4" fill="hold" grpId="0" nodeType="withEffect">
                                  <p:stCondLst>
                                    <p:cond delay="45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par>
                                <p:cTn id="123" presetID="2" presetClass="entr" presetSubtype="4" fill="hold" grpId="0" nodeType="withEffect">
                                  <p:stCondLst>
                                    <p:cond delay="54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par>
                                <p:cTn id="128" presetID="2" presetClass="entr" presetSubtype="4" fill="hold" grpId="0" nodeType="withEffect">
                                  <p:stCondLst>
                                    <p:cond delay="63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childTnLst>
                          </p:cTn>
                        </p:par>
                      </p:childTnLst>
                    </p:cTn>
                  </p:par>
                  <p:par>
                    <p:cTn id="129" fill="hold">
                      <p:stCondLst>
                        <p:cond delay="indefinite"/>
                      </p:stCondLst>
                      <p:childTnLst>
                        <p:par>
                          <p:cTn id="130" fill="hold">
                            <p:stCondLst>
                              <p:cond delay="0"/>
                            </p:stCondLst>
                            <p:childTnLst>
                              <p:par>
                                <p:cTn id="135" presetID="2" presetClass="entr" presetSubtype="4" fill="hold" grpId="0" nodeType="clickEffect">
                                  <p:stCondLst>
                                    <p:cond delay="0"/>
                                  </p:stCondLst>
                                  <p:childTnLst>
                                    <p:set>
                                      <p:cBhvr>
                                        <p:cTn id="131" dur="1" fill="hold">
                                          <p:stCondLst>
                                            <p:cond delay="0"/>
                                          </p:stCondLst>
                                        </p:cTn>
                                        <p:tgtEl>
                                          <p:spTgt spid="35"/>
                                        </p:tgtEl>
                                        <p:attrNameLst>
                                          <p:attrName>style.visibility</p:attrName>
                                        </p:attrNameLst>
                                      </p:cBhvr>
                                      <p:to>
                                        <p:strVal val="visible"/>
                                      </p:to>
                                    </p:set>
                                    <p:anim calcmode="lin" valueType="num">
                                      <p:cBhvr additive="base">
                                        <p:cTn id="132" dur="500" fill="hold"/>
                                        <p:tgtEl>
                                          <p:spTgt spid="35"/>
                                        </p:tgtEl>
                                        <p:attrNameLst>
                                          <p:attrName>ppt_x</p:attrName>
                                        </p:attrNameLst>
                                      </p:cBhvr>
                                      <p:tavLst>
                                        <p:tav tm="0">
                                          <p:val>
                                            <p:strVal val="#ppt_x"/>
                                          </p:val>
                                        </p:tav>
                                        <p:tav tm="100000">
                                          <p:val>
                                            <p:strVal val="#ppt_x"/>
                                          </p:val>
                                        </p:tav>
                                      </p:tavLst>
                                    </p:anim>
                                    <p:anim calcmode="lin" valueType="num">
                                      <p:cBhvr additive="base">
                                        <p:cTn id="133" dur="500" fill="hold"/>
                                        <p:tgtEl>
                                          <p:spTgt spid="35"/>
                                        </p:tgtEl>
                                        <p:attrNameLst>
                                          <p:attrName>ppt_y</p:attrName>
                                        </p:attrNameLst>
                                      </p:cBhvr>
                                      <p:tavLst>
                                        <p:tav tm="0">
                                          <p:val>
                                            <p:strVal val="#ppt_y+0.1"/>
                                          </p:val>
                                        </p:tav>
                                        <p:tav tm="100000">
                                          <p:val>
                                            <p:strVal val="#ppt_y"/>
                                          </p:val>
                                        </p:tav>
                                      </p:tavLst>
                                    </p:anim>
                                    <p:animEffect transition="in" filter="fade">
                                      <p:cBhvr>
                                        <p:cTn id="134" dur="500"/>
                                        <p:tgtEl>
                                          <p:spTgt spid="35"/>
                                        </p:tgtEl>
                                      </p:cBhvr>
                                    </p:animEffect>
                                  </p:childTnLst>
                                </p:cTn>
                              </p:par>
                              <p:par>
                                <p:cTn id="140" presetID="2" presetClass="entr" presetSubtype="4" fill="hold" grpId="0" nodeType="withEffect">
                                  <p:stCondLst>
                                    <p:cond delay="0"/>
                                  </p:stCondLst>
                                  <p:childTnLst>
                                    <p:set>
                                      <p:cBhvr>
                                        <p:cTn id="136" dur="1" fill="hold">
                                          <p:stCondLst>
                                            <p:cond delay="0"/>
                                          </p:stCondLst>
                                        </p:cTn>
                                        <p:tgtEl>
                                          <p:spTgt spid="36"/>
                                        </p:tgtEl>
                                        <p:attrNameLst>
                                          <p:attrName>style.visibility</p:attrName>
                                        </p:attrNameLst>
                                      </p:cBhvr>
                                      <p:to>
                                        <p:strVal val="visible"/>
                                      </p:to>
                                    </p:set>
                                    <p:anim calcmode="lin" valueType="num">
                                      <p:cBhvr additive="base">
                                        <p:cTn id="137" dur="500" fill="hold"/>
                                        <p:tgtEl>
                                          <p:spTgt spid="36"/>
                                        </p:tgtEl>
                                        <p:attrNameLst>
                                          <p:attrName>ppt_x</p:attrName>
                                        </p:attrNameLst>
                                      </p:cBhvr>
                                      <p:tavLst>
                                        <p:tav tm="0">
                                          <p:val>
                                            <p:strVal val="#ppt_x"/>
                                          </p:val>
                                        </p:tav>
                                        <p:tav tm="100000">
                                          <p:val>
                                            <p:strVal val="#ppt_x"/>
                                          </p:val>
                                        </p:tav>
                                      </p:tavLst>
                                    </p:anim>
                                    <p:anim calcmode="lin" valueType="num">
                                      <p:cBhvr additive="base">
                                        <p:cTn id="138" dur="500" fill="hold"/>
                                        <p:tgtEl>
                                          <p:spTgt spid="36"/>
                                        </p:tgtEl>
                                        <p:attrNameLst>
                                          <p:attrName>ppt_y</p:attrName>
                                        </p:attrNameLst>
                                      </p:cBhvr>
                                      <p:tavLst>
                                        <p:tav tm="0">
                                          <p:val>
                                            <p:strVal val="#ppt_y+0.1"/>
                                          </p:val>
                                        </p:tav>
                                        <p:tav tm="100000">
                                          <p:val>
                                            <p:strVal val="#ppt_y"/>
                                          </p:val>
                                        </p:tav>
                                      </p:tavLst>
                                    </p:anim>
                                    <p:animEffect transition="in" filter="fade">
                                      <p:cBhvr>
                                        <p:cTn id="139" dur="500"/>
                                        <p:tgtEl>
                                          <p:spTgt spid="36"/>
                                        </p:tgtEl>
                                      </p:cBhvr>
                                    </p:animEffect>
                                  </p:childTnLst>
                                </p:cTn>
                              </p:par>
                              <p:par>
                                <p:cTn id="145" presetID="2" presetClass="entr" presetSubtype="4" fill="hold" grpId="0" nodeType="withEffect">
                                  <p:stCondLst>
                                    <p:cond delay="0"/>
                                  </p:stCondLst>
                                  <p:childTnLst>
                                    <p:set>
                                      <p:cBhvr>
                                        <p:cTn id="141" dur="1" fill="hold">
                                          <p:stCondLst>
                                            <p:cond delay="0"/>
                                          </p:stCondLst>
                                        </p:cTn>
                                        <p:tgtEl>
                                          <p:spTgt spid="37"/>
                                        </p:tgtEl>
                                        <p:attrNameLst>
                                          <p:attrName>style.visibility</p:attrName>
                                        </p:attrNameLst>
                                      </p:cBhvr>
                                      <p:to>
                                        <p:strVal val="visible"/>
                                      </p:to>
                                    </p:set>
                                    <p:anim calcmode="lin" valueType="num">
                                      <p:cBhvr additive="base">
                                        <p:cTn id="142" dur="500" fill="hold"/>
                                        <p:tgtEl>
                                          <p:spTgt spid="37"/>
                                        </p:tgtEl>
                                        <p:attrNameLst>
                                          <p:attrName>ppt_x</p:attrName>
                                        </p:attrNameLst>
                                      </p:cBhvr>
                                      <p:tavLst>
                                        <p:tav tm="0">
                                          <p:val>
                                            <p:strVal val="#ppt_x"/>
                                          </p:val>
                                        </p:tav>
                                        <p:tav tm="100000">
                                          <p:val>
                                            <p:strVal val="#ppt_x"/>
                                          </p:val>
                                        </p:tav>
                                      </p:tavLst>
                                    </p:anim>
                                    <p:anim calcmode="lin" valueType="num">
                                      <p:cBhvr additive="base">
                                        <p:cTn id="143" dur="500" fill="hold"/>
                                        <p:tgtEl>
                                          <p:spTgt spid="37"/>
                                        </p:tgtEl>
                                        <p:attrNameLst>
                                          <p:attrName>ppt_y</p:attrName>
                                        </p:attrNameLst>
                                      </p:cBhvr>
                                      <p:tavLst>
                                        <p:tav tm="0">
                                          <p:val>
                                            <p:strVal val="#ppt_y+0.1"/>
                                          </p:val>
                                        </p:tav>
                                        <p:tav tm="100000">
                                          <p:val>
                                            <p:strVal val="#ppt_y"/>
                                          </p:val>
                                        </p:tav>
                                      </p:tavLst>
                                    </p:anim>
                                    <p:animEffect transition="in" filter="fade">
                                      <p:cBhvr>
                                        <p:cTn id="144"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0f_h8"/>
          <p:cNvSpPr txBox="1"/>
          <p:nvPr/>
        </p:nvSpPr>
        <p:spPr>
          <a:xfrm>
            <a:off x="548640" y="384048"/>
            <a:ext cx="7315200" cy="640080"/>
          </a:xfrm>
          <a:prstGeom prst="rect">
            <a:avLst/>
          </a:prstGeom>
          <a:noFill/>
        </p:spPr>
        <p:txBody>
          <a:bodyPr wrap="square" lIns="0" tIns="0" rIns="0" bIns="0" anchor="ctr">
            <a:spAutoFit/>
          </a:bodyPr>
          <a:lstStyle/>
          <a:p>
            <a:pPr algn="l"/>
            <a:r>
              <a:rPr sz="3050" b="0">
                <a:solidFill>
                  <a:srgbClr val="FFFFFF"/>
                </a:solidFill>
                <a:latin typeface="Bahnschrift SemiBold"/>
              </a:rPr>
              <a:t>Key Takeaways</a:t>
            </a:r>
          </a:p>
        </p:txBody>
      </p:sp>
      <p:sp>
        <p:nvSpPr>
          <p:cNvPr id="10" name="a1u_n9"/>
          <p:cNvSpPr/>
          <p:nvPr/>
        </p:nvSpPr>
        <p:spPr>
          <a:xfrm>
            <a:off x="548640" y="1234440"/>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u_nt10"/>
          <p:cNvSpPr txBox="1"/>
          <p:nvPr/>
        </p:nvSpPr>
        <p:spPr>
          <a:xfrm>
            <a:off x="548640" y="1234440"/>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1</a:t>
            </a:r>
          </a:p>
        </p:txBody>
      </p:sp>
      <p:sp>
        <p:nvSpPr>
          <p:cNvPr id="12" name="a1u_nb11"/>
          <p:cNvSpPr txBox="1"/>
          <p:nvPr/>
        </p:nvSpPr>
        <p:spPr>
          <a:xfrm>
            <a:off x="1133856" y="1188720"/>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Computing kept spreading out</a:t>
            </a:r>
          </a:p>
          <a:p>
            <a:pPr algn="l">
              <a:spcAft>
                <a:spcPts val="100"/>
              </a:spcAft>
            </a:pPr>
            <a:r>
              <a:rPr sz="1000" b="0">
                <a:solidFill>
                  <a:srgbClr val="D6D3D1"/>
                </a:solidFill>
                <a:latin typeface="Segoe UI"/>
              </a:rPr>
              <a:t>Mainframes to microservices - ever more data to move</a:t>
            </a:r>
          </a:p>
        </p:txBody>
      </p:sp>
      <p:sp>
        <p:nvSpPr>
          <p:cNvPr id="13" name="a1ud200_n12"/>
          <p:cNvSpPr/>
          <p:nvPr/>
        </p:nvSpPr>
        <p:spPr>
          <a:xfrm>
            <a:off x="548640" y="1892808"/>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200_nt13"/>
          <p:cNvSpPr txBox="1"/>
          <p:nvPr/>
        </p:nvSpPr>
        <p:spPr>
          <a:xfrm>
            <a:off x="548640" y="1892808"/>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2</a:t>
            </a:r>
          </a:p>
        </p:txBody>
      </p:sp>
      <p:sp>
        <p:nvSpPr>
          <p:cNvPr id="15" name="a1ud200_nb14"/>
          <p:cNvSpPr txBox="1"/>
          <p:nvPr/>
        </p:nvSpPr>
        <p:spPr>
          <a:xfrm>
            <a:off x="1133856" y="1847088"/>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Messaging decoupled senders from receivers</a:t>
            </a:r>
          </a:p>
          <a:p>
            <a:pPr algn="l">
              <a:spcAft>
                <a:spcPts val="100"/>
              </a:spcAft>
            </a:pPr>
            <a:r>
              <a:rPr sz="1000" b="0">
                <a:solidFill>
                  <a:srgbClr val="D6D3D1"/>
                </a:solidFill>
                <a:latin typeface="Segoe UI"/>
              </a:rPr>
              <a:t>Queues and pub/sub - but reading deleted the data</a:t>
            </a:r>
          </a:p>
        </p:txBody>
      </p:sp>
      <p:sp>
        <p:nvSpPr>
          <p:cNvPr id="16" name="a1ud400_n15"/>
          <p:cNvSpPr/>
          <p:nvPr/>
        </p:nvSpPr>
        <p:spPr>
          <a:xfrm>
            <a:off x="548640" y="2551176"/>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400_nt16"/>
          <p:cNvSpPr txBox="1"/>
          <p:nvPr/>
        </p:nvSpPr>
        <p:spPr>
          <a:xfrm>
            <a:off x="548640" y="2551176"/>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3</a:t>
            </a:r>
          </a:p>
        </p:txBody>
      </p:sp>
      <p:sp>
        <p:nvSpPr>
          <p:cNvPr id="18" name="a1ud400_nb17"/>
          <p:cNvSpPr txBox="1"/>
          <p:nvPr/>
        </p:nvSpPr>
        <p:spPr>
          <a:xfrm>
            <a:off x="1133856" y="2505456"/>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Kafka joined messaging and log aggregation</a:t>
            </a:r>
          </a:p>
          <a:p>
            <a:pPr algn="l">
              <a:spcAft>
                <a:spcPts val="100"/>
              </a:spcAft>
            </a:pPr>
            <a:r>
              <a:rPr sz="1000" b="0">
                <a:solidFill>
                  <a:srgbClr val="D6D3D1"/>
                </a:solidFill>
                <a:latin typeface="Segoe UI"/>
              </a:rPr>
              <a:t>Real-time delivery, huge volume, data kept</a:t>
            </a:r>
          </a:p>
        </p:txBody>
      </p:sp>
      <p:sp>
        <p:nvSpPr>
          <p:cNvPr id="19" name="a1ud600_n18"/>
          <p:cNvSpPr/>
          <p:nvPr/>
        </p:nvSpPr>
        <p:spPr>
          <a:xfrm>
            <a:off x="548640" y="3209544"/>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600_nt19"/>
          <p:cNvSpPr txBox="1"/>
          <p:nvPr/>
        </p:nvSpPr>
        <p:spPr>
          <a:xfrm>
            <a:off x="548640" y="3209544"/>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4</a:t>
            </a:r>
          </a:p>
        </p:txBody>
      </p:sp>
      <p:sp>
        <p:nvSpPr>
          <p:cNvPr id="21" name="a1ud600_nb20"/>
          <p:cNvSpPr txBox="1"/>
          <p:nvPr/>
        </p:nvSpPr>
        <p:spPr>
          <a:xfrm>
            <a:off x="1133856" y="3163824"/>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The log is the core idea</a:t>
            </a:r>
          </a:p>
          <a:p>
            <a:pPr algn="l">
              <a:spcAft>
                <a:spcPts val="100"/>
              </a:spcAft>
            </a:pPr>
            <a:r>
              <a:rPr sz="1000" b="0">
                <a:solidFill>
                  <a:srgbClr val="D6D3D1"/>
                </a:solidFill>
                <a:latin typeface="Segoe UI"/>
              </a:rPr>
              <a:t>Append-only, ordered, immutable - each reader at its own offset</a:t>
            </a:r>
          </a:p>
        </p:txBody>
      </p:sp>
      <p:sp>
        <p:nvSpPr>
          <p:cNvPr id="22" name="a1ud800_n21"/>
          <p:cNvSpPr/>
          <p:nvPr/>
        </p:nvSpPr>
        <p:spPr>
          <a:xfrm>
            <a:off x="548640" y="3867911"/>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800_nt22"/>
          <p:cNvSpPr txBox="1"/>
          <p:nvPr/>
        </p:nvSpPr>
        <p:spPr>
          <a:xfrm>
            <a:off x="548640" y="3867911"/>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5</a:t>
            </a:r>
          </a:p>
        </p:txBody>
      </p:sp>
      <p:sp>
        <p:nvSpPr>
          <p:cNvPr id="24" name="a1ud800_nb23"/>
          <p:cNvSpPr txBox="1"/>
          <p:nvPr/>
        </p:nvSpPr>
        <p:spPr>
          <a:xfrm>
            <a:off x="1133856" y="3822191"/>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Think events first</a:t>
            </a:r>
          </a:p>
          <a:p>
            <a:pPr algn="l">
              <a:spcAft>
                <a:spcPts val="100"/>
              </a:spcAft>
            </a:pPr>
            <a:r>
              <a:rPr sz="1000" b="0">
                <a:solidFill>
                  <a:srgbClr val="D6D3D1"/>
                </a:solidFill>
                <a:latin typeface="Segoe UI"/>
              </a:rPr>
              <a:t>Capture, store, process and route streams of events</a:t>
            </a:r>
          </a:p>
        </p:txBody>
      </p:sp>
      <p:sp>
        <p:nvSpPr>
          <p:cNvPr id="25" name="a2u_words24"/>
          <p:cNvSpPr/>
          <p:nvPr/>
        </p:nvSpPr>
        <p:spPr>
          <a:xfrm>
            <a:off x="6263640" y="1234440"/>
            <a:ext cx="2423160" cy="1828800"/>
          </a:xfrm>
          <a:prstGeom prst="roundRect">
            <a:avLst>
              <a:gd name="adj" fmla="val 5000"/>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_wh25"/>
          <p:cNvSpPr txBox="1"/>
          <p:nvPr/>
        </p:nvSpPr>
        <p:spPr>
          <a:xfrm>
            <a:off x="6446520" y="1344168"/>
            <a:ext cx="2103120" cy="219456"/>
          </a:xfrm>
          <a:prstGeom prst="rect">
            <a:avLst/>
          </a:prstGeom>
          <a:noFill/>
        </p:spPr>
        <p:txBody>
          <a:bodyPr wrap="square" lIns="0" tIns="0" rIns="0" bIns="0" anchor="ctr">
            <a:spAutoFit/>
          </a:bodyPr>
          <a:lstStyle/>
          <a:p>
            <a:pPr algn="l"/>
            <a:r>
              <a:rPr sz="850" b="1">
                <a:solidFill>
                  <a:srgbClr val="FB923C"/>
                </a:solidFill>
                <a:latin typeface="Segoe UI"/>
              </a:rPr>
              <a:t>WORDS YOU NOW KNOW</a:t>
            </a:r>
          </a:p>
        </p:txBody>
      </p:sp>
      <p:sp>
        <p:nvSpPr>
          <p:cNvPr id="27" name="a2u_wt26"/>
          <p:cNvSpPr txBox="1"/>
          <p:nvPr/>
        </p:nvSpPr>
        <p:spPr>
          <a:xfrm>
            <a:off x="6446520" y="1609344"/>
            <a:ext cx="2148840" cy="219456"/>
          </a:xfrm>
          <a:prstGeom prst="rect">
            <a:avLst/>
          </a:prstGeom>
          <a:noFill/>
        </p:spPr>
        <p:txBody>
          <a:bodyPr wrap="square" lIns="0" tIns="0" rIns="0" bIns="0" anchor="ctr">
            <a:spAutoFit/>
          </a:bodyPr>
          <a:lstStyle/>
          <a:p>
            <a:pPr algn="l"/>
            <a:r>
              <a:rPr sz="1000" b="0">
                <a:solidFill>
                  <a:srgbClr val="E7E5E4"/>
                </a:solidFill>
                <a:latin typeface="Consolas"/>
              </a:rPr>
              <a:t>publish / subscribe</a:t>
            </a:r>
          </a:p>
        </p:txBody>
      </p:sp>
      <p:sp>
        <p:nvSpPr>
          <p:cNvPr id="28" name="a2ud60_wt27"/>
          <p:cNvSpPr txBox="1"/>
          <p:nvPr/>
        </p:nvSpPr>
        <p:spPr>
          <a:xfrm>
            <a:off x="6446520" y="1837943"/>
            <a:ext cx="2148840" cy="219456"/>
          </a:xfrm>
          <a:prstGeom prst="rect">
            <a:avLst/>
          </a:prstGeom>
          <a:noFill/>
        </p:spPr>
        <p:txBody>
          <a:bodyPr wrap="square" lIns="0" tIns="0" rIns="0" bIns="0" anchor="ctr">
            <a:spAutoFit/>
          </a:bodyPr>
          <a:lstStyle/>
          <a:p>
            <a:pPr algn="l"/>
            <a:r>
              <a:rPr sz="1000" b="0">
                <a:solidFill>
                  <a:srgbClr val="E7E5E4"/>
                </a:solidFill>
                <a:latin typeface="Consolas"/>
              </a:rPr>
              <a:t>broker</a:t>
            </a:r>
          </a:p>
        </p:txBody>
      </p:sp>
      <p:sp>
        <p:nvSpPr>
          <p:cNvPr id="29" name="a2ud120_wt28"/>
          <p:cNvSpPr txBox="1"/>
          <p:nvPr/>
        </p:nvSpPr>
        <p:spPr>
          <a:xfrm>
            <a:off x="6446520" y="2066543"/>
            <a:ext cx="2148840" cy="219456"/>
          </a:xfrm>
          <a:prstGeom prst="rect">
            <a:avLst/>
          </a:prstGeom>
          <a:noFill/>
        </p:spPr>
        <p:txBody>
          <a:bodyPr wrap="square" lIns="0" tIns="0" rIns="0" bIns="0" anchor="ctr">
            <a:spAutoFit/>
          </a:bodyPr>
          <a:lstStyle/>
          <a:p>
            <a:pPr algn="l"/>
            <a:r>
              <a:rPr sz="1000" b="0">
                <a:solidFill>
                  <a:srgbClr val="E7E5E4"/>
                </a:solidFill>
                <a:latin typeface="Consolas"/>
              </a:rPr>
              <a:t>log  ·  offset</a:t>
            </a:r>
          </a:p>
        </p:txBody>
      </p:sp>
      <p:sp>
        <p:nvSpPr>
          <p:cNvPr id="30" name="a2ud180_wt29"/>
          <p:cNvSpPr txBox="1"/>
          <p:nvPr/>
        </p:nvSpPr>
        <p:spPr>
          <a:xfrm>
            <a:off x="6446520" y="2295144"/>
            <a:ext cx="2148840" cy="219456"/>
          </a:xfrm>
          <a:prstGeom prst="rect">
            <a:avLst/>
          </a:prstGeom>
          <a:noFill/>
        </p:spPr>
        <p:txBody>
          <a:bodyPr wrap="square" lIns="0" tIns="0" rIns="0" bIns="0" anchor="ctr">
            <a:spAutoFit/>
          </a:bodyPr>
          <a:lstStyle/>
          <a:p>
            <a:pPr algn="l"/>
            <a:r>
              <a:rPr sz="1000" b="0">
                <a:solidFill>
                  <a:srgbClr val="E7E5E4"/>
                </a:solidFill>
                <a:latin typeface="Consolas"/>
              </a:rPr>
              <a:t>event  ·  record</a:t>
            </a:r>
          </a:p>
        </p:txBody>
      </p:sp>
      <p:sp>
        <p:nvSpPr>
          <p:cNvPr id="31" name="a2ud240_wt30"/>
          <p:cNvSpPr txBox="1"/>
          <p:nvPr/>
        </p:nvSpPr>
        <p:spPr>
          <a:xfrm>
            <a:off x="6446520" y="2523744"/>
            <a:ext cx="2148840" cy="219456"/>
          </a:xfrm>
          <a:prstGeom prst="rect">
            <a:avLst/>
          </a:prstGeom>
          <a:noFill/>
        </p:spPr>
        <p:txBody>
          <a:bodyPr wrap="square" lIns="0" tIns="0" rIns="0" bIns="0" anchor="ctr">
            <a:spAutoFit/>
          </a:bodyPr>
          <a:lstStyle/>
          <a:p>
            <a:pPr algn="l"/>
            <a:r>
              <a:rPr sz="1000" b="0">
                <a:solidFill>
                  <a:srgbClr val="E7E5E4"/>
                </a:solidFill>
                <a:latin typeface="Consolas"/>
              </a:rPr>
              <a:t>topic  ·  partition</a:t>
            </a:r>
          </a:p>
        </p:txBody>
      </p:sp>
      <p:sp>
        <p:nvSpPr>
          <p:cNvPr id="32" name="a2ud300_wt31"/>
          <p:cNvSpPr txBox="1"/>
          <p:nvPr/>
        </p:nvSpPr>
        <p:spPr>
          <a:xfrm>
            <a:off x="6446520" y="2752344"/>
            <a:ext cx="2148840" cy="219456"/>
          </a:xfrm>
          <a:prstGeom prst="rect">
            <a:avLst/>
          </a:prstGeom>
          <a:noFill/>
        </p:spPr>
        <p:txBody>
          <a:bodyPr wrap="square" lIns="0" tIns="0" rIns="0" bIns="0" anchor="ctr">
            <a:spAutoFit/>
          </a:bodyPr>
          <a:lstStyle/>
          <a:p>
            <a:pPr algn="l"/>
            <a:r>
              <a:rPr sz="1000" b="0">
                <a:solidFill>
                  <a:srgbClr val="E7E5E4"/>
                </a:solidFill>
                <a:latin typeface="Consolas"/>
              </a:rPr>
              <a:t>producer / consumer</a:t>
            </a:r>
          </a:p>
        </p:txBody>
      </p:sp>
      <p:sp>
        <p:nvSpPr>
          <p:cNvPr id="33" name="a3u_next32"/>
          <p:cNvSpPr/>
          <p:nvPr/>
        </p:nvSpPr>
        <p:spPr>
          <a:xfrm>
            <a:off x="6263640" y="3246120"/>
            <a:ext cx="2423160" cy="1005840"/>
          </a:xfrm>
          <a:prstGeom prst="roundRect">
            <a:avLst>
              <a:gd name="adj" fmla="val 9090"/>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3u_nextt33"/>
          <p:cNvSpPr txBox="1"/>
          <p:nvPr/>
        </p:nvSpPr>
        <p:spPr>
          <a:xfrm>
            <a:off x="6446520" y="3364992"/>
            <a:ext cx="2103120" cy="77724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UP NEXT</a:t>
            </a:r>
          </a:p>
          <a:p>
            <a:pPr algn="l">
              <a:spcAft>
                <a:spcPts val="400"/>
              </a:spcAft>
            </a:pPr>
            <a:r>
              <a:rPr sz="900" b="0">
                <a:solidFill>
                  <a:srgbClr val="E7E5E4"/>
                </a:solidFill>
                <a:latin typeface="Segoe UI"/>
              </a:rPr>
              <a:t>Kafka core concepts in depth: topics, partitions, brokers, producers and consumers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4" presetID="2" presetClass="entr" presetSubtype="4"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ppt_y+0.1"/>
                                          </p:val>
                                        </p:tav>
                                        <p:tav tm="100000">
                                          <p:val>
                                            <p:strVal val="#ppt_y"/>
                                          </p:val>
                                        </p:tav>
                                      </p:tavLst>
                                    </p:anim>
                                    <p:animEffect transition="in" filter="fade">
                                      <p:cBhvr>
                                        <p:cTn id="13" dur="500"/>
                                        <p:tgtEl>
                                          <p:spTgt spid="10"/>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ppt_y+0.1"/>
                                          </p:val>
                                        </p:tav>
                                        <p:tav tm="100000">
                                          <p:val>
                                            <p:strVal val="#ppt_y"/>
                                          </p:val>
                                        </p:tav>
                                      </p:tavLst>
                                    </p:anim>
                                    <p:animEffect transition="in" filter="fade">
                                      <p:cBhvr>
                                        <p:cTn id="18" dur="500"/>
                                        <p:tgtEl>
                                          <p:spTgt spid="11"/>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ppt_y+0.1"/>
                                          </p:val>
                                        </p:tav>
                                        <p:tav tm="100000">
                                          <p:val>
                                            <p:strVal val="#ppt_y"/>
                                          </p:val>
                                        </p:tav>
                                      </p:tavLst>
                                    </p:anim>
                                    <p:animEffect transition="in" filter="fade">
                                      <p:cBhvr>
                                        <p:cTn id="23" dur="500"/>
                                        <p:tgtEl>
                                          <p:spTgt spid="12"/>
                                        </p:tgtEl>
                                      </p:cBhvr>
                                    </p:animEffect>
                                  </p:childTnLst>
                                </p:cTn>
                              </p:par>
                              <p:par>
                                <p:cTn id="29" presetID="2" presetClass="entr" presetSubtype="4" fill="hold" grpId="0" nodeType="withEffect">
                                  <p:stCondLst>
                                    <p:cond delay="20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ppt_x"/>
                                          </p:val>
                                        </p:tav>
                                        <p:tav tm="100000">
                                          <p:val>
                                            <p:strVal val="#ppt_x"/>
                                          </p:val>
                                        </p:tav>
                                      </p:tavLst>
                                    </p:anim>
                                    <p:anim calcmode="lin" valueType="num">
                                      <p:cBhvr additive="base">
                                        <p:cTn id="27" dur="500" fill="hold"/>
                                        <p:tgtEl>
                                          <p:spTgt spid="13"/>
                                        </p:tgtEl>
                                        <p:attrNameLst>
                                          <p:attrName>ppt_y</p:attrName>
                                        </p:attrNameLst>
                                      </p:cBhvr>
                                      <p:tavLst>
                                        <p:tav tm="0">
                                          <p:val>
                                            <p:strVal val="#ppt_y+0.1"/>
                                          </p:val>
                                        </p:tav>
                                        <p:tav tm="100000">
                                          <p:val>
                                            <p:strVal val="#ppt_y"/>
                                          </p:val>
                                        </p:tav>
                                      </p:tavLst>
                                    </p:anim>
                                    <p:animEffect transition="in" filter="fade">
                                      <p:cBhvr>
                                        <p:cTn id="28" dur="500"/>
                                        <p:tgtEl>
                                          <p:spTgt spid="13"/>
                                        </p:tgtEl>
                                      </p:cBhvr>
                                    </p:animEffect>
                                  </p:childTnLst>
                                </p:cTn>
                              </p:par>
                              <p:par>
                                <p:cTn id="34" presetID="2" presetClass="entr" presetSubtype="4" fill="hold" grpId="0" nodeType="withEffect">
                                  <p:stCondLst>
                                    <p:cond delay="20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ppt_y+0.1"/>
                                          </p:val>
                                        </p:tav>
                                        <p:tav tm="100000">
                                          <p:val>
                                            <p:strVal val="#ppt_y"/>
                                          </p:val>
                                        </p:tav>
                                      </p:tavLst>
                                    </p:anim>
                                    <p:animEffect transition="in" filter="fade">
                                      <p:cBhvr>
                                        <p:cTn id="33" dur="500"/>
                                        <p:tgtEl>
                                          <p:spTgt spid="14"/>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ppt_y+0.1"/>
                                          </p:val>
                                        </p:tav>
                                        <p:tav tm="100000">
                                          <p:val>
                                            <p:strVal val="#ppt_y"/>
                                          </p:val>
                                        </p:tav>
                                      </p:tavLst>
                                    </p:anim>
                                    <p:animEffect transition="in" filter="fade">
                                      <p:cBhvr>
                                        <p:cTn id="38" dur="500"/>
                                        <p:tgtEl>
                                          <p:spTgt spid="15"/>
                                        </p:tgtEl>
                                      </p:cBhvr>
                                    </p:animEffect>
                                  </p:childTnLst>
                                </p:cTn>
                              </p:par>
                              <p:par>
                                <p:cTn id="44" presetID="2" presetClass="entr" presetSubtype="4" fill="hold" grpId="0" nodeType="withEffect">
                                  <p:stCondLst>
                                    <p:cond delay="40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ppt_y+0.1"/>
                                          </p:val>
                                        </p:tav>
                                        <p:tav tm="100000">
                                          <p:val>
                                            <p:strVal val="#ppt_y"/>
                                          </p:val>
                                        </p:tav>
                                      </p:tavLst>
                                    </p:anim>
                                    <p:animEffect transition="in" filter="fade">
                                      <p:cBhvr>
                                        <p:cTn id="43" dur="500"/>
                                        <p:tgtEl>
                                          <p:spTgt spid="16"/>
                                        </p:tgtEl>
                                      </p:cBhvr>
                                    </p:animEffect>
                                  </p:childTnLst>
                                </p:cTn>
                              </p:par>
                              <p:par>
                                <p:cTn id="49" presetID="2" presetClass="entr" presetSubtype="4" fill="hold" grpId="0" nodeType="withEffect">
                                  <p:stCondLst>
                                    <p:cond delay="40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ppt_x"/>
                                          </p:val>
                                        </p:tav>
                                        <p:tav tm="100000">
                                          <p:val>
                                            <p:strVal val="#ppt_x"/>
                                          </p:val>
                                        </p:tav>
                                      </p:tavLst>
                                    </p:anim>
                                    <p:anim calcmode="lin" valueType="num">
                                      <p:cBhvr additive="base">
                                        <p:cTn id="47" dur="500" fill="hold"/>
                                        <p:tgtEl>
                                          <p:spTgt spid="17"/>
                                        </p:tgtEl>
                                        <p:attrNameLst>
                                          <p:attrName>ppt_y</p:attrName>
                                        </p:attrNameLst>
                                      </p:cBhvr>
                                      <p:tavLst>
                                        <p:tav tm="0">
                                          <p:val>
                                            <p:strVal val="#ppt_y+0.1"/>
                                          </p:val>
                                        </p:tav>
                                        <p:tav tm="100000">
                                          <p:val>
                                            <p:strVal val="#ppt_y"/>
                                          </p:val>
                                        </p:tav>
                                      </p:tavLst>
                                    </p:anim>
                                    <p:animEffect transition="in" filter="fade">
                                      <p:cBhvr>
                                        <p:cTn id="48" dur="500"/>
                                        <p:tgtEl>
                                          <p:spTgt spid="17"/>
                                        </p:tgtEl>
                                      </p:cBhvr>
                                    </p:animEffect>
                                  </p:childTnLst>
                                </p:cTn>
                              </p:par>
                              <p:par>
                                <p:cTn id="54" presetID="2" presetClass="entr" presetSubtype="4" fill="hold" grpId="0" nodeType="withEffect">
                                  <p:stCondLst>
                                    <p:cond delay="40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ppt_y+0.1"/>
                                          </p:val>
                                        </p:tav>
                                        <p:tav tm="100000">
                                          <p:val>
                                            <p:strVal val="#ppt_y"/>
                                          </p:val>
                                        </p:tav>
                                      </p:tavLst>
                                    </p:anim>
                                    <p:animEffect transition="in" filter="fade">
                                      <p:cBhvr>
                                        <p:cTn id="53" dur="500"/>
                                        <p:tgtEl>
                                          <p:spTgt spid="18"/>
                                        </p:tgtEl>
                                      </p:cBhvr>
                                    </p:animEffect>
                                  </p:childTnLst>
                                </p:cTn>
                              </p:par>
                              <p:par>
                                <p:cTn id="59" presetID="2" presetClass="entr" presetSubtype="4" fill="hold" grpId="0" nodeType="withEffect">
                                  <p:stCondLst>
                                    <p:cond delay="600"/>
                                  </p:stCondLst>
                                  <p:childTnLst>
                                    <p:set>
                                      <p:cBhvr>
                                        <p:cTn id="55" dur="1" fill="hold">
                                          <p:stCondLst>
                                            <p:cond delay="0"/>
                                          </p:stCondLst>
                                        </p:cTn>
                                        <p:tgtEl>
                                          <p:spTgt spid="19"/>
                                        </p:tgtEl>
                                        <p:attrNameLst>
                                          <p:attrName>style.visibility</p:attrName>
                                        </p:attrNameLst>
                                      </p:cBhvr>
                                      <p:to>
                                        <p:strVal val="visible"/>
                                      </p:to>
                                    </p:set>
                                    <p:anim calcmode="lin" valueType="num">
                                      <p:cBhvr additive="base">
                                        <p:cTn id="56" dur="500" fill="hold"/>
                                        <p:tgtEl>
                                          <p:spTgt spid="19"/>
                                        </p:tgtEl>
                                        <p:attrNameLst>
                                          <p:attrName>ppt_x</p:attrName>
                                        </p:attrNameLst>
                                      </p:cBhvr>
                                      <p:tavLst>
                                        <p:tav tm="0">
                                          <p:val>
                                            <p:strVal val="#ppt_x"/>
                                          </p:val>
                                        </p:tav>
                                        <p:tav tm="100000">
                                          <p:val>
                                            <p:strVal val="#ppt_x"/>
                                          </p:val>
                                        </p:tav>
                                      </p:tavLst>
                                    </p:anim>
                                    <p:anim calcmode="lin" valueType="num">
                                      <p:cBhvr additive="base">
                                        <p:cTn id="57" dur="500" fill="hold"/>
                                        <p:tgtEl>
                                          <p:spTgt spid="19"/>
                                        </p:tgtEl>
                                        <p:attrNameLst>
                                          <p:attrName>ppt_y</p:attrName>
                                        </p:attrNameLst>
                                      </p:cBhvr>
                                      <p:tavLst>
                                        <p:tav tm="0">
                                          <p:val>
                                            <p:strVal val="#ppt_y+0.1"/>
                                          </p:val>
                                        </p:tav>
                                        <p:tav tm="100000">
                                          <p:val>
                                            <p:strVal val="#ppt_y"/>
                                          </p:val>
                                        </p:tav>
                                      </p:tavLst>
                                    </p:anim>
                                    <p:animEffect transition="in" filter="fade">
                                      <p:cBhvr>
                                        <p:cTn id="58" dur="500"/>
                                        <p:tgtEl>
                                          <p:spTgt spid="19"/>
                                        </p:tgtEl>
                                      </p:cBhvr>
                                    </p:animEffect>
                                  </p:childTnLst>
                                </p:cTn>
                              </p:par>
                              <p:par>
                                <p:cTn id="64" presetID="2" presetClass="entr" presetSubtype="4" fill="hold" grpId="0" nodeType="withEffect">
                                  <p:stCondLst>
                                    <p:cond delay="600"/>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ppt_x"/>
                                          </p:val>
                                        </p:tav>
                                        <p:tav tm="100000">
                                          <p:val>
                                            <p:strVal val="#ppt_x"/>
                                          </p:val>
                                        </p:tav>
                                      </p:tavLst>
                                    </p:anim>
                                    <p:anim calcmode="lin" valueType="num">
                                      <p:cBhvr additive="base">
                                        <p:cTn id="62" dur="500" fill="hold"/>
                                        <p:tgtEl>
                                          <p:spTgt spid="20"/>
                                        </p:tgtEl>
                                        <p:attrNameLst>
                                          <p:attrName>ppt_y</p:attrName>
                                        </p:attrNameLst>
                                      </p:cBhvr>
                                      <p:tavLst>
                                        <p:tav tm="0">
                                          <p:val>
                                            <p:strVal val="#ppt_y+0.1"/>
                                          </p:val>
                                        </p:tav>
                                        <p:tav tm="100000">
                                          <p:val>
                                            <p:strVal val="#ppt_y"/>
                                          </p:val>
                                        </p:tav>
                                      </p:tavLst>
                                    </p:anim>
                                    <p:animEffect transition="in" filter="fade">
                                      <p:cBhvr>
                                        <p:cTn id="63" dur="500"/>
                                        <p:tgtEl>
                                          <p:spTgt spid="20"/>
                                        </p:tgtEl>
                                      </p:cBhvr>
                                    </p:animEffect>
                                  </p:childTnLst>
                                </p:cTn>
                              </p:par>
                              <p:par>
                                <p:cTn id="69" presetID="2" presetClass="entr" presetSubtype="4" fill="hold" grpId="0" nodeType="withEffect">
                                  <p:stCondLst>
                                    <p:cond delay="600"/>
                                  </p:stCondLst>
                                  <p:childTnLst>
                                    <p:set>
                                      <p:cBhvr>
                                        <p:cTn id="65" dur="1" fill="hold">
                                          <p:stCondLst>
                                            <p:cond delay="0"/>
                                          </p:stCondLst>
                                        </p:cTn>
                                        <p:tgtEl>
                                          <p:spTgt spid="21"/>
                                        </p:tgtEl>
                                        <p:attrNameLst>
                                          <p:attrName>style.visibility</p:attrName>
                                        </p:attrNameLst>
                                      </p:cBhvr>
                                      <p:to>
                                        <p:strVal val="visible"/>
                                      </p:to>
                                    </p:set>
                                    <p:anim calcmode="lin" valueType="num">
                                      <p:cBhvr additive="base">
                                        <p:cTn id="66" dur="500" fill="hold"/>
                                        <p:tgtEl>
                                          <p:spTgt spid="21"/>
                                        </p:tgtEl>
                                        <p:attrNameLst>
                                          <p:attrName>ppt_x</p:attrName>
                                        </p:attrNameLst>
                                      </p:cBhvr>
                                      <p:tavLst>
                                        <p:tav tm="0">
                                          <p:val>
                                            <p:strVal val="#ppt_x"/>
                                          </p:val>
                                        </p:tav>
                                        <p:tav tm="100000">
                                          <p:val>
                                            <p:strVal val="#ppt_x"/>
                                          </p:val>
                                        </p:tav>
                                      </p:tavLst>
                                    </p:anim>
                                    <p:anim calcmode="lin" valueType="num">
                                      <p:cBhvr additive="base">
                                        <p:cTn id="67" dur="500" fill="hold"/>
                                        <p:tgtEl>
                                          <p:spTgt spid="21"/>
                                        </p:tgtEl>
                                        <p:attrNameLst>
                                          <p:attrName>ppt_y</p:attrName>
                                        </p:attrNameLst>
                                      </p:cBhvr>
                                      <p:tavLst>
                                        <p:tav tm="0">
                                          <p:val>
                                            <p:strVal val="#ppt_y+0.1"/>
                                          </p:val>
                                        </p:tav>
                                        <p:tav tm="100000">
                                          <p:val>
                                            <p:strVal val="#ppt_y"/>
                                          </p:val>
                                        </p:tav>
                                      </p:tavLst>
                                    </p:anim>
                                    <p:animEffect transition="in" filter="fade">
                                      <p:cBhvr>
                                        <p:cTn id="68" dur="500"/>
                                        <p:tgtEl>
                                          <p:spTgt spid="21"/>
                                        </p:tgtEl>
                                      </p:cBhvr>
                                    </p:animEffect>
                                  </p:childTnLst>
                                </p:cTn>
                              </p:par>
                              <p:par>
                                <p:cTn id="74" presetID="2" presetClass="entr" presetSubtype="4" fill="hold" grpId="0" nodeType="withEffect">
                                  <p:stCondLst>
                                    <p:cond delay="80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ppt_y+0.1"/>
                                          </p:val>
                                        </p:tav>
                                        <p:tav tm="100000">
                                          <p:val>
                                            <p:strVal val="#ppt_y"/>
                                          </p:val>
                                        </p:tav>
                                      </p:tavLst>
                                    </p:anim>
                                    <p:animEffect transition="in" filter="fade">
                                      <p:cBhvr>
                                        <p:cTn id="73" dur="500"/>
                                        <p:tgtEl>
                                          <p:spTgt spid="22"/>
                                        </p:tgtEl>
                                      </p:cBhvr>
                                    </p:animEffect>
                                  </p:childTnLst>
                                </p:cTn>
                              </p:par>
                              <p:par>
                                <p:cTn id="79" presetID="2" presetClass="entr" presetSubtype="4" fill="hold" grpId="0" nodeType="withEffect">
                                  <p:stCondLst>
                                    <p:cond delay="800"/>
                                  </p:stCondLst>
                                  <p:childTnLst>
                                    <p:set>
                                      <p:cBhvr>
                                        <p:cTn id="75" dur="1" fill="hold">
                                          <p:stCondLst>
                                            <p:cond delay="0"/>
                                          </p:stCondLst>
                                        </p:cTn>
                                        <p:tgtEl>
                                          <p:spTgt spid="23"/>
                                        </p:tgtEl>
                                        <p:attrNameLst>
                                          <p:attrName>style.visibility</p:attrName>
                                        </p:attrNameLst>
                                      </p:cBhvr>
                                      <p:to>
                                        <p:strVal val="visible"/>
                                      </p:to>
                                    </p:set>
                                    <p:anim calcmode="lin" valueType="num">
                                      <p:cBhvr additive="base">
                                        <p:cTn id="76" dur="500" fill="hold"/>
                                        <p:tgtEl>
                                          <p:spTgt spid="23"/>
                                        </p:tgtEl>
                                        <p:attrNameLst>
                                          <p:attrName>ppt_x</p:attrName>
                                        </p:attrNameLst>
                                      </p:cBhvr>
                                      <p:tavLst>
                                        <p:tav tm="0">
                                          <p:val>
                                            <p:strVal val="#ppt_x"/>
                                          </p:val>
                                        </p:tav>
                                        <p:tav tm="100000">
                                          <p:val>
                                            <p:strVal val="#ppt_x"/>
                                          </p:val>
                                        </p:tav>
                                      </p:tavLst>
                                    </p:anim>
                                    <p:anim calcmode="lin" valueType="num">
                                      <p:cBhvr additive="base">
                                        <p:cTn id="77" dur="500" fill="hold"/>
                                        <p:tgtEl>
                                          <p:spTgt spid="23"/>
                                        </p:tgtEl>
                                        <p:attrNameLst>
                                          <p:attrName>ppt_y</p:attrName>
                                        </p:attrNameLst>
                                      </p:cBhvr>
                                      <p:tavLst>
                                        <p:tav tm="0">
                                          <p:val>
                                            <p:strVal val="#ppt_y+0.1"/>
                                          </p:val>
                                        </p:tav>
                                        <p:tav tm="100000">
                                          <p:val>
                                            <p:strVal val="#ppt_y"/>
                                          </p:val>
                                        </p:tav>
                                      </p:tavLst>
                                    </p:anim>
                                    <p:animEffect transition="in" filter="fade">
                                      <p:cBhvr>
                                        <p:cTn id="78" dur="500"/>
                                        <p:tgtEl>
                                          <p:spTgt spid="23"/>
                                        </p:tgtEl>
                                      </p:cBhvr>
                                    </p:animEffect>
                                  </p:childTnLst>
                                </p:cTn>
                              </p:par>
                              <p:par>
                                <p:cTn id="84" presetID="2" presetClass="entr" presetSubtype="4" fill="hold" grpId="0" nodeType="withEffect">
                                  <p:stCondLst>
                                    <p:cond delay="800"/>
                                  </p:stCondLst>
                                  <p:childTnLst>
                                    <p:set>
                                      <p:cBhvr>
                                        <p:cTn id="80" dur="1" fill="hold">
                                          <p:stCondLst>
                                            <p:cond delay="0"/>
                                          </p:stCondLst>
                                        </p:cTn>
                                        <p:tgtEl>
                                          <p:spTgt spid="24"/>
                                        </p:tgtEl>
                                        <p:attrNameLst>
                                          <p:attrName>style.visibility</p:attrName>
                                        </p:attrNameLst>
                                      </p:cBhvr>
                                      <p:to>
                                        <p:strVal val="visible"/>
                                      </p:to>
                                    </p:set>
                                    <p:anim calcmode="lin" valueType="num">
                                      <p:cBhvr additive="base">
                                        <p:cTn id="81" dur="500" fill="hold"/>
                                        <p:tgtEl>
                                          <p:spTgt spid="24"/>
                                        </p:tgtEl>
                                        <p:attrNameLst>
                                          <p:attrName>ppt_x</p:attrName>
                                        </p:attrNameLst>
                                      </p:cBhvr>
                                      <p:tavLst>
                                        <p:tav tm="0">
                                          <p:val>
                                            <p:strVal val="#ppt_x"/>
                                          </p:val>
                                        </p:tav>
                                        <p:tav tm="100000">
                                          <p:val>
                                            <p:strVal val="#ppt_x"/>
                                          </p:val>
                                        </p:tav>
                                      </p:tavLst>
                                    </p:anim>
                                    <p:anim calcmode="lin" valueType="num">
                                      <p:cBhvr additive="base">
                                        <p:cTn id="82" dur="500" fill="hold"/>
                                        <p:tgtEl>
                                          <p:spTgt spid="24"/>
                                        </p:tgtEl>
                                        <p:attrNameLst>
                                          <p:attrName>ppt_y</p:attrName>
                                        </p:attrNameLst>
                                      </p:cBhvr>
                                      <p:tavLst>
                                        <p:tav tm="0">
                                          <p:val>
                                            <p:strVal val="#ppt_y+0.1"/>
                                          </p:val>
                                        </p:tav>
                                        <p:tav tm="100000">
                                          <p:val>
                                            <p:strVal val="#ppt_y"/>
                                          </p:val>
                                        </p:tav>
                                      </p:tavLst>
                                    </p:anim>
                                    <p:animEffect transition="in" filter="fade">
                                      <p:cBhvr>
                                        <p:cTn id="83" dur="500"/>
                                        <p:tgtEl>
                                          <p:spTgt spid="24"/>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25"/>
                                        </p:tgtEl>
                                        <p:attrNameLst>
                                          <p:attrName>style.visibility</p:attrName>
                                        </p:attrNameLst>
                                      </p:cBhvr>
                                      <p:to>
                                        <p:strVal val="visible"/>
                                      </p:to>
                                    </p:set>
                                    <p:anim calcmode="lin" valueType="num">
                                      <p:cBhvr additive="base">
                                        <p:cTn id="88" dur="500" fill="hold"/>
                                        <p:tgtEl>
                                          <p:spTgt spid="25"/>
                                        </p:tgtEl>
                                        <p:attrNameLst>
                                          <p:attrName>ppt_x</p:attrName>
                                        </p:attrNameLst>
                                      </p:cBhvr>
                                      <p:tavLst>
                                        <p:tav tm="0">
                                          <p:val>
                                            <p:strVal val="#ppt_x"/>
                                          </p:val>
                                        </p:tav>
                                        <p:tav tm="100000">
                                          <p:val>
                                            <p:strVal val="#ppt_x"/>
                                          </p:val>
                                        </p:tav>
                                      </p:tavLst>
                                    </p:anim>
                                    <p:anim calcmode="lin" valueType="num">
                                      <p:cBhvr additive="base">
                                        <p:cTn id="89" dur="500" fill="hold"/>
                                        <p:tgtEl>
                                          <p:spTgt spid="25"/>
                                        </p:tgtEl>
                                        <p:attrNameLst>
                                          <p:attrName>ppt_y</p:attrName>
                                        </p:attrNameLst>
                                      </p:cBhvr>
                                      <p:tavLst>
                                        <p:tav tm="0">
                                          <p:val>
                                            <p:strVal val="#ppt_y+0.1"/>
                                          </p:val>
                                        </p:tav>
                                        <p:tav tm="100000">
                                          <p:val>
                                            <p:strVal val="#ppt_y"/>
                                          </p:val>
                                        </p:tav>
                                      </p:tavLst>
                                    </p:anim>
                                    <p:animEffect transition="in" filter="fade">
                                      <p:cBhvr>
                                        <p:cTn id="90" dur="500"/>
                                        <p:tgtEl>
                                          <p:spTgt spid="25"/>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00" fill="hold"/>
                                        <p:tgtEl>
                                          <p:spTgt spid="26"/>
                                        </p:tgtEl>
                                        <p:attrNameLst>
                                          <p:attrName>ppt_x</p:attrName>
                                        </p:attrNameLst>
                                      </p:cBhvr>
                                      <p:tavLst>
                                        <p:tav tm="0">
                                          <p:val>
                                            <p:strVal val="#ppt_x"/>
                                          </p:val>
                                        </p:tav>
                                        <p:tav tm="100000">
                                          <p:val>
                                            <p:strVal val="#ppt_x"/>
                                          </p:val>
                                        </p:tav>
                                      </p:tavLst>
                                    </p:anim>
                                    <p:anim calcmode="lin" valueType="num">
                                      <p:cBhvr additive="base">
                                        <p:cTn id="94" dur="500" fill="hold"/>
                                        <p:tgtEl>
                                          <p:spTgt spid="26"/>
                                        </p:tgtEl>
                                        <p:attrNameLst>
                                          <p:attrName>ppt_y</p:attrName>
                                        </p:attrNameLst>
                                      </p:cBhvr>
                                      <p:tavLst>
                                        <p:tav tm="0">
                                          <p:val>
                                            <p:strVal val="#ppt_y+0.1"/>
                                          </p:val>
                                        </p:tav>
                                        <p:tav tm="100000">
                                          <p:val>
                                            <p:strVal val="#ppt_y"/>
                                          </p:val>
                                        </p:tav>
                                      </p:tavLst>
                                    </p:anim>
                                    <p:animEffect transition="in" filter="fade">
                                      <p:cBhvr>
                                        <p:cTn id="95" dur="500"/>
                                        <p:tgtEl>
                                          <p:spTgt spid="26"/>
                                        </p:tgtEl>
                                      </p:cBhvr>
                                    </p:animEffect>
                                  </p:childTnLst>
                                </p:cTn>
                              </p:par>
                              <p:par>
                                <p:cTn id="101" presetID="2" presetClass="entr" presetSubtype="4" fill="hold" grpId="0" nodeType="withEffect">
                                  <p:stCondLst>
                                    <p:cond delay="0"/>
                                  </p:stCondLst>
                                  <p:childTnLst>
                                    <p:set>
                                      <p:cBhvr>
                                        <p:cTn id="97" dur="1" fill="hold">
                                          <p:stCondLst>
                                            <p:cond delay="0"/>
                                          </p:stCondLst>
                                        </p:cTn>
                                        <p:tgtEl>
                                          <p:spTgt spid="27"/>
                                        </p:tgtEl>
                                        <p:attrNameLst>
                                          <p:attrName>style.visibility</p:attrName>
                                        </p:attrNameLst>
                                      </p:cBhvr>
                                      <p:to>
                                        <p:strVal val="visible"/>
                                      </p:to>
                                    </p:set>
                                    <p:anim calcmode="lin" valueType="num">
                                      <p:cBhvr additive="base">
                                        <p:cTn id="98" dur="500" fill="hold"/>
                                        <p:tgtEl>
                                          <p:spTgt spid="27"/>
                                        </p:tgtEl>
                                        <p:attrNameLst>
                                          <p:attrName>ppt_x</p:attrName>
                                        </p:attrNameLst>
                                      </p:cBhvr>
                                      <p:tavLst>
                                        <p:tav tm="0">
                                          <p:val>
                                            <p:strVal val="#ppt_x"/>
                                          </p:val>
                                        </p:tav>
                                        <p:tav tm="100000">
                                          <p:val>
                                            <p:strVal val="#ppt_x"/>
                                          </p:val>
                                        </p:tav>
                                      </p:tavLst>
                                    </p:anim>
                                    <p:anim calcmode="lin" valueType="num">
                                      <p:cBhvr additive="base">
                                        <p:cTn id="99" dur="500" fill="hold"/>
                                        <p:tgtEl>
                                          <p:spTgt spid="27"/>
                                        </p:tgtEl>
                                        <p:attrNameLst>
                                          <p:attrName>ppt_y</p:attrName>
                                        </p:attrNameLst>
                                      </p:cBhvr>
                                      <p:tavLst>
                                        <p:tav tm="0">
                                          <p:val>
                                            <p:strVal val="#ppt_y+0.1"/>
                                          </p:val>
                                        </p:tav>
                                        <p:tav tm="100000">
                                          <p:val>
                                            <p:strVal val="#ppt_y"/>
                                          </p:val>
                                        </p:tav>
                                      </p:tavLst>
                                    </p:anim>
                                    <p:animEffect transition="in" filter="fade">
                                      <p:cBhvr>
                                        <p:cTn id="100" dur="500"/>
                                        <p:tgtEl>
                                          <p:spTgt spid="27"/>
                                        </p:tgtEl>
                                      </p:cBhvr>
                                    </p:animEffect>
                                  </p:childTnLst>
                                </p:cTn>
                              </p:par>
                              <p:par>
                                <p:cTn id="106" presetID="2" presetClass="entr" presetSubtype="4" fill="hold" grpId="0" nodeType="withEffect">
                                  <p:stCondLst>
                                    <p:cond delay="60"/>
                                  </p:stCondLst>
                                  <p:childTnLst>
                                    <p:set>
                                      <p:cBhvr>
                                        <p:cTn id="102" dur="1" fill="hold">
                                          <p:stCondLst>
                                            <p:cond delay="0"/>
                                          </p:stCondLst>
                                        </p:cTn>
                                        <p:tgtEl>
                                          <p:spTgt spid="28"/>
                                        </p:tgtEl>
                                        <p:attrNameLst>
                                          <p:attrName>style.visibility</p:attrName>
                                        </p:attrNameLst>
                                      </p:cBhvr>
                                      <p:to>
                                        <p:strVal val="visible"/>
                                      </p:to>
                                    </p:set>
                                    <p:anim calcmode="lin" valueType="num">
                                      <p:cBhvr additive="base">
                                        <p:cTn id="103" dur="500" fill="hold"/>
                                        <p:tgtEl>
                                          <p:spTgt spid="28"/>
                                        </p:tgtEl>
                                        <p:attrNameLst>
                                          <p:attrName>ppt_x</p:attrName>
                                        </p:attrNameLst>
                                      </p:cBhvr>
                                      <p:tavLst>
                                        <p:tav tm="0">
                                          <p:val>
                                            <p:strVal val="#ppt_x"/>
                                          </p:val>
                                        </p:tav>
                                        <p:tav tm="100000">
                                          <p:val>
                                            <p:strVal val="#ppt_x"/>
                                          </p:val>
                                        </p:tav>
                                      </p:tavLst>
                                    </p:anim>
                                    <p:anim calcmode="lin" valueType="num">
                                      <p:cBhvr additive="base">
                                        <p:cTn id="104" dur="500" fill="hold"/>
                                        <p:tgtEl>
                                          <p:spTgt spid="28"/>
                                        </p:tgtEl>
                                        <p:attrNameLst>
                                          <p:attrName>ppt_y</p:attrName>
                                        </p:attrNameLst>
                                      </p:cBhvr>
                                      <p:tavLst>
                                        <p:tav tm="0">
                                          <p:val>
                                            <p:strVal val="#ppt_y+0.1"/>
                                          </p:val>
                                        </p:tav>
                                        <p:tav tm="100000">
                                          <p:val>
                                            <p:strVal val="#ppt_y"/>
                                          </p:val>
                                        </p:tav>
                                      </p:tavLst>
                                    </p:anim>
                                    <p:animEffect transition="in" filter="fade">
                                      <p:cBhvr>
                                        <p:cTn id="105" dur="500"/>
                                        <p:tgtEl>
                                          <p:spTgt spid="28"/>
                                        </p:tgtEl>
                                      </p:cBhvr>
                                    </p:animEffect>
                                  </p:childTnLst>
                                </p:cTn>
                              </p:par>
                              <p:par>
                                <p:cTn id="111" presetID="2" presetClass="entr" presetSubtype="4" fill="hold" grpId="0" nodeType="withEffect">
                                  <p:stCondLst>
                                    <p:cond delay="120"/>
                                  </p:stCondLst>
                                  <p:childTnLst>
                                    <p:set>
                                      <p:cBhvr>
                                        <p:cTn id="107" dur="1" fill="hold">
                                          <p:stCondLst>
                                            <p:cond delay="0"/>
                                          </p:stCondLst>
                                        </p:cTn>
                                        <p:tgtEl>
                                          <p:spTgt spid="29"/>
                                        </p:tgtEl>
                                        <p:attrNameLst>
                                          <p:attrName>style.visibility</p:attrName>
                                        </p:attrNameLst>
                                      </p:cBhvr>
                                      <p:to>
                                        <p:strVal val="visible"/>
                                      </p:to>
                                    </p:set>
                                    <p:anim calcmode="lin" valueType="num">
                                      <p:cBhvr additive="base">
                                        <p:cTn id="108" dur="500" fill="hold"/>
                                        <p:tgtEl>
                                          <p:spTgt spid="29"/>
                                        </p:tgtEl>
                                        <p:attrNameLst>
                                          <p:attrName>ppt_x</p:attrName>
                                        </p:attrNameLst>
                                      </p:cBhvr>
                                      <p:tavLst>
                                        <p:tav tm="0">
                                          <p:val>
                                            <p:strVal val="#ppt_x"/>
                                          </p:val>
                                        </p:tav>
                                        <p:tav tm="100000">
                                          <p:val>
                                            <p:strVal val="#ppt_x"/>
                                          </p:val>
                                        </p:tav>
                                      </p:tavLst>
                                    </p:anim>
                                    <p:anim calcmode="lin" valueType="num">
                                      <p:cBhvr additive="base">
                                        <p:cTn id="109" dur="500" fill="hold"/>
                                        <p:tgtEl>
                                          <p:spTgt spid="29"/>
                                        </p:tgtEl>
                                        <p:attrNameLst>
                                          <p:attrName>ppt_y</p:attrName>
                                        </p:attrNameLst>
                                      </p:cBhvr>
                                      <p:tavLst>
                                        <p:tav tm="0">
                                          <p:val>
                                            <p:strVal val="#ppt_y+0.1"/>
                                          </p:val>
                                        </p:tav>
                                        <p:tav tm="100000">
                                          <p:val>
                                            <p:strVal val="#ppt_y"/>
                                          </p:val>
                                        </p:tav>
                                      </p:tavLst>
                                    </p:anim>
                                    <p:animEffect transition="in" filter="fade">
                                      <p:cBhvr>
                                        <p:cTn id="110" dur="500"/>
                                        <p:tgtEl>
                                          <p:spTgt spid="29"/>
                                        </p:tgtEl>
                                      </p:cBhvr>
                                    </p:animEffect>
                                  </p:childTnLst>
                                </p:cTn>
                              </p:par>
                              <p:par>
                                <p:cTn id="116" presetID="2" presetClass="entr" presetSubtype="4" fill="hold" grpId="0" nodeType="withEffect">
                                  <p:stCondLst>
                                    <p:cond delay="180"/>
                                  </p:stCondLst>
                                  <p:childTnLst>
                                    <p:set>
                                      <p:cBhvr>
                                        <p:cTn id="112" dur="1" fill="hold">
                                          <p:stCondLst>
                                            <p:cond delay="0"/>
                                          </p:stCondLst>
                                        </p:cTn>
                                        <p:tgtEl>
                                          <p:spTgt spid="30"/>
                                        </p:tgtEl>
                                        <p:attrNameLst>
                                          <p:attrName>style.visibility</p:attrName>
                                        </p:attrNameLst>
                                      </p:cBhvr>
                                      <p:to>
                                        <p:strVal val="visible"/>
                                      </p:to>
                                    </p:set>
                                    <p:anim calcmode="lin" valueType="num">
                                      <p:cBhvr additive="base">
                                        <p:cTn id="113" dur="500" fill="hold"/>
                                        <p:tgtEl>
                                          <p:spTgt spid="30"/>
                                        </p:tgtEl>
                                        <p:attrNameLst>
                                          <p:attrName>ppt_x</p:attrName>
                                        </p:attrNameLst>
                                      </p:cBhvr>
                                      <p:tavLst>
                                        <p:tav tm="0">
                                          <p:val>
                                            <p:strVal val="#ppt_x"/>
                                          </p:val>
                                        </p:tav>
                                        <p:tav tm="100000">
                                          <p:val>
                                            <p:strVal val="#ppt_x"/>
                                          </p:val>
                                        </p:tav>
                                      </p:tavLst>
                                    </p:anim>
                                    <p:anim calcmode="lin" valueType="num">
                                      <p:cBhvr additive="base">
                                        <p:cTn id="114" dur="500" fill="hold"/>
                                        <p:tgtEl>
                                          <p:spTgt spid="30"/>
                                        </p:tgtEl>
                                        <p:attrNameLst>
                                          <p:attrName>ppt_y</p:attrName>
                                        </p:attrNameLst>
                                      </p:cBhvr>
                                      <p:tavLst>
                                        <p:tav tm="0">
                                          <p:val>
                                            <p:strVal val="#ppt_y+0.1"/>
                                          </p:val>
                                        </p:tav>
                                        <p:tav tm="100000">
                                          <p:val>
                                            <p:strVal val="#ppt_y"/>
                                          </p:val>
                                        </p:tav>
                                      </p:tavLst>
                                    </p:anim>
                                    <p:animEffect transition="in" filter="fade">
                                      <p:cBhvr>
                                        <p:cTn id="115" dur="500"/>
                                        <p:tgtEl>
                                          <p:spTgt spid="30"/>
                                        </p:tgtEl>
                                      </p:cBhvr>
                                    </p:animEffect>
                                  </p:childTnLst>
                                </p:cTn>
                              </p:par>
                              <p:par>
                                <p:cTn id="121" presetID="2" presetClass="entr" presetSubtype="4" fill="hold" grpId="0" nodeType="withEffect">
                                  <p:stCondLst>
                                    <p:cond delay="240"/>
                                  </p:stCondLst>
                                  <p:childTnLst>
                                    <p:set>
                                      <p:cBhvr>
                                        <p:cTn id="117" dur="1" fill="hold">
                                          <p:stCondLst>
                                            <p:cond delay="0"/>
                                          </p:stCondLst>
                                        </p:cTn>
                                        <p:tgtEl>
                                          <p:spTgt spid="31"/>
                                        </p:tgtEl>
                                        <p:attrNameLst>
                                          <p:attrName>style.visibility</p:attrName>
                                        </p:attrNameLst>
                                      </p:cBhvr>
                                      <p:to>
                                        <p:strVal val="visible"/>
                                      </p:to>
                                    </p:set>
                                    <p:anim calcmode="lin" valueType="num">
                                      <p:cBhvr additive="base">
                                        <p:cTn id="118" dur="500" fill="hold"/>
                                        <p:tgtEl>
                                          <p:spTgt spid="31"/>
                                        </p:tgtEl>
                                        <p:attrNameLst>
                                          <p:attrName>ppt_x</p:attrName>
                                        </p:attrNameLst>
                                      </p:cBhvr>
                                      <p:tavLst>
                                        <p:tav tm="0">
                                          <p:val>
                                            <p:strVal val="#ppt_x"/>
                                          </p:val>
                                        </p:tav>
                                        <p:tav tm="100000">
                                          <p:val>
                                            <p:strVal val="#ppt_x"/>
                                          </p:val>
                                        </p:tav>
                                      </p:tavLst>
                                    </p:anim>
                                    <p:anim calcmode="lin" valueType="num">
                                      <p:cBhvr additive="base">
                                        <p:cTn id="119" dur="500" fill="hold"/>
                                        <p:tgtEl>
                                          <p:spTgt spid="31"/>
                                        </p:tgtEl>
                                        <p:attrNameLst>
                                          <p:attrName>ppt_y</p:attrName>
                                        </p:attrNameLst>
                                      </p:cBhvr>
                                      <p:tavLst>
                                        <p:tav tm="0">
                                          <p:val>
                                            <p:strVal val="#ppt_y+0.1"/>
                                          </p:val>
                                        </p:tav>
                                        <p:tav tm="100000">
                                          <p:val>
                                            <p:strVal val="#ppt_y"/>
                                          </p:val>
                                        </p:tav>
                                      </p:tavLst>
                                    </p:anim>
                                    <p:animEffect transition="in" filter="fade">
                                      <p:cBhvr>
                                        <p:cTn id="120" dur="500"/>
                                        <p:tgtEl>
                                          <p:spTgt spid="31"/>
                                        </p:tgtEl>
                                      </p:cBhvr>
                                    </p:animEffect>
                                  </p:childTnLst>
                                </p:cTn>
                              </p:par>
                              <p:par>
                                <p:cTn id="126" presetID="2" presetClass="entr" presetSubtype="4" fill="hold" grpId="0" nodeType="withEffect">
                                  <p:stCondLst>
                                    <p:cond delay="300"/>
                                  </p:stCondLst>
                                  <p:childTnLst>
                                    <p:set>
                                      <p:cBhvr>
                                        <p:cTn id="122" dur="1" fill="hold">
                                          <p:stCondLst>
                                            <p:cond delay="0"/>
                                          </p:stCondLst>
                                        </p:cTn>
                                        <p:tgtEl>
                                          <p:spTgt spid="32"/>
                                        </p:tgtEl>
                                        <p:attrNameLst>
                                          <p:attrName>style.visibility</p:attrName>
                                        </p:attrNameLst>
                                      </p:cBhvr>
                                      <p:to>
                                        <p:strVal val="visible"/>
                                      </p:to>
                                    </p:set>
                                    <p:anim calcmode="lin" valueType="num">
                                      <p:cBhvr additive="base">
                                        <p:cTn id="123" dur="500" fill="hold"/>
                                        <p:tgtEl>
                                          <p:spTgt spid="32"/>
                                        </p:tgtEl>
                                        <p:attrNameLst>
                                          <p:attrName>ppt_x</p:attrName>
                                        </p:attrNameLst>
                                      </p:cBhvr>
                                      <p:tavLst>
                                        <p:tav tm="0">
                                          <p:val>
                                            <p:strVal val="#ppt_x"/>
                                          </p:val>
                                        </p:tav>
                                        <p:tav tm="100000">
                                          <p:val>
                                            <p:strVal val="#ppt_x"/>
                                          </p:val>
                                        </p:tav>
                                      </p:tavLst>
                                    </p:anim>
                                    <p:anim calcmode="lin" valueType="num">
                                      <p:cBhvr additive="base">
                                        <p:cTn id="124" dur="500" fill="hold"/>
                                        <p:tgtEl>
                                          <p:spTgt spid="32"/>
                                        </p:tgtEl>
                                        <p:attrNameLst>
                                          <p:attrName>ppt_y</p:attrName>
                                        </p:attrNameLst>
                                      </p:cBhvr>
                                      <p:tavLst>
                                        <p:tav tm="0">
                                          <p:val>
                                            <p:strVal val="#ppt_y+0.1"/>
                                          </p:val>
                                        </p:tav>
                                        <p:tav tm="100000">
                                          <p:val>
                                            <p:strVal val="#ppt_y"/>
                                          </p:val>
                                        </p:tav>
                                      </p:tavLst>
                                    </p:anim>
                                    <p:animEffect transition="in" filter="fade">
                                      <p:cBhvr>
                                        <p:cTn id="125" dur="500"/>
                                        <p:tgtEl>
                                          <p:spTgt spid="32"/>
                                        </p:tgtEl>
                                      </p:cBhvr>
                                    </p:animEffect>
                                  </p:childTnLst>
                                </p:cTn>
                              </p:par>
                            </p:childTnLst>
                          </p:cTn>
                        </p:par>
                      </p:childTnLst>
                    </p:cTn>
                  </p:par>
                  <p:par>
                    <p:cTn id="127" fill="hold">
                      <p:stCondLst>
                        <p:cond delay="indefinite"/>
                      </p:stCondLst>
                      <p:childTnLst>
                        <p:par>
                          <p:cTn id="128" fill="hold">
                            <p:stCondLst>
                              <p:cond delay="0"/>
                            </p:stCondLst>
                            <p:childTnLst>
                              <p:par>
                                <p:cTn id="133" presetID="2" presetClass="entr" presetSubtype="4" fill="hold" grpId="0" nodeType="clickEffect">
                                  <p:stCondLst>
                                    <p:cond delay="0"/>
                                  </p:stCondLst>
                                  <p:childTnLst>
                                    <p:set>
                                      <p:cBhvr>
                                        <p:cTn id="129" dur="1" fill="hold">
                                          <p:stCondLst>
                                            <p:cond delay="0"/>
                                          </p:stCondLst>
                                        </p:cTn>
                                        <p:tgtEl>
                                          <p:spTgt spid="33"/>
                                        </p:tgtEl>
                                        <p:attrNameLst>
                                          <p:attrName>style.visibility</p:attrName>
                                        </p:attrNameLst>
                                      </p:cBhvr>
                                      <p:to>
                                        <p:strVal val="visible"/>
                                      </p:to>
                                    </p:set>
                                    <p:anim calcmode="lin" valueType="num">
                                      <p:cBhvr additive="base">
                                        <p:cTn id="130" dur="500" fill="hold"/>
                                        <p:tgtEl>
                                          <p:spTgt spid="33"/>
                                        </p:tgtEl>
                                        <p:attrNameLst>
                                          <p:attrName>ppt_x</p:attrName>
                                        </p:attrNameLst>
                                      </p:cBhvr>
                                      <p:tavLst>
                                        <p:tav tm="0">
                                          <p:val>
                                            <p:strVal val="#ppt_x"/>
                                          </p:val>
                                        </p:tav>
                                        <p:tav tm="100000">
                                          <p:val>
                                            <p:strVal val="#ppt_x"/>
                                          </p:val>
                                        </p:tav>
                                      </p:tavLst>
                                    </p:anim>
                                    <p:anim calcmode="lin" valueType="num">
                                      <p:cBhvr additive="base">
                                        <p:cTn id="131" dur="500" fill="hold"/>
                                        <p:tgtEl>
                                          <p:spTgt spid="33"/>
                                        </p:tgtEl>
                                        <p:attrNameLst>
                                          <p:attrName>ppt_y</p:attrName>
                                        </p:attrNameLst>
                                      </p:cBhvr>
                                      <p:tavLst>
                                        <p:tav tm="0">
                                          <p:val>
                                            <p:strVal val="#ppt_y+0.1"/>
                                          </p:val>
                                        </p:tav>
                                        <p:tav tm="100000">
                                          <p:val>
                                            <p:strVal val="#ppt_y"/>
                                          </p:val>
                                        </p:tav>
                                      </p:tavLst>
                                    </p:anim>
                                    <p:animEffect transition="in" filter="fade">
                                      <p:cBhvr>
                                        <p:cTn id="132" dur="500"/>
                                        <p:tgtEl>
                                          <p:spTgt spid="33"/>
                                        </p:tgtEl>
                                      </p:cBhvr>
                                    </p:animEffect>
                                  </p:childTnLst>
                                </p:cTn>
                              </p:par>
                              <p:par>
                                <p:cTn id="138" presetID="2" presetClass="entr" presetSubtype="4" fill="hold" grpId="0" nodeType="withEffect">
                                  <p:stCondLst>
                                    <p:cond delay="0"/>
                                  </p:stCondLst>
                                  <p:childTnLst>
                                    <p:set>
                                      <p:cBhvr>
                                        <p:cTn id="134" dur="1" fill="hold">
                                          <p:stCondLst>
                                            <p:cond delay="0"/>
                                          </p:stCondLst>
                                        </p:cTn>
                                        <p:tgtEl>
                                          <p:spTgt spid="34"/>
                                        </p:tgtEl>
                                        <p:attrNameLst>
                                          <p:attrName>style.visibility</p:attrName>
                                        </p:attrNameLst>
                                      </p:cBhvr>
                                      <p:to>
                                        <p:strVal val="visible"/>
                                      </p:to>
                                    </p:set>
                                    <p:anim calcmode="lin" valueType="num">
                                      <p:cBhvr additive="base">
                                        <p:cTn id="135" dur="500" fill="hold"/>
                                        <p:tgtEl>
                                          <p:spTgt spid="34"/>
                                        </p:tgtEl>
                                        <p:attrNameLst>
                                          <p:attrName>ppt_x</p:attrName>
                                        </p:attrNameLst>
                                      </p:cBhvr>
                                      <p:tavLst>
                                        <p:tav tm="0">
                                          <p:val>
                                            <p:strVal val="#ppt_x"/>
                                          </p:val>
                                        </p:tav>
                                        <p:tav tm="100000">
                                          <p:val>
                                            <p:strVal val="#ppt_x"/>
                                          </p:val>
                                        </p:tav>
                                      </p:tavLst>
                                    </p:anim>
                                    <p:anim calcmode="lin" valueType="num">
                                      <p:cBhvr additive="base">
                                        <p:cTn id="136" dur="500" fill="hold"/>
                                        <p:tgtEl>
                                          <p:spTgt spid="34"/>
                                        </p:tgtEl>
                                        <p:attrNameLst>
                                          <p:attrName>ppt_y</p:attrName>
                                        </p:attrNameLst>
                                      </p:cBhvr>
                                      <p:tavLst>
                                        <p:tav tm="0">
                                          <p:val>
                                            <p:strVal val="#ppt_y+0.1"/>
                                          </p:val>
                                        </p:tav>
                                        <p:tav tm="100000">
                                          <p:val>
                                            <p:strVal val="#ppt_y"/>
                                          </p:val>
                                        </p:tav>
                                      </p:tavLst>
                                    </p:anim>
                                    <p:animEffect transition="in" filter="fade">
                                      <p:cBhvr>
                                        <p:cTn id="13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