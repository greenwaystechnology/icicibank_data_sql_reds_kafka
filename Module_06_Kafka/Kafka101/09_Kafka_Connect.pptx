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9 of the Kafka 101 series: Kafka Connect - how data gets into Kafka from the systems that are not Kafka, and back out to them, by configuring connectors rather than writing producers and consumers by hand.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fact of life in information systems: some of them are not Kafka. Relational databases, SaaS applications, search clusters, object stores, files. Whatever you think of that, you have to talk to them - get data from out there into a topic, and take data from a topic and put it into that other thing over there. That is the job of Kafka Connect, Kafka's integration API - really, its integration subsystem.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is two things. On one hand it is an ecosystem of pluggable connectors: you drop one in, configure it declaratively, and it runs. On the other hand it is a client application - its own small distributed system that runs those connectors, producing into Kafka and consuming from Kafka. Remember the rule from earlier modules: everything that is not a broker is a producer or a consumer. Connect is no exception.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a small Kafka cluster, surrounded by systems that are definitely not Kafka - relational databases, SaaS applications, maybe some Elasticsearch. Connect is a client application running outside the brokers. The picture shows one Connect deployment on each side to make the direction clear; you can run Connect as a single instance, but often it is a cluster of several. Source connectors read from an external system and produce to a topic; sink connectors consume from a topic and write to an external system. Trainer note: in practice one Connect cluster usually runs both kinds side by side.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a source connector you read from, say, a database - perhaps with a change data capture process - and produce to a topic. A sink connector looking at that same topic sees a message, reads it, and writes it to some other external system. So messages flow through Kafka from external systems to other external systems, using Connect at both ends. Because the topic is a log, any number of other sinks - or ordinary consumers - can read the same data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is itself a distributed system. There can be many instances, depending on the load, the number of connectors, and the kinds of systems you talk to. Trainer note: the vocabulary the lesson does not spell out - a worker is one Connect JVM process; workers sharing a group.id form a Connect cluster. A connector is a configured plugin; it splits its job into tasks, up to tasks.max, and tasks are what the workers actually run. When a worker dies, the cluster rebalances and its tasks restart elsewhere. Connector configs, source offsets and status are kept in three internal topics, by default connect-configs, connect-offsets and connect-status - Kafka storing Connect's state, again.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is declarative. You do not want to write the code that talks to Elasticsearch - somebody already has, and you will not make the world better by doing it again. You write a little piece of JSON: some security parameters, where the Elastic cluster is, which topic to read from - for Elastic it is almost always a sink. You send that JSON to a REST endpoint on the Connect cluster, make sure the connector class can be loaded by the workers, and off you go. Trainer note: PUT /connectors/&lt;name&gt;/config creates or updates a connector and is safe to repeat; the ${file:...} syntax is a config provider, which keeps passwords out of the connector config you store in Git.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Connectors can do small bits of stateless processing on the messages that flow through them - single message transforms, or SMTs, configured right in the connector config. You can filter, add fields to provide context, rename a field, mask PII, modify certain values, or - at the sophisticated end - look into a message value and extract something as the key. Trainer note: the class names shown are the built-in ones; each comes in a $Key and a $Value flavour, and Filter takes a predicate such as TopicNameMatches or HasHeaderKey. Several SMTs can be chained in order.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lesson's example: a source connector reads records from a Postgres database and adds a field called source_system to every message, with the value users_db. That field is now in the messages in the topic, even though it was nowhere in the table being sourced. Trainer note: the slide uses the JDBC source connector, which polls the table - the same one used in the lab. With a CDC connector such as Debezium, the value is a change envelope (before, after, op), so you would usually add the ExtractNewRecordState SMT first and then InsertField.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important thing about single message transforms is that they are entirely stateless. If you want to do stateful things in an SMT - number one, you can't; number two, you should be looking at stream processing. Get the data into Kafka, then use something like Flink or Kafka Streams once it is there. That is the next module.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big advantage of Connect is the huge ecosystem of connectors that somebody else has written and many people have deployed and tested. It follows a classic power law: 5 or 10 percent of the possible connectors account for 90 percent of the actual integration work. Whatever you are connecting to is probably pretty standard, and that connector has probably been battle-tested for a long time. Trainer note: the bar labels are typical heavy hitters, not measured rankings.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a long tail too - not just the big ones. The lesson counts over 4,000 connectors on GitHub, in various stages of usefulness. Maybe somebody wrote one, has not maintained it in years, and it worked for their use case - it might not work for yours. It is not just free as in beer: it is free as in puppy - once you take it home, its care and feeding are your problem. The big use cases, though, are covered really well. For the lab kit: everything runs on connectors that cost nothing - the FileStream connectors that ship with Apache Kafka, and Confluent's JDBC connector under the Confluent Community License.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find connectors, Confluent runs the Confluent Hub - hub.confluent.io or confluent.io/hub. It is not only the connectors Confluent provides in its cloud product or in Confluent Platform on premises; it lists others they are aware of. Per the lesson, Confluent supports over a hundred pre-built connectors, and the fully managed cloud service runs over 80 that you simply configure - you never worry about a Connect cluster. You might operate Connect yourself or get it from a cloud service, but either way it is the standard way of integrating Kafka with the rest of the world. Trainer note: check each connector's license on its Hub page - Apache 2.0, Confluent Community License, or commercial.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points to leave with. Quick check: you need to count orders per customer as they arrive from a database - can an SMT do it? (No - it needs state; land the data with Connect, then use stream processing.) And what must be true before a connector config you PUT will run? (The connector class must be on the workers' plugin path.) Lab: the Kafka Connect Lab Guide.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8181B"/>
        </a:solidFill>
        <a:effectLst/>
      </p:bgPr>
    </p:bg>
    <p:spTree>
      <p:nvGrpSpPr>
        <p:cNvPr id="1" name=""/>
        <p:cNvGrpSpPr/>
        <p:nvPr/>
      </p:nvGrpSpPr>
      <p:grpSpPr/>
      <p:sp>
        <p:nvSpPr>
          <p:cNvPr id="2" name="edge1"/>
          <p:cNvSpPr/>
          <p:nvPr/>
        </p:nvSpPr>
        <p:spPr>
          <a:xfrm>
            <a:off x="0" y="0"/>
            <a:ext cx="128016" cy="51435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a0f_kick2"/>
          <p:cNvSpPr txBox="1"/>
          <p:nvPr/>
        </p:nvSpPr>
        <p:spPr>
          <a:xfrm>
            <a:off x="548640" y="868680"/>
            <a:ext cx="4937760" cy="292608"/>
          </a:xfrm>
          <a:prstGeom prst="rect">
            <a:avLst/>
          </a:prstGeom>
          <a:noFill/>
        </p:spPr>
        <p:txBody>
          <a:bodyPr wrap="square" lIns="0" tIns="0" rIns="0" bIns="0" anchor="ctr">
            <a:spAutoFit/>
          </a:bodyPr>
          <a:lstStyle/>
          <a:p>
            <a:pPr algn="l"/>
            <a:r>
              <a:rPr sz="1050" b="1" spc="300">
                <a:solidFill>
                  <a:srgbClr val="FB923C"/>
                </a:solidFill>
                <a:latin typeface="Segoe UI"/>
              </a:rPr>
              <a:t>APACHE KAFKA 101</a:t>
            </a:r>
          </a:p>
        </p:txBody>
      </p:sp>
      <p:sp>
        <p:nvSpPr>
          <p:cNvPr id="4" name="a0ud200_t3"/>
          <p:cNvSpPr txBox="1"/>
          <p:nvPr/>
        </p:nvSpPr>
        <p:spPr>
          <a:xfrm>
            <a:off x="548640" y="1188720"/>
            <a:ext cx="5212080" cy="1417320"/>
          </a:xfrm>
          <a:prstGeom prst="rect">
            <a:avLst/>
          </a:prstGeom>
          <a:noFill/>
        </p:spPr>
        <p:txBody>
          <a:bodyPr wrap="square" lIns="0" tIns="0" rIns="0" bIns="0" anchor="ctr">
            <a:spAutoFit/>
          </a:bodyPr>
          <a:lstStyle/>
          <a:p>
            <a:pPr algn="l"/>
            <a:r>
              <a:rPr sz="4200" b="0">
                <a:solidFill>
                  <a:srgbClr val="FFFFFF"/>
                </a:solidFill>
                <a:latin typeface="Bahnschrift SemiBold"/>
              </a:rPr>
              <a:t>Apache Kafka 101</a:t>
            </a:r>
          </a:p>
        </p:txBody>
      </p:sp>
      <p:sp>
        <p:nvSpPr>
          <p:cNvPr id="5" name="a0fd500_sub4"/>
          <p:cNvSpPr txBox="1"/>
          <p:nvPr/>
        </p:nvSpPr>
        <p:spPr>
          <a:xfrm>
            <a:off x="548640" y="2670048"/>
            <a:ext cx="5029200" cy="457200"/>
          </a:xfrm>
          <a:prstGeom prst="rect">
            <a:avLst/>
          </a:prstGeom>
          <a:noFill/>
        </p:spPr>
        <p:txBody>
          <a:bodyPr wrap="square" lIns="0" tIns="0" rIns="0" bIns="0" anchor="ctr">
            <a:spAutoFit/>
          </a:bodyPr>
          <a:lstStyle/>
          <a:p>
            <a:pPr algn="l"/>
            <a:r>
              <a:rPr sz="1450" b="0">
                <a:solidFill>
                  <a:srgbClr val="D6D3D1"/>
                </a:solidFill>
                <a:latin typeface="Segoe UI"/>
              </a:rPr>
              <a:t>Kafka Connect</a:t>
            </a:r>
          </a:p>
          <a:p>
            <a:pPr algn="l"/>
            <a:r>
              <a:rPr sz="1450" b="0">
                <a:solidFill>
                  <a:srgbClr val="D6D3D1"/>
                </a:solidFill>
                <a:latin typeface="Segoe UI"/>
              </a:rPr>
              <a:t>getting data in and out - with configuration, not code</a:t>
            </a:r>
          </a:p>
        </p:txBody>
      </p:sp>
      <p:sp>
        <p:nvSpPr>
          <p:cNvPr id="6" name="a0ud800_pill5"/>
          <p:cNvSpPr/>
          <p:nvPr/>
        </p:nvSpPr>
        <p:spPr>
          <a:xfrm>
            <a:off x="548640"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SOURCE</a:t>
            </a:r>
          </a:p>
        </p:txBody>
      </p:sp>
      <p:sp>
        <p:nvSpPr>
          <p:cNvPr id="7" name="a0ud950_pill6"/>
          <p:cNvSpPr/>
          <p:nvPr/>
        </p:nvSpPr>
        <p:spPr>
          <a:xfrm>
            <a:off x="1572768"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SINK</a:t>
            </a:r>
          </a:p>
        </p:txBody>
      </p:sp>
      <p:sp>
        <p:nvSpPr>
          <p:cNvPr id="8" name="a0ud1100_pill7"/>
          <p:cNvSpPr/>
          <p:nvPr/>
        </p:nvSpPr>
        <p:spPr>
          <a:xfrm>
            <a:off x="2596896"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SMT</a:t>
            </a:r>
          </a:p>
        </p:txBody>
      </p:sp>
      <p:sp>
        <p:nvSpPr>
          <p:cNvPr id="9" name="a0ud1250_pill8"/>
          <p:cNvSpPr/>
          <p:nvPr/>
        </p:nvSpPr>
        <p:spPr>
          <a:xfrm>
            <a:off x="3621024"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HUB</a:t>
            </a:r>
          </a:p>
        </p:txBody>
      </p:sp>
      <p:sp>
        <p:nvSpPr>
          <p:cNvPr id="10" name="a0fd1400_nt9"/>
          <p:cNvSpPr txBox="1"/>
          <p:nvPr/>
        </p:nvSpPr>
        <p:spPr>
          <a:xfrm>
            <a:off x="548640" y="3950208"/>
            <a:ext cx="4937760" cy="457200"/>
          </a:xfrm>
          <a:prstGeom prst="rect">
            <a:avLst/>
          </a:prstGeom>
          <a:noFill/>
        </p:spPr>
        <p:txBody>
          <a:bodyPr wrap="square" lIns="0" tIns="0" rIns="0" bIns="0" anchor="ctr">
            <a:spAutoFit/>
          </a:bodyPr>
          <a:lstStyle/>
          <a:p>
            <a:pPr algn="l"/>
            <a:r>
              <a:rPr sz="1050" b="0">
                <a:solidFill>
                  <a:srgbClr val="A8A29E"/>
                </a:solidFill>
                <a:latin typeface="Segoe UI"/>
              </a:rPr>
              <a:t>Module 9  ·  Following the Kafka 101 Kafka Connect lesson by Tim Berglund, Confluent</a:t>
            </a:r>
          </a:p>
        </p:txBody>
      </p:sp>
      <p:sp>
        <p:nvSpPr>
          <p:cNvPr id="11" name="a0fd1600_lc10"/>
          <p:cNvSpPr/>
          <p:nvPr/>
        </p:nvSpPr>
        <p:spPr>
          <a:xfrm>
            <a:off x="548640"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0fd1600_lct11"/>
          <p:cNvSpPr txBox="1"/>
          <p:nvPr/>
        </p:nvSpPr>
        <p:spPr>
          <a:xfrm>
            <a:off x="548640"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0</a:t>
            </a:r>
          </a:p>
        </p:txBody>
      </p:sp>
      <p:sp>
        <p:nvSpPr>
          <p:cNvPr id="13" name="a0fd1645_lc12"/>
          <p:cNvSpPr/>
          <p:nvPr/>
        </p:nvSpPr>
        <p:spPr>
          <a:xfrm>
            <a:off x="987552"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0fd1645_lct13"/>
          <p:cNvSpPr txBox="1"/>
          <p:nvPr/>
        </p:nvSpPr>
        <p:spPr>
          <a:xfrm>
            <a:off x="987552"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a:t>
            </a:r>
          </a:p>
        </p:txBody>
      </p:sp>
      <p:sp>
        <p:nvSpPr>
          <p:cNvPr id="15" name="a0fd1690_lc14"/>
          <p:cNvSpPr/>
          <p:nvPr/>
        </p:nvSpPr>
        <p:spPr>
          <a:xfrm>
            <a:off x="1426464"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0fd1690_lct15"/>
          <p:cNvSpPr txBox="1"/>
          <p:nvPr/>
        </p:nvSpPr>
        <p:spPr>
          <a:xfrm>
            <a:off x="1426464"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2</a:t>
            </a:r>
          </a:p>
        </p:txBody>
      </p:sp>
      <p:sp>
        <p:nvSpPr>
          <p:cNvPr id="17" name="a0fd1735_lc16"/>
          <p:cNvSpPr/>
          <p:nvPr/>
        </p:nvSpPr>
        <p:spPr>
          <a:xfrm>
            <a:off x="1865376"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0fd1735_lct17"/>
          <p:cNvSpPr txBox="1"/>
          <p:nvPr/>
        </p:nvSpPr>
        <p:spPr>
          <a:xfrm>
            <a:off x="1865376"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3</a:t>
            </a:r>
          </a:p>
        </p:txBody>
      </p:sp>
      <p:sp>
        <p:nvSpPr>
          <p:cNvPr id="19" name="a0fd1780_lc18"/>
          <p:cNvSpPr/>
          <p:nvPr/>
        </p:nvSpPr>
        <p:spPr>
          <a:xfrm>
            <a:off x="2304288"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0fd1780_lct19"/>
          <p:cNvSpPr txBox="1"/>
          <p:nvPr/>
        </p:nvSpPr>
        <p:spPr>
          <a:xfrm>
            <a:off x="2304288"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4</a:t>
            </a:r>
          </a:p>
        </p:txBody>
      </p:sp>
      <p:sp>
        <p:nvSpPr>
          <p:cNvPr id="21" name="a0fd1825_lc20"/>
          <p:cNvSpPr/>
          <p:nvPr/>
        </p:nvSpPr>
        <p:spPr>
          <a:xfrm>
            <a:off x="2743200"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0fd1825_lct21"/>
          <p:cNvSpPr txBox="1"/>
          <p:nvPr/>
        </p:nvSpPr>
        <p:spPr>
          <a:xfrm>
            <a:off x="2743200"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5</a:t>
            </a:r>
          </a:p>
        </p:txBody>
      </p:sp>
      <p:sp>
        <p:nvSpPr>
          <p:cNvPr id="23" name="a0fd1870_lc22"/>
          <p:cNvSpPr/>
          <p:nvPr/>
        </p:nvSpPr>
        <p:spPr>
          <a:xfrm>
            <a:off x="3182112"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0fd1870_lct23"/>
          <p:cNvSpPr txBox="1"/>
          <p:nvPr/>
        </p:nvSpPr>
        <p:spPr>
          <a:xfrm>
            <a:off x="3182112"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6</a:t>
            </a:r>
          </a:p>
        </p:txBody>
      </p:sp>
      <p:sp>
        <p:nvSpPr>
          <p:cNvPr id="25" name="a0fd1915_lc24"/>
          <p:cNvSpPr/>
          <p:nvPr/>
        </p:nvSpPr>
        <p:spPr>
          <a:xfrm>
            <a:off x="3621024"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0fd1915_lct25"/>
          <p:cNvSpPr txBox="1"/>
          <p:nvPr/>
        </p:nvSpPr>
        <p:spPr>
          <a:xfrm>
            <a:off x="3621024"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7</a:t>
            </a:r>
          </a:p>
        </p:txBody>
      </p:sp>
      <p:sp>
        <p:nvSpPr>
          <p:cNvPr id="27" name="a0fd1960_lc26"/>
          <p:cNvSpPr/>
          <p:nvPr/>
        </p:nvSpPr>
        <p:spPr>
          <a:xfrm>
            <a:off x="4059935"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0fd1960_lct27"/>
          <p:cNvSpPr txBox="1"/>
          <p:nvPr/>
        </p:nvSpPr>
        <p:spPr>
          <a:xfrm>
            <a:off x="4059935"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8</a:t>
            </a:r>
          </a:p>
        </p:txBody>
      </p:sp>
      <p:sp>
        <p:nvSpPr>
          <p:cNvPr id="29" name="a0fd2005_lc28"/>
          <p:cNvSpPr/>
          <p:nvPr/>
        </p:nvSpPr>
        <p:spPr>
          <a:xfrm>
            <a:off x="4498848"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0fd2005_lct29"/>
          <p:cNvSpPr txBox="1"/>
          <p:nvPr/>
        </p:nvSpPr>
        <p:spPr>
          <a:xfrm>
            <a:off x="4498848"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9</a:t>
            </a:r>
          </a:p>
        </p:txBody>
      </p:sp>
      <p:sp>
        <p:nvSpPr>
          <p:cNvPr id="31" name="a0fd2050_lc30"/>
          <p:cNvSpPr/>
          <p:nvPr/>
        </p:nvSpPr>
        <p:spPr>
          <a:xfrm>
            <a:off x="4937759" y="4553712"/>
            <a:ext cx="384048" cy="237744"/>
          </a:xfrm>
          <a:prstGeom prst="roundRect">
            <a:avLst>
              <a:gd name="adj" fmla="val 1538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0fd2050_lct31"/>
          <p:cNvSpPr txBox="1"/>
          <p:nvPr/>
        </p:nvSpPr>
        <p:spPr>
          <a:xfrm>
            <a:off x="4937759"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10</a:t>
            </a:r>
          </a:p>
        </p:txBody>
      </p:sp>
      <p:sp>
        <p:nvSpPr>
          <p:cNvPr id="33" name="a0fd2095_lc32"/>
          <p:cNvSpPr/>
          <p:nvPr/>
        </p:nvSpPr>
        <p:spPr>
          <a:xfrm>
            <a:off x="5376671" y="4553712"/>
            <a:ext cx="384048" cy="237744"/>
          </a:xfrm>
          <a:prstGeom prst="roundRect">
            <a:avLst>
              <a:gd name="adj" fmla="val 1538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0fd2095_lct33"/>
          <p:cNvSpPr txBox="1"/>
          <p:nvPr/>
        </p:nvSpPr>
        <p:spPr>
          <a:xfrm>
            <a:off x="5376671"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11</a:t>
            </a:r>
          </a:p>
        </p:txBody>
      </p:sp>
      <p:sp>
        <p:nvSpPr>
          <p:cNvPr id="35" name="a0fd2140_lc34"/>
          <p:cNvSpPr/>
          <p:nvPr/>
        </p:nvSpPr>
        <p:spPr>
          <a:xfrm>
            <a:off x="5815583" y="4553712"/>
            <a:ext cx="384048" cy="237744"/>
          </a:xfrm>
          <a:prstGeom prst="roundRect">
            <a:avLst>
              <a:gd name="adj" fmla="val 1538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0fd2140_lct35"/>
          <p:cNvSpPr txBox="1"/>
          <p:nvPr/>
        </p:nvSpPr>
        <p:spPr>
          <a:xfrm>
            <a:off x="5815583"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12</a:t>
            </a:r>
          </a:p>
        </p:txBody>
      </p:sp>
      <p:sp>
        <p:nvSpPr>
          <p:cNvPr id="37" name="a0fd2185_lc36"/>
          <p:cNvSpPr/>
          <p:nvPr/>
        </p:nvSpPr>
        <p:spPr>
          <a:xfrm>
            <a:off x="6254496" y="4553712"/>
            <a:ext cx="384048" cy="237744"/>
          </a:xfrm>
          <a:prstGeom prst="roundRect">
            <a:avLst>
              <a:gd name="adj" fmla="val 15384"/>
            </a:avLst>
          </a:prstGeom>
          <a:solidFill>
            <a:srgbClr val="7C2D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0fd2185_lct37"/>
          <p:cNvSpPr txBox="1"/>
          <p:nvPr/>
        </p:nvSpPr>
        <p:spPr>
          <a:xfrm>
            <a:off x="6254496"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13</a:t>
            </a:r>
          </a:p>
        </p:txBody>
      </p:sp>
      <p:sp>
        <p:nvSpPr>
          <p:cNvPr id="39" name="a0fd2230_lc38"/>
          <p:cNvSpPr/>
          <p:nvPr/>
        </p:nvSpPr>
        <p:spPr>
          <a:xfrm>
            <a:off x="6693407" y="4553712"/>
            <a:ext cx="384048" cy="237744"/>
          </a:xfrm>
          <a:prstGeom prst="roundRect">
            <a:avLst>
              <a:gd name="adj" fmla="val 15384"/>
            </a:avLst>
          </a:prstGeom>
          <a:solidFill>
            <a:srgbClr val="9A34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0fd2230_lct39"/>
          <p:cNvSpPr txBox="1"/>
          <p:nvPr/>
        </p:nvSpPr>
        <p:spPr>
          <a:xfrm>
            <a:off x="6693407"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14</a:t>
            </a:r>
          </a:p>
        </p:txBody>
      </p:sp>
      <p:sp>
        <p:nvSpPr>
          <p:cNvPr id="41" name="a0fd2275_lc40"/>
          <p:cNvSpPr/>
          <p:nvPr/>
        </p:nvSpPr>
        <p:spPr>
          <a:xfrm>
            <a:off x="7132319" y="4553712"/>
            <a:ext cx="384048" cy="237744"/>
          </a:xfrm>
          <a:prstGeom prst="roundRect">
            <a:avLst>
              <a:gd name="adj" fmla="val 15384"/>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0fd2275_lct41"/>
          <p:cNvSpPr txBox="1"/>
          <p:nvPr/>
        </p:nvSpPr>
        <p:spPr>
          <a:xfrm>
            <a:off x="7132319"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15</a:t>
            </a:r>
          </a:p>
        </p:txBody>
      </p:sp>
      <p:sp>
        <p:nvSpPr>
          <p:cNvPr id="43" name="a0fd2320_lc42"/>
          <p:cNvSpPr/>
          <p:nvPr/>
        </p:nvSpPr>
        <p:spPr>
          <a:xfrm>
            <a:off x="7571231" y="4553712"/>
            <a:ext cx="384048" cy="237744"/>
          </a:xfrm>
          <a:prstGeom prst="roundRect">
            <a:avLst>
              <a:gd name="adj" fmla="val 15384"/>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0fd2320_lct43"/>
          <p:cNvSpPr txBox="1"/>
          <p:nvPr/>
        </p:nvSpPr>
        <p:spPr>
          <a:xfrm>
            <a:off x="7571231"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16</a:t>
            </a:r>
          </a:p>
        </p:txBody>
      </p:sp>
      <p:sp>
        <p:nvSpPr>
          <p:cNvPr id="45" name="a0fd2365_lc44"/>
          <p:cNvSpPr/>
          <p:nvPr/>
        </p:nvSpPr>
        <p:spPr>
          <a:xfrm>
            <a:off x="8010144" y="4553712"/>
            <a:ext cx="384048" cy="237744"/>
          </a:xfrm>
          <a:prstGeom prst="roundRect">
            <a:avLst>
              <a:gd name="adj" fmla="val 15384"/>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0fd2365_lct45"/>
          <p:cNvSpPr txBox="1"/>
          <p:nvPr/>
        </p:nvSpPr>
        <p:spPr>
          <a:xfrm>
            <a:off x="8010144"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17</a:t>
            </a:r>
          </a:p>
        </p:txBody>
      </p:sp>
      <p:cxnSp>
        <p:nvCxnSpPr>
          <p:cNvPr id="47" name="a0fd2410_la46"/>
          <p:cNvCxnSpPr/>
          <p:nvPr/>
        </p:nvCxnSpPr>
        <p:spPr>
          <a:xfrm>
            <a:off x="8449056" y="4672584"/>
            <a:ext cx="237744" cy="0"/>
          </a:xfrm>
          <a:prstGeom prst="line">
            <a:avLst/>
          </a:prstGeom>
          <a:ln w="19050">
            <a:solidFill>
              <a:srgbClr val="FB923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a0fd900_lg47"/>
          <p:cNvSpPr/>
          <p:nvPr/>
        </p:nvSpPr>
        <p:spPr>
          <a:xfrm>
            <a:off x="5806440" y="1188720"/>
            <a:ext cx="2880360" cy="1783080"/>
          </a:xfrm>
          <a:prstGeom prst="roundRect">
            <a:avLst>
              <a:gd name="adj" fmla="val 4102"/>
            </a:avLst>
          </a:prstGeom>
          <a:solidFill>
            <a:srgbClr val="27272A"/>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0fd900_lgt48"/>
          <p:cNvSpPr txBox="1"/>
          <p:nvPr/>
        </p:nvSpPr>
        <p:spPr>
          <a:xfrm>
            <a:off x="5961888" y="1280160"/>
            <a:ext cx="2560320" cy="219456"/>
          </a:xfrm>
          <a:prstGeom prst="rect">
            <a:avLst/>
          </a:prstGeom>
          <a:noFill/>
        </p:spPr>
        <p:txBody>
          <a:bodyPr wrap="square" lIns="0" tIns="0" rIns="0" bIns="0" anchor="ctr">
            <a:spAutoFit/>
          </a:bodyPr>
          <a:lstStyle/>
          <a:p>
            <a:pPr algn="l"/>
            <a:r>
              <a:rPr sz="900" b="1">
                <a:solidFill>
                  <a:srgbClr val="A8A29E"/>
                </a:solidFill>
                <a:latin typeface="Consolas"/>
              </a:rPr>
              <a:t>postgres -&gt; kafka -&gt; elastic</a:t>
            </a:r>
          </a:p>
        </p:txBody>
      </p:sp>
      <p:sp>
        <p:nvSpPr>
          <p:cNvPr id="50" name="a0fd1100_pill49"/>
          <p:cNvSpPr/>
          <p:nvPr/>
        </p:nvSpPr>
        <p:spPr>
          <a:xfrm>
            <a:off x="5961888" y="1645920"/>
            <a:ext cx="749808" cy="329184"/>
          </a:xfrm>
          <a:prstGeom prst="roundRect">
            <a:avLst>
              <a:gd name="adj" fmla="val 50000"/>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FFFFFF"/>
                </a:solidFill>
                <a:latin typeface="Consolas"/>
              </a:rPr>
              <a:t>postgres</a:t>
            </a:r>
          </a:p>
        </p:txBody>
      </p:sp>
      <p:sp>
        <p:nvSpPr>
          <p:cNvPr id="51" name="a0fd1250_pill50"/>
          <p:cNvSpPr/>
          <p:nvPr/>
        </p:nvSpPr>
        <p:spPr>
          <a:xfrm>
            <a:off x="6858000" y="1645920"/>
            <a:ext cx="749808" cy="329184"/>
          </a:xfrm>
          <a:prstGeom prst="roundRect">
            <a:avLst>
              <a:gd name="adj" fmla="val 50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FFFFFF"/>
                </a:solidFill>
                <a:latin typeface="Consolas"/>
              </a:rPr>
              <a:t>source</a:t>
            </a:r>
          </a:p>
        </p:txBody>
      </p:sp>
      <p:cxnSp>
        <p:nvCxnSpPr>
          <p:cNvPr id="52" name="a0fd1250_la51"/>
          <p:cNvCxnSpPr/>
          <p:nvPr/>
        </p:nvCxnSpPr>
        <p:spPr>
          <a:xfrm>
            <a:off x="6720840" y="1810512"/>
            <a:ext cx="118872" cy="0"/>
          </a:xfrm>
          <a:prstGeom prst="line">
            <a:avLst/>
          </a:prstGeom>
          <a:ln w="15875">
            <a:solidFill>
              <a:srgbClr val="FB923C"/>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 name="a0fd1400_pill52"/>
          <p:cNvSpPr/>
          <p:nvPr/>
        </p:nvSpPr>
        <p:spPr>
          <a:xfrm>
            <a:off x="7754112" y="1645920"/>
            <a:ext cx="749808" cy="329184"/>
          </a:xfrm>
          <a:prstGeom prst="roundRect">
            <a:avLst>
              <a:gd name="adj" fmla="val 5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FFFFFF"/>
                </a:solidFill>
                <a:latin typeface="Consolas"/>
              </a:rPr>
              <a:t>users</a:t>
            </a:r>
          </a:p>
        </p:txBody>
      </p:sp>
      <p:cxnSp>
        <p:nvCxnSpPr>
          <p:cNvPr id="54" name="a0fd1400_la53"/>
          <p:cNvCxnSpPr/>
          <p:nvPr/>
        </p:nvCxnSpPr>
        <p:spPr>
          <a:xfrm>
            <a:off x="7616952" y="1810512"/>
            <a:ext cx="118872" cy="0"/>
          </a:xfrm>
          <a:prstGeom prst="line">
            <a:avLst/>
          </a:prstGeom>
          <a:ln w="15875">
            <a:solidFill>
              <a:srgbClr val="FB923C"/>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a0fd1500_pill54"/>
          <p:cNvSpPr/>
          <p:nvPr/>
        </p:nvSpPr>
        <p:spPr>
          <a:xfrm>
            <a:off x="5961888" y="2212848"/>
            <a:ext cx="749808" cy="329184"/>
          </a:xfrm>
          <a:prstGeom prst="roundRect">
            <a:avLst>
              <a:gd name="adj" fmla="val 5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FFFFFF"/>
                </a:solidFill>
                <a:latin typeface="Consolas"/>
              </a:rPr>
              <a:t>users</a:t>
            </a:r>
          </a:p>
        </p:txBody>
      </p:sp>
      <p:sp>
        <p:nvSpPr>
          <p:cNvPr id="56" name="a0fd1650_pill55"/>
          <p:cNvSpPr/>
          <p:nvPr/>
        </p:nvSpPr>
        <p:spPr>
          <a:xfrm>
            <a:off x="6858000" y="2212848"/>
            <a:ext cx="749808" cy="329184"/>
          </a:xfrm>
          <a:prstGeom prst="roundRect">
            <a:avLst>
              <a:gd name="adj" fmla="val 50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FFFFFF"/>
                </a:solidFill>
                <a:latin typeface="Consolas"/>
              </a:rPr>
              <a:t>sink</a:t>
            </a:r>
          </a:p>
        </p:txBody>
      </p:sp>
      <p:cxnSp>
        <p:nvCxnSpPr>
          <p:cNvPr id="57" name="a0fd1650_la56"/>
          <p:cNvCxnSpPr/>
          <p:nvPr/>
        </p:nvCxnSpPr>
        <p:spPr>
          <a:xfrm>
            <a:off x="6720840" y="2377440"/>
            <a:ext cx="118872" cy="0"/>
          </a:xfrm>
          <a:prstGeom prst="line">
            <a:avLst/>
          </a:prstGeom>
          <a:ln w="15875">
            <a:solidFill>
              <a:srgbClr val="FB923C"/>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a0fd1800_pill57"/>
          <p:cNvSpPr/>
          <p:nvPr/>
        </p:nvSpPr>
        <p:spPr>
          <a:xfrm>
            <a:off x="7754112" y="2212848"/>
            <a:ext cx="749808" cy="329184"/>
          </a:xfrm>
          <a:prstGeom prst="roundRect">
            <a:avLst>
              <a:gd name="adj" fmla="val 50000"/>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FFFFFF"/>
                </a:solidFill>
                <a:latin typeface="Consolas"/>
              </a:rPr>
              <a:t>elastic</a:t>
            </a:r>
          </a:p>
        </p:txBody>
      </p:sp>
      <p:cxnSp>
        <p:nvCxnSpPr>
          <p:cNvPr id="59" name="a0fd1800_la58"/>
          <p:cNvCxnSpPr/>
          <p:nvPr/>
        </p:nvCxnSpPr>
        <p:spPr>
          <a:xfrm>
            <a:off x="7616952" y="2377440"/>
            <a:ext cx="118872" cy="0"/>
          </a:xfrm>
          <a:prstGeom prst="line">
            <a:avLst/>
          </a:prstGeom>
          <a:ln w="15875">
            <a:solidFill>
              <a:srgbClr val="FB923C"/>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a0fd2100_cap59"/>
          <p:cNvSpPr txBox="1"/>
          <p:nvPr/>
        </p:nvSpPr>
        <p:spPr>
          <a:xfrm>
            <a:off x="5806440" y="3090672"/>
            <a:ext cx="2880360" cy="256032"/>
          </a:xfrm>
          <a:prstGeom prst="rect">
            <a:avLst/>
          </a:prstGeom>
          <a:noFill/>
        </p:spPr>
        <p:txBody>
          <a:bodyPr wrap="square" lIns="0" tIns="0" rIns="0" bIns="0" anchor="ctr">
            <a:spAutoFit/>
          </a:bodyPr>
          <a:lstStyle/>
          <a:p>
            <a:pPr algn="l"/>
            <a:r>
              <a:rPr sz="850" b="0">
                <a:solidFill>
                  <a:srgbClr val="A8A29E"/>
                </a:solidFill>
                <a:latin typeface="Segoe UI"/>
              </a:rPr>
              <a:t>two connectors, one topic, zero lines of code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00"/>
                                        <p:tgtEl>
                                          <p:spTgt spid="3"/>
                                        </p:tgtEl>
                                      </p:cBhvr>
                                    </p:animEffect>
                                  </p:childTnLst>
                                </p:cTn>
                              </p:par>
                              <p:par>
                                <p:cTn id="12" presetID="2" presetClass="entr" presetSubtype="4" fill="hold" grpId="0" nodeType="withEffect">
                                  <p:stCondLst>
                                    <p:cond delay="200"/>
                                  </p:stCondLst>
                                  <p:childTnLst>
                                    <p:set>
                                      <p:cBhvr>
                                        <p:cTn id="8" dur="1" fill="hold">
                                          <p:stCondLst>
                                            <p:cond delay="0"/>
                                          </p:stCondLst>
                                        </p:cTn>
                                        <p:tgtEl>
                                          <p:spTgt spid="4"/>
                                        </p:tgtEl>
                                        <p:attrNameLst>
                                          <p:attrName>style.visibility</p:attrName>
                                        </p:attrNameLst>
                                      </p:cBhvr>
                                      <p:to>
                                        <p:strVal val="visible"/>
                                      </p:to>
                                    </p:set>
                                    <p:anim calcmode="lin" valueType="num">
                                      <p:cBhvr additive="base">
                                        <p:cTn id="9" dur="500" fill="hold"/>
                                        <p:tgtEl>
                                          <p:spTgt spid="4"/>
                                        </p:tgtEl>
                                        <p:attrNameLst>
                                          <p:attrName>ppt_x</p:attrName>
                                        </p:attrNameLst>
                                      </p:cBhvr>
                                      <p:tavLst>
                                        <p:tav tm="0">
                                          <p:val>
                                            <p:strVal val="#ppt_x"/>
                                          </p:val>
                                        </p:tav>
                                        <p:tav tm="100000">
                                          <p:val>
                                            <p:strVal val="#ppt_x"/>
                                          </p:val>
                                        </p:tav>
                                      </p:tavLst>
                                    </p:anim>
                                    <p:anim calcmode="lin" valueType="num">
                                      <p:cBhvr additive="base">
                                        <p:cTn id="10" dur="500" fill="hold"/>
                                        <p:tgtEl>
                                          <p:spTgt spid="4"/>
                                        </p:tgtEl>
                                        <p:attrNameLst>
                                          <p:attrName>ppt_y</p:attrName>
                                        </p:attrNameLst>
                                      </p:cBhvr>
                                      <p:tavLst>
                                        <p:tav tm="0">
                                          <p:val>
                                            <p:strVal val="#ppt_y+0.1"/>
                                          </p:val>
                                        </p:tav>
                                        <p:tav tm="100000">
                                          <p:val>
                                            <p:strVal val="#ppt_y"/>
                                          </p:val>
                                        </p:tav>
                                      </p:tavLst>
                                    </p:anim>
                                    <p:animEffect transition="in" filter="fade">
                                      <p:cBhvr>
                                        <p:cTn id="11" dur="500"/>
                                        <p:tgtEl>
                                          <p:spTgt spid="4"/>
                                        </p:tgtEl>
                                      </p:cBhvr>
                                    </p:animEffect>
                                  </p:childTnLst>
                                </p:cTn>
                              </p:par>
                              <p:par>
                                <p:cTn id="15" presetID="10" presetClass="entr" presetSubtype="0" fill="hold" grpId="0" nodeType="withEffect">
                                  <p:stCondLst>
                                    <p:cond delay="50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20" presetID="2" presetClass="entr" presetSubtype="4" fill="hold" grpId="0" nodeType="withEffect">
                                  <p:stCondLst>
                                    <p:cond delay="80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ppt_y+0.1"/>
                                          </p:val>
                                        </p:tav>
                                        <p:tav tm="100000">
                                          <p:val>
                                            <p:strVal val="#ppt_y"/>
                                          </p:val>
                                        </p:tav>
                                      </p:tavLst>
                                    </p:anim>
                                    <p:animEffect transition="in" filter="fade">
                                      <p:cBhvr>
                                        <p:cTn id="19" dur="500"/>
                                        <p:tgtEl>
                                          <p:spTgt spid="6"/>
                                        </p:tgtEl>
                                      </p:cBhvr>
                                    </p:animEffect>
                                  </p:childTnLst>
                                </p:cTn>
                              </p:par>
                              <p:par>
                                <p:cTn id="23" presetID="10" presetClass="entr" presetSubtype="0" fill="hold" grpId="0" nodeType="withEffect">
                                  <p:stCondLst>
                                    <p:cond delay="90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500"/>
                                        <p:tgtEl>
                                          <p:spTgt spid="48"/>
                                        </p:tgtEl>
                                      </p:cBhvr>
                                    </p:animEffect>
                                  </p:childTnLst>
                                </p:cTn>
                              </p:par>
                              <p:par>
                                <p:cTn id="26" presetID="10" presetClass="entr" presetSubtype="0" fill="hold" grpId="0" nodeType="withEffect">
                                  <p:stCondLst>
                                    <p:cond delay="900"/>
                                  </p:stCondLst>
                                  <p:childTnLst>
                                    <p:set>
                                      <p:cBhvr>
                                        <p:cTn id="24" dur="1" fill="hold">
                                          <p:stCondLst>
                                            <p:cond delay="0"/>
                                          </p:stCondLst>
                                        </p:cTn>
                                        <p:tgtEl>
                                          <p:spTgt spid="49"/>
                                        </p:tgtEl>
                                        <p:attrNameLst>
                                          <p:attrName>style.visibility</p:attrName>
                                        </p:attrNameLst>
                                      </p:cBhvr>
                                      <p:to>
                                        <p:strVal val="visible"/>
                                      </p:to>
                                    </p:set>
                                    <p:animEffect transition="in" filter="fade">
                                      <p:cBhvr>
                                        <p:cTn id="25" dur="500"/>
                                        <p:tgtEl>
                                          <p:spTgt spid="49"/>
                                        </p:tgtEl>
                                      </p:cBhvr>
                                    </p:animEffect>
                                  </p:childTnLst>
                                </p:cTn>
                              </p:par>
                              <p:par>
                                <p:cTn id="31" presetID="2" presetClass="entr" presetSubtype="4" fill="hold" grpId="0" nodeType="withEffect">
                                  <p:stCondLst>
                                    <p:cond delay="95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ppt_y+0.1"/>
                                          </p:val>
                                        </p:tav>
                                        <p:tav tm="100000">
                                          <p:val>
                                            <p:strVal val="#ppt_y"/>
                                          </p:val>
                                        </p:tav>
                                      </p:tavLst>
                                    </p:anim>
                                    <p:animEffect transition="in" filter="fade">
                                      <p:cBhvr>
                                        <p:cTn id="30" dur="500"/>
                                        <p:tgtEl>
                                          <p:spTgt spid="7"/>
                                        </p:tgtEl>
                                      </p:cBhvr>
                                    </p:animEffect>
                                  </p:childTnLst>
                                </p:cTn>
                              </p:par>
                              <p:par>
                                <p:cTn id="36" presetID="2" presetClass="entr" presetSubtype="4" fill="hold" grpId="0" nodeType="withEffect">
                                  <p:stCondLst>
                                    <p:cond delay="110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ppt_y+0.1"/>
                                          </p:val>
                                        </p:tav>
                                        <p:tav tm="100000">
                                          <p:val>
                                            <p:strVal val="#ppt_y"/>
                                          </p:val>
                                        </p:tav>
                                      </p:tavLst>
                                    </p:anim>
                                    <p:animEffect transition="in" filter="fade">
                                      <p:cBhvr>
                                        <p:cTn id="35" dur="500"/>
                                        <p:tgtEl>
                                          <p:spTgt spid="8"/>
                                        </p:tgtEl>
                                      </p:cBhvr>
                                    </p:animEffect>
                                  </p:childTnLst>
                                </p:cTn>
                              </p:par>
                              <p:par>
                                <p:cTn id="39" presetID="10" presetClass="entr" presetSubtype="0" fill="hold" grpId="0" nodeType="withEffect">
                                  <p:stCondLst>
                                    <p:cond delay="1100"/>
                                  </p:stCondLst>
                                  <p:childTnLst>
                                    <p:set>
                                      <p:cBhvr>
                                        <p:cTn id="37" dur="1" fill="hold">
                                          <p:stCondLst>
                                            <p:cond delay="0"/>
                                          </p:stCondLst>
                                        </p:cTn>
                                        <p:tgtEl>
                                          <p:spTgt spid="50"/>
                                        </p:tgtEl>
                                        <p:attrNameLst>
                                          <p:attrName>style.visibility</p:attrName>
                                        </p:attrNameLst>
                                      </p:cBhvr>
                                      <p:to>
                                        <p:strVal val="visible"/>
                                      </p:to>
                                    </p:set>
                                    <p:animEffect transition="in" filter="fade">
                                      <p:cBhvr>
                                        <p:cTn id="38" dur="500"/>
                                        <p:tgtEl>
                                          <p:spTgt spid="50"/>
                                        </p:tgtEl>
                                      </p:cBhvr>
                                    </p:animEffect>
                                  </p:childTnLst>
                                </p:cTn>
                              </p:par>
                              <p:par>
                                <p:cTn id="44" presetID="2" presetClass="entr" presetSubtype="4" fill="hold" grpId="0" nodeType="withEffect">
                                  <p:stCondLst>
                                    <p:cond delay="1250"/>
                                  </p:stCondLst>
                                  <p:childTnLst>
                                    <p:set>
                                      <p:cBhvr>
                                        <p:cTn id="40" dur="1" fill="hold">
                                          <p:stCondLst>
                                            <p:cond delay="0"/>
                                          </p:stCondLst>
                                        </p:cTn>
                                        <p:tgtEl>
                                          <p:spTgt spid="9"/>
                                        </p:tgtEl>
                                        <p:attrNameLst>
                                          <p:attrName>style.visibility</p:attrName>
                                        </p:attrNameLst>
                                      </p:cBhvr>
                                      <p:to>
                                        <p:strVal val="visible"/>
                                      </p:to>
                                    </p:set>
                                    <p:anim calcmode="lin" valueType="num">
                                      <p:cBhvr additive="base">
                                        <p:cTn id="41" dur="500" fill="hold"/>
                                        <p:tgtEl>
                                          <p:spTgt spid="9"/>
                                        </p:tgtEl>
                                        <p:attrNameLst>
                                          <p:attrName>ppt_x</p:attrName>
                                        </p:attrNameLst>
                                      </p:cBhvr>
                                      <p:tavLst>
                                        <p:tav tm="0">
                                          <p:val>
                                            <p:strVal val="#ppt_x"/>
                                          </p:val>
                                        </p:tav>
                                        <p:tav tm="100000">
                                          <p:val>
                                            <p:strVal val="#ppt_x"/>
                                          </p:val>
                                        </p:tav>
                                      </p:tavLst>
                                    </p:anim>
                                    <p:anim calcmode="lin" valueType="num">
                                      <p:cBhvr additive="base">
                                        <p:cTn id="42" dur="500" fill="hold"/>
                                        <p:tgtEl>
                                          <p:spTgt spid="9"/>
                                        </p:tgtEl>
                                        <p:attrNameLst>
                                          <p:attrName>ppt_y</p:attrName>
                                        </p:attrNameLst>
                                      </p:cBhvr>
                                      <p:tavLst>
                                        <p:tav tm="0">
                                          <p:val>
                                            <p:strVal val="#ppt_y+0.1"/>
                                          </p:val>
                                        </p:tav>
                                        <p:tav tm="100000">
                                          <p:val>
                                            <p:strVal val="#ppt_y"/>
                                          </p:val>
                                        </p:tav>
                                      </p:tavLst>
                                    </p:anim>
                                    <p:animEffect transition="in" filter="fade">
                                      <p:cBhvr>
                                        <p:cTn id="43" dur="500"/>
                                        <p:tgtEl>
                                          <p:spTgt spid="9"/>
                                        </p:tgtEl>
                                      </p:cBhvr>
                                    </p:animEffect>
                                  </p:childTnLst>
                                </p:cTn>
                              </p:par>
                              <p:par>
                                <p:cTn id="47" presetID="10" presetClass="entr" presetSubtype="0" fill="hold" grpId="0" nodeType="withEffect">
                                  <p:stCondLst>
                                    <p:cond delay="1250"/>
                                  </p:stCondLst>
                                  <p:childTnLst>
                                    <p:set>
                                      <p:cBhvr>
                                        <p:cTn id="45" dur="1" fill="hold">
                                          <p:stCondLst>
                                            <p:cond delay="0"/>
                                          </p:stCondLst>
                                        </p:cTn>
                                        <p:tgtEl>
                                          <p:spTgt spid="51"/>
                                        </p:tgtEl>
                                        <p:attrNameLst>
                                          <p:attrName>style.visibility</p:attrName>
                                        </p:attrNameLst>
                                      </p:cBhvr>
                                      <p:to>
                                        <p:strVal val="visible"/>
                                      </p:to>
                                    </p:set>
                                    <p:animEffect transition="in" filter="fade">
                                      <p:cBhvr>
                                        <p:cTn id="46" dur="500"/>
                                        <p:tgtEl>
                                          <p:spTgt spid="51"/>
                                        </p:tgtEl>
                                      </p:cBhvr>
                                    </p:animEffect>
                                  </p:childTnLst>
                                </p:cTn>
                              </p:par>
                              <p:par>
                                <p:cTn id="50" presetID="10" presetClass="entr" presetSubtype="0" fill="hold" grpId="0" nodeType="withEffect">
                                  <p:stCondLst>
                                    <p:cond delay="1250"/>
                                  </p:stCondLst>
                                  <p:childTnLst>
                                    <p:set>
                                      <p:cBhvr>
                                        <p:cTn id="48" dur="1" fill="hold">
                                          <p:stCondLst>
                                            <p:cond delay="0"/>
                                          </p:stCondLst>
                                        </p:cTn>
                                        <p:tgtEl>
                                          <p:spTgt spid="52"/>
                                        </p:tgtEl>
                                        <p:attrNameLst>
                                          <p:attrName>style.visibility</p:attrName>
                                        </p:attrNameLst>
                                      </p:cBhvr>
                                      <p:to>
                                        <p:strVal val="visible"/>
                                      </p:to>
                                    </p:set>
                                    <p:animEffect transition="in" filter="fade">
                                      <p:cBhvr>
                                        <p:cTn id="49" dur="500"/>
                                        <p:tgtEl>
                                          <p:spTgt spid="52"/>
                                        </p:tgtEl>
                                      </p:cBhvr>
                                    </p:animEffect>
                                  </p:childTnLst>
                                </p:cTn>
                              </p:par>
                              <p:par>
                                <p:cTn id="53" presetID="10" presetClass="entr" presetSubtype="0" fill="hold" grpId="0" nodeType="withEffect">
                                  <p:stCondLst>
                                    <p:cond delay="1400"/>
                                  </p:stCondLst>
                                  <p:childTnLst>
                                    <p:set>
                                      <p:cBhvr>
                                        <p:cTn id="51" dur="1" fill="hold">
                                          <p:stCondLst>
                                            <p:cond delay="0"/>
                                          </p:stCondLst>
                                        </p:cTn>
                                        <p:tgtEl>
                                          <p:spTgt spid="10"/>
                                        </p:tgtEl>
                                        <p:attrNameLst>
                                          <p:attrName>style.visibility</p:attrName>
                                        </p:attrNameLst>
                                      </p:cBhvr>
                                      <p:to>
                                        <p:strVal val="visible"/>
                                      </p:to>
                                    </p:set>
                                    <p:animEffect transition="in" filter="fade">
                                      <p:cBhvr>
                                        <p:cTn id="52" dur="500"/>
                                        <p:tgtEl>
                                          <p:spTgt spid="10"/>
                                        </p:tgtEl>
                                      </p:cBhvr>
                                    </p:animEffect>
                                  </p:childTnLst>
                                </p:cTn>
                              </p:par>
                              <p:par>
                                <p:cTn id="56" presetID="10" presetClass="entr" presetSubtype="0" fill="hold" grpId="0" nodeType="withEffect">
                                  <p:stCondLst>
                                    <p:cond delay="1400"/>
                                  </p:stCondLst>
                                  <p:childTnLst>
                                    <p:set>
                                      <p:cBhvr>
                                        <p:cTn id="54" dur="1" fill="hold">
                                          <p:stCondLst>
                                            <p:cond delay="0"/>
                                          </p:stCondLst>
                                        </p:cTn>
                                        <p:tgtEl>
                                          <p:spTgt spid="53"/>
                                        </p:tgtEl>
                                        <p:attrNameLst>
                                          <p:attrName>style.visibility</p:attrName>
                                        </p:attrNameLst>
                                      </p:cBhvr>
                                      <p:to>
                                        <p:strVal val="visible"/>
                                      </p:to>
                                    </p:set>
                                    <p:animEffect transition="in" filter="fade">
                                      <p:cBhvr>
                                        <p:cTn id="55" dur="500"/>
                                        <p:tgtEl>
                                          <p:spTgt spid="53"/>
                                        </p:tgtEl>
                                      </p:cBhvr>
                                    </p:animEffect>
                                  </p:childTnLst>
                                </p:cTn>
                              </p:par>
                              <p:par>
                                <p:cTn id="59" presetID="10" presetClass="entr" presetSubtype="0" fill="hold" grpId="0" nodeType="withEffect">
                                  <p:stCondLst>
                                    <p:cond delay="1400"/>
                                  </p:stCondLst>
                                  <p:childTnLst>
                                    <p:set>
                                      <p:cBhvr>
                                        <p:cTn id="57" dur="1" fill="hold">
                                          <p:stCondLst>
                                            <p:cond delay="0"/>
                                          </p:stCondLst>
                                        </p:cTn>
                                        <p:tgtEl>
                                          <p:spTgt spid="54"/>
                                        </p:tgtEl>
                                        <p:attrNameLst>
                                          <p:attrName>style.visibility</p:attrName>
                                        </p:attrNameLst>
                                      </p:cBhvr>
                                      <p:to>
                                        <p:strVal val="visible"/>
                                      </p:to>
                                    </p:set>
                                    <p:animEffect transition="in" filter="fade">
                                      <p:cBhvr>
                                        <p:cTn id="58" dur="500"/>
                                        <p:tgtEl>
                                          <p:spTgt spid="54"/>
                                        </p:tgtEl>
                                      </p:cBhvr>
                                    </p:animEffect>
                                  </p:childTnLst>
                                </p:cTn>
                              </p:par>
                              <p:par>
                                <p:cTn id="62" presetID="10" presetClass="entr" presetSubtype="0" fill="hold" grpId="0" nodeType="withEffect">
                                  <p:stCondLst>
                                    <p:cond delay="1500"/>
                                  </p:stCondLst>
                                  <p:childTnLst>
                                    <p:set>
                                      <p:cBhvr>
                                        <p:cTn id="60" dur="1" fill="hold">
                                          <p:stCondLst>
                                            <p:cond delay="0"/>
                                          </p:stCondLst>
                                        </p:cTn>
                                        <p:tgtEl>
                                          <p:spTgt spid="55"/>
                                        </p:tgtEl>
                                        <p:attrNameLst>
                                          <p:attrName>style.visibility</p:attrName>
                                        </p:attrNameLst>
                                      </p:cBhvr>
                                      <p:to>
                                        <p:strVal val="visible"/>
                                      </p:to>
                                    </p:set>
                                    <p:animEffect transition="in" filter="fade">
                                      <p:cBhvr>
                                        <p:cTn id="61" dur="500"/>
                                        <p:tgtEl>
                                          <p:spTgt spid="55"/>
                                        </p:tgtEl>
                                      </p:cBhvr>
                                    </p:animEffect>
                                  </p:childTnLst>
                                </p:cTn>
                              </p:par>
                              <p:par>
                                <p:cTn id="65" presetID="10" presetClass="entr" presetSubtype="0" fill="hold" grpId="0" nodeType="withEffect">
                                  <p:stCondLst>
                                    <p:cond delay="1600"/>
                                  </p:stCondLst>
                                  <p:childTnLst>
                                    <p:set>
                                      <p:cBhvr>
                                        <p:cTn id="63" dur="1" fill="hold">
                                          <p:stCondLst>
                                            <p:cond delay="0"/>
                                          </p:stCondLst>
                                        </p:cTn>
                                        <p:tgtEl>
                                          <p:spTgt spid="11"/>
                                        </p:tgtEl>
                                        <p:attrNameLst>
                                          <p:attrName>style.visibility</p:attrName>
                                        </p:attrNameLst>
                                      </p:cBhvr>
                                      <p:to>
                                        <p:strVal val="visible"/>
                                      </p:to>
                                    </p:set>
                                    <p:animEffect transition="in" filter="fade">
                                      <p:cBhvr>
                                        <p:cTn id="64" dur="500"/>
                                        <p:tgtEl>
                                          <p:spTgt spid="11"/>
                                        </p:tgtEl>
                                      </p:cBhvr>
                                    </p:animEffect>
                                  </p:childTnLst>
                                </p:cTn>
                              </p:par>
                              <p:par>
                                <p:cTn id="68" presetID="10" presetClass="entr" presetSubtype="0" fill="hold" grpId="0" nodeType="withEffect">
                                  <p:stCondLst>
                                    <p:cond delay="1600"/>
                                  </p:stCondLst>
                                  <p:childTnLst>
                                    <p:set>
                                      <p:cBhvr>
                                        <p:cTn id="66" dur="1" fill="hold">
                                          <p:stCondLst>
                                            <p:cond delay="0"/>
                                          </p:stCondLst>
                                        </p:cTn>
                                        <p:tgtEl>
                                          <p:spTgt spid="12"/>
                                        </p:tgtEl>
                                        <p:attrNameLst>
                                          <p:attrName>style.visibility</p:attrName>
                                        </p:attrNameLst>
                                      </p:cBhvr>
                                      <p:to>
                                        <p:strVal val="visible"/>
                                      </p:to>
                                    </p:set>
                                    <p:animEffect transition="in" filter="fade">
                                      <p:cBhvr>
                                        <p:cTn id="67" dur="500"/>
                                        <p:tgtEl>
                                          <p:spTgt spid="12"/>
                                        </p:tgtEl>
                                      </p:cBhvr>
                                    </p:animEffect>
                                  </p:childTnLst>
                                </p:cTn>
                              </p:par>
                              <p:par>
                                <p:cTn id="71" presetID="10" presetClass="entr" presetSubtype="0" fill="hold" grpId="0" nodeType="withEffect">
                                  <p:stCondLst>
                                    <p:cond delay="1645"/>
                                  </p:stCondLst>
                                  <p:childTnLst>
                                    <p:set>
                                      <p:cBhvr>
                                        <p:cTn id="69" dur="1" fill="hold">
                                          <p:stCondLst>
                                            <p:cond delay="0"/>
                                          </p:stCondLst>
                                        </p:cTn>
                                        <p:tgtEl>
                                          <p:spTgt spid="13"/>
                                        </p:tgtEl>
                                        <p:attrNameLst>
                                          <p:attrName>style.visibility</p:attrName>
                                        </p:attrNameLst>
                                      </p:cBhvr>
                                      <p:to>
                                        <p:strVal val="visible"/>
                                      </p:to>
                                    </p:set>
                                    <p:animEffect transition="in" filter="fade">
                                      <p:cBhvr>
                                        <p:cTn id="70" dur="500"/>
                                        <p:tgtEl>
                                          <p:spTgt spid="13"/>
                                        </p:tgtEl>
                                      </p:cBhvr>
                                    </p:animEffect>
                                  </p:childTnLst>
                                </p:cTn>
                              </p:par>
                              <p:par>
                                <p:cTn id="74" presetID="10" presetClass="entr" presetSubtype="0" fill="hold" grpId="0" nodeType="withEffect">
                                  <p:stCondLst>
                                    <p:cond delay="1645"/>
                                  </p:stCondLst>
                                  <p:childTnLst>
                                    <p:set>
                                      <p:cBhvr>
                                        <p:cTn id="72" dur="1" fill="hold">
                                          <p:stCondLst>
                                            <p:cond delay="0"/>
                                          </p:stCondLst>
                                        </p:cTn>
                                        <p:tgtEl>
                                          <p:spTgt spid="14"/>
                                        </p:tgtEl>
                                        <p:attrNameLst>
                                          <p:attrName>style.visibility</p:attrName>
                                        </p:attrNameLst>
                                      </p:cBhvr>
                                      <p:to>
                                        <p:strVal val="visible"/>
                                      </p:to>
                                    </p:set>
                                    <p:animEffect transition="in" filter="fade">
                                      <p:cBhvr>
                                        <p:cTn id="73" dur="500"/>
                                        <p:tgtEl>
                                          <p:spTgt spid="14"/>
                                        </p:tgtEl>
                                      </p:cBhvr>
                                    </p:animEffect>
                                  </p:childTnLst>
                                </p:cTn>
                              </p:par>
                              <p:par>
                                <p:cTn id="77" presetID="10" presetClass="entr" presetSubtype="0" fill="hold" grpId="0" nodeType="withEffect">
                                  <p:stCondLst>
                                    <p:cond delay="1650"/>
                                  </p:stCondLst>
                                  <p:childTnLst>
                                    <p:set>
                                      <p:cBhvr>
                                        <p:cTn id="75" dur="1" fill="hold">
                                          <p:stCondLst>
                                            <p:cond delay="0"/>
                                          </p:stCondLst>
                                        </p:cTn>
                                        <p:tgtEl>
                                          <p:spTgt spid="56"/>
                                        </p:tgtEl>
                                        <p:attrNameLst>
                                          <p:attrName>style.visibility</p:attrName>
                                        </p:attrNameLst>
                                      </p:cBhvr>
                                      <p:to>
                                        <p:strVal val="visible"/>
                                      </p:to>
                                    </p:set>
                                    <p:animEffect transition="in" filter="fade">
                                      <p:cBhvr>
                                        <p:cTn id="76" dur="500"/>
                                        <p:tgtEl>
                                          <p:spTgt spid="56"/>
                                        </p:tgtEl>
                                      </p:cBhvr>
                                    </p:animEffect>
                                  </p:childTnLst>
                                </p:cTn>
                              </p:par>
                              <p:par>
                                <p:cTn id="80" presetID="10" presetClass="entr" presetSubtype="0" fill="hold" grpId="0" nodeType="withEffect">
                                  <p:stCondLst>
                                    <p:cond delay="1650"/>
                                  </p:stCondLst>
                                  <p:childTnLst>
                                    <p:set>
                                      <p:cBhvr>
                                        <p:cTn id="78" dur="1" fill="hold">
                                          <p:stCondLst>
                                            <p:cond delay="0"/>
                                          </p:stCondLst>
                                        </p:cTn>
                                        <p:tgtEl>
                                          <p:spTgt spid="57"/>
                                        </p:tgtEl>
                                        <p:attrNameLst>
                                          <p:attrName>style.visibility</p:attrName>
                                        </p:attrNameLst>
                                      </p:cBhvr>
                                      <p:to>
                                        <p:strVal val="visible"/>
                                      </p:to>
                                    </p:set>
                                    <p:animEffect transition="in" filter="fade">
                                      <p:cBhvr>
                                        <p:cTn id="79" dur="500"/>
                                        <p:tgtEl>
                                          <p:spTgt spid="57"/>
                                        </p:tgtEl>
                                      </p:cBhvr>
                                    </p:animEffect>
                                  </p:childTnLst>
                                </p:cTn>
                              </p:par>
                              <p:par>
                                <p:cTn id="83" presetID="10" presetClass="entr" presetSubtype="0" fill="hold" grpId="0" nodeType="withEffect">
                                  <p:stCondLst>
                                    <p:cond delay="1690"/>
                                  </p:stCondLst>
                                  <p:childTnLst>
                                    <p:set>
                                      <p:cBhvr>
                                        <p:cTn id="81" dur="1" fill="hold">
                                          <p:stCondLst>
                                            <p:cond delay="0"/>
                                          </p:stCondLst>
                                        </p:cTn>
                                        <p:tgtEl>
                                          <p:spTgt spid="15"/>
                                        </p:tgtEl>
                                        <p:attrNameLst>
                                          <p:attrName>style.visibility</p:attrName>
                                        </p:attrNameLst>
                                      </p:cBhvr>
                                      <p:to>
                                        <p:strVal val="visible"/>
                                      </p:to>
                                    </p:set>
                                    <p:animEffect transition="in" filter="fade">
                                      <p:cBhvr>
                                        <p:cTn id="82" dur="500"/>
                                        <p:tgtEl>
                                          <p:spTgt spid="15"/>
                                        </p:tgtEl>
                                      </p:cBhvr>
                                    </p:animEffect>
                                  </p:childTnLst>
                                </p:cTn>
                              </p:par>
                              <p:par>
                                <p:cTn id="86" presetID="10" presetClass="entr" presetSubtype="0" fill="hold" grpId="0" nodeType="withEffect">
                                  <p:stCondLst>
                                    <p:cond delay="1690"/>
                                  </p:stCondLst>
                                  <p:childTnLst>
                                    <p:set>
                                      <p:cBhvr>
                                        <p:cTn id="84" dur="1" fill="hold">
                                          <p:stCondLst>
                                            <p:cond delay="0"/>
                                          </p:stCondLst>
                                        </p:cTn>
                                        <p:tgtEl>
                                          <p:spTgt spid="16"/>
                                        </p:tgtEl>
                                        <p:attrNameLst>
                                          <p:attrName>style.visibility</p:attrName>
                                        </p:attrNameLst>
                                      </p:cBhvr>
                                      <p:to>
                                        <p:strVal val="visible"/>
                                      </p:to>
                                    </p:set>
                                    <p:animEffect transition="in" filter="fade">
                                      <p:cBhvr>
                                        <p:cTn id="85" dur="500"/>
                                        <p:tgtEl>
                                          <p:spTgt spid="16"/>
                                        </p:tgtEl>
                                      </p:cBhvr>
                                    </p:animEffect>
                                  </p:childTnLst>
                                </p:cTn>
                              </p:par>
                              <p:par>
                                <p:cTn id="89" presetID="10" presetClass="entr" presetSubtype="0" fill="hold" grpId="0" nodeType="withEffect">
                                  <p:stCondLst>
                                    <p:cond delay="1735"/>
                                  </p:stCondLst>
                                  <p:childTnLst>
                                    <p:set>
                                      <p:cBhvr>
                                        <p:cTn id="87" dur="1" fill="hold">
                                          <p:stCondLst>
                                            <p:cond delay="0"/>
                                          </p:stCondLst>
                                        </p:cTn>
                                        <p:tgtEl>
                                          <p:spTgt spid="17"/>
                                        </p:tgtEl>
                                        <p:attrNameLst>
                                          <p:attrName>style.visibility</p:attrName>
                                        </p:attrNameLst>
                                      </p:cBhvr>
                                      <p:to>
                                        <p:strVal val="visible"/>
                                      </p:to>
                                    </p:set>
                                    <p:animEffect transition="in" filter="fade">
                                      <p:cBhvr>
                                        <p:cTn id="88" dur="500"/>
                                        <p:tgtEl>
                                          <p:spTgt spid="17"/>
                                        </p:tgtEl>
                                      </p:cBhvr>
                                    </p:animEffect>
                                  </p:childTnLst>
                                </p:cTn>
                              </p:par>
                              <p:par>
                                <p:cTn id="92" presetID="10" presetClass="entr" presetSubtype="0" fill="hold" grpId="0" nodeType="withEffect">
                                  <p:stCondLst>
                                    <p:cond delay="1735"/>
                                  </p:stCondLst>
                                  <p:childTnLst>
                                    <p:set>
                                      <p:cBhvr>
                                        <p:cTn id="90" dur="1" fill="hold">
                                          <p:stCondLst>
                                            <p:cond delay="0"/>
                                          </p:stCondLst>
                                        </p:cTn>
                                        <p:tgtEl>
                                          <p:spTgt spid="18"/>
                                        </p:tgtEl>
                                        <p:attrNameLst>
                                          <p:attrName>style.visibility</p:attrName>
                                        </p:attrNameLst>
                                      </p:cBhvr>
                                      <p:to>
                                        <p:strVal val="visible"/>
                                      </p:to>
                                    </p:set>
                                    <p:animEffect transition="in" filter="fade">
                                      <p:cBhvr>
                                        <p:cTn id="91" dur="500"/>
                                        <p:tgtEl>
                                          <p:spTgt spid="18"/>
                                        </p:tgtEl>
                                      </p:cBhvr>
                                    </p:animEffect>
                                  </p:childTnLst>
                                </p:cTn>
                              </p:par>
                              <p:par>
                                <p:cTn id="95" presetID="10" presetClass="entr" presetSubtype="0" fill="hold" grpId="0" nodeType="withEffect">
                                  <p:stCondLst>
                                    <p:cond delay="1780"/>
                                  </p:stCondLst>
                                  <p:childTnLst>
                                    <p:set>
                                      <p:cBhvr>
                                        <p:cTn id="93" dur="1" fill="hold">
                                          <p:stCondLst>
                                            <p:cond delay="0"/>
                                          </p:stCondLst>
                                        </p:cTn>
                                        <p:tgtEl>
                                          <p:spTgt spid="19"/>
                                        </p:tgtEl>
                                        <p:attrNameLst>
                                          <p:attrName>style.visibility</p:attrName>
                                        </p:attrNameLst>
                                      </p:cBhvr>
                                      <p:to>
                                        <p:strVal val="visible"/>
                                      </p:to>
                                    </p:set>
                                    <p:animEffect transition="in" filter="fade">
                                      <p:cBhvr>
                                        <p:cTn id="94" dur="500"/>
                                        <p:tgtEl>
                                          <p:spTgt spid="19"/>
                                        </p:tgtEl>
                                      </p:cBhvr>
                                    </p:animEffect>
                                  </p:childTnLst>
                                </p:cTn>
                              </p:par>
                              <p:par>
                                <p:cTn id="98" presetID="10" presetClass="entr" presetSubtype="0" fill="hold" grpId="0" nodeType="withEffect">
                                  <p:stCondLst>
                                    <p:cond delay="178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500"/>
                                        <p:tgtEl>
                                          <p:spTgt spid="20"/>
                                        </p:tgtEl>
                                      </p:cBhvr>
                                    </p:animEffect>
                                  </p:childTnLst>
                                </p:cTn>
                              </p:par>
                              <p:par>
                                <p:cTn id="101" presetID="10" presetClass="entr" presetSubtype="0" fill="hold" grpId="0" nodeType="withEffect">
                                  <p:stCondLst>
                                    <p:cond delay="1800"/>
                                  </p:stCondLst>
                                  <p:childTnLst>
                                    <p:set>
                                      <p:cBhvr>
                                        <p:cTn id="99" dur="1" fill="hold">
                                          <p:stCondLst>
                                            <p:cond delay="0"/>
                                          </p:stCondLst>
                                        </p:cTn>
                                        <p:tgtEl>
                                          <p:spTgt spid="58"/>
                                        </p:tgtEl>
                                        <p:attrNameLst>
                                          <p:attrName>style.visibility</p:attrName>
                                        </p:attrNameLst>
                                      </p:cBhvr>
                                      <p:to>
                                        <p:strVal val="visible"/>
                                      </p:to>
                                    </p:set>
                                    <p:animEffect transition="in" filter="fade">
                                      <p:cBhvr>
                                        <p:cTn id="100" dur="500"/>
                                        <p:tgtEl>
                                          <p:spTgt spid="58"/>
                                        </p:tgtEl>
                                      </p:cBhvr>
                                    </p:animEffect>
                                  </p:childTnLst>
                                </p:cTn>
                              </p:par>
                              <p:par>
                                <p:cTn id="104" presetID="10" presetClass="entr" presetSubtype="0" fill="hold" grpId="0" nodeType="withEffect">
                                  <p:stCondLst>
                                    <p:cond delay="1800"/>
                                  </p:stCondLst>
                                  <p:childTnLst>
                                    <p:set>
                                      <p:cBhvr>
                                        <p:cTn id="102" dur="1" fill="hold">
                                          <p:stCondLst>
                                            <p:cond delay="0"/>
                                          </p:stCondLst>
                                        </p:cTn>
                                        <p:tgtEl>
                                          <p:spTgt spid="59"/>
                                        </p:tgtEl>
                                        <p:attrNameLst>
                                          <p:attrName>style.visibility</p:attrName>
                                        </p:attrNameLst>
                                      </p:cBhvr>
                                      <p:to>
                                        <p:strVal val="visible"/>
                                      </p:to>
                                    </p:set>
                                    <p:animEffect transition="in" filter="fade">
                                      <p:cBhvr>
                                        <p:cTn id="103" dur="500"/>
                                        <p:tgtEl>
                                          <p:spTgt spid="59"/>
                                        </p:tgtEl>
                                      </p:cBhvr>
                                    </p:animEffect>
                                  </p:childTnLst>
                                </p:cTn>
                              </p:par>
                              <p:par>
                                <p:cTn id="107" presetID="10" presetClass="entr" presetSubtype="0" fill="hold" grpId="0" nodeType="withEffect">
                                  <p:stCondLst>
                                    <p:cond delay="1825"/>
                                  </p:stCondLst>
                                  <p:childTnLst>
                                    <p:set>
                                      <p:cBhvr>
                                        <p:cTn id="105" dur="1" fill="hold">
                                          <p:stCondLst>
                                            <p:cond delay="0"/>
                                          </p:stCondLst>
                                        </p:cTn>
                                        <p:tgtEl>
                                          <p:spTgt spid="21"/>
                                        </p:tgtEl>
                                        <p:attrNameLst>
                                          <p:attrName>style.visibility</p:attrName>
                                        </p:attrNameLst>
                                      </p:cBhvr>
                                      <p:to>
                                        <p:strVal val="visible"/>
                                      </p:to>
                                    </p:set>
                                    <p:animEffect transition="in" filter="fade">
                                      <p:cBhvr>
                                        <p:cTn id="106" dur="500"/>
                                        <p:tgtEl>
                                          <p:spTgt spid="21"/>
                                        </p:tgtEl>
                                      </p:cBhvr>
                                    </p:animEffect>
                                  </p:childTnLst>
                                </p:cTn>
                              </p:par>
                              <p:par>
                                <p:cTn id="110" presetID="10" presetClass="entr" presetSubtype="0" fill="hold" grpId="0" nodeType="withEffect">
                                  <p:stCondLst>
                                    <p:cond delay="1825"/>
                                  </p:stCondLst>
                                  <p:childTnLst>
                                    <p:set>
                                      <p:cBhvr>
                                        <p:cTn id="108" dur="1" fill="hold">
                                          <p:stCondLst>
                                            <p:cond delay="0"/>
                                          </p:stCondLst>
                                        </p:cTn>
                                        <p:tgtEl>
                                          <p:spTgt spid="22"/>
                                        </p:tgtEl>
                                        <p:attrNameLst>
                                          <p:attrName>style.visibility</p:attrName>
                                        </p:attrNameLst>
                                      </p:cBhvr>
                                      <p:to>
                                        <p:strVal val="visible"/>
                                      </p:to>
                                    </p:set>
                                    <p:animEffect transition="in" filter="fade">
                                      <p:cBhvr>
                                        <p:cTn id="109" dur="500"/>
                                        <p:tgtEl>
                                          <p:spTgt spid="22"/>
                                        </p:tgtEl>
                                      </p:cBhvr>
                                    </p:animEffect>
                                  </p:childTnLst>
                                </p:cTn>
                              </p:par>
                              <p:par>
                                <p:cTn id="113" presetID="10" presetClass="entr" presetSubtype="0" fill="hold" grpId="0" nodeType="withEffect">
                                  <p:stCondLst>
                                    <p:cond delay="187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500"/>
                                        <p:tgtEl>
                                          <p:spTgt spid="23"/>
                                        </p:tgtEl>
                                      </p:cBhvr>
                                    </p:animEffect>
                                  </p:childTnLst>
                                </p:cTn>
                              </p:par>
                              <p:par>
                                <p:cTn id="116" presetID="10" presetClass="entr" presetSubtype="0" fill="hold" grpId="0" nodeType="withEffect">
                                  <p:stCondLst>
                                    <p:cond delay="1870"/>
                                  </p:stCondLst>
                                  <p:childTnLst>
                                    <p:set>
                                      <p:cBhvr>
                                        <p:cTn id="114" dur="1" fill="hold">
                                          <p:stCondLst>
                                            <p:cond delay="0"/>
                                          </p:stCondLst>
                                        </p:cTn>
                                        <p:tgtEl>
                                          <p:spTgt spid="24"/>
                                        </p:tgtEl>
                                        <p:attrNameLst>
                                          <p:attrName>style.visibility</p:attrName>
                                        </p:attrNameLst>
                                      </p:cBhvr>
                                      <p:to>
                                        <p:strVal val="visible"/>
                                      </p:to>
                                    </p:set>
                                    <p:animEffect transition="in" filter="fade">
                                      <p:cBhvr>
                                        <p:cTn id="115" dur="500"/>
                                        <p:tgtEl>
                                          <p:spTgt spid="24"/>
                                        </p:tgtEl>
                                      </p:cBhvr>
                                    </p:animEffect>
                                  </p:childTnLst>
                                </p:cTn>
                              </p:par>
                              <p:par>
                                <p:cTn id="119" presetID="10" presetClass="entr" presetSubtype="0" fill="hold" grpId="0" nodeType="withEffect">
                                  <p:stCondLst>
                                    <p:cond delay="1915"/>
                                  </p:stCondLst>
                                  <p:childTnLst>
                                    <p:set>
                                      <p:cBhvr>
                                        <p:cTn id="117" dur="1" fill="hold">
                                          <p:stCondLst>
                                            <p:cond delay="0"/>
                                          </p:stCondLst>
                                        </p:cTn>
                                        <p:tgtEl>
                                          <p:spTgt spid="25"/>
                                        </p:tgtEl>
                                        <p:attrNameLst>
                                          <p:attrName>style.visibility</p:attrName>
                                        </p:attrNameLst>
                                      </p:cBhvr>
                                      <p:to>
                                        <p:strVal val="visible"/>
                                      </p:to>
                                    </p:set>
                                    <p:animEffect transition="in" filter="fade">
                                      <p:cBhvr>
                                        <p:cTn id="118" dur="500"/>
                                        <p:tgtEl>
                                          <p:spTgt spid="25"/>
                                        </p:tgtEl>
                                      </p:cBhvr>
                                    </p:animEffect>
                                  </p:childTnLst>
                                </p:cTn>
                              </p:par>
                              <p:par>
                                <p:cTn id="122" presetID="10" presetClass="entr" presetSubtype="0" fill="hold" grpId="0" nodeType="withEffect">
                                  <p:stCondLst>
                                    <p:cond delay="1915"/>
                                  </p:stCondLst>
                                  <p:childTnLst>
                                    <p:set>
                                      <p:cBhvr>
                                        <p:cTn id="120" dur="1" fill="hold">
                                          <p:stCondLst>
                                            <p:cond delay="0"/>
                                          </p:stCondLst>
                                        </p:cTn>
                                        <p:tgtEl>
                                          <p:spTgt spid="26"/>
                                        </p:tgtEl>
                                        <p:attrNameLst>
                                          <p:attrName>style.visibility</p:attrName>
                                        </p:attrNameLst>
                                      </p:cBhvr>
                                      <p:to>
                                        <p:strVal val="visible"/>
                                      </p:to>
                                    </p:set>
                                    <p:animEffect transition="in" filter="fade">
                                      <p:cBhvr>
                                        <p:cTn id="121" dur="500"/>
                                        <p:tgtEl>
                                          <p:spTgt spid="26"/>
                                        </p:tgtEl>
                                      </p:cBhvr>
                                    </p:animEffect>
                                  </p:childTnLst>
                                </p:cTn>
                              </p:par>
                              <p:par>
                                <p:cTn id="125" presetID="10" presetClass="entr" presetSubtype="0" fill="hold" grpId="0" nodeType="withEffect">
                                  <p:stCondLst>
                                    <p:cond delay="1960"/>
                                  </p:stCondLst>
                                  <p:childTnLst>
                                    <p:set>
                                      <p:cBhvr>
                                        <p:cTn id="123" dur="1" fill="hold">
                                          <p:stCondLst>
                                            <p:cond delay="0"/>
                                          </p:stCondLst>
                                        </p:cTn>
                                        <p:tgtEl>
                                          <p:spTgt spid="27"/>
                                        </p:tgtEl>
                                        <p:attrNameLst>
                                          <p:attrName>style.visibility</p:attrName>
                                        </p:attrNameLst>
                                      </p:cBhvr>
                                      <p:to>
                                        <p:strVal val="visible"/>
                                      </p:to>
                                    </p:set>
                                    <p:animEffect transition="in" filter="fade">
                                      <p:cBhvr>
                                        <p:cTn id="124" dur="500"/>
                                        <p:tgtEl>
                                          <p:spTgt spid="27"/>
                                        </p:tgtEl>
                                      </p:cBhvr>
                                    </p:animEffect>
                                  </p:childTnLst>
                                </p:cTn>
                              </p:par>
                              <p:par>
                                <p:cTn id="128" presetID="10" presetClass="entr" presetSubtype="0" fill="hold" grpId="0" nodeType="withEffect">
                                  <p:stCondLst>
                                    <p:cond delay="1960"/>
                                  </p:stCondLst>
                                  <p:childTnLst>
                                    <p:set>
                                      <p:cBhvr>
                                        <p:cTn id="126" dur="1" fill="hold">
                                          <p:stCondLst>
                                            <p:cond delay="0"/>
                                          </p:stCondLst>
                                        </p:cTn>
                                        <p:tgtEl>
                                          <p:spTgt spid="28"/>
                                        </p:tgtEl>
                                        <p:attrNameLst>
                                          <p:attrName>style.visibility</p:attrName>
                                        </p:attrNameLst>
                                      </p:cBhvr>
                                      <p:to>
                                        <p:strVal val="visible"/>
                                      </p:to>
                                    </p:set>
                                    <p:animEffect transition="in" filter="fade">
                                      <p:cBhvr>
                                        <p:cTn id="127" dur="500"/>
                                        <p:tgtEl>
                                          <p:spTgt spid="28"/>
                                        </p:tgtEl>
                                      </p:cBhvr>
                                    </p:animEffect>
                                  </p:childTnLst>
                                </p:cTn>
                              </p:par>
                              <p:par>
                                <p:cTn id="131" presetID="10" presetClass="entr" presetSubtype="0" fill="hold" grpId="0" nodeType="withEffect">
                                  <p:stCondLst>
                                    <p:cond delay="2005"/>
                                  </p:stCondLst>
                                  <p:childTnLst>
                                    <p:set>
                                      <p:cBhvr>
                                        <p:cTn id="129" dur="1" fill="hold">
                                          <p:stCondLst>
                                            <p:cond delay="0"/>
                                          </p:stCondLst>
                                        </p:cTn>
                                        <p:tgtEl>
                                          <p:spTgt spid="29"/>
                                        </p:tgtEl>
                                        <p:attrNameLst>
                                          <p:attrName>style.visibility</p:attrName>
                                        </p:attrNameLst>
                                      </p:cBhvr>
                                      <p:to>
                                        <p:strVal val="visible"/>
                                      </p:to>
                                    </p:set>
                                    <p:animEffect transition="in" filter="fade">
                                      <p:cBhvr>
                                        <p:cTn id="130" dur="500"/>
                                        <p:tgtEl>
                                          <p:spTgt spid="29"/>
                                        </p:tgtEl>
                                      </p:cBhvr>
                                    </p:animEffect>
                                  </p:childTnLst>
                                </p:cTn>
                              </p:par>
                              <p:par>
                                <p:cTn id="134" presetID="10" presetClass="entr" presetSubtype="0" fill="hold" grpId="0" nodeType="withEffect">
                                  <p:stCondLst>
                                    <p:cond delay="2005"/>
                                  </p:stCondLst>
                                  <p:childTnLst>
                                    <p:set>
                                      <p:cBhvr>
                                        <p:cTn id="132" dur="1" fill="hold">
                                          <p:stCondLst>
                                            <p:cond delay="0"/>
                                          </p:stCondLst>
                                        </p:cTn>
                                        <p:tgtEl>
                                          <p:spTgt spid="30"/>
                                        </p:tgtEl>
                                        <p:attrNameLst>
                                          <p:attrName>style.visibility</p:attrName>
                                        </p:attrNameLst>
                                      </p:cBhvr>
                                      <p:to>
                                        <p:strVal val="visible"/>
                                      </p:to>
                                    </p:set>
                                    <p:animEffect transition="in" filter="fade">
                                      <p:cBhvr>
                                        <p:cTn id="133" dur="500"/>
                                        <p:tgtEl>
                                          <p:spTgt spid="30"/>
                                        </p:tgtEl>
                                      </p:cBhvr>
                                    </p:animEffect>
                                  </p:childTnLst>
                                </p:cTn>
                              </p:par>
                              <p:par>
                                <p:cTn id="137" presetID="10" presetClass="entr" presetSubtype="0" fill="hold" grpId="0" nodeType="withEffect">
                                  <p:stCondLst>
                                    <p:cond delay="2050"/>
                                  </p:stCondLst>
                                  <p:childTnLst>
                                    <p:set>
                                      <p:cBhvr>
                                        <p:cTn id="135" dur="1" fill="hold">
                                          <p:stCondLst>
                                            <p:cond delay="0"/>
                                          </p:stCondLst>
                                        </p:cTn>
                                        <p:tgtEl>
                                          <p:spTgt spid="31"/>
                                        </p:tgtEl>
                                        <p:attrNameLst>
                                          <p:attrName>style.visibility</p:attrName>
                                        </p:attrNameLst>
                                      </p:cBhvr>
                                      <p:to>
                                        <p:strVal val="visible"/>
                                      </p:to>
                                    </p:set>
                                    <p:animEffect transition="in" filter="fade">
                                      <p:cBhvr>
                                        <p:cTn id="136" dur="500"/>
                                        <p:tgtEl>
                                          <p:spTgt spid="31"/>
                                        </p:tgtEl>
                                      </p:cBhvr>
                                    </p:animEffect>
                                  </p:childTnLst>
                                </p:cTn>
                              </p:par>
                              <p:par>
                                <p:cTn id="140" presetID="10" presetClass="entr" presetSubtype="0" fill="hold" grpId="0" nodeType="withEffect">
                                  <p:stCondLst>
                                    <p:cond delay="2050"/>
                                  </p:stCondLst>
                                  <p:childTnLst>
                                    <p:set>
                                      <p:cBhvr>
                                        <p:cTn id="138" dur="1" fill="hold">
                                          <p:stCondLst>
                                            <p:cond delay="0"/>
                                          </p:stCondLst>
                                        </p:cTn>
                                        <p:tgtEl>
                                          <p:spTgt spid="32"/>
                                        </p:tgtEl>
                                        <p:attrNameLst>
                                          <p:attrName>style.visibility</p:attrName>
                                        </p:attrNameLst>
                                      </p:cBhvr>
                                      <p:to>
                                        <p:strVal val="visible"/>
                                      </p:to>
                                    </p:set>
                                    <p:animEffect transition="in" filter="fade">
                                      <p:cBhvr>
                                        <p:cTn id="139" dur="500"/>
                                        <p:tgtEl>
                                          <p:spTgt spid="32"/>
                                        </p:tgtEl>
                                      </p:cBhvr>
                                    </p:animEffect>
                                  </p:childTnLst>
                                </p:cTn>
                              </p:par>
                              <p:par>
                                <p:cTn id="143" presetID="10" presetClass="entr" presetSubtype="0" fill="hold" grpId="0" nodeType="withEffect">
                                  <p:stCondLst>
                                    <p:cond delay="2095"/>
                                  </p:stCondLst>
                                  <p:childTnLst>
                                    <p:set>
                                      <p:cBhvr>
                                        <p:cTn id="141" dur="1" fill="hold">
                                          <p:stCondLst>
                                            <p:cond delay="0"/>
                                          </p:stCondLst>
                                        </p:cTn>
                                        <p:tgtEl>
                                          <p:spTgt spid="33"/>
                                        </p:tgtEl>
                                        <p:attrNameLst>
                                          <p:attrName>style.visibility</p:attrName>
                                        </p:attrNameLst>
                                      </p:cBhvr>
                                      <p:to>
                                        <p:strVal val="visible"/>
                                      </p:to>
                                    </p:set>
                                    <p:animEffect transition="in" filter="fade">
                                      <p:cBhvr>
                                        <p:cTn id="142" dur="500"/>
                                        <p:tgtEl>
                                          <p:spTgt spid="33"/>
                                        </p:tgtEl>
                                      </p:cBhvr>
                                    </p:animEffect>
                                  </p:childTnLst>
                                </p:cTn>
                              </p:par>
                              <p:par>
                                <p:cTn id="146" presetID="10" presetClass="entr" presetSubtype="0" fill="hold" grpId="0" nodeType="withEffect">
                                  <p:stCondLst>
                                    <p:cond delay="2095"/>
                                  </p:stCondLst>
                                  <p:childTnLst>
                                    <p:set>
                                      <p:cBhvr>
                                        <p:cTn id="144" dur="1" fill="hold">
                                          <p:stCondLst>
                                            <p:cond delay="0"/>
                                          </p:stCondLst>
                                        </p:cTn>
                                        <p:tgtEl>
                                          <p:spTgt spid="34"/>
                                        </p:tgtEl>
                                        <p:attrNameLst>
                                          <p:attrName>style.visibility</p:attrName>
                                        </p:attrNameLst>
                                      </p:cBhvr>
                                      <p:to>
                                        <p:strVal val="visible"/>
                                      </p:to>
                                    </p:set>
                                    <p:animEffect transition="in" filter="fade">
                                      <p:cBhvr>
                                        <p:cTn id="145" dur="500"/>
                                        <p:tgtEl>
                                          <p:spTgt spid="34"/>
                                        </p:tgtEl>
                                      </p:cBhvr>
                                    </p:animEffect>
                                  </p:childTnLst>
                                </p:cTn>
                              </p:par>
                              <p:par>
                                <p:cTn id="149" presetID="10" presetClass="entr" presetSubtype="0" fill="hold" grpId="0" nodeType="withEffect">
                                  <p:stCondLst>
                                    <p:cond delay="2100"/>
                                  </p:stCondLst>
                                  <p:childTnLst>
                                    <p:set>
                                      <p:cBhvr>
                                        <p:cTn id="147" dur="1" fill="hold">
                                          <p:stCondLst>
                                            <p:cond delay="0"/>
                                          </p:stCondLst>
                                        </p:cTn>
                                        <p:tgtEl>
                                          <p:spTgt spid="60"/>
                                        </p:tgtEl>
                                        <p:attrNameLst>
                                          <p:attrName>style.visibility</p:attrName>
                                        </p:attrNameLst>
                                      </p:cBhvr>
                                      <p:to>
                                        <p:strVal val="visible"/>
                                      </p:to>
                                    </p:set>
                                    <p:animEffect transition="in" filter="fade">
                                      <p:cBhvr>
                                        <p:cTn id="148" dur="500"/>
                                        <p:tgtEl>
                                          <p:spTgt spid="60"/>
                                        </p:tgtEl>
                                      </p:cBhvr>
                                    </p:animEffect>
                                  </p:childTnLst>
                                </p:cTn>
                              </p:par>
                              <p:par>
                                <p:cTn id="152" presetID="10" presetClass="entr" presetSubtype="0" fill="hold" grpId="0" nodeType="withEffect">
                                  <p:stCondLst>
                                    <p:cond delay="2140"/>
                                  </p:stCondLst>
                                  <p:childTnLst>
                                    <p:set>
                                      <p:cBhvr>
                                        <p:cTn id="150" dur="1" fill="hold">
                                          <p:stCondLst>
                                            <p:cond delay="0"/>
                                          </p:stCondLst>
                                        </p:cTn>
                                        <p:tgtEl>
                                          <p:spTgt spid="35"/>
                                        </p:tgtEl>
                                        <p:attrNameLst>
                                          <p:attrName>style.visibility</p:attrName>
                                        </p:attrNameLst>
                                      </p:cBhvr>
                                      <p:to>
                                        <p:strVal val="visible"/>
                                      </p:to>
                                    </p:set>
                                    <p:animEffect transition="in" filter="fade">
                                      <p:cBhvr>
                                        <p:cTn id="151" dur="500"/>
                                        <p:tgtEl>
                                          <p:spTgt spid="35"/>
                                        </p:tgtEl>
                                      </p:cBhvr>
                                    </p:animEffect>
                                  </p:childTnLst>
                                </p:cTn>
                              </p:par>
                              <p:par>
                                <p:cTn id="155" presetID="10" presetClass="entr" presetSubtype="0" fill="hold" grpId="0" nodeType="withEffect">
                                  <p:stCondLst>
                                    <p:cond delay="2140"/>
                                  </p:stCondLst>
                                  <p:childTnLst>
                                    <p:set>
                                      <p:cBhvr>
                                        <p:cTn id="153" dur="1" fill="hold">
                                          <p:stCondLst>
                                            <p:cond delay="0"/>
                                          </p:stCondLst>
                                        </p:cTn>
                                        <p:tgtEl>
                                          <p:spTgt spid="36"/>
                                        </p:tgtEl>
                                        <p:attrNameLst>
                                          <p:attrName>style.visibility</p:attrName>
                                        </p:attrNameLst>
                                      </p:cBhvr>
                                      <p:to>
                                        <p:strVal val="visible"/>
                                      </p:to>
                                    </p:set>
                                    <p:animEffect transition="in" filter="fade">
                                      <p:cBhvr>
                                        <p:cTn id="154" dur="500"/>
                                        <p:tgtEl>
                                          <p:spTgt spid="36"/>
                                        </p:tgtEl>
                                      </p:cBhvr>
                                    </p:animEffect>
                                  </p:childTnLst>
                                </p:cTn>
                              </p:par>
                              <p:par>
                                <p:cTn id="158" presetID="10" presetClass="entr" presetSubtype="0" fill="hold" grpId="0" nodeType="withEffect">
                                  <p:stCondLst>
                                    <p:cond delay="2185"/>
                                  </p:stCondLst>
                                  <p:childTnLst>
                                    <p:set>
                                      <p:cBhvr>
                                        <p:cTn id="156" dur="1" fill="hold">
                                          <p:stCondLst>
                                            <p:cond delay="0"/>
                                          </p:stCondLst>
                                        </p:cTn>
                                        <p:tgtEl>
                                          <p:spTgt spid="37"/>
                                        </p:tgtEl>
                                        <p:attrNameLst>
                                          <p:attrName>style.visibility</p:attrName>
                                        </p:attrNameLst>
                                      </p:cBhvr>
                                      <p:to>
                                        <p:strVal val="visible"/>
                                      </p:to>
                                    </p:set>
                                    <p:animEffect transition="in" filter="fade">
                                      <p:cBhvr>
                                        <p:cTn id="157" dur="500"/>
                                        <p:tgtEl>
                                          <p:spTgt spid="37"/>
                                        </p:tgtEl>
                                      </p:cBhvr>
                                    </p:animEffect>
                                  </p:childTnLst>
                                </p:cTn>
                              </p:par>
                              <p:par>
                                <p:cTn id="161" presetID="10" presetClass="entr" presetSubtype="0" fill="hold" grpId="0" nodeType="withEffect">
                                  <p:stCondLst>
                                    <p:cond delay="2185"/>
                                  </p:stCondLst>
                                  <p:childTnLst>
                                    <p:set>
                                      <p:cBhvr>
                                        <p:cTn id="159" dur="1" fill="hold">
                                          <p:stCondLst>
                                            <p:cond delay="0"/>
                                          </p:stCondLst>
                                        </p:cTn>
                                        <p:tgtEl>
                                          <p:spTgt spid="38"/>
                                        </p:tgtEl>
                                        <p:attrNameLst>
                                          <p:attrName>style.visibility</p:attrName>
                                        </p:attrNameLst>
                                      </p:cBhvr>
                                      <p:to>
                                        <p:strVal val="visible"/>
                                      </p:to>
                                    </p:set>
                                    <p:animEffect transition="in" filter="fade">
                                      <p:cBhvr>
                                        <p:cTn id="160" dur="500"/>
                                        <p:tgtEl>
                                          <p:spTgt spid="38"/>
                                        </p:tgtEl>
                                      </p:cBhvr>
                                    </p:animEffect>
                                  </p:childTnLst>
                                </p:cTn>
                              </p:par>
                              <p:par>
                                <p:cTn id="164" presetID="10" presetClass="entr" presetSubtype="0" fill="hold" grpId="0" nodeType="withEffect">
                                  <p:stCondLst>
                                    <p:cond delay="2230"/>
                                  </p:stCondLst>
                                  <p:childTnLst>
                                    <p:set>
                                      <p:cBhvr>
                                        <p:cTn id="162" dur="1" fill="hold">
                                          <p:stCondLst>
                                            <p:cond delay="0"/>
                                          </p:stCondLst>
                                        </p:cTn>
                                        <p:tgtEl>
                                          <p:spTgt spid="39"/>
                                        </p:tgtEl>
                                        <p:attrNameLst>
                                          <p:attrName>style.visibility</p:attrName>
                                        </p:attrNameLst>
                                      </p:cBhvr>
                                      <p:to>
                                        <p:strVal val="visible"/>
                                      </p:to>
                                    </p:set>
                                    <p:animEffect transition="in" filter="fade">
                                      <p:cBhvr>
                                        <p:cTn id="163" dur="500"/>
                                        <p:tgtEl>
                                          <p:spTgt spid="39"/>
                                        </p:tgtEl>
                                      </p:cBhvr>
                                    </p:animEffect>
                                  </p:childTnLst>
                                </p:cTn>
                              </p:par>
                              <p:par>
                                <p:cTn id="167" presetID="10" presetClass="entr" presetSubtype="0" fill="hold" grpId="0" nodeType="withEffect">
                                  <p:stCondLst>
                                    <p:cond delay="2230"/>
                                  </p:stCondLst>
                                  <p:childTnLst>
                                    <p:set>
                                      <p:cBhvr>
                                        <p:cTn id="165" dur="1" fill="hold">
                                          <p:stCondLst>
                                            <p:cond delay="0"/>
                                          </p:stCondLst>
                                        </p:cTn>
                                        <p:tgtEl>
                                          <p:spTgt spid="40"/>
                                        </p:tgtEl>
                                        <p:attrNameLst>
                                          <p:attrName>style.visibility</p:attrName>
                                        </p:attrNameLst>
                                      </p:cBhvr>
                                      <p:to>
                                        <p:strVal val="visible"/>
                                      </p:to>
                                    </p:set>
                                    <p:animEffect transition="in" filter="fade">
                                      <p:cBhvr>
                                        <p:cTn id="166" dur="500"/>
                                        <p:tgtEl>
                                          <p:spTgt spid="40"/>
                                        </p:tgtEl>
                                      </p:cBhvr>
                                    </p:animEffect>
                                  </p:childTnLst>
                                </p:cTn>
                              </p:par>
                              <p:par>
                                <p:cTn id="170" presetID="10" presetClass="entr" presetSubtype="0" fill="hold" grpId="0" nodeType="withEffect">
                                  <p:stCondLst>
                                    <p:cond delay="2275"/>
                                  </p:stCondLst>
                                  <p:childTnLst>
                                    <p:set>
                                      <p:cBhvr>
                                        <p:cTn id="168" dur="1" fill="hold">
                                          <p:stCondLst>
                                            <p:cond delay="0"/>
                                          </p:stCondLst>
                                        </p:cTn>
                                        <p:tgtEl>
                                          <p:spTgt spid="41"/>
                                        </p:tgtEl>
                                        <p:attrNameLst>
                                          <p:attrName>style.visibility</p:attrName>
                                        </p:attrNameLst>
                                      </p:cBhvr>
                                      <p:to>
                                        <p:strVal val="visible"/>
                                      </p:to>
                                    </p:set>
                                    <p:animEffect transition="in" filter="fade">
                                      <p:cBhvr>
                                        <p:cTn id="169" dur="500"/>
                                        <p:tgtEl>
                                          <p:spTgt spid="41"/>
                                        </p:tgtEl>
                                      </p:cBhvr>
                                    </p:animEffect>
                                  </p:childTnLst>
                                </p:cTn>
                              </p:par>
                              <p:par>
                                <p:cTn id="173" presetID="10" presetClass="entr" presetSubtype="0" fill="hold" grpId="0" nodeType="withEffect">
                                  <p:stCondLst>
                                    <p:cond delay="2275"/>
                                  </p:stCondLst>
                                  <p:childTnLst>
                                    <p:set>
                                      <p:cBhvr>
                                        <p:cTn id="171" dur="1" fill="hold">
                                          <p:stCondLst>
                                            <p:cond delay="0"/>
                                          </p:stCondLst>
                                        </p:cTn>
                                        <p:tgtEl>
                                          <p:spTgt spid="42"/>
                                        </p:tgtEl>
                                        <p:attrNameLst>
                                          <p:attrName>style.visibility</p:attrName>
                                        </p:attrNameLst>
                                      </p:cBhvr>
                                      <p:to>
                                        <p:strVal val="visible"/>
                                      </p:to>
                                    </p:set>
                                    <p:animEffect transition="in" filter="fade">
                                      <p:cBhvr>
                                        <p:cTn id="172" dur="500"/>
                                        <p:tgtEl>
                                          <p:spTgt spid="42"/>
                                        </p:tgtEl>
                                      </p:cBhvr>
                                    </p:animEffect>
                                  </p:childTnLst>
                                </p:cTn>
                              </p:par>
                              <p:par>
                                <p:cTn id="176" presetID="10" presetClass="entr" presetSubtype="0" fill="hold" grpId="0" nodeType="withEffect">
                                  <p:stCondLst>
                                    <p:cond delay="2320"/>
                                  </p:stCondLst>
                                  <p:childTnLst>
                                    <p:set>
                                      <p:cBhvr>
                                        <p:cTn id="174" dur="1" fill="hold">
                                          <p:stCondLst>
                                            <p:cond delay="0"/>
                                          </p:stCondLst>
                                        </p:cTn>
                                        <p:tgtEl>
                                          <p:spTgt spid="43"/>
                                        </p:tgtEl>
                                        <p:attrNameLst>
                                          <p:attrName>style.visibility</p:attrName>
                                        </p:attrNameLst>
                                      </p:cBhvr>
                                      <p:to>
                                        <p:strVal val="visible"/>
                                      </p:to>
                                    </p:set>
                                    <p:animEffect transition="in" filter="fade">
                                      <p:cBhvr>
                                        <p:cTn id="175" dur="500"/>
                                        <p:tgtEl>
                                          <p:spTgt spid="43"/>
                                        </p:tgtEl>
                                      </p:cBhvr>
                                    </p:animEffect>
                                  </p:childTnLst>
                                </p:cTn>
                              </p:par>
                              <p:par>
                                <p:cTn id="179" presetID="10" presetClass="entr" presetSubtype="0" fill="hold" grpId="0" nodeType="withEffect">
                                  <p:stCondLst>
                                    <p:cond delay="2320"/>
                                  </p:stCondLst>
                                  <p:childTnLst>
                                    <p:set>
                                      <p:cBhvr>
                                        <p:cTn id="177" dur="1" fill="hold">
                                          <p:stCondLst>
                                            <p:cond delay="0"/>
                                          </p:stCondLst>
                                        </p:cTn>
                                        <p:tgtEl>
                                          <p:spTgt spid="44"/>
                                        </p:tgtEl>
                                        <p:attrNameLst>
                                          <p:attrName>style.visibility</p:attrName>
                                        </p:attrNameLst>
                                      </p:cBhvr>
                                      <p:to>
                                        <p:strVal val="visible"/>
                                      </p:to>
                                    </p:set>
                                    <p:animEffect transition="in" filter="fade">
                                      <p:cBhvr>
                                        <p:cTn id="178" dur="500"/>
                                        <p:tgtEl>
                                          <p:spTgt spid="44"/>
                                        </p:tgtEl>
                                      </p:cBhvr>
                                    </p:animEffect>
                                  </p:childTnLst>
                                </p:cTn>
                              </p:par>
                              <p:par>
                                <p:cTn id="182" presetID="10" presetClass="entr" presetSubtype="0" fill="hold" grpId="0" nodeType="withEffect">
                                  <p:stCondLst>
                                    <p:cond delay="2365"/>
                                  </p:stCondLst>
                                  <p:childTnLst>
                                    <p:set>
                                      <p:cBhvr>
                                        <p:cTn id="180" dur="1" fill="hold">
                                          <p:stCondLst>
                                            <p:cond delay="0"/>
                                          </p:stCondLst>
                                        </p:cTn>
                                        <p:tgtEl>
                                          <p:spTgt spid="45"/>
                                        </p:tgtEl>
                                        <p:attrNameLst>
                                          <p:attrName>style.visibility</p:attrName>
                                        </p:attrNameLst>
                                      </p:cBhvr>
                                      <p:to>
                                        <p:strVal val="visible"/>
                                      </p:to>
                                    </p:set>
                                    <p:animEffect transition="in" filter="fade">
                                      <p:cBhvr>
                                        <p:cTn id="181" dur="500"/>
                                        <p:tgtEl>
                                          <p:spTgt spid="45"/>
                                        </p:tgtEl>
                                      </p:cBhvr>
                                    </p:animEffect>
                                  </p:childTnLst>
                                </p:cTn>
                              </p:par>
                              <p:par>
                                <p:cTn id="185" presetID="10" presetClass="entr" presetSubtype="0" fill="hold" grpId="0" nodeType="withEffect">
                                  <p:stCondLst>
                                    <p:cond delay="2365"/>
                                  </p:stCondLst>
                                  <p:childTnLst>
                                    <p:set>
                                      <p:cBhvr>
                                        <p:cTn id="183" dur="1" fill="hold">
                                          <p:stCondLst>
                                            <p:cond delay="0"/>
                                          </p:stCondLst>
                                        </p:cTn>
                                        <p:tgtEl>
                                          <p:spTgt spid="46"/>
                                        </p:tgtEl>
                                        <p:attrNameLst>
                                          <p:attrName>style.visibility</p:attrName>
                                        </p:attrNameLst>
                                      </p:cBhvr>
                                      <p:to>
                                        <p:strVal val="visible"/>
                                      </p:to>
                                    </p:set>
                                    <p:animEffect transition="in" filter="fade">
                                      <p:cBhvr>
                                        <p:cTn id="184" dur="500"/>
                                        <p:tgtEl>
                                          <p:spTgt spid="46"/>
                                        </p:tgtEl>
                                      </p:cBhvr>
                                    </p:animEffect>
                                  </p:childTnLst>
                                </p:cTn>
                              </p:par>
                              <p:par>
                                <p:cTn id="188" presetID="10" presetClass="entr" presetSubtype="0" fill="hold" grpId="0" nodeType="withEffect">
                                  <p:stCondLst>
                                    <p:cond delay="2410"/>
                                  </p:stCondLst>
                                  <p:childTnLst>
                                    <p:set>
                                      <p:cBhvr>
                                        <p:cTn id="186" dur="1" fill="hold">
                                          <p:stCondLst>
                                            <p:cond delay="0"/>
                                          </p:stCondLst>
                                        </p:cTn>
                                        <p:tgtEl>
                                          <p:spTgt spid="47"/>
                                        </p:tgtEl>
                                        <p:attrNameLst>
                                          <p:attrName>style.visibility</p:attrName>
                                        </p:attrNameLst>
                                      </p:cBhvr>
                                      <p:to>
                                        <p:strVal val="visible"/>
                                      </p:to>
                                    </p:set>
                                    <p:animEffect transition="in" filter="fade">
                                      <p:cBhvr>
                                        <p:cTn id="187"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Some Systems Are Not Kafka</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Databases, SaaS apps, search engines - you still have to get data in and out</a:t>
            </a:r>
          </a:p>
        </p:txBody>
      </p:sp>
      <p:sp>
        <p:nvSpPr>
          <p:cNvPr id="11" name="a1u_lb10"/>
          <p:cNvSpPr txBox="1"/>
          <p:nvPr/>
        </p:nvSpPr>
        <p:spPr>
          <a:xfrm>
            <a:off x="457200" y="1280160"/>
            <a:ext cx="1691640" cy="201168"/>
          </a:xfrm>
          <a:prstGeom prst="rect">
            <a:avLst/>
          </a:prstGeom>
          <a:noFill/>
        </p:spPr>
        <p:txBody>
          <a:bodyPr wrap="square" lIns="0" tIns="0" rIns="0" bIns="0" anchor="ctr">
            <a:spAutoFit/>
          </a:bodyPr>
          <a:lstStyle/>
          <a:p>
            <a:pPr algn="ctr"/>
            <a:r>
              <a:rPr sz="850" b="1">
                <a:solidFill>
                  <a:srgbClr val="C2410C"/>
                </a:solidFill>
                <a:latin typeface="Segoe UI"/>
              </a:rPr>
              <a:t>GET DATA IN FROM</a:t>
            </a:r>
          </a:p>
        </p:txBody>
      </p:sp>
      <p:sp>
        <p:nvSpPr>
          <p:cNvPr id="12" name="a2u_lb11"/>
          <p:cNvSpPr txBox="1"/>
          <p:nvPr/>
        </p:nvSpPr>
        <p:spPr>
          <a:xfrm>
            <a:off x="6995160" y="1280160"/>
            <a:ext cx="1691640" cy="201168"/>
          </a:xfrm>
          <a:prstGeom prst="rect">
            <a:avLst/>
          </a:prstGeom>
          <a:noFill/>
        </p:spPr>
        <p:txBody>
          <a:bodyPr wrap="square" lIns="0" tIns="0" rIns="0" bIns="0" anchor="ctr">
            <a:spAutoFit/>
          </a:bodyPr>
          <a:lstStyle/>
          <a:p>
            <a:pPr algn="ctr"/>
            <a:r>
              <a:rPr sz="850" b="1">
                <a:solidFill>
                  <a:srgbClr val="4F46E5"/>
                </a:solidFill>
                <a:latin typeface="Segoe UI"/>
              </a:rPr>
              <a:t>GET DATA OUT TO</a:t>
            </a:r>
          </a:p>
        </p:txBody>
      </p:sp>
      <p:sp>
        <p:nvSpPr>
          <p:cNvPr id="13" name="a1u_pill12"/>
          <p:cNvSpPr/>
          <p:nvPr/>
        </p:nvSpPr>
        <p:spPr>
          <a:xfrm>
            <a:off x="457200" y="1600200"/>
            <a:ext cx="1691640" cy="347472"/>
          </a:xfrm>
          <a:prstGeom prst="roundRect">
            <a:avLst>
              <a:gd name="adj" fmla="val 50000"/>
            </a:avLst>
          </a:prstGeom>
          <a:solidFill>
            <a:srgbClr val="FFFFFF"/>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1C1917"/>
                </a:solidFill>
                <a:latin typeface="Segoe UI"/>
              </a:rPr>
              <a:t>PostgreSQL</a:t>
            </a:r>
          </a:p>
        </p:txBody>
      </p:sp>
      <p:cxnSp>
        <p:nvCxnSpPr>
          <p:cNvPr id="14" name="a1u_ar13"/>
          <p:cNvCxnSpPr/>
          <p:nvPr/>
        </p:nvCxnSpPr>
        <p:spPr>
          <a:xfrm>
            <a:off x="2167128" y="1773936"/>
            <a:ext cx="694944" cy="603504"/>
          </a:xfrm>
          <a:prstGeom prst="line">
            <a:avLst/>
          </a:prstGeom>
          <a:ln w="15875">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a1ud100_pill14"/>
          <p:cNvSpPr/>
          <p:nvPr/>
        </p:nvSpPr>
        <p:spPr>
          <a:xfrm>
            <a:off x="457200" y="2075688"/>
            <a:ext cx="1691640" cy="347472"/>
          </a:xfrm>
          <a:prstGeom prst="roundRect">
            <a:avLst>
              <a:gd name="adj" fmla="val 50000"/>
            </a:avLst>
          </a:prstGeom>
          <a:solidFill>
            <a:srgbClr val="FFFFFF"/>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1C1917"/>
                </a:solidFill>
                <a:latin typeface="Segoe UI"/>
              </a:rPr>
              <a:t>MySQL</a:t>
            </a:r>
          </a:p>
        </p:txBody>
      </p:sp>
      <p:cxnSp>
        <p:nvCxnSpPr>
          <p:cNvPr id="16" name="a1ud100_ar15"/>
          <p:cNvCxnSpPr/>
          <p:nvPr/>
        </p:nvCxnSpPr>
        <p:spPr>
          <a:xfrm>
            <a:off x="2167128" y="2249424"/>
            <a:ext cx="694944" cy="128016"/>
          </a:xfrm>
          <a:prstGeom prst="line">
            <a:avLst/>
          </a:prstGeom>
          <a:ln w="15875">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a1ud200_pill16"/>
          <p:cNvSpPr/>
          <p:nvPr/>
        </p:nvSpPr>
        <p:spPr>
          <a:xfrm>
            <a:off x="457200" y="2551176"/>
            <a:ext cx="1691640" cy="347472"/>
          </a:xfrm>
          <a:prstGeom prst="roundRect">
            <a:avLst>
              <a:gd name="adj" fmla="val 50000"/>
            </a:avLst>
          </a:prstGeom>
          <a:solidFill>
            <a:srgbClr val="FFFFFF"/>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1C1917"/>
                </a:solidFill>
                <a:latin typeface="Segoe UI"/>
              </a:rPr>
              <a:t>Salesforce (SaaS)</a:t>
            </a:r>
          </a:p>
        </p:txBody>
      </p:sp>
      <p:cxnSp>
        <p:nvCxnSpPr>
          <p:cNvPr id="18" name="a1ud200_ar17"/>
          <p:cNvCxnSpPr/>
          <p:nvPr/>
        </p:nvCxnSpPr>
        <p:spPr>
          <a:xfrm flipV="1">
            <a:off x="2167128" y="2377440"/>
            <a:ext cx="694944" cy="347472"/>
          </a:xfrm>
          <a:prstGeom prst="line">
            <a:avLst/>
          </a:prstGeom>
          <a:ln w="15875">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a1ud300_pill18"/>
          <p:cNvSpPr/>
          <p:nvPr/>
        </p:nvSpPr>
        <p:spPr>
          <a:xfrm>
            <a:off x="457200" y="3026664"/>
            <a:ext cx="1691640" cy="347472"/>
          </a:xfrm>
          <a:prstGeom prst="roundRect">
            <a:avLst>
              <a:gd name="adj" fmla="val 50000"/>
            </a:avLst>
          </a:prstGeom>
          <a:solidFill>
            <a:srgbClr val="FFFFFF"/>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1C1917"/>
                </a:solidFill>
                <a:latin typeface="Segoe UI"/>
              </a:rPr>
              <a:t>log files</a:t>
            </a:r>
          </a:p>
        </p:txBody>
      </p:sp>
      <p:cxnSp>
        <p:nvCxnSpPr>
          <p:cNvPr id="20" name="a1ud300_ar19"/>
          <p:cNvCxnSpPr/>
          <p:nvPr/>
        </p:nvCxnSpPr>
        <p:spPr>
          <a:xfrm flipV="1">
            <a:off x="2167128" y="2377440"/>
            <a:ext cx="694944" cy="822960"/>
          </a:xfrm>
          <a:prstGeom prst="line">
            <a:avLst/>
          </a:prstGeom>
          <a:ln w="15875">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a2u_pill20"/>
          <p:cNvSpPr/>
          <p:nvPr/>
        </p:nvSpPr>
        <p:spPr>
          <a:xfrm>
            <a:off x="6995160" y="1600200"/>
            <a:ext cx="1691640" cy="347472"/>
          </a:xfrm>
          <a:prstGeom prst="roundRect">
            <a:avLst>
              <a:gd name="adj" fmla="val 50000"/>
            </a:avLst>
          </a:prstGeom>
          <a:solidFill>
            <a:srgbClr val="FFFFFF"/>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1C1917"/>
                </a:solidFill>
                <a:latin typeface="Segoe UI"/>
              </a:rPr>
              <a:t>Elasticsearch</a:t>
            </a:r>
          </a:p>
        </p:txBody>
      </p:sp>
      <p:cxnSp>
        <p:nvCxnSpPr>
          <p:cNvPr id="22" name="a2u_ar21"/>
          <p:cNvCxnSpPr/>
          <p:nvPr/>
        </p:nvCxnSpPr>
        <p:spPr>
          <a:xfrm flipV="1">
            <a:off x="6281928" y="1773936"/>
            <a:ext cx="694944" cy="603504"/>
          </a:xfrm>
          <a:prstGeom prst="line">
            <a:avLst/>
          </a:prstGeom>
          <a:ln w="15875">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a2ud100_pill22"/>
          <p:cNvSpPr/>
          <p:nvPr/>
        </p:nvSpPr>
        <p:spPr>
          <a:xfrm>
            <a:off x="6995160" y="2075688"/>
            <a:ext cx="1691640" cy="347472"/>
          </a:xfrm>
          <a:prstGeom prst="roundRect">
            <a:avLst>
              <a:gd name="adj" fmla="val 50000"/>
            </a:avLst>
          </a:prstGeom>
          <a:solidFill>
            <a:srgbClr val="FFFFFF"/>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1C1917"/>
                </a:solidFill>
                <a:latin typeface="Segoe UI"/>
              </a:rPr>
              <a:t>data warehouse</a:t>
            </a:r>
          </a:p>
        </p:txBody>
      </p:sp>
      <p:cxnSp>
        <p:nvCxnSpPr>
          <p:cNvPr id="24" name="a2ud100_ar23"/>
          <p:cNvCxnSpPr/>
          <p:nvPr/>
        </p:nvCxnSpPr>
        <p:spPr>
          <a:xfrm flipV="1">
            <a:off x="6281928" y="2249424"/>
            <a:ext cx="694944" cy="128016"/>
          </a:xfrm>
          <a:prstGeom prst="line">
            <a:avLst/>
          </a:prstGeom>
          <a:ln w="15875">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a2ud200_pill24"/>
          <p:cNvSpPr/>
          <p:nvPr/>
        </p:nvSpPr>
        <p:spPr>
          <a:xfrm>
            <a:off x="6995160" y="2551176"/>
            <a:ext cx="1691640" cy="347472"/>
          </a:xfrm>
          <a:prstGeom prst="roundRect">
            <a:avLst>
              <a:gd name="adj" fmla="val 50000"/>
            </a:avLst>
          </a:prstGeom>
          <a:solidFill>
            <a:srgbClr val="FFFFFF"/>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1C1917"/>
                </a:solidFill>
                <a:latin typeface="Segoe UI"/>
              </a:rPr>
              <a:t>Amazon S3</a:t>
            </a:r>
          </a:p>
        </p:txBody>
      </p:sp>
      <p:cxnSp>
        <p:nvCxnSpPr>
          <p:cNvPr id="26" name="a2ud200_ar25"/>
          <p:cNvCxnSpPr/>
          <p:nvPr/>
        </p:nvCxnSpPr>
        <p:spPr>
          <a:xfrm>
            <a:off x="6281928" y="2377440"/>
            <a:ext cx="694944" cy="347472"/>
          </a:xfrm>
          <a:prstGeom prst="line">
            <a:avLst/>
          </a:prstGeom>
          <a:ln w="15875">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a2ud300_pill26"/>
          <p:cNvSpPr/>
          <p:nvPr/>
        </p:nvSpPr>
        <p:spPr>
          <a:xfrm>
            <a:off x="6995160" y="3026664"/>
            <a:ext cx="1691640" cy="347472"/>
          </a:xfrm>
          <a:prstGeom prst="roundRect">
            <a:avLst>
              <a:gd name="adj" fmla="val 50000"/>
            </a:avLst>
          </a:prstGeom>
          <a:solidFill>
            <a:srgbClr val="FFFFFF"/>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1C1917"/>
                </a:solidFill>
                <a:latin typeface="Segoe UI"/>
              </a:rPr>
              <a:t>another database</a:t>
            </a:r>
          </a:p>
        </p:txBody>
      </p:sp>
      <p:cxnSp>
        <p:nvCxnSpPr>
          <p:cNvPr id="28" name="a2ud300_ar27"/>
          <p:cNvCxnSpPr/>
          <p:nvPr/>
        </p:nvCxnSpPr>
        <p:spPr>
          <a:xfrm>
            <a:off x="6281928" y="2377440"/>
            <a:ext cx="694944" cy="822960"/>
          </a:xfrm>
          <a:prstGeom prst="line">
            <a:avLst/>
          </a:prstGeom>
          <a:ln w="15875">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a0f_cl28"/>
          <p:cNvSpPr/>
          <p:nvPr/>
        </p:nvSpPr>
        <p:spPr>
          <a:xfrm>
            <a:off x="2880360" y="1417320"/>
            <a:ext cx="3383280" cy="1920240"/>
          </a:xfrm>
          <a:prstGeom prst="roundRect">
            <a:avLst>
              <a:gd name="adj" fmla="val 4761"/>
            </a:avLst>
          </a:prstGeom>
          <a:solidFill>
            <a:srgbClr val="F7F6F3"/>
          </a:solidFill>
          <a:ln w="15875">
            <a:solidFill>
              <a:srgbClr val="0E749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0f_clh29"/>
          <p:cNvSpPr txBox="1"/>
          <p:nvPr/>
        </p:nvSpPr>
        <p:spPr>
          <a:xfrm>
            <a:off x="3017520" y="1490472"/>
            <a:ext cx="3154680" cy="237744"/>
          </a:xfrm>
          <a:prstGeom prst="rect">
            <a:avLst/>
          </a:prstGeom>
          <a:noFill/>
        </p:spPr>
        <p:txBody>
          <a:bodyPr wrap="square" lIns="0" tIns="0" rIns="0" bIns="0" anchor="ctr">
            <a:spAutoFit/>
          </a:bodyPr>
          <a:lstStyle/>
          <a:p>
            <a:pPr algn="l"/>
            <a:r>
              <a:rPr sz="850" b="1" spc="160">
                <a:solidFill>
                  <a:srgbClr val="0E7490"/>
                </a:solidFill>
                <a:latin typeface="Segoe UI"/>
              </a:rPr>
              <a:t>KAFKA CLUSTER</a:t>
            </a:r>
          </a:p>
        </p:txBody>
      </p:sp>
      <p:sp>
        <p:nvSpPr>
          <p:cNvPr id="31" name="a0f_pill30"/>
          <p:cNvSpPr/>
          <p:nvPr/>
        </p:nvSpPr>
        <p:spPr>
          <a:xfrm>
            <a:off x="3108960" y="1783080"/>
            <a:ext cx="868680" cy="274320"/>
          </a:xfrm>
          <a:prstGeom prst="roundRect">
            <a:avLst>
              <a:gd name="adj" fmla="val 50000"/>
            </a:avLst>
          </a:prstGeom>
          <a:solidFill>
            <a:srgbClr val="FFFFFF"/>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0E7490"/>
                </a:solidFill>
                <a:latin typeface="Consolas"/>
              </a:rPr>
              <a:t>broker 1</a:t>
            </a:r>
          </a:p>
        </p:txBody>
      </p:sp>
      <p:sp>
        <p:nvSpPr>
          <p:cNvPr id="32" name="a0f_pill31"/>
          <p:cNvSpPr/>
          <p:nvPr/>
        </p:nvSpPr>
        <p:spPr>
          <a:xfrm>
            <a:off x="4114800" y="1783080"/>
            <a:ext cx="868680" cy="274320"/>
          </a:xfrm>
          <a:prstGeom prst="roundRect">
            <a:avLst>
              <a:gd name="adj" fmla="val 50000"/>
            </a:avLst>
          </a:prstGeom>
          <a:solidFill>
            <a:srgbClr val="FFFFFF"/>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0E7490"/>
                </a:solidFill>
                <a:latin typeface="Consolas"/>
              </a:rPr>
              <a:t>broker 2</a:t>
            </a:r>
          </a:p>
        </p:txBody>
      </p:sp>
      <p:sp>
        <p:nvSpPr>
          <p:cNvPr id="33" name="a0f_pill32"/>
          <p:cNvSpPr/>
          <p:nvPr/>
        </p:nvSpPr>
        <p:spPr>
          <a:xfrm>
            <a:off x="5120640" y="1783080"/>
            <a:ext cx="868680" cy="274320"/>
          </a:xfrm>
          <a:prstGeom prst="roundRect">
            <a:avLst>
              <a:gd name="adj" fmla="val 50000"/>
            </a:avLst>
          </a:prstGeom>
          <a:solidFill>
            <a:srgbClr val="FFFFFF"/>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0E7490"/>
                </a:solidFill>
                <a:latin typeface="Consolas"/>
              </a:rPr>
              <a:t>broker 3</a:t>
            </a:r>
          </a:p>
        </p:txBody>
      </p:sp>
      <p:sp>
        <p:nvSpPr>
          <p:cNvPr id="34" name="a0f_lb33"/>
          <p:cNvSpPr txBox="1"/>
          <p:nvPr/>
        </p:nvSpPr>
        <p:spPr>
          <a:xfrm>
            <a:off x="3063240" y="2212848"/>
            <a:ext cx="3017520" cy="201168"/>
          </a:xfrm>
          <a:prstGeom prst="rect">
            <a:avLst/>
          </a:prstGeom>
          <a:noFill/>
        </p:spPr>
        <p:txBody>
          <a:bodyPr wrap="square" lIns="0" tIns="0" rIns="0" bIns="0" anchor="ctr">
            <a:spAutoFit/>
          </a:bodyPr>
          <a:lstStyle/>
          <a:p>
            <a:pPr algn="l"/>
            <a:r>
              <a:rPr sz="850" b="0">
                <a:solidFill>
                  <a:srgbClr val="78716C"/>
                </a:solidFill>
                <a:latin typeface="Consolas"/>
              </a:rPr>
              <a:t>topics</a:t>
            </a:r>
          </a:p>
        </p:txBody>
      </p:sp>
      <p:sp>
        <p:nvSpPr>
          <p:cNvPr id="35" name="a0f_cell34"/>
          <p:cNvSpPr/>
          <p:nvPr/>
        </p:nvSpPr>
        <p:spPr>
          <a:xfrm>
            <a:off x="3063240" y="2450592"/>
            <a:ext cx="374904" cy="347472"/>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0f_cellt35"/>
          <p:cNvSpPr txBox="1"/>
          <p:nvPr/>
        </p:nvSpPr>
        <p:spPr>
          <a:xfrm>
            <a:off x="3063240" y="2450592"/>
            <a:ext cx="374904" cy="347472"/>
          </a:xfrm>
          <a:prstGeom prst="rect">
            <a:avLst/>
          </a:prstGeom>
          <a:noFill/>
        </p:spPr>
        <p:txBody>
          <a:bodyPr wrap="square" lIns="0" tIns="0" rIns="0" bIns="0" anchor="ctr">
            <a:spAutoFit/>
          </a:bodyPr>
          <a:lstStyle/>
          <a:p>
            <a:pPr algn="ctr"/>
            <a:r>
              <a:rPr sz="850" b="1">
                <a:solidFill>
                  <a:srgbClr val="0E7490"/>
                </a:solidFill>
                <a:latin typeface="Consolas"/>
              </a:rPr>
              <a:t>0</a:t>
            </a:r>
          </a:p>
        </p:txBody>
      </p:sp>
      <p:sp>
        <p:nvSpPr>
          <p:cNvPr id="37" name="a0f_cell36"/>
          <p:cNvSpPr/>
          <p:nvPr/>
        </p:nvSpPr>
        <p:spPr>
          <a:xfrm>
            <a:off x="3438144" y="2450592"/>
            <a:ext cx="374904" cy="347472"/>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0f_cellt37"/>
          <p:cNvSpPr txBox="1"/>
          <p:nvPr/>
        </p:nvSpPr>
        <p:spPr>
          <a:xfrm>
            <a:off x="3438144" y="2450592"/>
            <a:ext cx="374904" cy="347472"/>
          </a:xfrm>
          <a:prstGeom prst="rect">
            <a:avLst/>
          </a:prstGeom>
          <a:noFill/>
        </p:spPr>
        <p:txBody>
          <a:bodyPr wrap="square" lIns="0" tIns="0" rIns="0" bIns="0" anchor="ctr">
            <a:spAutoFit/>
          </a:bodyPr>
          <a:lstStyle/>
          <a:p>
            <a:pPr algn="ctr"/>
            <a:r>
              <a:rPr sz="850" b="1">
                <a:solidFill>
                  <a:srgbClr val="0E7490"/>
                </a:solidFill>
                <a:latin typeface="Consolas"/>
              </a:rPr>
              <a:t>1</a:t>
            </a:r>
          </a:p>
        </p:txBody>
      </p:sp>
      <p:sp>
        <p:nvSpPr>
          <p:cNvPr id="39" name="a0f_cell38"/>
          <p:cNvSpPr/>
          <p:nvPr/>
        </p:nvSpPr>
        <p:spPr>
          <a:xfrm>
            <a:off x="3813048" y="2450592"/>
            <a:ext cx="374904" cy="347472"/>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0f_cellt39"/>
          <p:cNvSpPr txBox="1"/>
          <p:nvPr/>
        </p:nvSpPr>
        <p:spPr>
          <a:xfrm>
            <a:off x="3813048" y="2450592"/>
            <a:ext cx="374904" cy="347472"/>
          </a:xfrm>
          <a:prstGeom prst="rect">
            <a:avLst/>
          </a:prstGeom>
          <a:noFill/>
        </p:spPr>
        <p:txBody>
          <a:bodyPr wrap="square" lIns="0" tIns="0" rIns="0" bIns="0" anchor="ctr">
            <a:spAutoFit/>
          </a:bodyPr>
          <a:lstStyle/>
          <a:p>
            <a:pPr algn="ctr"/>
            <a:r>
              <a:rPr sz="850" b="1">
                <a:solidFill>
                  <a:srgbClr val="0E7490"/>
                </a:solidFill>
                <a:latin typeface="Consolas"/>
              </a:rPr>
              <a:t>2</a:t>
            </a:r>
          </a:p>
        </p:txBody>
      </p:sp>
      <p:sp>
        <p:nvSpPr>
          <p:cNvPr id="41" name="a0f_cell40"/>
          <p:cNvSpPr/>
          <p:nvPr/>
        </p:nvSpPr>
        <p:spPr>
          <a:xfrm>
            <a:off x="4187952" y="2450592"/>
            <a:ext cx="374904" cy="347472"/>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0f_cellt41"/>
          <p:cNvSpPr txBox="1"/>
          <p:nvPr/>
        </p:nvSpPr>
        <p:spPr>
          <a:xfrm>
            <a:off x="4187952" y="2450592"/>
            <a:ext cx="374904" cy="347472"/>
          </a:xfrm>
          <a:prstGeom prst="rect">
            <a:avLst/>
          </a:prstGeom>
          <a:noFill/>
        </p:spPr>
        <p:txBody>
          <a:bodyPr wrap="square" lIns="0" tIns="0" rIns="0" bIns="0" anchor="ctr">
            <a:spAutoFit/>
          </a:bodyPr>
          <a:lstStyle/>
          <a:p>
            <a:pPr algn="ctr"/>
            <a:r>
              <a:rPr sz="850" b="1">
                <a:solidFill>
                  <a:srgbClr val="0E7490"/>
                </a:solidFill>
                <a:latin typeface="Consolas"/>
              </a:rPr>
              <a:t>3</a:t>
            </a:r>
          </a:p>
        </p:txBody>
      </p:sp>
      <p:sp>
        <p:nvSpPr>
          <p:cNvPr id="43" name="a0f_cell42"/>
          <p:cNvSpPr/>
          <p:nvPr/>
        </p:nvSpPr>
        <p:spPr>
          <a:xfrm>
            <a:off x="4562856" y="2450592"/>
            <a:ext cx="374904" cy="347472"/>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0f_cellt43"/>
          <p:cNvSpPr txBox="1"/>
          <p:nvPr/>
        </p:nvSpPr>
        <p:spPr>
          <a:xfrm>
            <a:off x="4562856" y="2450592"/>
            <a:ext cx="374904" cy="347472"/>
          </a:xfrm>
          <a:prstGeom prst="rect">
            <a:avLst/>
          </a:prstGeom>
          <a:noFill/>
        </p:spPr>
        <p:txBody>
          <a:bodyPr wrap="square" lIns="0" tIns="0" rIns="0" bIns="0" anchor="ctr">
            <a:spAutoFit/>
          </a:bodyPr>
          <a:lstStyle/>
          <a:p>
            <a:pPr algn="ctr"/>
            <a:r>
              <a:rPr sz="850" b="1">
                <a:solidFill>
                  <a:srgbClr val="0E7490"/>
                </a:solidFill>
                <a:latin typeface="Consolas"/>
              </a:rPr>
              <a:t>4</a:t>
            </a:r>
          </a:p>
        </p:txBody>
      </p:sp>
      <p:sp>
        <p:nvSpPr>
          <p:cNvPr id="45" name="a0f_cell44"/>
          <p:cNvSpPr/>
          <p:nvPr/>
        </p:nvSpPr>
        <p:spPr>
          <a:xfrm>
            <a:off x="4937760" y="2450592"/>
            <a:ext cx="374904" cy="347472"/>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0f_cellt45"/>
          <p:cNvSpPr txBox="1"/>
          <p:nvPr/>
        </p:nvSpPr>
        <p:spPr>
          <a:xfrm>
            <a:off x="4937760" y="2450592"/>
            <a:ext cx="374904" cy="347472"/>
          </a:xfrm>
          <a:prstGeom prst="rect">
            <a:avLst/>
          </a:prstGeom>
          <a:noFill/>
        </p:spPr>
        <p:txBody>
          <a:bodyPr wrap="square" lIns="0" tIns="0" rIns="0" bIns="0" anchor="ctr">
            <a:spAutoFit/>
          </a:bodyPr>
          <a:lstStyle/>
          <a:p>
            <a:pPr algn="ctr"/>
            <a:r>
              <a:rPr sz="850" b="1">
                <a:solidFill>
                  <a:srgbClr val="0E7490"/>
                </a:solidFill>
                <a:latin typeface="Consolas"/>
              </a:rPr>
              <a:t>5</a:t>
            </a:r>
          </a:p>
        </p:txBody>
      </p:sp>
      <p:sp>
        <p:nvSpPr>
          <p:cNvPr id="47" name="a0f_cell46"/>
          <p:cNvSpPr/>
          <p:nvPr/>
        </p:nvSpPr>
        <p:spPr>
          <a:xfrm>
            <a:off x="5312664" y="2450592"/>
            <a:ext cx="374904" cy="347472"/>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a0f_cellt47"/>
          <p:cNvSpPr txBox="1"/>
          <p:nvPr/>
        </p:nvSpPr>
        <p:spPr>
          <a:xfrm>
            <a:off x="5312664" y="2450592"/>
            <a:ext cx="374904" cy="347472"/>
          </a:xfrm>
          <a:prstGeom prst="rect">
            <a:avLst/>
          </a:prstGeom>
          <a:noFill/>
        </p:spPr>
        <p:txBody>
          <a:bodyPr wrap="square" lIns="0" tIns="0" rIns="0" bIns="0" anchor="ctr">
            <a:spAutoFit/>
          </a:bodyPr>
          <a:lstStyle/>
          <a:p>
            <a:pPr algn="ctr"/>
            <a:r>
              <a:rPr sz="850" b="1">
                <a:solidFill>
                  <a:srgbClr val="0E7490"/>
                </a:solidFill>
                <a:latin typeface="Consolas"/>
              </a:rPr>
              <a:t>6</a:t>
            </a:r>
          </a:p>
        </p:txBody>
      </p:sp>
      <p:sp>
        <p:nvSpPr>
          <p:cNvPr id="49" name="a0f_cell48"/>
          <p:cNvSpPr/>
          <p:nvPr/>
        </p:nvSpPr>
        <p:spPr>
          <a:xfrm>
            <a:off x="5687568" y="2450592"/>
            <a:ext cx="374904" cy="347472"/>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a0f_cellt49"/>
          <p:cNvSpPr txBox="1"/>
          <p:nvPr/>
        </p:nvSpPr>
        <p:spPr>
          <a:xfrm>
            <a:off x="5687568" y="2450592"/>
            <a:ext cx="374904" cy="347472"/>
          </a:xfrm>
          <a:prstGeom prst="rect">
            <a:avLst/>
          </a:prstGeom>
          <a:noFill/>
        </p:spPr>
        <p:txBody>
          <a:bodyPr wrap="square" lIns="0" tIns="0" rIns="0" bIns="0" anchor="ctr">
            <a:spAutoFit/>
          </a:bodyPr>
          <a:lstStyle/>
          <a:p>
            <a:pPr algn="ctr"/>
            <a:r>
              <a:rPr sz="850" b="1">
                <a:solidFill>
                  <a:srgbClr val="0E7490"/>
                </a:solidFill>
                <a:latin typeface="Consolas"/>
              </a:rPr>
              <a:t>7</a:t>
            </a:r>
          </a:p>
        </p:txBody>
      </p:sp>
      <p:sp>
        <p:nvSpPr>
          <p:cNvPr id="51" name="a0f_mid50"/>
          <p:cNvSpPr txBox="1"/>
          <p:nvPr/>
        </p:nvSpPr>
        <p:spPr>
          <a:xfrm>
            <a:off x="3063240" y="2880360"/>
            <a:ext cx="3017520" cy="365760"/>
          </a:xfrm>
          <a:prstGeom prst="rect">
            <a:avLst/>
          </a:prstGeom>
          <a:noFill/>
        </p:spPr>
        <p:txBody>
          <a:bodyPr wrap="square" lIns="0" tIns="0" rIns="0" bIns="0" anchor="ctr">
            <a:spAutoFit/>
          </a:bodyPr>
          <a:lstStyle/>
          <a:p>
            <a:pPr algn="l"/>
            <a:r>
              <a:rPr sz="850" b="0">
                <a:solidFill>
                  <a:srgbClr val="78716C"/>
                </a:solidFill>
                <a:latin typeface="Segoe UI"/>
              </a:rPr>
              <a:t>everything in the middle speaks Kafka</a:t>
            </a:r>
          </a:p>
        </p:txBody>
      </p:sp>
      <p:sp>
        <p:nvSpPr>
          <p:cNvPr id="52" name="a3u_nb51"/>
          <p:cNvSpPr/>
          <p:nvPr/>
        </p:nvSpPr>
        <p:spPr>
          <a:xfrm>
            <a:off x="457200" y="3886200"/>
            <a:ext cx="8229600" cy="566928"/>
          </a:xfrm>
          <a:prstGeom prst="roundRect">
            <a:avLst>
              <a:gd name="adj" fmla="val 12903"/>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a3u_nacc52"/>
          <p:cNvSpPr/>
          <p:nvPr/>
        </p:nvSpPr>
        <p:spPr>
          <a:xfrm>
            <a:off x="457200" y="3886200"/>
            <a:ext cx="54864"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a3u_nt53"/>
          <p:cNvSpPr txBox="1"/>
          <p:nvPr/>
        </p:nvSpPr>
        <p:spPr>
          <a:xfrm>
            <a:off x="658368" y="3886200"/>
            <a:ext cx="7827264" cy="566928"/>
          </a:xfrm>
          <a:prstGeom prst="rect">
            <a:avLst/>
          </a:prstGeom>
          <a:noFill/>
        </p:spPr>
        <p:txBody>
          <a:bodyPr wrap="square" lIns="0" tIns="0" rIns="0" bIns="0" anchor="ctr">
            <a:spAutoFit/>
          </a:bodyPr>
          <a:lstStyle/>
          <a:p>
            <a:pPr algn="l"/>
            <a:r>
              <a:rPr sz="950" b="1">
                <a:solidFill>
                  <a:srgbClr val="C2410C"/>
                </a:solidFill>
                <a:latin typeface="Segoe UI"/>
              </a:rPr>
              <a:t>KEY  </a:t>
            </a:r>
            <a:r>
              <a:rPr sz="950" b="0">
                <a:solidFill>
                  <a:srgbClr val="44403C"/>
                </a:solidFill>
                <a:latin typeface="Segoe UI"/>
              </a:rPr>
              <a:t>You could write a producer or consumer for each of these. Someone already has - that is Kafka Connect.</a:t>
            </a:r>
          </a:p>
        </p:txBody>
      </p:sp>
      <p:sp>
        <p:nvSpPr>
          <p:cNvPr id="55" name="ft54"/>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02</a:t>
            </a:r>
          </a:p>
        </p:txBody>
      </p:sp>
      <p:sp>
        <p:nvSpPr>
          <p:cNvPr id="56" name="ft55"/>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ft56"/>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Kafka Connect</a:t>
            </a:r>
          </a:p>
        </p:txBody>
      </p:sp>
      <p:sp>
        <p:nvSpPr>
          <p:cNvPr id="58" name="ft57"/>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9</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29"/>
                                        </p:tgtEl>
                                        <p:attrNameLst>
                                          <p:attrName>style.visibility</p:attrName>
                                        </p:attrNameLst>
                                      </p:cBhvr>
                                      <p:to>
                                        <p:strVal val="visible"/>
                                      </p:to>
                                    </p:set>
                                    <p:animEffect transition="in" filter="fade">
                                      <p:cBhvr>
                                        <p:cTn id="6" dur="500"/>
                                        <p:tgtEl>
                                          <p:spTgt spid="29"/>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animEffect transition="in" filter="fade">
                                      <p:cBhvr>
                                        <p:cTn id="9" dur="500"/>
                                        <p:tgtEl>
                                          <p:spTgt spid="30"/>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500"/>
                                        <p:tgtEl>
                                          <p:spTgt spid="31"/>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500"/>
                                        <p:tgtEl>
                                          <p:spTgt spid="32"/>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33"/>
                                        </p:tgtEl>
                                        <p:attrNameLst>
                                          <p:attrName>style.visibility</p:attrName>
                                        </p:attrNameLst>
                                      </p:cBhvr>
                                      <p:to>
                                        <p:strVal val="visible"/>
                                      </p:to>
                                    </p:set>
                                    <p:animEffect transition="in" filter="fade">
                                      <p:cBhvr>
                                        <p:cTn id="18" dur="500"/>
                                        <p:tgtEl>
                                          <p:spTgt spid="33"/>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fade">
                                      <p:cBhvr>
                                        <p:cTn id="21" dur="500"/>
                                        <p:tgtEl>
                                          <p:spTgt spid="34"/>
                                        </p:tgtEl>
                                      </p:cBhvr>
                                    </p:animEffect>
                                  </p:childTnLst>
                                </p:cTn>
                              </p:par>
                              <p:par>
                                <p:cTn id="25" presetID="10" presetClass="entr" presetSubtype="0" fill="hold" grpId="0" nodeType="withEffect">
                                  <p:stCondLst>
                                    <p:cond delay="0"/>
                                  </p:stCondLst>
                                  <p:childTnLst>
                                    <p:set>
                                      <p:cBhvr>
                                        <p:cTn id="23" dur="1" fill="hold">
                                          <p:stCondLst>
                                            <p:cond delay="0"/>
                                          </p:stCondLst>
                                        </p:cTn>
                                        <p:tgtEl>
                                          <p:spTgt spid="35"/>
                                        </p:tgtEl>
                                        <p:attrNameLst>
                                          <p:attrName>style.visibility</p:attrName>
                                        </p:attrNameLst>
                                      </p:cBhvr>
                                      <p:to>
                                        <p:strVal val="visible"/>
                                      </p:to>
                                    </p:set>
                                    <p:animEffect transition="in" filter="fade">
                                      <p:cBhvr>
                                        <p:cTn id="24" dur="500"/>
                                        <p:tgtEl>
                                          <p:spTgt spid="35"/>
                                        </p:tgtEl>
                                      </p:cBhvr>
                                    </p:animEffect>
                                  </p:childTnLst>
                                </p:cTn>
                              </p:par>
                              <p:par>
                                <p:cTn id="28" presetID="10"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fade">
                                      <p:cBhvr>
                                        <p:cTn id="27" dur="500"/>
                                        <p:tgtEl>
                                          <p:spTgt spid="36"/>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37"/>
                                        </p:tgtEl>
                                        <p:attrNameLst>
                                          <p:attrName>style.visibility</p:attrName>
                                        </p:attrNameLst>
                                      </p:cBhvr>
                                      <p:to>
                                        <p:strVal val="visible"/>
                                      </p:to>
                                    </p:set>
                                    <p:animEffect transition="in" filter="fade">
                                      <p:cBhvr>
                                        <p:cTn id="30" dur="500"/>
                                        <p:tgtEl>
                                          <p:spTgt spid="37"/>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38"/>
                                        </p:tgtEl>
                                        <p:attrNameLst>
                                          <p:attrName>style.visibility</p:attrName>
                                        </p:attrNameLst>
                                      </p:cBhvr>
                                      <p:to>
                                        <p:strVal val="visible"/>
                                      </p:to>
                                    </p:set>
                                    <p:animEffect transition="in" filter="fade">
                                      <p:cBhvr>
                                        <p:cTn id="33" dur="500"/>
                                        <p:tgtEl>
                                          <p:spTgt spid="38"/>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39"/>
                                        </p:tgtEl>
                                        <p:attrNameLst>
                                          <p:attrName>style.visibility</p:attrName>
                                        </p:attrNameLst>
                                      </p:cBhvr>
                                      <p:to>
                                        <p:strVal val="visible"/>
                                      </p:to>
                                    </p:set>
                                    <p:animEffect transition="in" filter="fade">
                                      <p:cBhvr>
                                        <p:cTn id="36" dur="500"/>
                                        <p:tgtEl>
                                          <p:spTgt spid="39"/>
                                        </p:tgtEl>
                                      </p:cBhvr>
                                    </p:animEffect>
                                  </p:childTnLst>
                                </p:cTn>
                              </p:par>
                              <p:par>
                                <p:cTn id="40" presetID="10" presetClass="entr" presetSubtype="0" fill="hold" grpId="0" nodeType="withEffect">
                                  <p:stCondLst>
                                    <p:cond delay="0"/>
                                  </p:stCondLst>
                                  <p:childTnLst>
                                    <p:set>
                                      <p:cBhvr>
                                        <p:cTn id="38" dur="1" fill="hold">
                                          <p:stCondLst>
                                            <p:cond delay="0"/>
                                          </p:stCondLst>
                                        </p:cTn>
                                        <p:tgtEl>
                                          <p:spTgt spid="40"/>
                                        </p:tgtEl>
                                        <p:attrNameLst>
                                          <p:attrName>style.visibility</p:attrName>
                                        </p:attrNameLst>
                                      </p:cBhvr>
                                      <p:to>
                                        <p:strVal val="visible"/>
                                      </p:to>
                                    </p:set>
                                    <p:animEffect transition="in" filter="fade">
                                      <p:cBhvr>
                                        <p:cTn id="39" dur="500"/>
                                        <p:tgtEl>
                                          <p:spTgt spid="40"/>
                                        </p:tgtEl>
                                      </p:cBhvr>
                                    </p:animEffect>
                                  </p:childTnLst>
                                </p:cTn>
                              </p:par>
                              <p:par>
                                <p:cTn id="43" presetID="10" presetClass="entr" presetSubtype="0" fill="hold" grpId="0" nodeType="with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fade">
                                      <p:cBhvr>
                                        <p:cTn id="42" dur="500"/>
                                        <p:tgtEl>
                                          <p:spTgt spid="41"/>
                                        </p:tgtEl>
                                      </p:cBhvr>
                                    </p:animEffect>
                                  </p:childTnLst>
                                </p:cTn>
                              </p:par>
                              <p:par>
                                <p:cTn id="46" presetID="10" presetClass="entr" presetSubtype="0" fill="hold" grpId="0" nodeType="withEffect">
                                  <p:stCondLst>
                                    <p:cond delay="0"/>
                                  </p:stCondLst>
                                  <p:childTnLst>
                                    <p:set>
                                      <p:cBhvr>
                                        <p:cTn id="44" dur="1" fill="hold">
                                          <p:stCondLst>
                                            <p:cond delay="0"/>
                                          </p:stCondLst>
                                        </p:cTn>
                                        <p:tgtEl>
                                          <p:spTgt spid="42"/>
                                        </p:tgtEl>
                                        <p:attrNameLst>
                                          <p:attrName>style.visibility</p:attrName>
                                        </p:attrNameLst>
                                      </p:cBhvr>
                                      <p:to>
                                        <p:strVal val="visible"/>
                                      </p:to>
                                    </p:set>
                                    <p:animEffect transition="in" filter="fade">
                                      <p:cBhvr>
                                        <p:cTn id="45" dur="500"/>
                                        <p:tgtEl>
                                          <p:spTgt spid="42"/>
                                        </p:tgtEl>
                                      </p:cBhvr>
                                    </p:animEffect>
                                  </p:childTnLst>
                                </p:cTn>
                              </p:par>
                              <p:par>
                                <p:cTn id="49" presetID="10" presetClass="entr" presetSubtype="0" fill="hold" grpId="0" nodeType="withEffect">
                                  <p:stCondLst>
                                    <p:cond delay="0"/>
                                  </p:stCondLst>
                                  <p:childTnLst>
                                    <p:set>
                                      <p:cBhvr>
                                        <p:cTn id="47" dur="1" fill="hold">
                                          <p:stCondLst>
                                            <p:cond delay="0"/>
                                          </p:stCondLst>
                                        </p:cTn>
                                        <p:tgtEl>
                                          <p:spTgt spid="43"/>
                                        </p:tgtEl>
                                        <p:attrNameLst>
                                          <p:attrName>style.visibility</p:attrName>
                                        </p:attrNameLst>
                                      </p:cBhvr>
                                      <p:to>
                                        <p:strVal val="visible"/>
                                      </p:to>
                                    </p:set>
                                    <p:animEffect transition="in" filter="fade">
                                      <p:cBhvr>
                                        <p:cTn id="48" dur="500"/>
                                        <p:tgtEl>
                                          <p:spTgt spid="43"/>
                                        </p:tgtEl>
                                      </p:cBhvr>
                                    </p:animEffect>
                                  </p:childTnLst>
                                </p:cTn>
                              </p:par>
                              <p:par>
                                <p:cTn id="52" presetID="10" presetClass="entr" presetSubtype="0" fill="hold" grpId="0" nodeType="withEffect">
                                  <p:stCondLst>
                                    <p:cond delay="0"/>
                                  </p:stCondLst>
                                  <p:childTnLst>
                                    <p:set>
                                      <p:cBhvr>
                                        <p:cTn id="50" dur="1" fill="hold">
                                          <p:stCondLst>
                                            <p:cond delay="0"/>
                                          </p:stCondLst>
                                        </p:cTn>
                                        <p:tgtEl>
                                          <p:spTgt spid="44"/>
                                        </p:tgtEl>
                                        <p:attrNameLst>
                                          <p:attrName>style.visibility</p:attrName>
                                        </p:attrNameLst>
                                      </p:cBhvr>
                                      <p:to>
                                        <p:strVal val="visible"/>
                                      </p:to>
                                    </p:set>
                                    <p:animEffect transition="in" filter="fade">
                                      <p:cBhvr>
                                        <p:cTn id="51" dur="500"/>
                                        <p:tgtEl>
                                          <p:spTgt spid="44"/>
                                        </p:tgtEl>
                                      </p:cBhvr>
                                    </p:animEffect>
                                  </p:childTnLst>
                                </p:cTn>
                              </p:par>
                              <p:par>
                                <p:cTn id="55" presetID="10" presetClass="entr" presetSubtype="0" fill="hold" grpId="0" nodeType="withEffect">
                                  <p:stCondLst>
                                    <p:cond delay="0"/>
                                  </p:stCondLst>
                                  <p:childTnLst>
                                    <p:set>
                                      <p:cBhvr>
                                        <p:cTn id="53" dur="1" fill="hold">
                                          <p:stCondLst>
                                            <p:cond delay="0"/>
                                          </p:stCondLst>
                                        </p:cTn>
                                        <p:tgtEl>
                                          <p:spTgt spid="45"/>
                                        </p:tgtEl>
                                        <p:attrNameLst>
                                          <p:attrName>style.visibility</p:attrName>
                                        </p:attrNameLst>
                                      </p:cBhvr>
                                      <p:to>
                                        <p:strVal val="visible"/>
                                      </p:to>
                                    </p:set>
                                    <p:animEffect transition="in" filter="fade">
                                      <p:cBhvr>
                                        <p:cTn id="54" dur="500"/>
                                        <p:tgtEl>
                                          <p:spTgt spid="45"/>
                                        </p:tgtEl>
                                      </p:cBhvr>
                                    </p:animEffect>
                                  </p:childTnLst>
                                </p:cTn>
                              </p:par>
                              <p:par>
                                <p:cTn id="58" presetID="10" presetClass="entr" presetSubtype="0" fill="hold" grpId="0" nodeType="withEffect">
                                  <p:stCondLst>
                                    <p:cond delay="0"/>
                                  </p:stCondLst>
                                  <p:childTnLst>
                                    <p:set>
                                      <p:cBhvr>
                                        <p:cTn id="56" dur="1" fill="hold">
                                          <p:stCondLst>
                                            <p:cond delay="0"/>
                                          </p:stCondLst>
                                        </p:cTn>
                                        <p:tgtEl>
                                          <p:spTgt spid="46"/>
                                        </p:tgtEl>
                                        <p:attrNameLst>
                                          <p:attrName>style.visibility</p:attrName>
                                        </p:attrNameLst>
                                      </p:cBhvr>
                                      <p:to>
                                        <p:strVal val="visible"/>
                                      </p:to>
                                    </p:set>
                                    <p:animEffect transition="in" filter="fade">
                                      <p:cBhvr>
                                        <p:cTn id="57" dur="500"/>
                                        <p:tgtEl>
                                          <p:spTgt spid="46"/>
                                        </p:tgtEl>
                                      </p:cBhvr>
                                    </p:animEffect>
                                  </p:childTnLst>
                                </p:cTn>
                              </p:par>
                              <p:par>
                                <p:cTn id="61" presetID="10" presetClass="entr" presetSubtype="0" fill="hold" grpId="0" nodeType="withEffect">
                                  <p:stCondLst>
                                    <p:cond delay="0"/>
                                  </p:stCondLst>
                                  <p:childTnLst>
                                    <p:set>
                                      <p:cBhvr>
                                        <p:cTn id="59" dur="1" fill="hold">
                                          <p:stCondLst>
                                            <p:cond delay="0"/>
                                          </p:stCondLst>
                                        </p:cTn>
                                        <p:tgtEl>
                                          <p:spTgt spid="47"/>
                                        </p:tgtEl>
                                        <p:attrNameLst>
                                          <p:attrName>style.visibility</p:attrName>
                                        </p:attrNameLst>
                                      </p:cBhvr>
                                      <p:to>
                                        <p:strVal val="visible"/>
                                      </p:to>
                                    </p:set>
                                    <p:animEffect transition="in" filter="fade">
                                      <p:cBhvr>
                                        <p:cTn id="60" dur="500"/>
                                        <p:tgtEl>
                                          <p:spTgt spid="47"/>
                                        </p:tgtEl>
                                      </p:cBhvr>
                                    </p:animEffect>
                                  </p:childTnLst>
                                </p:cTn>
                              </p:par>
                              <p:par>
                                <p:cTn id="64" presetID="10" presetClass="entr" presetSubtype="0" fill="hold" grpId="0" nodeType="withEffect">
                                  <p:stCondLst>
                                    <p:cond delay="0"/>
                                  </p:stCondLst>
                                  <p:childTnLst>
                                    <p:set>
                                      <p:cBhvr>
                                        <p:cTn id="62" dur="1" fill="hold">
                                          <p:stCondLst>
                                            <p:cond delay="0"/>
                                          </p:stCondLst>
                                        </p:cTn>
                                        <p:tgtEl>
                                          <p:spTgt spid="48"/>
                                        </p:tgtEl>
                                        <p:attrNameLst>
                                          <p:attrName>style.visibility</p:attrName>
                                        </p:attrNameLst>
                                      </p:cBhvr>
                                      <p:to>
                                        <p:strVal val="visible"/>
                                      </p:to>
                                    </p:set>
                                    <p:animEffect transition="in" filter="fade">
                                      <p:cBhvr>
                                        <p:cTn id="63" dur="500"/>
                                        <p:tgtEl>
                                          <p:spTgt spid="48"/>
                                        </p:tgtEl>
                                      </p:cBhvr>
                                    </p:animEffect>
                                  </p:childTnLst>
                                </p:cTn>
                              </p:par>
                              <p:par>
                                <p:cTn id="67" presetID="10" presetClass="entr" presetSubtype="0" fill="hold" grpId="0" nodeType="withEffect">
                                  <p:stCondLst>
                                    <p:cond delay="0"/>
                                  </p:stCondLst>
                                  <p:childTnLst>
                                    <p:set>
                                      <p:cBhvr>
                                        <p:cTn id="65" dur="1" fill="hold">
                                          <p:stCondLst>
                                            <p:cond delay="0"/>
                                          </p:stCondLst>
                                        </p:cTn>
                                        <p:tgtEl>
                                          <p:spTgt spid="49"/>
                                        </p:tgtEl>
                                        <p:attrNameLst>
                                          <p:attrName>style.visibility</p:attrName>
                                        </p:attrNameLst>
                                      </p:cBhvr>
                                      <p:to>
                                        <p:strVal val="visible"/>
                                      </p:to>
                                    </p:set>
                                    <p:animEffect transition="in" filter="fade">
                                      <p:cBhvr>
                                        <p:cTn id="66" dur="500"/>
                                        <p:tgtEl>
                                          <p:spTgt spid="49"/>
                                        </p:tgtEl>
                                      </p:cBhvr>
                                    </p:animEffect>
                                  </p:childTnLst>
                                </p:cTn>
                              </p:par>
                              <p:par>
                                <p:cTn id="70" presetID="10" presetClass="entr" presetSubtype="0" fill="hold" grpId="0" nodeType="withEffect">
                                  <p:stCondLst>
                                    <p:cond delay="0"/>
                                  </p:stCondLst>
                                  <p:childTnLst>
                                    <p:set>
                                      <p:cBhvr>
                                        <p:cTn id="68" dur="1" fill="hold">
                                          <p:stCondLst>
                                            <p:cond delay="0"/>
                                          </p:stCondLst>
                                        </p:cTn>
                                        <p:tgtEl>
                                          <p:spTgt spid="50"/>
                                        </p:tgtEl>
                                        <p:attrNameLst>
                                          <p:attrName>style.visibility</p:attrName>
                                        </p:attrNameLst>
                                      </p:cBhvr>
                                      <p:to>
                                        <p:strVal val="visible"/>
                                      </p:to>
                                    </p:set>
                                    <p:animEffect transition="in" filter="fade">
                                      <p:cBhvr>
                                        <p:cTn id="69" dur="500"/>
                                        <p:tgtEl>
                                          <p:spTgt spid="50"/>
                                        </p:tgtEl>
                                      </p:cBhvr>
                                    </p:animEffect>
                                  </p:childTnLst>
                                </p:cTn>
                              </p:par>
                              <p:par>
                                <p:cTn id="73" presetID="10" presetClass="entr" presetSubtype="0" fill="hold" grpId="0" nodeType="withEffect">
                                  <p:stCondLst>
                                    <p:cond delay="0"/>
                                  </p:stCondLst>
                                  <p:childTnLst>
                                    <p:set>
                                      <p:cBhvr>
                                        <p:cTn id="71" dur="1" fill="hold">
                                          <p:stCondLst>
                                            <p:cond delay="0"/>
                                          </p:stCondLst>
                                        </p:cTn>
                                        <p:tgtEl>
                                          <p:spTgt spid="51"/>
                                        </p:tgtEl>
                                        <p:attrNameLst>
                                          <p:attrName>style.visibility</p:attrName>
                                        </p:attrNameLst>
                                      </p:cBhvr>
                                      <p:to>
                                        <p:strVal val="visible"/>
                                      </p:to>
                                    </p:set>
                                    <p:animEffect transition="in" filter="fade">
                                      <p:cBhvr>
                                        <p:cTn id="72" dur="500"/>
                                        <p:tgtEl>
                                          <p:spTgt spid="51"/>
                                        </p:tgtEl>
                                      </p:cBhvr>
                                    </p:animEffect>
                                  </p:childTnLst>
                                </p:cTn>
                              </p:par>
                            </p:childTnLst>
                          </p:cTn>
                        </p:par>
                      </p:childTnLst>
                    </p:cTn>
                  </p:par>
                  <p:par>
                    <p:cTn id="74" fill="hold">
                      <p:stCondLst>
                        <p:cond delay="indefinite"/>
                      </p:stCondLst>
                      <p:childTnLst>
                        <p:par>
                          <p:cTn id="75" fill="hold">
                            <p:stCondLst>
                              <p:cond delay="0"/>
                            </p:stCondLst>
                            <p:childTnLst>
                              <p:par>
                                <p:cTn id="80" presetID="2" presetClass="entr" presetSubtype="4" fill="hold" grpId="0" nodeType="clickEffect">
                                  <p:stCondLst>
                                    <p:cond delay="0"/>
                                  </p:stCondLst>
                                  <p:childTnLst>
                                    <p:set>
                                      <p:cBhvr>
                                        <p:cTn id="76" dur="1" fill="hold">
                                          <p:stCondLst>
                                            <p:cond delay="0"/>
                                          </p:stCondLst>
                                        </p:cTn>
                                        <p:tgtEl>
                                          <p:spTgt spid="11"/>
                                        </p:tgtEl>
                                        <p:attrNameLst>
                                          <p:attrName>style.visibility</p:attrName>
                                        </p:attrNameLst>
                                      </p:cBhvr>
                                      <p:to>
                                        <p:strVal val="visible"/>
                                      </p:to>
                                    </p:set>
                                    <p:anim calcmode="lin" valueType="num">
                                      <p:cBhvr additive="base">
                                        <p:cTn id="77" dur="500" fill="hold"/>
                                        <p:tgtEl>
                                          <p:spTgt spid="11"/>
                                        </p:tgtEl>
                                        <p:attrNameLst>
                                          <p:attrName>ppt_x</p:attrName>
                                        </p:attrNameLst>
                                      </p:cBhvr>
                                      <p:tavLst>
                                        <p:tav tm="0">
                                          <p:val>
                                            <p:strVal val="#ppt_x"/>
                                          </p:val>
                                        </p:tav>
                                        <p:tav tm="100000">
                                          <p:val>
                                            <p:strVal val="#ppt_x"/>
                                          </p:val>
                                        </p:tav>
                                      </p:tavLst>
                                    </p:anim>
                                    <p:anim calcmode="lin" valueType="num">
                                      <p:cBhvr additive="base">
                                        <p:cTn id="78" dur="500" fill="hold"/>
                                        <p:tgtEl>
                                          <p:spTgt spid="11"/>
                                        </p:tgtEl>
                                        <p:attrNameLst>
                                          <p:attrName>ppt_y</p:attrName>
                                        </p:attrNameLst>
                                      </p:cBhvr>
                                      <p:tavLst>
                                        <p:tav tm="0">
                                          <p:val>
                                            <p:strVal val="#ppt_y+0.1"/>
                                          </p:val>
                                        </p:tav>
                                        <p:tav tm="100000">
                                          <p:val>
                                            <p:strVal val="#ppt_y"/>
                                          </p:val>
                                        </p:tav>
                                      </p:tavLst>
                                    </p:anim>
                                    <p:animEffect transition="in" filter="fade">
                                      <p:cBhvr>
                                        <p:cTn id="79" dur="500"/>
                                        <p:tgtEl>
                                          <p:spTgt spid="11"/>
                                        </p:tgtEl>
                                      </p:cBhvr>
                                    </p:animEffect>
                                  </p:childTnLst>
                                </p:cTn>
                              </p:par>
                              <p:par>
                                <p:cTn id="85" presetID="2" presetClass="entr" presetSubtype="4" fill="hold" grpId="0" nodeType="withEffect">
                                  <p:stCondLst>
                                    <p:cond delay="0"/>
                                  </p:stCondLst>
                                  <p:childTnLst>
                                    <p:set>
                                      <p:cBhvr>
                                        <p:cTn id="81" dur="1" fill="hold">
                                          <p:stCondLst>
                                            <p:cond delay="0"/>
                                          </p:stCondLst>
                                        </p:cTn>
                                        <p:tgtEl>
                                          <p:spTgt spid="13"/>
                                        </p:tgtEl>
                                        <p:attrNameLst>
                                          <p:attrName>style.visibility</p:attrName>
                                        </p:attrNameLst>
                                      </p:cBhvr>
                                      <p:to>
                                        <p:strVal val="visible"/>
                                      </p:to>
                                    </p:set>
                                    <p:anim calcmode="lin" valueType="num">
                                      <p:cBhvr additive="base">
                                        <p:cTn id="82" dur="500" fill="hold"/>
                                        <p:tgtEl>
                                          <p:spTgt spid="13"/>
                                        </p:tgtEl>
                                        <p:attrNameLst>
                                          <p:attrName>ppt_x</p:attrName>
                                        </p:attrNameLst>
                                      </p:cBhvr>
                                      <p:tavLst>
                                        <p:tav tm="0">
                                          <p:val>
                                            <p:strVal val="#ppt_x"/>
                                          </p:val>
                                        </p:tav>
                                        <p:tav tm="100000">
                                          <p:val>
                                            <p:strVal val="#ppt_x"/>
                                          </p:val>
                                        </p:tav>
                                      </p:tavLst>
                                    </p:anim>
                                    <p:anim calcmode="lin" valueType="num">
                                      <p:cBhvr additive="base">
                                        <p:cTn id="83" dur="500" fill="hold"/>
                                        <p:tgtEl>
                                          <p:spTgt spid="13"/>
                                        </p:tgtEl>
                                        <p:attrNameLst>
                                          <p:attrName>ppt_y</p:attrName>
                                        </p:attrNameLst>
                                      </p:cBhvr>
                                      <p:tavLst>
                                        <p:tav tm="0">
                                          <p:val>
                                            <p:strVal val="#ppt_y+0.1"/>
                                          </p:val>
                                        </p:tav>
                                        <p:tav tm="100000">
                                          <p:val>
                                            <p:strVal val="#ppt_y"/>
                                          </p:val>
                                        </p:tav>
                                      </p:tavLst>
                                    </p:anim>
                                    <p:animEffect transition="in" filter="fade">
                                      <p:cBhvr>
                                        <p:cTn id="84" dur="500"/>
                                        <p:tgtEl>
                                          <p:spTgt spid="13"/>
                                        </p:tgtEl>
                                      </p:cBhvr>
                                    </p:animEffect>
                                  </p:childTnLst>
                                </p:cTn>
                              </p:par>
                              <p:par>
                                <p:cTn id="90" presetID="2" presetClass="entr" presetSubtype="4" fill="hold" grpId="0" nodeType="withEffect">
                                  <p:stCondLst>
                                    <p:cond delay="0"/>
                                  </p:stCondLst>
                                  <p:childTnLst>
                                    <p:set>
                                      <p:cBhvr>
                                        <p:cTn id="86" dur="1" fill="hold">
                                          <p:stCondLst>
                                            <p:cond delay="0"/>
                                          </p:stCondLst>
                                        </p:cTn>
                                        <p:tgtEl>
                                          <p:spTgt spid="14"/>
                                        </p:tgtEl>
                                        <p:attrNameLst>
                                          <p:attrName>style.visibility</p:attrName>
                                        </p:attrNameLst>
                                      </p:cBhvr>
                                      <p:to>
                                        <p:strVal val="visible"/>
                                      </p:to>
                                    </p:set>
                                    <p:anim calcmode="lin" valueType="num">
                                      <p:cBhvr additive="base">
                                        <p:cTn id="87" dur="500" fill="hold"/>
                                        <p:tgtEl>
                                          <p:spTgt spid="14"/>
                                        </p:tgtEl>
                                        <p:attrNameLst>
                                          <p:attrName>ppt_x</p:attrName>
                                        </p:attrNameLst>
                                      </p:cBhvr>
                                      <p:tavLst>
                                        <p:tav tm="0">
                                          <p:val>
                                            <p:strVal val="#ppt_x"/>
                                          </p:val>
                                        </p:tav>
                                        <p:tav tm="100000">
                                          <p:val>
                                            <p:strVal val="#ppt_x"/>
                                          </p:val>
                                        </p:tav>
                                      </p:tavLst>
                                    </p:anim>
                                    <p:anim calcmode="lin" valueType="num">
                                      <p:cBhvr additive="base">
                                        <p:cTn id="88" dur="500" fill="hold"/>
                                        <p:tgtEl>
                                          <p:spTgt spid="14"/>
                                        </p:tgtEl>
                                        <p:attrNameLst>
                                          <p:attrName>ppt_y</p:attrName>
                                        </p:attrNameLst>
                                      </p:cBhvr>
                                      <p:tavLst>
                                        <p:tav tm="0">
                                          <p:val>
                                            <p:strVal val="#ppt_y+0.1"/>
                                          </p:val>
                                        </p:tav>
                                        <p:tav tm="100000">
                                          <p:val>
                                            <p:strVal val="#ppt_y"/>
                                          </p:val>
                                        </p:tav>
                                      </p:tavLst>
                                    </p:anim>
                                    <p:animEffect transition="in" filter="fade">
                                      <p:cBhvr>
                                        <p:cTn id="89" dur="500"/>
                                        <p:tgtEl>
                                          <p:spTgt spid="14"/>
                                        </p:tgtEl>
                                      </p:cBhvr>
                                    </p:animEffect>
                                  </p:childTnLst>
                                </p:cTn>
                              </p:par>
                              <p:par>
                                <p:cTn id="95" presetID="2" presetClass="entr" presetSubtype="4" fill="hold" grpId="0" nodeType="withEffect">
                                  <p:stCondLst>
                                    <p:cond delay="100"/>
                                  </p:stCondLst>
                                  <p:childTnLst>
                                    <p:set>
                                      <p:cBhvr>
                                        <p:cTn id="91" dur="1" fill="hold">
                                          <p:stCondLst>
                                            <p:cond delay="0"/>
                                          </p:stCondLst>
                                        </p:cTn>
                                        <p:tgtEl>
                                          <p:spTgt spid="15"/>
                                        </p:tgtEl>
                                        <p:attrNameLst>
                                          <p:attrName>style.visibility</p:attrName>
                                        </p:attrNameLst>
                                      </p:cBhvr>
                                      <p:to>
                                        <p:strVal val="visible"/>
                                      </p:to>
                                    </p:set>
                                    <p:anim calcmode="lin" valueType="num">
                                      <p:cBhvr additive="base">
                                        <p:cTn id="92" dur="500" fill="hold"/>
                                        <p:tgtEl>
                                          <p:spTgt spid="15"/>
                                        </p:tgtEl>
                                        <p:attrNameLst>
                                          <p:attrName>ppt_x</p:attrName>
                                        </p:attrNameLst>
                                      </p:cBhvr>
                                      <p:tavLst>
                                        <p:tav tm="0">
                                          <p:val>
                                            <p:strVal val="#ppt_x"/>
                                          </p:val>
                                        </p:tav>
                                        <p:tav tm="100000">
                                          <p:val>
                                            <p:strVal val="#ppt_x"/>
                                          </p:val>
                                        </p:tav>
                                      </p:tavLst>
                                    </p:anim>
                                    <p:anim calcmode="lin" valueType="num">
                                      <p:cBhvr additive="base">
                                        <p:cTn id="93" dur="500" fill="hold"/>
                                        <p:tgtEl>
                                          <p:spTgt spid="15"/>
                                        </p:tgtEl>
                                        <p:attrNameLst>
                                          <p:attrName>ppt_y</p:attrName>
                                        </p:attrNameLst>
                                      </p:cBhvr>
                                      <p:tavLst>
                                        <p:tav tm="0">
                                          <p:val>
                                            <p:strVal val="#ppt_y+0.1"/>
                                          </p:val>
                                        </p:tav>
                                        <p:tav tm="100000">
                                          <p:val>
                                            <p:strVal val="#ppt_y"/>
                                          </p:val>
                                        </p:tav>
                                      </p:tavLst>
                                    </p:anim>
                                    <p:animEffect transition="in" filter="fade">
                                      <p:cBhvr>
                                        <p:cTn id="94" dur="500"/>
                                        <p:tgtEl>
                                          <p:spTgt spid="15"/>
                                        </p:tgtEl>
                                      </p:cBhvr>
                                    </p:animEffect>
                                  </p:childTnLst>
                                </p:cTn>
                              </p:par>
                              <p:par>
                                <p:cTn id="100" presetID="2" presetClass="entr" presetSubtype="4" fill="hold" grpId="0" nodeType="withEffect">
                                  <p:stCondLst>
                                    <p:cond delay="100"/>
                                  </p:stCondLst>
                                  <p:childTnLst>
                                    <p:set>
                                      <p:cBhvr>
                                        <p:cTn id="96" dur="1" fill="hold">
                                          <p:stCondLst>
                                            <p:cond delay="0"/>
                                          </p:stCondLst>
                                        </p:cTn>
                                        <p:tgtEl>
                                          <p:spTgt spid="16"/>
                                        </p:tgtEl>
                                        <p:attrNameLst>
                                          <p:attrName>style.visibility</p:attrName>
                                        </p:attrNameLst>
                                      </p:cBhvr>
                                      <p:to>
                                        <p:strVal val="visible"/>
                                      </p:to>
                                    </p:set>
                                    <p:anim calcmode="lin" valueType="num">
                                      <p:cBhvr additive="base">
                                        <p:cTn id="97" dur="500" fill="hold"/>
                                        <p:tgtEl>
                                          <p:spTgt spid="16"/>
                                        </p:tgtEl>
                                        <p:attrNameLst>
                                          <p:attrName>ppt_x</p:attrName>
                                        </p:attrNameLst>
                                      </p:cBhvr>
                                      <p:tavLst>
                                        <p:tav tm="0">
                                          <p:val>
                                            <p:strVal val="#ppt_x"/>
                                          </p:val>
                                        </p:tav>
                                        <p:tav tm="100000">
                                          <p:val>
                                            <p:strVal val="#ppt_x"/>
                                          </p:val>
                                        </p:tav>
                                      </p:tavLst>
                                    </p:anim>
                                    <p:anim calcmode="lin" valueType="num">
                                      <p:cBhvr additive="base">
                                        <p:cTn id="98" dur="500" fill="hold"/>
                                        <p:tgtEl>
                                          <p:spTgt spid="16"/>
                                        </p:tgtEl>
                                        <p:attrNameLst>
                                          <p:attrName>ppt_y</p:attrName>
                                        </p:attrNameLst>
                                      </p:cBhvr>
                                      <p:tavLst>
                                        <p:tav tm="0">
                                          <p:val>
                                            <p:strVal val="#ppt_y+0.1"/>
                                          </p:val>
                                        </p:tav>
                                        <p:tav tm="100000">
                                          <p:val>
                                            <p:strVal val="#ppt_y"/>
                                          </p:val>
                                        </p:tav>
                                      </p:tavLst>
                                    </p:anim>
                                    <p:animEffect transition="in" filter="fade">
                                      <p:cBhvr>
                                        <p:cTn id="99" dur="500"/>
                                        <p:tgtEl>
                                          <p:spTgt spid="16"/>
                                        </p:tgtEl>
                                      </p:cBhvr>
                                    </p:animEffect>
                                  </p:childTnLst>
                                </p:cTn>
                              </p:par>
                              <p:par>
                                <p:cTn id="105" presetID="2" presetClass="entr" presetSubtype="4" fill="hold" grpId="0" nodeType="withEffect">
                                  <p:stCondLst>
                                    <p:cond delay="200"/>
                                  </p:stCondLst>
                                  <p:childTnLst>
                                    <p:set>
                                      <p:cBhvr>
                                        <p:cTn id="101" dur="1" fill="hold">
                                          <p:stCondLst>
                                            <p:cond delay="0"/>
                                          </p:stCondLst>
                                        </p:cTn>
                                        <p:tgtEl>
                                          <p:spTgt spid="17"/>
                                        </p:tgtEl>
                                        <p:attrNameLst>
                                          <p:attrName>style.visibility</p:attrName>
                                        </p:attrNameLst>
                                      </p:cBhvr>
                                      <p:to>
                                        <p:strVal val="visible"/>
                                      </p:to>
                                    </p:set>
                                    <p:anim calcmode="lin" valueType="num">
                                      <p:cBhvr additive="base">
                                        <p:cTn id="102" dur="500" fill="hold"/>
                                        <p:tgtEl>
                                          <p:spTgt spid="17"/>
                                        </p:tgtEl>
                                        <p:attrNameLst>
                                          <p:attrName>ppt_x</p:attrName>
                                        </p:attrNameLst>
                                      </p:cBhvr>
                                      <p:tavLst>
                                        <p:tav tm="0">
                                          <p:val>
                                            <p:strVal val="#ppt_x"/>
                                          </p:val>
                                        </p:tav>
                                        <p:tav tm="100000">
                                          <p:val>
                                            <p:strVal val="#ppt_x"/>
                                          </p:val>
                                        </p:tav>
                                      </p:tavLst>
                                    </p:anim>
                                    <p:anim calcmode="lin" valueType="num">
                                      <p:cBhvr additive="base">
                                        <p:cTn id="103" dur="500" fill="hold"/>
                                        <p:tgtEl>
                                          <p:spTgt spid="17"/>
                                        </p:tgtEl>
                                        <p:attrNameLst>
                                          <p:attrName>ppt_y</p:attrName>
                                        </p:attrNameLst>
                                      </p:cBhvr>
                                      <p:tavLst>
                                        <p:tav tm="0">
                                          <p:val>
                                            <p:strVal val="#ppt_y+0.1"/>
                                          </p:val>
                                        </p:tav>
                                        <p:tav tm="100000">
                                          <p:val>
                                            <p:strVal val="#ppt_y"/>
                                          </p:val>
                                        </p:tav>
                                      </p:tavLst>
                                    </p:anim>
                                    <p:animEffect transition="in" filter="fade">
                                      <p:cBhvr>
                                        <p:cTn id="104" dur="500"/>
                                        <p:tgtEl>
                                          <p:spTgt spid="17"/>
                                        </p:tgtEl>
                                      </p:cBhvr>
                                    </p:animEffect>
                                  </p:childTnLst>
                                </p:cTn>
                              </p:par>
                              <p:par>
                                <p:cTn id="110" presetID="2" presetClass="entr" presetSubtype="4" fill="hold" grpId="0" nodeType="withEffect">
                                  <p:stCondLst>
                                    <p:cond delay="200"/>
                                  </p:stCondLst>
                                  <p:childTnLst>
                                    <p:set>
                                      <p:cBhvr>
                                        <p:cTn id="106" dur="1" fill="hold">
                                          <p:stCondLst>
                                            <p:cond delay="0"/>
                                          </p:stCondLst>
                                        </p:cTn>
                                        <p:tgtEl>
                                          <p:spTgt spid="18"/>
                                        </p:tgtEl>
                                        <p:attrNameLst>
                                          <p:attrName>style.visibility</p:attrName>
                                        </p:attrNameLst>
                                      </p:cBhvr>
                                      <p:to>
                                        <p:strVal val="visible"/>
                                      </p:to>
                                    </p:set>
                                    <p:anim calcmode="lin" valueType="num">
                                      <p:cBhvr additive="base">
                                        <p:cTn id="107" dur="500" fill="hold"/>
                                        <p:tgtEl>
                                          <p:spTgt spid="18"/>
                                        </p:tgtEl>
                                        <p:attrNameLst>
                                          <p:attrName>ppt_x</p:attrName>
                                        </p:attrNameLst>
                                      </p:cBhvr>
                                      <p:tavLst>
                                        <p:tav tm="0">
                                          <p:val>
                                            <p:strVal val="#ppt_x"/>
                                          </p:val>
                                        </p:tav>
                                        <p:tav tm="100000">
                                          <p:val>
                                            <p:strVal val="#ppt_x"/>
                                          </p:val>
                                        </p:tav>
                                      </p:tavLst>
                                    </p:anim>
                                    <p:anim calcmode="lin" valueType="num">
                                      <p:cBhvr additive="base">
                                        <p:cTn id="108" dur="500" fill="hold"/>
                                        <p:tgtEl>
                                          <p:spTgt spid="18"/>
                                        </p:tgtEl>
                                        <p:attrNameLst>
                                          <p:attrName>ppt_y</p:attrName>
                                        </p:attrNameLst>
                                      </p:cBhvr>
                                      <p:tavLst>
                                        <p:tav tm="0">
                                          <p:val>
                                            <p:strVal val="#ppt_y+0.1"/>
                                          </p:val>
                                        </p:tav>
                                        <p:tav tm="100000">
                                          <p:val>
                                            <p:strVal val="#ppt_y"/>
                                          </p:val>
                                        </p:tav>
                                      </p:tavLst>
                                    </p:anim>
                                    <p:animEffect transition="in" filter="fade">
                                      <p:cBhvr>
                                        <p:cTn id="109" dur="500"/>
                                        <p:tgtEl>
                                          <p:spTgt spid="18"/>
                                        </p:tgtEl>
                                      </p:cBhvr>
                                    </p:animEffect>
                                  </p:childTnLst>
                                </p:cTn>
                              </p:par>
                              <p:par>
                                <p:cTn id="115" presetID="2" presetClass="entr" presetSubtype="4" fill="hold" grpId="0" nodeType="withEffect">
                                  <p:stCondLst>
                                    <p:cond delay="300"/>
                                  </p:stCondLst>
                                  <p:childTnLst>
                                    <p:set>
                                      <p:cBhvr>
                                        <p:cTn id="111" dur="1" fill="hold">
                                          <p:stCondLst>
                                            <p:cond delay="0"/>
                                          </p:stCondLst>
                                        </p:cTn>
                                        <p:tgtEl>
                                          <p:spTgt spid="19"/>
                                        </p:tgtEl>
                                        <p:attrNameLst>
                                          <p:attrName>style.visibility</p:attrName>
                                        </p:attrNameLst>
                                      </p:cBhvr>
                                      <p:to>
                                        <p:strVal val="visible"/>
                                      </p:to>
                                    </p:set>
                                    <p:anim calcmode="lin" valueType="num">
                                      <p:cBhvr additive="base">
                                        <p:cTn id="112" dur="500" fill="hold"/>
                                        <p:tgtEl>
                                          <p:spTgt spid="19"/>
                                        </p:tgtEl>
                                        <p:attrNameLst>
                                          <p:attrName>ppt_x</p:attrName>
                                        </p:attrNameLst>
                                      </p:cBhvr>
                                      <p:tavLst>
                                        <p:tav tm="0">
                                          <p:val>
                                            <p:strVal val="#ppt_x"/>
                                          </p:val>
                                        </p:tav>
                                        <p:tav tm="100000">
                                          <p:val>
                                            <p:strVal val="#ppt_x"/>
                                          </p:val>
                                        </p:tav>
                                      </p:tavLst>
                                    </p:anim>
                                    <p:anim calcmode="lin" valueType="num">
                                      <p:cBhvr additive="base">
                                        <p:cTn id="113" dur="500" fill="hold"/>
                                        <p:tgtEl>
                                          <p:spTgt spid="19"/>
                                        </p:tgtEl>
                                        <p:attrNameLst>
                                          <p:attrName>ppt_y</p:attrName>
                                        </p:attrNameLst>
                                      </p:cBhvr>
                                      <p:tavLst>
                                        <p:tav tm="0">
                                          <p:val>
                                            <p:strVal val="#ppt_y+0.1"/>
                                          </p:val>
                                        </p:tav>
                                        <p:tav tm="100000">
                                          <p:val>
                                            <p:strVal val="#ppt_y"/>
                                          </p:val>
                                        </p:tav>
                                      </p:tavLst>
                                    </p:anim>
                                    <p:animEffect transition="in" filter="fade">
                                      <p:cBhvr>
                                        <p:cTn id="114" dur="500"/>
                                        <p:tgtEl>
                                          <p:spTgt spid="19"/>
                                        </p:tgtEl>
                                      </p:cBhvr>
                                    </p:animEffect>
                                  </p:childTnLst>
                                </p:cTn>
                              </p:par>
                              <p:par>
                                <p:cTn id="120" presetID="2" presetClass="entr" presetSubtype="4" fill="hold" grpId="0" nodeType="withEffect">
                                  <p:stCondLst>
                                    <p:cond delay="300"/>
                                  </p:stCondLst>
                                  <p:childTnLst>
                                    <p:set>
                                      <p:cBhvr>
                                        <p:cTn id="116" dur="1" fill="hold">
                                          <p:stCondLst>
                                            <p:cond delay="0"/>
                                          </p:stCondLst>
                                        </p:cTn>
                                        <p:tgtEl>
                                          <p:spTgt spid="20"/>
                                        </p:tgtEl>
                                        <p:attrNameLst>
                                          <p:attrName>style.visibility</p:attrName>
                                        </p:attrNameLst>
                                      </p:cBhvr>
                                      <p:to>
                                        <p:strVal val="visible"/>
                                      </p:to>
                                    </p:set>
                                    <p:anim calcmode="lin" valueType="num">
                                      <p:cBhvr additive="base">
                                        <p:cTn id="117" dur="500" fill="hold"/>
                                        <p:tgtEl>
                                          <p:spTgt spid="20"/>
                                        </p:tgtEl>
                                        <p:attrNameLst>
                                          <p:attrName>ppt_x</p:attrName>
                                        </p:attrNameLst>
                                      </p:cBhvr>
                                      <p:tavLst>
                                        <p:tav tm="0">
                                          <p:val>
                                            <p:strVal val="#ppt_x"/>
                                          </p:val>
                                        </p:tav>
                                        <p:tav tm="100000">
                                          <p:val>
                                            <p:strVal val="#ppt_x"/>
                                          </p:val>
                                        </p:tav>
                                      </p:tavLst>
                                    </p:anim>
                                    <p:anim calcmode="lin" valueType="num">
                                      <p:cBhvr additive="base">
                                        <p:cTn id="118" dur="500" fill="hold"/>
                                        <p:tgtEl>
                                          <p:spTgt spid="20"/>
                                        </p:tgtEl>
                                        <p:attrNameLst>
                                          <p:attrName>ppt_y</p:attrName>
                                        </p:attrNameLst>
                                      </p:cBhvr>
                                      <p:tavLst>
                                        <p:tav tm="0">
                                          <p:val>
                                            <p:strVal val="#ppt_y+0.1"/>
                                          </p:val>
                                        </p:tav>
                                        <p:tav tm="100000">
                                          <p:val>
                                            <p:strVal val="#ppt_y"/>
                                          </p:val>
                                        </p:tav>
                                      </p:tavLst>
                                    </p:anim>
                                    <p:animEffect transition="in" filter="fade">
                                      <p:cBhvr>
                                        <p:cTn id="119" dur="500"/>
                                        <p:tgtEl>
                                          <p:spTgt spid="20"/>
                                        </p:tgtEl>
                                      </p:cBhvr>
                                    </p:animEffect>
                                  </p:childTnLst>
                                </p:cTn>
                              </p:par>
                            </p:childTnLst>
                          </p:cTn>
                        </p:par>
                      </p:childTnLst>
                    </p:cTn>
                  </p:par>
                  <p:par>
                    <p:cTn id="121" fill="hold">
                      <p:stCondLst>
                        <p:cond delay="indefinite"/>
                      </p:stCondLst>
                      <p:childTnLst>
                        <p:par>
                          <p:cTn id="122" fill="hold">
                            <p:stCondLst>
                              <p:cond delay="0"/>
                            </p:stCondLst>
                            <p:childTnLst>
                              <p:par>
                                <p:cTn id="127" presetID="2" presetClass="entr" presetSubtype="4" fill="hold" grpId="0" nodeType="clickEffect">
                                  <p:stCondLst>
                                    <p:cond delay="0"/>
                                  </p:stCondLst>
                                  <p:childTnLst>
                                    <p:set>
                                      <p:cBhvr>
                                        <p:cTn id="123" dur="1" fill="hold">
                                          <p:stCondLst>
                                            <p:cond delay="0"/>
                                          </p:stCondLst>
                                        </p:cTn>
                                        <p:tgtEl>
                                          <p:spTgt spid="12"/>
                                        </p:tgtEl>
                                        <p:attrNameLst>
                                          <p:attrName>style.visibility</p:attrName>
                                        </p:attrNameLst>
                                      </p:cBhvr>
                                      <p:to>
                                        <p:strVal val="visible"/>
                                      </p:to>
                                    </p:set>
                                    <p:anim calcmode="lin" valueType="num">
                                      <p:cBhvr additive="base">
                                        <p:cTn id="124" dur="500" fill="hold"/>
                                        <p:tgtEl>
                                          <p:spTgt spid="12"/>
                                        </p:tgtEl>
                                        <p:attrNameLst>
                                          <p:attrName>ppt_x</p:attrName>
                                        </p:attrNameLst>
                                      </p:cBhvr>
                                      <p:tavLst>
                                        <p:tav tm="0">
                                          <p:val>
                                            <p:strVal val="#ppt_x"/>
                                          </p:val>
                                        </p:tav>
                                        <p:tav tm="100000">
                                          <p:val>
                                            <p:strVal val="#ppt_x"/>
                                          </p:val>
                                        </p:tav>
                                      </p:tavLst>
                                    </p:anim>
                                    <p:anim calcmode="lin" valueType="num">
                                      <p:cBhvr additive="base">
                                        <p:cTn id="125" dur="500" fill="hold"/>
                                        <p:tgtEl>
                                          <p:spTgt spid="12"/>
                                        </p:tgtEl>
                                        <p:attrNameLst>
                                          <p:attrName>ppt_y</p:attrName>
                                        </p:attrNameLst>
                                      </p:cBhvr>
                                      <p:tavLst>
                                        <p:tav tm="0">
                                          <p:val>
                                            <p:strVal val="#ppt_y+0.1"/>
                                          </p:val>
                                        </p:tav>
                                        <p:tav tm="100000">
                                          <p:val>
                                            <p:strVal val="#ppt_y"/>
                                          </p:val>
                                        </p:tav>
                                      </p:tavLst>
                                    </p:anim>
                                    <p:animEffect transition="in" filter="fade">
                                      <p:cBhvr>
                                        <p:cTn id="126" dur="500"/>
                                        <p:tgtEl>
                                          <p:spTgt spid="12"/>
                                        </p:tgtEl>
                                      </p:cBhvr>
                                    </p:animEffect>
                                  </p:childTnLst>
                                </p:cTn>
                              </p:par>
                              <p:par>
                                <p:cTn id="132" presetID="2" presetClass="entr" presetSubtype="4" fill="hold" grpId="0" nodeType="withEffect">
                                  <p:stCondLst>
                                    <p:cond delay="0"/>
                                  </p:stCondLst>
                                  <p:childTnLst>
                                    <p:set>
                                      <p:cBhvr>
                                        <p:cTn id="128" dur="1" fill="hold">
                                          <p:stCondLst>
                                            <p:cond delay="0"/>
                                          </p:stCondLst>
                                        </p:cTn>
                                        <p:tgtEl>
                                          <p:spTgt spid="21"/>
                                        </p:tgtEl>
                                        <p:attrNameLst>
                                          <p:attrName>style.visibility</p:attrName>
                                        </p:attrNameLst>
                                      </p:cBhvr>
                                      <p:to>
                                        <p:strVal val="visible"/>
                                      </p:to>
                                    </p:set>
                                    <p:anim calcmode="lin" valueType="num">
                                      <p:cBhvr additive="base">
                                        <p:cTn id="129" dur="500" fill="hold"/>
                                        <p:tgtEl>
                                          <p:spTgt spid="21"/>
                                        </p:tgtEl>
                                        <p:attrNameLst>
                                          <p:attrName>ppt_x</p:attrName>
                                        </p:attrNameLst>
                                      </p:cBhvr>
                                      <p:tavLst>
                                        <p:tav tm="0">
                                          <p:val>
                                            <p:strVal val="#ppt_x"/>
                                          </p:val>
                                        </p:tav>
                                        <p:tav tm="100000">
                                          <p:val>
                                            <p:strVal val="#ppt_x"/>
                                          </p:val>
                                        </p:tav>
                                      </p:tavLst>
                                    </p:anim>
                                    <p:anim calcmode="lin" valueType="num">
                                      <p:cBhvr additive="base">
                                        <p:cTn id="130" dur="500" fill="hold"/>
                                        <p:tgtEl>
                                          <p:spTgt spid="21"/>
                                        </p:tgtEl>
                                        <p:attrNameLst>
                                          <p:attrName>ppt_y</p:attrName>
                                        </p:attrNameLst>
                                      </p:cBhvr>
                                      <p:tavLst>
                                        <p:tav tm="0">
                                          <p:val>
                                            <p:strVal val="#ppt_y+0.1"/>
                                          </p:val>
                                        </p:tav>
                                        <p:tav tm="100000">
                                          <p:val>
                                            <p:strVal val="#ppt_y"/>
                                          </p:val>
                                        </p:tav>
                                      </p:tavLst>
                                    </p:anim>
                                    <p:animEffect transition="in" filter="fade">
                                      <p:cBhvr>
                                        <p:cTn id="131" dur="500"/>
                                        <p:tgtEl>
                                          <p:spTgt spid="21"/>
                                        </p:tgtEl>
                                      </p:cBhvr>
                                    </p:animEffect>
                                  </p:childTnLst>
                                </p:cTn>
                              </p:par>
                              <p:par>
                                <p:cTn id="137" presetID="2" presetClass="entr" presetSubtype="4" fill="hold" grpId="0" nodeType="withEffect">
                                  <p:stCondLst>
                                    <p:cond delay="0"/>
                                  </p:stCondLst>
                                  <p:childTnLst>
                                    <p:set>
                                      <p:cBhvr>
                                        <p:cTn id="133" dur="1" fill="hold">
                                          <p:stCondLst>
                                            <p:cond delay="0"/>
                                          </p:stCondLst>
                                        </p:cTn>
                                        <p:tgtEl>
                                          <p:spTgt spid="22"/>
                                        </p:tgtEl>
                                        <p:attrNameLst>
                                          <p:attrName>style.visibility</p:attrName>
                                        </p:attrNameLst>
                                      </p:cBhvr>
                                      <p:to>
                                        <p:strVal val="visible"/>
                                      </p:to>
                                    </p:set>
                                    <p:anim calcmode="lin" valueType="num">
                                      <p:cBhvr additive="base">
                                        <p:cTn id="134" dur="500" fill="hold"/>
                                        <p:tgtEl>
                                          <p:spTgt spid="22"/>
                                        </p:tgtEl>
                                        <p:attrNameLst>
                                          <p:attrName>ppt_x</p:attrName>
                                        </p:attrNameLst>
                                      </p:cBhvr>
                                      <p:tavLst>
                                        <p:tav tm="0">
                                          <p:val>
                                            <p:strVal val="#ppt_x"/>
                                          </p:val>
                                        </p:tav>
                                        <p:tav tm="100000">
                                          <p:val>
                                            <p:strVal val="#ppt_x"/>
                                          </p:val>
                                        </p:tav>
                                      </p:tavLst>
                                    </p:anim>
                                    <p:anim calcmode="lin" valueType="num">
                                      <p:cBhvr additive="base">
                                        <p:cTn id="135" dur="500" fill="hold"/>
                                        <p:tgtEl>
                                          <p:spTgt spid="22"/>
                                        </p:tgtEl>
                                        <p:attrNameLst>
                                          <p:attrName>ppt_y</p:attrName>
                                        </p:attrNameLst>
                                      </p:cBhvr>
                                      <p:tavLst>
                                        <p:tav tm="0">
                                          <p:val>
                                            <p:strVal val="#ppt_y+0.1"/>
                                          </p:val>
                                        </p:tav>
                                        <p:tav tm="100000">
                                          <p:val>
                                            <p:strVal val="#ppt_y"/>
                                          </p:val>
                                        </p:tav>
                                      </p:tavLst>
                                    </p:anim>
                                    <p:animEffect transition="in" filter="fade">
                                      <p:cBhvr>
                                        <p:cTn id="136" dur="500"/>
                                        <p:tgtEl>
                                          <p:spTgt spid="22"/>
                                        </p:tgtEl>
                                      </p:cBhvr>
                                    </p:animEffect>
                                  </p:childTnLst>
                                </p:cTn>
                              </p:par>
                              <p:par>
                                <p:cTn id="142" presetID="2" presetClass="entr" presetSubtype="4" fill="hold" grpId="0" nodeType="withEffect">
                                  <p:stCondLst>
                                    <p:cond delay="100"/>
                                  </p:stCondLst>
                                  <p:childTnLst>
                                    <p:set>
                                      <p:cBhvr>
                                        <p:cTn id="138" dur="1" fill="hold">
                                          <p:stCondLst>
                                            <p:cond delay="0"/>
                                          </p:stCondLst>
                                        </p:cTn>
                                        <p:tgtEl>
                                          <p:spTgt spid="23"/>
                                        </p:tgtEl>
                                        <p:attrNameLst>
                                          <p:attrName>style.visibility</p:attrName>
                                        </p:attrNameLst>
                                      </p:cBhvr>
                                      <p:to>
                                        <p:strVal val="visible"/>
                                      </p:to>
                                    </p:set>
                                    <p:anim calcmode="lin" valueType="num">
                                      <p:cBhvr additive="base">
                                        <p:cTn id="139" dur="500" fill="hold"/>
                                        <p:tgtEl>
                                          <p:spTgt spid="23"/>
                                        </p:tgtEl>
                                        <p:attrNameLst>
                                          <p:attrName>ppt_x</p:attrName>
                                        </p:attrNameLst>
                                      </p:cBhvr>
                                      <p:tavLst>
                                        <p:tav tm="0">
                                          <p:val>
                                            <p:strVal val="#ppt_x"/>
                                          </p:val>
                                        </p:tav>
                                        <p:tav tm="100000">
                                          <p:val>
                                            <p:strVal val="#ppt_x"/>
                                          </p:val>
                                        </p:tav>
                                      </p:tavLst>
                                    </p:anim>
                                    <p:anim calcmode="lin" valueType="num">
                                      <p:cBhvr additive="base">
                                        <p:cTn id="140" dur="500" fill="hold"/>
                                        <p:tgtEl>
                                          <p:spTgt spid="23"/>
                                        </p:tgtEl>
                                        <p:attrNameLst>
                                          <p:attrName>ppt_y</p:attrName>
                                        </p:attrNameLst>
                                      </p:cBhvr>
                                      <p:tavLst>
                                        <p:tav tm="0">
                                          <p:val>
                                            <p:strVal val="#ppt_y+0.1"/>
                                          </p:val>
                                        </p:tav>
                                        <p:tav tm="100000">
                                          <p:val>
                                            <p:strVal val="#ppt_y"/>
                                          </p:val>
                                        </p:tav>
                                      </p:tavLst>
                                    </p:anim>
                                    <p:animEffect transition="in" filter="fade">
                                      <p:cBhvr>
                                        <p:cTn id="141" dur="500"/>
                                        <p:tgtEl>
                                          <p:spTgt spid="23"/>
                                        </p:tgtEl>
                                      </p:cBhvr>
                                    </p:animEffect>
                                  </p:childTnLst>
                                </p:cTn>
                              </p:par>
                              <p:par>
                                <p:cTn id="147" presetID="2" presetClass="entr" presetSubtype="4" fill="hold" grpId="0" nodeType="withEffect">
                                  <p:stCondLst>
                                    <p:cond delay="100"/>
                                  </p:stCondLst>
                                  <p:childTnLst>
                                    <p:set>
                                      <p:cBhvr>
                                        <p:cTn id="143" dur="1" fill="hold">
                                          <p:stCondLst>
                                            <p:cond delay="0"/>
                                          </p:stCondLst>
                                        </p:cTn>
                                        <p:tgtEl>
                                          <p:spTgt spid="24"/>
                                        </p:tgtEl>
                                        <p:attrNameLst>
                                          <p:attrName>style.visibility</p:attrName>
                                        </p:attrNameLst>
                                      </p:cBhvr>
                                      <p:to>
                                        <p:strVal val="visible"/>
                                      </p:to>
                                    </p:set>
                                    <p:anim calcmode="lin" valueType="num">
                                      <p:cBhvr additive="base">
                                        <p:cTn id="144" dur="500" fill="hold"/>
                                        <p:tgtEl>
                                          <p:spTgt spid="24"/>
                                        </p:tgtEl>
                                        <p:attrNameLst>
                                          <p:attrName>ppt_x</p:attrName>
                                        </p:attrNameLst>
                                      </p:cBhvr>
                                      <p:tavLst>
                                        <p:tav tm="0">
                                          <p:val>
                                            <p:strVal val="#ppt_x"/>
                                          </p:val>
                                        </p:tav>
                                        <p:tav tm="100000">
                                          <p:val>
                                            <p:strVal val="#ppt_x"/>
                                          </p:val>
                                        </p:tav>
                                      </p:tavLst>
                                    </p:anim>
                                    <p:anim calcmode="lin" valueType="num">
                                      <p:cBhvr additive="base">
                                        <p:cTn id="145" dur="500" fill="hold"/>
                                        <p:tgtEl>
                                          <p:spTgt spid="24"/>
                                        </p:tgtEl>
                                        <p:attrNameLst>
                                          <p:attrName>ppt_y</p:attrName>
                                        </p:attrNameLst>
                                      </p:cBhvr>
                                      <p:tavLst>
                                        <p:tav tm="0">
                                          <p:val>
                                            <p:strVal val="#ppt_y+0.1"/>
                                          </p:val>
                                        </p:tav>
                                        <p:tav tm="100000">
                                          <p:val>
                                            <p:strVal val="#ppt_y"/>
                                          </p:val>
                                        </p:tav>
                                      </p:tavLst>
                                    </p:anim>
                                    <p:animEffect transition="in" filter="fade">
                                      <p:cBhvr>
                                        <p:cTn id="146" dur="500"/>
                                        <p:tgtEl>
                                          <p:spTgt spid="24"/>
                                        </p:tgtEl>
                                      </p:cBhvr>
                                    </p:animEffect>
                                  </p:childTnLst>
                                </p:cTn>
                              </p:par>
                              <p:par>
                                <p:cTn id="152" presetID="2" presetClass="entr" presetSubtype="4" fill="hold" grpId="0" nodeType="withEffect">
                                  <p:stCondLst>
                                    <p:cond delay="200"/>
                                  </p:stCondLst>
                                  <p:childTnLst>
                                    <p:set>
                                      <p:cBhvr>
                                        <p:cTn id="148" dur="1" fill="hold">
                                          <p:stCondLst>
                                            <p:cond delay="0"/>
                                          </p:stCondLst>
                                        </p:cTn>
                                        <p:tgtEl>
                                          <p:spTgt spid="25"/>
                                        </p:tgtEl>
                                        <p:attrNameLst>
                                          <p:attrName>style.visibility</p:attrName>
                                        </p:attrNameLst>
                                      </p:cBhvr>
                                      <p:to>
                                        <p:strVal val="visible"/>
                                      </p:to>
                                    </p:set>
                                    <p:anim calcmode="lin" valueType="num">
                                      <p:cBhvr additive="base">
                                        <p:cTn id="149" dur="500" fill="hold"/>
                                        <p:tgtEl>
                                          <p:spTgt spid="25"/>
                                        </p:tgtEl>
                                        <p:attrNameLst>
                                          <p:attrName>ppt_x</p:attrName>
                                        </p:attrNameLst>
                                      </p:cBhvr>
                                      <p:tavLst>
                                        <p:tav tm="0">
                                          <p:val>
                                            <p:strVal val="#ppt_x"/>
                                          </p:val>
                                        </p:tav>
                                        <p:tav tm="100000">
                                          <p:val>
                                            <p:strVal val="#ppt_x"/>
                                          </p:val>
                                        </p:tav>
                                      </p:tavLst>
                                    </p:anim>
                                    <p:anim calcmode="lin" valueType="num">
                                      <p:cBhvr additive="base">
                                        <p:cTn id="150" dur="500" fill="hold"/>
                                        <p:tgtEl>
                                          <p:spTgt spid="25"/>
                                        </p:tgtEl>
                                        <p:attrNameLst>
                                          <p:attrName>ppt_y</p:attrName>
                                        </p:attrNameLst>
                                      </p:cBhvr>
                                      <p:tavLst>
                                        <p:tav tm="0">
                                          <p:val>
                                            <p:strVal val="#ppt_y+0.1"/>
                                          </p:val>
                                        </p:tav>
                                        <p:tav tm="100000">
                                          <p:val>
                                            <p:strVal val="#ppt_y"/>
                                          </p:val>
                                        </p:tav>
                                      </p:tavLst>
                                    </p:anim>
                                    <p:animEffect transition="in" filter="fade">
                                      <p:cBhvr>
                                        <p:cTn id="151" dur="500"/>
                                        <p:tgtEl>
                                          <p:spTgt spid="25"/>
                                        </p:tgtEl>
                                      </p:cBhvr>
                                    </p:animEffect>
                                  </p:childTnLst>
                                </p:cTn>
                              </p:par>
                              <p:par>
                                <p:cTn id="157" presetID="2" presetClass="entr" presetSubtype="4" fill="hold" grpId="0" nodeType="withEffect">
                                  <p:stCondLst>
                                    <p:cond delay="200"/>
                                  </p:stCondLst>
                                  <p:childTnLst>
                                    <p:set>
                                      <p:cBhvr>
                                        <p:cTn id="153" dur="1" fill="hold">
                                          <p:stCondLst>
                                            <p:cond delay="0"/>
                                          </p:stCondLst>
                                        </p:cTn>
                                        <p:tgtEl>
                                          <p:spTgt spid="26"/>
                                        </p:tgtEl>
                                        <p:attrNameLst>
                                          <p:attrName>style.visibility</p:attrName>
                                        </p:attrNameLst>
                                      </p:cBhvr>
                                      <p:to>
                                        <p:strVal val="visible"/>
                                      </p:to>
                                    </p:set>
                                    <p:anim calcmode="lin" valueType="num">
                                      <p:cBhvr additive="base">
                                        <p:cTn id="154" dur="500" fill="hold"/>
                                        <p:tgtEl>
                                          <p:spTgt spid="26"/>
                                        </p:tgtEl>
                                        <p:attrNameLst>
                                          <p:attrName>ppt_x</p:attrName>
                                        </p:attrNameLst>
                                      </p:cBhvr>
                                      <p:tavLst>
                                        <p:tav tm="0">
                                          <p:val>
                                            <p:strVal val="#ppt_x"/>
                                          </p:val>
                                        </p:tav>
                                        <p:tav tm="100000">
                                          <p:val>
                                            <p:strVal val="#ppt_x"/>
                                          </p:val>
                                        </p:tav>
                                      </p:tavLst>
                                    </p:anim>
                                    <p:anim calcmode="lin" valueType="num">
                                      <p:cBhvr additive="base">
                                        <p:cTn id="155" dur="500" fill="hold"/>
                                        <p:tgtEl>
                                          <p:spTgt spid="26"/>
                                        </p:tgtEl>
                                        <p:attrNameLst>
                                          <p:attrName>ppt_y</p:attrName>
                                        </p:attrNameLst>
                                      </p:cBhvr>
                                      <p:tavLst>
                                        <p:tav tm="0">
                                          <p:val>
                                            <p:strVal val="#ppt_y+0.1"/>
                                          </p:val>
                                        </p:tav>
                                        <p:tav tm="100000">
                                          <p:val>
                                            <p:strVal val="#ppt_y"/>
                                          </p:val>
                                        </p:tav>
                                      </p:tavLst>
                                    </p:anim>
                                    <p:animEffect transition="in" filter="fade">
                                      <p:cBhvr>
                                        <p:cTn id="156" dur="500"/>
                                        <p:tgtEl>
                                          <p:spTgt spid="26"/>
                                        </p:tgtEl>
                                      </p:cBhvr>
                                    </p:animEffect>
                                  </p:childTnLst>
                                </p:cTn>
                              </p:par>
                              <p:par>
                                <p:cTn id="162" presetID="2" presetClass="entr" presetSubtype="4" fill="hold" grpId="0" nodeType="withEffect">
                                  <p:stCondLst>
                                    <p:cond delay="300"/>
                                  </p:stCondLst>
                                  <p:childTnLst>
                                    <p:set>
                                      <p:cBhvr>
                                        <p:cTn id="158" dur="1" fill="hold">
                                          <p:stCondLst>
                                            <p:cond delay="0"/>
                                          </p:stCondLst>
                                        </p:cTn>
                                        <p:tgtEl>
                                          <p:spTgt spid="27"/>
                                        </p:tgtEl>
                                        <p:attrNameLst>
                                          <p:attrName>style.visibility</p:attrName>
                                        </p:attrNameLst>
                                      </p:cBhvr>
                                      <p:to>
                                        <p:strVal val="visible"/>
                                      </p:to>
                                    </p:set>
                                    <p:anim calcmode="lin" valueType="num">
                                      <p:cBhvr additive="base">
                                        <p:cTn id="159" dur="500" fill="hold"/>
                                        <p:tgtEl>
                                          <p:spTgt spid="27"/>
                                        </p:tgtEl>
                                        <p:attrNameLst>
                                          <p:attrName>ppt_x</p:attrName>
                                        </p:attrNameLst>
                                      </p:cBhvr>
                                      <p:tavLst>
                                        <p:tav tm="0">
                                          <p:val>
                                            <p:strVal val="#ppt_x"/>
                                          </p:val>
                                        </p:tav>
                                        <p:tav tm="100000">
                                          <p:val>
                                            <p:strVal val="#ppt_x"/>
                                          </p:val>
                                        </p:tav>
                                      </p:tavLst>
                                    </p:anim>
                                    <p:anim calcmode="lin" valueType="num">
                                      <p:cBhvr additive="base">
                                        <p:cTn id="160" dur="500" fill="hold"/>
                                        <p:tgtEl>
                                          <p:spTgt spid="27"/>
                                        </p:tgtEl>
                                        <p:attrNameLst>
                                          <p:attrName>ppt_y</p:attrName>
                                        </p:attrNameLst>
                                      </p:cBhvr>
                                      <p:tavLst>
                                        <p:tav tm="0">
                                          <p:val>
                                            <p:strVal val="#ppt_y+0.1"/>
                                          </p:val>
                                        </p:tav>
                                        <p:tav tm="100000">
                                          <p:val>
                                            <p:strVal val="#ppt_y"/>
                                          </p:val>
                                        </p:tav>
                                      </p:tavLst>
                                    </p:anim>
                                    <p:animEffect transition="in" filter="fade">
                                      <p:cBhvr>
                                        <p:cTn id="161" dur="500"/>
                                        <p:tgtEl>
                                          <p:spTgt spid="27"/>
                                        </p:tgtEl>
                                      </p:cBhvr>
                                    </p:animEffect>
                                  </p:childTnLst>
                                </p:cTn>
                              </p:par>
                              <p:par>
                                <p:cTn id="167" presetID="2" presetClass="entr" presetSubtype="4" fill="hold" grpId="0" nodeType="withEffect">
                                  <p:stCondLst>
                                    <p:cond delay="300"/>
                                  </p:stCondLst>
                                  <p:childTnLst>
                                    <p:set>
                                      <p:cBhvr>
                                        <p:cTn id="163" dur="1" fill="hold">
                                          <p:stCondLst>
                                            <p:cond delay="0"/>
                                          </p:stCondLst>
                                        </p:cTn>
                                        <p:tgtEl>
                                          <p:spTgt spid="28"/>
                                        </p:tgtEl>
                                        <p:attrNameLst>
                                          <p:attrName>style.visibility</p:attrName>
                                        </p:attrNameLst>
                                      </p:cBhvr>
                                      <p:to>
                                        <p:strVal val="visible"/>
                                      </p:to>
                                    </p:set>
                                    <p:anim calcmode="lin" valueType="num">
                                      <p:cBhvr additive="base">
                                        <p:cTn id="164" dur="500" fill="hold"/>
                                        <p:tgtEl>
                                          <p:spTgt spid="28"/>
                                        </p:tgtEl>
                                        <p:attrNameLst>
                                          <p:attrName>ppt_x</p:attrName>
                                        </p:attrNameLst>
                                      </p:cBhvr>
                                      <p:tavLst>
                                        <p:tav tm="0">
                                          <p:val>
                                            <p:strVal val="#ppt_x"/>
                                          </p:val>
                                        </p:tav>
                                        <p:tav tm="100000">
                                          <p:val>
                                            <p:strVal val="#ppt_x"/>
                                          </p:val>
                                        </p:tav>
                                      </p:tavLst>
                                    </p:anim>
                                    <p:anim calcmode="lin" valueType="num">
                                      <p:cBhvr additive="base">
                                        <p:cTn id="165" dur="500" fill="hold"/>
                                        <p:tgtEl>
                                          <p:spTgt spid="28"/>
                                        </p:tgtEl>
                                        <p:attrNameLst>
                                          <p:attrName>ppt_y</p:attrName>
                                        </p:attrNameLst>
                                      </p:cBhvr>
                                      <p:tavLst>
                                        <p:tav tm="0">
                                          <p:val>
                                            <p:strVal val="#ppt_y+0.1"/>
                                          </p:val>
                                        </p:tav>
                                        <p:tav tm="100000">
                                          <p:val>
                                            <p:strVal val="#ppt_y"/>
                                          </p:val>
                                        </p:tav>
                                      </p:tavLst>
                                    </p:anim>
                                    <p:animEffect transition="in" filter="fade">
                                      <p:cBhvr>
                                        <p:cTn id="166" dur="500"/>
                                        <p:tgtEl>
                                          <p:spTgt spid="28"/>
                                        </p:tgtEl>
                                      </p:cBhvr>
                                    </p:animEffect>
                                  </p:childTnLst>
                                </p:cTn>
                              </p:par>
                            </p:childTnLst>
                          </p:cTn>
                        </p:par>
                      </p:childTnLst>
                    </p:cTn>
                  </p:par>
                  <p:par>
                    <p:cTn id="168" fill="hold">
                      <p:stCondLst>
                        <p:cond delay="indefinite"/>
                      </p:stCondLst>
                      <p:childTnLst>
                        <p:par>
                          <p:cTn id="169" fill="hold">
                            <p:stCondLst>
                              <p:cond delay="0"/>
                            </p:stCondLst>
                            <p:childTnLst>
                              <p:par>
                                <p:cTn id="174" presetID="2" presetClass="entr" presetSubtype="4" fill="hold" grpId="0" nodeType="clickEffect">
                                  <p:stCondLst>
                                    <p:cond delay="0"/>
                                  </p:stCondLst>
                                  <p:childTnLst>
                                    <p:set>
                                      <p:cBhvr>
                                        <p:cTn id="170" dur="1" fill="hold">
                                          <p:stCondLst>
                                            <p:cond delay="0"/>
                                          </p:stCondLst>
                                        </p:cTn>
                                        <p:tgtEl>
                                          <p:spTgt spid="52"/>
                                        </p:tgtEl>
                                        <p:attrNameLst>
                                          <p:attrName>style.visibility</p:attrName>
                                        </p:attrNameLst>
                                      </p:cBhvr>
                                      <p:to>
                                        <p:strVal val="visible"/>
                                      </p:to>
                                    </p:set>
                                    <p:anim calcmode="lin" valueType="num">
                                      <p:cBhvr additive="base">
                                        <p:cTn id="171" dur="500" fill="hold"/>
                                        <p:tgtEl>
                                          <p:spTgt spid="52"/>
                                        </p:tgtEl>
                                        <p:attrNameLst>
                                          <p:attrName>ppt_x</p:attrName>
                                        </p:attrNameLst>
                                      </p:cBhvr>
                                      <p:tavLst>
                                        <p:tav tm="0">
                                          <p:val>
                                            <p:strVal val="#ppt_x"/>
                                          </p:val>
                                        </p:tav>
                                        <p:tav tm="100000">
                                          <p:val>
                                            <p:strVal val="#ppt_x"/>
                                          </p:val>
                                        </p:tav>
                                      </p:tavLst>
                                    </p:anim>
                                    <p:anim calcmode="lin" valueType="num">
                                      <p:cBhvr additive="base">
                                        <p:cTn id="172" dur="500" fill="hold"/>
                                        <p:tgtEl>
                                          <p:spTgt spid="52"/>
                                        </p:tgtEl>
                                        <p:attrNameLst>
                                          <p:attrName>ppt_y</p:attrName>
                                        </p:attrNameLst>
                                      </p:cBhvr>
                                      <p:tavLst>
                                        <p:tav tm="0">
                                          <p:val>
                                            <p:strVal val="#ppt_y+0.1"/>
                                          </p:val>
                                        </p:tav>
                                        <p:tav tm="100000">
                                          <p:val>
                                            <p:strVal val="#ppt_y"/>
                                          </p:val>
                                        </p:tav>
                                      </p:tavLst>
                                    </p:anim>
                                    <p:animEffect transition="in" filter="fade">
                                      <p:cBhvr>
                                        <p:cTn id="173" dur="500"/>
                                        <p:tgtEl>
                                          <p:spTgt spid="52"/>
                                        </p:tgtEl>
                                      </p:cBhvr>
                                    </p:animEffect>
                                  </p:childTnLst>
                                </p:cTn>
                              </p:par>
                              <p:par>
                                <p:cTn id="179" presetID="2" presetClass="entr" presetSubtype="4" fill="hold" grpId="0" nodeType="withEffect">
                                  <p:stCondLst>
                                    <p:cond delay="0"/>
                                  </p:stCondLst>
                                  <p:childTnLst>
                                    <p:set>
                                      <p:cBhvr>
                                        <p:cTn id="175" dur="1" fill="hold">
                                          <p:stCondLst>
                                            <p:cond delay="0"/>
                                          </p:stCondLst>
                                        </p:cTn>
                                        <p:tgtEl>
                                          <p:spTgt spid="53"/>
                                        </p:tgtEl>
                                        <p:attrNameLst>
                                          <p:attrName>style.visibility</p:attrName>
                                        </p:attrNameLst>
                                      </p:cBhvr>
                                      <p:to>
                                        <p:strVal val="visible"/>
                                      </p:to>
                                    </p:set>
                                    <p:anim calcmode="lin" valueType="num">
                                      <p:cBhvr additive="base">
                                        <p:cTn id="176" dur="500" fill="hold"/>
                                        <p:tgtEl>
                                          <p:spTgt spid="53"/>
                                        </p:tgtEl>
                                        <p:attrNameLst>
                                          <p:attrName>ppt_x</p:attrName>
                                        </p:attrNameLst>
                                      </p:cBhvr>
                                      <p:tavLst>
                                        <p:tav tm="0">
                                          <p:val>
                                            <p:strVal val="#ppt_x"/>
                                          </p:val>
                                        </p:tav>
                                        <p:tav tm="100000">
                                          <p:val>
                                            <p:strVal val="#ppt_x"/>
                                          </p:val>
                                        </p:tav>
                                      </p:tavLst>
                                    </p:anim>
                                    <p:anim calcmode="lin" valueType="num">
                                      <p:cBhvr additive="base">
                                        <p:cTn id="177" dur="500" fill="hold"/>
                                        <p:tgtEl>
                                          <p:spTgt spid="53"/>
                                        </p:tgtEl>
                                        <p:attrNameLst>
                                          <p:attrName>ppt_y</p:attrName>
                                        </p:attrNameLst>
                                      </p:cBhvr>
                                      <p:tavLst>
                                        <p:tav tm="0">
                                          <p:val>
                                            <p:strVal val="#ppt_y+0.1"/>
                                          </p:val>
                                        </p:tav>
                                        <p:tav tm="100000">
                                          <p:val>
                                            <p:strVal val="#ppt_y"/>
                                          </p:val>
                                        </p:tav>
                                      </p:tavLst>
                                    </p:anim>
                                    <p:animEffect transition="in" filter="fade">
                                      <p:cBhvr>
                                        <p:cTn id="178" dur="500"/>
                                        <p:tgtEl>
                                          <p:spTgt spid="53"/>
                                        </p:tgtEl>
                                      </p:cBhvr>
                                    </p:animEffect>
                                  </p:childTnLst>
                                </p:cTn>
                              </p:par>
                              <p:par>
                                <p:cTn id="184" presetID="2" presetClass="entr" presetSubtype="4" fill="hold" grpId="0" nodeType="withEffect">
                                  <p:stCondLst>
                                    <p:cond delay="0"/>
                                  </p:stCondLst>
                                  <p:childTnLst>
                                    <p:set>
                                      <p:cBhvr>
                                        <p:cTn id="180" dur="1" fill="hold">
                                          <p:stCondLst>
                                            <p:cond delay="0"/>
                                          </p:stCondLst>
                                        </p:cTn>
                                        <p:tgtEl>
                                          <p:spTgt spid="54"/>
                                        </p:tgtEl>
                                        <p:attrNameLst>
                                          <p:attrName>style.visibility</p:attrName>
                                        </p:attrNameLst>
                                      </p:cBhvr>
                                      <p:to>
                                        <p:strVal val="visible"/>
                                      </p:to>
                                    </p:set>
                                    <p:anim calcmode="lin" valueType="num">
                                      <p:cBhvr additive="base">
                                        <p:cTn id="181" dur="500" fill="hold"/>
                                        <p:tgtEl>
                                          <p:spTgt spid="54"/>
                                        </p:tgtEl>
                                        <p:attrNameLst>
                                          <p:attrName>ppt_x</p:attrName>
                                        </p:attrNameLst>
                                      </p:cBhvr>
                                      <p:tavLst>
                                        <p:tav tm="0">
                                          <p:val>
                                            <p:strVal val="#ppt_x"/>
                                          </p:val>
                                        </p:tav>
                                        <p:tav tm="100000">
                                          <p:val>
                                            <p:strVal val="#ppt_x"/>
                                          </p:val>
                                        </p:tav>
                                      </p:tavLst>
                                    </p:anim>
                                    <p:anim calcmode="lin" valueType="num">
                                      <p:cBhvr additive="base">
                                        <p:cTn id="182" dur="500" fill="hold"/>
                                        <p:tgtEl>
                                          <p:spTgt spid="54"/>
                                        </p:tgtEl>
                                        <p:attrNameLst>
                                          <p:attrName>ppt_y</p:attrName>
                                        </p:attrNameLst>
                                      </p:cBhvr>
                                      <p:tavLst>
                                        <p:tav tm="0">
                                          <p:val>
                                            <p:strVal val="#ppt_y+0.1"/>
                                          </p:val>
                                        </p:tav>
                                        <p:tav tm="100000">
                                          <p:val>
                                            <p:strVal val="#ppt_y"/>
                                          </p:val>
                                        </p:tav>
                                      </p:tavLst>
                                    </p:anim>
                                    <p:animEffect transition="in" filter="fade">
                                      <p:cBhvr>
                                        <p:cTn id="183"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Kafka Connect: Two Things at Once</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An ecosystem of pluggable connectors - and the client application that runs them</a:t>
            </a:r>
          </a:p>
        </p:txBody>
      </p:sp>
      <p:sp>
        <p:nvSpPr>
          <p:cNvPr id="11" name="a1u_card10"/>
          <p:cNvSpPr/>
          <p:nvPr/>
        </p:nvSpPr>
        <p:spPr>
          <a:xfrm>
            <a:off x="457200" y="1280160"/>
            <a:ext cx="4023360" cy="2395728"/>
          </a:xfrm>
          <a:prstGeom prst="roundRect">
            <a:avLst>
              <a:gd name="adj" fmla="val 458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80160"/>
            <a:ext cx="50292" cy="2395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hh12"/>
          <p:cNvSpPr txBox="1"/>
          <p:nvPr/>
        </p:nvSpPr>
        <p:spPr>
          <a:xfrm>
            <a:off x="658368" y="1389888"/>
            <a:ext cx="3657600" cy="237744"/>
          </a:xfrm>
          <a:prstGeom prst="rect">
            <a:avLst/>
          </a:prstGeom>
          <a:noFill/>
        </p:spPr>
        <p:txBody>
          <a:bodyPr wrap="square" lIns="0" tIns="0" rIns="0" bIns="0" anchor="ctr">
            <a:spAutoFit/>
          </a:bodyPr>
          <a:lstStyle/>
          <a:p>
            <a:pPr algn="l"/>
            <a:r>
              <a:rPr sz="900" b="1">
                <a:solidFill>
                  <a:srgbClr val="EA580C"/>
                </a:solidFill>
                <a:latin typeface="Segoe UI"/>
              </a:rPr>
              <a:t>AN ECOSYSTEM OF CONNECTORS</a:t>
            </a:r>
          </a:p>
        </p:txBody>
      </p:sp>
      <p:sp>
        <p:nvSpPr>
          <p:cNvPr id="14" name="a1ud80_dot13"/>
          <p:cNvSpPr/>
          <p:nvPr/>
        </p:nvSpPr>
        <p:spPr>
          <a:xfrm>
            <a:off x="658368" y="1815084"/>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ud80_b14"/>
          <p:cNvSpPr txBox="1"/>
          <p:nvPr/>
        </p:nvSpPr>
        <p:spPr>
          <a:xfrm>
            <a:off x="877824" y="1719072"/>
            <a:ext cx="3401568" cy="329184"/>
          </a:xfrm>
          <a:prstGeom prst="rect">
            <a:avLst/>
          </a:prstGeom>
          <a:noFill/>
        </p:spPr>
        <p:txBody>
          <a:bodyPr wrap="square" lIns="0" tIns="0" rIns="0" bIns="0" anchor="t">
            <a:spAutoFit/>
          </a:bodyPr>
          <a:lstStyle/>
          <a:p>
            <a:pPr algn="l"/>
            <a:r>
              <a:rPr sz="950" b="1">
                <a:solidFill>
                  <a:srgbClr val="1C1917"/>
                </a:solidFill>
                <a:latin typeface="Segoe UI"/>
              </a:rPr>
              <a:t>Drop in  </a:t>
            </a:r>
            <a:r>
              <a:rPr sz="950" b="0">
                <a:solidFill>
                  <a:srgbClr val="44403C"/>
                </a:solidFill>
                <a:latin typeface="Segoe UI"/>
              </a:rPr>
              <a:t>a connector plugin</a:t>
            </a:r>
          </a:p>
        </p:txBody>
      </p:sp>
      <p:sp>
        <p:nvSpPr>
          <p:cNvPr id="16" name="a1ud180_dot15"/>
          <p:cNvSpPr/>
          <p:nvPr/>
        </p:nvSpPr>
        <p:spPr>
          <a:xfrm>
            <a:off x="658368" y="2180844"/>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180_b16"/>
          <p:cNvSpPr txBox="1"/>
          <p:nvPr/>
        </p:nvSpPr>
        <p:spPr>
          <a:xfrm>
            <a:off x="877824" y="2084831"/>
            <a:ext cx="3401568" cy="329184"/>
          </a:xfrm>
          <a:prstGeom prst="rect">
            <a:avLst/>
          </a:prstGeom>
          <a:noFill/>
        </p:spPr>
        <p:txBody>
          <a:bodyPr wrap="square" lIns="0" tIns="0" rIns="0" bIns="0" anchor="t">
            <a:spAutoFit/>
          </a:bodyPr>
          <a:lstStyle/>
          <a:p>
            <a:pPr algn="l"/>
            <a:r>
              <a:rPr sz="950" b="1">
                <a:solidFill>
                  <a:srgbClr val="1C1917"/>
                </a:solidFill>
                <a:latin typeface="Segoe UI"/>
              </a:rPr>
              <a:t>Configure  </a:t>
            </a:r>
            <a:r>
              <a:rPr sz="950" b="0">
                <a:solidFill>
                  <a:srgbClr val="44403C"/>
                </a:solidFill>
                <a:latin typeface="Segoe UI"/>
              </a:rPr>
              <a:t>it declaratively - JSON, no code</a:t>
            </a:r>
          </a:p>
        </p:txBody>
      </p:sp>
      <p:sp>
        <p:nvSpPr>
          <p:cNvPr id="18" name="a1ud280_dot17"/>
          <p:cNvSpPr/>
          <p:nvPr/>
        </p:nvSpPr>
        <p:spPr>
          <a:xfrm>
            <a:off x="658368" y="2546603"/>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ud280_b18"/>
          <p:cNvSpPr txBox="1"/>
          <p:nvPr/>
        </p:nvSpPr>
        <p:spPr>
          <a:xfrm>
            <a:off x="877824" y="2450591"/>
            <a:ext cx="3401568" cy="329184"/>
          </a:xfrm>
          <a:prstGeom prst="rect">
            <a:avLst/>
          </a:prstGeom>
          <a:noFill/>
        </p:spPr>
        <p:txBody>
          <a:bodyPr wrap="square" lIns="0" tIns="0" rIns="0" bIns="0" anchor="t">
            <a:spAutoFit/>
          </a:bodyPr>
          <a:lstStyle/>
          <a:p>
            <a:pPr algn="l"/>
            <a:r>
              <a:rPr sz="950" b="1">
                <a:solidFill>
                  <a:srgbClr val="1C1917"/>
                </a:solidFill>
                <a:latin typeface="Segoe UI"/>
              </a:rPr>
              <a:t>Run  </a:t>
            </a:r>
            <a:r>
              <a:rPr sz="950" b="0">
                <a:solidFill>
                  <a:srgbClr val="44403C"/>
                </a:solidFill>
                <a:latin typeface="Segoe UI"/>
              </a:rPr>
              <a:t>it - and the data flows</a:t>
            </a:r>
          </a:p>
        </p:txBody>
      </p:sp>
      <p:sp>
        <p:nvSpPr>
          <p:cNvPr id="20" name="a1ud400_pill19"/>
          <p:cNvSpPr/>
          <p:nvPr/>
        </p:nvSpPr>
        <p:spPr>
          <a:xfrm>
            <a:off x="658368" y="2852928"/>
            <a:ext cx="566928" cy="274320"/>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00" b="1">
                <a:solidFill>
                  <a:srgbClr val="C2410C"/>
                </a:solidFill>
                <a:latin typeface="Consolas"/>
              </a:rPr>
              <a:t>JDBC</a:t>
            </a:r>
          </a:p>
        </p:txBody>
      </p:sp>
      <p:sp>
        <p:nvSpPr>
          <p:cNvPr id="21" name="a1ud490_pill20"/>
          <p:cNvSpPr/>
          <p:nvPr/>
        </p:nvSpPr>
        <p:spPr>
          <a:xfrm>
            <a:off x="1280160" y="2852928"/>
            <a:ext cx="566928" cy="274320"/>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00" b="1">
                <a:solidFill>
                  <a:srgbClr val="C2410C"/>
                </a:solidFill>
                <a:latin typeface="Consolas"/>
              </a:rPr>
              <a:t>Debezium</a:t>
            </a:r>
          </a:p>
        </p:txBody>
      </p:sp>
      <p:sp>
        <p:nvSpPr>
          <p:cNvPr id="22" name="a1ud580_pill21"/>
          <p:cNvSpPr/>
          <p:nvPr/>
        </p:nvSpPr>
        <p:spPr>
          <a:xfrm>
            <a:off x="1901952" y="2852928"/>
            <a:ext cx="566928" cy="274320"/>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00" b="1">
                <a:solidFill>
                  <a:srgbClr val="C2410C"/>
                </a:solidFill>
                <a:latin typeface="Consolas"/>
              </a:rPr>
              <a:t>Elastic</a:t>
            </a:r>
          </a:p>
        </p:txBody>
      </p:sp>
      <p:sp>
        <p:nvSpPr>
          <p:cNvPr id="23" name="a1ud670_pill22"/>
          <p:cNvSpPr/>
          <p:nvPr/>
        </p:nvSpPr>
        <p:spPr>
          <a:xfrm>
            <a:off x="2523744" y="2852928"/>
            <a:ext cx="566928" cy="274320"/>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00" b="1">
                <a:solidFill>
                  <a:srgbClr val="C2410C"/>
                </a:solidFill>
                <a:latin typeface="Consolas"/>
              </a:rPr>
              <a:t>S3</a:t>
            </a:r>
          </a:p>
        </p:txBody>
      </p:sp>
      <p:sp>
        <p:nvSpPr>
          <p:cNvPr id="24" name="a1ud760_pill23"/>
          <p:cNvSpPr/>
          <p:nvPr/>
        </p:nvSpPr>
        <p:spPr>
          <a:xfrm>
            <a:off x="3145535" y="2852928"/>
            <a:ext cx="566928" cy="274320"/>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00" b="1">
                <a:solidFill>
                  <a:srgbClr val="C2410C"/>
                </a:solidFill>
                <a:latin typeface="Consolas"/>
              </a:rPr>
              <a:t>HTTP</a:t>
            </a:r>
          </a:p>
        </p:txBody>
      </p:sp>
      <p:sp>
        <p:nvSpPr>
          <p:cNvPr id="25" name="a1ud850_pill24"/>
          <p:cNvSpPr/>
          <p:nvPr/>
        </p:nvSpPr>
        <p:spPr>
          <a:xfrm>
            <a:off x="3767327" y="2852928"/>
            <a:ext cx="566928" cy="274320"/>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00" b="1">
                <a:solidFill>
                  <a:srgbClr val="C2410C"/>
                </a:solidFill>
                <a:latin typeface="Consolas"/>
              </a:rPr>
              <a:t>File</a:t>
            </a:r>
          </a:p>
        </p:txBody>
      </p:sp>
      <p:sp>
        <p:nvSpPr>
          <p:cNvPr id="26" name="a1ud600_more25"/>
          <p:cNvSpPr txBox="1"/>
          <p:nvPr/>
        </p:nvSpPr>
        <p:spPr>
          <a:xfrm>
            <a:off x="658368" y="3218688"/>
            <a:ext cx="3657600" cy="365760"/>
          </a:xfrm>
          <a:prstGeom prst="rect">
            <a:avLst/>
          </a:prstGeom>
          <a:noFill/>
        </p:spPr>
        <p:txBody>
          <a:bodyPr wrap="square" lIns="0" tIns="0" rIns="0" bIns="0" anchor="ctr">
            <a:spAutoFit/>
          </a:bodyPr>
          <a:lstStyle/>
          <a:p>
            <a:pPr algn="l"/>
            <a:r>
              <a:rPr sz="850" b="0">
                <a:solidFill>
                  <a:srgbClr val="78716C"/>
                </a:solidFill>
                <a:latin typeface="Segoe UI"/>
              </a:rPr>
              <a:t>...and thousands more</a:t>
            </a:r>
          </a:p>
        </p:txBody>
      </p:sp>
      <p:sp>
        <p:nvSpPr>
          <p:cNvPr id="27" name="a2u_card26"/>
          <p:cNvSpPr/>
          <p:nvPr/>
        </p:nvSpPr>
        <p:spPr>
          <a:xfrm>
            <a:off x="4663440" y="1280160"/>
            <a:ext cx="4023360" cy="2395728"/>
          </a:xfrm>
          <a:prstGeom prst="roundRect">
            <a:avLst>
              <a:gd name="adj" fmla="val 458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2u_acc27"/>
          <p:cNvSpPr/>
          <p:nvPr/>
        </p:nvSpPr>
        <p:spPr>
          <a:xfrm>
            <a:off x="4663440" y="1280160"/>
            <a:ext cx="50292" cy="239572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2u_hh28"/>
          <p:cNvSpPr txBox="1"/>
          <p:nvPr/>
        </p:nvSpPr>
        <p:spPr>
          <a:xfrm>
            <a:off x="4864607" y="1389888"/>
            <a:ext cx="3657600" cy="237744"/>
          </a:xfrm>
          <a:prstGeom prst="rect">
            <a:avLst/>
          </a:prstGeom>
          <a:noFill/>
        </p:spPr>
        <p:txBody>
          <a:bodyPr wrap="square" lIns="0" tIns="0" rIns="0" bIns="0" anchor="ctr">
            <a:spAutoFit/>
          </a:bodyPr>
          <a:lstStyle/>
          <a:p>
            <a:pPr algn="l"/>
            <a:r>
              <a:rPr sz="900" b="1">
                <a:solidFill>
                  <a:srgbClr val="0E7490"/>
                </a:solidFill>
                <a:latin typeface="Segoe UI"/>
              </a:rPr>
              <a:t>A CLIENT APPLICATION</a:t>
            </a:r>
          </a:p>
        </p:txBody>
      </p:sp>
      <p:sp>
        <p:nvSpPr>
          <p:cNvPr id="30" name="a2ud80_dot29"/>
          <p:cNvSpPr/>
          <p:nvPr/>
        </p:nvSpPr>
        <p:spPr>
          <a:xfrm>
            <a:off x="4864607" y="1815084"/>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2ud80_b30"/>
          <p:cNvSpPr txBox="1"/>
          <p:nvPr/>
        </p:nvSpPr>
        <p:spPr>
          <a:xfrm>
            <a:off x="5084064" y="1719072"/>
            <a:ext cx="3401568" cy="329184"/>
          </a:xfrm>
          <a:prstGeom prst="rect">
            <a:avLst/>
          </a:prstGeom>
          <a:noFill/>
        </p:spPr>
        <p:txBody>
          <a:bodyPr wrap="square" lIns="0" tIns="0" rIns="0" bIns="0" anchor="t">
            <a:spAutoFit/>
          </a:bodyPr>
          <a:lstStyle/>
          <a:p>
            <a:pPr algn="l"/>
            <a:r>
              <a:rPr sz="950" b="1">
                <a:solidFill>
                  <a:srgbClr val="1C1917"/>
                </a:solidFill>
                <a:latin typeface="Segoe UI"/>
              </a:rPr>
              <a:t>Outside  </a:t>
            </a:r>
            <a:r>
              <a:rPr sz="950" b="0">
                <a:solidFill>
                  <a:srgbClr val="44403C"/>
                </a:solidFill>
                <a:latin typeface="Segoe UI"/>
              </a:rPr>
              <a:t>the brokers - its own processes</a:t>
            </a:r>
          </a:p>
        </p:txBody>
      </p:sp>
      <p:sp>
        <p:nvSpPr>
          <p:cNvPr id="32" name="a2ud180_dot31"/>
          <p:cNvSpPr/>
          <p:nvPr/>
        </p:nvSpPr>
        <p:spPr>
          <a:xfrm>
            <a:off x="4864607" y="2180844"/>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2ud180_b32"/>
          <p:cNvSpPr txBox="1"/>
          <p:nvPr/>
        </p:nvSpPr>
        <p:spPr>
          <a:xfrm>
            <a:off x="5084064" y="2084831"/>
            <a:ext cx="3401568" cy="329184"/>
          </a:xfrm>
          <a:prstGeom prst="rect">
            <a:avLst/>
          </a:prstGeom>
          <a:noFill/>
        </p:spPr>
        <p:txBody>
          <a:bodyPr wrap="square" lIns="0" tIns="0" rIns="0" bIns="0" anchor="t">
            <a:spAutoFit/>
          </a:bodyPr>
          <a:lstStyle/>
          <a:p>
            <a:pPr algn="l"/>
            <a:r>
              <a:rPr sz="950" b="1">
                <a:solidFill>
                  <a:srgbClr val="1C1917"/>
                </a:solidFill>
                <a:latin typeface="Segoe UI"/>
              </a:rPr>
              <a:t>Producer  </a:t>
            </a:r>
            <a:r>
              <a:rPr sz="950" b="0">
                <a:solidFill>
                  <a:srgbClr val="44403C"/>
                </a:solidFill>
                <a:latin typeface="Segoe UI"/>
              </a:rPr>
              <a:t>for source connectors, consumer for sinks</a:t>
            </a:r>
          </a:p>
        </p:txBody>
      </p:sp>
      <p:sp>
        <p:nvSpPr>
          <p:cNvPr id="34" name="a2ud280_dot33"/>
          <p:cNvSpPr/>
          <p:nvPr/>
        </p:nvSpPr>
        <p:spPr>
          <a:xfrm>
            <a:off x="4864607" y="2546603"/>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2ud280_b34"/>
          <p:cNvSpPr txBox="1"/>
          <p:nvPr/>
        </p:nvSpPr>
        <p:spPr>
          <a:xfrm>
            <a:off x="5084064" y="2450591"/>
            <a:ext cx="3401568" cy="329184"/>
          </a:xfrm>
          <a:prstGeom prst="rect">
            <a:avLst/>
          </a:prstGeom>
          <a:noFill/>
        </p:spPr>
        <p:txBody>
          <a:bodyPr wrap="square" lIns="0" tIns="0" rIns="0" bIns="0" anchor="t">
            <a:spAutoFit/>
          </a:bodyPr>
          <a:lstStyle/>
          <a:p>
            <a:pPr algn="l"/>
            <a:r>
              <a:rPr sz="950" b="1">
                <a:solidFill>
                  <a:srgbClr val="1C1917"/>
                </a:solidFill>
                <a:latin typeface="Segoe UI"/>
              </a:rPr>
              <a:t>Distributed  </a:t>
            </a:r>
            <a:r>
              <a:rPr sz="950" b="0">
                <a:solidFill>
                  <a:srgbClr val="44403C"/>
                </a:solidFill>
                <a:latin typeface="Segoe UI"/>
              </a:rPr>
              <a:t>workers share the load and fail over</a:t>
            </a:r>
          </a:p>
        </p:txBody>
      </p:sp>
      <p:sp>
        <p:nvSpPr>
          <p:cNvPr id="36" name="a2ud400_nd35"/>
          <p:cNvSpPr/>
          <p:nvPr/>
        </p:nvSpPr>
        <p:spPr>
          <a:xfrm>
            <a:off x="4864608" y="2852928"/>
            <a:ext cx="1097280" cy="548640"/>
          </a:xfrm>
          <a:prstGeom prst="roundRect">
            <a:avLst>
              <a:gd name="adj" fmla="val 13333"/>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2ud400_ndt36"/>
          <p:cNvSpPr txBox="1"/>
          <p:nvPr/>
        </p:nvSpPr>
        <p:spPr>
          <a:xfrm>
            <a:off x="4910328" y="2889504"/>
            <a:ext cx="1005839" cy="256031"/>
          </a:xfrm>
          <a:prstGeom prst="rect">
            <a:avLst/>
          </a:prstGeom>
          <a:noFill/>
        </p:spPr>
        <p:txBody>
          <a:bodyPr wrap="square" lIns="0" tIns="0" rIns="0" bIns="0" anchor="b">
            <a:spAutoFit/>
          </a:bodyPr>
          <a:lstStyle/>
          <a:p>
            <a:pPr algn="ctr"/>
            <a:r>
              <a:rPr sz="850" b="1">
                <a:solidFill>
                  <a:srgbClr val="1C1917"/>
                </a:solidFill>
                <a:latin typeface="Segoe UI"/>
              </a:rPr>
              <a:t>worker 1</a:t>
            </a:r>
          </a:p>
        </p:txBody>
      </p:sp>
      <p:sp>
        <p:nvSpPr>
          <p:cNvPr id="38" name="a2ud400_nds37"/>
          <p:cNvSpPr txBox="1"/>
          <p:nvPr/>
        </p:nvSpPr>
        <p:spPr>
          <a:xfrm>
            <a:off x="4910328" y="3154679"/>
            <a:ext cx="1005839" cy="210311"/>
          </a:xfrm>
          <a:prstGeom prst="rect">
            <a:avLst/>
          </a:prstGeom>
          <a:noFill/>
        </p:spPr>
        <p:txBody>
          <a:bodyPr wrap="square" lIns="0" tIns="0" rIns="0" bIns="0" anchor="t">
            <a:spAutoFit/>
          </a:bodyPr>
          <a:lstStyle/>
          <a:p>
            <a:pPr algn="ctr"/>
            <a:r>
              <a:rPr sz="750" b="0">
                <a:solidFill>
                  <a:srgbClr val="0E7490"/>
                </a:solidFill>
                <a:latin typeface="Segoe UI"/>
              </a:rPr>
              <a:t>connect</a:t>
            </a:r>
          </a:p>
        </p:txBody>
      </p:sp>
      <p:sp>
        <p:nvSpPr>
          <p:cNvPr id="39" name="a2ud500_nd38"/>
          <p:cNvSpPr/>
          <p:nvPr/>
        </p:nvSpPr>
        <p:spPr>
          <a:xfrm>
            <a:off x="6117336" y="2852928"/>
            <a:ext cx="1097280" cy="548640"/>
          </a:xfrm>
          <a:prstGeom prst="roundRect">
            <a:avLst>
              <a:gd name="adj" fmla="val 13333"/>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2ud500_ndt39"/>
          <p:cNvSpPr txBox="1"/>
          <p:nvPr/>
        </p:nvSpPr>
        <p:spPr>
          <a:xfrm>
            <a:off x="6163056" y="2889504"/>
            <a:ext cx="1005839" cy="256031"/>
          </a:xfrm>
          <a:prstGeom prst="rect">
            <a:avLst/>
          </a:prstGeom>
          <a:noFill/>
        </p:spPr>
        <p:txBody>
          <a:bodyPr wrap="square" lIns="0" tIns="0" rIns="0" bIns="0" anchor="b">
            <a:spAutoFit/>
          </a:bodyPr>
          <a:lstStyle/>
          <a:p>
            <a:pPr algn="ctr"/>
            <a:r>
              <a:rPr sz="850" b="1">
                <a:solidFill>
                  <a:srgbClr val="1C1917"/>
                </a:solidFill>
                <a:latin typeface="Segoe UI"/>
              </a:rPr>
              <a:t>worker 2</a:t>
            </a:r>
          </a:p>
        </p:txBody>
      </p:sp>
      <p:sp>
        <p:nvSpPr>
          <p:cNvPr id="41" name="a2ud500_nds40"/>
          <p:cNvSpPr txBox="1"/>
          <p:nvPr/>
        </p:nvSpPr>
        <p:spPr>
          <a:xfrm>
            <a:off x="6163056" y="3154679"/>
            <a:ext cx="1005839" cy="210311"/>
          </a:xfrm>
          <a:prstGeom prst="rect">
            <a:avLst/>
          </a:prstGeom>
          <a:noFill/>
        </p:spPr>
        <p:txBody>
          <a:bodyPr wrap="square" lIns="0" tIns="0" rIns="0" bIns="0" anchor="t">
            <a:spAutoFit/>
          </a:bodyPr>
          <a:lstStyle/>
          <a:p>
            <a:pPr algn="ctr"/>
            <a:r>
              <a:rPr sz="750" b="0">
                <a:solidFill>
                  <a:srgbClr val="0E7490"/>
                </a:solidFill>
                <a:latin typeface="Segoe UI"/>
              </a:rPr>
              <a:t>connect</a:t>
            </a:r>
          </a:p>
        </p:txBody>
      </p:sp>
      <p:sp>
        <p:nvSpPr>
          <p:cNvPr id="42" name="a2ud600_nd41"/>
          <p:cNvSpPr/>
          <p:nvPr/>
        </p:nvSpPr>
        <p:spPr>
          <a:xfrm>
            <a:off x="7370064" y="2852928"/>
            <a:ext cx="1097280" cy="548640"/>
          </a:xfrm>
          <a:prstGeom prst="roundRect">
            <a:avLst>
              <a:gd name="adj" fmla="val 13333"/>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2ud600_ndt42"/>
          <p:cNvSpPr txBox="1"/>
          <p:nvPr/>
        </p:nvSpPr>
        <p:spPr>
          <a:xfrm>
            <a:off x="7415784" y="2889504"/>
            <a:ext cx="1005839" cy="256031"/>
          </a:xfrm>
          <a:prstGeom prst="rect">
            <a:avLst/>
          </a:prstGeom>
          <a:noFill/>
        </p:spPr>
        <p:txBody>
          <a:bodyPr wrap="square" lIns="0" tIns="0" rIns="0" bIns="0" anchor="b">
            <a:spAutoFit/>
          </a:bodyPr>
          <a:lstStyle/>
          <a:p>
            <a:pPr algn="ctr"/>
            <a:r>
              <a:rPr sz="850" b="1">
                <a:solidFill>
                  <a:srgbClr val="1C1917"/>
                </a:solidFill>
                <a:latin typeface="Segoe UI"/>
              </a:rPr>
              <a:t>worker 3</a:t>
            </a:r>
          </a:p>
        </p:txBody>
      </p:sp>
      <p:sp>
        <p:nvSpPr>
          <p:cNvPr id="44" name="a2ud600_nds43"/>
          <p:cNvSpPr txBox="1"/>
          <p:nvPr/>
        </p:nvSpPr>
        <p:spPr>
          <a:xfrm>
            <a:off x="7415784" y="3154679"/>
            <a:ext cx="1005839" cy="210311"/>
          </a:xfrm>
          <a:prstGeom prst="rect">
            <a:avLst/>
          </a:prstGeom>
          <a:noFill/>
        </p:spPr>
        <p:txBody>
          <a:bodyPr wrap="square" lIns="0" tIns="0" rIns="0" bIns="0" anchor="t">
            <a:spAutoFit/>
          </a:bodyPr>
          <a:lstStyle/>
          <a:p>
            <a:pPr algn="ctr"/>
            <a:r>
              <a:rPr sz="750" b="0">
                <a:solidFill>
                  <a:srgbClr val="0E7490"/>
                </a:solidFill>
                <a:latin typeface="Segoe UI"/>
              </a:rPr>
              <a:t>connect</a:t>
            </a:r>
          </a:p>
        </p:txBody>
      </p:sp>
      <p:sp>
        <p:nvSpPr>
          <p:cNvPr id="45" name="a3u_nb44"/>
          <p:cNvSpPr/>
          <p:nvPr/>
        </p:nvSpPr>
        <p:spPr>
          <a:xfrm>
            <a:off x="457200" y="3886200"/>
            <a:ext cx="8229600" cy="566928"/>
          </a:xfrm>
          <a:prstGeom prst="roundRect">
            <a:avLst>
              <a:gd name="adj" fmla="val 12903"/>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3u_nacc45"/>
          <p:cNvSpPr/>
          <p:nvPr/>
        </p:nvSpPr>
        <p:spPr>
          <a:xfrm>
            <a:off x="457200" y="3886200"/>
            <a:ext cx="54864" cy="56692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3u_nt46"/>
          <p:cNvSpPr txBox="1"/>
          <p:nvPr/>
        </p:nvSpPr>
        <p:spPr>
          <a:xfrm>
            <a:off x="658368" y="3886200"/>
            <a:ext cx="7827264" cy="566928"/>
          </a:xfrm>
          <a:prstGeom prst="rect">
            <a:avLst/>
          </a:prstGeom>
          <a:noFill/>
        </p:spPr>
        <p:txBody>
          <a:bodyPr wrap="square" lIns="0" tIns="0" rIns="0" bIns="0" anchor="ctr">
            <a:spAutoFit/>
          </a:bodyPr>
          <a:lstStyle/>
          <a:p>
            <a:pPr algn="l"/>
            <a:r>
              <a:rPr sz="950" b="1">
                <a:solidFill>
                  <a:srgbClr val="0E7490"/>
                </a:solidFill>
                <a:latin typeface="Segoe UI"/>
              </a:rPr>
              <a:t>KEY  </a:t>
            </a:r>
            <a:r>
              <a:rPr sz="950" b="0">
                <a:solidFill>
                  <a:srgbClr val="44403C"/>
                </a:solidFill>
                <a:latin typeface="Segoe UI"/>
              </a:rPr>
              <a:t>Everything that is not a broker is a producer or a consumer - and Connect is no exception.</a:t>
            </a:r>
          </a:p>
        </p:txBody>
      </p:sp>
      <p:sp>
        <p:nvSpPr>
          <p:cNvPr id="48" name="ft47"/>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03</a:t>
            </a:r>
          </a:p>
        </p:txBody>
      </p:sp>
      <p:sp>
        <p:nvSpPr>
          <p:cNvPr id="49" name="ft48"/>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ft49"/>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Kafka Connect</a:t>
            </a:r>
          </a:p>
        </p:txBody>
      </p:sp>
      <p:sp>
        <p:nvSpPr>
          <p:cNvPr id="51" name="ft50"/>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9</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8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8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18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18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28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28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par>
                                <p:cTn id="54" presetID="2" presetClass="entr" presetSubtype="4" fill="hold" grpId="0" nodeType="withEffect">
                                  <p:stCondLst>
                                    <p:cond delay="40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0.1"/>
                                          </p:val>
                                        </p:tav>
                                        <p:tav tm="100000">
                                          <p:val>
                                            <p:strVal val="#ppt_y"/>
                                          </p:val>
                                        </p:tav>
                                      </p:tavLst>
                                    </p:anim>
                                    <p:animEffect transition="in" filter="fade">
                                      <p:cBhvr>
                                        <p:cTn id="53" dur="500"/>
                                        <p:tgtEl>
                                          <p:spTgt spid="20"/>
                                        </p:tgtEl>
                                      </p:cBhvr>
                                    </p:animEffect>
                                  </p:childTnLst>
                                </p:cTn>
                              </p:par>
                              <p:par>
                                <p:cTn id="59" presetID="2" presetClass="entr" presetSubtype="4" fill="hold" grpId="0" nodeType="withEffect">
                                  <p:stCondLst>
                                    <p:cond delay="490"/>
                                  </p:stCondLst>
                                  <p:childTnLst>
                                    <p:set>
                                      <p:cBhvr>
                                        <p:cTn id="55" dur="1" fill="hold">
                                          <p:stCondLst>
                                            <p:cond delay="0"/>
                                          </p:stCondLst>
                                        </p:cTn>
                                        <p:tgtEl>
                                          <p:spTgt spid="21"/>
                                        </p:tgtEl>
                                        <p:attrNameLst>
                                          <p:attrName>style.visibility</p:attrName>
                                        </p:attrNameLst>
                                      </p:cBhvr>
                                      <p:to>
                                        <p:strVal val="visible"/>
                                      </p:to>
                                    </p:set>
                                    <p:anim calcmode="lin" valueType="num">
                                      <p:cBhvr additive="base">
                                        <p:cTn id="56" dur="500" fill="hold"/>
                                        <p:tgtEl>
                                          <p:spTgt spid="21"/>
                                        </p:tgtEl>
                                        <p:attrNameLst>
                                          <p:attrName>ppt_x</p:attrName>
                                        </p:attrNameLst>
                                      </p:cBhvr>
                                      <p:tavLst>
                                        <p:tav tm="0">
                                          <p:val>
                                            <p:strVal val="#ppt_x"/>
                                          </p:val>
                                        </p:tav>
                                        <p:tav tm="100000">
                                          <p:val>
                                            <p:strVal val="#ppt_x"/>
                                          </p:val>
                                        </p:tav>
                                      </p:tavLst>
                                    </p:anim>
                                    <p:anim calcmode="lin" valueType="num">
                                      <p:cBhvr additive="base">
                                        <p:cTn id="57" dur="500" fill="hold"/>
                                        <p:tgtEl>
                                          <p:spTgt spid="21"/>
                                        </p:tgtEl>
                                        <p:attrNameLst>
                                          <p:attrName>ppt_y</p:attrName>
                                        </p:attrNameLst>
                                      </p:cBhvr>
                                      <p:tavLst>
                                        <p:tav tm="0">
                                          <p:val>
                                            <p:strVal val="#ppt_y+0.1"/>
                                          </p:val>
                                        </p:tav>
                                        <p:tav tm="100000">
                                          <p:val>
                                            <p:strVal val="#ppt_y"/>
                                          </p:val>
                                        </p:tav>
                                      </p:tavLst>
                                    </p:anim>
                                    <p:animEffect transition="in" filter="fade">
                                      <p:cBhvr>
                                        <p:cTn id="58" dur="500"/>
                                        <p:tgtEl>
                                          <p:spTgt spid="21"/>
                                        </p:tgtEl>
                                      </p:cBhvr>
                                    </p:animEffect>
                                  </p:childTnLst>
                                </p:cTn>
                              </p:par>
                              <p:par>
                                <p:cTn id="64" presetID="2" presetClass="entr" presetSubtype="4" fill="hold" grpId="0" nodeType="withEffect">
                                  <p:stCondLst>
                                    <p:cond delay="580"/>
                                  </p:stCondLst>
                                  <p:childTnLst>
                                    <p:set>
                                      <p:cBhvr>
                                        <p:cTn id="60" dur="1" fill="hold">
                                          <p:stCondLst>
                                            <p:cond delay="0"/>
                                          </p:stCondLst>
                                        </p:cTn>
                                        <p:tgtEl>
                                          <p:spTgt spid="22"/>
                                        </p:tgtEl>
                                        <p:attrNameLst>
                                          <p:attrName>style.visibility</p:attrName>
                                        </p:attrNameLst>
                                      </p:cBhvr>
                                      <p:to>
                                        <p:strVal val="visible"/>
                                      </p:to>
                                    </p:set>
                                    <p:anim calcmode="lin" valueType="num">
                                      <p:cBhvr additive="base">
                                        <p:cTn id="61" dur="500" fill="hold"/>
                                        <p:tgtEl>
                                          <p:spTgt spid="22"/>
                                        </p:tgtEl>
                                        <p:attrNameLst>
                                          <p:attrName>ppt_x</p:attrName>
                                        </p:attrNameLst>
                                      </p:cBhvr>
                                      <p:tavLst>
                                        <p:tav tm="0">
                                          <p:val>
                                            <p:strVal val="#ppt_x"/>
                                          </p:val>
                                        </p:tav>
                                        <p:tav tm="100000">
                                          <p:val>
                                            <p:strVal val="#ppt_x"/>
                                          </p:val>
                                        </p:tav>
                                      </p:tavLst>
                                    </p:anim>
                                    <p:anim calcmode="lin" valueType="num">
                                      <p:cBhvr additive="base">
                                        <p:cTn id="62" dur="500" fill="hold"/>
                                        <p:tgtEl>
                                          <p:spTgt spid="22"/>
                                        </p:tgtEl>
                                        <p:attrNameLst>
                                          <p:attrName>ppt_y</p:attrName>
                                        </p:attrNameLst>
                                      </p:cBhvr>
                                      <p:tavLst>
                                        <p:tav tm="0">
                                          <p:val>
                                            <p:strVal val="#ppt_y+0.1"/>
                                          </p:val>
                                        </p:tav>
                                        <p:tav tm="100000">
                                          <p:val>
                                            <p:strVal val="#ppt_y"/>
                                          </p:val>
                                        </p:tav>
                                      </p:tavLst>
                                    </p:anim>
                                    <p:animEffect transition="in" filter="fade">
                                      <p:cBhvr>
                                        <p:cTn id="63" dur="500"/>
                                        <p:tgtEl>
                                          <p:spTgt spid="22"/>
                                        </p:tgtEl>
                                      </p:cBhvr>
                                    </p:animEffect>
                                  </p:childTnLst>
                                </p:cTn>
                              </p:par>
                              <p:par>
                                <p:cTn id="69" presetID="2" presetClass="entr" presetSubtype="4" fill="hold" grpId="0" nodeType="withEffect">
                                  <p:stCondLst>
                                    <p:cond delay="600"/>
                                  </p:stCondLst>
                                  <p:childTnLst>
                                    <p:set>
                                      <p:cBhvr>
                                        <p:cTn id="65" dur="1" fill="hold">
                                          <p:stCondLst>
                                            <p:cond delay="0"/>
                                          </p:stCondLst>
                                        </p:cTn>
                                        <p:tgtEl>
                                          <p:spTgt spid="26"/>
                                        </p:tgtEl>
                                        <p:attrNameLst>
                                          <p:attrName>style.visibility</p:attrName>
                                        </p:attrNameLst>
                                      </p:cBhvr>
                                      <p:to>
                                        <p:strVal val="visible"/>
                                      </p:to>
                                    </p:set>
                                    <p:anim calcmode="lin" valueType="num">
                                      <p:cBhvr additive="base">
                                        <p:cTn id="66" dur="500" fill="hold"/>
                                        <p:tgtEl>
                                          <p:spTgt spid="26"/>
                                        </p:tgtEl>
                                        <p:attrNameLst>
                                          <p:attrName>ppt_x</p:attrName>
                                        </p:attrNameLst>
                                      </p:cBhvr>
                                      <p:tavLst>
                                        <p:tav tm="0">
                                          <p:val>
                                            <p:strVal val="#ppt_x"/>
                                          </p:val>
                                        </p:tav>
                                        <p:tav tm="100000">
                                          <p:val>
                                            <p:strVal val="#ppt_x"/>
                                          </p:val>
                                        </p:tav>
                                      </p:tavLst>
                                    </p:anim>
                                    <p:anim calcmode="lin" valueType="num">
                                      <p:cBhvr additive="base">
                                        <p:cTn id="67" dur="500" fill="hold"/>
                                        <p:tgtEl>
                                          <p:spTgt spid="26"/>
                                        </p:tgtEl>
                                        <p:attrNameLst>
                                          <p:attrName>ppt_y</p:attrName>
                                        </p:attrNameLst>
                                      </p:cBhvr>
                                      <p:tavLst>
                                        <p:tav tm="0">
                                          <p:val>
                                            <p:strVal val="#ppt_y+0.1"/>
                                          </p:val>
                                        </p:tav>
                                        <p:tav tm="100000">
                                          <p:val>
                                            <p:strVal val="#ppt_y"/>
                                          </p:val>
                                        </p:tav>
                                      </p:tavLst>
                                    </p:anim>
                                    <p:animEffect transition="in" filter="fade">
                                      <p:cBhvr>
                                        <p:cTn id="68" dur="500"/>
                                        <p:tgtEl>
                                          <p:spTgt spid="26"/>
                                        </p:tgtEl>
                                      </p:cBhvr>
                                    </p:animEffect>
                                  </p:childTnLst>
                                </p:cTn>
                              </p:par>
                              <p:par>
                                <p:cTn id="74" presetID="2" presetClass="entr" presetSubtype="4" fill="hold" grpId="0" nodeType="withEffect">
                                  <p:stCondLst>
                                    <p:cond delay="670"/>
                                  </p:stCondLst>
                                  <p:childTnLst>
                                    <p:set>
                                      <p:cBhvr>
                                        <p:cTn id="70" dur="1" fill="hold">
                                          <p:stCondLst>
                                            <p:cond delay="0"/>
                                          </p:stCondLst>
                                        </p:cTn>
                                        <p:tgtEl>
                                          <p:spTgt spid="23"/>
                                        </p:tgtEl>
                                        <p:attrNameLst>
                                          <p:attrName>style.visibility</p:attrName>
                                        </p:attrNameLst>
                                      </p:cBhvr>
                                      <p:to>
                                        <p:strVal val="visible"/>
                                      </p:to>
                                    </p:set>
                                    <p:anim calcmode="lin" valueType="num">
                                      <p:cBhvr additive="base">
                                        <p:cTn id="71" dur="500" fill="hold"/>
                                        <p:tgtEl>
                                          <p:spTgt spid="23"/>
                                        </p:tgtEl>
                                        <p:attrNameLst>
                                          <p:attrName>ppt_x</p:attrName>
                                        </p:attrNameLst>
                                      </p:cBhvr>
                                      <p:tavLst>
                                        <p:tav tm="0">
                                          <p:val>
                                            <p:strVal val="#ppt_x"/>
                                          </p:val>
                                        </p:tav>
                                        <p:tav tm="100000">
                                          <p:val>
                                            <p:strVal val="#ppt_x"/>
                                          </p:val>
                                        </p:tav>
                                      </p:tavLst>
                                    </p:anim>
                                    <p:anim calcmode="lin" valueType="num">
                                      <p:cBhvr additive="base">
                                        <p:cTn id="72" dur="500" fill="hold"/>
                                        <p:tgtEl>
                                          <p:spTgt spid="23"/>
                                        </p:tgtEl>
                                        <p:attrNameLst>
                                          <p:attrName>ppt_y</p:attrName>
                                        </p:attrNameLst>
                                      </p:cBhvr>
                                      <p:tavLst>
                                        <p:tav tm="0">
                                          <p:val>
                                            <p:strVal val="#ppt_y+0.1"/>
                                          </p:val>
                                        </p:tav>
                                        <p:tav tm="100000">
                                          <p:val>
                                            <p:strVal val="#ppt_y"/>
                                          </p:val>
                                        </p:tav>
                                      </p:tavLst>
                                    </p:anim>
                                    <p:animEffect transition="in" filter="fade">
                                      <p:cBhvr>
                                        <p:cTn id="73" dur="500"/>
                                        <p:tgtEl>
                                          <p:spTgt spid="23"/>
                                        </p:tgtEl>
                                      </p:cBhvr>
                                    </p:animEffect>
                                  </p:childTnLst>
                                </p:cTn>
                              </p:par>
                              <p:par>
                                <p:cTn id="79" presetID="2" presetClass="entr" presetSubtype="4" fill="hold" grpId="0" nodeType="withEffect">
                                  <p:stCondLst>
                                    <p:cond delay="760"/>
                                  </p:stCondLst>
                                  <p:childTnLst>
                                    <p:set>
                                      <p:cBhvr>
                                        <p:cTn id="75" dur="1" fill="hold">
                                          <p:stCondLst>
                                            <p:cond delay="0"/>
                                          </p:stCondLst>
                                        </p:cTn>
                                        <p:tgtEl>
                                          <p:spTgt spid="24"/>
                                        </p:tgtEl>
                                        <p:attrNameLst>
                                          <p:attrName>style.visibility</p:attrName>
                                        </p:attrNameLst>
                                      </p:cBhvr>
                                      <p:to>
                                        <p:strVal val="visible"/>
                                      </p:to>
                                    </p:set>
                                    <p:anim calcmode="lin" valueType="num">
                                      <p:cBhvr additive="base">
                                        <p:cTn id="76" dur="500" fill="hold"/>
                                        <p:tgtEl>
                                          <p:spTgt spid="24"/>
                                        </p:tgtEl>
                                        <p:attrNameLst>
                                          <p:attrName>ppt_x</p:attrName>
                                        </p:attrNameLst>
                                      </p:cBhvr>
                                      <p:tavLst>
                                        <p:tav tm="0">
                                          <p:val>
                                            <p:strVal val="#ppt_x"/>
                                          </p:val>
                                        </p:tav>
                                        <p:tav tm="100000">
                                          <p:val>
                                            <p:strVal val="#ppt_x"/>
                                          </p:val>
                                        </p:tav>
                                      </p:tavLst>
                                    </p:anim>
                                    <p:anim calcmode="lin" valueType="num">
                                      <p:cBhvr additive="base">
                                        <p:cTn id="77" dur="500" fill="hold"/>
                                        <p:tgtEl>
                                          <p:spTgt spid="24"/>
                                        </p:tgtEl>
                                        <p:attrNameLst>
                                          <p:attrName>ppt_y</p:attrName>
                                        </p:attrNameLst>
                                      </p:cBhvr>
                                      <p:tavLst>
                                        <p:tav tm="0">
                                          <p:val>
                                            <p:strVal val="#ppt_y+0.1"/>
                                          </p:val>
                                        </p:tav>
                                        <p:tav tm="100000">
                                          <p:val>
                                            <p:strVal val="#ppt_y"/>
                                          </p:val>
                                        </p:tav>
                                      </p:tavLst>
                                    </p:anim>
                                    <p:animEffect transition="in" filter="fade">
                                      <p:cBhvr>
                                        <p:cTn id="78" dur="500"/>
                                        <p:tgtEl>
                                          <p:spTgt spid="24"/>
                                        </p:tgtEl>
                                      </p:cBhvr>
                                    </p:animEffect>
                                  </p:childTnLst>
                                </p:cTn>
                              </p:par>
                              <p:par>
                                <p:cTn id="84" presetID="2" presetClass="entr" presetSubtype="4" fill="hold" grpId="0" nodeType="withEffect">
                                  <p:stCondLst>
                                    <p:cond delay="850"/>
                                  </p:stCondLst>
                                  <p:childTnLst>
                                    <p:set>
                                      <p:cBhvr>
                                        <p:cTn id="80" dur="1" fill="hold">
                                          <p:stCondLst>
                                            <p:cond delay="0"/>
                                          </p:stCondLst>
                                        </p:cTn>
                                        <p:tgtEl>
                                          <p:spTgt spid="25"/>
                                        </p:tgtEl>
                                        <p:attrNameLst>
                                          <p:attrName>style.visibility</p:attrName>
                                        </p:attrNameLst>
                                      </p:cBhvr>
                                      <p:to>
                                        <p:strVal val="visible"/>
                                      </p:to>
                                    </p:set>
                                    <p:anim calcmode="lin" valueType="num">
                                      <p:cBhvr additive="base">
                                        <p:cTn id="81" dur="500" fill="hold"/>
                                        <p:tgtEl>
                                          <p:spTgt spid="25"/>
                                        </p:tgtEl>
                                        <p:attrNameLst>
                                          <p:attrName>ppt_x</p:attrName>
                                        </p:attrNameLst>
                                      </p:cBhvr>
                                      <p:tavLst>
                                        <p:tav tm="0">
                                          <p:val>
                                            <p:strVal val="#ppt_x"/>
                                          </p:val>
                                        </p:tav>
                                        <p:tav tm="100000">
                                          <p:val>
                                            <p:strVal val="#ppt_x"/>
                                          </p:val>
                                        </p:tav>
                                      </p:tavLst>
                                    </p:anim>
                                    <p:anim calcmode="lin" valueType="num">
                                      <p:cBhvr additive="base">
                                        <p:cTn id="82" dur="500" fill="hold"/>
                                        <p:tgtEl>
                                          <p:spTgt spid="25"/>
                                        </p:tgtEl>
                                        <p:attrNameLst>
                                          <p:attrName>ppt_y</p:attrName>
                                        </p:attrNameLst>
                                      </p:cBhvr>
                                      <p:tavLst>
                                        <p:tav tm="0">
                                          <p:val>
                                            <p:strVal val="#ppt_y+0.1"/>
                                          </p:val>
                                        </p:tav>
                                        <p:tav tm="100000">
                                          <p:val>
                                            <p:strVal val="#ppt_y"/>
                                          </p:val>
                                        </p:tav>
                                      </p:tavLst>
                                    </p:anim>
                                    <p:animEffect transition="in" filter="fade">
                                      <p:cBhvr>
                                        <p:cTn id="83" dur="500"/>
                                        <p:tgtEl>
                                          <p:spTgt spid="25"/>
                                        </p:tgtEl>
                                      </p:cBhvr>
                                    </p:animEffect>
                                  </p:childTnLst>
                                </p:cTn>
                              </p:par>
                            </p:childTnLst>
                          </p:cTn>
                        </p:par>
                      </p:childTnLst>
                    </p:cTn>
                  </p:par>
                  <p:par>
                    <p:cTn id="85" fill="hold">
                      <p:stCondLst>
                        <p:cond delay="indefinite"/>
                      </p:stCondLst>
                      <p:childTnLst>
                        <p:par>
                          <p:cTn id="86" fill="hold">
                            <p:stCondLst>
                              <p:cond delay="0"/>
                            </p:stCondLst>
                            <p:childTnLst>
                              <p:par>
                                <p:cTn id="91" presetID="2" presetClass="entr" presetSubtype="4" fill="hold" grpId="0" nodeType="clickEffect">
                                  <p:stCondLst>
                                    <p:cond delay="0"/>
                                  </p:stCondLst>
                                  <p:childTnLst>
                                    <p:set>
                                      <p:cBhvr>
                                        <p:cTn id="87" dur="1" fill="hold">
                                          <p:stCondLst>
                                            <p:cond delay="0"/>
                                          </p:stCondLst>
                                        </p:cTn>
                                        <p:tgtEl>
                                          <p:spTgt spid="27"/>
                                        </p:tgtEl>
                                        <p:attrNameLst>
                                          <p:attrName>style.visibility</p:attrName>
                                        </p:attrNameLst>
                                      </p:cBhvr>
                                      <p:to>
                                        <p:strVal val="visible"/>
                                      </p:to>
                                    </p:set>
                                    <p:anim calcmode="lin" valueType="num">
                                      <p:cBhvr additive="base">
                                        <p:cTn id="88" dur="500" fill="hold"/>
                                        <p:tgtEl>
                                          <p:spTgt spid="27"/>
                                        </p:tgtEl>
                                        <p:attrNameLst>
                                          <p:attrName>ppt_x</p:attrName>
                                        </p:attrNameLst>
                                      </p:cBhvr>
                                      <p:tavLst>
                                        <p:tav tm="0">
                                          <p:val>
                                            <p:strVal val="#ppt_x"/>
                                          </p:val>
                                        </p:tav>
                                        <p:tav tm="100000">
                                          <p:val>
                                            <p:strVal val="#ppt_x"/>
                                          </p:val>
                                        </p:tav>
                                      </p:tavLst>
                                    </p:anim>
                                    <p:anim calcmode="lin" valueType="num">
                                      <p:cBhvr additive="base">
                                        <p:cTn id="89" dur="500" fill="hold"/>
                                        <p:tgtEl>
                                          <p:spTgt spid="27"/>
                                        </p:tgtEl>
                                        <p:attrNameLst>
                                          <p:attrName>ppt_y</p:attrName>
                                        </p:attrNameLst>
                                      </p:cBhvr>
                                      <p:tavLst>
                                        <p:tav tm="0">
                                          <p:val>
                                            <p:strVal val="#ppt_y+0.1"/>
                                          </p:val>
                                        </p:tav>
                                        <p:tav tm="100000">
                                          <p:val>
                                            <p:strVal val="#ppt_y"/>
                                          </p:val>
                                        </p:tav>
                                      </p:tavLst>
                                    </p:anim>
                                    <p:animEffect transition="in" filter="fade">
                                      <p:cBhvr>
                                        <p:cTn id="90" dur="500"/>
                                        <p:tgtEl>
                                          <p:spTgt spid="27"/>
                                        </p:tgtEl>
                                      </p:cBhvr>
                                    </p:animEffect>
                                  </p:childTnLst>
                                </p:cTn>
                              </p:par>
                              <p:par>
                                <p:cTn id="96" presetID="2" presetClass="entr" presetSubtype="4" fill="hold" grpId="0" nodeType="withEffect">
                                  <p:stCondLst>
                                    <p:cond delay="0"/>
                                  </p:stCondLst>
                                  <p:childTnLst>
                                    <p:set>
                                      <p:cBhvr>
                                        <p:cTn id="92" dur="1" fill="hold">
                                          <p:stCondLst>
                                            <p:cond delay="0"/>
                                          </p:stCondLst>
                                        </p:cTn>
                                        <p:tgtEl>
                                          <p:spTgt spid="28"/>
                                        </p:tgtEl>
                                        <p:attrNameLst>
                                          <p:attrName>style.visibility</p:attrName>
                                        </p:attrNameLst>
                                      </p:cBhvr>
                                      <p:to>
                                        <p:strVal val="visible"/>
                                      </p:to>
                                    </p:set>
                                    <p:anim calcmode="lin" valueType="num">
                                      <p:cBhvr additive="base">
                                        <p:cTn id="93" dur="500" fill="hold"/>
                                        <p:tgtEl>
                                          <p:spTgt spid="28"/>
                                        </p:tgtEl>
                                        <p:attrNameLst>
                                          <p:attrName>ppt_x</p:attrName>
                                        </p:attrNameLst>
                                      </p:cBhvr>
                                      <p:tavLst>
                                        <p:tav tm="0">
                                          <p:val>
                                            <p:strVal val="#ppt_x"/>
                                          </p:val>
                                        </p:tav>
                                        <p:tav tm="100000">
                                          <p:val>
                                            <p:strVal val="#ppt_x"/>
                                          </p:val>
                                        </p:tav>
                                      </p:tavLst>
                                    </p:anim>
                                    <p:anim calcmode="lin" valueType="num">
                                      <p:cBhvr additive="base">
                                        <p:cTn id="94" dur="500" fill="hold"/>
                                        <p:tgtEl>
                                          <p:spTgt spid="28"/>
                                        </p:tgtEl>
                                        <p:attrNameLst>
                                          <p:attrName>ppt_y</p:attrName>
                                        </p:attrNameLst>
                                      </p:cBhvr>
                                      <p:tavLst>
                                        <p:tav tm="0">
                                          <p:val>
                                            <p:strVal val="#ppt_y+0.1"/>
                                          </p:val>
                                        </p:tav>
                                        <p:tav tm="100000">
                                          <p:val>
                                            <p:strVal val="#ppt_y"/>
                                          </p:val>
                                        </p:tav>
                                      </p:tavLst>
                                    </p:anim>
                                    <p:animEffect transition="in" filter="fade">
                                      <p:cBhvr>
                                        <p:cTn id="95" dur="500"/>
                                        <p:tgtEl>
                                          <p:spTgt spid="28"/>
                                        </p:tgtEl>
                                      </p:cBhvr>
                                    </p:animEffect>
                                  </p:childTnLst>
                                </p:cTn>
                              </p:par>
                              <p:par>
                                <p:cTn id="101" presetID="2" presetClass="entr" presetSubtype="4" fill="hold" grpId="0" nodeType="withEffect">
                                  <p:stCondLst>
                                    <p:cond delay="0"/>
                                  </p:stCondLst>
                                  <p:childTnLst>
                                    <p:set>
                                      <p:cBhvr>
                                        <p:cTn id="97" dur="1" fill="hold">
                                          <p:stCondLst>
                                            <p:cond delay="0"/>
                                          </p:stCondLst>
                                        </p:cTn>
                                        <p:tgtEl>
                                          <p:spTgt spid="29"/>
                                        </p:tgtEl>
                                        <p:attrNameLst>
                                          <p:attrName>style.visibility</p:attrName>
                                        </p:attrNameLst>
                                      </p:cBhvr>
                                      <p:to>
                                        <p:strVal val="visible"/>
                                      </p:to>
                                    </p:set>
                                    <p:anim calcmode="lin" valueType="num">
                                      <p:cBhvr additive="base">
                                        <p:cTn id="98" dur="500" fill="hold"/>
                                        <p:tgtEl>
                                          <p:spTgt spid="29"/>
                                        </p:tgtEl>
                                        <p:attrNameLst>
                                          <p:attrName>ppt_x</p:attrName>
                                        </p:attrNameLst>
                                      </p:cBhvr>
                                      <p:tavLst>
                                        <p:tav tm="0">
                                          <p:val>
                                            <p:strVal val="#ppt_x"/>
                                          </p:val>
                                        </p:tav>
                                        <p:tav tm="100000">
                                          <p:val>
                                            <p:strVal val="#ppt_x"/>
                                          </p:val>
                                        </p:tav>
                                      </p:tavLst>
                                    </p:anim>
                                    <p:anim calcmode="lin" valueType="num">
                                      <p:cBhvr additive="base">
                                        <p:cTn id="99" dur="500" fill="hold"/>
                                        <p:tgtEl>
                                          <p:spTgt spid="29"/>
                                        </p:tgtEl>
                                        <p:attrNameLst>
                                          <p:attrName>ppt_y</p:attrName>
                                        </p:attrNameLst>
                                      </p:cBhvr>
                                      <p:tavLst>
                                        <p:tav tm="0">
                                          <p:val>
                                            <p:strVal val="#ppt_y+0.1"/>
                                          </p:val>
                                        </p:tav>
                                        <p:tav tm="100000">
                                          <p:val>
                                            <p:strVal val="#ppt_y"/>
                                          </p:val>
                                        </p:tav>
                                      </p:tavLst>
                                    </p:anim>
                                    <p:animEffect transition="in" filter="fade">
                                      <p:cBhvr>
                                        <p:cTn id="100" dur="500"/>
                                        <p:tgtEl>
                                          <p:spTgt spid="29"/>
                                        </p:tgtEl>
                                      </p:cBhvr>
                                    </p:animEffect>
                                  </p:childTnLst>
                                </p:cTn>
                              </p:par>
                              <p:par>
                                <p:cTn id="106" presetID="2" presetClass="entr" presetSubtype="4" fill="hold" grpId="0" nodeType="withEffect">
                                  <p:stCondLst>
                                    <p:cond delay="80"/>
                                  </p:stCondLst>
                                  <p:childTnLst>
                                    <p:set>
                                      <p:cBhvr>
                                        <p:cTn id="102" dur="1" fill="hold">
                                          <p:stCondLst>
                                            <p:cond delay="0"/>
                                          </p:stCondLst>
                                        </p:cTn>
                                        <p:tgtEl>
                                          <p:spTgt spid="30"/>
                                        </p:tgtEl>
                                        <p:attrNameLst>
                                          <p:attrName>style.visibility</p:attrName>
                                        </p:attrNameLst>
                                      </p:cBhvr>
                                      <p:to>
                                        <p:strVal val="visible"/>
                                      </p:to>
                                    </p:set>
                                    <p:anim calcmode="lin" valueType="num">
                                      <p:cBhvr additive="base">
                                        <p:cTn id="103" dur="500" fill="hold"/>
                                        <p:tgtEl>
                                          <p:spTgt spid="30"/>
                                        </p:tgtEl>
                                        <p:attrNameLst>
                                          <p:attrName>ppt_x</p:attrName>
                                        </p:attrNameLst>
                                      </p:cBhvr>
                                      <p:tavLst>
                                        <p:tav tm="0">
                                          <p:val>
                                            <p:strVal val="#ppt_x"/>
                                          </p:val>
                                        </p:tav>
                                        <p:tav tm="100000">
                                          <p:val>
                                            <p:strVal val="#ppt_x"/>
                                          </p:val>
                                        </p:tav>
                                      </p:tavLst>
                                    </p:anim>
                                    <p:anim calcmode="lin" valueType="num">
                                      <p:cBhvr additive="base">
                                        <p:cTn id="104" dur="500" fill="hold"/>
                                        <p:tgtEl>
                                          <p:spTgt spid="30"/>
                                        </p:tgtEl>
                                        <p:attrNameLst>
                                          <p:attrName>ppt_y</p:attrName>
                                        </p:attrNameLst>
                                      </p:cBhvr>
                                      <p:tavLst>
                                        <p:tav tm="0">
                                          <p:val>
                                            <p:strVal val="#ppt_y+0.1"/>
                                          </p:val>
                                        </p:tav>
                                        <p:tav tm="100000">
                                          <p:val>
                                            <p:strVal val="#ppt_y"/>
                                          </p:val>
                                        </p:tav>
                                      </p:tavLst>
                                    </p:anim>
                                    <p:animEffect transition="in" filter="fade">
                                      <p:cBhvr>
                                        <p:cTn id="105" dur="500"/>
                                        <p:tgtEl>
                                          <p:spTgt spid="30"/>
                                        </p:tgtEl>
                                      </p:cBhvr>
                                    </p:animEffect>
                                  </p:childTnLst>
                                </p:cTn>
                              </p:par>
                              <p:par>
                                <p:cTn id="111" presetID="2" presetClass="entr" presetSubtype="4" fill="hold" grpId="0" nodeType="withEffect">
                                  <p:stCondLst>
                                    <p:cond delay="80"/>
                                  </p:stCondLst>
                                  <p:childTnLst>
                                    <p:set>
                                      <p:cBhvr>
                                        <p:cTn id="107" dur="1" fill="hold">
                                          <p:stCondLst>
                                            <p:cond delay="0"/>
                                          </p:stCondLst>
                                        </p:cTn>
                                        <p:tgtEl>
                                          <p:spTgt spid="31"/>
                                        </p:tgtEl>
                                        <p:attrNameLst>
                                          <p:attrName>style.visibility</p:attrName>
                                        </p:attrNameLst>
                                      </p:cBhvr>
                                      <p:to>
                                        <p:strVal val="visible"/>
                                      </p:to>
                                    </p:set>
                                    <p:anim calcmode="lin" valueType="num">
                                      <p:cBhvr additive="base">
                                        <p:cTn id="108" dur="500" fill="hold"/>
                                        <p:tgtEl>
                                          <p:spTgt spid="31"/>
                                        </p:tgtEl>
                                        <p:attrNameLst>
                                          <p:attrName>ppt_x</p:attrName>
                                        </p:attrNameLst>
                                      </p:cBhvr>
                                      <p:tavLst>
                                        <p:tav tm="0">
                                          <p:val>
                                            <p:strVal val="#ppt_x"/>
                                          </p:val>
                                        </p:tav>
                                        <p:tav tm="100000">
                                          <p:val>
                                            <p:strVal val="#ppt_x"/>
                                          </p:val>
                                        </p:tav>
                                      </p:tavLst>
                                    </p:anim>
                                    <p:anim calcmode="lin" valueType="num">
                                      <p:cBhvr additive="base">
                                        <p:cTn id="109" dur="500" fill="hold"/>
                                        <p:tgtEl>
                                          <p:spTgt spid="31"/>
                                        </p:tgtEl>
                                        <p:attrNameLst>
                                          <p:attrName>ppt_y</p:attrName>
                                        </p:attrNameLst>
                                      </p:cBhvr>
                                      <p:tavLst>
                                        <p:tav tm="0">
                                          <p:val>
                                            <p:strVal val="#ppt_y+0.1"/>
                                          </p:val>
                                        </p:tav>
                                        <p:tav tm="100000">
                                          <p:val>
                                            <p:strVal val="#ppt_y"/>
                                          </p:val>
                                        </p:tav>
                                      </p:tavLst>
                                    </p:anim>
                                    <p:animEffect transition="in" filter="fade">
                                      <p:cBhvr>
                                        <p:cTn id="110" dur="500"/>
                                        <p:tgtEl>
                                          <p:spTgt spid="31"/>
                                        </p:tgtEl>
                                      </p:cBhvr>
                                    </p:animEffect>
                                  </p:childTnLst>
                                </p:cTn>
                              </p:par>
                              <p:par>
                                <p:cTn id="116" presetID="2" presetClass="entr" presetSubtype="4" fill="hold" grpId="0" nodeType="withEffect">
                                  <p:stCondLst>
                                    <p:cond delay="180"/>
                                  </p:stCondLst>
                                  <p:childTnLst>
                                    <p:set>
                                      <p:cBhvr>
                                        <p:cTn id="112" dur="1" fill="hold">
                                          <p:stCondLst>
                                            <p:cond delay="0"/>
                                          </p:stCondLst>
                                        </p:cTn>
                                        <p:tgtEl>
                                          <p:spTgt spid="32"/>
                                        </p:tgtEl>
                                        <p:attrNameLst>
                                          <p:attrName>style.visibility</p:attrName>
                                        </p:attrNameLst>
                                      </p:cBhvr>
                                      <p:to>
                                        <p:strVal val="visible"/>
                                      </p:to>
                                    </p:set>
                                    <p:anim calcmode="lin" valueType="num">
                                      <p:cBhvr additive="base">
                                        <p:cTn id="113" dur="500" fill="hold"/>
                                        <p:tgtEl>
                                          <p:spTgt spid="32"/>
                                        </p:tgtEl>
                                        <p:attrNameLst>
                                          <p:attrName>ppt_x</p:attrName>
                                        </p:attrNameLst>
                                      </p:cBhvr>
                                      <p:tavLst>
                                        <p:tav tm="0">
                                          <p:val>
                                            <p:strVal val="#ppt_x"/>
                                          </p:val>
                                        </p:tav>
                                        <p:tav tm="100000">
                                          <p:val>
                                            <p:strVal val="#ppt_x"/>
                                          </p:val>
                                        </p:tav>
                                      </p:tavLst>
                                    </p:anim>
                                    <p:anim calcmode="lin" valueType="num">
                                      <p:cBhvr additive="base">
                                        <p:cTn id="114" dur="500" fill="hold"/>
                                        <p:tgtEl>
                                          <p:spTgt spid="32"/>
                                        </p:tgtEl>
                                        <p:attrNameLst>
                                          <p:attrName>ppt_y</p:attrName>
                                        </p:attrNameLst>
                                      </p:cBhvr>
                                      <p:tavLst>
                                        <p:tav tm="0">
                                          <p:val>
                                            <p:strVal val="#ppt_y+0.1"/>
                                          </p:val>
                                        </p:tav>
                                        <p:tav tm="100000">
                                          <p:val>
                                            <p:strVal val="#ppt_y"/>
                                          </p:val>
                                        </p:tav>
                                      </p:tavLst>
                                    </p:anim>
                                    <p:animEffect transition="in" filter="fade">
                                      <p:cBhvr>
                                        <p:cTn id="115" dur="500"/>
                                        <p:tgtEl>
                                          <p:spTgt spid="32"/>
                                        </p:tgtEl>
                                      </p:cBhvr>
                                    </p:animEffect>
                                  </p:childTnLst>
                                </p:cTn>
                              </p:par>
                              <p:par>
                                <p:cTn id="121" presetID="2" presetClass="entr" presetSubtype="4" fill="hold" grpId="0" nodeType="withEffect">
                                  <p:stCondLst>
                                    <p:cond delay="180"/>
                                  </p:stCondLst>
                                  <p:childTnLst>
                                    <p:set>
                                      <p:cBhvr>
                                        <p:cTn id="117" dur="1" fill="hold">
                                          <p:stCondLst>
                                            <p:cond delay="0"/>
                                          </p:stCondLst>
                                        </p:cTn>
                                        <p:tgtEl>
                                          <p:spTgt spid="33"/>
                                        </p:tgtEl>
                                        <p:attrNameLst>
                                          <p:attrName>style.visibility</p:attrName>
                                        </p:attrNameLst>
                                      </p:cBhvr>
                                      <p:to>
                                        <p:strVal val="visible"/>
                                      </p:to>
                                    </p:set>
                                    <p:anim calcmode="lin" valueType="num">
                                      <p:cBhvr additive="base">
                                        <p:cTn id="118" dur="500" fill="hold"/>
                                        <p:tgtEl>
                                          <p:spTgt spid="33"/>
                                        </p:tgtEl>
                                        <p:attrNameLst>
                                          <p:attrName>ppt_x</p:attrName>
                                        </p:attrNameLst>
                                      </p:cBhvr>
                                      <p:tavLst>
                                        <p:tav tm="0">
                                          <p:val>
                                            <p:strVal val="#ppt_x"/>
                                          </p:val>
                                        </p:tav>
                                        <p:tav tm="100000">
                                          <p:val>
                                            <p:strVal val="#ppt_x"/>
                                          </p:val>
                                        </p:tav>
                                      </p:tavLst>
                                    </p:anim>
                                    <p:anim calcmode="lin" valueType="num">
                                      <p:cBhvr additive="base">
                                        <p:cTn id="119" dur="500" fill="hold"/>
                                        <p:tgtEl>
                                          <p:spTgt spid="33"/>
                                        </p:tgtEl>
                                        <p:attrNameLst>
                                          <p:attrName>ppt_y</p:attrName>
                                        </p:attrNameLst>
                                      </p:cBhvr>
                                      <p:tavLst>
                                        <p:tav tm="0">
                                          <p:val>
                                            <p:strVal val="#ppt_y+0.1"/>
                                          </p:val>
                                        </p:tav>
                                        <p:tav tm="100000">
                                          <p:val>
                                            <p:strVal val="#ppt_y"/>
                                          </p:val>
                                        </p:tav>
                                      </p:tavLst>
                                    </p:anim>
                                    <p:animEffect transition="in" filter="fade">
                                      <p:cBhvr>
                                        <p:cTn id="120" dur="500"/>
                                        <p:tgtEl>
                                          <p:spTgt spid="33"/>
                                        </p:tgtEl>
                                      </p:cBhvr>
                                    </p:animEffect>
                                  </p:childTnLst>
                                </p:cTn>
                              </p:par>
                              <p:par>
                                <p:cTn id="126" presetID="2" presetClass="entr" presetSubtype="4" fill="hold" grpId="0" nodeType="withEffect">
                                  <p:stCondLst>
                                    <p:cond delay="280"/>
                                  </p:stCondLst>
                                  <p:childTnLst>
                                    <p:set>
                                      <p:cBhvr>
                                        <p:cTn id="122" dur="1" fill="hold">
                                          <p:stCondLst>
                                            <p:cond delay="0"/>
                                          </p:stCondLst>
                                        </p:cTn>
                                        <p:tgtEl>
                                          <p:spTgt spid="34"/>
                                        </p:tgtEl>
                                        <p:attrNameLst>
                                          <p:attrName>style.visibility</p:attrName>
                                        </p:attrNameLst>
                                      </p:cBhvr>
                                      <p:to>
                                        <p:strVal val="visible"/>
                                      </p:to>
                                    </p:set>
                                    <p:anim calcmode="lin" valueType="num">
                                      <p:cBhvr additive="base">
                                        <p:cTn id="123" dur="500" fill="hold"/>
                                        <p:tgtEl>
                                          <p:spTgt spid="34"/>
                                        </p:tgtEl>
                                        <p:attrNameLst>
                                          <p:attrName>ppt_x</p:attrName>
                                        </p:attrNameLst>
                                      </p:cBhvr>
                                      <p:tavLst>
                                        <p:tav tm="0">
                                          <p:val>
                                            <p:strVal val="#ppt_x"/>
                                          </p:val>
                                        </p:tav>
                                        <p:tav tm="100000">
                                          <p:val>
                                            <p:strVal val="#ppt_x"/>
                                          </p:val>
                                        </p:tav>
                                      </p:tavLst>
                                    </p:anim>
                                    <p:anim calcmode="lin" valueType="num">
                                      <p:cBhvr additive="base">
                                        <p:cTn id="124" dur="500" fill="hold"/>
                                        <p:tgtEl>
                                          <p:spTgt spid="34"/>
                                        </p:tgtEl>
                                        <p:attrNameLst>
                                          <p:attrName>ppt_y</p:attrName>
                                        </p:attrNameLst>
                                      </p:cBhvr>
                                      <p:tavLst>
                                        <p:tav tm="0">
                                          <p:val>
                                            <p:strVal val="#ppt_y+0.1"/>
                                          </p:val>
                                        </p:tav>
                                        <p:tav tm="100000">
                                          <p:val>
                                            <p:strVal val="#ppt_y"/>
                                          </p:val>
                                        </p:tav>
                                      </p:tavLst>
                                    </p:anim>
                                    <p:animEffect transition="in" filter="fade">
                                      <p:cBhvr>
                                        <p:cTn id="125" dur="500"/>
                                        <p:tgtEl>
                                          <p:spTgt spid="34"/>
                                        </p:tgtEl>
                                      </p:cBhvr>
                                    </p:animEffect>
                                  </p:childTnLst>
                                </p:cTn>
                              </p:par>
                              <p:par>
                                <p:cTn id="131" presetID="2" presetClass="entr" presetSubtype="4" fill="hold" grpId="0" nodeType="withEffect">
                                  <p:stCondLst>
                                    <p:cond delay="280"/>
                                  </p:stCondLst>
                                  <p:childTnLst>
                                    <p:set>
                                      <p:cBhvr>
                                        <p:cTn id="127" dur="1" fill="hold">
                                          <p:stCondLst>
                                            <p:cond delay="0"/>
                                          </p:stCondLst>
                                        </p:cTn>
                                        <p:tgtEl>
                                          <p:spTgt spid="35"/>
                                        </p:tgtEl>
                                        <p:attrNameLst>
                                          <p:attrName>style.visibility</p:attrName>
                                        </p:attrNameLst>
                                      </p:cBhvr>
                                      <p:to>
                                        <p:strVal val="visible"/>
                                      </p:to>
                                    </p:set>
                                    <p:anim calcmode="lin" valueType="num">
                                      <p:cBhvr additive="base">
                                        <p:cTn id="128" dur="500" fill="hold"/>
                                        <p:tgtEl>
                                          <p:spTgt spid="35"/>
                                        </p:tgtEl>
                                        <p:attrNameLst>
                                          <p:attrName>ppt_x</p:attrName>
                                        </p:attrNameLst>
                                      </p:cBhvr>
                                      <p:tavLst>
                                        <p:tav tm="0">
                                          <p:val>
                                            <p:strVal val="#ppt_x"/>
                                          </p:val>
                                        </p:tav>
                                        <p:tav tm="100000">
                                          <p:val>
                                            <p:strVal val="#ppt_x"/>
                                          </p:val>
                                        </p:tav>
                                      </p:tavLst>
                                    </p:anim>
                                    <p:anim calcmode="lin" valueType="num">
                                      <p:cBhvr additive="base">
                                        <p:cTn id="129" dur="500" fill="hold"/>
                                        <p:tgtEl>
                                          <p:spTgt spid="35"/>
                                        </p:tgtEl>
                                        <p:attrNameLst>
                                          <p:attrName>ppt_y</p:attrName>
                                        </p:attrNameLst>
                                      </p:cBhvr>
                                      <p:tavLst>
                                        <p:tav tm="0">
                                          <p:val>
                                            <p:strVal val="#ppt_y+0.1"/>
                                          </p:val>
                                        </p:tav>
                                        <p:tav tm="100000">
                                          <p:val>
                                            <p:strVal val="#ppt_y"/>
                                          </p:val>
                                        </p:tav>
                                      </p:tavLst>
                                    </p:anim>
                                    <p:animEffect transition="in" filter="fade">
                                      <p:cBhvr>
                                        <p:cTn id="130" dur="500"/>
                                        <p:tgtEl>
                                          <p:spTgt spid="35"/>
                                        </p:tgtEl>
                                      </p:cBhvr>
                                    </p:animEffect>
                                  </p:childTnLst>
                                </p:cTn>
                              </p:par>
                              <p:par>
                                <p:cTn id="136" presetID="2" presetClass="entr" presetSubtype="4" fill="hold" grpId="0" nodeType="withEffect">
                                  <p:stCondLst>
                                    <p:cond delay="400"/>
                                  </p:stCondLst>
                                  <p:childTnLst>
                                    <p:set>
                                      <p:cBhvr>
                                        <p:cTn id="132" dur="1" fill="hold">
                                          <p:stCondLst>
                                            <p:cond delay="0"/>
                                          </p:stCondLst>
                                        </p:cTn>
                                        <p:tgtEl>
                                          <p:spTgt spid="36"/>
                                        </p:tgtEl>
                                        <p:attrNameLst>
                                          <p:attrName>style.visibility</p:attrName>
                                        </p:attrNameLst>
                                      </p:cBhvr>
                                      <p:to>
                                        <p:strVal val="visible"/>
                                      </p:to>
                                    </p:set>
                                    <p:anim calcmode="lin" valueType="num">
                                      <p:cBhvr additive="base">
                                        <p:cTn id="133" dur="500" fill="hold"/>
                                        <p:tgtEl>
                                          <p:spTgt spid="36"/>
                                        </p:tgtEl>
                                        <p:attrNameLst>
                                          <p:attrName>ppt_x</p:attrName>
                                        </p:attrNameLst>
                                      </p:cBhvr>
                                      <p:tavLst>
                                        <p:tav tm="0">
                                          <p:val>
                                            <p:strVal val="#ppt_x"/>
                                          </p:val>
                                        </p:tav>
                                        <p:tav tm="100000">
                                          <p:val>
                                            <p:strVal val="#ppt_x"/>
                                          </p:val>
                                        </p:tav>
                                      </p:tavLst>
                                    </p:anim>
                                    <p:anim calcmode="lin" valueType="num">
                                      <p:cBhvr additive="base">
                                        <p:cTn id="134" dur="500" fill="hold"/>
                                        <p:tgtEl>
                                          <p:spTgt spid="36"/>
                                        </p:tgtEl>
                                        <p:attrNameLst>
                                          <p:attrName>ppt_y</p:attrName>
                                        </p:attrNameLst>
                                      </p:cBhvr>
                                      <p:tavLst>
                                        <p:tav tm="0">
                                          <p:val>
                                            <p:strVal val="#ppt_y+0.1"/>
                                          </p:val>
                                        </p:tav>
                                        <p:tav tm="100000">
                                          <p:val>
                                            <p:strVal val="#ppt_y"/>
                                          </p:val>
                                        </p:tav>
                                      </p:tavLst>
                                    </p:anim>
                                    <p:animEffect transition="in" filter="fade">
                                      <p:cBhvr>
                                        <p:cTn id="135" dur="500"/>
                                        <p:tgtEl>
                                          <p:spTgt spid="36"/>
                                        </p:tgtEl>
                                      </p:cBhvr>
                                    </p:animEffect>
                                  </p:childTnLst>
                                </p:cTn>
                              </p:par>
                              <p:par>
                                <p:cTn id="141" presetID="2" presetClass="entr" presetSubtype="4" fill="hold" grpId="0" nodeType="withEffect">
                                  <p:stCondLst>
                                    <p:cond delay="400"/>
                                  </p:stCondLst>
                                  <p:childTnLst>
                                    <p:set>
                                      <p:cBhvr>
                                        <p:cTn id="137" dur="1" fill="hold">
                                          <p:stCondLst>
                                            <p:cond delay="0"/>
                                          </p:stCondLst>
                                        </p:cTn>
                                        <p:tgtEl>
                                          <p:spTgt spid="37"/>
                                        </p:tgtEl>
                                        <p:attrNameLst>
                                          <p:attrName>style.visibility</p:attrName>
                                        </p:attrNameLst>
                                      </p:cBhvr>
                                      <p:to>
                                        <p:strVal val="visible"/>
                                      </p:to>
                                    </p:set>
                                    <p:anim calcmode="lin" valueType="num">
                                      <p:cBhvr additive="base">
                                        <p:cTn id="138" dur="500" fill="hold"/>
                                        <p:tgtEl>
                                          <p:spTgt spid="37"/>
                                        </p:tgtEl>
                                        <p:attrNameLst>
                                          <p:attrName>ppt_x</p:attrName>
                                        </p:attrNameLst>
                                      </p:cBhvr>
                                      <p:tavLst>
                                        <p:tav tm="0">
                                          <p:val>
                                            <p:strVal val="#ppt_x"/>
                                          </p:val>
                                        </p:tav>
                                        <p:tav tm="100000">
                                          <p:val>
                                            <p:strVal val="#ppt_x"/>
                                          </p:val>
                                        </p:tav>
                                      </p:tavLst>
                                    </p:anim>
                                    <p:anim calcmode="lin" valueType="num">
                                      <p:cBhvr additive="base">
                                        <p:cTn id="139" dur="500" fill="hold"/>
                                        <p:tgtEl>
                                          <p:spTgt spid="37"/>
                                        </p:tgtEl>
                                        <p:attrNameLst>
                                          <p:attrName>ppt_y</p:attrName>
                                        </p:attrNameLst>
                                      </p:cBhvr>
                                      <p:tavLst>
                                        <p:tav tm="0">
                                          <p:val>
                                            <p:strVal val="#ppt_y+0.1"/>
                                          </p:val>
                                        </p:tav>
                                        <p:tav tm="100000">
                                          <p:val>
                                            <p:strVal val="#ppt_y"/>
                                          </p:val>
                                        </p:tav>
                                      </p:tavLst>
                                    </p:anim>
                                    <p:animEffect transition="in" filter="fade">
                                      <p:cBhvr>
                                        <p:cTn id="140" dur="500"/>
                                        <p:tgtEl>
                                          <p:spTgt spid="37"/>
                                        </p:tgtEl>
                                      </p:cBhvr>
                                    </p:animEffect>
                                  </p:childTnLst>
                                </p:cTn>
                              </p:par>
                              <p:par>
                                <p:cTn id="146" presetID="2" presetClass="entr" presetSubtype="4" fill="hold" grpId="0" nodeType="withEffect">
                                  <p:stCondLst>
                                    <p:cond delay="400"/>
                                  </p:stCondLst>
                                  <p:childTnLst>
                                    <p:set>
                                      <p:cBhvr>
                                        <p:cTn id="142" dur="1" fill="hold">
                                          <p:stCondLst>
                                            <p:cond delay="0"/>
                                          </p:stCondLst>
                                        </p:cTn>
                                        <p:tgtEl>
                                          <p:spTgt spid="38"/>
                                        </p:tgtEl>
                                        <p:attrNameLst>
                                          <p:attrName>style.visibility</p:attrName>
                                        </p:attrNameLst>
                                      </p:cBhvr>
                                      <p:to>
                                        <p:strVal val="visible"/>
                                      </p:to>
                                    </p:set>
                                    <p:anim calcmode="lin" valueType="num">
                                      <p:cBhvr additive="base">
                                        <p:cTn id="143" dur="500" fill="hold"/>
                                        <p:tgtEl>
                                          <p:spTgt spid="38"/>
                                        </p:tgtEl>
                                        <p:attrNameLst>
                                          <p:attrName>ppt_x</p:attrName>
                                        </p:attrNameLst>
                                      </p:cBhvr>
                                      <p:tavLst>
                                        <p:tav tm="0">
                                          <p:val>
                                            <p:strVal val="#ppt_x"/>
                                          </p:val>
                                        </p:tav>
                                        <p:tav tm="100000">
                                          <p:val>
                                            <p:strVal val="#ppt_x"/>
                                          </p:val>
                                        </p:tav>
                                      </p:tavLst>
                                    </p:anim>
                                    <p:anim calcmode="lin" valueType="num">
                                      <p:cBhvr additive="base">
                                        <p:cTn id="144" dur="500" fill="hold"/>
                                        <p:tgtEl>
                                          <p:spTgt spid="38"/>
                                        </p:tgtEl>
                                        <p:attrNameLst>
                                          <p:attrName>ppt_y</p:attrName>
                                        </p:attrNameLst>
                                      </p:cBhvr>
                                      <p:tavLst>
                                        <p:tav tm="0">
                                          <p:val>
                                            <p:strVal val="#ppt_y+0.1"/>
                                          </p:val>
                                        </p:tav>
                                        <p:tav tm="100000">
                                          <p:val>
                                            <p:strVal val="#ppt_y"/>
                                          </p:val>
                                        </p:tav>
                                      </p:tavLst>
                                    </p:anim>
                                    <p:animEffect transition="in" filter="fade">
                                      <p:cBhvr>
                                        <p:cTn id="145" dur="500"/>
                                        <p:tgtEl>
                                          <p:spTgt spid="38"/>
                                        </p:tgtEl>
                                      </p:cBhvr>
                                    </p:animEffect>
                                  </p:childTnLst>
                                </p:cTn>
                              </p:par>
                              <p:par>
                                <p:cTn id="151" presetID="2" presetClass="entr" presetSubtype="4" fill="hold" grpId="0" nodeType="withEffect">
                                  <p:stCondLst>
                                    <p:cond delay="500"/>
                                  </p:stCondLst>
                                  <p:childTnLst>
                                    <p:set>
                                      <p:cBhvr>
                                        <p:cTn id="147" dur="1" fill="hold">
                                          <p:stCondLst>
                                            <p:cond delay="0"/>
                                          </p:stCondLst>
                                        </p:cTn>
                                        <p:tgtEl>
                                          <p:spTgt spid="39"/>
                                        </p:tgtEl>
                                        <p:attrNameLst>
                                          <p:attrName>style.visibility</p:attrName>
                                        </p:attrNameLst>
                                      </p:cBhvr>
                                      <p:to>
                                        <p:strVal val="visible"/>
                                      </p:to>
                                    </p:set>
                                    <p:anim calcmode="lin" valueType="num">
                                      <p:cBhvr additive="base">
                                        <p:cTn id="148" dur="500" fill="hold"/>
                                        <p:tgtEl>
                                          <p:spTgt spid="39"/>
                                        </p:tgtEl>
                                        <p:attrNameLst>
                                          <p:attrName>ppt_x</p:attrName>
                                        </p:attrNameLst>
                                      </p:cBhvr>
                                      <p:tavLst>
                                        <p:tav tm="0">
                                          <p:val>
                                            <p:strVal val="#ppt_x"/>
                                          </p:val>
                                        </p:tav>
                                        <p:tav tm="100000">
                                          <p:val>
                                            <p:strVal val="#ppt_x"/>
                                          </p:val>
                                        </p:tav>
                                      </p:tavLst>
                                    </p:anim>
                                    <p:anim calcmode="lin" valueType="num">
                                      <p:cBhvr additive="base">
                                        <p:cTn id="149" dur="500" fill="hold"/>
                                        <p:tgtEl>
                                          <p:spTgt spid="39"/>
                                        </p:tgtEl>
                                        <p:attrNameLst>
                                          <p:attrName>ppt_y</p:attrName>
                                        </p:attrNameLst>
                                      </p:cBhvr>
                                      <p:tavLst>
                                        <p:tav tm="0">
                                          <p:val>
                                            <p:strVal val="#ppt_y+0.1"/>
                                          </p:val>
                                        </p:tav>
                                        <p:tav tm="100000">
                                          <p:val>
                                            <p:strVal val="#ppt_y"/>
                                          </p:val>
                                        </p:tav>
                                      </p:tavLst>
                                    </p:anim>
                                    <p:animEffect transition="in" filter="fade">
                                      <p:cBhvr>
                                        <p:cTn id="150" dur="500"/>
                                        <p:tgtEl>
                                          <p:spTgt spid="39"/>
                                        </p:tgtEl>
                                      </p:cBhvr>
                                    </p:animEffect>
                                  </p:childTnLst>
                                </p:cTn>
                              </p:par>
                              <p:par>
                                <p:cTn id="156" presetID="2" presetClass="entr" presetSubtype="4" fill="hold" grpId="0" nodeType="withEffect">
                                  <p:stCondLst>
                                    <p:cond delay="500"/>
                                  </p:stCondLst>
                                  <p:childTnLst>
                                    <p:set>
                                      <p:cBhvr>
                                        <p:cTn id="152" dur="1" fill="hold">
                                          <p:stCondLst>
                                            <p:cond delay="0"/>
                                          </p:stCondLst>
                                        </p:cTn>
                                        <p:tgtEl>
                                          <p:spTgt spid="40"/>
                                        </p:tgtEl>
                                        <p:attrNameLst>
                                          <p:attrName>style.visibility</p:attrName>
                                        </p:attrNameLst>
                                      </p:cBhvr>
                                      <p:to>
                                        <p:strVal val="visible"/>
                                      </p:to>
                                    </p:set>
                                    <p:anim calcmode="lin" valueType="num">
                                      <p:cBhvr additive="base">
                                        <p:cTn id="153" dur="500" fill="hold"/>
                                        <p:tgtEl>
                                          <p:spTgt spid="40"/>
                                        </p:tgtEl>
                                        <p:attrNameLst>
                                          <p:attrName>ppt_x</p:attrName>
                                        </p:attrNameLst>
                                      </p:cBhvr>
                                      <p:tavLst>
                                        <p:tav tm="0">
                                          <p:val>
                                            <p:strVal val="#ppt_x"/>
                                          </p:val>
                                        </p:tav>
                                        <p:tav tm="100000">
                                          <p:val>
                                            <p:strVal val="#ppt_x"/>
                                          </p:val>
                                        </p:tav>
                                      </p:tavLst>
                                    </p:anim>
                                    <p:anim calcmode="lin" valueType="num">
                                      <p:cBhvr additive="base">
                                        <p:cTn id="154" dur="500" fill="hold"/>
                                        <p:tgtEl>
                                          <p:spTgt spid="40"/>
                                        </p:tgtEl>
                                        <p:attrNameLst>
                                          <p:attrName>ppt_y</p:attrName>
                                        </p:attrNameLst>
                                      </p:cBhvr>
                                      <p:tavLst>
                                        <p:tav tm="0">
                                          <p:val>
                                            <p:strVal val="#ppt_y+0.1"/>
                                          </p:val>
                                        </p:tav>
                                        <p:tav tm="100000">
                                          <p:val>
                                            <p:strVal val="#ppt_y"/>
                                          </p:val>
                                        </p:tav>
                                      </p:tavLst>
                                    </p:anim>
                                    <p:animEffect transition="in" filter="fade">
                                      <p:cBhvr>
                                        <p:cTn id="155" dur="500"/>
                                        <p:tgtEl>
                                          <p:spTgt spid="40"/>
                                        </p:tgtEl>
                                      </p:cBhvr>
                                    </p:animEffect>
                                  </p:childTnLst>
                                </p:cTn>
                              </p:par>
                              <p:par>
                                <p:cTn id="161" presetID="2" presetClass="entr" presetSubtype="4" fill="hold" grpId="0" nodeType="withEffect">
                                  <p:stCondLst>
                                    <p:cond delay="500"/>
                                  </p:stCondLst>
                                  <p:childTnLst>
                                    <p:set>
                                      <p:cBhvr>
                                        <p:cTn id="157" dur="1" fill="hold">
                                          <p:stCondLst>
                                            <p:cond delay="0"/>
                                          </p:stCondLst>
                                        </p:cTn>
                                        <p:tgtEl>
                                          <p:spTgt spid="41"/>
                                        </p:tgtEl>
                                        <p:attrNameLst>
                                          <p:attrName>style.visibility</p:attrName>
                                        </p:attrNameLst>
                                      </p:cBhvr>
                                      <p:to>
                                        <p:strVal val="visible"/>
                                      </p:to>
                                    </p:set>
                                    <p:anim calcmode="lin" valueType="num">
                                      <p:cBhvr additive="base">
                                        <p:cTn id="158" dur="500" fill="hold"/>
                                        <p:tgtEl>
                                          <p:spTgt spid="41"/>
                                        </p:tgtEl>
                                        <p:attrNameLst>
                                          <p:attrName>ppt_x</p:attrName>
                                        </p:attrNameLst>
                                      </p:cBhvr>
                                      <p:tavLst>
                                        <p:tav tm="0">
                                          <p:val>
                                            <p:strVal val="#ppt_x"/>
                                          </p:val>
                                        </p:tav>
                                        <p:tav tm="100000">
                                          <p:val>
                                            <p:strVal val="#ppt_x"/>
                                          </p:val>
                                        </p:tav>
                                      </p:tavLst>
                                    </p:anim>
                                    <p:anim calcmode="lin" valueType="num">
                                      <p:cBhvr additive="base">
                                        <p:cTn id="159" dur="500" fill="hold"/>
                                        <p:tgtEl>
                                          <p:spTgt spid="41"/>
                                        </p:tgtEl>
                                        <p:attrNameLst>
                                          <p:attrName>ppt_y</p:attrName>
                                        </p:attrNameLst>
                                      </p:cBhvr>
                                      <p:tavLst>
                                        <p:tav tm="0">
                                          <p:val>
                                            <p:strVal val="#ppt_y+0.1"/>
                                          </p:val>
                                        </p:tav>
                                        <p:tav tm="100000">
                                          <p:val>
                                            <p:strVal val="#ppt_y"/>
                                          </p:val>
                                        </p:tav>
                                      </p:tavLst>
                                    </p:anim>
                                    <p:animEffect transition="in" filter="fade">
                                      <p:cBhvr>
                                        <p:cTn id="160" dur="500"/>
                                        <p:tgtEl>
                                          <p:spTgt spid="41"/>
                                        </p:tgtEl>
                                      </p:cBhvr>
                                    </p:animEffect>
                                  </p:childTnLst>
                                </p:cTn>
                              </p:par>
                              <p:par>
                                <p:cTn id="166" presetID="2" presetClass="entr" presetSubtype="4" fill="hold" grpId="0" nodeType="withEffect">
                                  <p:stCondLst>
                                    <p:cond delay="600"/>
                                  </p:stCondLst>
                                  <p:childTnLst>
                                    <p:set>
                                      <p:cBhvr>
                                        <p:cTn id="162" dur="1" fill="hold">
                                          <p:stCondLst>
                                            <p:cond delay="0"/>
                                          </p:stCondLst>
                                        </p:cTn>
                                        <p:tgtEl>
                                          <p:spTgt spid="42"/>
                                        </p:tgtEl>
                                        <p:attrNameLst>
                                          <p:attrName>style.visibility</p:attrName>
                                        </p:attrNameLst>
                                      </p:cBhvr>
                                      <p:to>
                                        <p:strVal val="visible"/>
                                      </p:to>
                                    </p:set>
                                    <p:anim calcmode="lin" valueType="num">
                                      <p:cBhvr additive="base">
                                        <p:cTn id="163" dur="500" fill="hold"/>
                                        <p:tgtEl>
                                          <p:spTgt spid="42"/>
                                        </p:tgtEl>
                                        <p:attrNameLst>
                                          <p:attrName>ppt_x</p:attrName>
                                        </p:attrNameLst>
                                      </p:cBhvr>
                                      <p:tavLst>
                                        <p:tav tm="0">
                                          <p:val>
                                            <p:strVal val="#ppt_x"/>
                                          </p:val>
                                        </p:tav>
                                        <p:tav tm="100000">
                                          <p:val>
                                            <p:strVal val="#ppt_x"/>
                                          </p:val>
                                        </p:tav>
                                      </p:tavLst>
                                    </p:anim>
                                    <p:anim calcmode="lin" valueType="num">
                                      <p:cBhvr additive="base">
                                        <p:cTn id="164" dur="500" fill="hold"/>
                                        <p:tgtEl>
                                          <p:spTgt spid="42"/>
                                        </p:tgtEl>
                                        <p:attrNameLst>
                                          <p:attrName>ppt_y</p:attrName>
                                        </p:attrNameLst>
                                      </p:cBhvr>
                                      <p:tavLst>
                                        <p:tav tm="0">
                                          <p:val>
                                            <p:strVal val="#ppt_y+0.1"/>
                                          </p:val>
                                        </p:tav>
                                        <p:tav tm="100000">
                                          <p:val>
                                            <p:strVal val="#ppt_y"/>
                                          </p:val>
                                        </p:tav>
                                      </p:tavLst>
                                    </p:anim>
                                    <p:animEffect transition="in" filter="fade">
                                      <p:cBhvr>
                                        <p:cTn id="165" dur="500"/>
                                        <p:tgtEl>
                                          <p:spTgt spid="42"/>
                                        </p:tgtEl>
                                      </p:cBhvr>
                                    </p:animEffect>
                                  </p:childTnLst>
                                </p:cTn>
                              </p:par>
                              <p:par>
                                <p:cTn id="171" presetID="2" presetClass="entr" presetSubtype="4" fill="hold" grpId="0" nodeType="withEffect">
                                  <p:stCondLst>
                                    <p:cond delay="600"/>
                                  </p:stCondLst>
                                  <p:childTnLst>
                                    <p:set>
                                      <p:cBhvr>
                                        <p:cTn id="167" dur="1" fill="hold">
                                          <p:stCondLst>
                                            <p:cond delay="0"/>
                                          </p:stCondLst>
                                        </p:cTn>
                                        <p:tgtEl>
                                          <p:spTgt spid="43"/>
                                        </p:tgtEl>
                                        <p:attrNameLst>
                                          <p:attrName>style.visibility</p:attrName>
                                        </p:attrNameLst>
                                      </p:cBhvr>
                                      <p:to>
                                        <p:strVal val="visible"/>
                                      </p:to>
                                    </p:set>
                                    <p:anim calcmode="lin" valueType="num">
                                      <p:cBhvr additive="base">
                                        <p:cTn id="168" dur="500" fill="hold"/>
                                        <p:tgtEl>
                                          <p:spTgt spid="43"/>
                                        </p:tgtEl>
                                        <p:attrNameLst>
                                          <p:attrName>ppt_x</p:attrName>
                                        </p:attrNameLst>
                                      </p:cBhvr>
                                      <p:tavLst>
                                        <p:tav tm="0">
                                          <p:val>
                                            <p:strVal val="#ppt_x"/>
                                          </p:val>
                                        </p:tav>
                                        <p:tav tm="100000">
                                          <p:val>
                                            <p:strVal val="#ppt_x"/>
                                          </p:val>
                                        </p:tav>
                                      </p:tavLst>
                                    </p:anim>
                                    <p:anim calcmode="lin" valueType="num">
                                      <p:cBhvr additive="base">
                                        <p:cTn id="169" dur="500" fill="hold"/>
                                        <p:tgtEl>
                                          <p:spTgt spid="43"/>
                                        </p:tgtEl>
                                        <p:attrNameLst>
                                          <p:attrName>ppt_y</p:attrName>
                                        </p:attrNameLst>
                                      </p:cBhvr>
                                      <p:tavLst>
                                        <p:tav tm="0">
                                          <p:val>
                                            <p:strVal val="#ppt_y+0.1"/>
                                          </p:val>
                                        </p:tav>
                                        <p:tav tm="100000">
                                          <p:val>
                                            <p:strVal val="#ppt_y"/>
                                          </p:val>
                                        </p:tav>
                                      </p:tavLst>
                                    </p:anim>
                                    <p:animEffect transition="in" filter="fade">
                                      <p:cBhvr>
                                        <p:cTn id="170" dur="500"/>
                                        <p:tgtEl>
                                          <p:spTgt spid="43"/>
                                        </p:tgtEl>
                                      </p:cBhvr>
                                    </p:animEffect>
                                  </p:childTnLst>
                                </p:cTn>
                              </p:par>
                              <p:par>
                                <p:cTn id="176" presetID="2" presetClass="entr" presetSubtype="4" fill="hold" grpId="0" nodeType="withEffect">
                                  <p:stCondLst>
                                    <p:cond delay="600"/>
                                  </p:stCondLst>
                                  <p:childTnLst>
                                    <p:set>
                                      <p:cBhvr>
                                        <p:cTn id="172" dur="1" fill="hold">
                                          <p:stCondLst>
                                            <p:cond delay="0"/>
                                          </p:stCondLst>
                                        </p:cTn>
                                        <p:tgtEl>
                                          <p:spTgt spid="44"/>
                                        </p:tgtEl>
                                        <p:attrNameLst>
                                          <p:attrName>style.visibility</p:attrName>
                                        </p:attrNameLst>
                                      </p:cBhvr>
                                      <p:to>
                                        <p:strVal val="visible"/>
                                      </p:to>
                                    </p:set>
                                    <p:anim calcmode="lin" valueType="num">
                                      <p:cBhvr additive="base">
                                        <p:cTn id="173" dur="500" fill="hold"/>
                                        <p:tgtEl>
                                          <p:spTgt spid="44"/>
                                        </p:tgtEl>
                                        <p:attrNameLst>
                                          <p:attrName>ppt_x</p:attrName>
                                        </p:attrNameLst>
                                      </p:cBhvr>
                                      <p:tavLst>
                                        <p:tav tm="0">
                                          <p:val>
                                            <p:strVal val="#ppt_x"/>
                                          </p:val>
                                        </p:tav>
                                        <p:tav tm="100000">
                                          <p:val>
                                            <p:strVal val="#ppt_x"/>
                                          </p:val>
                                        </p:tav>
                                      </p:tavLst>
                                    </p:anim>
                                    <p:anim calcmode="lin" valueType="num">
                                      <p:cBhvr additive="base">
                                        <p:cTn id="174" dur="500" fill="hold"/>
                                        <p:tgtEl>
                                          <p:spTgt spid="44"/>
                                        </p:tgtEl>
                                        <p:attrNameLst>
                                          <p:attrName>ppt_y</p:attrName>
                                        </p:attrNameLst>
                                      </p:cBhvr>
                                      <p:tavLst>
                                        <p:tav tm="0">
                                          <p:val>
                                            <p:strVal val="#ppt_y+0.1"/>
                                          </p:val>
                                        </p:tav>
                                        <p:tav tm="100000">
                                          <p:val>
                                            <p:strVal val="#ppt_y"/>
                                          </p:val>
                                        </p:tav>
                                      </p:tavLst>
                                    </p:anim>
                                    <p:animEffect transition="in" filter="fade">
                                      <p:cBhvr>
                                        <p:cTn id="175" dur="500"/>
                                        <p:tgtEl>
                                          <p:spTgt spid="44"/>
                                        </p:tgtEl>
                                      </p:cBhvr>
                                    </p:animEffect>
                                  </p:childTnLst>
                                </p:cTn>
                              </p:par>
                            </p:childTnLst>
                          </p:cTn>
                        </p:par>
                      </p:childTnLst>
                    </p:cTn>
                  </p:par>
                  <p:par>
                    <p:cTn id="177" fill="hold">
                      <p:stCondLst>
                        <p:cond delay="indefinite"/>
                      </p:stCondLst>
                      <p:childTnLst>
                        <p:par>
                          <p:cTn id="178" fill="hold">
                            <p:stCondLst>
                              <p:cond delay="0"/>
                            </p:stCondLst>
                            <p:childTnLst>
                              <p:par>
                                <p:cTn id="183" presetID="2" presetClass="entr" presetSubtype="4" fill="hold" grpId="0" nodeType="clickEffect">
                                  <p:stCondLst>
                                    <p:cond delay="0"/>
                                  </p:stCondLst>
                                  <p:childTnLst>
                                    <p:set>
                                      <p:cBhvr>
                                        <p:cTn id="179" dur="1" fill="hold">
                                          <p:stCondLst>
                                            <p:cond delay="0"/>
                                          </p:stCondLst>
                                        </p:cTn>
                                        <p:tgtEl>
                                          <p:spTgt spid="45"/>
                                        </p:tgtEl>
                                        <p:attrNameLst>
                                          <p:attrName>style.visibility</p:attrName>
                                        </p:attrNameLst>
                                      </p:cBhvr>
                                      <p:to>
                                        <p:strVal val="visible"/>
                                      </p:to>
                                    </p:set>
                                    <p:anim calcmode="lin" valueType="num">
                                      <p:cBhvr additive="base">
                                        <p:cTn id="180" dur="500" fill="hold"/>
                                        <p:tgtEl>
                                          <p:spTgt spid="45"/>
                                        </p:tgtEl>
                                        <p:attrNameLst>
                                          <p:attrName>ppt_x</p:attrName>
                                        </p:attrNameLst>
                                      </p:cBhvr>
                                      <p:tavLst>
                                        <p:tav tm="0">
                                          <p:val>
                                            <p:strVal val="#ppt_x"/>
                                          </p:val>
                                        </p:tav>
                                        <p:tav tm="100000">
                                          <p:val>
                                            <p:strVal val="#ppt_x"/>
                                          </p:val>
                                        </p:tav>
                                      </p:tavLst>
                                    </p:anim>
                                    <p:anim calcmode="lin" valueType="num">
                                      <p:cBhvr additive="base">
                                        <p:cTn id="181" dur="500" fill="hold"/>
                                        <p:tgtEl>
                                          <p:spTgt spid="45"/>
                                        </p:tgtEl>
                                        <p:attrNameLst>
                                          <p:attrName>ppt_y</p:attrName>
                                        </p:attrNameLst>
                                      </p:cBhvr>
                                      <p:tavLst>
                                        <p:tav tm="0">
                                          <p:val>
                                            <p:strVal val="#ppt_y+0.1"/>
                                          </p:val>
                                        </p:tav>
                                        <p:tav tm="100000">
                                          <p:val>
                                            <p:strVal val="#ppt_y"/>
                                          </p:val>
                                        </p:tav>
                                      </p:tavLst>
                                    </p:anim>
                                    <p:animEffect transition="in" filter="fade">
                                      <p:cBhvr>
                                        <p:cTn id="182" dur="500"/>
                                        <p:tgtEl>
                                          <p:spTgt spid="45"/>
                                        </p:tgtEl>
                                      </p:cBhvr>
                                    </p:animEffect>
                                  </p:childTnLst>
                                </p:cTn>
                              </p:par>
                              <p:par>
                                <p:cTn id="188" presetID="2" presetClass="entr" presetSubtype="4" fill="hold" grpId="0" nodeType="withEffect">
                                  <p:stCondLst>
                                    <p:cond delay="0"/>
                                  </p:stCondLst>
                                  <p:childTnLst>
                                    <p:set>
                                      <p:cBhvr>
                                        <p:cTn id="184" dur="1" fill="hold">
                                          <p:stCondLst>
                                            <p:cond delay="0"/>
                                          </p:stCondLst>
                                        </p:cTn>
                                        <p:tgtEl>
                                          <p:spTgt spid="46"/>
                                        </p:tgtEl>
                                        <p:attrNameLst>
                                          <p:attrName>style.visibility</p:attrName>
                                        </p:attrNameLst>
                                      </p:cBhvr>
                                      <p:to>
                                        <p:strVal val="visible"/>
                                      </p:to>
                                    </p:set>
                                    <p:anim calcmode="lin" valueType="num">
                                      <p:cBhvr additive="base">
                                        <p:cTn id="185" dur="500" fill="hold"/>
                                        <p:tgtEl>
                                          <p:spTgt spid="46"/>
                                        </p:tgtEl>
                                        <p:attrNameLst>
                                          <p:attrName>ppt_x</p:attrName>
                                        </p:attrNameLst>
                                      </p:cBhvr>
                                      <p:tavLst>
                                        <p:tav tm="0">
                                          <p:val>
                                            <p:strVal val="#ppt_x"/>
                                          </p:val>
                                        </p:tav>
                                        <p:tav tm="100000">
                                          <p:val>
                                            <p:strVal val="#ppt_x"/>
                                          </p:val>
                                        </p:tav>
                                      </p:tavLst>
                                    </p:anim>
                                    <p:anim calcmode="lin" valueType="num">
                                      <p:cBhvr additive="base">
                                        <p:cTn id="186" dur="500" fill="hold"/>
                                        <p:tgtEl>
                                          <p:spTgt spid="46"/>
                                        </p:tgtEl>
                                        <p:attrNameLst>
                                          <p:attrName>ppt_y</p:attrName>
                                        </p:attrNameLst>
                                      </p:cBhvr>
                                      <p:tavLst>
                                        <p:tav tm="0">
                                          <p:val>
                                            <p:strVal val="#ppt_y+0.1"/>
                                          </p:val>
                                        </p:tav>
                                        <p:tav tm="100000">
                                          <p:val>
                                            <p:strVal val="#ppt_y"/>
                                          </p:val>
                                        </p:tav>
                                      </p:tavLst>
                                    </p:anim>
                                    <p:animEffect transition="in" filter="fade">
                                      <p:cBhvr>
                                        <p:cTn id="187" dur="500"/>
                                        <p:tgtEl>
                                          <p:spTgt spid="46"/>
                                        </p:tgtEl>
                                      </p:cBhvr>
                                    </p:animEffect>
                                  </p:childTnLst>
                                </p:cTn>
                              </p:par>
                              <p:par>
                                <p:cTn id="193" presetID="2" presetClass="entr" presetSubtype="4" fill="hold" grpId="0" nodeType="withEffect">
                                  <p:stCondLst>
                                    <p:cond delay="0"/>
                                  </p:stCondLst>
                                  <p:childTnLst>
                                    <p:set>
                                      <p:cBhvr>
                                        <p:cTn id="189" dur="1" fill="hold">
                                          <p:stCondLst>
                                            <p:cond delay="0"/>
                                          </p:stCondLst>
                                        </p:cTn>
                                        <p:tgtEl>
                                          <p:spTgt spid="47"/>
                                        </p:tgtEl>
                                        <p:attrNameLst>
                                          <p:attrName>style.visibility</p:attrName>
                                        </p:attrNameLst>
                                      </p:cBhvr>
                                      <p:to>
                                        <p:strVal val="visible"/>
                                      </p:to>
                                    </p:set>
                                    <p:anim calcmode="lin" valueType="num">
                                      <p:cBhvr additive="base">
                                        <p:cTn id="190" dur="500" fill="hold"/>
                                        <p:tgtEl>
                                          <p:spTgt spid="47"/>
                                        </p:tgtEl>
                                        <p:attrNameLst>
                                          <p:attrName>ppt_x</p:attrName>
                                        </p:attrNameLst>
                                      </p:cBhvr>
                                      <p:tavLst>
                                        <p:tav tm="0">
                                          <p:val>
                                            <p:strVal val="#ppt_x"/>
                                          </p:val>
                                        </p:tav>
                                        <p:tav tm="100000">
                                          <p:val>
                                            <p:strVal val="#ppt_x"/>
                                          </p:val>
                                        </p:tav>
                                      </p:tavLst>
                                    </p:anim>
                                    <p:anim calcmode="lin" valueType="num">
                                      <p:cBhvr additive="base">
                                        <p:cTn id="191" dur="500" fill="hold"/>
                                        <p:tgtEl>
                                          <p:spTgt spid="47"/>
                                        </p:tgtEl>
                                        <p:attrNameLst>
                                          <p:attrName>ppt_y</p:attrName>
                                        </p:attrNameLst>
                                      </p:cBhvr>
                                      <p:tavLst>
                                        <p:tav tm="0">
                                          <p:val>
                                            <p:strVal val="#ppt_y+0.1"/>
                                          </p:val>
                                        </p:tav>
                                        <p:tav tm="100000">
                                          <p:val>
                                            <p:strVal val="#ppt_y"/>
                                          </p:val>
                                        </p:tav>
                                      </p:tavLst>
                                    </p:anim>
                                    <p:animEffect transition="in" filter="fade">
                                      <p:cBhvr>
                                        <p:cTn id="192"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Where Connect Runs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Outside the brokers: source connectors on the way in, sink connectors on the way out</a:t>
            </a:r>
          </a:p>
        </p:txBody>
      </p:sp>
      <p:sp>
        <p:nvSpPr>
          <p:cNvPr id="11" name="a1u_pill10"/>
          <p:cNvSpPr/>
          <p:nvPr/>
        </p:nvSpPr>
        <p:spPr>
          <a:xfrm>
            <a:off x="457200" y="1691640"/>
            <a:ext cx="1188720" cy="347472"/>
          </a:xfrm>
          <a:prstGeom prst="roundRect">
            <a:avLst>
              <a:gd name="adj" fmla="val 50000"/>
            </a:avLst>
          </a:prstGeom>
          <a:solidFill>
            <a:srgbClr val="FFFFFF"/>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1C1917"/>
                </a:solidFill>
                <a:latin typeface="Segoe UI"/>
              </a:rPr>
              <a:t>PostgreSQL</a:t>
            </a:r>
          </a:p>
        </p:txBody>
      </p:sp>
      <p:sp>
        <p:nvSpPr>
          <p:cNvPr id="12" name="a1u_pill11"/>
          <p:cNvSpPr/>
          <p:nvPr/>
        </p:nvSpPr>
        <p:spPr>
          <a:xfrm>
            <a:off x="457200" y="2331720"/>
            <a:ext cx="1188720" cy="347472"/>
          </a:xfrm>
          <a:prstGeom prst="roundRect">
            <a:avLst>
              <a:gd name="adj" fmla="val 50000"/>
            </a:avLst>
          </a:prstGeom>
          <a:solidFill>
            <a:srgbClr val="FFFFFF"/>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1C1917"/>
                </a:solidFill>
                <a:latin typeface="Segoe UI"/>
              </a:rPr>
              <a:t>SaaS app</a:t>
            </a:r>
          </a:p>
        </p:txBody>
      </p:sp>
      <p:sp>
        <p:nvSpPr>
          <p:cNvPr id="13" name="a1u_cf12"/>
          <p:cNvSpPr/>
          <p:nvPr/>
        </p:nvSpPr>
        <p:spPr>
          <a:xfrm>
            <a:off x="1874519" y="1325880"/>
            <a:ext cx="1600200" cy="1965960"/>
          </a:xfrm>
          <a:prstGeom prst="roundRect">
            <a:avLst>
              <a:gd name="adj" fmla="val 5714"/>
            </a:avLst>
          </a:prstGeom>
          <a:noFill/>
          <a:ln w="15875">
            <a:solidFill>
              <a:srgbClr val="EA580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u_cfh13"/>
          <p:cNvSpPr txBox="1"/>
          <p:nvPr/>
        </p:nvSpPr>
        <p:spPr>
          <a:xfrm>
            <a:off x="2011679" y="1399032"/>
            <a:ext cx="1371600" cy="237744"/>
          </a:xfrm>
          <a:prstGeom prst="rect">
            <a:avLst/>
          </a:prstGeom>
          <a:noFill/>
        </p:spPr>
        <p:txBody>
          <a:bodyPr wrap="square" lIns="0" tIns="0" rIns="0" bIns="0" anchor="ctr">
            <a:spAutoFit/>
          </a:bodyPr>
          <a:lstStyle/>
          <a:p>
            <a:pPr algn="l"/>
            <a:r>
              <a:rPr sz="850" b="1" spc="160">
                <a:solidFill>
                  <a:srgbClr val="C2410C"/>
                </a:solidFill>
                <a:latin typeface="Segoe UI"/>
              </a:rPr>
              <a:t>CONNECT</a:t>
            </a:r>
          </a:p>
        </p:txBody>
      </p:sp>
      <p:sp>
        <p:nvSpPr>
          <p:cNvPr id="15" name="a1ud100_nd14"/>
          <p:cNvSpPr/>
          <p:nvPr/>
        </p:nvSpPr>
        <p:spPr>
          <a:xfrm>
            <a:off x="2011680" y="1691640"/>
            <a:ext cx="1325880" cy="502920"/>
          </a:xfrm>
          <a:prstGeom prst="roundRect">
            <a:avLst>
              <a:gd name="adj" fmla="val 14545"/>
            </a:avLst>
          </a:prstGeom>
          <a:solidFill>
            <a:srgbClr val="FFFFFF"/>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1ud100_ndt15"/>
          <p:cNvSpPr txBox="1"/>
          <p:nvPr/>
        </p:nvSpPr>
        <p:spPr>
          <a:xfrm>
            <a:off x="2057400" y="1728216"/>
            <a:ext cx="1234439" cy="233172"/>
          </a:xfrm>
          <a:prstGeom prst="rect">
            <a:avLst/>
          </a:prstGeom>
          <a:noFill/>
        </p:spPr>
        <p:txBody>
          <a:bodyPr wrap="square" lIns="0" tIns="0" rIns="0" bIns="0" anchor="b">
            <a:spAutoFit/>
          </a:bodyPr>
          <a:lstStyle/>
          <a:p>
            <a:pPr algn="ctr"/>
            <a:r>
              <a:rPr sz="850" b="1">
                <a:solidFill>
                  <a:srgbClr val="1C1917"/>
                </a:solidFill>
                <a:latin typeface="Segoe UI"/>
              </a:rPr>
              <a:t>worker 1</a:t>
            </a:r>
          </a:p>
        </p:txBody>
      </p:sp>
      <p:sp>
        <p:nvSpPr>
          <p:cNvPr id="17" name="a1ud100_nds16"/>
          <p:cNvSpPr txBox="1"/>
          <p:nvPr/>
        </p:nvSpPr>
        <p:spPr>
          <a:xfrm>
            <a:off x="2057400" y="1970531"/>
            <a:ext cx="1234439" cy="187452"/>
          </a:xfrm>
          <a:prstGeom prst="rect">
            <a:avLst/>
          </a:prstGeom>
          <a:noFill/>
        </p:spPr>
        <p:txBody>
          <a:bodyPr wrap="square" lIns="0" tIns="0" rIns="0" bIns="0" anchor="t">
            <a:spAutoFit/>
          </a:bodyPr>
          <a:lstStyle/>
          <a:p>
            <a:pPr algn="ctr"/>
            <a:r>
              <a:rPr sz="700" b="0">
                <a:solidFill>
                  <a:srgbClr val="EA580C"/>
                </a:solidFill>
                <a:latin typeface="Segoe UI"/>
              </a:rPr>
              <a:t>source connector</a:t>
            </a:r>
          </a:p>
        </p:txBody>
      </p:sp>
      <p:sp>
        <p:nvSpPr>
          <p:cNvPr id="18" name="a1ud100_nd17"/>
          <p:cNvSpPr/>
          <p:nvPr/>
        </p:nvSpPr>
        <p:spPr>
          <a:xfrm>
            <a:off x="2011680" y="2331720"/>
            <a:ext cx="1325880" cy="502920"/>
          </a:xfrm>
          <a:prstGeom prst="roundRect">
            <a:avLst>
              <a:gd name="adj" fmla="val 14545"/>
            </a:avLst>
          </a:prstGeom>
          <a:solidFill>
            <a:srgbClr val="FFFFFF"/>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ud100_ndt18"/>
          <p:cNvSpPr txBox="1"/>
          <p:nvPr/>
        </p:nvSpPr>
        <p:spPr>
          <a:xfrm>
            <a:off x="2057400" y="2368296"/>
            <a:ext cx="1234439" cy="233172"/>
          </a:xfrm>
          <a:prstGeom prst="rect">
            <a:avLst/>
          </a:prstGeom>
          <a:noFill/>
        </p:spPr>
        <p:txBody>
          <a:bodyPr wrap="square" lIns="0" tIns="0" rIns="0" bIns="0" anchor="b">
            <a:spAutoFit/>
          </a:bodyPr>
          <a:lstStyle/>
          <a:p>
            <a:pPr algn="ctr"/>
            <a:r>
              <a:rPr sz="850" b="1">
                <a:solidFill>
                  <a:srgbClr val="1C1917"/>
                </a:solidFill>
                <a:latin typeface="Segoe UI"/>
              </a:rPr>
              <a:t>worker 2</a:t>
            </a:r>
          </a:p>
        </p:txBody>
      </p:sp>
      <p:sp>
        <p:nvSpPr>
          <p:cNvPr id="20" name="a1ud100_nds19"/>
          <p:cNvSpPr txBox="1"/>
          <p:nvPr/>
        </p:nvSpPr>
        <p:spPr>
          <a:xfrm>
            <a:off x="2057400" y="2610611"/>
            <a:ext cx="1234439" cy="187452"/>
          </a:xfrm>
          <a:prstGeom prst="rect">
            <a:avLst/>
          </a:prstGeom>
          <a:noFill/>
        </p:spPr>
        <p:txBody>
          <a:bodyPr wrap="square" lIns="0" tIns="0" rIns="0" bIns="0" anchor="t">
            <a:spAutoFit/>
          </a:bodyPr>
          <a:lstStyle/>
          <a:p>
            <a:pPr algn="ctr"/>
            <a:r>
              <a:rPr sz="700" b="0">
                <a:solidFill>
                  <a:srgbClr val="EA580C"/>
                </a:solidFill>
                <a:latin typeface="Segoe UI"/>
              </a:rPr>
              <a:t>source connector</a:t>
            </a:r>
          </a:p>
        </p:txBody>
      </p:sp>
      <p:cxnSp>
        <p:nvCxnSpPr>
          <p:cNvPr id="21" name="a1u_ar20"/>
          <p:cNvCxnSpPr/>
          <p:nvPr/>
        </p:nvCxnSpPr>
        <p:spPr>
          <a:xfrm>
            <a:off x="1664208" y="2194560"/>
            <a:ext cx="192023" cy="0"/>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a1ud200_ar21"/>
          <p:cNvCxnSpPr/>
          <p:nvPr/>
        </p:nvCxnSpPr>
        <p:spPr>
          <a:xfrm>
            <a:off x="3493008" y="2194560"/>
            <a:ext cx="237744" cy="0"/>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a0f_cl22"/>
          <p:cNvSpPr/>
          <p:nvPr/>
        </p:nvSpPr>
        <p:spPr>
          <a:xfrm>
            <a:off x="3749039" y="1325880"/>
            <a:ext cx="1691640" cy="1965960"/>
          </a:xfrm>
          <a:prstGeom prst="roundRect">
            <a:avLst>
              <a:gd name="adj" fmla="val 5405"/>
            </a:avLst>
          </a:prstGeom>
          <a:solidFill>
            <a:srgbClr val="F7F6F3"/>
          </a:solidFill>
          <a:ln w="15875">
            <a:solidFill>
              <a:srgbClr val="0E749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0f_clh23"/>
          <p:cNvSpPr txBox="1"/>
          <p:nvPr/>
        </p:nvSpPr>
        <p:spPr>
          <a:xfrm>
            <a:off x="3886200" y="1399032"/>
            <a:ext cx="1463040" cy="237744"/>
          </a:xfrm>
          <a:prstGeom prst="rect">
            <a:avLst/>
          </a:prstGeom>
          <a:noFill/>
        </p:spPr>
        <p:txBody>
          <a:bodyPr wrap="square" lIns="0" tIns="0" rIns="0" bIns="0" anchor="ctr">
            <a:spAutoFit/>
          </a:bodyPr>
          <a:lstStyle/>
          <a:p>
            <a:pPr algn="l"/>
            <a:r>
              <a:rPr sz="850" b="1" spc="160">
                <a:solidFill>
                  <a:srgbClr val="0E7490"/>
                </a:solidFill>
                <a:latin typeface="Segoe UI"/>
              </a:rPr>
              <a:t>KAFKA CLUSTER</a:t>
            </a:r>
          </a:p>
        </p:txBody>
      </p:sp>
      <p:sp>
        <p:nvSpPr>
          <p:cNvPr id="25" name="a0f_pill24"/>
          <p:cNvSpPr/>
          <p:nvPr/>
        </p:nvSpPr>
        <p:spPr>
          <a:xfrm>
            <a:off x="3886200" y="1691640"/>
            <a:ext cx="1417320" cy="274320"/>
          </a:xfrm>
          <a:prstGeom prst="roundRect">
            <a:avLst>
              <a:gd name="adj" fmla="val 50000"/>
            </a:avLst>
          </a:prstGeom>
          <a:solidFill>
            <a:srgbClr val="FFFFFF"/>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0E7490"/>
                </a:solidFill>
                <a:latin typeface="Consolas"/>
              </a:rPr>
              <a:t>broker 1</a:t>
            </a:r>
          </a:p>
        </p:txBody>
      </p:sp>
      <p:sp>
        <p:nvSpPr>
          <p:cNvPr id="26" name="a0f_pill25"/>
          <p:cNvSpPr/>
          <p:nvPr/>
        </p:nvSpPr>
        <p:spPr>
          <a:xfrm>
            <a:off x="3886200" y="2057400"/>
            <a:ext cx="1417320" cy="274320"/>
          </a:xfrm>
          <a:prstGeom prst="roundRect">
            <a:avLst>
              <a:gd name="adj" fmla="val 50000"/>
            </a:avLst>
          </a:prstGeom>
          <a:solidFill>
            <a:srgbClr val="FFFFFF"/>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0E7490"/>
                </a:solidFill>
                <a:latin typeface="Consolas"/>
              </a:rPr>
              <a:t>broker 2</a:t>
            </a:r>
          </a:p>
        </p:txBody>
      </p:sp>
      <p:sp>
        <p:nvSpPr>
          <p:cNvPr id="27" name="a0f_pill26"/>
          <p:cNvSpPr/>
          <p:nvPr/>
        </p:nvSpPr>
        <p:spPr>
          <a:xfrm>
            <a:off x="3886200" y="2423160"/>
            <a:ext cx="1417320" cy="274320"/>
          </a:xfrm>
          <a:prstGeom prst="roundRect">
            <a:avLst>
              <a:gd name="adj" fmla="val 50000"/>
            </a:avLst>
          </a:prstGeom>
          <a:solidFill>
            <a:srgbClr val="FFFFFF"/>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0E7490"/>
                </a:solidFill>
                <a:latin typeface="Consolas"/>
              </a:rPr>
              <a:t>broker 3</a:t>
            </a:r>
          </a:p>
        </p:txBody>
      </p:sp>
      <p:sp>
        <p:nvSpPr>
          <p:cNvPr id="28" name="a0f_cell27"/>
          <p:cNvSpPr/>
          <p:nvPr/>
        </p:nvSpPr>
        <p:spPr>
          <a:xfrm>
            <a:off x="3886200" y="2816352"/>
            <a:ext cx="356616" cy="310896"/>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0f_cellt28"/>
          <p:cNvSpPr txBox="1"/>
          <p:nvPr/>
        </p:nvSpPr>
        <p:spPr>
          <a:xfrm>
            <a:off x="3886200" y="2816352"/>
            <a:ext cx="356616" cy="310896"/>
          </a:xfrm>
          <a:prstGeom prst="rect">
            <a:avLst/>
          </a:prstGeom>
          <a:noFill/>
        </p:spPr>
        <p:txBody>
          <a:bodyPr wrap="square" lIns="0" tIns="0" rIns="0" bIns="0" anchor="ctr">
            <a:spAutoFit/>
          </a:bodyPr>
          <a:lstStyle/>
          <a:p>
            <a:pPr algn="ctr"/>
            <a:r>
              <a:rPr sz="800" b="1">
                <a:solidFill>
                  <a:srgbClr val="0E7490"/>
                </a:solidFill>
                <a:latin typeface="Consolas"/>
              </a:rPr>
              <a:t>0</a:t>
            </a:r>
          </a:p>
        </p:txBody>
      </p:sp>
      <p:sp>
        <p:nvSpPr>
          <p:cNvPr id="30" name="a0f_cell29"/>
          <p:cNvSpPr/>
          <p:nvPr/>
        </p:nvSpPr>
        <p:spPr>
          <a:xfrm>
            <a:off x="4242816" y="2816352"/>
            <a:ext cx="356616" cy="310896"/>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0f_cellt30"/>
          <p:cNvSpPr txBox="1"/>
          <p:nvPr/>
        </p:nvSpPr>
        <p:spPr>
          <a:xfrm>
            <a:off x="4242816" y="2816352"/>
            <a:ext cx="356616" cy="310896"/>
          </a:xfrm>
          <a:prstGeom prst="rect">
            <a:avLst/>
          </a:prstGeom>
          <a:noFill/>
        </p:spPr>
        <p:txBody>
          <a:bodyPr wrap="square" lIns="0" tIns="0" rIns="0" bIns="0" anchor="ctr">
            <a:spAutoFit/>
          </a:bodyPr>
          <a:lstStyle/>
          <a:p>
            <a:pPr algn="ctr"/>
            <a:r>
              <a:rPr sz="800" b="1">
                <a:solidFill>
                  <a:srgbClr val="0E7490"/>
                </a:solidFill>
                <a:latin typeface="Consolas"/>
              </a:rPr>
              <a:t>1</a:t>
            </a:r>
          </a:p>
        </p:txBody>
      </p:sp>
      <p:sp>
        <p:nvSpPr>
          <p:cNvPr id="32" name="a0f_cell31"/>
          <p:cNvSpPr/>
          <p:nvPr/>
        </p:nvSpPr>
        <p:spPr>
          <a:xfrm>
            <a:off x="4599432" y="2816352"/>
            <a:ext cx="356616" cy="310896"/>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0f_cellt32"/>
          <p:cNvSpPr txBox="1"/>
          <p:nvPr/>
        </p:nvSpPr>
        <p:spPr>
          <a:xfrm>
            <a:off x="4599432" y="2816352"/>
            <a:ext cx="356616" cy="310896"/>
          </a:xfrm>
          <a:prstGeom prst="rect">
            <a:avLst/>
          </a:prstGeom>
          <a:noFill/>
        </p:spPr>
        <p:txBody>
          <a:bodyPr wrap="square" lIns="0" tIns="0" rIns="0" bIns="0" anchor="ctr">
            <a:spAutoFit/>
          </a:bodyPr>
          <a:lstStyle/>
          <a:p>
            <a:pPr algn="ctr"/>
            <a:r>
              <a:rPr sz="800" b="1">
                <a:solidFill>
                  <a:srgbClr val="0E7490"/>
                </a:solidFill>
                <a:latin typeface="Consolas"/>
              </a:rPr>
              <a:t>2</a:t>
            </a:r>
          </a:p>
        </p:txBody>
      </p:sp>
      <p:sp>
        <p:nvSpPr>
          <p:cNvPr id="34" name="a0f_cell33"/>
          <p:cNvSpPr/>
          <p:nvPr/>
        </p:nvSpPr>
        <p:spPr>
          <a:xfrm>
            <a:off x="4956048" y="2816352"/>
            <a:ext cx="356616" cy="310896"/>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0f_cellt34"/>
          <p:cNvSpPr txBox="1"/>
          <p:nvPr/>
        </p:nvSpPr>
        <p:spPr>
          <a:xfrm>
            <a:off x="4956048" y="2816352"/>
            <a:ext cx="356616" cy="310896"/>
          </a:xfrm>
          <a:prstGeom prst="rect">
            <a:avLst/>
          </a:prstGeom>
          <a:noFill/>
        </p:spPr>
        <p:txBody>
          <a:bodyPr wrap="square" lIns="0" tIns="0" rIns="0" bIns="0" anchor="ctr">
            <a:spAutoFit/>
          </a:bodyPr>
          <a:lstStyle/>
          <a:p>
            <a:pPr algn="ctr"/>
            <a:r>
              <a:rPr sz="800" b="1">
                <a:solidFill>
                  <a:srgbClr val="0E7490"/>
                </a:solidFill>
                <a:latin typeface="Consolas"/>
              </a:rPr>
              <a:t>3</a:t>
            </a:r>
          </a:p>
        </p:txBody>
      </p:sp>
      <p:cxnSp>
        <p:nvCxnSpPr>
          <p:cNvPr id="36" name="a2u_ar35"/>
          <p:cNvCxnSpPr/>
          <p:nvPr/>
        </p:nvCxnSpPr>
        <p:spPr>
          <a:xfrm>
            <a:off x="5458968" y="2194560"/>
            <a:ext cx="192024" cy="0"/>
          </a:xfrm>
          <a:prstGeom prst="line">
            <a:avLst/>
          </a:prstGeom>
          <a:ln w="1905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a2u_cf36"/>
          <p:cNvSpPr/>
          <p:nvPr/>
        </p:nvSpPr>
        <p:spPr>
          <a:xfrm>
            <a:off x="5669280" y="1325880"/>
            <a:ext cx="1600200" cy="1965960"/>
          </a:xfrm>
          <a:prstGeom prst="roundRect">
            <a:avLst>
              <a:gd name="adj" fmla="val 5714"/>
            </a:avLst>
          </a:prstGeom>
          <a:noFill/>
          <a:ln w="15875">
            <a:solidFill>
              <a:srgbClr val="EA580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2u_cfh37"/>
          <p:cNvSpPr txBox="1"/>
          <p:nvPr/>
        </p:nvSpPr>
        <p:spPr>
          <a:xfrm>
            <a:off x="5806440" y="1399032"/>
            <a:ext cx="1371600" cy="237744"/>
          </a:xfrm>
          <a:prstGeom prst="rect">
            <a:avLst/>
          </a:prstGeom>
          <a:noFill/>
        </p:spPr>
        <p:txBody>
          <a:bodyPr wrap="square" lIns="0" tIns="0" rIns="0" bIns="0" anchor="ctr">
            <a:spAutoFit/>
          </a:bodyPr>
          <a:lstStyle/>
          <a:p>
            <a:pPr algn="l"/>
            <a:r>
              <a:rPr sz="850" b="1" spc="160">
                <a:solidFill>
                  <a:srgbClr val="C2410C"/>
                </a:solidFill>
                <a:latin typeface="Segoe UI"/>
              </a:rPr>
              <a:t>CONNECT</a:t>
            </a:r>
          </a:p>
        </p:txBody>
      </p:sp>
      <p:sp>
        <p:nvSpPr>
          <p:cNvPr id="39" name="a2ud100_nd38"/>
          <p:cNvSpPr/>
          <p:nvPr/>
        </p:nvSpPr>
        <p:spPr>
          <a:xfrm>
            <a:off x="5806440" y="1691640"/>
            <a:ext cx="1325880" cy="502920"/>
          </a:xfrm>
          <a:prstGeom prst="roundRect">
            <a:avLst>
              <a:gd name="adj" fmla="val 14545"/>
            </a:avLst>
          </a:prstGeom>
          <a:solidFill>
            <a:srgbClr val="FFFFFF"/>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2ud100_ndt39"/>
          <p:cNvSpPr txBox="1"/>
          <p:nvPr/>
        </p:nvSpPr>
        <p:spPr>
          <a:xfrm>
            <a:off x="5852159" y="1728216"/>
            <a:ext cx="1234439" cy="233172"/>
          </a:xfrm>
          <a:prstGeom prst="rect">
            <a:avLst/>
          </a:prstGeom>
          <a:noFill/>
        </p:spPr>
        <p:txBody>
          <a:bodyPr wrap="square" lIns="0" tIns="0" rIns="0" bIns="0" anchor="b">
            <a:spAutoFit/>
          </a:bodyPr>
          <a:lstStyle/>
          <a:p>
            <a:pPr algn="ctr"/>
            <a:r>
              <a:rPr sz="850" b="1">
                <a:solidFill>
                  <a:srgbClr val="1C1917"/>
                </a:solidFill>
                <a:latin typeface="Segoe UI"/>
              </a:rPr>
              <a:t>worker 1</a:t>
            </a:r>
          </a:p>
        </p:txBody>
      </p:sp>
      <p:sp>
        <p:nvSpPr>
          <p:cNvPr id="41" name="a2ud100_nds40"/>
          <p:cNvSpPr txBox="1"/>
          <p:nvPr/>
        </p:nvSpPr>
        <p:spPr>
          <a:xfrm>
            <a:off x="5852159" y="1970531"/>
            <a:ext cx="1234439" cy="187452"/>
          </a:xfrm>
          <a:prstGeom prst="rect">
            <a:avLst/>
          </a:prstGeom>
          <a:noFill/>
        </p:spPr>
        <p:txBody>
          <a:bodyPr wrap="square" lIns="0" tIns="0" rIns="0" bIns="0" anchor="t">
            <a:spAutoFit/>
          </a:bodyPr>
          <a:lstStyle/>
          <a:p>
            <a:pPr algn="ctr"/>
            <a:r>
              <a:rPr sz="700" b="0">
                <a:solidFill>
                  <a:srgbClr val="4F46E5"/>
                </a:solidFill>
                <a:latin typeface="Segoe UI"/>
              </a:rPr>
              <a:t>sink connector</a:t>
            </a:r>
          </a:p>
        </p:txBody>
      </p:sp>
      <p:sp>
        <p:nvSpPr>
          <p:cNvPr id="42" name="a2ud100_nd41"/>
          <p:cNvSpPr/>
          <p:nvPr/>
        </p:nvSpPr>
        <p:spPr>
          <a:xfrm>
            <a:off x="5806440" y="2331720"/>
            <a:ext cx="1325880" cy="502920"/>
          </a:xfrm>
          <a:prstGeom prst="roundRect">
            <a:avLst>
              <a:gd name="adj" fmla="val 14545"/>
            </a:avLst>
          </a:prstGeom>
          <a:solidFill>
            <a:srgbClr val="FFFFFF"/>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2ud100_ndt42"/>
          <p:cNvSpPr txBox="1"/>
          <p:nvPr/>
        </p:nvSpPr>
        <p:spPr>
          <a:xfrm>
            <a:off x="5852159" y="2368296"/>
            <a:ext cx="1234439" cy="233172"/>
          </a:xfrm>
          <a:prstGeom prst="rect">
            <a:avLst/>
          </a:prstGeom>
          <a:noFill/>
        </p:spPr>
        <p:txBody>
          <a:bodyPr wrap="square" lIns="0" tIns="0" rIns="0" bIns="0" anchor="b">
            <a:spAutoFit/>
          </a:bodyPr>
          <a:lstStyle/>
          <a:p>
            <a:pPr algn="ctr"/>
            <a:r>
              <a:rPr sz="850" b="1">
                <a:solidFill>
                  <a:srgbClr val="1C1917"/>
                </a:solidFill>
                <a:latin typeface="Segoe UI"/>
              </a:rPr>
              <a:t>worker 2</a:t>
            </a:r>
          </a:p>
        </p:txBody>
      </p:sp>
      <p:sp>
        <p:nvSpPr>
          <p:cNvPr id="44" name="a2ud100_nds43"/>
          <p:cNvSpPr txBox="1"/>
          <p:nvPr/>
        </p:nvSpPr>
        <p:spPr>
          <a:xfrm>
            <a:off x="5852159" y="2610611"/>
            <a:ext cx="1234439" cy="187452"/>
          </a:xfrm>
          <a:prstGeom prst="rect">
            <a:avLst/>
          </a:prstGeom>
          <a:noFill/>
        </p:spPr>
        <p:txBody>
          <a:bodyPr wrap="square" lIns="0" tIns="0" rIns="0" bIns="0" anchor="t">
            <a:spAutoFit/>
          </a:bodyPr>
          <a:lstStyle/>
          <a:p>
            <a:pPr algn="ctr"/>
            <a:r>
              <a:rPr sz="700" b="0">
                <a:solidFill>
                  <a:srgbClr val="4F46E5"/>
                </a:solidFill>
                <a:latin typeface="Segoe UI"/>
              </a:rPr>
              <a:t>sink connector</a:t>
            </a:r>
          </a:p>
        </p:txBody>
      </p:sp>
      <p:cxnSp>
        <p:nvCxnSpPr>
          <p:cNvPr id="45" name="a2ud200_ar44"/>
          <p:cNvCxnSpPr/>
          <p:nvPr/>
        </p:nvCxnSpPr>
        <p:spPr>
          <a:xfrm>
            <a:off x="7287768" y="2194560"/>
            <a:ext cx="192024" cy="0"/>
          </a:xfrm>
          <a:prstGeom prst="line">
            <a:avLst/>
          </a:prstGeom>
          <a:ln w="1905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a2ud200_pill45"/>
          <p:cNvSpPr/>
          <p:nvPr/>
        </p:nvSpPr>
        <p:spPr>
          <a:xfrm>
            <a:off x="7498079" y="1691640"/>
            <a:ext cx="1188720" cy="347472"/>
          </a:xfrm>
          <a:prstGeom prst="roundRect">
            <a:avLst>
              <a:gd name="adj" fmla="val 50000"/>
            </a:avLst>
          </a:prstGeom>
          <a:solidFill>
            <a:srgbClr val="FFFFFF"/>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1C1917"/>
                </a:solidFill>
                <a:latin typeface="Segoe UI"/>
              </a:rPr>
              <a:t>Elasticsearch</a:t>
            </a:r>
          </a:p>
        </p:txBody>
      </p:sp>
      <p:sp>
        <p:nvSpPr>
          <p:cNvPr id="47" name="a2ud200_pill46"/>
          <p:cNvSpPr/>
          <p:nvPr/>
        </p:nvSpPr>
        <p:spPr>
          <a:xfrm>
            <a:off x="7498079" y="2331720"/>
            <a:ext cx="1188720" cy="347472"/>
          </a:xfrm>
          <a:prstGeom prst="roundRect">
            <a:avLst>
              <a:gd name="adj" fmla="val 50000"/>
            </a:avLst>
          </a:prstGeom>
          <a:solidFill>
            <a:srgbClr val="FFFFFF"/>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1C1917"/>
                </a:solidFill>
                <a:latin typeface="Segoe UI"/>
              </a:rPr>
              <a:t>warehouse</a:t>
            </a:r>
          </a:p>
        </p:txBody>
      </p:sp>
      <p:sp>
        <p:nvSpPr>
          <p:cNvPr id="48" name="a1ud300_lb47"/>
          <p:cNvSpPr txBox="1"/>
          <p:nvPr/>
        </p:nvSpPr>
        <p:spPr>
          <a:xfrm>
            <a:off x="1874519" y="3383280"/>
            <a:ext cx="1600200" cy="201168"/>
          </a:xfrm>
          <a:prstGeom prst="rect">
            <a:avLst/>
          </a:prstGeom>
          <a:noFill/>
        </p:spPr>
        <p:txBody>
          <a:bodyPr wrap="square" lIns="0" tIns="0" rIns="0" bIns="0" anchor="ctr">
            <a:spAutoFit/>
          </a:bodyPr>
          <a:lstStyle/>
          <a:p>
            <a:pPr algn="ctr"/>
            <a:r>
              <a:rPr sz="850" b="1">
                <a:solidFill>
                  <a:srgbClr val="C2410C"/>
                </a:solidFill>
                <a:latin typeface="Segoe UI"/>
              </a:rPr>
              <a:t>reads, then produces</a:t>
            </a:r>
          </a:p>
        </p:txBody>
      </p:sp>
      <p:sp>
        <p:nvSpPr>
          <p:cNvPr id="49" name="a2ud300_lb48"/>
          <p:cNvSpPr txBox="1"/>
          <p:nvPr/>
        </p:nvSpPr>
        <p:spPr>
          <a:xfrm>
            <a:off x="5669280" y="3383280"/>
            <a:ext cx="1600200" cy="201168"/>
          </a:xfrm>
          <a:prstGeom prst="rect">
            <a:avLst/>
          </a:prstGeom>
          <a:noFill/>
        </p:spPr>
        <p:txBody>
          <a:bodyPr wrap="square" lIns="0" tIns="0" rIns="0" bIns="0" anchor="ctr">
            <a:spAutoFit/>
          </a:bodyPr>
          <a:lstStyle/>
          <a:p>
            <a:pPr algn="ctr"/>
            <a:r>
              <a:rPr sz="850" b="1">
                <a:solidFill>
                  <a:srgbClr val="4F46E5"/>
                </a:solidFill>
                <a:latin typeface="Segoe UI"/>
              </a:rPr>
              <a:t>consumes, then writes</a:t>
            </a:r>
          </a:p>
        </p:txBody>
      </p:sp>
      <p:sp>
        <p:nvSpPr>
          <p:cNvPr id="50" name="a3u_nb49"/>
          <p:cNvSpPr/>
          <p:nvPr/>
        </p:nvSpPr>
        <p:spPr>
          <a:xfrm>
            <a:off x="457200" y="3886200"/>
            <a:ext cx="8229600" cy="566928"/>
          </a:xfrm>
          <a:prstGeom prst="roundRect">
            <a:avLst>
              <a:gd name="adj" fmla="val 12903"/>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a3u_nacc50"/>
          <p:cNvSpPr/>
          <p:nvPr/>
        </p:nvSpPr>
        <p:spPr>
          <a:xfrm>
            <a:off x="457200" y="3886200"/>
            <a:ext cx="54864"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a3u_nt51"/>
          <p:cNvSpPr txBox="1"/>
          <p:nvPr/>
        </p:nvSpPr>
        <p:spPr>
          <a:xfrm>
            <a:off x="658368" y="3886200"/>
            <a:ext cx="7827264" cy="566928"/>
          </a:xfrm>
          <a:prstGeom prst="rect">
            <a:avLst/>
          </a:prstGeom>
          <a:noFill/>
        </p:spPr>
        <p:txBody>
          <a:bodyPr wrap="square" lIns="0" tIns="0" rIns="0" bIns="0" anchor="ctr">
            <a:spAutoFit/>
          </a:bodyPr>
          <a:lstStyle/>
          <a:p>
            <a:pPr algn="l"/>
            <a:r>
              <a:rPr sz="950" b="1">
                <a:solidFill>
                  <a:srgbClr val="C2410C"/>
                </a:solidFill>
                <a:latin typeface="Segoe UI"/>
              </a:rPr>
              <a:t>KEY  </a:t>
            </a:r>
            <a:r>
              <a:rPr sz="950" b="0">
                <a:solidFill>
                  <a:srgbClr val="44403C"/>
                </a:solidFill>
                <a:latin typeface="Segoe UI"/>
              </a:rPr>
              <a:t>One Connect instance works. Usually it is a cluster of several, for fault tolerance and for scale.</a:t>
            </a:r>
          </a:p>
        </p:txBody>
      </p:sp>
      <p:sp>
        <p:nvSpPr>
          <p:cNvPr id="53" name="ft52"/>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04</a:t>
            </a:r>
          </a:p>
        </p:txBody>
      </p:sp>
      <p:sp>
        <p:nvSpPr>
          <p:cNvPr id="54" name="ft53"/>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ft54"/>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Kafka Connect</a:t>
            </a:r>
          </a:p>
        </p:txBody>
      </p:sp>
      <p:sp>
        <p:nvSpPr>
          <p:cNvPr id="56" name="ft55"/>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9</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23"/>
                                        </p:tgtEl>
                                        <p:attrNameLst>
                                          <p:attrName>style.visibility</p:attrName>
                                        </p:attrNameLst>
                                      </p:cBhvr>
                                      <p:to>
                                        <p:strVal val="visible"/>
                                      </p:to>
                                    </p:set>
                                    <p:animEffect transition="in" filter="fade">
                                      <p:cBhvr>
                                        <p:cTn id="6" dur="500"/>
                                        <p:tgtEl>
                                          <p:spTgt spid="23"/>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animEffect transition="in" filter="fade">
                                      <p:cBhvr>
                                        <p:cTn id="9" dur="500"/>
                                        <p:tgtEl>
                                          <p:spTgt spid="24"/>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500"/>
                                        <p:tgtEl>
                                          <p:spTgt spid="25"/>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00"/>
                                        <p:tgtEl>
                                          <p:spTgt spid="26"/>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fade">
                                      <p:cBhvr>
                                        <p:cTn id="18" dur="500"/>
                                        <p:tgtEl>
                                          <p:spTgt spid="27"/>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500"/>
                                        <p:tgtEl>
                                          <p:spTgt spid="28"/>
                                        </p:tgtEl>
                                      </p:cBhvr>
                                    </p:animEffect>
                                  </p:childTnLst>
                                </p:cTn>
                              </p:par>
                              <p:par>
                                <p:cTn id="25" presetID="10" presetClass="entr" presetSubtype="0" fill="hold" grpId="0" nodeType="with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500"/>
                                        <p:tgtEl>
                                          <p:spTgt spid="29"/>
                                        </p:tgtEl>
                                      </p:cBhvr>
                                    </p:animEffect>
                                  </p:childTnLst>
                                </p:cTn>
                              </p:par>
                              <p:par>
                                <p:cTn id="28" presetID="10"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500"/>
                                        <p:tgtEl>
                                          <p:spTgt spid="30"/>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fade">
                                      <p:cBhvr>
                                        <p:cTn id="30" dur="500"/>
                                        <p:tgtEl>
                                          <p:spTgt spid="31"/>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fade">
                                      <p:cBhvr>
                                        <p:cTn id="33" dur="500"/>
                                        <p:tgtEl>
                                          <p:spTgt spid="32"/>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fade">
                                      <p:cBhvr>
                                        <p:cTn id="36" dur="500"/>
                                        <p:tgtEl>
                                          <p:spTgt spid="33"/>
                                        </p:tgtEl>
                                      </p:cBhvr>
                                    </p:animEffect>
                                  </p:childTnLst>
                                </p:cTn>
                              </p:par>
                              <p:par>
                                <p:cTn id="40" presetID="10"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fade">
                                      <p:cBhvr>
                                        <p:cTn id="39" dur="500"/>
                                        <p:tgtEl>
                                          <p:spTgt spid="34"/>
                                        </p:tgtEl>
                                      </p:cBhvr>
                                    </p:animEffect>
                                  </p:childTnLst>
                                </p:cTn>
                              </p:par>
                              <p:par>
                                <p:cTn id="43" presetID="10" presetClass="entr" presetSubtype="0" fill="hold" grpId="0" nodeType="with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fade">
                                      <p:cBhvr>
                                        <p:cTn id="42" dur="500"/>
                                        <p:tgtEl>
                                          <p:spTgt spid="35"/>
                                        </p:tgtEl>
                                      </p:cBhvr>
                                    </p:animEffect>
                                  </p:childTnLst>
                                </p:cTn>
                              </p:par>
                            </p:childTnLst>
                          </p:cTn>
                        </p:par>
                      </p:childTnLst>
                    </p:cTn>
                  </p:par>
                  <p:par>
                    <p:cTn id="44" fill="hold">
                      <p:stCondLst>
                        <p:cond delay="indefinite"/>
                      </p:stCondLst>
                      <p:childTnLst>
                        <p:par>
                          <p:cTn id="45" fill="hold">
                            <p:stCondLst>
                              <p:cond delay="0"/>
                            </p:stCondLst>
                            <p:childTnLst>
                              <p:par>
                                <p:cTn id="50" presetID="2" presetClass="entr" presetSubtype="4"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 calcmode="lin" valueType="num">
                                      <p:cBhvr additive="base">
                                        <p:cTn id="47" dur="500" fill="hold"/>
                                        <p:tgtEl>
                                          <p:spTgt spid="11"/>
                                        </p:tgtEl>
                                        <p:attrNameLst>
                                          <p:attrName>ppt_x</p:attrName>
                                        </p:attrNameLst>
                                      </p:cBhvr>
                                      <p:tavLst>
                                        <p:tav tm="0">
                                          <p:val>
                                            <p:strVal val="#ppt_x"/>
                                          </p:val>
                                        </p:tav>
                                        <p:tav tm="100000">
                                          <p:val>
                                            <p:strVal val="#ppt_x"/>
                                          </p:val>
                                        </p:tav>
                                      </p:tavLst>
                                    </p:anim>
                                    <p:anim calcmode="lin" valueType="num">
                                      <p:cBhvr additive="base">
                                        <p:cTn id="48" dur="500" fill="hold"/>
                                        <p:tgtEl>
                                          <p:spTgt spid="11"/>
                                        </p:tgtEl>
                                        <p:attrNameLst>
                                          <p:attrName>ppt_y</p:attrName>
                                        </p:attrNameLst>
                                      </p:cBhvr>
                                      <p:tavLst>
                                        <p:tav tm="0">
                                          <p:val>
                                            <p:strVal val="#ppt_y+0.1"/>
                                          </p:val>
                                        </p:tav>
                                        <p:tav tm="100000">
                                          <p:val>
                                            <p:strVal val="#ppt_y"/>
                                          </p:val>
                                        </p:tav>
                                      </p:tavLst>
                                    </p:anim>
                                    <p:animEffect transition="in" filter="fade">
                                      <p:cBhvr>
                                        <p:cTn id="49" dur="500"/>
                                        <p:tgtEl>
                                          <p:spTgt spid="11"/>
                                        </p:tgtEl>
                                      </p:cBhvr>
                                    </p:animEffect>
                                  </p:childTnLst>
                                </p:cTn>
                              </p:par>
                              <p:par>
                                <p:cTn id="55" presetID="2" presetClass="entr" presetSubtype="4" fill="hold" grpId="0" nodeType="withEffect">
                                  <p:stCondLst>
                                    <p:cond delay="0"/>
                                  </p:stCondLst>
                                  <p:childTnLst>
                                    <p:set>
                                      <p:cBhvr>
                                        <p:cTn id="51" dur="1" fill="hold">
                                          <p:stCondLst>
                                            <p:cond delay="0"/>
                                          </p:stCondLst>
                                        </p:cTn>
                                        <p:tgtEl>
                                          <p:spTgt spid="12"/>
                                        </p:tgtEl>
                                        <p:attrNameLst>
                                          <p:attrName>style.visibility</p:attrName>
                                        </p:attrNameLst>
                                      </p:cBhvr>
                                      <p:to>
                                        <p:strVal val="visible"/>
                                      </p:to>
                                    </p:set>
                                    <p:anim calcmode="lin" valueType="num">
                                      <p:cBhvr additive="base">
                                        <p:cTn id="52" dur="500" fill="hold"/>
                                        <p:tgtEl>
                                          <p:spTgt spid="12"/>
                                        </p:tgtEl>
                                        <p:attrNameLst>
                                          <p:attrName>ppt_x</p:attrName>
                                        </p:attrNameLst>
                                      </p:cBhvr>
                                      <p:tavLst>
                                        <p:tav tm="0">
                                          <p:val>
                                            <p:strVal val="#ppt_x"/>
                                          </p:val>
                                        </p:tav>
                                        <p:tav tm="100000">
                                          <p:val>
                                            <p:strVal val="#ppt_x"/>
                                          </p:val>
                                        </p:tav>
                                      </p:tavLst>
                                    </p:anim>
                                    <p:anim calcmode="lin" valueType="num">
                                      <p:cBhvr additive="base">
                                        <p:cTn id="53" dur="500" fill="hold"/>
                                        <p:tgtEl>
                                          <p:spTgt spid="12"/>
                                        </p:tgtEl>
                                        <p:attrNameLst>
                                          <p:attrName>ppt_y</p:attrName>
                                        </p:attrNameLst>
                                      </p:cBhvr>
                                      <p:tavLst>
                                        <p:tav tm="0">
                                          <p:val>
                                            <p:strVal val="#ppt_y+0.1"/>
                                          </p:val>
                                        </p:tav>
                                        <p:tav tm="100000">
                                          <p:val>
                                            <p:strVal val="#ppt_y"/>
                                          </p:val>
                                        </p:tav>
                                      </p:tavLst>
                                    </p:anim>
                                    <p:animEffect transition="in" filter="fade">
                                      <p:cBhvr>
                                        <p:cTn id="54" dur="500"/>
                                        <p:tgtEl>
                                          <p:spTgt spid="12"/>
                                        </p:tgtEl>
                                      </p:cBhvr>
                                    </p:animEffect>
                                  </p:childTnLst>
                                </p:cTn>
                              </p:par>
                              <p:par>
                                <p:cTn id="60" presetID="2" presetClass="entr" presetSubtype="4" fill="hold" grpId="0" nodeType="withEffect">
                                  <p:stCondLst>
                                    <p:cond delay="0"/>
                                  </p:stCondLst>
                                  <p:childTnLst>
                                    <p:set>
                                      <p:cBhvr>
                                        <p:cTn id="56" dur="1" fill="hold">
                                          <p:stCondLst>
                                            <p:cond delay="0"/>
                                          </p:stCondLst>
                                        </p:cTn>
                                        <p:tgtEl>
                                          <p:spTgt spid="13"/>
                                        </p:tgtEl>
                                        <p:attrNameLst>
                                          <p:attrName>style.visibility</p:attrName>
                                        </p:attrNameLst>
                                      </p:cBhvr>
                                      <p:to>
                                        <p:strVal val="visible"/>
                                      </p:to>
                                    </p:set>
                                    <p:anim calcmode="lin" valueType="num">
                                      <p:cBhvr additive="base">
                                        <p:cTn id="57" dur="500" fill="hold"/>
                                        <p:tgtEl>
                                          <p:spTgt spid="13"/>
                                        </p:tgtEl>
                                        <p:attrNameLst>
                                          <p:attrName>ppt_x</p:attrName>
                                        </p:attrNameLst>
                                      </p:cBhvr>
                                      <p:tavLst>
                                        <p:tav tm="0">
                                          <p:val>
                                            <p:strVal val="#ppt_x"/>
                                          </p:val>
                                        </p:tav>
                                        <p:tav tm="100000">
                                          <p:val>
                                            <p:strVal val="#ppt_x"/>
                                          </p:val>
                                        </p:tav>
                                      </p:tavLst>
                                    </p:anim>
                                    <p:anim calcmode="lin" valueType="num">
                                      <p:cBhvr additive="base">
                                        <p:cTn id="58" dur="500" fill="hold"/>
                                        <p:tgtEl>
                                          <p:spTgt spid="13"/>
                                        </p:tgtEl>
                                        <p:attrNameLst>
                                          <p:attrName>ppt_y</p:attrName>
                                        </p:attrNameLst>
                                      </p:cBhvr>
                                      <p:tavLst>
                                        <p:tav tm="0">
                                          <p:val>
                                            <p:strVal val="#ppt_y+0.1"/>
                                          </p:val>
                                        </p:tav>
                                        <p:tav tm="100000">
                                          <p:val>
                                            <p:strVal val="#ppt_y"/>
                                          </p:val>
                                        </p:tav>
                                      </p:tavLst>
                                    </p:anim>
                                    <p:animEffect transition="in" filter="fade">
                                      <p:cBhvr>
                                        <p:cTn id="59" dur="500"/>
                                        <p:tgtEl>
                                          <p:spTgt spid="13"/>
                                        </p:tgtEl>
                                      </p:cBhvr>
                                    </p:animEffect>
                                  </p:childTnLst>
                                </p:cTn>
                              </p:par>
                              <p:par>
                                <p:cTn id="65" presetID="2" presetClass="entr" presetSubtype="4" fill="hold" grpId="0" nodeType="withEffect">
                                  <p:stCondLst>
                                    <p:cond delay="0"/>
                                  </p:stCondLst>
                                  <p:childTnLst>
                                    <p:set>
                                      <p:cBhvr>
                                        <p:cTn id="61" dur="1" fill="hold">
                                          <p:stCondLst>
                                            <p:cond delay="0"/>
                                          </p:stCondLst>
                                        </p:cTn>
                                        <p:tgtEl>
                                          <p:spTgt spid="14"/>
                                        </p:tgtEl>
                                        <p:attrNameLst>
                                          <p:attrName>style.visibility</p:attrName>
                                        </p:attrNameLst>
                                      </p:cBhvr>
                                      <p:to>
                                        <p:strVal val="visible"/>
                                      </p:to>
                                    </p:set>
                                    <p:anim calcmode="lin" valueType="num">
                                      <p:cBhvr additive="base">
                                        <p:cTn id="62" dur="500" fill="hold"/>
                                        <p:tgtEl>
                                          <p:spTgt spid="14"/>
                                        </p:tgtEl>
                                        <p:attrNameLst>
                                          <p:attrName>ppt_x</p:attrName>
                                        </p:attrNameLst>
                                      </p:cBhvr>
                                      <p:tavLst>
                                        <p:tav tm="0">
                                          <p:val>
                                            <p:strVal val="#ppt_x"/>
                                          </p:val>
                                        </p:tav>
                                        <p:tav tm="100000">
                                          <p:val>
                                            <p:strVal val="#ppt_x"/>
                                          </p:val>
                                        </p:tav>
                                      </p:tavLst>
                                    </p:anim>
                                    <p:anim calcmode="lin" valueType="num">
                                      <p:cBhvr additive="base">
                                        <p:cTn id="63" dur="500" fill="hold"/>
                                        <p:tgtEl>
                                          <p:spTgt spid="14"/>
                                        </p:tgtEl>
                                        <p:attrNameLst>
                                          <p:attrName>ppt_y</p:attrName>
                                        </p:attrNameLst>
                                      </p:cBhvr>
                                      <p:tavLst>
                                        <p:tav tm="0">
                                          <p:val>
                                            <p:strVal val="#ppt_y+0.1"/>
                                          </p:val>
                                        </p:tav>
                                        <p:tav tm="100000">
                                          <p:val>
                                            <p:strVal val="#ppt_y"/>
                                          </p:val>
                                        </p:tav>
                                      </p:tavLst>
                                    </p:anim>
                                    <p:animEffect transition="in" filter="fade">
                                      <p:cBhvr>
                                        <p:cTn id="64" dur="500"/>
                                        <p:tgtEl>
                                          <p:spTgt spid="14"/>
                                        </p:tgtEl>
                                      </p:cBhvr>
                                    </p:animEffect>
                                  </p:childTnLst>
                                </p:cTn>
                              </p:par>
                              <p:par>
                                <p:cTn id="70" presetID="2" presetClass="entr" presetSubtype="4"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ppt_x"/>
                                          </p:val>
                                        </p:tav>
                                        <p:tav tm="100000">
                                          <p:val>
                                            <p:strVal val="#ppt_x"/>
                                          </p:val>
                                        </p:tav>
                                      </p:tavLst>
                                    </p:anim>
                                    <p:anim calcmode="lin" valueType="num">
                                      <p:cBhvr additive="base">
                                        <p:cTn id="68" dur="500" fill="hold"/>
                                        <p:tgtEl>
                                          <p:spTgt spid="21"/>
                                        </p:tgtEl>
                                        <p:attrNameLst>
                                          <p:attrName>ppt_y</p:attrName>
                                        </p:attrNameLst>
                                      </p:cBhvr>
                                      <p:tavLst>
                                        <p:tav tm="0">
                                          <p:val>
                                            <p:strVal val="#ppt_y+0.1"/>
                                          </p:val>
                                        </p:tav>
                                        <p:tav tm="100000">
                                          <p:val>
                                            <p:strVal val="#ppt_y"/>
                                          </p:val>
                                        </p:tav>
                                      </p:tavLst>
                                    </p:anim>
                                    <p:animEffect transition="in" filter="fade">
                                      <p:cBhvr>
                                        <p:cTn id="69" dur="500"/>
                                        <p:tgtEl>
                                          <p:spTgt spid="21"/>
                                        </p:tgtEl>
                                      </p:cBhvr>
                                    </p:animEffect>
                                  </p:childTnLst>
                                </p:cTn>
                              </p:par>
                              <p:par>
                                <p:cTn id="75" presetID="2" presetClass="entr" presetSubtype="4" fill="hold" grpId="0" nodeType="withEffect">
                                  <p:stCondLst>
                                    <p:cond delay="100"/>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500" fill="hold"/>
                                        <p:tgtEl>
                                          <p:spTgt spid="15"/>
                                        </p:tgtEl>
                                        <p:attrNameLst>
                                          <p:attrName>ppt_x</p:attrName>
                                        </p:attrNameLst>
                                      </p:cBhvr>
                                      <p:tavLst>
                                        <p:tav tm="0">
                                          <p:val>
                                            <p:strVal val="#ppt_x"/>
                                          </p:val>
                                        </p:tav>
                                        <p:tav tm="100000">
                                          <p:val>
                                            <p:strVal val="#ppt_x"/>
                                          </p:val>
                                        </p:tav>
                                      </p:tavLst>
                                    </p:anim>
                                    <p:anim calcmode="lin" valueType="num">
                                      <p:cBhvr additive="base">
                                        <p:cTn id="73" dur="500" fill="hold"/>
                                        <p:tgtEl>
                                          <p:spTgt spid="15"/>
                                        </p:tgtEl>
                                        <p:attrNameLst>
                                          <p:attrName>ppt_y</p:attrName>
                                        </p:attrNameLst>
                                      </p:cBhvr>
                                      <p:tavLst>
                                        <p:tav tm="0">
                                          <p:val>
                                            <p:strVal val="#ppt_y+0.1"/>
                                          </p:val>
                                        </p:tav>
                                        <p:tav tm="100000">
                                          <p:val>
                                            <p:strVal val="#ppt_y"/>
                                          </p:val>
                                        </p:tav>
                                      </p:tavLst>
                                    </p:anim>
                                    <p:animEffect transition="in" filter="fade">
                                      <p:cBhvr>
                                        <p:cTn id="74" dur="500"/>
                                        <p:tgtEl>
                                          <p:spTgt spid="15"/>
                                        </p:tgtEl>
                                      </p:cBhvr>
                                    </p:animEffect>
                                  </p:childTnLst>
                                </p:cTn>
                              </p:par>
                              <p:par>
                                <p:cTn id="80" presetID="2" presetClass="entr" presetSubtype="4" fill="hold" grpId="0" nodeType="withEffect">
                                  <p:stCondLst>
                                    <p:cond delay="100"/>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500" fill="hold"/>
                                        <p:tgtEl>
                                          <p:spTgt spid="16"/>
                                        </p:tgtEl>
                                        <p:attrNameLst>
                                          <p:attrName>ppt_x</p:attrName>
                                        </p:attrNameLst>
                                      </p:cBhvr>
                                      <p:tavLst>
                                        <p:tav tm="0">
                                          <p:val>
                                            <p:strVal val="#ppt_x"/>
                                          </p:val>
                                        </p:tav>
                                        <p:tav tm="100000">
                                          <p:val>
                                            <p:strVal val="#ppt_x"/>
                                          </p:val>
                                        </p:tav>
                                      </p:tavLst>
                                    </p:anim>
                                    <p:anim calcmode="lin" valueType="num">
                                      <p:cBhvr additive="base">
                                        <p:cTn id="78" dur="500" fill="hold"/>
                                        <p:tgtEl>
                                          <p:spTgt spid="16"/>
                                        </p:tgtEl>
                                        <p:attrNameLst>
                                          <p:attrName>ppt_y</p:attrName>
                                        </p:attrNameLst>
                                      </p:cBhvr>
                                      <p:tavLst>
                                        <p:tav tm="0">
                                          <p:val>
                                            <p:strVal val="#ppt_y+0.1"/>
                                          </p:val>
                                        </p:tav>
                                        <p:tav tm="100000">
                                          <p:val>
                                            <p:strVal val="#ppt_y"/>
                                          </p:val>
                                        </p:tav>
                                      </p:tavLst>
                                    </p:anim>
                                    <p:animEffect transition="in" filter="fade">
                                      <p:cBhvr>
                                        <p:cTn id="79" dur="500"/>
                                        <p:tgtEl>
                                          <p:spTgt spid="16"/>
                                        </p:tgtEl>
                                      </p:cBhvr>
                                    </p:animEffect>
                                  </p:childTnLst>
                                </p:cTn>
                              </p:par>
                              <p:par>
                                <p:cTn id="85" presetID="2" presetClass="entr" presetSubtype="4" fill="hold" grpId="0" nodeType="withEffect">
                                  <p:stCondLst>
                                    <p:cond delay="100"/>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500" fill="hold"/>
                                        <p:tgtEl>
                                          <p:spTgt spid="17"/>
                                        </p:tgtEl>
                                        <p:attrNameLst>
                                          <p:attrName>ppt_x</p:attrName>
                                        </p:attrNameLst>
                                      </p:cBhvr>
                                      <p:tavLst>
                                        <p:tav tm="0">
                                          <p:val>
                                            <p:strVal val="#ppt_x"/>
                                          </p:val>
                                        </p:tav>
                                        <p:tav tm="100000">
                                          <p:val>
                                            <p:strVal val="#ppt_x"/>
                                          </p:val>
                                        </p:tav>
                                      </p:tavLst>
                                    </p:anim>
                                    <p:anim calcmode="lin" valueType="num">
                                      <p:cBhvr additive="base">
                                        <p:cTn id="83" dur="500" fill="hold"/>
                                        <p:tgtEl>
                                          <p:spTgt spid="17"/>
                                        </p:tgtEl>
                                        <p:attrNameLst>
                                          <p:attrName>ppt_y</p:attrName>
                                        </p:attrNameLst>
                                      </p:cBhvr>
                                      <p:tavLst>
                                        <p:tav tm="0">
                                          <p:val>
                                            <p:strVal val="#ppt_y+0.1"/>
                                          </p:val>
                                        </p:tav>
                                        <p:tav tm="100000">
                                          <p:val>
                                            <p:strVal val="#ppt_y"/>
                                          </p:val>
                                        </p:tav>
                                      </p:tavLst>
                                    </p:anim>
                                    <p:animEffect transition="in" filter="fade">
                                      <p:cBhvr>
                                        <p:cTn id="84" dur="500"/>
                                        <p:tgtEl>
                                          <p:spTgt spid="17"/>
                                        </p:tgtEl>
                                      </p:cBhvr>
                                    </p:animEffect>
                                  </p:childTnLst>
                                </p:cTn>
                              </p:par>
                              <p:par>
                                <p:cTn id="90" presetID="2" presetClass="entr" presetSubtype="4" fill="hold" grpId="0" nodeType="withEffect">
                                  <p:stCondLst>
                                    <p:cond delay="100"/>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500" fill="hold"/>
                                        <p:tgtEl>
                                          <p:spTgt spid="18"/>
                                        </p:tgtEl>
                                        <p:attrNameLst>
                                          <p:attrName>ppt_x</p:attrName>
                                        </p:attrNameLst>
                                      </p:cBhvr>
                                      <p:tavLst>
                                        <p:tav tm="0">
                                          <p:val>
                                            <p:strVal val="#ppt_x"/>
                                          </p:val>
                                        </p:tav>
                                        <p:tav tm="100000">
                                          <p:val>
                                            <p:strVal val="#ppt_x"/>
                                          </p:val>
                                        </p:tav>
                                      </p:tavLst>
                                    </p:anim>
                                    <p:anim calcmode="lin" valueType="num">
                                      <p:cBhvr additive="base">
                                        <p:cTn id="88" dur="500" fill="hold"/>
                                        <p:tgtEl>
                                          <p:spTgt spid="18"/>
                                        </p:tgtEl>
                                        <p:attrNameLst>
                                          <p:attrName>ppt_y</p:attrName>
                                        </p:attrNameLst>
                                      </p:cBhvr>
                                      <p:tavLst>
                                        <p:tav tm="0">
                                          <p:val>
                                            <p:strVal val="#ppt_y+0.1"/>
                                          </p:val>
                                        </p:tav>
                                        <p:tav tm="100000">
                                          <p:val>
                                            <p:strVal val="#ppt_y"/>
                                          </p:val>
                                        </p:tav>
                                      </p:tavLst>
                                    </p:anim>
                                    <p:animEffect transition="in" filter="fade">
                                      <p:cBhvr>
                                        <p:cTn id="89" dur="500"/>
                                        <p:tgtEl>
                                          <p:spTgt spid="18"/>
                                        </p:tgtEl>
                                      </p:cBhvr>
                                    </p:animEffect>
                                  </p:childTnLst>
                                </p:cTn>
                              </p:par>
                              <p:par>
                                <p:cTn id="95" presetID="2" presetClass="entr" presetSubtype="4" fill="hold" grpId="0" nodeType="withEffect">
                                  <p:stCondLst>
                                    <p:cond delay="100"/>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500" fill="hold"/>
                                        <p:tgtEl>
                                          <p:spTgt spid="19"/>
                                        </p:tgtEl>
                                        <p:attrNameLst>
                                          <p:attrName>ppt_x</p:attrName>
                                        </p:attrNameLst>
                                      </p:cBhvr>
                                      <p:tavLst>
                                        <p:tav tm="0">
                                          <p:val>
                                            <p:strVal val="#ppt_x"/>
                                          </p:val>
                                        </p:tav>
                                        <p:tav tm="100000">
                                          <p:val>
                                            <p:strVal val="#ppt_x"/>
                                          </p:val>
                                        </p:tav>
                                      </p:tavLst>
                                    </p:anim>
                                    <p:anim calcmode="lin" valueType="num">
                                      <p:cBhvr additive="base">
                                        <p:cTn id="93" dur="500" fill="hold"/>
                                        <p:tgtEl>
                                          <p:spTgt spid="19"/>
                                        </p:tgtEl>
                                        <p:attrNameLst>
                                          <p:attrName>ppt_y</p:attrName>
                                        </p:attrNameLst>
                                      </p:cBhvr>
                                      <p:tavLst>
                                        <p:tav tm="0">
                                          <p:val>
                                            <p:strVal val="#ppt_y+0.1"/>
                                          </p:val>
                                        </p:tav>
                                        <p:tav tm="100000">
                                          <p:val>
                                            <p:strVal val="#ppt_y"/>
                                          </p:val>
                                        </p:tav>
                                      </p:tavLst>
                                    </p:anim>
                                    <p:animEffect transition="in" filter="fade">
                                      <p:cBhvr>
                                        <p:cTn id="94" dur="500"/>
                                        <p:tgtEl>
                                          <p:spTgt spid="19"/>
                                        </p:tgtEl>
                                      </p:cBhvr>
                                    </p:animEffect>
                                  </p:childTnLst>
                                </p:cTn>
                              </p:par>
                              <p:par>
                                <p:cTn id="100" presetID="2" presetClass="entr" presetSubtype="4" fill="hold" grpId="0" nodeType="withEffect">
                                  <p:stCondLst>
                                    <p:cond delay="100"/>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500" fill="hold"/>
                                        <p:tgtEl>
                                          <p:spTgt spid="20"/>
                                        </p:tgtEl>
                                        <p:attrNameLst>
                                          <p:attrName>ppt_x</p:attrName>
                                        </p:attrNameLst>
                                      </p:cBhvr>
                                      <p:tavLst>
                                        <p:tav tm="0">
                                          <p:val>
                                            <p:strVal val="#ppt_x"/>
                                          </p:val>
                                        </p:tav>
                                        <p:tav tm="100000">
                                          <p:val>
                                            <p:strVal val="#ppt_x"/>
                                          </p:val>
                                        </p:tav>
                                      </p:tavLst>
                                    </p:anim>
                                    <p:anim calcmode="lin" valueType="num">
                                      <p:cBhvr additive="base">
                                        <p:cTn id="98" dur="500" fill="hold"/>
                                        <p:tgtEl>
                                          <p:spTgt spid="20"/>
                                        </p:tgtEl>
                                        <p:attrNameLst>
                                          <p:attrName>ppt_y</p:attrName>
                                        </p:attrNameLst>
                                      </p:cBhvr>
                                      <p:tavLst>
                                        <p:tav tm="0">
                                          <p:val>
                                            <p:strVal val="#ppt_y+0.1"/>
                                          </p:val>
                                        </p:tav>
                                        <p:tav tm="100000">
                                          <p:val>
                                            <p:strVal val="#ppt_y"/>
                                          </p:val>
                                        </p:tav>
                                      </p:tavLst>
                                    </p:anim>
                                    <p:animEffect transition="in" filter="fade">
                                      <p:cBhvr>
                                        <p:cTn id="99" dur="500"/>
                                        <p:tgtEl>
                                          <p:spTgt spid="20"/>
                                        </p:tgtEl>
                                      </p:cBhvr>
                                    </p:animEffect>
                                  </p:childTnLst>
                                </p:cTn>
                              </p:par>
                              <p:par>
                                <p:cTn id="105" presetID="2" presetClass="entr" presetSubtype="4" fill="hold" grpId="0" nodeType="withEffect">
                                  <p:stCondLst>
                                    <p:cond delay="200"/>
                                  </p:stCondLst>
                                  <p:childTnLst>
                                    <p:set>
                                      <p:cBhvr>
                                        <p:cTn id="101" dur="1" fill="hold">
                                          <p:stCondLst>
                                            <p:cond delay="0"/>
                                          </p:stCondLst>
                                        </p:cTn>
                                        <p:tgtEl>
                                          <p:spTgt spid="22"/>
                                        </p:tgtEl>
                                        <p:attrNameLst>
                                          <p:attrName>style.visibility</p:attrName>
                                        </p:attrNameLst>
                                      </p:cBhvr>
                                      <p:to>
                                        <p:strVal val="visible"/>
                                      </p:to>
                                    </p:set>
                                    <p:anim calcmode="lin" valueType="num">
                                      <p:cBhvr additive="base">
                                        <p:cTn id="102" dur="500" fill="hold"/>
                                        <p:tgtEl>
                                          <p:spTgt spid="22"/>
                                        </p:tgtEl>
                                        <p:attrNameLst>
                                          <p:attrName>ppt_x</p:attrName>
                                        </p:attrNameLst>
                                      </p:cBhvr>
                                      <p:tavLst>
                                        <p:tav tm="0">
                                          <p:val>
                                            <p:strVal val="#ppt_x"/>
                                          </p:val>
                                        </p:tav>
                                        <p:tav tm="100000">
                                          <p:val>
                                            <p:strVal val="#ppt_x"/>
                                          </p:val>
                                        </p:tav>
                                      </p:tavLst>
                                    </p:anim>
                                    <p:anim calcmode="lin" valueType="num">
                                      <p:cBhvr additive="base">
                                        <p:cTn id="103" dur="500" fill="hold"/>
                                        <p:tgtEl>
                                          <p:spTgt spid="22"/>
                                        </p:tgtEl>
                                        <p:attrNameLst>
                                          <p:attrName>ppt_y</p:attrName>
                                        </p:attrNameLst>
                                      </p:cBhvr>
                                      <p:tavLst>
                                        <p:tav tm="0">
                                          <p:val>
                                            <p:strVal val="#ppt_y+0.1"/>
                                          </p:val>
                                        </p:tav>
                                        <p:tav tm="100000">
                                          <p:val>
                                            <p:strVal val="#ppt_y"/>
                                          </p:val>
                                        </p:tav>
                                      </p:tavLst>
                                    </p:anim>
                                    <p:animEffect transition="in" filter="fade">
                                      <p:cBhvr>
                                        <p:cTn id="104" dur="500"/>
                                        <p:tgtEl>
                                          <p:spTgt spid="22"/>
                                        </p:tgtEl>
                                      </p:cBhvr>
                                    </p:animEffect>
                                  </p:childTnLst>
                                </p:cTn>
                              </p:par>
                              <p:par>
                                <p:cTn id="110" presetID="2" presetClass="entr" presetSubtype="4" fill="hold" grpId="0" nodeType="withEffect">
                                  <p:stCondLst>
                                    <p:cond delay="300"/>
                                  </p:stCondLst>
                                  <p:childTnLst>
                                    <p:set>
                                      <p:cBhvr>
                                        <p:cTn id="106" dur="1" fill="hold">
                                          <p:stCondLst>
                                            <p:cond delay="0"/>
                                          </p:stCondLst>
                                        </p:cTn>
                                        <p:tgtEl>
                                          <p:spTgt spid="48"/>
                                        </p:tgtEl>
                                        <p:attrNameLst>
                                          <p:attrName>style.visibility</p:attrName>
                                        </p:attrNameLst>
                                      </p:cBhvr>
                                      <p:to>
                                        <p:strVal val="visible"/>
                                      </p:to>
                                    </p:set>
                                    <p:anim calcmode="lin" valueType="num">
                                      <p:cBhvr additive="base">
                                        <p:cTn id="107" dur="500" fill="hold"/>
                                        <p:tgtEl>
                                          <p:spTgt spid="48"/>
                                        </p:tgtEl>
                                        <p:attrNameLst>
                                          <p:attrName>ppt_x</p:attrName>
                                        </p:attrNameLst>
                                      </p:cBhvr>
                                      <p:tavLst>
                                        <p:tav tm="0">
                                          <p:val>
                                            <p:strVal val="#ppt_x"/>
                                          </p:val>
                                        </p:tav>
                                        <p:tav tm="100000">
                                          <p:val>
                                            <p:strVal val="#ppt_x"/>
                                          </p:val>
                                        </p:tav>
                                      </p:tavLst>
                                    </p:anim>
                                    <p:anim calcmode="lin" valueType="num">
                                      <p:cBhvr additive="base">
                                        <p:cTn id="108" dur="500" fill="hold"/>
                                        <p:tgtEl>
                                          <p:spTgt spid="48"/>
                                        </p:tgtEl>
                                        <p:attrNameLst>
                                          <p:attrName>ppt_y</p:attrName>
                                        </p:attrNameLst>
                                      </p:cBhvr>
                                      <p:tavLst>
                                        <p:tav tm="0">
                                          <p:val>
                                            <p:strVal val="#ppt_y+0.1"/>
                                          </p:val>
                                        </p:tav>
                                        <p:tav tm="100000">
                                          <p:val>
                                            <p:strVal val="#ppt_y"/>
                                          </p:val>
                                        </p:tav>
                                      </p:tavLst>
                                    </p:anim>
                                    <p:animEffect transition="in" filter="fade">
                                      <p:cBhvr>
                                        <p:cTn id="109" dur="500"/>
                                        <p:tgtEl>
                                          <p:spTgt spid="48"/>
                                        </p:tgtEl>
                                      </p:cBhvr>
                                    </p:animEffect>
                                  </p:childTnLst>
                                </p:cTn>
                              </p:par>
                            </p:childTnLst>
                          </p:cTn>
                        </p:par>
                      </p:childTnLst>
                    </p:cTn>
                  </p:par>
                  <p:par>
                    <p:cTn id="111" fill="hold">
                      <p:stCondLst>
                        <p:cond delay="indefinite"/>
                      </p:stCondLst>
                      <p:childTnLst>
                        <p:par>
                          <p:cTn id="112" fill="hold">
                            <p:stCondLst>
                              <p:cond delay="0"/>
                            </p:stCondLst>
                            <p:childTnLst>
                              <p:par>
                                <p:cTn id="117" presetID="2" presetClass="entr" presetSubtype="4" fill="hold" grpId="0" nodeType="clickEffect">
                                  <p:stCondLst>
                                    <p:cond delay="0"/>
                                  </p:stCondLst>
                                  <p:childTnLst>
                                    <p:set>
                                      <p:cBhvr>
                                        <p:cTn id="113" dur="1" fill="hold">
                                          <p:stCondLst>
                                            <p:cond delay="0"/>
                                          </p:stCondLst>
                                        </p:cTn>
                                        <p:tgtEl>
                                          <p:spTgt spid="36"/>
                                        </p:tgtEl>
                                        <p:attrNameLst>
                                          <p:attrName>style.visibility</p:attrName>
                                        </p:attrNameLst>
                                      </p:cBhvr>
                                      <p:to>
                                        <p:strVal val="visible"/>
                                      </p:to>
                                    </p:set>
                                    <p:anim calcmode="lin" valueType="num">
                                      <p:cBhvr additive="base">
                                        <p:cTn id="114" dur="500" fill="hold"/>
                                        <p:tgtEl>
                                          <p:spTgt spid="36"/>
                                        </p:tgtEl>
                                        <p:attrNameLst>
                                          <p:attrName>ppt_x</p:attrName>
                                        </p:attrNameLst>
                                      </p:cBhvr>
                                      <p:tavLst>
                                        <p:tav tm="0">
                                          <p:val>
                                            <p:strVal val="#ppt_x"/>
                                          </p:val>
                                        </p:tav>
                                        <p:tav tm="100000">
                                          <p:val>
                                            <p:strVal val="#ppt_x"/>
                                          </p:val>
                                        </p:tav>
                                      </p:tavLst>
                                    </p:anim>
                                    <p:anim calcmode="lin" valueType="num">
                                      <p:cBhvr additive="base">
                                        <p:cTn id="115" dur="500" fill="hold"/>
                                        <p:tgtEl>
                                          <p:spTgt spid="36"/>
                                        </p:tgtEl>
                                        <p:attrNameLst>
                                          <p:attrName>ppt_y</p:attrName>
                                        </p:attrNameLst>
                                      </p:cBhvr>
                                      <p:tavLst>
                                        <p:tav tm="0">
                                          <p:val>
                                            <p:strVal val="#ppt_y+0.1"/>
                                          </p:val>
                                        </p:tav>
                                        <p:tav tm="100000">
                                          <p:val>
                                            <p:strVal val="#ppt_y"/>
                                          </p:val>
                                        </p:tav>
                                      </p:tavLst>
                                    </p:anim>
                                    <p:animEffect transition="in" filter="fade">
                                      <p:cBhvr>
                                        <p:cTn id="116" dur="500"/>
                                        <p:tgtEl>
                                          <p:spTgt spid="36"/>
                                        </p:tgtEl>
                                      </p:cBhvr>
                                    </p:animEffect>
                                  </p:childTnLst>
                                </p:cTn>
                              </p:par>
                              <p:par>
                                <p:cTn id="122" presetID="2" presetClass="entr" presetSubtype="4" fill="hold" grpId="0" nodeType="withEffect">
                                  <p:stCondLst>
                                    <p:cond delay="0"/>
                                  </p:stCondLst>
                                  <p:childTnLst>
                                    <p:set>
                                      <p:cBhvr>
                                        <p:cTn id="118" dur="1" fill="hold">
                                          <p:stCondLst>
                                            <p:cond delay="0"/>
                                          </p:stCondLst>
                                        </p:cTn>
                                        <p:tgtEl>
                                          <p:spTgt spid="37"/>
                                        </p:tgtEl>
                                        <p:attrNameLst>
                                          <p:attrName>style.visibility</p:attrName>
                                        </p:attrNameLst>
                                      </p:cBhvr>
                                      <p:to>
                                        <p:strVal val="visible"/>
                                      </p:to>
                                    </p:set>
                                    <p:anim calcmode="lin" valueType="num">
                                      <p:cBhvr additive="base">
                                        <p:cTn id="119" dur="500" fill="hold"/>
                                        <p:tgtEl>
                                          <p:spTgt spid="37"/>
                                        </p:tgtEl>
                                        <p:attrNameLst>
                                          <p:attrName>ppt_x</p:attrName>
                                        </p:attrNameLst>
                                      </p:cBhvr>
                                      <p:tavLst>
                                        <p:tav tm="0">
                                          <p:val>
                                            <p:strVal val="#ppt_x"/>
                                          </p:val>
                                        </p:tav>
                                        <p:tav tm="100000">
                                          <p:val>
                                            <p:strVal val="#ppt_x"/>
                                          </p:val>
                                        </p:tav>
                                      </p:tavLst>
                                    </p:anim>
                                    <p:anim calcmode="lin" valueType="num">
                                      <p:cBhvr additive="base">
                                        <p:cTn id="120" dur="500" fill="hold"/>
                                        <p:tgtEl>
                                          <p:spTgt spid="37"/>
                                        </p:tgtEl>
                                        <p:attrNameLst>
                                          <p:attrName>ppt_y</p:attrName>
                                        </p:attrNameLst>
                                      </p:cBhvr>
                                      <p:tavLst>
                                        <p:tav tm="0">
                                          <p:val>
                                            <p:strVal val="#ppt_y+0.1"/>
                                          </p:val>
                                        </p:tav>
                                        <p:tav tm="100000">
                                          <p:val>
                                            <p:strVal val="#ppt_y"/>
                                          </p:val>
                                        </p:tav>
                                      </p:tavLst>
                                    </p:anim>
                                    <p:animEffect transition="in" filter="fade">
                                      <p:cBhvr>
                                        <p:cTn id="121" dur="500"/>
                                        <p:tgtEl>
                                          <p:spTgt spid="37"/>
                                        </p:tgtEl>
                                      </p:cBhvr>
                                    </p:animEffect>
                                  </p:childTnLst>
                                </p:cTn>
                              </p:par>
                              <p:par>
                                <p:cTn id="127" presetID="2" presetClass="entr" presetSubtype="4" fill="hold" grpId="0" nodeType="withEffect">
                                  <p:stCondLst>
                                    <p:cond delay="0"/>
                                  </p:stCondLst>
                                  <p:childTnLst>
                                    <p:set>
                                      <p:cBhvr>
                                        <p:cTn id="123" dur="1" fill="hold">
                                          <p:stCondLst>
                                            <p:cond delay="0"/>
                                          </p:stCondLst>
                                        </p:cTn>
                                        <p:tgtEl>
                                          <p:spTgt spid="38"/>
                                        </p:tgtEl>
                                        <p:attrNameLst>
                                          <p:attrName>style.visibility</p:attrName>
                                        </p:attrNameLst>
                                      </p:cBhvr>
                                      <p:to>
                                        <p:strVal val="visible"/>
                                      </p:to>
                                    </p:set>
                                    <p:anim calcmode="lin" valueType="num">
                                      <p:cBhvr additive="base">
                                        <p:cTn id="124" dur="500" fill="hold"/>
                                        <p:tgtEl>
                                          <p:spTgt spid="38"/>
                                        </p:tgtEl>
                                        <p:attrNameLst>
                                          <p:attrName>ppt_x</p:attrName>
                                        </p:attrNameLst>
                                      </p:cBhvr>
                                      <p:tavLst>
                                        <p:tav tm="0">
                                          <p:val>
                                            <p:strVal val="#ppt_x"/>
                                          </p:val>
                                        </p:tav>
                                        <p:tav tm="100000">
                                          <p:val>
                                            <p:strVal val="#ppt_x"/>
                                          </p:val>
                                        </p:tav>
                                      </p:tavLst>
                                    </p:anim>
                                    <p:anim calcmode="lin" valueType="num">
                                      <p:cBhvr additive="base">
                                        <p:cTn id="125" dur="500" fill="hold"/>
                                        <p:tgtEl>
                                          <p:spTgt spid="38"/>
                                        </p:tgtEl>
                                        <p:attrNameLst>
                                          <p:attrName>ppt_y</p:attrName>
                                        </p:attrNameLst>
                                      </p:cBhvr>
                                      <p:tavLst>
                                        <p:tav tm="0">
                                          <p:val>
                                            <p:strVal val="#ppt_y+0.1"/>
                                          </p:val>
                                        </p:tav>
                                        <p:tav tm="100000">
                                          <p:val>
                                            <p:strVal val="#ppt_y"/>
                                          </p:val>
                                        </p:tav>
                                      </p:tavLst>
                                    </p:anim>
                                    <p:animEffect transition="in" filter="fade">
                                      <p:cBhvr>
                                        <p:cTn id="126" dur="500"/>
                                        <p:tgtEl>
                                          <p:spTgt spid="38"/>
                                        </p:tgtEl>
                                      </p:cBhvr>
                                    </p:animEffect>
                                  </p:childTnLst>
                                </p:cTn>
                              </p:par>
                              <p:par>
                                <p:cTn id="132" presetID="2" presetClass="entr" presetSubtype="4" fill="hold" grpId="0" nodeType="withEffect">
                                  <p:stCondLst>
                                    <p:cond delay="100"/>
                                  </p:stCondLst>
                                  <p:childTnLst>
                                    <p:set>
                                      <p:cBhvr>
                                        <p:cTn id="128" dur="1" fill="hold">
                                          <p:stCondLst>
                                            <p:cond delay="0"/>
                                          </p:stCondLst>
                                        </p:cTn>
                                        <p:tgtEl>
                                          <p:spTgt spid="39"/>
                                        </p:tgtEl>
                                        <p:attrNameLst>
                                          <p:attrName>style.visibility</p:attrName>
                                        </p:attrNameLst>
                                      </p:cBhvr>
                                      <p:to>
                                        <p:strVal val="visible"/>
                                      </p:to>
                                    </p:set>
                                    <p:anim calcmode="lin" valueType="num">
                                      <p:cBhvr additive="base">
                                        <p:cTn id="129" dur="500" fill="hold"/>
                                        <p:tgtEl>
                                          <p:spTgt spid="39"/>
                                        </p:tgtEl>
                                        <p:attrNameLst>
                                          <p:attrName>ppt_x</p:attrName>
                                        </p:attrNameLst>
                                      </p:cBhvr>
                                      <p:tavLst>
                                        <p:tav tm="0">
                                          <p:val>
                                            <p:strVal val="#ppt_x"/>
                                          </p:val>
                                        </p:tav>
                                        <p:tav tm="100000">
                                          <p:val>
                                            <p:strVal val="#ppt_x"/>
                                          </p:val>
                                        </p:tav>
                                      </p:tavLst>
                                    </p:anim>
                                    <p:anim calcmode="lin" valueType="num">
                                      <p:cBhvr additive="base">
                                        <p:cTn id="130" dur="500" fill="hold"/>
                                        <p:tgtEl>
                                          <p:spTgt spid="39"/>
                                        </p:tgtEl>
                                        <p:attrNameLst>
                                          <p:attrName>ppt_y</p:attrName>
                                        </p:attrNameLst>
                                      </p:cBhvr>
                                      <p:tavLst>
                                        <p:tav tm="0">
                                          <p:val>
                                            <p:strVal val="#ppt_y+0.1"/>
                                          </p:val>
                                        </p:tav>
                                        <p:tav tm="100000">
                                          <p:val>
                                            <p:strVal val="#ppt_y"/>
                                          </p:val>
                                        </p:tav>
                                      </p:tavLst>
                                    </p:anim>
                                    <p:animEffect transition="in" filter="fade">
                                      <p:cBhvr>
                                        <p:cTn id="131" dur="500"/>
                                        <p:tgtEl>
                                          <p:spTgt spid="39"/>
                                        </p:tgtEl>
                                      </p:cBhvr>
                                    </p:animEffect>
                                  </p:childTnLst>
                                </p:cTn>
                              </p:par>
                              <p:par>
                                <p:cTn id="137" presetID="2" presetClass="entr" presetSubtype="4" fill="hold" grpId="0" nodeType="withEffect">
                                  <p:stCondLst>
                                    <p:cond delay="100"/>
                                  </p:stCondLst>
                                  <p:childTnLst>
                                    <p:set>
                                      <p:cBhvr>
                                        <p:cTn id="133" dur="1" fill="hold">
                                          <p:stCondLst>
                                            <p:cond delay="0"/>
                                          </p:stCondLst>
                                        </p:cTn>
                                        <p:tgtEl>
                                          <p:spTgt spid="40"/>
                                        </p:tgtEl>
                                        <p:attrNameLst>
                                          <p:attrName>style.visibility</p:attrName>
                                        </p:attrNameLst>
                                      </p:cBhvr>
                                      <p:to>
                                        <p:strVal val="visible"/>
                                      </p:to>
                                    </p:set>
                                    <p:anim calcmode="lin" valueType="num">
                                      <p:cBhvr additive="base">
                                        <p:cTn id="134" dur="500" fill="hold"/>
                                        <p:tgtEl>
                                          <p:spTgt spid="40"/>
                                        </p:tgtEl>
                                        <p:attrNameLst>
                                          <p:attrName>ppt_x</p:attrName>
                                        </p:attrNameLst>
                                      </p:cBhvr>
                                      <p:tavLst>
                                        <p:tav tm="0">
                                          <p:val>
                                            <p:strVal val="#ppt_x"/>
                                          </p:val>
                                        </p:tav>
                                        <p:tav tm="100000">
                                          <p:val>
                                            <p:strVal val="#ppt_x"/>
                                          </p:val>
                                        </p:tav>
                                      </p:tavLst>
                                    </p:anim>
                                    <p:anim calcmode="lin" valueType="num">
                                      <p:cBhvr additive="base">
                                        <p:cTn id="135" dur="500" fill="hold"/>
                                        <p:tgtEl>
                                          <p:spTgt spid="40"/>
                                        </p:tgtEl>
                                        <p:attrNameLst>
                                          <p:attrName>ppt_y</p:attrName>
                                        </p:attrNameLst>
                                      </p:cBhvr>
                                      <p:tavLst>
                                        <p:tav tm="0">
                                          <p:val>
                                            <p:strVal val="#ppt_y+0.1"/>
                                          </p:val>
                                        </p:tav>
                                        <p:tav tm="100000">
                                          <p:val>
                                            <p:strVal val="#ppt_y"/>
                                          </p:val>
                                        </p:tav>
                                      </p:tavLst>
                                    </p:anim>
                                    <p:animEffect transition="in" filter="fade">
                                      <p:cBhvr>
                                        <p:cTn id="136" dur="500"/>
                                        <p:tgtEl>
                                          <p:spTgt spid="40"/>
                                        </p:tgtEl>
                                      </p:cBhvr>
                                    </p:animEffect>
                                  </p:childTnLst>
                                </p:cTn>
                              </p:par>
                              <p:par>
                                <p:cTn id="142" presetID="2" presetClass="entr" presetSubtype="4" fill="hold" grpId="0" nodeType="withEffect">
                                  <p:stCondLst>
                                    <p:cond delay="100"/>
                                  </p:stCondLst>
                                  <p:childTnLst>
                                    <p:set>
                                      <p:cBhvr>
                                        <p:cTn id="138" dur="1" fill="hold">
                                          <p:stCondLst>
                                            <p:cond delay="0"/>
                                          </p:stCondLst>
                                        </p:cTn>
                                        <p:tgtEl>
                                          <p:spTgt spid="41"/>
                                        </p:tgtEl>
                                        <p:attrNameLst>
                                          <p:attrName>style.visibility</p:attrName>
                                        </p:attrNameLst>
                                      </p:cBhvr>
                                      <p:to>
                                        <p:strVal val="visible"/>
                                      </p:to>
                                    </p:set>
                                    <p:anim calcmode="lin" valueType="num">
                                      <p:cBhvr additive="base">
                                        <p:cTn id="139" dur="500" fill="hold"/>
                                        <p:tgtEl>
                                          <p:spTgt spid="41"/>
                                        </p:tgtEl>
                                        <p:attrNameLst>
                                          <p:attrName>ppt_x</p:attrName>
                                        </p:attrNameLst>
                                      </p:cBhvr>
                                      <p:tavLst>
                                        <p:tav tm="0">
                                          <p:val>
                                            <p:strVal val="#ppt_x"/>
                                          </p:val>
                                        </p:tav>
                                        <p:tav tm="100000">
                                          <p:val>
                                            <p:strVal val="#ppt_x"/>
                                          </p:val>
                                        </p:tav>
                                      </p:tavLst>
                                    </p:anim>
                                    <p:anim calcmode="lin" valueType="num">
                                      <p:cBhvr additive="base">
                                        <p:cTn id="140" dur="500" fill="hold"/>
                                        <p:tgtEl>
                                          <p:spTgt spid="41"/>
                                        </p:tgtEl>
                                        <p:attrNameLst>
                                          <p:attrName>ppt_y</p:attrName>
                                        </p:attrNameLst>
                                      </p:cBhvr>
                                      <p:tavLst>
                                        <p:tav tm="0">
                                          <p:val>
                                            <p:strVal val="#ppt_y+0.1"/>
                                          </p:val>
                                        </p:tav>
                                        <p:tav tm="100000">
                                          <p:val>
                                            <p:strVal val="#ppt_y"/>
                                          </p:val>
                                        </p:tav>
                                      </p:tavLst>
                                    </p:anim>
                                    <p:animEffect transition="in" filter="fade">
                                      <p:cBhvr>
                                        <p:cTn id="141" dur="500"/>
                                        <p:tgtEl>
                                          <p:spTgt spid="41"/>
                                        </p:tgtEl>
                                      </p:cBhvr>
                                    </p:animEffect>
                                  </p:childTnLst>
                                </p:cTn>
                              </p:par>
                              <p:par>
                                <p:cTn id="147" presetID="2" presetClass="entr" presetSubtype="4" fill="hold" grpId="0" nodeType="withEffect">
                                  <p:stCondLst>
                                    <p:cond delay="100"/>
                                  </p:stCondLst>
                                  <p:childTnLst>
                                    <p:set>
                                      <p:cBhvr>
                                        <p:cTn id="143" dur="1" fill="hold">
                                          <p:stCondLst>
                                            <p:cond delay="0"/>
                                          </p:stCondLst>
                                        </p:cTn>
                                        <p:tgtEl>
                                          <p:spTgt spid="42"/>
                                        </p:tgtEl>
                                        <p:attrNameLst>
                                          <p:attrName>style.visibility</p:attrName>
                                        </p:attrNameLst>
                                      </p:cBhvr>
                                      <p:to>
                                        <p:strVal val="visible"/>
                                      </p:to>
                                    </p:set>
                                    <p:anim calcmode="lin" valueType="num">
                                      <p:cBhvr additive="base">
                                        <p:cTn id="144" dur="500" fill="hold"/>
                                        <p:tgtEl>
                                          <p:spTgt spid="42"/>
                                        </p:tgtEl>
                                        <p:attrNameLst>
                                          <p:attrName>ppt_x</p:attrName>
                                        </p:attrNameLst>
                                      </p:cBhvr>
                                      <p:tavLst>
                                        <p:tav tm="0">
                                          <p:val>
                                            <p:strVal val="#ppt_x"/>
                                          </p:val>
                                        </p:tav>
                                        <p:tav tm="100000">
                                          <p:val>
                                            <p:strVal val="#ppt_x"/>
                                          </p:val>
                                        </p:tav>
                                      </p:tavLst>
                                    </p:anim>
                                    <p:anim calcmode="lin" valueType="num">
                                      <p:cBhvr additive="base">
                                        <p:cTn id="145" dur="500" fill="hold"/>
                                        <p:tgtEl>
                                          <p:spTgt spid="42"/>
                                        </p:tgtEl>
                                        <p:attrNameLst>
                                          <p:attrName>ppt_y</p:attrName>
                                        </p:attrNameLst>
                                      </p:cBhvr>
                                      <p:tavLst>
                                        <p:tav tm="0">
                                          <p:val>
                                            <p:strVal val="#ppt_y+0.1"/>
                                          </p:val>
                                        </p:tav>
                                        <p:tav tm="100000">
                                          <p:val>
                                            <p:strVal val="#ppt_y"/>
                                          </p:val>
                                        </p:tav>
                                      </p:tavLst>
                                    </p:anim>
                                    <p:animEffect transition="in" filter="fade">
                                      <p:cBhvr>
                                        <p:cTn id="146" dur="500"/>
                                        <p:tgtEl>
                                          <p:spTgt spid="42"/>
                                        </p:tgtEl>
                                      </p:cBhvr>
                                    </p:animEffect>
                                  </p:childTnLst>
                                </p:cTn>
                              </p:par>
                              <p:par>
                                <p:cTn id="152" presetID="2" presetClass="entr" presetSubtype="4" fill="hold" grpId="0" nodeType="withEffect">
                                  <p:stCondLst>
                                    <p:cond delay="100"/>
                                  </p:stCondLst>
                                  <p:childTnLst>
                                    <p:set>
                                      <p:cBhvr>
                                        <p:cTn id="148" dur="1" fill="hold">
                                          <p:stCondLst>
                                            <p:cond delay="0"/>
                                          </p:stCondLst>
                                        </p:cTn>
                                        <p:tgtEl>
                                          <p:spTgt spid="43"/>
                                        </p:tgtEl>
                                        <p:attrNameLst>
                                          <p:attrName>style.visibility</p:attrName>
                                        </p:attrNameLst>
                                      </p:cBhvr>
                                      <p:to>
                                        <p:strVal val="visible"/>
                                      </p:to>
                                    </p:set>
                                    <p:anim calcmode="lin" valueType="num">
                                      <p:cBhvr additive="base">
                                        <p:cTn id="149" dur="500" fill="hold"/>
                                        <p:tgtEl>
                                          <p:spTgt spid="43"/>
                                        </p:tgtEl>
                                        <p:attrNameLst>
                                          <p:attrName>ppt_x</p:attrName>
                                        </p:attrNameLst>
                                      </p:cBhvr>
                                      <p:tavLst>
                                        <p:tav tm="0">
                                          <p:val>
                                            <p:strVal val="#ppt_x"/>
                                          </p:val>
                                        </p:tav>
                                        <p:tav tm="100000">
                                          <p:val>
                                            <p:strVal val="#ppt_x"/>
                                          </p:val>
                                        </p:tav>
                                      </p:tavLst>
                                    </p:anim>
                                    <p:anim calcmode="lin" valueType="num">
                                      <p:cBhvr additive="base">
                                        <p:cTn id="150" dur="500" fill="hold"/>
                                        <p:tgtEl>
                                          <p:spTgt spid="43"/>
                                        </p:tgtEl>
                                        <p:attrNameLst>
                                          <p:attrName>ppt_y</p:attrName>
                                        </p:attrNameLst>
                                      </p:cBhvr>
                                      <p:tavLst>
                                        <p:tav tm="0">
                                          <p:val>
                                            <p:strVal val="#ppt_y+0.1"/>
                                          </p:val>
                                        </p:tav>
                                        <p:tav tm="100000">
                                          <p:val>
                                            <p:strVal val="#ppt_y"/>
                                          </p:val>
                                        </p:tav>
                                      </p:tavLst>
                                    </p:anim>
                                    <p:animEffect transition="in" filter="fade">
                                      <p:cBhvr>
                                        <p:cTn id="151" dur="500"/>
                                        <p:tgtEl>
                                          <p:spTgt spid="43"/>
                                        </p:tgtEl>
                                      </p:cBhvr>
                                    </p:animEffect>
                                  </p:childTnLst>
                                </p:cTn>
                              </p:par>
                              <p:par>
                                <p:cTn id="157" presetID="2" presetClass="entr" presetSubtype="4" fill="hold" grpId="0" nodeType="withEffect">
                                  <p:stCondLst>
                                    <p:cond delay="100"/>
                                  </p:stCondLst>
                                  <p:childTnLst>
                                    <p:set>
                                      <p:cBhvr>
                                        <p:cTn id="153" dur="1" fill="hold">
                                          <p:stCondLst>
                                            <p:cond delay="0"/>
                                          </p:stCondLst>
                                        </p:cTn>
                                        <p:tgtEl>
                                          <p:spTgt spid="44"/>
                                        </p:tgtEl>
                                        <p:attrNameLst>
                                          <p:attrName>style.visibility</p:attrName>
                                        </p:attrNameLst>
                                      </p:cBhvr>
                                      <p:to>
                                        <p:strVal val="visible"/>
                                      </p:to>
                                    </p:set>
                                    <p:anim calcmode="lin" valueType="num">
                                      <p:cBhvr additive="base">
                                        <p:cTn id="154" dur="500" fill="hold"/>
                                        <p:tgtEl>
                                          <p:spTgt spid="44"/>
                                        </p:tgtEl>
                                        <p:attrNameLst>
                                          <p:attrName>ppt_x</p:attrName>
                                        </p:attrNameLst>
                                      </p:cBhvr>
                                      <p:tavLst>
                                        <p:tav tm="0">
                                          <p:val>
                                            <p:strVal val="#ppt_x"/>
                                          </p:val>
                                        </p:tav>
                                        <p:tav tm="100000">
                                          <p:val>
                                            <p:strVal val="#ppt_x"/>
                                          </p:val>
                                        </p:tav>
                                      </p:tavLst>
                                    </p:anim>
                                    <p:anim calcmode="lin" valueType="num">
                                      <p:cBhvr additive="base">
                                        <p:cTn id="155" dur="500" fill="hold"/>
                                        <p:tgtEl>
                                          <p:spTgt spid="44"/>
                                        </p:tgtEl>
                                        <p:attrNameLst>
                                          <p:attrName>ppt_y</p:attrName>
                                        </p:attrNameLst>
                                      </p:cBhvr>
                                      <p:tavLst>
                                        <p:tav tm="0">
                                          <p:val>
                                            <p:strVal val="#ppt_y+0.1"/>
                                          </p:val>
                                        </p:tav>
                                        <p:tav tm="100000">
                                          <p:val>
                                            <p:strVal val="#ppt_y"/>
                                          </p:val>
                                        </p:tav>
                                      </p:tavLst>
                                    </p:anim>
                                    <p:animEffect transition="in" filter="fade">
                                      <p:cBhvr>
                                        <p:cTn id="156" dur="500"/>
                                        <p:tgtEl>
                                          <p:spTgt spid="44"/>
                                        </p:tgtEl>
                                      </p:cBhvr>
                                    </p:animEffect>
                                  </p:childTnLst>
                                </p:cTn>
                              </p:par>
                              <p:par>
                                <p:cTn id="162" presetID="2" presetClass="entr" presetSubtype="4" fill="hold" grpId="0" nodeType="withEffect">
                                  <p:stCondLst>
                                    <p:cond delay="200"/>
                                  </p:stCondLst>
                                  <p:childTnLst>
                                    <p:set>
                                      <p:cBhvr>
                                        <p:cTn id="158" dur="1" fill="hold">
                                          <p:stCondLst>
                                            <p:cond delay="0"/>
                                          </p:stCondLst>
                                        </p:cTn>
                                        <p:tgtEl>
                                          <p:spTgt spid="45"/>
                                        </p:tgtEl>
                                        <p:attrNameLst>
                                          <p:attrName>style.visibility</p:attrName>
                                        </p:attrNameLst>
                                      </p:cBhvr>
                                      <p:to>
                                        <p:strVal val="visible"/>
                                      </p:to>
                                    </p:set>
                                    <p:anim calcmode="lin" valueType="num">
                                      <p:cBhvr additive="base">
                                        <p:cTn id="159" dur="500" fill="hold"/>
                                        <p:tgtEl>
                                          <p:spTgt spid="45"/>
                                        </p:tgtEl>
                                        <p:attrNameLst>
                                          <p:attrName>ppt_x</p:attrName>
                                        </p:attrNameLst>
                                      </p:cBhvr>
                                      <p:tavLst>
                                        <p:tav tm="0">
                                          <p:val>
                                            <p:strVal val="#ppt_x"/>
                                          </p:val>
                                        </p:tav>
                                        <p:tav tm="100000">
                                          <p:val>
                                            <p:strVal val="#ppt_x"/>
                                          </p:val>
                                        </p:tav>
                                      </p:tavLst>
                                    </p:anim>
                                    <p:anim calcmode="lin" valueType="num">
                                      <p:cBhvr additive="base">
                                        <p:cTn id="160" dur="500" fill="hold"/>
                                        <p:tgtEl>
                                          <p:spTgt spid="45"/>
                                        </p:tgtEl>
                                        <p:attrNameLst>
                                          <p:attrName>ppt_y</p:attrName>
                                        </p:attrNameLst>
                                      </p:cBhvr>
                                      <p:tavLst>
                                        <p:tav tm="0">
                                          <p:val>
                                            <p:strVal val="#ppt_y+0.1"/>
                                          </p:val>
                                        </p:tav>
                                        <p:tav tm="100000">
                                          <p:val>
                                            <p:strVal val="#ppt_y"/>
                                          </p:val>
                                        </p:tav>
                                      </p:tavLst>
                                    </p:anim>
                                    <p:animEffect transition="in" filter="fade">
                                      <p:cBhvr>
                                        <p:cTn id="161" dur="500"/>
                                        <p:tgtEl>
                                          <p:spTgt spid="45"/>
                                        </p:tgtEl>
                                      </p:cBhvr>
                                    </p:animEffect>
                                  </p:childTnLst>
                                </p:cTn>
                              </p:par>
                              <p:par>
                                <p:cTn id="167" presetID="2" presetClass="entr" presetSubtype="4" fill="hold" grpId="0" nodeType="withEffect">
                                  <p:stCondLst>
                                    <p:cond delay="200"/>
                                  </p:stCondLst>
                                  <p:childTnLst>
                                    <p:set>
                                      <p:cBhvr>
                                        <p:cTn id="163" dur="1" fill="hold">
                                          <p:stCondLst>
                                            <p:cond delay="0"/>
                                          </p:stCondLst>
                                        </p:cTn>
                                        <p:tgtEl>
                                          <p:spTgt spid="46"/>
                                        </p:tgtEl>
                                        <p:attrNameLst>
                                          <p:attrName>style.visibility</p:attrName>
                                        </p:attrNameLst>
                                      </p:cBhvr>
                                      <p:to>
                                        <p:strVal val="visible"/>
                                      </p:to>
                                    </p:set>
                                    <p:anim calcmode="lin" valueType="num">
                                      <p:cBhvr additive="base">
                                        <p:cTn id="164" dur="500" fill="hold"/>
                                        <p:tgtEl>
                                          <p:spTgt spid="46"/>
                                        </p:tgtEl>
                                        <p:attrNameLst>
                                          <p:attrName>ppt_x</p:attrName>
                                        </p:attrNameLst>
                                      </p:cBhvr>
                                      <p:tavLst>
                                        <p:tav tm="0">
                                          <p:val>
                                            <p:strVal val="#ppt_x"/>
                                          </p:val>
                                        </p:tav>
                                        <p:tav tm="100000">
                                          <p:val>
                                            <p:strVal val="#ppt_x"/>
                                          </p:val>
                                        </p:tav>
                                      </p:tavLst>
                                    </p:anim>
                                    <p:anim calcmode="lin" valueType="num">
                                      <p:cBhvr additive="base">
                                        <p:cTn id="165" dur="500" fill="hold"/>
                                        <p:tgtEl>
                                          <p:spTgt spid="46"/>
                                        </p:tgtEl>
                                        <p:attrNameLst>
                                          <p:attrName>ppt_y</p:attrName>
                                        </p:attrNameLst>
                                      </p:cBhvr>
                                      <p:tavLst>
                                        <p:tav tm="0">
                                          <p:val>
                                            <p:strVal val="#ppt_y+0.1"/>
                                          </p:val>
                                        </p:tav>
                                        <p:tav tm="100000">
                                          <p:val>
                                            <p:strVal val="#ppt_y"/>
                                          </p:val>
                                        </p:tav>
                                      </p:tavLst>
                                    </p:anim>
                                    <p:animEffect transition="in" filter="fade">
                                      <p:cBhvr>
                                        <p:cTn id="166" dur="500"/>
                                        <p:tgtEl>
                                          <p:spTgt spid="46"/>
                                        </p:tgtEl>
                                      </p:cBhvr>
                                    </p:animEffect>
                                  </p:childTnLst>
                                </p:cTn>
                              </p:par>
                              <p:par>
                                <p:cTn id="172" presetID="2" presetClass="entr" presetSubtype="4" fill="hold" grpId="0" nodeType="withEffect">
                                  <p:stCondLst>
                                    <p:cond delay="200"/>
                                  </p:stCondLst>
                                  <p:childTnLst>
                                    <p:set>
                                      <p:cBhvr>
                                        <p:cTn id="168" dur="1" fill="hold">
                                          <p:stCondLst>
                                            <p:cond delay="0"/>
                                          </p:stCondLst>
                                        </p:cTn>
                                        <p:tgtEl>
                                          <p:spTgt spid="47"/>
                                        </p:tgtEl>
                                        <p:attrNameLst>
                                          <p:attrName>style.visibility</p:attrName>
                                        </p:attrNameLst>
                                      </p:cBhvr>
                                      <p:to>
                                        <p:strVal val="visible"/>
                                      </p:to>
                                    </p:set>
                                    <p:anim calcmode="lin" valueType="num">
                                      <p:cBhvr additive="base">
                                        <p:cTn id="169" dur="500" fill="hold"/>
                                        <p:tgtEl>
                                          <p:spTgt spid="47"/>
                                        </p:tgtEl>
                                        <p:attrNameLst>
                                          <p:attrName>ppt_x</p:attrName>
                                        </p:attrNameLst>
                                      </p:cBhvr>
                                      <p:tavLst>
                                        <p:tav tm="0">
                                          <p:val>
                                            <p:strVal val="#ppt_x"/>
                                          </p:val>
                                        </p:tav>
                                        <p:tav tm="100000">
                                          <p:val>
                                            <p:strVal val="#ppt_x"/>
                                          </p:val>
                                        </p:tav>
                                      </p:tavLst>
                                    </p:anim>
                                    <p:anim calcmode="lin" valueType="num">
                                      <p:cBhvr additive="base">
                                        <p:cTn id="170" dur="500" fill="hold"/>
                                        <p:tgtEl>
                                          <p:spTgt spid="47"/>
                                        </p:tgtEl>
                                        <p:attrNameLst>
                                          <p:attrName>ppt_y</p:attrName>
                                        </p:attrNameLst>
                                      </p:cBhvr>
                                      <p:tavLst>
                                        <p:tav tm="0">
                                          <p:val>
                                            <p:strVal val="#ppt_y+0.1"/>
                                          </p:val>
                                        </p:tav>
                                        <p:tav tm="100000">
                                          <p:val>
                                            <p:strVal val="#ppt_y"/>
                                          </p:val>
                                        </p:tav>
                                      </p:tavLst>
                                    </p:anim>
                                    <p:animEffect transition="in" filter="fade">
                                      <p:cBhvr>
                                        <p:cTn id="171" dur="500"/>
                                        <p:tgtEl>
                                          <p:spTgt spid="47"/>
                                        </p:tgtEl>
                                      </p:cBhvr>
                                    </p:animEffect>
                                  </p:childTnLst>
                                </p:cTn>
                              </p:par>
                              <p:par>
                                <p:cTn id="177" presetID="2" presetClass="entr" presetSubtype="4" fill="hold" grpId="0" nodeType="withEffect">
                                  <p:stCondLst>
                                    <p:cond delay="300"/>
                                  </p:stCondLst>
                                  <p:childTnLst>
                                    <p:set>
                                      <p:cBhvr>
                                        <p:cTn id="173" dur="1" fill="hold">
                                          <p:stCondLst>
                                            <p:cond delay="0"/>
                                          </p:stCondLst>
                                        </p:cTn>
                                        <p:tgtEl>
                                          <p:spTgt spid="49"/>
                                        </p:tgtEl>
                                        <p:attrNameLst>
                                          <p:attrName>style.visibility</p:attrName>
                                        </p:attrNameLst>
                                      </p:cBhvr>
                                      <p:to>
                                        <p:strVal val="visible"/>
                                      </p:to>
                                    </p:set>
                                    <p:anim calcmode="lin" valueType="num">
                                      <p:cBhvr additive="base">
                                        <p:cTn id="174" dur="500" fill="hold"/>
                                        <p:tgtEl>
                                          <p:spTgt spid="49"/>
                                        </p:tgtEl>
                                        <p:attrNameLst>
                                          <p:attrName>ppt_x</p:attrName>
                                        </p:attrNameLst>
                                      </p:cBhvr>
                                      <p:tavLst>
                                        <p:tav tm="0">
                                          <p:val>
                                            <p:strVal val="#ppt_x"/>
                                          </p:val>
                                        </p:tav>
                                        <p:tav tm="100000">
                                          <p:val>
                                            <p:strVal val="#ppt_x"/>
                                          </p:val>
                                        </p:tav>
                                      </p:tavLst>
                                    </p:anim>
                                    <p:anim calcmode="lin" valueType="num">
                                      <p:cBhvr additive="base">
                                        <p:cTn id="175" dur="500" fill="hold"/>
                                        <p:tgtEl>
                                          <p:spTgt spid="49"/>
                                        </p:tgtEl>
                                        <p:attrNameLst>
                                          <p:attrName>ppt_y</p:attrName>
                                        </p:attrNameLst>
                                      </p:cBhvr>
                                      <p:tavLst>
                                        <p:tav tm="0">
                                          <p:val>
                                            <p:strVal val="#ppt_y+0.1"/>
                                          </p:val>
                                        </p:tav>
                                        <p:tav tm="100000">
                                          <p:val>
                                            <p:strVal val="#ppt_y"/>
                                          </p:val>
                                        </p:tav>
                                      </p:tavLst>
                                    </p:anim>
                                    <p:animEffect transition="in" filter="fade">
                                      <p:cBhvr>
                                        <p:cTn id="176" dur="500"/>
                                        <p:tgtEl>
                                          <p:spTgt spid="49"/>
                                        </p:tgtEl>
                                      </p:cBhvr>
                                    </p:animEffect>
                                  </p:childTnLst>
                                </p:cTn>
                              </p:par>
                            </p:childTnLst>
                          </p:cTn>
                        </p:par>
                      </p:childTnLst>
                    </p:cTn>
                  </p:par>
                  <p:par>
                    <p:cTn id="178" fill="hold">
                      <p:stCondLst>
                        <p:cond delay="indefinite"/>
                      </p:stCondLst>
                      <p:childTnLst>
                        <p:par>
                          <p:cTn id="179" fill="hold">
                            <p:stCondLst>
                              <p:cond delay="0"/>
                            </p:stCondLst>
                            <p:childTnLst>
                              <p:par>
                                <p:cTn id="184" presetID="2" presetClass="entr" presetSubtype="4" fill="hold" grpId="0" nodeType="clickEffect">
                                  <p:stCondLst>
                                    <p:cond delay="0"/>
                                  </p:stCondLst>
                                  <p:childTnLst>
                                    <p:set>
                                      <p:cBhvr>
                                        <p:cTn id="180" dur="1" fill="hold">
                                          <p:stCondLst>
                                            <p:cond delay="0"/>
                                          </p:stCondLst>
                                        </p:cTn>
                                        <p:tgtEl>
                                          <p:spTgt spid="50"/>
                                        </p:tgtEl>
                                        <p:attrNameLst>
                                          <p:attrName>style.visibility</p:attrName>
                                        </p:attrNameLst>
                                      </p:cBhvr>
                                      <p:to>
                                        <p:strVal val="visible"/>
                                      </p:to>
                                    </p:set>
                                    <p:anim calcmode="lin" valueType="num">
                                      <p:cBhvr additive="base">
                                        <p:cTn id="181" dur="500" fill="hold"/>
                                        <p:tgtEl>
                                          <p:spTgt spid="50"/>
                                        </p:tgtEl>
                                        <p:attrNameLst>
                                          <p:attrName>ppt_x</p:attrName>
                                        </p:attrNameLst>
                                      </p:cBhvr>
                                      <p:tavLst>
                                        <p:tav tm="0">
                                          <p:val>
                                            <p:strVal val="#ppt_x"/>
                                          </p:val>
                                        </p:tav>
                                        <p:tav tm="100000">
                                          <p:val>
                                            <p:strVal val="#ppt_x"/>
                                          </p:val>
                                        </p:tav>
                                      </p:tavLst>
                                    </p:anim>
                                    <p:anim calcmode="lin" valueType="num">
                                      <p:cBhvr additive="base">
                                        <p:cTn id="182" dur="500" fill="hold"/>
                                        <p:tgtEl>
                                          <p:spTgt spid="50"/>
                                        </p:tgtEl>
                                        <p:attrNameLst>
                                          <p:attrName>ppt_y</p:attrName>
                                        </p:attrNameLst>
                                      </p:cBhvr>
                                      <p:tavLst>
                                        <p:tav tm="0">
                                          <p:val>
                                            <p:strVal val="#ppt_y+0.1"/>
                                          </p:val>
                                        </p:tav>
                                        <p:tav tm="100000">
                                          <p:val>
                                            <p:strVal val="#ppt_y"/>
                                          </p:val>
                                        </p:tav>
                                      </p:tavLst>
                                    </p:anim>
                                    <p:animEffect transition="in" filter="fade">
                                      <p:cBhvr>
                                        <p:cTn id="183" dur="500"/>
                                        <p:tgtEl>
                                          <p:spTgt spid="50"/>
                                        </p:tgtEl>
                                      </p:cBhvr>
                                    </p:animEffect>
                                  </p:childTnLst>
                                </p:cTn>
                              </p:par>
                              <p:par>
                                <p:cTn id="189" presetID="2" presetClass="entr" presetSubtype="4" fill="hold" grpId="0" nodeType="withEffect">
                                  <p:stCondLst>
                                    <p:cond delay="0"/>
                                  </p:stCondLst>
                                  <p:childTnLst>
                                    <p:set>
                                      <p:cBhvr>
                                        <p:cTn id="185" dur="1" fill="hold">
                                          <p:stCondLst>
                                            <p:cond delay="0"/>
                                          </p:stCondLst>
                                        </p:cTn>
                                        <p:tgtEl>
                                          <p:spTgt spid="51"/>
                                        </p:tgtEl>
                                        <p:attrNameLst>
                                          <p:attrName>style.visibility</p:attrName>
                                        </p:attrNameLst>
                                      </p:cBhvr>
                                      <p:to>
                                        <p:strVal val="visible"/>
                                      </p:to>
                                    </p:set>
                                    <p:anim calcmode="lin" valueType="num">
                                      <p:cBhvr additive="base">
                                        <p:cTn id="186" dur="500" fill="hold"/>
                                        <p:tgtEl>
                                          <p:spTgt spid="51"/>
                                        </p:tgtEl>
                                        <p:attrNameLst>
                                          <p:attrName>ppt_x</p:attrName>
                                        </p:attrNameLst>
                                      </p:cBhvr>
                                      <p:tavLst>
                                        <p:tav tm="0">
                                          <p:val>
                                            <p:strVal val="#ppt_x"/>
                                          </p:val>
                                        </p:tav>
                                        <p:tav tm="100000">
                                          <p:val>
                                            <p:strVal val="#ppt_x"/>
                                          </p:val>
                                        </p:tav>
                                      </p:tavLst>
                                    </p:anim>
                                    <p:anim calcmode="lin" valueType="num">
                                      <p:cBhvr additive="base">
                                        <p:cTn id="187" dur="500" fill="hold"/>
                                        <p:tgtEl>
                                          <p:spTgt spid="51"/>
                                        </p:tgtEl>
                                        <p:attrNameLst>
                                          <p:attrName>ppt_y</p:attrName>
                                        </p:attrNameLst>
                                      </p:cBhvr>
                                      <p:tavLst>
                                        <p:tav tm="0">
                                          <p:val>
                                            <p:strVal val="#ppt_y+0.1"/>
                                          </p:val>
                                        </p:tav>
                                        <p:tav tm="100000">
                                          <p:val>
                                            <p:strVal val="#ppt_y"/>
                                          </p:val>
                                        </p:tav>
                                      </p:tavLst>
                                    </p:anim>
                                    <p:animEffect transition="in" filter="fade">
                                      <p:cBhvr>
                                        <p:cTn id="188" dur="500"/>
                                        <p:tgtEl>
                                          <p:spTgt spid="51"/>
                                        </p:tgtEl>
                                      </p:cBhvr>
                                    </p:animEffect>
                                  </p:childTnLst>
                                </p:cTn>
                              </p:par>
                              <p:par>
                                <p:cTn id="194" presetID="2" presetClass="entr" presetSubtype="4" fill="hold" grpId="0" nodeType="withEffect">
                                  <p:stCondLst>
                                    <p:cond delay="0"/>
                                  </p:stCondLst>
                                  <p:childTnLst>
                                    <p:set>
                                      <p:cBhvr>
                                        <p:cTn id="190" dur="1" fill="hold">
                                          <p:stCondLst>
                                            <p:cond delay="0"/>
                                          </p:stCondLst>
                                        </p:cTn>
                                        <p:tgtEl>
                                          <p:spTgt spid="52"/>
                                        </p:tgtEl>
                                        <p:attrNameLst>
                                          <p:attrName>style.visibility</p:attrName>
                                        </p:attrNameLst>
                                      </p:cBhvr>
                                      <p:to>
                                        <p:strVal val="visible"/>
                                      </p:to>
                                    </p:set>
                                    <p:anim calcmode="lin" valueType="num">
                                      <p:cBhvr additive="base">
                                        <p:cTn id="191" dur="500" fill="hold"/>
                                        <p:tgtEl>
                                          <p:spTgt spid="52"/>
                                        </p:tgtEl>
                                        <p:attrNameLst>
                                          <p:attrName>ppt_x</p:attrName>
                                        </p:attrNameLst>
                                      </p:cBhvr>
                                      <p:tavLst>
                                        <p:tav tm="0">
                                          <p:val>
                                            <p:strVal val="#ppt_x"/>
                                          </p:val>
                                        </p:tav>
                                        <p:tav tm="100000">
                                          <p:val>
                                            <p:strVal val="#ppt_x"/>
                                          </p:val>
                                        </p:tav>
                                      </p:tavLst>
                                    </p:anim>
                                    <p:anim calcmode="lin" valueType="num">
                                      <p:cBhvr additive="base">
                                        <p:cTn id="192" dur="500" fill="hold"/>
                                        <p:tgtEl>
                                          <p:spTgt spid="52"/>
                                        </p:tgtEl>
                                        <p:attrNameLst>
                                          <p:attrName>ppt_y</p:attrName>
                                        </p:attrNameLst>
                                      </p:cBhvr>
                                      <p:tavLst>
                                        <p:tav tm="0">
                                          <p:val>
                                            <p:strVal val="#ppt_y+0.1"/>
                                          </p:val>
                                        </p:tav>
                                        <p:tav tm="100000">
                                          <p:val>
                                            <p:strVal val="#ppt_y"/>
                                          </p:val>
                                        </p:tav>
                                      </p:tavLst>
                                    </p:anim>
                                    <p:animEffect transition="in" filter="fade">
                                      <p:cBhvr>
                                        <p:cTn id="193"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Source to Sink, Through Kafka</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Messages flow from one external system to another - with Kafka in the middle</a:t>
            </a:r>
          </a:p>
        </p:txBody>
      </p:sp>
      <p:sp>
        <p:nvSpPr>
          <p:cNvPr id="11" name="a1u_card10"/>
          <p:cNvSpPr/>
          <p:nvPr/>
        </p:nvSpPr>
        <p:spPr>
          <a:xfrm>
            <a:off x="457200" y="1325880"/>
            <a:ext cx="1691640" cy="1417320"/>
          </a:xfrm>
          <a:prstGeom prst="roundRect">
            <a:avLst>
              <a:gd name="adj" fmla="val 7741"/>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tb11"/>
          <p:cNvSpPr txBox="1"/>
          <p:nvPr/>
        </p:nvSpPr>
        <p:spPr>
          <a:xfrm>
            <a:off x="594360" y="1389888"/>
            <a:ext cx="1463040" cy="237744"/>
          </a:xfrm>
          <a:prstGeom prst="rect">
            <a:avLst/>
          </a:prstGeom>
          <a:noFill/>
        </p:spPr>
        <p:txBody>
          <a:bodyPr wrap="square" lIns="0" tIns="0" rIns="0" bIns="0" anchor="ctr">
            <a:spAutoFit/>
          </a:bodyPr>
          <a:lstStyle/>
          <a:p>
            <a:pPr algn="l"/>
            <a:r>
              <a:rPr sz="850" b="1">
                <a:solidFill>
                  <a:srgbClr val="1C1917"/>
                </a:solidFill>
                <a:latin typeface="Segoe UI"/>
              </a:rPr>
              <a:t>PostgreSQL · users</a:t>
            </a:r>
          </a:p>
        </p:txBody>
      </p:sp>
      <p:sp>
        <p:nvSpPr>
          <p:cNvPr id="13" name="a1u_row12"/>
          <p:cNvSpPr/>
          <p:nvPr/>
        </p:nvSpPr>
        <p:spPr>
          <a:xfrm>
            <a:off x="594360" y="1691640"/>
            <a:ext cx="1417320" cy="274320"/>
          </a:xfrm>
          <a:prstGeom prst="rect">
            <a:avLst/>
          </a:prstGeom>
          <a:solidFill>
            <a:srgbClr val="FFFFFF"/>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u_rowt13"/>
          <p:cNvSpPr txBox="1"/>
          <p:nvPr/>
        </p:nvSpPr>
        <p:spPr>
          <a:xfrm>
            <a:off x="658368" y="1691640"/>
            <a:ext cx="1325880" cy="274320"/>
          </a:xfrm>
          <a:prstGeom prst="rect">
            <a:avLst/>
          </a:prstGeom>
          <a:noFill/>
        </p:spPr>
        <p:txBody>
          <a:bodyPr wrap="square" lIns="0" tIns="0" rIns="0" bIns="0" anchor="ctr">
            <a:spAutoFit/>
          </a:bodyPr>
          <a:lstStyle/>
          <a:p>
            <a:pPr algn="l"/>
            <a:r>
              <a:rPr sz="800" b="0">
                <a:solidFill>
                  <a:srgbClr val="44403C"/>
                </a:solidFill>
                <a:latin typeface="Consolas"/>
              </a:rPr>
              <a:t>7  ana   ana@ex.io</a:t>
            </a:r>
          </a:p>
        </p:txBody>
      </p:sp>
      <p:sp>
        <p:nvSpPr>
          <p:cNvPr id="15" name="a1ud80_row14"/>
          <p:cNvSpPr/>
          <p:nvPr/>
        </p:nvSpPr>
        <p:spPr>
          <a:xfrm>
            <a:off x="594360" y="2020824"/>
            <a:ext cx="1417320" cy="274320"/>
          </a:xfrm>
          <a:prstGeom prst="rect">
            <a:avLst/>
          </a:prstGeom>
          <a:solidFill>
            <a:srgbClr val="FFFFFF"/>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1ud80_rowt15"/>
          <p:cNvSpPr txBox="1"/>
          <p:nvPr/>
        </p:nvSpPr>
        <p:spPr>
          <a:xfrm>
            <a:off x="658368" y="2020824"/>
            <a:ext cx="1325880" cy="274320"/>
          </a:xfrm>
          <a:prstGeom prst="rect">
            <a:avLst/>
          </a:prstGeom>
          <a:noFill/>
        </p:spPr>
        <p:txBody>
          <a:bodyPr wrap="square" lIns="0" tIns="0" rIns="0" bIns="0" anchor="ctr">
            <a:spAutoFit/>
          </a:bodyPr>
          <a:lstStyle/>
          <a:p>
            <a:pPr algn="l"/>
            <a:r>
              <a:rPr sz="800" b="0">
                <a:solidFill>
                  <a:srgbClr val="44403C"/>
                </a:solidFill>
                <a:latin typeface="Consolas"/>
              </a:rPr>
              <a:t>8  raj   raj@ex.io</a:t>
            </a:r>
          </a:p>
        </p:txBody>
      </p:sp>
      <p:sp>
        <p:nvSpPr>
          <p:cNvPr id="17" name="a1ud160_row16"/>
          <p:cNvSpPr/>
          <p:nvPr/>
        </p:nvSpPr>
        <p:spPr>
          <a:xfrm>
            <a:off x="594360" y="2350008"/>
            <a:ext cx="1417320" cy="274320"/>
          </a:xfrm>
          <a:prstGeom prst="rect">
            <a:avLst/>
          </a:prstGeom>
          <a:solidFill>
            <a:srgbClr val="FFFFFF"/>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1ud160_rowt17"/>
          <p:cNvSpPr txBox="1"/>
          <p:nvPr/>
        </p:nvSpPr>
        <p:spPr>
          <a:xfrm>
            <a:off x="658368" y="2350008"/>
            <a:ext cx="1325880" cy="274320"/>
          </a:xfrm>
          <a:prstGeom prst="rect">
            <a:avLst/>
          </a:prstGeom>
          <a:noFill/>
        </p:spPr>
        <p:txBody>
          <a:bodyPr wrap="square" lIns="0" tIns="0" rIns="0" bIns="0" anchor="ctr">
            <a:spAutoFit/>
          </a:bodyPr>
          <a:lstStyle/>
          <a:p>
            <a:pPr algn="l"/>
            <a:r>
              <a:rPr sz="800" b="0">
                <a:solidFill>
                  <a:srgbClr val="44403C"/>
                </a:solidFill>
                <a:latin typeface="Consolas"/>
              </a:rPr>
              <a:t>9  li    li@ex.io</a:t>
            </a:r>
          </a:p>
        </p:txBody>
      </p:sp>
      <p:cxnSp>
        <p:nvCxnSpPr>
          <p:cNvPr id="19" name="a2u_ar18"/>
          <p:cNvCxnSpPr/>
          <p:nvPr/>
        </p:nvCxnSpPr>
        <p:spPr>
          <a:xfrm>
            <a:off x="2167128" y="2029968"/>
            <a:ext cx="237744" cy="0"/>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a2u_nd19"/>
          <p:cNvSpPr/>
          <p:nvPr/>
        </p:nvSpPr>
        <p:spPr>
          <a:xfrm>
            <a:off x="2423160" y="1645920"/>
            <a:ext cx="1417320" cy="768096"/>
          </a:xfrm>
          <a:prstGeom prst="roundRect">
            <a:avLst>
              <a:gd name="adj" fmla="val 9523"/>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2u_ndt20"/>
          <p:cNvSpPr txBox="1"/>
          <p:nvPr/>
        </p:nvSpPr>
        <p:spPr>
          <a:xfrm>
            <a:off x="2468879" y="1682496"/>
            <a:ext cx="1325880" cy="365759"/>
          </a:xfrm>
          <a:prstGeom prst="rect">
            <a:avLst/>
          </a:prstGeom>
          <a:noFill/>
        </p:spPr>
        <p:txBody>
          <a:bodyPr wrap="square" lIns="0" tIns="0" rIns="0" bIns="0" anchor="b">
            <a:spAutoFit/>
          </a:bodyPr>
          <a:lstStyle/>
          <a:p>
            <a:pPr algn="ctr"/>
            <a:r>
              <a:rPr sz="950" b="1">
                <a:solidFill>
                  <a:srgbClr val="1C1917"/>
                </a:solidFill>
                <a:latin typeface="Segoe UI"/>
              </a:rPr>
              <a:t>source</a:t>
            </a:r>
          </a:p>
        </p:txBody>
      </p:sp>
      <p:sp>
        <p:nvSpPr>
          <p:cNvPr id="22" name="a2u_nds21"/>
          <p:cNvSpPr txBox="1"/>
          <p:nvPr/>
        </p:nvSpPr>
        <p:spPr>
          <a:xfrm>
            <a:off x="2468879" y="2057400"/>
            <a:ext cx="1325880" cy="320040"/>
          </a:xfrm>
          <a:prstGeom prst="rect">
            <a:avLst/>
          </a:prstGeom>
          <a:noFill/>
        </p:spPr>
        <p:txBody>
          <a:bodyPr wrap="square" lIns="0" tIns="0" rIns="0" bIns="0" anchor="t">
            <a:spAutoFit/>
          </a:bodyPr>
          <a:lstStyle/>
          <a:p>
            <a:pPr algn="ctr"/>
            <a:r>
              <a:rPr sz="750" b="0">
                <a:solidFill>
                  <a:srgbClr val="EA580C"/>
                </a:solidFill>
                <a:latin typeface="Segoe UI"/>
              </a:rPr>
              <a:t>change data capture</a:t>
            </a:r>
          </a:p>
        </p:txBody>
      </p:sp>
      <p:cxnSp>
        <p:nvCxnSpPr>
          <p:cNvPr id="23" name="a2ud150_ar22"/>
          <p:cNvCxnSpPr/>
          <p:nvPr/>
        </p:nvCxnSpPr>
        <p:spPr>
          <a:xfrm>
            <a:off x="3858768" y="2029968"/>
            <a:ext cx="237744" cy="0"/>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a2ud150_lb23"/>
          <p:cNvSpPr txBox="1"/>
          <p:nvPr/>
        </p:nvSpPr>
        <p:spPr>
          <a:xfrm>
            <a:off x="4114800" y="1572768"/>
            <a:ext cx="1645920" cy="201168"/>
          </a:xfrm>
          <a:prstGeom prst="rect">
            <a:avLst/>
          </a:prstGeom>
          <a:noFill/>
        </p:spPr>
        <p:txBody>
          <a:bodyPr wrap="square" lIns="0" tIns="0" rIns="0" bIns="0" anchor="ctr">
            <a:spAutoFit/>
          </a:bodyPr>
          <a:lstStyle/>
          <a:p>
            <a:pPr algn="l"/>
            <a:r>
              <a:rPr sz="850" b="1">
                <a:solidFill>
                  <a:srgbClr val="0E7490"/>
                </a:solidFill>
                <a:latin typeface="Consolas"/>
              </a:rPr>
              <a:t>topic: users</a:t>
            </a:r>
          </a:p>
        </p:txBody>
      </p:sp>
      <p:sp>
        <p:nvSpPr>
          <p:cNvPr id="25" name="a2wd150_cell24"/>
          <p:cNvSpPr/>
          <p:nvPr/>
        </p:nvSpPr>
        <p:spPr>
          <a:xfrm>
            <a:off x="4114800" y="1847088"/>
            <a:ext cx="384048" cy="36576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2wd150_cellt25"/>
          <p:cNvSpPr txBox="1"/>
          <p:nvPr/>
        </p:nvSpPr>
        <p:spPr>
          <a:xfrm>
            <a:off x="4114800" y="1847088"/>
            <a:ext cx="384048" cy="365760"/>
          </a:xfrm>
          <a:prstGeom prst="rect">
            <a:avLst/>
          </a:prstGeom>
          <a:noFill/>
        </p:spPr>
        <p:txBody>
          <a:bodyPr wrap="square" lIns="0" tIns="0" rIns="0" bIns="0" anchor="ctr">
            <a:spAutoFit/>
          </a:bodyPr>
          <a:lstStyle/>
          <a:p>
            <a:pPr algn="ctr"/>
            <a:r>
              <a:rPr sz="900" b="1">
                <a:solidFill>
                  <a:srgbClr val="0E7490"/>
                </a:solidFill>
                <a:latin typeface="Consolas"/>
              </a:rPr>
              <a:t>7</a:t>
            </a:r>
          </a:p>
        </p:txBody>
      </p:sp>
      <p:sp>
        <p:nvSpPr>
          <p:cNvPr id="27" name="a2wd270_cell26"/>
          <p:cNvSpPr/>
          <p:nvPr/>
        </p:nvSpPr>
        <p:spPr>
          <a:xfrm>
            <a:off x="4498848" y="1847088"/>
            <a:ext cx="384048" cy="36576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2wd270_cellt27"/>
          <p:cNvSpPr txBox="1"/>
          <p:nvPr/>
        </p:nvSpPr>
        <p:spPr>
          <a:xfrm>
            <a:off x="4498848" y="1847088"/>
            <a:ext cx="384048" cy="365760"/>
          </a:xfrm>
          <a:prstGeom prst="rect">
            <a:avLst/>
          </a:prstGeom>
          <a:noFill/>
        </p:spPr>
        <p:txBody>
          <a:bodyPr wrap="square" lIns="0" tIns="0" rIns="0" bIns="0" anchor="ctr">
            <a:spAutoFit/>
          </a:bodyPr>
          <a:lstStyle/>
          <a:p>
            <a:pPr algn="ctr"/>
            <a:r>
              <a:rPr sz="900" b="1">
                <a:solidFill>
                  <a:srgbClr val="0E7490"/>
                </a:solidFill>
                <a:latin typeface="Consolas"/>
              </a:rPr>
              <a:t>8</a:t>
            </a:r>
          </a:p>
        </p:txBody>
      </p:sp>
      <p:sp>
        <p:nvSpPr>
          <p:cNvPr id="29" name="a2wd390_cell28"/>
          <p:cNvSpPr/>
          <p:nvPr/>
        </p:nvSpPr>
        <p:spPr>
          <a:xfrm>
            <a:off x="4882896" y="1847088"/>
            <a:ext cx="384048" cy="36576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2wd390_cellt29"/>
          <p:cNvSpPr txBox="1"/>
          <p:nvPr/>
        </p:nvSpPr>
        <p:spPr>
          <a:xfrm>
            <a:off x="4882896" y="1847088"/>
            <a:ext cx="384048" cy="365760"/>
          </a:xfrm>
          <a:prstGeom prst="rect">
            <a:avLst/>
          </a:prstGeom>
          <a:noFill/>
        </p:spPr>
        <p:txBody>
          <a:bodyPr wrap="square" lIns="0" tIns="0" rIns="0" bIns="0" anchor="ctr">
            <a:spAutoFit/>
          </a:bodyPr>
          <a:lstStyle/>
          <a:p>
            <a:pPr algn="ctr"/>
            <a:r>
              <a:rPr sz="900" b="1">
                <a:solidFill>
                  <a:srgbClr val="0E7490"/>
                </a:solidFill>
                <a:latin typeface="Consolas"/>
              </a:rPr>
              <a:t>9</a:t>
            </a:r>
          </a:p>
        </p:txBody>
      </p:sp>
      <p:cxnSp>
        <p:nvCxnSpPr>
          <p:cNvPr id="31" name="a3u_ar30"/>
          <p:cNvCxnSpPr/>
          <p:nvPr/>
        </p:nvCxnSpPr>
        <p:spPr>
          <a:xfrm>
            <a:off x="5303520" y="2029968"/>
            <a:ext cx="237744" cy="0"/>
          </a:xfrm>
          <a:prstGeom prst="line">
            <a:avLst/>
          </a:prstGeom>
          <a:ln w="1905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a3u_nd31"/>
          <p:cNvSpPr/>
          <p:nvPr/>
        </p:nvSpPr>
        <p:spPr>
          <a:xfrm>
            <a:off x="5559552" y="1645920"/>
            <a:ext cx="1325880" cy="768096"/>
          </a:xfrm>
          <a:prstGeom prst="roundRect">
            <a:avLst>
              <a:gd name="adj" fmla="val 9523"/>
            </a:avLst>
          </a:prstGeom>
          <a:solidFill>
            <a:srgbClr val="F7F6F3"/>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3u_ndt32"/>
          <p:cNvSpPr txBox="1"/>
          <p:nvPr/>
        </p:nvSpPr>
        <p:spPr>
          <a:xfrm>
            <a:off x="5605272" y="1682496"/>
            <a:ext cx="1234439" cy="365759"/>
          </a:xfrm>
          <a:prstGeom prst="rect">
            <a:avLst/>
          </a:prstGeom>
          <a:noFill/>
        </p:spPr>
        <p:txBody>
          <a:bodyPr wrap="square" lIns="0" tIns="0" rIns="0" bIns="0" anchor="b">
            <a:spAutoFit/>
          </a:bodyPr>
          <a:lstStyle/>
          <a:p>
            <a:pPr algn="ctr"/>
            <a:r>
              <a:rPr sz="950" b="1">
                <a:solidFill>
                  <a:srgbClr val="1C1917"/>
                </a:solidFill>
                <a:latin typeface="Segoe UI"/>
              </a:rPr>
              <a:t>sink</a:t>
            </a:r>
          </a:p>
        </p:txBody>
      </p:sp>
      <p:sp>
        <p:nvSpPr>
          <p:cNvPr id="34" name="a3u_nds33"/>
          <p:cNvSpPr txBox="1"/>
          <p:nvPr/>
        </p:nvSpPr>
        <p:spPr>
          <a:xfrm>
            <a:off x="5605272" y="2057400"/>
            <a:ext cx="1234439" cy="320040"/>
          </a:xfrm>
          <a:prstGeom prst="rect">
            <a:avLst/>
          </a:prstGeom>
          <a:noFill/>
        </p:spPr>
        <p:txBody>
          <a:bodyPr wrap="square" lIns="0" tIns="0" rIns="0" bIns="0" anchor="t">
            <a:spAutoFit/>
          </a:bodyPr>
          <a:lstStyle/>
          <a:p>
            <a:pPr algn="ctr"/>
            <a:r>
              <a:rPr sz="750" b="0">
                <a:solidFill>
                  <a:srgbClr val="4F46E5"/>
                </a:solidFill>
                <a:latin typeface="Segoe UI"/>
              </a:rPr>
              <a:t>consumes the topic</a:t>
            </a:r>
          </a:p>
        </p:txBody>
      </p:sp>
      <p:cxnSp>
        <p:nvCxnSpPr>
          <p:cNvPr id="35" name="a3ud150_ar34"/>
          <p:cNvCxnSpPr/>
          <p:nvPr/>
        </p:nvCxnSpPr>
        <p:spPr>
          <a:xfrm>
            <a:off x="6903720" y="2029968"/>
            <a:ext cx="237744" cy="0"/>
          </a:xfrm>
          <a:prstGeom prst="line">
            <a:avLst/>
          </a:prstGeom>
          <a:ln w="1905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a3ud150_card35"/>
          <p:cNvSpPr/>
          <p:nvPr/>
        </p:nvSpPr>
        <p:spPr>
          <a:xfrm>
            <a:off x="7159752" y="1325880"/>
            <a:ext cx="1527048" cy="1417320"/>
          </a:xfrm>
          <a:prstGeom prst="roundRect">
            <a:avLst>
              <a:gd name="adj" fmla="val 7741"/>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3ud150_es36"/>
          <p:cNvSpPr txBox="1"/>
          <p:nvPr/>
        </p:nvSpPr>
        <p:spPr>
          <a:xfrm>
            <a:off x="7278624" y="1389888"/>
            <a:ext cx="1325880" cy="237744"/>
          </a:xfrm>
          <a:prstGeom prst="rect">
            <a:avLst/>
          </a:prstGeom>
          <a:noFill/>
        </p:spPr>
        <p:txBody>
          <a:bodyPr wrap="square" lIns="0" tIns="0" rIns="0" bIns="0" anchor="ctr">
            <a:spAutoFit/>
          </a:bodyPr>
          <a:lstStyle/>
          <a:p>
            <a:pPr algn="l"/>
            <a:r>
              <a:rPr sz="850" b="1">
                <a:solidFill>
                  <a:srgbClr val="1C1917"/>
                </a:solidFill>
                <a:latin typeface="Segoe UI"/>
              </a:rPr>
              <a:t>Elasticsearch</a:t>
            </a:r>
          </a:p>
        </p:txBody>
      </p:sp>
      <p:sp>
        <p:nvSpPr>
          <p:cNvPr id="38" name="a3ud250_pill37"/>
          <p:cNvSpPr/>
          <p:nvPr/>
        </p:nvSpPr>
        <p:spPr>
          <a:xfrm>
            <a:off x="7278624" y="1691640"/>
            <a:ext cx="1298448" cy="256032"/>
          </a:xfrm>
          <a:prstGeom prst="roundRect">
            <a:avLst>
              <a:gd name="adj" fmla="val 50000"/>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00" b="1">
                <a:solidFill>
                  <a:srgbClr val="4F46E5"/>
                </a:solidFill>
                <a:latin typeface="Consolas"/>
              </a:rPr>
              <a:t>{id:7, ana}</a:t>
            </a:r>
          </a:p>
        </p:txBody>
      </p:sp>
      <p:sp>
        <p:nvSpPr>
          <p:cNvPr id="39" name="a3ud330_pill38"/>
          <p:cNvSpPr/>
          <p:nvPr/>
        </p:nvSpPr>
        <p:spPr>
          <a:xfrm>
            <a:off x="7278624" y="2020824"/>
            <a:ext cx="1298448" cy="256032"/>
          </a:xfrm>
          <a:prstGeom prst="roundRect">
            <a:avLst>
              <a:gd name="adj" fmla="val 50000"/>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00" b="1">
                <a:solidFill>
                  <a:srgbClr val="4F46E5"/>
                </a:solidFill>
                <a:latin typeface="Consolas"/>
              </a:rPr>
              <a:t>{id:8, raj}</a:t>
            </a:r>
          </a:p>
        </p:txBody>
      </p:sp>
      <p:sp>
        <p:nvSpPr>
          <p:cNvPr id="40" name="a3ud410_pill39"/>
          <p:cNvSpPr/>
          <p:nvPr/>
        </p:nvSpPr>
        <p:spPr>
          <a:xfrm>
            <a:off x="7278624" y="2350008"/>
            <a:ext cx="1298448" cy="256032"/>
          </a:xfrm>
          <a:prstGeom prst="roundRect">
            <a:avLst>
              <a:gd name="adj" fmla="val 50000"/>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00" b="1">
                <a:solidFill>
                  <a:srgbClr val="4F46E5"/>
                </a:solidFill>
                <a:latin typeface="Consolas"/>
              </a:rPr>
              <a:t>{id:9, li}</a:t>
            </a:r>
          </a:p>
        </p:txBody>
      </p:sp>
      <p:sp>
        <p:nvSpPr>
          <p:cNvPr id="41" name="a1u_card40"/>
          <p:cNvSpPr/>
          <p:nvPr/>
        </p:nvSpPr>
        <p:spPr>
          <a:xfrm>
            <a:off x="457200" y="2926080"/>
            <a:ext cx="2615184" cy="841248"/>
          </a:xfrm>
          <a:prstGeom prst="roundRect">
            <a:avLst>
              <a:gd name="adj" fmla="val 13043"/>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1u_acc41"/>
          <p:cNvSpPr/>
          <p:nvPr/>
        </p:nvSpPr>
        <p:spPr>
          <a:xfrm>
            <a:off x="457200" y="2926080"/>
            <a:ext cx="2615184"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1u_tt42"/>
          <p:cNvSpPr txBox="1"/>
          <p:nvPr/>
        </p:nvSpPr>
        <p:spPr>
          <a:xfrm>
            <a:off x="603504" y="3035808"/>
            <a:ext cx="2340864" cy="256032"/>
          </a:xfrm>
          <a:prstGeom prst="rect">
            <a:avLst/>
          </a:prstGeom>
          <a:noFill/>
        </p:spPr>
        <p:txBody>
          <a:bodyPr wrap="square" lIns="0" tIns="0" rIns="0" bIns="0" anchor="ctr">
            <a:spAutoFit/>
          </a:bodyPr>
          <a:lstStyle/>
          <a:p>
            <a:pPr algn="l"/>
            <a:r>
              <a:rPr sz="1000" b="1">
                <a:solidFill>
                  <a:srgbClr val="1C1917"/>
                </a:solidFill>
                <a:latin typeface="Segoe UI"/>
              </a:rPr>
              <a:t>1  Capture</a:t>
            </a:r>
          </a:p>
        </p:txBody>
      </p:sp>
      <p:sp>
        <p:nvSpPr>
          <p:cNvPr id="44" name="a1ud60_tb43"/>
          <p:cNvSpPr txBox="1"/>
          <p:nvPr/>
        </p:nvSpPr>
        <p:spPr>
          <a:xfrm>
            <a:off x="603504" y="3328416"/>
            <a:ext cx="2340864" cy="384048"/>
          </a:xfrm>
          <a:prstGeom prst="rect">
            <a:avLst/>
          </a:prstGeom>
          <a:noFill/>
        </p:spPr>
        <p:txBody>
          <a:bodyPr wrap="square" lIns="0" tIns="0" rIns="0" bIns="0" anchor="t">
            <a:spAutoFit/>
          </a:bodyPr>
          <a:lstStyle/>
          <a:p>
            <a:pPr algn="l"/>
            <a:r>
              <a:rPr sz="850" b="0">
                <a:solidFill>
                  <a:srgbClr val="44403C"/>
                </a:solidFill>
                <a:latin typeface="Segoe UI"/>
              </a:rPr>
              <a:t>the source reads changes from the database</a:t>
            </a:r>
          </a:p>
        </p:txBody>
      </p:sp>
      <p:sp>
        <p:nvSpPr>
          <p:cNvPr id="45" name="a2u_card44"/>
          <p:cNvSpPr/>
          <p:nvPr/>
        </p:nvSpPr>
        <p:spPr>
          <a:xfrm>
            <a:off x="3264408" y="2926080"/>
            <a:ext cx="2615184" cy="841248"/>
          </a:xfrm>
          <a:prstGeom prst="roundRect">
            <a:avLst>
              <a:gd name="adj" fmla="val 13043"/>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2u_acc45"/>
          <p:cNvSpPr/>
          <p:nvPr/>
        </p:nvSpPr>
        <p:spPr>
          <a:xfrm>
            <a:off x="3264408" y="2926080"/>
            <a:ext cx="2615184" cy="457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2u_tt46"/>
          <p:cNvSpPr txBox="1"/>
          <p:nvPr/>
        </p:nvSpPr>
        <p:spPr>
          <a:xfrm>
            <a:off x="3410712" y="3035808"/>
            <a:ext cx="2340864" cy="256032"/>
          </a:xfrm>
          <a:prstGeom prst="rect">
            <a:avLst/>
          </a:prstGeom>
          <a:noFill/>
        </p:spPr>
        <p:txBody>
          <a:bodyPr wrap="square" lIns="0" tIns="0" rIns="0" bIns="0" anchor="ctr">
            <a:spAutoFit/>
          </a:bodyPr>
          <a:lstStyle/>
          <a:p>
            <a:pPr algn="l"/>
            <a:r>
              <a:rPr sz="1000" b="1">
                <a:solidFill>
                  <a:srgbClr val="1C1917"/>
                </a:solidFill>
                <a:latin typeface="Segoe UI"/>
              </a:rPr>
              <a:t>2  Store</a:t>
            </a:r>
          </a:p>
        </p:txBody>
      </p:sp>
      <p:sp>
        <p:nvSpPr>
          <p:cNvPr id="48" name="a2ud60_tb47"/>
          <p:cNvSpPr txBox="1"/>
          <p:nvPr/>
        </p:nvSpPr>
        <p:spPr>
          <a:xfrm>
            <a:off x="3410712" y="3328416"/>
            <a:ext cx="2340864" cy="384048"/>
          </a:xfrm>
          <a:prstGeom prst="rect">
            <a:avLst/>
          </a:prstGeom>
          <a:noFill/>
        </p:spPr>
        <p:txBody>
          <a:bodyPr wrap="square" lIns="0" tIns="0" rIns="0" bIns="0" anchor="t">
            <a:spAutoFit/>
          </a:bodyPr>
          <a:lstStyle/>
          <a:p>
            <a:pPr algn="l"/>
            <a:r>
              <a:rPr sz="850" b="0">
                <a:solidFill>
                  <a:srgbClr val="44403C"/>
                </a:solidFill>
                <a:latin typeface="Segoe UI"/>
              </a:rPr>
              <a:t>they land in a topic - durable, replayable</a:t>
            </a:r>
          </a:p>
        </p:txBody>
      </p:sp>
      <p:sp>
        <p:nvSpPr>
          <p:cNvPr id="49" name="a3u_card48"/>
          <p:cNvSpPr/>
          <p:nvPr/>
        </p:nvSpPr>
        <p:spPr>
          <a:xfrm>
            <a:off x="6071616" y="2926080"/>
            <a:ext cx="2615184" cy="841248"/>
          </a:xfrm>
          <a:prstGeom prst="roundRect">
            <a:avLst>
              <a:gd name="adj" fmla="val 13043"/>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a3u_acc49"/>
          <p:cNvSpPr/>
          <p:nvPr/>
        </p:nvSpPr>
        <p:spPr>
          <a:xfrm>
            <a:off x="6071616" y="2926080"/>
            <a:ext cx="2615184"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a3u_tt50"/>
          <p:cNvSpPr txBox="1"/>
          <p:nvPr/>
        </p:nvSpPr>
        <p:spPr>
          <a:xfrm>
            <a:off x="6217920" y="3035808"/>
            <a:ext cx="2340864" cy="256032"/>
          </a:xfrm>
          <a:prstGeom prst="rect">
            <a:avLst/>
          </a:prstGeom>
          <a:noFill/>
        </p:spPr>
        <p:txBody>
          <a:bodyPr wrap="square" lIns="0" tIns="0" rIns="0" bIns="0" anchor="ctr">
            <a:spAutoFit/>
          </a:bodyPr>
          <a:lstStyle/>
          <a:p>
            <a:pPr algn="l"/>
            <a:r>
              <a:rPr sz="1000" b="1">
                <a:solidFill>
                  <a:srgbClr val="1C1917"/>
                </a:solidFill>
                <a:latin typeface="Segoe UI"/>
              </a:rPr>
              <a:t>3  Deliver</a:t>
            </a:r>
          </a:p>
        </p:txBody>
      </p:sp>
      <p:sp>
        <p:nvSpPr>
          <p:cNvPr id="52" name="a3ud60_tb51"/>
          <p:cNvSpPr txBox="1"/>
          <p:nvPr/>
        </p:nvSpPr>
        <p:spPr>
          <a:xfrm>
            <a:off x="6217920" y="3328416"/>
            <a:ext cx="2340864" cy="384048"/>
          </a:xfrm>
          <a:prstGeom prst="rect">
            <a:avLst/>
          </a:prstGeom>
          <a:noFill/>
        </p:spPr>
        <p:txBody>
          <a:bodyPr wrap="square" lIns="0" tIns="0" rIns="0" bIns="0" anchor="t">
            <a:spAutoFit/>
          </a:bodyPr>
          <a:lstStyle/>
          <a:p>
            <a:pPr algn="l"/>
            <a:r>
              <a:rPr sz="850" b="0">
                <a:solidFill>
                  <a:srgbClr val="44403C"/>
                </a:solidFill>
                <a:latin typeface="Segoe UI"/>
              </a:rPr>
              <a:t>the sink writes them into the other system</a:t>
            </a:r>
          </a:p>
        </p:txBody>
      </p:sp>
      <p:sp>
        <p:nvSpPr>
          <p:cNvPr id="53" name="a4u_nb52"/>
          <p:cNvSpPr/>
          <p:nvPr/>
        </p:nvSpPr>
        <p:spPr>
          <a:xfrm>
            <a:off x="457200" y="3931920"/>
            <a:ext cx="8229600" cy="530352"/>
          </a:xfrm>
          <a:prstGeom prst="roundRect">
            <a:avLst>
              <a:gd name="adj" fmla="val 13793"/>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a4u_nacc53"/>
          <p:cNvSpPr/>
          <p:nvPr/>
        </p:nvSpPr>
        <p:spPr>
          <a:xfrm>
            <a:off x="457200" y="3931920"/>
            <a:ext cx="54864" cy="530352"/>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a4u_nt54"/>
          <p:cNvSpPr txBox="1"/>
          <p:nvPr/>
        </p:nvSpPr>
        <p:spPr>
          <a:xfrm>
            <a:off x="658368" y="3931920"/>
            <a:ext cx="7827264" cy="530352"/>
          </a:xfrm>
          <a:prstGeom prst="rect">
            <a:avLst/>
          </a:prstGeom>
          <a:noFill/>
        </p:spPr>
        <p:txBody>
          <a:bodyPr wrap="square" lIns="0" tIns="0" rIns="0" bIns="0" anchor="ctr">
            <a:spAutoFit/>
          </a:bodyPr>
          <a:lstStyle/>
          <a:p>
            <a:pPr algn="l"/>
            <a:r>
              <a:rPr sz="950" b="1">
                <a:solidFill>
                  <a:srgbClr val="0E7490"/>
                </a:solidFill>
                <a:latin typeface="Segoe UI"/>
              </a:rPr>
              <a:t>KEY  </a:t>
            </a:r>
            <a:r>
              <a:rPr sz="950" b="0">
                <a:solidFill>
                  <a:srgbClr val="44403C"/>
                </a:solidFill>
                <a:latin typeface="Segoe UI"/>
              </a:rPr>
              <a:t>A second sink can read the same topic - consuming doesn't delete anything.</a:t>
            </a:r>
          </a:p>
        </p:txBody>
      </p:sp>
      <p:sp>
        <p:nvSpPr>
          <p:cNvPr id="56" name="ft55"/>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05</a:t>
            </a:r>
          </a:p>
        </p:txBody>
      </p:sp>
      <p:sp>
        <p:nvSpPr>
          <p:cNvPr id="57" name="ft56"/>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ft57"/>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Kafka Connect</a:t>
            </a:r>
          </a:p>
        </p:txBody>
      </p:sp>
      <p:sp>
        <p:nvSpPr>
          <p:cNvPr id="59" name="ft58"/>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9</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0"/>
                                  </p:stCondLst>
                                  <p:childTnLst>
                                    <p:set>
                                      <p:cBhvr>
                                        <p:cTn id="25" dur="1" fill="hold">
                                          <p:stCondLst>
                                            <p:cond delay="0"/>
                                          </p:stCondLst>
                                        </p:cTn>
                                        <p:tgtEl>
                                          <p:spTgt spid="41"/>
                                        </p:tgtEl>
                                        <p:attrNameLst>
                                          <p:attrName>style.visibility</p:attrName>
                                        </p:attrNameLst>
                                      </p:cBhvr>
                                      <p:to>
                                        <p:strVal val="visible"/>
                                      </p:to>
                                    </p:set>
                                    <p:anim calcmode="lin" valueType="num">
                                      <p:cBhvr additive="base">
                                        <p:cTn id="26" dur="500" fill="hold"/>
                                        <p:tgtEl>
                                          <p:spTgt spid="41"/>
                                        </p:tgtEl>
                                        <p:attrNameLst>
                                          <p:attrName>ppt_x</p:attrName>
                                        </p:attrNameLst>
                                      </p:cBhvr>
                                      <p:tavLst>
                                        <p:tav tm="0">
                                          <p:val>
                                            <p:strVal val="#ppt_x"/>
                                          </p:val>
                                        </p:tav>
                                        <p:tav tm="100000">
                                          <p:val>
                                            <p:strVal val="#ppt_x"/>
                                          </p:val>
                                        </p:tav>
                                      </p:tavLst>
                                    </p:anim>
                                    <p:anim calcmode="lin" valueType="num">
                                      <p:cBhvr additive="base">
                                        <p:cTn id="27" dur="500" fill="hold"/>
                                        <p:tgtEl>
                                          <p:spTgt spid="41"/>
                                        </p:tgtEl>
                                        <p:attrNameLst>
                                          <p:attrName>ppt_y</p:attrName>
                                        </p:attrNameLst>
                                      </p:cBhvr>
                                      <p:tavLst>
                                        <p:tav tm="0">
                                          <p:val>
                                            <p:strVal val="#ppt_y+0.1"/>
                                          </p:val>
                                        </p:tav>
                                        <p:tav tm="100000">
                                          <p:val>
                                            <p:strVal val="#ppt_y"/>
                                          </p:val>
                                        </p:tav>
                                      </p:tavLst>
                                    </p:anim>
                                    <p:animEffect transition="in" filter="fade">
                                      <p:cBhvr>
                                        <p:cTn id="28" dur="500"/>
                                        <p:tgtEl>
                                          <p:spTgt spid="41"/>
                                        </p:tgtEl>
                                      </p:cBhvr>
                                    </p:animEffect>
                                  </p:childTnLst>
                                </p:cTn>
                              </p:par>
                              <p:par>
                                <p:cTn id="34" presetID="2" presetClass="entr" presetSubtype="4" fill="hold" grpId="0" nodeType="withEffect">
                                  <p:stCondLst>
                                    <p:cond delay="0"/>
                                  </p:stCondLst>
                                  <p:childTnLst>
                                    <p:set>
                                      <p:cBhvr>
                                        <p:cTn id="30" dur="1" fill="hold">
                                          <p:stCondLst>
                                            <p:cond delay="0"/>
                                          </p:stCondLst>
                                        </p:cTn>
                                        <p:tgtEl>
                                          <p:spTgt spid="42"/>
                                        </p:tgtEl>
                                        <p:attrNameLst>
                                          <p:attrName>style.visibility</p:attrName>
                                        </p:attrNameLst>
                                      </p:cBhvr>
                                      <p:to>
                                        <p:strVal val="visible"/>
                                      </p:to>
                                    </p:set>
                                    <p:anim calcmode="lin" valueType="num">
                                      <p:cBhvr additive="base">
                                        <p:cTn id="31" dur="500" fill="hold"/>
                                        <p:tgtEl>
                                          <p:spTgt spid="42"/>
                                        </p:tgtEl>
                                        <p:attrNameLst>
                                          <p:attrName>ppt_x</p:attrName>
                                        </p:attrNameLst>
                                      </p:cBhvr>
                                      <p:tavLst>
                                        <p:tav tm="0">
                                          <p:val>
                                            <p:strVal val="#ppt_x"/>
                                          </p:val>
                                        </p:tav>
                                        <p:tav tm="100000">
                                          <p:val>
                                            <p:strVal val="#ppt_x"/>
                                          </p:val>
                                        </p:tav>
                                      </p:tavLst>
                                    </p:anim>
                                    <p:anim calcmode="lin" valueType="num">
                                      <p:cBhvr additive="base">
                                        <p:cTn id="32" dur="500" fill="hold"/>
                                        <p:tgtEl>
                                          <p:spTgt spid="42"/>
                                        </p:tgtEl>
                                        <p:attrNameLst>
                                          <p:attrName>ppt_y</p:attrName>
                                        </p:attrNameLst>
                                      </p:cBhvr>
                                      <p:tavLst>
                                        <p:tav tm="0">
                                          <p:val>
                                            <p:strVal val="#ppt_y+0.1"/>
                                          </p:val>
                                        </p:tav>
                                        <p:tav tm="100000">
                                          <p:val>
                                            <p:strVal val="#ppt_y"/>
                                          </p:val>
                                        </p:tav>
                                      </p:tavLst>
                                    </p:anim>
                                    <p:animEffect transition="in" filter="fade">
                                      <p:cBhvr>
                                        <p:cTn id="33" dur="500"/>
                                        <p:tgtEl>
                                          <p:spTgt spid="42"/>
                                        </p:tgtEl>
                                      </p:cBhvr>
                                    </p:animEffect>
                                  </p:childTnLst>
                                </p:cTn>
                              </p:par>
                              <p:par>
                                <p:cTn id="39" presetID="2" presetClass="entr" presetSubtype="4" fill="hold" grpId="0" nodeType="withEffect">
                                  <p:stCondLst>
                                    <p:cond delay="0"/>
                                  </p:stCondLst>
                                  <p:childTnLst>
                                    <p:set>
                                      <p:cBhvr>
                                        <p:cTn id="35" dur="1" fill="hold">
                                          <p:stCondLst>
                                            <p:cond delay="0"/>
                                          </p:stCondLst>
                                        </p:cTn>
                                        <p:tgtEl>
                                          <p:spTgt spid="43"/>
                                        </p:tgtEl>
                                        <p:attrNameLst>
                                          <p:attrName>style.visibility</p:attrName>
                                        </p:attrNameLst>
                                      </p:cBhvr>
                                      <p:to>
                                        <p:strVal val="visible"/>
                                      </p:to>
                                    </p:set>
                                    <p:anim calcmode="lin" valueType="num">
                                      <p:cBhvr additive="base">
                                        <p:cTn id="36" dur="500" fill="hold"/>
                                        <p:tgtEl>
                                          <p:spTgt spid="43"/>
                                        </p:tgtEl>
                                        <p:attrNameLst>
                                          <p:attrName>ppt_x</p:attrName>
                                        </p:attrNameLst>
                                      </p:cBhvr>
                                      <p:tavLst>
                                        <p:tav tm="0">
                                          <p:val>
                                            <p:strVal val="#ppt_x"/>
                                          </p:val>
                                        </p:tav>
                                        <p:tav tm="100000">
                                          <p:val>
                                            <p:strVal val="#ppt_x"/>
                                          </p:val>
                                        </p:tav>
                                      </p:tavLst>
                                    </p:anim>
                                    <p:anim calcmode="lin" valueType="num">
                                      <p:cBhvr additive="base">
                                        <p:cTn id="37" dur="500" fill="hold"/>
                                        <p:tgtEl>
                                          <p:spTgt spid="43"/>
                                        </p:tgtEl>
                                        <p:attrNameLst>
                                          <p:attrName>ppt_y</p:attrName>
                                        </p:attrNameLst>
                                      </p:cBhvr>
                                      <p:tavLst>
                                        <p:tav tm="0">
                                          <p:val>
                                            <p:strVal val="#ppt_y+0.1"/>
                                          </p:val>
                                        </p:tav>
                                        <p:tav tm="100000">
                                          <p:val>
                                            <p:strVal val="#ppt_y"/>
                                          </p:val>
                                        </p:tav>
                                      </p:tavLst>
                                    </p:anim>
                                    <p:animEffect transition="in" filter="fade">
                                      <p:cBhvr>
                                        <p:cTn id="38" dur="500"/>
                                        <p:tgtEl>
                                          <p:spTgt spid="43"/>
                                        </p:tgtEl>
                                      </p:cBhvr>
                                    </p:animEffect>
                                  </p:childTnLst>
                                </p:cTn>
                              </p:par>
                              <p:par>
                                <p:cTn id="44" presetID="2" presetClass="entr" presetSubtype="4" fill="hold" grpId="0" nodeType="withEffect">
                                  <p:stCondLst>
                                    <p:cond delay="60"/>
                                  </p:stCondLst>
                                  <p:childTnLst>
                                    <p:set>
                                      <p:cBhvr>
                                        <p:cTn id="40" dur="1" fill="hold">
                                          <p:stCondLst>
                                            <p:cond delay="0"/>
                                          </p:stCondLst>
                                        </p:cTn>
                                        <p:tgtEl>
                                          <p:spTgt spid="44"/>
                                        </p:tgtEl>
                                        <p:attrNameLst>
                                          <p:attrName>style.visibility</p:attrName>
                                        </p:attrNameLst>
                                      </p:cBhvr>
                                      <p:to>
                                        <p:strVal val="visible"/>
                                      </p:to>
                                    </p:set>
                                    <p:anim calcmode="lin" valueType="num">
                                      <p:cBhvr additive="base">
                                        <p:cTn id="41" dur="500" fill="hold"/>
                                        <p:tgtEl>
                                          <p:spTgt spid="44"/>
                                        </p:tgtEl>
                                        <p:attrNameLst>
                                          <p:attrName>ppt_x</p:attrName>
                                        </p:attrNameLst>
                                      </p:cBhvr>
                                      <p:tavLst>
                                        <p:tav tm="0">
                                          <p:val>
                                            <p:strVal val="#ppt_x"/>
                                          </p:val>
                                        </p:tav>
                                        <p:tav tm="100000">
                                          <p:val>
                                            <p:strVal val="#ppt_x"/>
                                          </p:val>
                                        </p:tav>
                                      </p:tavLst>
                                    </p:anim>
                                    <p:anim calcmode="lin" valueType="num">
                                      <p:cBhvr additive="base">
                                        <p:cTn id="42" dur="500" fill="hold"/>
                                        <p:tgtEl>
                                          <p:spTgt spid="44"/>
                                        </p:tgtEl>
                                        <p:attrNameLst>
                                          <p:attrName>ppt_y</p:attrName>
                                        </p:attrNameLst>
                                      </p:cBhvr>
                                      <p:tavLst>
                                        <p:tav tm="0">
                                          <p:val>
                                            <p:strVal val="#ppt_y+0.1"/>
                                          </p:val>
                                        </p:tav>
                                        <p:tav tm="100000">
                                          <p:val>
                                            <p:strVal val="#ppt_y"/>
                                          </p:val>
                                        </p:tav>
                                      </p:tavLst>
                                    </p:anim>
                                    <p:animEffect transition="in" filter="fade">
                                      <p:cBhvr>
                                        <p:cTn id="43" dur="500"/>
                                        <p:tgtEl>
                                          <p:spTgt spid="44"/>
                                        </p:tgtEl>
                                      </p:cBhvr>
                                    </p:animEffect>
                                  </p:childTnLst>
                                </p:cTn>
                              </p:par>
                              <p:par>
                                <p:cTn id="49" presetID="2" presetClass="entr" presetSubtype="4" fill="hold" grpId="0" nodeType="withEffect">
                                  <p:stCondLst>
                                    <p:cond delay="80"/>
                                  </p:stCondLst>
                                  <p:childTnLst>
                                    <p:set>
                                      <p:cBhvr>
                                        <p:cTn id="45" dur="1" fill="hold">
                                          <p:stCondLst>
                                            <p:cond delay="0"/>
                                          </p:stCondLst>
                                        </p:cTn>
                                        <p:tgtEl>
                                          <p:spTgt spid="15"/>
                                        </p:tgtEl>
                                        <p:attrNameLst>
                                          <p:attrName>style.visibility</p:attrName>
                                        </p:attrNameLst>
                                      </p:cBhvr>
                                      <p:to>
                                        <p:strVal val="visible"/>
                                      </p:to>
                                    </p:set>
                                    <p:anim calcmode="lin" valueType="num">
                                      <p:cBhvr additive="base">
                                        <p:cTn id="46" dur="500" fill="hold"/>
                                        <p:tgtEl>
                                          <p:spTgt spid="15"/>
                                        </p:tgtEl>
                                        <p:attrNameLst>
                                          <p:attrName>ppt_x</p:attrName>
                                        </p:attrNameLst>
                                      </p:cBhvr>
                                      <p:tavLst>
                                        <p:tav tm="0">
                                          <p:val>
                                            <p:strVal val="#ppt_x"/>
                                          </p:val>
                                        </p:tav>
                                        <p:tav tm="100000">
                                          <p:val>
                                            <p:strVal val="#ppt_x"/>
                                          </p:val>
                                        </p:tav>
                                      </p:tavLst>
                                    </p:anim>
                                    <p:anim calcmode="lin" valueType="num">
                                      <p:cBhvr additive="base">
                                        <p:cTn id="47" dur="500" fill="hold"/>
                                        <p:tgtEl>
                                          <p:spTgt spid="15"/>
                                        </p:tgtEl>
                                        <p:attrNameLst>
                                          <p:attrName>ppt_y</p:attrName>
                                        </p:attrNameLst>
                                      </p:cBhvr>
                                      <p:tavLst>
                                        <p:tav tm="0">
                                          <p:val>
                                            <p:strVal val="#ppt_y+0.1"/>
                                          </p:val>
                                        </p:tav>
                                        <p:tav tm="100000">
                                          <p:val>
                                            <p:strVal val="#ppt_y"/>
                                          </p:val>
                                        </p:tav>
                                      </p:tavLst>
                                    </p:anim>
                                    <p:animEffect transition="in" filter="fade">
                                      <p:cBhvr>
                                        <p:cTn id="48" dur="500"/>
                                        <p:tgtEl>
                                          <p:spTgt spid="15"/>
                                        </p:tgtEl>
                                      </p:cBhvr>
                                    </p:animEffect>
                                  </p:childTnLst>
                                </p:cTn>
                              </p:par>
                              <p:par>
                                <p:cTn id="54" presetID="2" presetClass="entr" presetSubtype="4" fill="hold" grpId="0" nodeType="withEffect">
                                  <p:stCondLst>
                                    <p:cond delay="80"/>
                                  </p:stCondLst>
                                  <p:childTnLst>
                                    <p:set>
                                      <p:cBhvr>
                                        <p:cTn id="50" dur="1" fill="hold">
                                          <p:stCondLst>
                                            <p:cond delay="0"/>
                                          </p:stCondLst>
                                        </p:cTn>
                                        <p:tgtEl>
                                          <p:spTgt spid="16"/>
                                        </p:tgtEl>
                                        <p:attrNameLst>
                                          <p:attrName>style.visibility</p:attrName>
                                        </p:attrNameLst>
                                      </p:cBhvr>
                                      <p:to>
                                        <p:strVal val="visible"/>
                                      </p:to>
                                    </p:set>
                                    <p:anim calcmode="lin" valueType="num">
                                      <p:cBhvr additive="base">
                                        <p:cTn id="51" dur="500" fill="hold"/>
                                        <p:tgtEl>
                                          <p:spTgt spid="16"/>
                                        </p:tgtEl>
                                        <p:attrNameLst>
                                          <p:attrName>ppt_x</p:attrName>
                                        </p:attrNameLst>
                                      </p:cBhvr>
                                      <p:tavLst>
                                        <p:tav tm="0">
                                          <p:val>
                                            <p:strVal val="#ppt_x"/>
                                          </p:val>
                                        </p:tav>
                                        <p:tav tm="100000">
                                          <p:val>
                                            <p:strVal val="#ppt_x"/>
                                          </p:val>
                                        </p:tav>
                                      </p:tavLst>
                                    </p:anim>
                                    <p:anim calcmode="lin" valueType="num">
                                      <p:cBhvr additive="base">
                                        <p:cTn id="52" dur="500" fill="hold"/>
                                        <p:tgtEl>
                                          <p:spTgt spid="16"/>
                                        </p:tgtEl>
                                        <p:attrNameLst>
                                          <p:attrName>ppt_y</p:attrName>
                                        </p:attrNameLst>
                                      </p:cBhvr>
                                      <p:tavLst>
                                        <p:tav tm="0">
                                          <p:val>
                                            <p:strVal val="#ppt_y+0.1"/>
                                          </p:val>
                                        </p:tav>
                                        <p:tav tm="100000">
                                          <p:val>
                                            <p:strVal val="#ppt_y"/>
                                          </p:val>
                                        </p:tav>
                                      </p:tavLst>
                                    </p:anim>
                                    <p:animEffect transition="in" filter="fade">
                                      <p:cBhvr>
                                        <p:cTn id="53" dur="500"/>
                                        <p:tgtEl>
                                          <p:spTgt spid="16"/>
                                        </p:tgtEl>
                                      </p:cBhvr>
                                    </p:animEffect>
                                  </p:childTnLst>
                                </p:cTn>
                              </p:par>
                              <p:par>
                                <p:cTn id="59" presetID="2" presetClass="entr" presetSubtype="4" fill="hold" grpId="0" nodeType="withEffect">
                                  <p:stCondLst>
                                    <p:cond delay="160"/>
                                  </p:stCondLst>
                                  <p:childTnLst>
                                    <p:set>
                                      <p:cBhvr>
                                        <p:cTn id="55" dur="1" fill="hold">
                                          <p:stCondLst>
                                            <p:cond delay="0"/>
                                          </p:stCondLst>
                                        </p:cTn>
                                        <p:tgtEl>
                                          <p:spTgt spid="17"/>
                                        </p:tgtEl>
                                        <p:attrNameLst>
                                          <p:attrName>style.visibility</p:attrName>
                                        </p:attrNameLst>
                                      </p:cBhvr>
                                      <p:to>
                                        <p:strVal val="visible"/>
                                      </p:to>
                                    </p:set>
                                    <p:anim calcmode="lin" valueType="num">
                                      <p:cBhvr additive="base">
                                        <p:cTn id="56" dur="500" fill="hold"/>
                                        <p:tgtEl>
                                          <p:spTgt spid="17"/>
                                        </p:tgtEl>
                                        <p:attrNameLst>
                                          <p:attrName>ppt_x</p:attrName>
                                        </p:attrNameLst>
                                      </p:cBhvr>
                                      <p:tavLst>
                                        <p:tav tm="0">
                                          <p:val>
                                            <p:strVal val="#ppt_x"/>
                                          </p:val>
                                        </p:tav>
                                        <p:tav tm="100000">
                                          <p:val>
                                            <p:strVal val="#ppt_x"/>
                                          </p:val>
                                        </p:tav>
                                      </p:tavLst>
                                    </p:anim>
                                    <p:anim calcmode="lin" valueType="num">
                                      <p:cBhvr additive="base">
                                        <p:cTn id="57" dur="500" fill="hold"/>
                                        <p:tgtEl>
                                          <p:spTgt spid="17"/>
                                        </p:tgtEl>
                                        <p:attrNameLst>
                                          <p:attrName>ppt_y</p:attrName>
                                        </p:attrNameLst>
                                      </p:cBhvr>
                                      <p:tavLst>
                                        <p:tav tm="0">
                                          <p:val>
                                            <p:strVal val="#ppt_y+0.1"/>
                                          </p:val>
                                        </p:tav>
                                        <p:tav tm="100000">
                                          <p:val>
                                            <p:strVal val="#ppt_y"/>
                                          </p:val>
                                        </p:tav>
                                      </p:tavLst>
                                    </p:anim>
                                    <p:animEffect transition="in" filter="fade">
                                      <p:cBhvr>
                                        <p:cTn id="58" dur="500"/>
                                        <p:tgtEl>
                                          <p:spTgt spid="17"/>
                                        </p:tgtEl>
                                      </p:cBhvr>
                                    </p:animEffect>
                                  </p:childTnLst>
                                </p:cTn>
                              </p:par>
                              <p:par>
                                <p:cTn id="64" presetID="2" presetClass="entr" presetSubtype="4" fill="hold" grpId="0" nodeType="withEffect">
                                  <p:stCondLst>
                                    <p:cond delay="160"/>
                                  </p:stCondLst>
                                  <p:childTnLst>
                                    <p:set>
                                      <p:cBhvr>
                                        <p:cTn id="60" dur="1" fill="hold">
                                          <p:stCondLst>
                                            <p:cond delay="0"/>
                                          </p:stCondLst>
                                        </p:cTn>
                                        <p:tgtEl>
                                          <p:spTgt spid="18"/>
                                        </p:tgtEl>
                                        <p:attrNameLst>
                                          <p:attrName>style.visibility</p:attrName>
                                        </p:attrNameLst>
                                      </p:cBhvr>
                                      <p:to>
                                        <p:strVal val="visible"/>
                                      </p:to>
                                    </p:set>
                                    <p:anim calcmode="lin" valueType="num">
                                      <p:cBhvr additive="base">
                                        <p:cTn id="61" dur="500" fill="hold"/>
                                        <p:tgtEl>
                                          <p:spTgt spid="18"/>
                                        </p:tgtEl>
                                        <p:attrNameLst>
                                          <p:attrName>ppt_x</p:attrName>
                                        </p:attrNameLst>
                                      </p:cBhvr>
                                      <p:tavLst>
                                        <p:tav tm="0">
                                          <p:val>
                                            <p:strVal val="#ppt_x"/>
                                          </p:val>
                                        </p:tav>
                                        <p:tav tm="100000">
                                          <p:val>
                                            <p:strVal val="#ppt_x"/>
                                          </p:val>
                                        </p:tav>
                                      </p:tavLst>
                                    </p:anim>
                                    <p:anim calcmode="lin" valueType="num">
                                      <p:cBhvr additive="base">
                                        <p:cTn id="62" dur="500" fill="hold"/>
                                        <p:tgtEl>
                                          <p:spTgt spid="18"/>
                                        </p:tgtEl>
                                        <p:attrNameLst>
                                          <p:attrName>ppt_y</p:attrName>
                                        </p:attrNameLst>
                                      </p:cBhvr>
                                      <p:tavLst>
                                        <p:tav tm="0">
                                          <p:val>
                                            <p:strVal val="#ppt_y+0.1"/>
                                          </p:val>
                                        </p:tav>
                                        <p:tav tm="100000">
                                          <p:val>
                                            <p:strVal val="#ppt_y"/>
                                          </p:val>
                                        </p:tav>
                                      </p:tavLst>
                                    </p:anim>
                                    <p:animEffect transition="in" filter="fade">
                                      <p:cBhvr>
                                        <p:cTn id="63" dur="500"/>
                                        <p:tgtEl>
                                          <p:spTgt spid="18"/>
                                        </p:tgtEl>
                                      </p:cBhvr>
                                    </p:animEffect>
                                  </p:childTnLst>
                                </p:cTn>
                              </p:par>
                            </p:childTnLst>
                          </p:cTn>
                        </p:par>
                      </p:childTnLst>
                    </p:cTn>
                  </p:par>
                  <p:par>
                    <p:cTn id="65" fill="hold">
                      <p:stCondLst>
                        <p:cond delay="indefinite"/>
                      </p:stCondLst>
                      <p:childTnLst>
                        <p:par>
                          <p:cTn id="66" fill="hold">
                            <p:stCondLst>
                              <p:cond delay="0"/>
                            </p:stCondLst>
                            <p:childTnLst>
                              <p:par>
                                <p:cTn id="71" presetID="2" presetClass="entr" presetSubtype="4" fill="hold" grpId="0" nodeType="clickEffect">
                                  <p:stCondLst>
                                    <p:cond delay="0"/>
                                  </p:stCondLst>
                                  <p:childTnLst>
                                    <p:set>
                                      <p:cBhvr>
                                        <p:cTn id="67" dur="1" fill="hold">
                                          <p:stCondLst>
                                            <p:cond delay="0"/>
                                          </p:stCondLst>
                                        </p:cTn>
                                        <p:tgtEl>
                                          <p:spTgt spid="19"/>
                                        </p:tgtEl>
                                        <p:attrNameLst>
                                          <p:attrName>style.visibility</p:attrName>
                                        </p:attrNameLst>
                                      </p:cBhvr>
                                      <p:to>
                                        <p:strVal val="visible"/>
                                      </p:to>
                                    </p:set>
                                    <p:anim calcmode="lin" valueType="num">
                                      <p:cBhvr additive="base">
                                        <p:cTn id="68" dur="500" fill="hold"/>
                                        <p:tgtEl>
                                          <p:spTgt spid="19"/>
                                        </p:tgtEl>
                                        <p:attrNameLst>
                                          <p:attrName>ppt_x</p:attrName>
                                        </p:attrNameLst>
                                      </p:cBhvr>
                                      <p:tavLst>
                                        <p:tav tm="0">
                                          <p:val>
                                            <p:strVal val="#ppt_x"/>
                                          </p:val>
                                        </p:tav>
                                        <p:tav tm="100000">
                                          <p:val>
                                            <p:strVal val="#ppt_x"/>
                                          </p:val>
                                        </p:tav>
                                      </p:tavLst>
                                    </p:anim>
                                    <p:anim calcmode="lin" valueType="num">
                                      <p:cBhvr additive="base">
                                        <p:cTn id="69" dur="500" fill="hold"/>
                                        <p:tgtEl>
                                          <p:spTgt spid="19"/>
                                        </p:tgtEl>
                                        <p:attrNameLst>
                                          <p:attrName>ppt_y</p:attrName>
                                        </p:attrNameLst>
                                      </p:cBhvr>
                                      <p:tavLst>
                                        <p:tav tm="0">
                                          <p:val>
                                            <p:strVal val="#ppt_y+0.1"/>
                                          </p:val>
                                        </p:tav>
                                        <p:tav tm="100000">
                                          <p:val>
                                            <p:strVal val="#ppt_y"/>
                                          </p:val>
                                        </p:tav>
                                      </p:tavLst>
                                    </p:anim>
                                    <p:animEffect transition="in" filter="fade">
                                      <p:cBhvr>
                                        <p:cTn id="70" dur="500"/>
                                        <p:tgtEl>
                                          <p:spTgt spid="19"/>
                                        </p:tgtEl>
                                      </p:cBhvr>
                                    </p:animEffect>
                                  </p:childTnLst>
                                </p:cTn>
                              </p:par>
                              <p:par>
                                <p:cTn id="76" presetID="2" presetClass="entr" presetSubtype="4" fill="hold" grpId="0" nodeType="withEffect">
                                  <p:stCondLst>
                                    <p:cond delay="0"/>
                                  </p:stCondLst>
                                  <p:childTnLst>
                                    <p:set>
                                      <p:cBhvr>
                                        <p:cTn id="72" dur="1" fill="hold">
                                          <p:stCondLst>
                                            <p:cond delay="0"/>
                                          </p:stCondLst>
                                        </p:cTn>
                                        <p:tgtEl>
                                          <p:spTgt spid="20"/>
                                        </p:tgtEl>
                                        <p:attrNameLst>
                                          <p:attrName>style.visibility</p:attrName>
                                        </p:attrNameLst>
                                      </p:cBhvr>
                                      <p:to>
                                        <p:strVal val="visible"/>
                                      </p:to>
                                    </p:set>
                                    <p:anim calcmode="lin" valueType="num">
                                      <p:cBhvr additive="base">
                                        <p:cTn id="73" dur="500" fill="hold"/>
                                        <p:tgtEl>
                                          <p:spTgt spid="20"/>
                                        </p:tgtEl>
                                        <p:attrNameLst>
                                          <p:attrName>ppt_x</p:attrName>
                                        </p:attrNameLst>
                                      </p:cBhvr>
                                      <p:tavLst>
                                        <p:tav tm="0">
                                          <p:val>
                                            <p:strVal val="#ppt_x"/>
                                          </p:val>
                                        </p:tav>
                                        <p:tav tm="100000">
                                          <p:val>
                                            <p:strVal val="#ppt_x"/>
                                          </p:val>
                                        </p:tav>
                                      </p:tavLst>
                                    </p:anim>
                                    <p:anim calcmode="lin" valueType="num">
                                      <p:cBhvr additive="base">
                                        <p:cTn id="74" dur="500" fill="hold"/>
                                        <p:tgtEl>
                                          <p:spTgt spid="20"/>
                                        </p:tgtEl>
                                        <p:attrNameLst>
                                          <p:attrName>ppt_y</p:attrName>
                                        </p:attrNameLst>
                                      </p:cBhvr>
                                      <p:tavLst>
                                        <p:tav tm="0">
                                          <p:val>
                                            <p:strVal val="#ppt_y+0.1"/>
                                          </p:val>
                                        </p:tav>
                                        <p:tav tm="100000">
                                          <p:val>
                                            <p:strVal val="#ppt_y"/>
                                          </p:val>
                                        </p:tav>
                                      </p:tavLst>
                                    </p:anim>
                                    <p:animEffect transition="in" filter="fade">
                                      <p:cBhvr>
                                        <p:cTn id="75" dur="500"/>
                                        <p:tgtEl>
                                          <p:spTgt spid="20"/>
                                        </p:tgtEl>
                                      </p:cBhvr>
                                    </p:animEffect>
                                  </p:childTnLst>
                                </p:cTn>
                              </p:par>
                              <p:par>
                                <p:cTn id="81" presetID="2" presetClass="entr" presetSubtype="4" fill="hold" grpId="0" nodeType="withEffect">
                                  <p:stCondLst>
                                    <p:cond delay="0"/>
                                  </p:stCondLst>
                                  <p:childTnLst>
                                    <p:set>
                                      <p:cBhvr>
                                        <p:cTn id="77" dur="1" fill="hold">
                                          <p:stCondLst>
                                            <p:cond delay="0"/>
                                          </p:stCondLst>
                                        </p:cTn>
                                        <p:tgtEl>
                                          <p:spTgt spid="21"/>
                                        </p:tgtEl>
                                        <p:attrNameLst>
                                          <p:attrName>style.visibility</p:attrName>
                                        </p:attrNameLst>
                                      </p:cBhvr>
                                      <p:to>
                                        <p:strVal val="visible"/>
                                      </p:to>
                                    </p:set>
                                    <p:anim calcmode="lin" valueType="num">
                                      <p:cBhvr additive="base">
                                        <p:cTn id="78" dur="500" fill="hold"/>
                                        <p:tgtEl>
                                          <p:spTgt spid="21"/>
                                        </p:tgtEl>
                                        <p:attrNameLst>
                                          <p:attrName>ppt_x</p:attrName>
                                        </p:attrNameLst>
                                      </p:cBhvr>
                                      <p:tavLst>
                                        <p:tav tm="0">
                                          <p:val>
                                            <p:strVal val="#ppt_x"/>
                                          </p:val>
                                        </p:tav>
                                        <p:tav tm="100000">
                                          <p:val>
                                            <p:strVal val="#ppt_x"/>
                                          </p:val>
                                        </p:tav>
                                      </p:tavLst>
                                    </p:anim>
                                    <p:anim calcmode="lin" valueType="num">
                                      <p:cBhvr additive="base">
                                        <p:cTn id="79" dur="500" fill="hold"/>
                                        <p:tgtEl>
                                          <p:spTgt spid="21"/>
                                        </p:tgtEl>
                                        <p:attrNameLst>
                                          <p:attrName>ppt_y</p:attrName>
                                        </p:attrNameLst>
                                      </p:cBhvr>
                                      <p:tavLst>
                                        <p:tav tm="0">
                                          <p:val>
                                            <p:strVal val="#ppt_y+0.1"/>
                                          </p:val>
                                        </p:tav>
                                        <p:tav tm="100000">
                                          <p:val>
                                            <p:strVal val="#ppt_y"/>
                                          </p:val>
                                        </p:tav>
                                      </p:tavLst>
                                    </p:anim>
                                    <p:animEffect transition="in" filter="fade">
                                      <p:cBhvr>
                                        <p:cTn id="80" dur="500"/>
                                        <p:tgtEl>
                                          <p:spTgt spid="21"/>
                                        </p:tgtEl>
                                      </p:cBhvr>
                                    </p:animEffect>
                                  </p:childTnLst>
                                </p:cTn>
                              </p:par>
                              <p:par>
                                <p:cTn id="86" presetID="2" presetClass="entr" presetSubtype="4" fill="hold" grpId="0" nodeType="withEffect">
                                  <p:stCondLst>
                                    <p:cond delay="0"/>
                                  </p:stCondLst>
                                  <p:childTnLst>
                                    <p:set>
                                      <p:cBhvr>
                                        <p:cTn id="82" dur="1" fill="hold">
                                          <p:stCondLst>
                                            <p:cond delay="0"/>
                                          </p:stCondLst>
                                        </p:cTn>
                                        <p:tgtEl>
                                          <p:spTgt spid="22"/>
                                        </p:tgtEl>
                                        <p:attrNameLst>
                                          <p:attrName>style.visibility</p:attrName>
                                        </p:attrNameLst>
                                      </p:cBhvr>
                                      <p:to>
                                        <p:strVal val="visible"/>
                                      </p:to>
                                    </p:set>
                                    <p:anim calcmode="lin" valueType="num">
                                      <p:cBhvr additive="base">
                                        <p:cTn id="83" dur="500" fill="hold"/>
                                        <p:tgtEl>
                                          <p:spTgt spid="22"/>
                                        </p:tgtEl>
                                        <p:attrNameLst>
                                          <p:attrName>ppt_x</p:attrName>
                                        </p:attrNameLst>
                                      </p:cBhvr>
                                      <p:tavLst>
                                        <p:tav tm="0">
                                          <p:val>
                                            <p:strVal val="#ppt_x"/>
                                          </p:val>
                                        </p:tav>
                                        <p:tav tm="100000">
                                          <p:val>
                                            <p:strVal val="#ppt_x"/>
                                          </p:val>
                                        </p:tav>
                                      </p:tavLst>
                                    </p:anim>
                                    <p:anim calcmode="lin" valueType="num">
                                      <p:cBhvr additive="base">
                                        <p:cTn id="84" dur="500" fill="hold"/>
                                        <p:tgtEl>
                                          <p:spTgt spid="22"/>
                                        </p:tgtEl>
                                        <p:attrNameLst>
                                          <p:attrName>ppt_y</p:attrName>
                                        </p:attrNameLst>
                                      </p:cBhvr>
                                      <p:tavLst>
                                        <p:tav tm="0">
                                          <p:val>
                                            <p:strVal val="#ppt_y+0.1"/>
                                          </p:val>
                                        </p:tav>
                                        <p:tav tm="100000">
                                          <p:val>
                                            <p:strVal val="#ppt_y"/>
                                          </p:val>
                                        </p:tav>
                                      </p:tavLst>
                                    </p:anim>
                                    <p:animEffect transition="in" filter="fade">
                                      <p:cBhvr>
                                        <p:cTn id="85" dur="500"/>
                                        <p:tgtEl>
                                          <p:spTgt spid="22"/>
                                        </p:tgtEl>
                                      </p:cBhvr>
                                    </p:animEffect>
                                  </p:childTnLst>
                                </p:cTn>
                              </p:par>
                              <p:par>
                                <p:cTn id="91" presetID="2" presetClass="entr" presetSubtype="4" fill="hold" grpId="0" nodeType="withEffect">
                                  <p:stCondLst>
                                    <p:cond delay="0"/>
                                  </p:stCondLst>
                                  <p:childTnLst>
                                    <p:set>
                                      <p:cBhvr>
                                        <p:cTn id="87" dur="1" fill="hold">
                                          <p:stCondLst>
                                            <p:cond delay="0"/>
                                          </p:stCondLst>
                                        </p:cTn>
                                        <p:tgtEl>
                                          <p:spTgt spid="45"/>
                                        </p:tgtEl>
                                        <p:attrNameLst>
                                          <p:attrName>style.visibility</p:attrName>
                                        </p:attrNameLst>
                                      </p:cBhvr>
                                      <p:to>
                                        <p:strVal val="visible"/>
                                      </p:to>
                                    </p:set>
                                    <p:anim calcmode="lin" valueType="num">
                                      <p:cBhvr additive="base">
                                        <p:cTn id="88" dur="500" fill="hold"/>
                                        <p:tgtEl>
                                          <p:spTgt spid="45"/>
                                        </p:tgtEl>
                                        <p:attrNameLst>
                                          <p:attrName>ppt_x</p:attrName>
                                        </p:attrNameLst>
                                      </p:cBhvr>
                                      <p:tavLst>
                                        <p:tav tm="0">
                                          <p:val>
                                            <p:strVal val="#ppt_x"/>
                                          </p:val>
                                        </p:tav>
                                        <p:tav tm="100000">
                                          <p:val>
                                            <p:strVal val="#ppt_x"/>
                                          </p:val>
                                        </p:tav>
                                      </p:tavLst>
                                    </p:anim>
                                    <p:anim calcmode="lin" valueType="num">
                                      <p:cBhvr additive="base">
                                        <p:cTn id="89" dur="500" fill="hold"/>
                                        <p:tgtEl>
                                          <p:spTgt spid="45"/>
                                        </p:tgtEl>
                                        <p:attrNameLst>
                                          <p:attrName>ppt_y</p:attrName>
                                        </p:attrNameLst>
                                      </p:cBhvr>
                                      <p:tavLst>
                                        <p:tav tm="0">
                                          <p:val>
                                            <p:strVal val="#ppt_y+0.1"/>
                                          </p:val>
                                        </p:tav>
                                        <p:tav tm="100000">
                                          <p:val>
                                            <p:strVal val="#ppt_y"/>
                                          </p:val>
                                        </p:tav>
                                      </p:tavLst>
                                    </p:anim>
                                    <p:animEffect transition="in" filter="fade">
                                      <p:cBhvr>
                                        <p:cTn id="90" dur="500"/>
                                        <p:tgtEl>
                                          <p:spTgt spid="45"/>
                                        </p:tgtEl>
                                      </p:cBhvr>
                                    </p:animEffect>
                                  </p:childTnLst>
                                </p:cTn>
                              </p:par>
                              <p:par>
                                <p:cTn id="96" presetID="2" presetClass="entr" presetSubtype="4" fill="hold" grpId="0" nodeType="withEffect">
                                  <p:stCondLst>
                                    <p:cond delay="0"/>
                                  </p:stCondLst>
                                  <p:childTnLst>
                                    <p:set>
                                      <p:cBhvr>
                                        <p:cTn id="92" dur="1" fill="hold">
                                          <p:stCondLst>
                                            <p:cond delay="0"/>
                                          </p:stCondLst>
                                        </p:cTn>
                                        <p:tgtEl>
                                          <p:spTgt spid="46"/>
                                        </p:tgtEl>
                                        <p:attrNameLst>
                                          <p:attrName>style.visibility</p:attrName>
                                        </p:attrNameLst>
                                      </p:cBhvr>
                                      <p:to>
                                        <p:strVal val="visible"/>
                                      </p:to>
                                    </p:set>
                                    <p:anim calcmode="lin" valueType="num">
                                      <p:cBhvr additive="base">
                                        <p:cTn id="93" dur="500" fill="hold"/>
                                        <p:tgtEl>
                                          <p:spTgt spid="46"/>
                                        </p:tgtEl>
                                        <p:attrNameLst>
                                          <p:attrName>ppt_x</p:attrName>
                                        </p:attrNameLst>
                                      </p:cBhvr>
                                      <p:tavLst>
                                        <p:tav tm="0">
                                          <p:val>
                                            <p:strVal val="#ppt_x"/>
                                          </p:val>
                                        </p:tav>
                                        <p:tav tm="100000">
                                          <p:val>
                                            <p:strVal val="#ppt_x"/>
                                          </p:val>
                                        </p:tav>
                                      </p:tavLst>
                                    </p:anim>
                                    <p:anim calcmode="lin" valueType="num">
                                      <p:cBhvr additive="base">
                                        <p:cTn id="94" dur="500" fill="hold"/>
                                        <p:tgtEl>
                                          <p:spTgt spid="46"/>
                                        </p:tgtEl>
                                        <p:attrNameLst>
                                          <p:attrName>ppt_y</p:attrName>
                                        </p:attrNameLst>
                                      </p:cBhvr>
                                      <p:tavLst>
                                        <p:tav tm="0">
                                          <p:val>
                                            <p:strVal val="#ppt_y+0.1"/>
                                          </p:val>
                                        </p:tav>
                                        <p:tav tm="100000">
                                          <p:val>
                                            <p:strVal val="#ppt_y"/>
                                          </p:val>
                                        </p:tav>
                                      </p:tavLst>
                                    </p:anim>
                                    <p:animEffect transition="in" filter="fade">
                                      <p:cBhvr>
                                        <p:cTn id="95" dur="500"/>
                                        <p:tgtEl>
                                          <p:spTgt spid="46"/>
                                        </p:tgtEl>
                                      </p:cBhvr>
                                    </p:animEffect>
                                  </p:childTnLst>
                                </p:cTn>
                              </p:par>
                              <p:par>
                                <p:cTn id="101" presetID="2" presetClass="entr" presetSubtype="4" fill="hold" grpId="0" nodeType="withEffect">
                                  <p:stCondLst>
                                    <p:cond delay="0"/>
                                  </p:stCondLst>
                                  <p:childTnLst>
                                    <p:set>
                                      <p:cBhvr>
                                        <p:cTn id="97" dur="1" fill="hold">
                                          <p:stCondLst>
                                            <p:cond delay="0"/>
                                          </p:stCondLst>
                                        </p:cTn>
                                        <p:tgtEl>
                                          <p:spTgt spid="47"/>
                                        </p:tgtEl>
                                        <p:attrNameLst>
                                          <p:attrName>style.visibility</p:attrName>
                                        </p:attrNameLst>
                                      </p:cBhvr>
                                      <p:to>
                                        <p:strVal val="visible"/>
                                      </p:to>
                                    </p:set>
                                    <p:anim calcmode="lin" valueType="num">
                                      <p:cBhvr additive="base">
                                        <p:cTn id="98" dur="500" fill="hold"/>
                                        <p:tgtEl>
                                          <p:spTgt spid="47"/>
                                        </p:tgtEl>
                                        <p:attrNameLst>
                                          <p:attrName>ppt_x</p:attrName>
                                        </p:attrNameLst>
                                      </p:cBhvr>
                                      <p:tavLst>
                                        <p:tav tm="0">
                                          <p:val>
                                            <p:strVal val="#ppt_x"/>
                                          </p:val>
                                        </p:tav>
                                        <p:tav tm="100000">
                                          <p:val>
                                            <p:strVal val="#ppt_x"/>
                                          </p:val>
                                        </p:tav>
                                      </p:tavLst>
                                    </p:anim>
                                    <p:anim calcmode="lin" valueType="num">
                                      <p:cBhvr additive="base">
                                        <p:cTn id="99" dur="500" fill="hold"/>
                                        <p:tgtEl>
                                          <p:spTgt spid="47"/>
                                        </p:tgtEl>
                                        <p:attrNameLst>
                                          <p:attrName>ppt_y</p:attrName>
                                        </p:attrNameLst>
                                      </p:cBhvr>
                                      <p:tavLst>
                                        <p:tav tm="0">
                                          <p:val>
                                            <p:strVal val="#ppt_y+0.1"/>
                                          </p:val>
                                        </p:tav>
                                        <p:tav tm="100000">
                                          <p:val>
                                            <p:strVal val="#ppt_y"/>
                                          </p:val>
                                        </p:tav>
                                      </p:tavLst>
                                    </p:anim>
                                    <p:animEffect transition="in" filter="fade">
                                      <p:cBhvr>
                                        <p:cTn id="100" dur="500"/>
                                        <p:tgtEl>
                                          <p:spTgt spid="47"/>
                                        </p:tgtEl>
                                      </p:cBhvr>
                                    </p:animEffect>
                                  </p:childTnLst>
                                </p:cTn>
                              </p:par>
                              <p:par>
                                <p:cTn id="106" presetID="2" presetClass="entr" presetSubtype="4" fill="hold" grpId="0" nodeType="withEffect">
                                  <p:stCondLst>
                                    <p:cond delay="60"/>
                                  </p:stCondLst>
                                  <p:childTnLst>
                                    <p:set>
                                      <p:cBhvr>
                                        <p:cTn id="102" dur="1" fill="hold">
                                          <p:stCondLst>
                                            <p:cond delay="0"/>
                                          </p:stCondLst>
                                        </p:cTn>
                                        <p:tgtEl>
                                          <p:spTgt spid="48"/>
                                        </p:tgtEl>
                                        <p:attrNameLst>
                                          <p:attrName>style.visibility</p:attrName>
                                        </p:attrNameLst>
                                      </p:cBhvr>
                                      <p:to>
                                        <p:strVal val="visible"/>
                                      </p:to>
                                    </p:set>
                                    <p:anim calcmode="lin" valueType="num">
                                      <p:cBhvr additive="base">
                                        <p:cTn id="103" dur="500" fill="hold"/>
                                        <p:tgtEl>
                                          <p:spTgt spid="48"/>
                                        </p:tgtEl>
                                        <p:attrNameLst>
                                          <p:attrName>ppt_x</p:attrName>
                                        </p:attrNameLst>
                                      </p:cBhvr>
                                      <p:tavLst>
                                        <p:tav tm="0">
                                          <p:val>
                                            <p:strVal val="#ppt_x"/>
                                          </p:val>
                                        </p:tav>
                                        <p:tav tm="100000">
                                          <p:val>
                                            <p:strVal val="#ppt_x"/>
                                          </p:val>
                                        </p:tav>
                                      </p:tavLst>
                                    </p:anim>
                                    <p:anim calcmode="lin" valueType="num">
                                      <p:cBhvr additive="base">
                                        <p:cTn id="104" dur="500" fill="hold"/>
                                        <p:tgtEl>
                                          <p:spTgt spid="48"/>
                                        </p:tgtEl>
                                        <p:attrNameLst>
                                          <p:attrName>ppt_y</p:attrName>
                                        </p:attrNameLst>
                                      </p:cBhvr>
                                      <p:tavLst>
                                        <p:tav tm="0">
                                          <p:val>
                                            <p:strVal val="#ppt_y+0.1"/>
                                          </p:val>
                                        </p:tav>
                                        <p:tav tm="100000">
                                          <p:val>
                                            <p:strVal val="#ppt_y"/>
                                          </p:val>
                                        </p:tav>
                                      </p:tavLst>
                                    </p:anim>
                                    <p:animEffect transition="in" filter="fade">
                                      <p:cBhvr>
                                        <p:cTn id="105" dur="500"/>
                                        <p:tgtEl>
                                          <p:spTgt spid="48"/>
                                        </p:tgtEl>
                                      </p:cBhvr>
                                    </p:animEffect>
                                  </p:childTnLst>
                                </p:cTn>
                              </p:par>
                              <p:par>
                                <p:cTn id="111" presetID="2" presetClass="entr" presetSubtype="4" fill="hold" grpId="0" nodeType="withEffect">
                                  <p:stCondLst>
                                    <p:cond delay="150"/>
                                  </p:stCondLst>
                                  <p:childTnLst>
                                    <p:set>
                                      <p:cBhvr>
                                        <p:cTn id="107" dur="1" fill="hold">
                                          <p:stCondLst>
                                            <p:cond delay="0"/>
                                          </p:stCondLst>
                                        </p:cTn>
                                        <p:tgtEl>
                                          <p:spTgt spid="23"/>
                                        </p:tgtEl>
                                        <p:attrNameLst>
                                          <p:attrName>style.visibility</p:attrName>
                                        </p:attrNameLst>
                                      </p:cBhvr>
                                      <p:to>
                                        <p:strVal val="visible"/>
                                      </p:to>
                                    </p:set>
                                    <p:anim calcmode="lin" valueType="num">
                                      <p:cBhvr additive="base">
                                        <p:cTn id="108" dur="500" fill="hold"/>
                                        <p:tgtEl>
                                          <p:spTgt spid="23"/>
                                        </p:tgtEl>
                                        <p:attrNameLst>
                                          <p:attrName>ppt_x</p:attrName>
                                        </p:attrNameLst>
                                      </p:cBhvr>
                                      <p:tavLst>
                                        <p:tav tm="0">
                                          <p:val>
                                            <p:strVal val="#ppt_x"/>
                                          </p:val>
                                        </p:tav>
                                        <p:tav tm="100000">
                                          <p:val>
                                            <p:strVal val="#ppt_x"/>
                                          </p:val>
                                        </p:tav>
                                      </p:tavLst>
                                    </p:anim>
                                    <p:anim calcmode="lin" valueType="num">
                                      <p:cBhvr additive="base">
                                        <p:cTn id="109" dur="500" fill="hold"/>
                                        <p:tgtEl>
                                          <p:spTgt spid="23"/>
                                        </p:tgtEl>
                                        <p:attrNameLst>
                                          <p:attrName>ppt_y</p:attrName>
                                        </p:attrNameLst>
                                      </p:cBhvr>
                                      <p:tavLst>
                                        <p:tav tm="0">
                                          <p:val>
                                            <p:strVal val="#ppt_y+0.1"/>
                                          </p:val>
                                        </p:tav>
                                        <p:tav tm="100000">
                                          <p:val>
                                            <p:strVal val="#ppt_y"/>
                                          </p:val>
                                        </p:tav>
                                      </p:tavLst>
                                    </p:anim>
                                    <p:animEffect transition="in" filter="fade">
                                      <p:cBhvr>
                                        <p:cTn id="110" dur="500"/>
                                        <p:tgtEl>
                                          <p:spTgt spid="23"/>
                                        </p:tgtEl>
                                      </p:cBhvr>
                                    </p:animEffect>
                                  </p:childTnLst>
                                </p:cTn>
                              </p:par>
                              <p:par>
                                <p:cTn id="116" presetID="2" presetClass="entr" presetSubtype="4" fill="hold" grpId="0" nodeType="withEffect">
                                  <p:stCondLst>
                                    <p:cond delay="150"/>
                                  </p:stCondLst>
                                  <p:childTnLst>
                                    <p:set>
                                      <p:cBhvr>
                                        <p:cTn id="112" dur="1" fill="hold">
                                          <p:stCondLst>
                                            <p:cond delay="0"/>
                                          </p:stCondLst>
                                        </p:cTn>
                                        <p:tgtEl>
                                          <p:spTgt spid="24"/>
                                        </p:tgtEl>
                                        <p:attrNameLst>
                                          <p:attrName>style.visibility</p:attrName>
                                        </p:attrNameLst>
                                      </p:cBhvr>
                                      <p:to>
                                        <p:strVal val="visible"/>
                                      </p:to>
                                    </p:set>
                                    <p:anim calcmode="lin" valueType="num">
                                      <p:cBhvr additive="base">
                                        <p:cTn id="113" dur="500" fill="hold"/>
                                        <p:tgtEl>
                                          <p:spTgt spid="24"/>
                                        </p:tgtEl>
                                        <p:attrNameLst>
                                          <p:attrName>ppt_x</p:attrName>
                                        </p:attrNameLst>
                                      </p:cBhvr>
                                      <p:tavLst>
                                        <p:tav tm="0">
                                          <p:val>
                                            <p:strVal val="#ppt_x"/>
                                          </p:val>
                                        </p:tav>
                                        <p:tav tm="100000">
                                          <p:val>
                                            <p:strVal val="#ppt_x"/>
                                          </p:val>
                                        </p:tav>
                                      </p:tavLst>
                                    </p:anim>
                                    <p:anim calcmode="lin" valueType="num">
                                      <p:cBhvr additive="base">
                                        <p:cTn id="114" dur="500" fill="hold"/>
                                        <p:tgtEl>
                                          <p:spTgt spid="24"/>
                                        </p:tgtEl>
                                        <p:attrNameLst>
                                          <p:attrName>ppt_y</p:attrName>
                                        </p:attrNameLst>
                                      </p:cBhvr>
                                      <p:tavLst>
                                        <p:tav tm="0">
                                          <p:val>
                                            <p:strVal val="#ppt_y+0.1"/>
                                          </p:val>
                                        </p:tav>
                                        <p:tav tm="100000">
                                          <p:val>
                                            <p:strVal val="#ppt_y"/>
                                          </p:val>
                                        </p:tav>
                                      </p:tavLst>
                                    </p:anim>
                                    <p:animEffect transition="in" filter="fade">
                                      <p:cBhvr>
                                        <p:cTn id="115" dur="500"/>
                                        <p:tgtEl>
                                          <p:spTgt spid="24"/>
                                        </p:tgtEl>
                                      </p:cBhvr>
                                    </p:animEffect>
                                  </p:childTnLst>
                                </p:cTn>
                              </p:par>
                              <p:par>
                                <p:cTn id="119" presetID="22" presetClass="entr" presetSubtype="8" fill="hold" grpId="0" nodeType="withEffect">
                                  <p:stCondLst>
                                    <p:cond delay="150"/>
                                  </p:stCondLst>
                                  <p:childTnLst>
                                    <p:set>
                                      <p:cBhvr>
                                        <p:cTn id="117" dur="1" fill="hold">
                                          <p:stCondLst>
                                            <p:cond delay="0"/>
                                          </p:stCondLst>
                                        </p:cTn>
                                        <p:tgtEl>
                                          <p:spTgt spid="25"/>
                                        </p:tgtEl>
                                        <p:attrNameLst>
                                          <p:attrName>style.visibility</p:attrName>
                                        </p:attrNameLst>
                                      </p:cBhvr>
                                      <p:to>
                                        <p:strVal val="visible"/>
                                      </p:to>
                                    </p:set>
                                    <p:animEffect transition="in" filter="wipe(left)">
                                      <p:cBhvr>
                                        <p:cTn id="118" dur="500"/>
                                        <p:tgtEl>
                                          <p:spTgt spid="25"/>
                                        </p:tgtEl>
                                      </p:cBhvr>
                                    </p:animEffect>
                                  </p:childTnLst>
                                </p:cTn>
                              </p:par>
                              <p:par>
                                <p:cTn id="122" presetID="22" presetClass="entr" presetSubtype="8" fill="hold" grpId="0" nodeType="withEffect">
                                  <p:stCondLst>
                                    <p:cond delay="150"/>
                                  </p:stCondLst>
                                  <p:childTnLst>
                                    <p:set>
                                      <p:cBhvr>
                                        <p:cTn id="120" dur="1" fill="hold">
                                          <p:stCondLst>
                                            <p:cond delay="0"/>
                                          </p:stCondLst>
                                        </p:cTn>
                                        <p:tgtEl>
                                          <p:spTgt spid="26"/>
                                        </p:tgtEl>
                                        <p:attrNameLst>
                                          <p:attrName>style.visibility</p:attrName>
                                        </p:attrNameLst>
                                      </p:cBhvr>
                                      <p:to>
                                        <p:strVal val="visible"/>
                                      </p:to>
                                    </p:set>
                                    <p:animEffect transition="in" filter="wipe(left)">
                                      <p:cBhvr>
                                        <p:cTn id="121" dur="500"/>
                                        <p:tgtEl>
                                          <p:spTgt spid="26"/>
                                        </p:tgtEl>
                                      </p:cBhvr>
                                    </p:animEffect>
                                  </p:childTnLst>
                                </p:cTn>
                              </p:par>
                              <p:par>
                                <p:cTn id="125" presetID="22" presetClass="entr" presetSubtype="8" fill="hold" grpId="0" nodeType="withEffect">
                                  <p:stCondLst>
                                    <p:cond delay="270"/>
                                  </p:stCondLst>
                                  <p:childTnLst>
                                    <p:set>
                                      <p:cBhvr>
                                        <p:cTn id="123" dur="1" fill="hold">
                                          <p:stCondLst>
                                            <p:cond delay="0"/>
                                          </p:stCondLst>
                                        </p:cTn>
                                        <p:tgtEl>
                                          <p:spTgt spid="27"/>
                                        </p:tgtEl>
                                        <p:attrNameLst>
                                          <p:attrName>style.visibility</p:attrName>
                                        </p:attrNameLst>
                                      </p:cBhvr>
                                      <p:to>
                                        <p:strVal val="visible"/>
                                      </p:to>
                                    </p:set>
                                    <p:animEffect transition="in" filter="wipe(left)">
                                      <p:cBhvr>
                                        <p:cTn id="124" dur="500"/>
                                        <p:tgtEl>
                                          <p:spTgt spid="27"/>
                                        </p:tgtEl>
                                      </p:cBhvr>
                                    </p:animEffect>
                                  </p:childTnLst>
                                </p:cTn>
                              </p:par>
                              <p:par>
                                <p:cTn id="128" presetID="22" presetClass="entr" presetSubtype="8" fill="hold" grpId="0" nodeType="withEffect">
                                  <p:stCondLst>
                                    <p:cond delay="270"/>
                                  </p:stCondLst>
                                  <p:childTnLst>
                                    <p:set>
                                      <p:cBhvr>
                                        <p:cTn id="126" dur="1" fill="hold">
                                          <p:stCondLst>
                                            <p:cond delay="0"/>
                                          </p:stCondLst>
                                        </p:cTn>
                                        <p:tgtEl>
                                          <p:spTgt spid="28"/>
                                        </p:tgtEl>
                                        <p:attrNameLst>
                                          <p:attrName>style.visibility</p:attrName>
                                        </p:attrNameLst>
                                      </p:cBhvr>
                                      <p:to>
                                        <p:strVal val="visible"/>
                                      </p:to>
                                    </p:set>
                                    <p:animEffect transition="in" filter="wipe(left)">
                                      <p:cBhvr>
                                        <p:cTn id="127" dur="500"/>
                                        <p:tgtEl>
                                          <p:spTgt spid="28"/>
                                        </p:tgtEl>
                                      </p:cBhvr>
                                    </p:animEffect>
                                  </p:childTnLst>
                                </p:cTn>
                              </p:par>
                              <p:par>
                                <p:cTn id="131" presetID="22" presetClass="entr" presetSubtype="8" fill="hold" grpId="0" nodeType="withEffect">
                                  <p:stCondLst>
                                    <p:cond delay="390"/>
                                  </p:stCondLst>
                                  <p:childTnLst>
                                    <p:set>
                                      <p:cBhvr>
                                        <p:cTn id="129" dur="1" fill="hold">
                                          <p:stCondLst>
                                            <p:cond delay="0"/>
                                          </p:stCondLst>
                                        </p:cTn>
                                        <p:tgtEl>
                                          <p:spTgt spid="29"/>
                                        </p:tgtEl>
                                        <p:attrNameLst>
                                          <p:attrName>style.visibility</p:attrName>
                                        </p:attrNameLst>
                                      </p:cBhvr>
                                      <p:to>
                                        <p:strVal val="visible"/>
                                      </p:to>
                                    </p:set>
                                    <p:animEffect transition="in" filter="wipe(left)">
                                      <p:cBhvr>
                                        <p:cTn id="130" dur="500"/>
                                        <p:tgtEl>
                                          <p:spTgt spid="29"/>
                                        </p:tgtEl>
                                      </p:cBhvr>
                                    </p:animEffect>
                                  </p:childTnLst>
                                </p:cTn>
                              </p:par>
                              <p:par>
                                <p:cTn id="134" presetID="22" presetClass="entr" presetSubtype="8" fill="hold" grpId="0" nodeType="withEffect">
                                  <p:stCondLst>
                                    <p:cond delay="390"/>
                                  </p:stCondLst>
                                  <p:childTnLst>
                                    <p:set>
                                      <p:cBhvr>
                                        <p:cTn id="132" dur="1" fill="hold">
                                          <p:stCondLst>
                                            <p:cond delay="0"/>
                                          </p:stCondLst>
                                        </p:cTn>
                                        <p:tgtEl>
                                          <p:spTgt spid="30"/>
                                        </p:tgtEl>
                                        <p:attrNameLst>
                                          <p:attrName>style.visibility</p:attrName>
                                        </p:attrNameLst>
                                      </p:cBhvr>
                                      <p:to>
                                        <p:strVal val="visible"/>
                                      </p:to>
                                    </p:set>
                                    <p:animEffect transition="in" filter="wipe(left)">
                                      <p:cBhvr>
                                        <p:cTn id="133" dur="500"/>
                                        <p:tgtEl>
                                          <p:spTgt spid="30"/>
                                        </p:tgtEl>
                                      </p:cBhvr>
                                    </p:animEffect>
                                  </p:childTnLst>
                                </p:cTn>
                              </p:par>
                            </p:childTnLst>
                          </p:cTn>
                        </p:par>
                      </p:childTnLst>
                    </p:cTn>
                  </p:par>
                  <p:par>
                    <p:cTn id="135" fill="hold">
                      <p:stCondLst>
                        <p:cond delay="indefinite"/>
                      </p:stCondLst>
                      <p:childTnLst>
                        <p:par>
                          <p:cTn id="136" fill="hold">
                            <p:stCondLst>
                              <p:cond delay="0"/>
                            </p:stCondLst>
                            <p:childTnLst>
                              <p:par>
                                <p:cTn id="141" presetID="2" presetClass="entr" presetSubtype="4" fill="hold" grpId="0" nodeType="clickEffect">
                                  <p:stCondLst>
                                    <p:cond delay="0"/>
                                  </p:stCondLst>
                                  <p:childTnLst>
                                    <p:set>
                                      <p:cBhvr>
                                        <p:cTn id="137" dur="1" fill="hold">
                                          <p:stCondLst>
                                            <p:cond delay="0"/>
                                          </p:stCondLst>
                                        </p:cTn>
                                        <p:tgtEl>
                                          <p:spTgt spid="31"/>
                                        </p:tgtEl>
                                        <p:attrNameLst>
                                          <p:attrName>style.visibility</p:attrName>
                                        </p:attrNameLst>
                                      </p:cBhvr>
                                      <p:to>
                                        <p:strVal val="visible"/>
                                      </p:to>
                                    </p:set>
                                    <p:anim calcmode="lin" valueType="num">
                                      <p:cBhvr additive="base">
                                        <p:cTn id="138" dur="500" fill="hold"/>
                                        <p:tgtEl>
                                          <p:spTgt spid="31"/>
                                        </p:tgtEl>
                                        <p:attrNameLst>
                                          <p:attrName>ppt_x</p:attrName>
                                        </p:attrNameLst>
                                      </p:cBhvr>
                                      <p:tavLst>
                                        <p:tav tm="0">
                                          <p:val>
                                            <p:strVal val="#ppt_x"/>
                                          </p:val>
                                        </p:tav>
                                        <p:tav tm="100000">
                                          <p:val>
                                            <p:strVal val="#ppt_x"/>
                                          </p:val>
                                        </p:tav>
                                      </p:tavLst>
                                    </p:anim>
                                    <p:anim calcmode="lin" valueType="num">
                                      <p:cBhvr additive="base">
                                        <p:cTn id="139" dur="500" fill="hold"/>
                                        <p:tgtEl>
                                          <p:spTgt spid="31"/>
                                        </p:tgtEl>
                                        <p:attrNameLst>
                                          <p:attrName>ppt_y</p:attrName>
                                        </p:attrNameLst>
                                      </p:cBhvr>
                                      <p:tavLst>
                                        <p:tav tm="0">
                                          <p:val>
                                            <p:strVal val="#ppt_y+0.1"/>
                                          </p:val>
                                        </p:tav>
                                        <p:tav tm="100000">
                                          <p:val>
                                            <p:strVal val="#ppt_y"/>
                                          </p:val>
                                        </p:tav>
                                      </p:tavLst>
                                    </p:anim>
                                    <p:animEffect transition="in" filter="fade">
                                      <p:cBhvr>
                                        <p:cTn id="140" dur="500"/>
                                        <p:tgtEl>
                                          <p:spTgt spid="31"/>
                                        </p:tgtEl>
                                      </p:cBhvr>
                                    </p:animEffect>
                                  </p:childTnLst>
                                </p:cTn>
                              </p:par>
                              <p:par>
                                <p:cTn id="146" presetID="2" presetClass="entr" presetSubtype="4" fill="hold" grpId="0" nodeType="withEffect">
                                  <p:stCondLst>
                                    <p:cond delay="0"/>
                                  </p:stCondLst>
                                  <p:childTnLst>
                                    <p:set>
                                      <p:cBhvr>
                                        <p:cTn id="142" dur="1" fill="hold">
                                          <p:stCondLst>
                                            <p:cond delay="0"/>
                                          </p:stCondLst>
                                        </p:cTn>
                                        <p:tgtEl>
                                          <p:spTgt spid="32"/>
                                        </p:tgtEl>
                                        <p:attrNameLst>
                                          <p:attrName>style.visibility</p:attrName>
                                        </p:attrNameLst>
                                      </p:cBhvr>
                                      <p:to>
                                        <p:strVal val="visible"/>
                                      </p:to>
                                    </p:set>
                                    <p:anim calcmode="lin" valueType="num">
                                      <p:cBhvr additive="base">
                                        <p:cTn id="143" dur="500" fill="hold"/>
                                        <p:tgtEl>
                                          <p:spTgt spid="32"/>
                                        </p:tgtEl>
                                        <p:attrNameLst>
                                          <p:attrName>ppt_x</p:attrName>
                                        </p:attrNameLst>
                                      </p:cBhvr>
                                      <p:tavLst>
                                        <p:tav tm="0">
                                          <p:val>
                                            <p:strVal val="#ppt_x"/>
                                          </p:val>
                                        </p:tav>
                                        <p:tav tm="100000">
                                          <p:val>
                                            <p:strVal val="#ppt_x"/>
                                          </p:val>
                                        </p:tav>
                                      </p:tavLst>
                                    </p:anim>
                                    <p:anim calcmode="lin" valueType="num">
                                      <p:cBhvr additive="base">
                                        <p:cTn id="144" dur="500" fill="hold"/>
                                        <p:tgtEl>
                                          <p:spTgt spid="32"/>
                                        </p:tgtEl>
                                        <p:attrNameLst>
                                          <p:attrName>ppt_y</p:attrName>
                                        </p:attrNameLst>
                                      </p:cBhvr>
                                      <p:tavLst>
                                        <p:tav tm="0">
                                          <p:val>
                                            <p:strVal val="#ppt_y+0.1"/>
                                          </p:val>
                                        </p:tav>
                                        <p:tav tm="100000">
                                          <p:val>
                                            <p:strVal val="#ppt_y"/>
                                          </p:val>
                                        </p:tav>
                                      </p:tavLst>
                                    </p:anim>
                                    <p:animEffect transition="in" filter="fade">
                                      <p:cBhvr>
                                        <p:cTn id="145" dur="500"/>
                                        <p:tgtEl>
                                          <p:spTgt spid="32"/>
                                        </p:tgtEl>
                                      </p:cBhvr>
                                    </p:animEffect>
                                  </p:childTnLst>
                                </p:cTn>
                              </p:par>
                              <p:par>
                                <p:cTn id="151" presetID="2" presetClass="entr" presetSubtype="4" fill="hold" grpId="0" nodeType="withEffect">
                                  <p:stCondLst>
                                    <p:cond delay="0"/>
                                  </p:stCondLst>
                                  <p:childTnLst>
                                    <p:set>
                                      <p:cBhvr>
                                        <p:cTn id="147" dur="1" fill="hold">
                                          <p:stCondLst>
                                            <p:cond delay="0"/>
                                          </p:stCondLst>
                                        </p:cTn>
                                        <p:tgtEl>
                                          <p:spTgt spid="33"/>
                                        </p:tgtEl>
                                        <p:attrNameLst>
                                          <p:attrName>style.visibility</p:attrName>
                                        </p:attrNameLst>
                                      </p:cBhvr>
                                      <p:to>
                                        <p:strVal val="visible"/>
                                      </p:to>
                                    </p:set>
                                    <p:anim calcmode="lin" valueType="num">
                                      <p:cBhvr additive="base">
                                        <p:cTn id="148" dur="500" fill="hold"/>
                                        <p:tgtEl>
                                          <p:spTgt spid="33"/>
                                        </p:tgtEl>
                                        <p:attrNameLst>
                                          <p:attrName>ppt_x</p:attrName>
                                        </p:attrNameLst>
                                      </p:cBhvr>
                                      <p:tavLst>
                                        <p:tav tm="0">
                                          <p:val>
                                            <p:strVal val="#ppt_x"/>
                                          </p:val>
                                        </p:tav>
                                        <p:tav tm="100000">
                                          <p:val>
                                            <p:strVal val="#ppt_x"/>
                                          </p:val>
                                        </p:tav>
                                      </p:tavLst>
                                    </p:anim>
                                    <p:anim calcmode="lin" valueType="num">
                                      <p:cBhvr additive="base">
                                        <p:cTn id="149" dur="500" fill="hold"/>
                                        <p:tgtEl>
                                          <p:spTgt spid="33"/>
                                        </p:tgtEl>
                                        <p:attrNameLst>
                                          <p:attrName>ppt_y</p:attrName>
                                        </p:attrNameLst>
                                      </p:cBhvr>
                                      <p:tavLst>
                                        <p:tav tm="0">
                                          <p:val>
                                            <p:strVal val="#ppt_y+0.1"/>
                                          </p:val>
                                        </p:tav>
                                        <p:tav tm="100000">
                                          <p:val>
                                            <p:strVal val="#ppt_y"/>
                                          </p:val>
                                        </p:tav>
                                      </p:tavLst>
                                    </p:anim>
                                    <p:animEffect transition="in" filter="fade">
                                      <p:cBhvr>
                                        <p:cTn id="150" dur="500"/>
                                        <p:tgtEl>
                                          <p:spTgt spid="33"/>
                                        </p:tgtEl>
                                      </p:cBhvr>
                                    </p:animEffect>
                                  </p:childTnLst>
                                </p:cTn>
                              </p:par>
                              <p:par>
                                <p:cTn id="156" presetID="2" presetClass="entr" presetSubtype="4" fill="hold" grpId="0" nodeType="withEffect">
                                  <p:stCondLst>
                                    <p:cond delay="0"/>
                                  </p:stCondLst>
                                  <p:childTnLst>
                                    <p:set>
                                      <p:cBhvr>
                                        <p:cTn id="152" dur="1" fill="hold">
                                          <p:stCondLst>
                                            <p:cond delay="0"/>
                                          </p:stCondLst>
                                        </p:cTn>
                                        <p:tgtEl>
                                          <p:spTgt spid="34"/>
                                        </p:tgtEl>
                                        <p:attrNameLst>
                                          <p:attrName>style.visibility</p:attrName>
                                        </p:attrNameLst>
                                      </p:cBhvr>
                                      <p:to>
                                        <p:strVal val="visible"/>
                                      </p:to>
                                    </p:set>
                                    <p:anim calcmode="lin" valueType="num">
                                      <p:cBhvr additive="base">
                                        <p:cTn id="153" dur="500" fill="hold"/>
                                        <p:tgtEl>
                                          <p:spTgt spid="34"/>
                                        </p:tgtEl>
                                        <p:attrNameLst>
                                          <p:attrName>ppt_x</p:attrName>
                                        </p:attrNameLst>
                                      </p:cBhvr>
                                      <p:tavLst>
                                        <p:tav tm="0">
                                          <p:val>
                                            <p:strVal val="#ppt_x"/>
                                          </p:val>
                                        </p:tav>
                                        <p:tav tm="100000">
                                          <p:val>
                                            <p:strVal val="#ppt_x"/>
                                          </p:val>
                                        </p:tav>
                                      </p:tavLst>
                                    </p:anim>
                                    <p:anim calcmode="lin" valueType="num">
                                      <p:cBhvr additive="base">
                                        <p:cTn id="154" dur="500" fill="hold"/>
                                        <p:tgtEl>
                                          <p:spTgt spid="34"/>
                                        </p:tgtEl>
                                        <p:attrNameLst>
                                          <p:attrName>ppt_y</p:attrName>
                                        </p:attrNameLst>
                                      </p:cBhvr>
                                      <p:tavLst>
                                        <p:tav tm="0">
                                          <p:val>
                                            <p:strVal val="#ppt_y+0.1"/>
                                          </p:val>
                                        </p:tav>
                                        <p:tav tm="100000">
                                          <p:val>
                                            <p:strVal val="#ppt_y"/>
                                          </p:val>
                                        </p:tav>
                                      </p:tavLst>
                                    </p:anim>
                                    <p:animEffect transition="in" filter="fade">
                                      <p:cBhvr>
                                        <p:cTn id="155" dur="500"/>
                                        <p:tgtEl>
                                          <p:spTgt spid="34"/>
                                        </p:tgtEl>
                                      </p:cBhvr>
                                    </p:animEffect>
                                  </p:childTnLst>
                                </p:cTn>
                              </p:par>
                              <p:par>
                                <p:cTn id="161" presetID="2" presetClass="entr" presetSubtype="4" fill="hold" grpId="0" nodeType="withEffect">
                                  <p:stCondLst>
                                    <p:cond delay="0"/>
                                  </p:stCondLst>
                                  <p:childTnLst>
                                    <p:set>
                                      <p:cBhvr>
                                        <p:cTn id="157" dur="1" fill="hold">
                                          <p:stCondLst>
                                            <p:cond delay="0"/>
                                          </p:stCondLst>
                                        </p:cTn>
                                        <p:tgtEl>
                                          <p:spTgt spid="49"/>
                                        </p:tgtEl>
                                        <p:attrNameLst>
                                          <p:attrName>style.visibility</p:attrName>
                                        </p:attrNameLst>
                                      </p:cBhvr>
                                      <p:to>
                                        <p:strVal val="visible"/>
                                      </p:to>
                                    </p:set>
                                    <p:anim calcmode="lin" valueType="num">
                                      <p:cBhvr additive="base">
                                        <p:cTn id="158" dur="500" fill="hold"/>
                                        <p:tgtEl>
                                          <p:spTgt spid="49"/>
                                        </p:tgtEl>
                                        <p:attrNameLst>
                                          <p:attrName>ppt_x</p:attrName>
                                        </p:attrNameLst>
                                      </p:cBhvr>
                                      <p:tavLst>
                                        <p:tav tm="0">
                                          <p:val>
                                            <p:strVal val="#ppt_x"/>
                                          </p:val>
                                        </p:tav>
                                        <p:tav tm="100000">
                                          <p:val>
                                            <p:strVal val="#ppt_x"/>
                                          </p:val>
                                        </p:tav>
                                      </p:tavLst>
                                    </p:anim>
                                    <p:anim calcmode="lin" valueType="num">
                                      <p:cBhvr additive="base">
                                        <p:cTn id="159" dur="500" fill="hold"/>
                                        <p:tgtEl>
                                          <p:spTgt spid="49"/>
                                        </p:tgtEl>
                                        <p:attrNameLst>
                                          <p:attrName>ppt_y</p:attrName>
                                        </p:attrNameLst>
                                      </p:cBhvr>
                                      <p:tavLst>
                                        <p:tav tm="0">
                                          <p:val>
                                            <p:strVal val="#ppt_y+0.1"/>
                                          </p:val>
                                        </p:tav>
                                        <p:tav tm="100000">
                                          <p:val>
                                            <p:strVal val="#ppt_y"/>
                                          </p:val>
                                        </p:tav>
                                      </p:tavLst>
                                    </p:anim>
                                    <p:animEffect transition="in" filter="fade">
                                      <p:cBhvr>
                                        <p:cTn id="160" dur="500"/>
                                        <p:tgtEl>
                                          <p:spTgt spid="49"/>
                                        </p:tgtEl>
                                      </p:cBhvr>
                                    </p:animEffect>
                                  </p:childTnLst>
                                </p:cTn>
                              </p:par>
                              <p:par>
                                <p:cTn id="166" presetID="2" presetClass="entr" presetSubtype="4" fill="hold" grpId="0" nodeType="withEffect">
                                  <p:stCondLst>
                                    <p:cond delay="0"/>
                                  </p:stCondLst>
                                  <p:childTnLst>
                                    <p:set>
                                      <p:cBhvr>
                                        <p:cTn id="162" dur="1" fill="hold">
                                          <p:stCondLst>
                                            <p:cond delay="0"/>
                                          </p:stCondLst>
                                        </p:cTn>
                                        <p:tgtEl>
                                          <p:spTgt spid="50"/>
                                        </p:tgtEl>
                                        <p:attrNameLst>
                                          <p:attrName>style.visibility</p:attrName>
                                        </p:attrNameLst>
                                      </p:cBhvr>
                                      <p:to>
                                        <p:strVal val="visible"/>
                                      </p:to>
                                    </p:set>
                                    <p:anim calcmode="lin" valueType="num">
                                      <p:cBhvr additive="base">
                                        <p:cTn id="163" dur="500" fill="hold"/>
                                        <p:tgtEl>
                                          <p:spTgt spid="50"/>
                                        </p:tgtEl>
                                        <p:attrNameLst>
                                          <p:attrName>ppt_x</p:attrName>
                                        </p:attrNameLst>
                                      </p:cBhvr>
                                      <p:tavLst>
                                        <p:tav tm="0">
                                          <p:val>
                                            <p:strVal val="#ppt_x"/>
                                          </p:val>
                                        </p:tav>
                                        <p:tav tm="100000">
                                          <p:val>
                                            <p:strVal val="#ppt_x"/>
                                          </p:val>
                                        </p:tav>
                                      </p:tavLst>
                                    </p:anim>
                                    <p:anim calcmode="lin" valueType="num">
                                      <p:cBhvr additive="base">
                                        <p:cTn id="164" dur="500" fill="hold"/>
                                        <p:tgtEl>
                                          <p:spTgt spid="50"/>
                                        </p:tgtEl>
                                        <p:attrNameLst>
                                          <p:attrName>ppt_y</p:attrName>
                                        </p:attrNameLst>
                                      </p:cBhvr>
                                      <p:tavLst>
                                        <p:tav tm="0">
                                          <p:val>
                                            <p:strVal val="#ppt_y+0.1"/>
                                          </p:val>
                                        </p:tav>
                                        <p:tav tm="100000">
                                          <p:val>
                                            <p:strVal val="#ppt_y"/>
                                          </p:val>
                                        </p:tav>
                                      </p:tavLst>
                                    </p:anim>
                                    <p:animEffect transition="in" filter="fade">
                                      <p:cBhvr>
                                        <p:cTn id="165" dur="500"/>
                                        <p:tgtEl>
                                          <p:spTgt spid="50"/>
                                        </p:tgtEl>
                                      </p:cBhvr>
                                    </p:animEffect>
                                  </p:childTnLst>
                                </p:cTn>
                              </p:par>
                              <p:par>
                                <p:cTn id="171" presetID="2" presetClass="entr" presetSubtype="4" fill="hold" grpId="0" nodeType="withEffect">
                                  <p:stCondLst>
                                    <p:cond delay="0"/>
                                  </p:stCondLst>
                                  <p:childTnLst>
                                    <p:set>
                                      <p:cBhvr>
                                        <p:cTn id="167" dur="1" fill="hold">
                                          <p:stCondLst>
                                            <p:cond delay="0"/>
                                          </p:stCondLst>
                                        </p:cTn>
                                        <p:tgtEl>
                                          <p:spTgt spid="51"/>
                                        </p:tgtEl>
                                        <p:attrNameLst>
                                          <p:attrName>style.visibility</p:attrName>
                                        </p:attrNameLst>
                                      </p:cBhvr>
                                      <p:to>
                                        <p:strVal val="visible"/>
                                      </p:to>
                                    </p:set>
                                    <p:anim calcmode="lin" valueType="num">
                                      <p:cBhvr additive="base">
                                        <p:cTn id="168" dur="500" fill="hold"/>
                                        <p:tgtEl>
                                          <p:spTgt spid="51"/>
                                        </p:tgtEl>
                                        <p:attrNameLst>
                                          <p:attrName>ppt_x</p:attrName>
                                        </p:attrNameLst>
                                      </p:cBhvr>
                                      <p:tavLst>
                                        <p:tav tm="0">
                                          <p:val>
                                            <p:strVal val="#ppt_x"/>
                                          </p:val>
                                        </p:tav>
                                        <p:tav tm="100000">
                                          <p:val>
                                            <p:strVal val="#ppt_x"/>
                                          </p:val>
                                        </p:tav>
                                      </p:tavLst>
                                    </p:anim>
                                    <p:anim calcmode="lin" valueType="num">
                                      <p:cBhvr additive="base">
                                        <p:cTn id="169" dur="500" fill="hold"/>
                                        <p:tgtEl>
                                          <p:spTgt spid="51"/>
                                        </p:tgtEl>
                                        <p:attrNameLst>
                                          <p:attrName>ppt_y</p:attrName>
                                        </p:attrNameLst>
                                      </p:cBhvr>
                                      <p:tavLst>
                                        <p:tav tm="0">
                                          <p:val>
                                            <p:strVal val="#ppt_y+0.1"/>
                                          </p:val>
                                        </p:tav>
                                        <p:tav tm="100000">
                                          <p:val>
                                            <p:strVal val="#ppt_y"/>
                                          </p:val>
                                        </p:tav>
                                      </p:tavLst>
                                    </p:anim>
                                    <p:animEffect transition="in" filter="fade">
                                      <p:cBhvr>
                                        <p:cTn id="170" dur="500"/>
                                        <p:tgtEl>
                                          <p:spTgt spid="51"/>
                                        </p:tgtEl>
                                      </p:cBhvr>
                                    </p:animEffect>
                                  </p:childTnLst>
                                </p:cTn>
                              </p:par>
                              <p:par>
                                <p:cTn id="176" presetID="2" presetClass="entr" presetSubtype="4" fill="hold" grpId="0" nodeType="withEffect">
                                  <p:stCondLst>
                                    <p:cond delay="60"/>
                                  </p:stCondLst>
                                  <p:childTnLst>
                                    <p:set>
                                      <p:cBhvr>
                                        <p:cTn id="172" dur="1" fill="hold">
                                          <p:stCondLst>
                                            <p:cond delay="0"/>
                                          </p:stCondLst>
                                        </p:cTn>
                                        <p:tgtEl>
                                          <p:spTgt spid="52"/>
                                        </p:tgtEl>
                                        <p:attrNameLst>
                                          <p:attrName>style.visibility</p:attrName>
                                        </p:attrNameLst>
                                      </p:cBhvr>
                                      <p:to>
                                        <p:strVal val="visible"/>
                                      </p:to>
                                    </p:set>
                                    <p:anim calcmode="lin" valueType="num">
                                      <p:cBhvr additive="base">
                                        <p:cTn id="173" dur="500" fill="hold"/>
                                        <p:tgtEl>
                                          <p:spTgt spid="52"/>
                                        </p:tgtEl>
                                        <p:attrNameLst>
                                          <p:attrName>ppt_x</p:attrName>
                                        </p:attrNameLst>
                                      </p:cBhvr>
                                      <p:tavLst>
                                        <p:tav tm="0">
                                          <p:val>
                                            <p:strVal val="#ppt_x"/>
                                          </p:val>
                                        </p:tav>
                                        <p:tav tm="100000">
                                          <p:val>
                                            <p:strVal val="#ppt_x"/>
                                          </p:val>
                                        </p:tav>
                                      </p:tavLst>
                                    </p:anim>
                                    <p:anim calcmode="lin" valueType="num">
                                      <p:cBhvr additive="base">
                                        <p:cTn id="174" dur="500" fill="hold"/>
                                        <p:tgtEl>
                                          <p:spTgt spid="52"/>
                                        </p:tgtEl>
                                        <p:attrNameLst>
                                          <p:attrName>ppt_y</p:attrName>
                                        </p:attrNameLst>
                                      </p:cBhvr>
                                      <p:tavLst>
                                        <p:tav tm="0">
                                          <p:val>
                                            <p:strVal val="#ppt_y+0.1"/>
                                          </p:val>
                                        </p:tav>
                                        <p:tav tm="100000">
                                          <p:val>
                                            <p:strVal val="#ppt_y"/>
                                          </p:val>
                                        </p:tav>
                                      </p:tavLst>
                                    </p:anim>
                                    <p:animEffect transition="in" filter="fade">
                                      <p:cBhvr>
                                        <p:cTn id="175" dur="500"/>
                                        <p:tgtEl>
                                          <p:spTgt spid="52"/>
                                        </p:tgtEl>
                                      </p:cBhvr>
                                    </p:animEffect>
                                  </p:childTnLst>
                                </p:cTn>
                              </p:par>
                              <p:par>
                                <p:cTn id="181" presetID="2" presetClass="entr" presetSubtype="4" fill="hold" grpId="0" nodeType="withEffect">
                                  <p:stCondLst>
                                    <p:cond delay="150"/>
                                  </p:stCondLst>
                                  <p:childTnLst>
                                    <p:set>
                                      <p:cBhvr>
                                        <p:cTn id="177" dur="1" fill="hold">
                                          <p:stCondLst>
                                            <p:cond delay="0"/>
                                          </p:stCondLst>
                                        </p:cTn>
                                        <p:tgtEl>
                                          <p:spTgt spid="35"/>
                                        </p:tgtEl>
                                        <p:attrNameLst>
                                          <p:attrName>style.visibility</p:attrName>
                                        </p:attrNameLst>
                                      </p:cBhvr>
                                      <p:to>
                                        <p:strVal val="visible"/>
                                      </p:to>
                                    </p:set>
                                    <p:anim calcmode="lin" valueType="num">
                                      <p:cBhvr additive="base">
                                        <p:cTn id="178" dur="500" fill="hold"/>
                                        <p:tgtEl>
                                          <p:spTgt spid="35"/>
                                        </p:tgtEl>
                                        <p:attrNameLst>
                                          <p:attrName>ppt_x</p:attrName>
                                        </p:attrNameLst>
                                      </p:cBhvr>
                                      <p:tavLst>
                                        <p:tav tm="0">
                                          <p:val>
                                            <p:strVal val="#ppt_x"/>
                                          </p:val>
                                        </p:tav>
                                        <p:tav tm="100000">
                                          <p:val>
                                            <p:strVal val="#ppt_x"/>
                                          </p:val>
                                        </p:tav>
                                      </p:tavLst>
                                    </p:anim>
                                    <p:anim calcmode="lin" valueType="num">
                                      <p:cBhvr additive="base">
                                        <p:cTn id="179" dur="500" fill="hold"/>
                                        <p:tgtEl>
                                          <p:spTgt spid="35"/>
                                        </p:tgtEl>
                                        <p:attrNameLst>
                                          <p:attrName>ppt_y</p:attrName>
                                        </p:attrNameLst>
                                      </p:cBhvr>
                                      <p:tavLst>
                                        <p:tav tm="0">
                                          <p:val>
                                            <p:strVal val="#ppt_y+0.1"/>
                                          </p:val>
                                        </p:tav>
                                        <p:tav tm="100000">
                                          <p:val>
                                            <p:strVal val="#ppt_y"/>
                                          </p:val>
                                        </p:tav>
                                      </p:tavLst>
                                    </p:anim>
                                    <p:animEffect transition="in" filter="fade">
                                      <p:cBhvr>
                                        <p:cTn id="180" dur="500"/>
                                        <p:tgtEl>
                                          <p:spTgt spid="35"/>
                                        </p:tgtEl>
                                      </p:cBhvr>
                                    </p:animEffect>
                                  </p:childTnLst>
                                </p:cTn>
                              </p:par>
                              <p:par>
                                <p:cTn id="186" presetID="2" presetClass="entr" presetSubtype="4" fill="hold" grpId="0" nodeType="withEffect">
                                  <p:stCondLst>
                                    <p:cond delay="150"/>
                                  </p:stCondLst>
                                  <p:childTnLst>
                                    <p:set>
                                      <p:cBhvr>
                                        <p:cTn id="182" dur="1" fill="hold">
                                          <p:stCondLst>
                                            <p:cond delay="0"/>
                                          </p:stCondLst>
                                        </p:cTn>
                                        <p:tgtEl>
                                          <p:spTgt spid="36"/>
                                        </p:tgtEl>
                                        <p:attrNameLst>
                                          <p:attrName>style.visibility</p:attrName>
                                        </p:attrNameLst>
                                      </p:cBhvr>
                                      <p:to>
                                        <p:strVal val="visible"/>
                                      </p:to>
                                    </p:set>
                                    <p:anim calcmode="lin" valueType="num">
                                      <p:cBhvr additive="base">
                                        <p:cTn id="183" dur="500" fill="hold"/>
                                        <p:tgtEl>
                                          <p:spTgt spid="36"/>
                                        </p:tgtEl>
                                        <p:attrNameLst>
                                          <p:attrName>ppt_x</p:attrName>
                                        </p:attrNameLst>
                                      </p:cBhvr>
                                      <p:tavLst>
                                        <p:tav tm="0">
                                          <p:val>
                                            <p:strVal val="#ppt_x"/>
                                          </p:val>
                                        </p:tav>
                                        <p:tav tm="100000">
                                          <p:val>
                                            <p:strVal val="#ppt_x"/>
                                          </p:val>
                                        </p:tav>
                                      </p:tavLst>
                                    </p:anim>
                                    <p:anim calcmode="lin" valueType="num">
                                      <p:cBhvr additive="base">
                                        <p:cTn id="184" dur="500" fill="hold"/>
                                        <p:tgtEl>
                                          <p:spTgt spid="36"/>
                                        </p:tgtEl>
                                        <p:attrNameLst>
                                          <p:attrName>ppt_y</p:attrName>
                                        </p:attrNameLst>
                                      </p:cBhvr>
                                      <p:tavLst>
                                        <p:tav tm="0">
                                          <p:val>
                                            <p:strVal val="#ppt_y+0.1"/>
                                          </p:val>
                                        </p:tav>
                                        <p:tav tm="100000">
                                          <p:val>
                                            <p:strVal val="#ppt_y"/>
                                          </p:val>
                                        </p:tav>
                                      </p:tavLst>
                                    </p:anim>
                                    <p:animEffect transition="in" filter="fade">
                                      <p:cBhvr>
                                        <p:cTn id="185" dur="500"/>
                                        <p:tgtEl>
                                          <p:spTgt spid="36"/>
                                        </p:tgtEl>
                                      </p:cBhvr>
                                    </p:animEffect>
                                  </p:childTnLst>
                                </p:cTn>
                              </p:par>
                              <p:par>
                                <p:cTn id="191" presetID="2" presetClass="entr" presetSubtype="4" fill="hold" grpId="0" nodeType="withEffect">
                                  <p:stCondLst>
                                    <p:cond delay="150"/>
                                  </p:stCondLst>
                                  <p:childTnLst>
                                    <p:set>
                                      <p:cBhvr>
                                        <p:cTn id="187" dur="1" fill="hold">
                                          <p:stCondLst>
                                            <p:cond delay="0"/>
                                          </p:stCondLst>
                                        </p:cTn>
                                        <p:tgtEl>
                                          <p:spTgt spid="37"/>
                                        </p:tgtEl>
                                        <p:attrNameLst>
                                          <p:attrName>style.visibility</p:attrName>
                                        </p:attrNameLst>
                                      </p:cBhvr>
                                      <p:to>
                                        <p:strVal val="visible"/>
                                      </p:to>
                                    </p:set>
                                    <p:anim calcmode="lin" valueType="num">
                                      <p:cBhvr additive="base">
                                        <p:cTn id="188" dur="500" fill="hold"/>
                                        <p:tgtEl>
                                          <p:spTgt spid="37"/>
                                        </p:tgtEl>
                                        <p:attrNameLst>
                                          <p:attrName>ppt_x</p:attrName>
                                        </p:attrNameLst>
                                      </p:cBhvr>
                                      <p:tavLst>
                                        <p:tav tm="0">
                                          <p:val>
                                            <p:strVal val="#ppt_x"/>
                                          </p:val>
                                        </p:tav>
                                        <p:tav tm="100000">
                                          <p:val>
                                            <p:strVal val="#ppt_x"/>
                                          </p:val>
                                        </p:tav>
                                      </p:tavLst>
                                    </p:anim>
                                    <p:anim calcmode="lin" valueType="num">
                                      <p:cBhvr additive="base">
                                        <p:cTn id="189" dur="500" fill="hold"/>
                                        <p:tgtEl>
                                          <p:spTgt spid="37"/>
                                        </p:tgtEl>
                                        <p:attrNameLst>
                                          <p:attrName>ppt_y</p:attrName>
                                        </p:attrNameLst>
                                      </p:cBhvr>
                                      <p:tavLst>
                                        <p:tav tm="0">
                                          <p:val>
                                            <p:strVal val="#ppt_y+0.1"/>
                                          </p:val>
                                        </p:tav>
                                        <p:tav tm="100000">
                                          <p:val>
                                            <p:strVal val="#ppt_y"/>
                                          </p:val>
                                        </p:tav>
                                      </p:tavLst>
                                    </p:anim>
                                    <p:animEffect transition="in" filter="fade">
                                      <p:cBhvr>
                                        <p:cTn id="190" dur="500"/>
                                        <p:tgtEl>
                                          <p:spTgt spid="37"/>
                                        </p:tgtEl>
                                      </p:cBhvr>
                                    </p:animEffect>
                                  </p:childTnLst>
                                </p:cTn>
                              </p:par>
                              <p:par>
                                <p:cTn id="196" presetID="2" presetClass="entr" presetSubtype="4" fill="hold" grpId="0" nodeType="withEffect">
                                  <p:stCondLst>
                                    <p:cond delay="250"/>
                                  </p:stCondLst>
                                  <p:childTnLst>
                                    <p:set>
                                      <p:cBhvr>
                                        <p:cTn id="192" dur="1" fill="hold">
                                          <p:stCondLst>
                                            <p:cond delay="0"/>
                                          </p:stCondLst>
                                        </p:cTn>
                                        <p:tgtEl>
                                          <p:spTgt spid="38"/>
                                        </p:tgtEl>
                                        <p:attrNameLst>
                                          <p:attrName>style.visibility</p:attrName>
                                        </p:attrNameLst>
                                      </p:cBhvr>
                                      <p:to>
                                        <p:strVal val="visible"/>
                                      </p:to>
                                    </p:set>
                                    <p:anim calcmode="lin" valueType="num">
                                      <p:cBhvr additive="base">
                                        <p:cTn id="193" dur="500" fill="hold"/>
                                        <p:tgtEl>
                                          <p:spTgt spid="38"/>
                                        </p:tgtEl>
                                        <p:attrNameLst>
                                          <p:attrName>ppt_x</p:attrName>
                                        </p:attrNameLst>
                                      </p:cBhvr>
                                      <p:tavLst>
                                        <p:tav tm="0">
                                          <p:val>
                                            <p:strVal val="#ppt_x"/>
                                          </p:val>
                                        </p:tav>
                                        <p:tav tm="100000">
                                          <p:val>
                                            <p:strVal val="#ppt_x"/>
                                          </p:val>
                                        </p:tav>
                                      </p:tavLst>
                                    </p:anim>
                                    <p:anim calcmode="lin" valueType="num">
                                      <p:cBhvr additive="base">
                                        <p:cTn id="194" dur="500" fill="hold"/>
                                        <p:tgtEl>
                                          <p:spTgt spid="38"/>
                                        </p:tgtEl>
                                        <p:attrNameLst>
                                          <p:attrName>ppt_y</p:attrName>
                                        </p:attrNameLst>
                                      </p:cBhvr>
                                      <p:tavLst>
                                        <p:tav tm="0">
                                          <p:val>
                                            <p:strVal val="#ppt_y+0.1"/>
                                          </p:val>
                                        </p:tav>
                                        <p:tav tm="100000">
                                          <p:val>
                                            <p:strVal val="#ppt_y"/>
                                          </p:val>
                                        </p:tav>
                                      </p:tavLst>
                                    </p:anim>
                                    <p:animEffect transition="in" filter="fade">
                                      <p:cBhvr>
                                        <p:cTn id="195" dur="500"/>
                                        <p:tgtEl>
                                          <p:spTgt spid="38"/>
                                        </p:tgtEl>
                                      </p:cBhvr>
                                    </p:animEffect>
                                  </p:childTnLst>
                                </p:cTn>
                              </p:par>
                              <p:par>
                                <p:cTn id="201" presetID="2" presetClass="entr" presetSubtype="4" fill="hold" grpId="0" nodeType="withEffect">
                                  <p:stCondLst>
                                    <p:cond delay="330"/>
                                  </p:stCondLst>
                                  <p:childTnLst>
                                    <p:set>
                                      <p:cBhvr>
                                        <p:cTn id="197" dur="1" fill="hold">
                                          <p:stCondLst>
                                            <p:cond delay="0"/>
                                          </p:stCondLst>
                                        </p:cTn>
                                        <p:tgtEl>
                                          <p:spTgt spid="39"/>
                                        </p:tgtEl>
                                        <p:attrNameLst>
                                          <p:attrName>style.visibility</p:attrName>
                                        </p:attrNameLst>
                                      </p:cBhvr>
                                      <p:to>
                                        <p:strVal val="visible"/>
                                      </p:to>
                                    </p:set>
                                    <p:anim calcmode="lin" valueType="num">
                                      <p:cBhvr additive="base">
                                        <p:cTn id="198" dur="500" fill="hold"/>
                                        <p:tgtEl>
                                          <p:spTgt spid="39"/>
                                        </p:tgtEl>
                                        <p:attrNameLst>
                                          <p:attrName>ppt_x</p:attrName>
                                        </p:attrNameLst>
                                      </p:cBhvr>
                                      <p:tavLst>
                                        <p:tav tm="0">
                                          <p:val>
                                            <p:strVal val="#ppt_x"/>
                                          </p:val>
                                        </p:tav>
                                        <p:tav tm="100000">
                                          <p:val>
                                            <p:strVal val="#ppt_x"/>
                                          </p:val>
                                        </p:tav>
                                      </p:tavLst>
                                    </p:anim>
                                    <p:anim calcmode="lin" valueType="num">
                                      <p:cBhvr additive="base">
                                        <p:cTn id="199" dur="500" fill="hold"/>
                                        <p:tgtEl>
                                          <p:spTgt spid="39"/>
                                        </p:tgtEl>
                                        <p:attrNameLst>
                                          <p:attrName>ppt_y</p:attrName>
                                        </p:attrNameLst>
                                      </p:cBhvr>
                                      <p:tavLst>
                                        <p:tav tm="0">
                                          <p:val>
                                            <p:strVal val="#ppt_y+0.1"/>
                                          </p:val>
                                        </p:tav>
                                        <p:tav tm="100000">
                                          <p:val>
                                            <p:strVal val="#ppt_y"/>
                                          </p:val>
                                        </p:tav>
                                      </p:tavLst>
                                    </p:anim>
                                    <p:animEffect transition="in" filter="fade">
                                      <p:cBhvr>
                                        <p:cTn id="200" dur="500"/>
                                        <p:tgtEl>
                                          <p:spTgt spid="39"/>
                                        </p:tgtEl>
                                      </p:cBhvr>
                                    </p:animEffect>
                                  </p:childTnLst>
                                </p:cTn>
                              </p:par>
                              <p:par>
                                <p:cTn id="206" presetID="2" presetClass="entr" presetSubtype="4" fill="hold" grpId="0" nodeType="withEffect">
                                  <p:stCondLst>
                                    <p:cond delay="410"/>
                                  </p:stCondLst>
                                  <p:childTnLst>
                                    <p:set>
                                      <p:cBhvr>
                                        <p:cTn id="202" dur="1" fill="hold">
                                          <p:stCondLst>
                                            <p:cond delay="0"/>
                                          </p:stCondLst>
                                        </p:cTn>
                                        <p:tgtEl>
                                          <p:spTgt spid="40"/>
                                        </p:tgtEl>
                                        <p:attrNameLst>
                                          <p:attrName>style.visibility</p:attrName>
                                        </p:attrNameLst>
                                      </p:cBhvr>
                                      <p:to>
                                        <p:strVal val="visible"/>
                                      </p:to>
                                    </p:set>
                                    <p:anim calcmode="lin" valueType="num">
                                      <p:cBhvr additive="base">
                                        <p:cTn id="203" dur="500" fill="hold"/>
                                        <p:tgtEl>
                                          <p:spTgt spid="40"/>
                                        </p:tgtEl>
                                        <p:attrNameLst>
                                          <p:attrName>ppt_x</p:attrName>
                                        </p:attrNameLst>
                                      </p:cBhvr>
                                      <p:tavLst>
                                        <p:tav tm="0">
                                          <p:val>
                                            <p:strVal val="#ppt_x"/>
                                          </p:val>
                                        </p:tav>
                                        <p:tav tm="100000">
                                          <p:val>
                                            <p:strVal val="#ppt_x"/>
                                          </p:val>
                                        </p:tav>
                                      </p:tavLst>
                                    </p:anim>
                                    <p:anim calcmode="lin" valueType="num">
                                      <p:cBhvr additive="base">
                                        <p:cTn id="204" dur="500" fill="hold"/>
                                        <p:tgtEl>
                                          <p:spTgt spid="40"/>
                                        </p:tgtEl>
                                        <p:attrNameLst>
                                          <p:attrName>ppt_y</p:attrName>
                                        </p:attrNameLst>
                                      </p:cBhvr>
                                      <p:tavLst>
                                        <p:tav tm="0">
                                          <p:val>
                                            <p:strVal val="#ppt_y+0.1"/>
                                          </p:val>
                                        </p:tav>
                                        <p:tav tm="100000">
                                          <p:val>
                                            <p:strVal val="#ppt_y"/>
                                          </p:val>
                                        </p:tav>
                                      </p:tavLst>
                                    </p:anim>
                                    <p:animEffect transition="in" filter="fade">
                                      <p:cBhvr>
                                        <p:cTn id="205" dur="500"/>
                                        <p:tgtEl>
                                          <p:spTgt spid="40"/>
                                        </p:tgtEl>
                                      </p:cBhvr>
                                    </p:animEffect>
                                  </p:childTnLst>
                                </p:cTn>
                              </p:par>
                            </p:childTnLst>
                          </p:cTn>
                        </p:par>
                      </p:childTnLst>
                    </p:cTn>
                  </p:par>
                  <p:par>
                    <p:cTn id="207" fill="hold">
                      <p:stCondLst>
                        <p:cond delay="indefinite"/>
                      </p:stCondLst>
                      <p:childTnLst>
                        <p:par>
                          <p:cTn id="208" fill="hold">
                            <p:stCondLst>
                              <p:cond delay="0"/>
                            </p:stCondLst>
                            <p:childTnLst>
                              <p:par>
                                <p:cTn id="213" presetID="2" presetClass="entr" presetSubtype="4" fill="hold" grpId="0" nodeType="clickEffect">
                                  <p:stCondLst>
                                    <p:cond delay="0"/>
                                  </p:stCondLst>
                                  <p:childTnLst>
                                    <p:set>
                                      <p:cBhvr>
                                        <p:cTn id="209" dur="1" fill="hold">
                                          <p:stCondLst>
                                            <p:cond delay="0"/>
                                          </p:stCondLst>
                                        </p:cTn>
                                        <p:tgtEl>
                                          <p:spTgt spid="53"/>
                                        </p:tgtEl>
                                        <p:attrNameLst>
                                          <p:attrName>style.visibility</p:attrName>
                                        </p:attrNameLst>
                                      </p:cBhvr>
                                      <p:to>
                                        <p:strVal val="visible"/>
                                      </p:to>
                                    </p:set>
                                    <p:anim calcmode="lin" valueType="num">
                                      <p:cBhvr additive="base">
                                        <p:cTn id="210" dur="500" fill="hold"/>
                                        <p:tgtEl>
                                          <p:spTgt spid="53"/>
                                        </p:tgtEl>
                                        <p:attrNameLst>
                                          <p:attrName>ppt_x</p:attrName>
                                        </p:attrNameLst>
                                      </p:cBhvr>
                                      <p:tavLst>
                                        <p:tav tm="0">
                                          <p:val>
                                            <p:strVal val="#ppt_x"/>
                                          </p:val>
                                        </p:tav>
                                        <p:tav tm="100000">
                                          <p:val>
                                            <p:strVal val="#ppt_x"/>
                                          </p:val>
                                        </p:tav>
                                      </p:tavLst>
                                    </p:anim>
                                    <p:anim calcmode="lin" valueType="num">
                                      <p:cBhvr additive="base">
                                        <p:cTn id="211" dur="500" fill="hold"/>
                                        <p:tgtEl>
                                          <p:spTgt spid="53"/>
                                        </p:tgtEl>
                                        <p:attrNameLst>
                                          <p:attrName>ppt_y</p:attrName>
                                        </p:attrNameLst>
                                      </p:cBhvr>
                                      <p:tavLst>
                                        <p:tav tm="0">
                                          <p:val>
                                            <p:strVal val="#ppt_y+0.1"/>
                                          </p:val>
                                        </p:tav>
                                        <p:tav tm="100000">
                                          <p:val>
                                            <p:strVal val="#ppt_y"/>
                                          </p:val>
                                        </p:tav>
                                      </p:tavLst>
                                    </p:anim>
                                    <p:animEffect transition="in" filter="fade">
                                      <p:cBhvr>
                                        <p:cTn id="212" dur="500"/>
                                        <p:tgtEl>
                                          <p:spTgt spid="53"/>
                                        </p:tgtEl>
                                      </p:cBhvr>
                                    </p:animEffect>
                                  </p:childTnLst>
                                </p:cTn>
                              </p:par>
                              <p:par>
                                <p:cTn id="218" presetID="2" presetClass="entr" presetSubtype="4" fill="hold" grpId="0" nodeType="withEffect">
                                  <p:stCondLst>
                                    <p:cond delay="0"/>
                                  </p:stCondLst>
                                  <p:childTnLst>
                                    <p:set>
                                      <p:cBhvr>
                                        <p:cTn id="214" dur="1" fill="hold">
                                          <p:stCondLst>
                                            <p:cond delay="0"/>
                                          </p:stCondLst>
                                        </p:cTn>
                                        <p:tgtEl>
                                          <p:spTgt spid="54"/>
                                        </p:tgtEl>
                                        <p:attrNameLst>
                                          <p:attrName>style.visibility</p:attrName>
                                        </p:attrNameLst>
                                      </p:cBhvr>
                                      <p:to>
                                        <p:strVal val="visible"/>
                                      </p:to>
                                    </p:set>
                                    <p:anim calcmode="lin" valueType="num">
                                      <p:cBhvr additive="base">
                                        <p:cTn id="215" dur="500" fill="hold"/>
                                        <p:tgtEl>
                                          <p:spTgt spid="54"/>
                                        </p:tgtEl>
                                        <p:attrNameLst>
                                          <p:attrName>ppt_x</p:attrName>
                                        </p:attrNameLst>
                                      </p:cBhvr>
                                      <p:tavLst>
                                        <p:tav tm="0">
                                          <p:val>
                                            <p:strVal val="#ppt_x"/>
                                          </p:val>
                                        </p:tav>
                                        <p:tav tm="100000">
                                          <p:val>
                                            <p:strVal val="#ppt_x"/>
                                          </p:val>
                                        </p:tav>
                                      </p:tavLst>
                                    </p:anim>
                                    <p:anim calcmode="lin" valueType="num">
                                      <p:cBhvr additive="base">
                                        <p:cTn id="216" dur="500" fill="hold"/>
                                        <p:tgtEl>
                                          <p:spTgt spid="54"/>
                                        </p:tgtEl>
                                        <p:attrNameLst>
                                          <p:attrName>ppt_y</p:attrName>
                                        </p:attrNameLst>
                                      </p:cBhvr>
                                      <p:tavLst>
                                        <p:tav tm="0">
                                          <p:val>
                                            <p:strVal val="#ppt_y+0.1"/>
                                          </p:val>
                                        </p:tav>
                                        <p:tav tm="100000">
                                          <p:val>
                                            <p:strVal val="#ppt_y"/>
                                          </p:val>
                                        </p:tav>
                                      </p:tavLst>
                                    </p:anim>
                                    <p:animEffect transition="in" filter="fade">
                                      <p:cBhvr>
                                        <p:cTn id="217" dur="500"/>
                                        <p:tgtEl>
                                          <p:spTgt spid="54"/>
                                        </p:tgtEl>
                                      </p:cBhvr>
                                    </p:animEffect>
                                  </p:childTnLst>
                                </p:cTn>
                              </p:par>
                              <p:par>
                                <p:cTn id="223" presetID="2" presetClass="entr" presetSubtype="4" fill="hold" grpId="0" nodeType="withEffect">
                                  <p:stCondLst>
                                    <p:cond delay="0"/>
                                  </p:stCondLst>
                                  <p:childTnLst>
                                    <p:set>
                                      <p:cBhvr>
                                        <p:cTn id="219" dur="1" fill="hold">
                                          <p:stCondLst>
                                            <p:cond delay="0"/>
                                          </p:stCondLst>
                                        </p:cTn>
                                        <p:tgtEl>
                                          <p:spTgt spid="55"/>
                                        </p:tgtEl>
                                        <p:attrNameLst>
                                          <p:attrName>style.visibility</p:attrName>
                                        </p:attrNameLst>
                                      </p:cBhvr>
                                      <p:to>
                                        <p:strVal val="visible"/>
                                      </p:to>
                                    </p:set>
                                    <p:anim calcmode="lin" valueType="num">
                                      <p:cBhvr additive="base">
                                        <p:cTn id="220" dur="500" fill="hold"/>
                                        <p:tgtEl>
                                          <p:spTgt spid="55"/>
                                        </p:tgtEl>
                                        <p:attrNameLst>
                                          <p:attrName>ppt_x</p:attrName>
                                        </p:attrNameLst>
                                      </p:cBhvr>
                                      <p:tavLst>
                                        <p:tav tm="0">
                                          <p:val>
                                            <p:strVal val="#ppt_x"/>
                                          </p:val>
                                        </p:tav>
                                        <p:tav tm="100000">
                                          <p:val>
                                            <p:strVal val="#ppt_x"/>
                                          </p:val>
                                        </p:tav>
                                      </p:tavLst>
                                    </p:anim>
                                    <p:anim calcmode="lin" valueType="num">
                                      <p:cBhvr additive="base">
                                        <p:cTn id="221" dur="500" fill="hold"/>
                                        <p:tgtEl>
                                          <p:spTgt spid="55"/>
                                        </p:tgtEl>
                                        <p:attrNameLst>
                                          <p:attrName>ppt_y</p:attrName>
                                        </p:attrNameLst>
                                      </p:cBhvr>
                                      <p:tavLst>
                                        <p:tav tm="0">
                                          <p:val>
                                            <p:strVal val="#ppt_y+0.1"/>
                                          </p:val>
                                        </p:tav>
                                        <p:tav tm="100000">
                                          <p:val>
                                            <p:strVal val="#ppt_y"/>
                                          </p:val>
                                        </p:tav>
                                      </p:tavLst>
                                    </p:anim>
                                    <p:animEffect transition="in" filter="fade">
                                      <p:cBhvr>
                                        <p:cTn id="222"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Connect Is a Distributed System</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Workers share the connectors' tasks - and take over when a worker fails</a:t>
            </a:r>
          </a:p>
        </p:txBody>
      </p:sp>
      <p:sp>
        <p:nvSpPr>
          <p:cNvPr id="11" name="a0f_card10"/>
          <p:cNvSpPr/>
          <p:nvPr/>
        </p:nvSpPr>
        <p:spPr>
          <a:xfrm>
            <a:off x="457200" y="1325880"/>
            <a:ext cx="1280160" cy="2103120"/>
          </a:xfrm>
          <a:prstGeom prst="roundRect">
            <a:avLst>
              <a:gd name="adj" fmla="val 8571"/>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0f_wk11"/>
          <p:cNvSpPr txBox="1"/>
          <p:nvPr/>
        </p:nvSpPr>
        <p:spPr>
          <a:xfrm>
            <a:off x="566928" y="1389888"/>
            <a:ext cx="1097280" cy="237744"/>
          </a:xfrm>
          <a:prstGeom prst="rect">
            <a:avLst/>
          </a:prstGeom>
          <a:noFill/>
        </p:spPr>
        <p:txBody>
          <a:bodyPr wrap="square" lIns="0" tIns="0" rIns="0" bIns="0" anchor="ctr">
            <a:spAutoFit/>
          </a:bodyPr>
          <a:lstStyle/>
          <a:p>
            <a:pPr algn="l"/>
            <a:r>
              <a:rPr sz="900" b="1">
                <a:solidFill>
                  <a:srgbClr val="1C1917"/>
                </a:solidFill>
                <a:latin typeface="Segoe UI"/>
              </a:rPr>
              <a:t>worker 1</a:t>
            </a:r>
          </a:p>
        </p:txBody>
      </p:sp>
      <p:sp>
        <p:nvSpPr>
          <p:cNvPr id="13" name="a1u_pill12"/>
          <p:cNvSpPr/>
          <p:nvPr/>
        </p:nvSpPr>
        <p:spPr>
          <a:xfrm>
            <a:off x="566928" y="1737360"/>
            <a:ext cx="1060704" cy="292608"/>
          </a:xfrm>
          <a:prstGeom prst="roundRect">
            <a:avLst>
              <a:gd name="adj" fmla="val 50000"/>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C2410C"/>
                </a:solidFill>
                <a:latin typeface="Consolas"/>
              </a:rPr>
              <a:t>src·t0</a:t>
            </a:r>
          </a:p>
        </p:txBody>
      </p:sp>
      <p:sp>
        <p:nvSpPr>
          <p:cNvPr id="14" name="a1ud100_pill13"/>
          <p:cNvSpPr/>
          <p:nvPr/>
        </p:nvSpPr>
        <p:spPr>
          <a:xfrm>
            <a:off x="566928" y="2121408"/>
            <a:ext cx="1060704" cy="292608"/>
          </a:xfrm>
          <a:prstGeom prst="roundRect">
            <a:avLst>
              <a:gd name="adj" fmla="val 50000"/>
            </a:avLst>
          </a:prstGeom>
          <a:solidFill>
            <a:srgbClr val="E0E7FF"/>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4F46E5"/>
                </a:solidFill>
                <a:latin typeface="Consolas"/>
              </a:rPr>
              <a:t>sink·t0</a:t>
            </a:r>
          </a:p>
        </p:txBody>
      </p:sp>
      <p:sp>
        <p:nvSpPr>
          <p:cNvPr id="15" name="a0f_card14"/>
          <p:cNvSpPr/>
          <p:nvPr/>
        </p:nvSpPr>
        <p:spPr>
          <a:xfrm>
            <a:off x="1874519" y="1325880"/>
            <a:ext cx="1280160" cy="2103120"/>
          </a:xfrm>
          <a:prstGeom prst="roundRect">
            <a:avLst>
              <a:gd name="adj" fmla="val 8571"/>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0f_wk15"/>
          <p:cNvSpPr txBox="1"/>
          <p:nvPr/>
        </p:nvSpPr>
        <p:spPr>
          <a:xfrm>
            <a:off x="1984248" y="1389888"/>
            <a:ext cx="1097280" cy="237744"/>
          </a:xfrm>
          <a:prstGeom prst="rect">
            <a:avLst/>
          </a:prstGeom>
          <a:noFill/>
        </p:spPr>
        <p:txBody>
          <a:bodyPr wrap="square" lIns="0" tIns="0" rIns="0" bIns="0" anchor="ctr">
            <a:spAutoFit/>
          </a:bodyPr>
          <a:lstStyle/>
          <a:p>
            <a:pPr algn="l"/>
            <a:r>
              <a:rPr sz="900" b="1">
                <a:solidFill>
                  <a:srgbClr val="1C1917"/>
                </a:solidFill>
                <a:latin typeface="Segoe UI"/>
              </a:rPr>
              <a:t>worker 2</a:t>
            </a:r>
          </a:p>
        </p:txBody>
      </p:sp>
      <p:sp>
        <p:nvSpPr>
          <p:cNvPr id="17" name="a1u_pill16"/>
          <p:cNvSpPr/>
          <p:nvPr/>
        </p:nvSpPr>
        <p:spPr>
          <a:xfrm>
            <a:off x="1984248" y="1737360"/>
            <a:ext cx="1060704" cy="292608"/>
          </a:xfrm>
          <a:prstGeom prst="roundRect">
            <a:avLst>
              <a:gd name="adj" fmla="val 50000"/>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C2410C"/>
                </a:solidFill>
                <a:latin typeface="Consolas"/>
              </a:rPr>
              <a:t>src·t1</a:t>
            </a:r>
          </a:p>
        </p:txBody>
      </p:sp>
      <p:sp>
        <p:nvSpPr>
          <p:cNvPr id="18" name="a1ud100_pill17"/>
          <p:cNvSpPr/>
          <p:nvPr/>
        </p:nvSpPr>
        <p:spPr>
          <a:xfrm>
            <a:off x="1984248" y="2121408"/>
            <a:ext cx="1060704" cy="292608"/>
          </a:xfrm>
          <a:prstGeom prst="roundRect">
            <a:avLst>
              <a:gd name="adj" fmla="val 50000"/>
            </a:avLst>
          </a:prstGeom>
          <a:solidFill>
            <a:srgbClr val="E0E7FF"/>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4F46E5"/>
                </a:solidFill>
                <a:latin typeface="Consolas"/>
              </a:rPr>
              <a:t>sink·t1</a:t>
            </a:r>
          </a:p>
        </p:txBody>
      </p:sp>
      <p:sp>
        <p:nvSpPr>
          <p:cNvPr id="19" name="a0f_card18"/>
          <p:cNvSpPr/>
          <p:nvPr/>
        </p:nvSpPr>
        <p:spPr>
          <a:xfrm>
            <a:off x="3291840" y="1325880"/>
            <a:ext cx="1280160" cy="2103120"/>
          </a:xfrm>
          <a:prstGeom prst="roundRect">
            <a:avLst>
              <a:gd name="adj" fmla="val 8571"/>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0f_wk19"/>
          <p:cNvSpPr txBox="1"/>
          <p:nvPr/>
        </p:nvSpPr>
        <p:spPr>
          <a:xfrm>
            <a:off x="3401568" y="1389888"/>
            <a:ext cx="1097280" cy="237744"/>
          </a:xfrm>
          <a:prstGeom prst="rect">
            <a:avLst/>
          </a:prstGeom>
          <a:noFill/>
        </p:spPr>
        <p:txBody>
          <a:bodyPr wrap="square" lIns="0" tIns="0" rIns="0" bIns="0" anchor="ctr">
            <a:spAutoFit/>
          </a:bodyPr>
          <a:lstStyle/>
          <a:p>
            <a:pPr algn="l"/>
            <a:r>
              <a:rPr sz="900" b="1">
                <a:solidFill>
                  <a:srgbClr val="1C1917"/>
                </a:solidFill>
                <a:latin typeface="Segoe UI"/>
              </a:rPr>
              <a:t>worker 3</a:t>
            </a:r>
          </a:p>
        </p:txBody>
      </p:sp>
      <p:sp>
        <p:nvSpPr>
          <p:cNvPr id="21" name="a1u_pill20"/>
          <p:cNvSpPr/>
          <p:nvPr/>
        </p:nvSpPr>
        <p:spPr>
          <a:xfrm>
            <a:off x="3401568" y="1737360"/>
            <a:ext cx="1060704" cy="292608"/>
          </a:xfrm>
          <a:prstGeom prst="roundRect">
            <a:avLst>
              <a:gd name="adj" fmla="val 50000"/>
            </a:avLst>
          </a:prstGeom>
          <a:solidFill>
            <a:srgbClr val="E0E7FF"/>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4F46E5"/>
                </a:solidFill>
                <a:latin typeface="Consolas"/>
              </a:rPr>
              <a:t>sink·t2</a:t>
            </a:r>
          </a:p>
        </p:txBody>
      </p:sp>
      <p:sp>
        <p:nvSpPr>
          <p:cNvPr id="22" name="a2u_dead21"/>
          <p:cNvSpPr/>
          <p:nvPr/>
        </p:nvSpPr>
        <p:spPr>
          <a:xfrm>
            <a:off x="1874519" y="1325880"/>
            <a:ext cx="1280160" cy="2103120"/>
          </a:xfrm>
          <a:prstGeom prst="roundRect">
            <a:avLst>
              <a:gd name="adj" fmla="val 8571"/>
            </a:avLst>
          </a:prstGeom>
          <a:solidFill>
            <a:srgbClr val="FFE4E6"/>
          </a:solidFill>
          <a:ln w="1905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2u_deadt22"/>
          <p:cNvSpPr txBox="1"/>
          <p:nvPr/>
        </p:nvSpPr>
        <p:spPr>
          <a:xfrm>
            <a:off x="1874519" y="2103120"/>
            <a:ext cx="1280160" cy="457200"/>
          </a:xfrm>
          <a:prstGeom prst="rect">
            <a:avLst/>
          </a:prstGeom>
          <a:noFill/>
        </p:spPr>
        <p:txBody>
          <a:bodyPr wrap="square" lIns="0" tIns="0" rIns="0" bIns="0" anchor="ctr">
            <a:spAutoFit/>
          </a:bodyPr>
          <a:lstStyle/>
          <a:p>
            <a:pPr algn="ctr"/>
            <a:r>
              <a:rPr sz="900" b="1">
                <a:solidFill>
                  <a:srgbClr val="9F1239"/>
                </a:solidFill>
                <a:latin typeface="Segoe UI"/>
              </a:rPr>
              <a:t>worker 2</a:t>
            </a:r>
          </a:p>
          <a:p>
            <a:pPr algn="ctr"/>
            <a:r>
              <a:rPr sz="900" b="0">
                <a:solidFill>
                  <a:srgbClr val="9F1239"/>
                </a:solidFill>
                <a:latin typeface="Segoe UI"/>
              </a:rPr>
              <a:t>fails</a:t>
            </a:r>
          </a:p>
        </p:txBody>
      </p:sp>
      <p:sp>
        <p:nvSpPr>
          <p:cNvPr id="24" name="a3u_pill23"/>
          <p:cNvSpPr/>
          <p:nvPr/>
        </p:nvSpPr>
        <p:spPr>
          <a:xfrm>
            <a:off x="566928" y="2505456"/>
            <a:ext cx="1060704" cy="292608"/>
          </a:xfrm>
          <a:prstGeom prst="roundRect">
            <a:avLst>
              <a:gd name="adj" fmla="val 50000"/>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C2410C"/>
                </a:solidFill>
                <a:latin typeface="Consolas"/>
              </a:rPr>
              <a:t>src·t1</a:t>
            </a:r>
          </a:p>
        </p:txBody>
      </p:sp>
      <p:sp>
        <p:nvSpPr>
          <p:cNvPr id="25" name="a3ud150_pill24"/>
          <p:cNvSpPr/>
          <p:nvPr/>
        </p:nvSpPr>
        <p:spPr>
          <a:xfrm>
            <a:off x="3401568" y="2121408"/>
            <a:ext cx="1060704" cy="292608"/>
          </a:xfrm>
          <a:prstGeom prst="roundRect">
            <a:avLst>
              <a:gd name="adj" fmla="val 50000"/>
            </a:avLst>
          </a:prstGeom>
          <a:solidFill>
            <a:srgbClr val="E0E7FF"/>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4F46E5"/>
                </a:solidFill>
                <a:latin typeface="Consolas"/>
              </a:rPr>
              <a:t>sink·t1</a:t>
            </a:r>
          </a:p>
        </p:txBody>
      </p:sp>
      <p:sp>
        <p:nvSpPr>
          <p:cNvPr id="26" name="a3ud300_lb25"/>
          <p:cNvSpPr txBox="1"/>
          <p:nvPr/>
        </p:nvSpPr>
        <p:spPr>
          <a:xfrm>
            <a:off x="457200" y="3493008"/>
            <a:ext cx="4114800" cy="201168"/>
          </a:xfrm>
          <a:prstGeom prst="rect">
            <a:avLst/>
          </a:prstGeom>
          <a:noFill/>
        </p:spPr>
        <p:txBody>
          <a:bodyPr wrap="square" lIns="0" tIns="0" rIns="0" bIns="0" anchor="ctr">
            <a:spAutoFit/>
          </a:bodyPr>
          <a:lstStyle/>
          <a:p>
            <a:pPr algn="l"/>
            <a:r>
              <a:rPr sz="850" b="1">
                <a:solidFill>
                  <a:srgbClr val="15803D"/>
                </a:solidFill>
                <a:latin typeface="Segoe UI"/>
              </a:rPr>
              <a:t>its tasks restart on the surviving workers</a:t>
            </a:r>
          </a:p>
        </p:txBody>
      </p:sp>
      <p:sp>
        <p:nvSpPr>
          <p:cNvPr id="27" name="a4u_dot26"/>
          <p:cNvSpPr/>
          <p:nvPr/>
        </p:nvSpPr>
        <p:spPr>
          <a:xfrm>
            <a:off x="4892040" y="1403604"/>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4u_b27"/>
          <p:cNvSpPr txBox="1"/>
          <p:nvPr/>
        </p:nvSpPr>
        <p:spPr>
          <a:xfrm>
            <a:off x="5111496" y="1307592"/>
            <a:ext cx="3575304" cy="530352"/>
          </a:xfrm>
          <a:prstGeom prst="rect">
            <a:avLst/>
          </a:prstGeom>
          <a:noFill/>
        </p:spPr>
        <p:txBody>
          <a:bodyPr wrap="square" lIns="0" tIns="0" rIns="0" bIns="0" anchor="t">
            <a:spAutoFit/>
          </a:bodyPr>
          <a:lstStyle/>
          <a:p>
            <a:pPr algn="l"/>
            <a:r>
              <a:rPr sz="900" b="1">
                <a:solidFill>
                  <a:srgbClr val="1C1917"/>
                </a:solidFill>
                <a:latin typeface="Segoe UI"/>
              </a:rPr>
              <a:t>Worker  </a:t>
            </a:r>
            <a:r>
              <a:rPr sz="900" b="0">
                <a:solidFill>
                  <a:srgbClr val="44403C"/>
                </a:solidFill>
                <a:latin typeface="Segoe UI"/>
              </a:rPr>
              <a:t>a Connect process; workers with the same group.id form a cluster</a:t>
            </a:r>
          </a:p>
        </p:txBody>
      </p:sp>
      <p:sp>
        <p:nvSpPr>
          <p:cNvPr id="29" name="a4ud120_dot28"/>
          <p:cNvSpPr/>
          <p:nvPr/>
        </p:nvSpPr>
        <p:spPr>
          <a:xfrm>
            <a:off x="4892040" y="1970531"/>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4ud120_b29"/>
          <p:cNvSpPr txBox="1"/>
          <p:nvPr/>
        </p:nvSpPr>
        <p:spPr>
          <a:xfrm>
            <a:off x="5111496" y="1874519"/>
            <a:ext cx="3575304" cy="530352"/>
          </a:xfrm>
          <a:prstGeom prst="rect">
            <a:avLst/>
          </a:prstGeom>
          <a:noFill/>
        </p:spPr>
        <p:txBody>
          <a:bodyPr wrap="square" lIns="0" tIns="0" rIns="0" bIns="0" anchor="t">
            <a:spAutoFit/>
          </a:bodyPr>
          <a:lstStyle/>
          <a:p>
            <a:pPr algn="l"/>
            <a:r>
              <a:rPr sz="900" b="1">
                <a:solidFill>
                  <a:srgbClr val="1C1917"/>
                </a:solidFill>
                <a:latin typeface="Segoe UI"/>
              </a:rPr>
              <a:t>Connector  </a:t>
            </a:r>
            <a:r>
              <a:rPr sz="900" b="0">
                <a:solidFill>
                  <a:srgbClr val="44403C"/>
                </a:solidFill>
                <a:latin typeface="Segoe UI"/>
              </a:rPr>
              <a:t>a configured plugin that plans the work</a:t>
            </a:r>
          </a:p>
        </p:txBody>
      </p:sp>
      <p:sp>
        <p:nvSpPr>
          <p:cNvPr id="31" name="a4ud240_dot30"/>
          <p:cNvSpPr/>
          <p:nvPr/>
        </p:nvSpPr>
        <p:spPr>
          <a:xfrm>
            <a:off x="4892040" y="2537460"/>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4ud240_b31"/>
          <p:cNvSpPr txBox="1"/>
          <p:nvPr/>
        </p:nvSpPr>
        <p:spPr>
          <a:xfrm>
            <a:off x="5111496" y="2441448"/>
            <a:ext cx="3575304" cy="530352"/>
          </a:xfrm>
          <a:prstGeom prst="rect">
            <a:avLst/>
          </a:prstGeom>
          <a:noFill/>
        </p:spPr>
        <p:txBody>
          <a:bodyPr wrap="square" lIns="0" tIns="0" rIns="0" bIns="0" anchor="t">
            <a:spAutoFit/>
          </a:bodyPr>
          <a:lstStyle/>
          <a:p>
            <a:pPr algn="l"/>
            <a:r>
              <a:rPr sz="900" b="1">
                <a:solidFill>
                  <a:srgbClr val="1C1917"/>
                </a:solidFill>
                <a:latin typeface="Segoe UI"/>
              </a:rPr>
              <a:t>Task  </a:t>
            </a:r>
            <a:r>
              <a:rPr sz="900" b="0">
                <a:solidFill>
                  <a:srgbClr val="44403C"/>
                </a:solidFill>
                <a:latin typeface="Segoe UI"/>
              </a:rPr>
              <a:t>a thread that moves the data - the unit of parallelism (tasks.max)</a:t>
            </a:r>
          </a:p>
        </p:txBody>
      </p:sp>
      <p:sp>
        <p:nvSpPr>
          <p:cNvPr id="33" name="a4ud360_dot32"/>
          <p:cNvSpPr/>
          <p:nvPr/>
        </p:nvSpPr>
        <p:spPr>
          <a:xfrm>
            <a:off x="4892040" y="3104388"/>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4ud360_b33"/>
          <p:cNvSpPr txBox="1"/>
          <p:nvPr/>
        </p:nvSpPr>
        <p:spPr>
          <a:xfrm>
            <a:off x="5111496" y="3008376"/>
            <a:ext cx="3575304" cy="530352"/>
          </a:xfrm>
          <a:prstGeom prst="rect">
            <a:avLst/>
          </a:prstGeom>
          <a:noFill/>
        </p:spPr>
        <p:txBody>
          <a:bodyPr wrap="square" lIns="0" tIns="0" rIns="0" bIns="0" anchor="t">
            <a:spAutoFit/>
          </a:bodyPr>
          <a:lstStyle/>
          <a:p>
            <a:pPr algn="l"/>
            <a:r>
              <a:rPr sz="900" b="1">
                <a:solidFill>
                  <a:srgbClr val="1C1917"/>
                </a:solidFill>
                <a:latin typeface="Segoe UI"/>
              </a:rPr>
              <a:t>State in Kafka  </a:t>
            </a:r>
            <a:r>
              <a:rPr sz="900" b="0">
                <a:solidFill>
                  <a:srgbClr val="44403C"/>
                </a:solidFill>
                <a:latin typeface="Segoe UI"/>
              </a:rPr>
              <a:t>configs, source offsets and status live in internal topics</a:t>
            </a:r>
          </a:p>
        </p:txBody>
      </p:sp>
      <p:sp>
        <p:nvSpPr>
          <p:cNvPr id="35" name="a5u_nb34"/>
          <p:cNvSpPr/>
          <p:nvPr/>
        </p:nvSpPr>
        <p:spPr>
          <a:xfrm>
            <a:off x="457200" y="3886200"/>
            <a:ext cx="8229600" cy="566928"/>
          </a:xfrm>
          <a:prstGeom prst="roundRect">
            <a:avLst>
              <a:gd name="adj" fmla="val 12903"/>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5u_nacc35"/>
          <p:cNvSpPr/>
          <p:nvPr/>
        </p:nvSpPr>
        <p:spPr>
          <a:xfrm>
            <a:off x="457200" y="3886200"/>
            <a:ext cx="54864"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5u_nt36"/>
          <p:cNvSpPr txBox="1"/>
          <p:nvPr/>
        </p:nvSpPr>
        <p:spPr>
          <a:xfrm>
            <a:off x="658368" y="3886200"/>
            <a:ext cx="7827264" cy="566928"/>
          </a:xfrm>
          <a:prstGeom prst="rect">
            <a:avLst/>
          </a:prstGeom>
          <a:noFill/>
        </p:spPr>
        <p:txBody>
          <a:bodyPr wrap="square" lIns="0" tIns="0" rIns="0" bIns="0" anchor="ctr">
            <a:spAutoFit/>
          </a:bodyPr>
          <a:lstStyle/>
          <a:p>
            <a:pPr algn="l"/>
            <a:r>
              <a:rPr sz="950" b="1">
                <a:solidFill>
                  <a:srgbClr val="C2410C"/>
                </a:solidFill>
                <a:latin typeface="Segoe UI"/>
              </a:rPr>
              <a:t>KEY  </a:t>
            </a:r>
            <a:r>
              <a:rPr sz="950" b="0">
                <a:solidFill>
                  <a:srgbClr val="44403C"/>
                </a:solidFill>
                <a:latin typeface="Segoe UI"/>
              </a:rPr>
              <a:t>More load or more connectors? Add workers. The cluster rebalances tasks across them, like a consumer group.</a:t>
            </a:r>
          </a:p>
        </p:txBody>
      </p:sp>
      <p:sp>
        <p:nvSpPr>
          <p:cNvPr id="38" name="ft37"/>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06</a:t>
            </a:r>
          </a:p>
        </p:txBody>
      </p:sp>
      <p:sp>
        <p:nvSpPr>
          <p:cNvPr id="39" name="ft38"/>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ft39"/>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Kafka Connect</a:t>
            </a:r>
          </a:p>
        </p:txBody>
      </p:sp>
      <p:sp>
        <p:nvSpPr>
          <p:cNvPr id="41" name="ft40"/>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9</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9" presetID="2" presetClass="entr" presetSubtype="4"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 calcmode="lin" valueType="num">
                                      <p:cBhvr additive="base">
                                        <p:cTn id="26" dur="500" fill="hold"/>
                                        <p:tgtEl>
                                          <p:spTgt spid="13"/>
                                        </p:tgtEl>
                                        <p:attrNameLst>
                                          <p:attrName>ppt_x</p:attrName>
                                        </p:attrNameLst>
                                      </p:cBhvr>
                                      <p:tavLst>
                                        <p:tav tm="0">
                                          <p:val>
                                            <p:strVal val="#ppt_x"/>
                                          </p:val>
                                        </p:tav>
                                        <p:tav tm="100000">
                                          <p:val>
                                            <p:strVal val="#ppt_x"/>
                                          </p:val>
                                        </p:tav>
                                      </p:tavLst>
                                    </p:anim>
                                    <p:anim calcmode="lin" valueType="num">
                                      <p:cBhvr additive="base">
                                        <p:cTn id="27" dur="500" fill="hold"/>
                                        <p:tgtEl>
                                          <p:spTgt spid="13"/>
                                        </p:tgtEl>
                                        <p:attrNameLst>
                                          <p:attrName>ppt_y</p:attrName>
                                        </p:attrNameLst>
                                      </p:cBhvr>
                                      <p:tavLst>
                                        <p:tav tm="0">
                                          <p:val>
                                            <p:strVal val="#ppt_y+0.1"/>
                                          </p:val>
                                        </p:tav>
                                        <p:tav tm="100000">
                                          <p:val>
                                            <p:strVal val="#ppt_y"/>
                                          </p:val>
                                        </p:tav>
                                      </p:tavLst>
                                    </p:anim>
                                    <p:animEffect transition="in" filter="fade">
                                      <p:cBhvr>
                                        <p:cTn id="28" dur="500"/>
                                        <p:tgtEl>
                                          <p:spTgt spid="13"/>
                                        </p:tgtEl>
                                      </p:cBhvr>
                                    </p:animEffect>
                                  </p:childTnLst>
                                </p:cTn>
                              </p:par>
                              <p:par>
                                <p:cTn id="34" presetID="2" presetClass="entr" presetSubtype="4"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ppt_y+0.1"/>
                                          </p:val>
                                        </p:tav>
                                        <p:tav tm="100000">
                                          <p:val>
                                            <p:strVal val="#ppt_y"/>
                                          </p:val>
                                        </p:tav>
                                      </p:tavLst>
                                    </p:anim>
                                    <p:animEffect transition="in" filter="fade">
                                      <p:cBhvr>
                                        <p:cTn id="33" dur="500"/>
                                        <p:tgtEl>
                                          <p:spTgt spid="17"/>
                                        </p:tgtEl>
                                      </p:cBhvr>
                                    </p:animEffect>
                                  </p:childTnLst>
                                </p:cTn>
                              </p:par>
                              <p:par>
                                <p:cTn id="39" presetID="2" presetClass="entr" presetSubtype="4"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 calcmode="lin" valueType="num">
                                      <p:cBhvr additive="base">
                                        <p:cTn id="36" dur="500" fill="hold"/>
                                        <p:tgtEl>
                                          <p:spTgt spid="21"/>
                                        </p:tgtEl>
                                        <p:attrNameLst>
                                          <p:attrName>ppt_x</p:attrName>
                                        </p:attrNameLst>
                                      </p:cBhvr>
                                      <p:tavLst>
                                        <p:tav tm="0">
                                          <p:val>
                                            <p:strVal val="#ppt_x"/>
                                          </p:val>
                                        </p:tav>
                                        <p:tav tm="100000">
                                          <p:val>
                                            <p:strVal val="#ppt_x"/>
                                          </p:val>
                                        </p:tav>
                                      </p:tavLst>
                                    </p:anim>
                                    <p:anim calcmode="lin" valueType="num">
                                      <p:cBhvr additive="base">
                                        <p:cTn id="37" dur="500" fill="hold"/>
                                        <p:tgtEl>
                                          <p:spTgt spid="21"/>
                                        </p:tgtEl>
                                        <p:attrNameLst>
                                          <p:attrName>ppt_y</p:attrName>
                                        </p:attrNameLst>
                                      </p:cBhvr>
                                      <p:tavLst>
                                        <p:tav tm="0">
                                          <p:val>
                                            <p:strVal val="#ppt_y+0.1"/>
                                          </p:val>
                                        </p:tav>
                                        <p:tav tm="100000">
                                          <p:val>
                                            <p:strVal val="#ppt_y"/>
                                          </p:val>
                                        </p:tav>
                                      </p:tavLst>
                                    </p:anim>
                                    <p:animEffect transition="in" filter="fade">
                                      <p:cBhvr>
                                        <p:cTn id="38" dur="500"/>
                                        <p:tgtEl>
                                          <p:spTgt spid="21"/>
                                        </p:tgtEl>
                                      </p:cBhvr>
                                    </p:animEffect>
                                  </p:childTnLst>
                                </p:cTn>
                              </p:par>
                              <p:par>
                                <p:cTn id="44" presetID="2" presetClass="entr" presetSubtype="4" fill="hold" grpId="0" nodeType="withEffect">
                                  <p:stCondLst>
                                    <p:cond delay="10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500" fill="hold"/>
                                        <p:tgtEl>
                                          <p:spTgt spid="14"/>
                                        </p:tgtEl>
                                        <p:attrNameLst>
                                          <p:attrName>ppt_x</p:attrName>
                                        </p:attrNameLst>
                                      </p:cBhvr>
                                      <p:tavLst>
                                        <p:tav tm="0">
                                          <p:val>
                                            <p:strVal val="#ppt_x"/>
                                          </p:val>
                                        </p:tav>
                                        <p:tav tm="100000">
                                          <p:val>
                                            <p:strVal val="#ppt_x"/>
                                          </p:val>
                                        </p:tav>
                                      </p:tavLst>
                                    </p:anim>
                                    <p:anim calcmode="lin" valueType="num">
                                      <p:cBhvr additive="base">
                                        <p:cTn id="42" dur="500" fill="hold"/>
                                        <p:tgtEl>
                                          <p:spTgt spid="14"/>
                                        </p:tgtEl>
                                        <p:attrNameLst>
                                          <p:attrName>ppt_y</p:attrName>
                                        </p:attrNameLst>
                                      </p:cBhvr>
                                      <p:tavLst>
                                        <p:tav tm="0">
                                          <p:val>
                                            <p:strVal val="#ppt_y+0.1"/>
                                          </p:val>
                                        </p:tav>
                                        <p:tav tm="100000">
                                          <p:val>
                                            <p:strVal val="#ppt_y"/>
                                          </p:val>
                                        </p:tav>
                                      </p:tavLst>
                                    </p:anim>
                                    <p:animEffect transition="in" filter="fade">
                                      <p:cBhvr>
                                        <p:cTn id="43" dur="500"/>
                                        <p:tgtEl>
                                          <p:spTgt spid="14"/>
                                        </p:tgtEl>
                                      </p:cBhvr>
                                    </p:animEffect>
                                  </p:childTnLst>
                                </p:cTn>
                              </p:par>
                              <p:par>
                                <p:cTn id="49" presetID="2" presetClass="entr" presetSubtype="4" fill="hold" grpId="0" nodeType="withEffect">
                                  <p:stCondLst>
                                    <p:cond delay="100"/>
                                  </p:stCondLst>
                                  <p:childTnLst>
                                    <p:set>
                                      <p:cBhvr>
                                        <p:cTn id="45" dur="1" fill="hold">
                                          <p:stCondLst>
                                            <p:cond delay="0"/>
                                          </p:stCondLst>
                                        </p:cTn>
                                        <p:tgtEl>
                                          <p:spTgt spid="18"/>
                                        </p:tgtEl>
                                        <p:attrNameLst>
                                          <p:attrName>style.visibility</p:attrName>
                                        </p:attrNameLst>
                                      </p:cBhvr>
                                      <p:to>
                                        <p:strVal val="visible"/>
                                      </p:to>
                                    </p:set>
                                    <p:anim calcmode="lin" valueType="num">
                                      <p:cBhvr additive="base">
                                        <p:cTn id="46" dur="500" fill="hold"/>
                                        <p:tgtEl>
                                          <p:spTgt spid="18"/>
                                        </p:tgtEl>
                                        <p:attrNameLst>
                                          <p:attrName>ppt_x</p:attrName>
                                        </p:attrNameLst>
                                      </p:cBhvr>
                                      <p:tavLst>
                                        <p:tav tm="0">
                                          <p:val>
                                            <p:strVal val="#ppt_x"/>
                                          </p:val>
                                        </p:tav>
                                        <p:tav tm="100000">
                                          <p:val>
                                            <p:strVal val="#ppt_x"/>
                                          </p:val>
                                        </p:tav>
                                      </p:tavLst>
                                    </p:anim>
                                    <p:anim calcmode="lin" valueType="num">
                                      <p:cBhvr additive="base">
                                        <p:cTn id="47" dur="500" fill="hold"/>
                                        <p:tgtEl>
                                          <p:spTgt spid="18"/>
                                        </p:tgtEl>
                                        <p:attrNameLst>
                                          <p:attrName>ppt_y</p:attrName>
                                        </p:attrNameLst>
                                      </p:cBhvr>
                                      <p:tavLst>
                                        <p:tav tm="0">
                                          <p:val>
                                            <p:strVal val="#ppt_y+0.1"/>
                                          </p:val>
                                        </p:tav>
                                        <p:tav tm="100000">
                                          <p:val>
                                            <p:strVal val="#ppt_y"/>
                                          </p:val>
                                        </p:tav>
                                      </p:tavLst>
                                    </p:anim>
                                    <p:animEffect transition="in" filter="fade">
                                      <p:cBhvr>
                                        <p:cTn id="48" dur="500"/>
                                        <p:tgtEl>
                                          <p:spTgt spid="18"/>
                                        </p:tgtEl>
                                      </p:cBhvr>
                                    </p:animEffect>
                                  </p:childTnLst>
                                </p:cTn>
                              </p:par>
                            </p:childTnLst>
                          </p:cTn>
                        </p:par>
                      </p:childTnLst>
                    </p:cTn>
                  </p:par>
                  <p:par>
                    <p:cTn id="50" fill="hold">
                      <p:stCondLst>
                        <p:cond delay="indefinite"/>
                      </p:stCondLst>
                      <p:childTnLst>
                        <p:par>
                          <p:cTn id="51" fill="hold">
                            <p:stCondLst>
                              <p:cond delay="0"/>
                            </p:stCondLst>
                            <p:childTnLst>
                              <p:par>
                                <p:cTn id="56" presetID="2" presetClass="entr" presetSubtype="4" fill="hold" grpId="0" nodeType="clickEffect">
                                  <p:stCondLst>
                                    <p:cond delay="0"/>
                                  </p:stCondLst>
                                  <p:childTnLst>
                                    <p:set>
                                      <p:cBhvr>
                                        <p:cTn id="52" dur="1" fill="hold">
                                          <p:stCondLst>
                                            <p:cond delay="0"/>
                                          </p:stCondLst>
                                        </p:cTn>
                                        <p:tgtEl>
                                          <p:spTgt spid="22"/>
                                        </p:tgtEl>
                                        <p:attrNameLst>
                                          <p:attrName>style.visibility</p:attrName>
                                        </p:attrNameLst>
                                      </p:cBhvr>
                                      <p:to>
                                        <p:strVal val="visible"/>
                                      </p:to>
                                    </p:set>
                                    <p:anim calcmode="lin" valueType="num">
                                      <p:cBhvr additive="base">
                                        <p:cTn id="53" dur="500" fill="hold"/>
                                        <p:tgtEl>
                                          <p:spTgt spid="22"/>
                                        </p:tgtEl>
                                        <p:attrNameLst>
                                          <p:attrName>ppt_x</p:attrName>
                                        </p:attrNameLst>
                                      </p:cBhvr>
                                      <p:tavLst>
                                        <p:tav tm="0">
                                          <p:val>
                                            <p:strVal val="#ppt_x"/>
                                          </p:val>
                                        </p:tav>
                                        <p:tav tm="100000">
                                          <p:val>
                                            <p:strVal val="#ppt_x"/>
                                          </p:val>
                                        </p:tav>
                                      </p:tavLst>
                                    </p:anim>
                                    <p:anim calcmode="lin" valueType="num">
                                      <p:cBhvr additive="base">
                                        <p:cTn id="54" dur="500" fill="hold"/>
                                        <p:tgtEl>
                                          <p:spTgt spid="22"/>
                                        </p:tgtEl>
                                        <p:attrNameLst>
                                          <p:attrName>ppt_y</p:attrName>
                                        </p:attrNameLst>
                                      </p:cBhvr>
                                      <p:tavLst>
                                        <p:tav tm="0">
                                          <p:val>
                                            <p:strVal val="#ppt_y+0.1"/>
                                          </p:val>
                                        </p:tav>
                                        <p:tav tm="100000">
                                          <p:val>
                                            <p:strVal val="#ppt_y"/>
                                          </p:val>
                                        </p:tav>
                                      </p:tavLst>
                                    </p:anim>
                                    <p:animEffect transition="in" filter="fade">
                                      <p:cBhvr>
                                        <p:cTn id="55" dur="500"/>
                                        <p:tgtEl>
                                          <p:spTgt spid="22"/>
                                        </p:tgtEl>
                                      </p:cBhvr>
                                    </p:animEffect>
                                  </p:childTnLst>
                                </p:cTn>
                              </p:par>
                              <p:par>
                                <p:cTn id="61" presetID="2" presetClass="entr" presetSubtype="4"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 calcmode="lin" valueType="num">
                                      <p:cBhvr additive="base">
                                        <p:cTn id="58" dur="500" fill="hold"/>
                                        <p:tgtEl>
                                          <p:spTgt spid="23"/>
                                        </p:tgtEl>
                                        <p:attrNameLst>
                                          <p:attrName>ppt_x</p:attrName>
                                        </p:attrNameLst>
                                      </p:cBhvr>
                                      <p:tavLst>
                                        <p:tav tm="0">
                                          <p:val>
                                            <p:strVal val="#ppt_x"/>
                                          </p:val>
                                        </p:tav>
                                        <p:tav tm="100000">
                                          <p:val>
                                            <p:strVal val="#ppt_x"/>
                                          </p:val>
                                        </p:tav>
                                      </p:tavLst>
                                    </p:anim>
                                    <p:anim calcmode="lin" valueType="num">
                                      <p:cBhvr additive="base">
                                        <p:cTn id="59" dur="500" fill="hold"/>
                                        <p:tgtEl>
                                          <p:spTgt spid="23"/>
                                        </p:tgtEl>
                                        <p:attrNameLst>
                                          <p:attrName>ppt_y</p:attrName>
                                        </p:attrNameLst>
                                      </p:cBhvr>
                                      <p:tavLst>
                                        <p:tav tm="0">
                                          <p:val>
                                            <p:strVal val="#ppt_y+0.1"/>
                                          </p:val>
                                        </p:tav>
                                        <p:tav tm="100000">
                                          <p:val>
                                            <p:strVal val="#ppt_y"/>
                                          </p:val>
                                        </p:tav>
                                      </p:tavLst>
                                    </p:anim>
                                    <p:animEffect transition="in" filter="fade">
                                      <p:cBhvr>
                                        <p:cTn id="60" dur="500"/>
                                        <p:tgtEl>
                                          <p:spTgt spid="23"/>
                                        </p:tgtEl>
                                      </p:cBhvr>
                                    </p:animEffect>
                                  </p:childTnLst>
                                </p:cTn>
                              </p:par>
                            </p:childTnLst>
                          </p:cTn>
                        </p:par>
                      </p:childTnLst>
                    </p:cTn>
                  </p:par>
                  <p:par>
                    <p:cTn id="62" fill="hold">
                      <p:stCondLst>
                        <p:cond delay="indefinite"/>
                      </p:stCondLst>
                      <p:childTnLst>
                        <p:par>
                          <p:cTn id="63" fill="hold">
                            <p:stCondLst>
                              <p:cond delay="0"/>
                            </p:stCondLst>
                            <p:childTnLst>
                              <p:par>
                                <p:cTn id="68" presetID="2" presetClass="entr" presetSubtype="4" fill="hold" grpId="0" nodeType="clickEffect">
                                  <p:stCondLst>
                                    <p:cond delay="0"/>
                                  </p:stCondLst>
                                  <p:childTnLst>
                                    <p:set>
                                      <p:cBhvr>
                                        <p:cTn id="64" dur="1" fill="hold">
                                          <p:stCondLst>
                                            <p:cond delay="0"/>
                                          </p:stCondLst>
                                        </p:cTn>
                                        <p:tgtEl>
                                          <p:spTgt spid="24"/>
                                        </p:tgtEl>
                                        <p:attrNameLst>
                                          <p:attrName>style.visibility</p:attrName>
                                        </p:attrNameLst>
                                      </p:cBhvr>
                                      <p:to>
                                        <p:strVal val="visible"/>
                                      </p:to>
                                    </p:set>
                                    <p:anim calcmode="lin" valueType="num">
                                      <p:cBhvr additive="base">
                                        <p:cTn id="65" dur="500" fill="hold"/>
                                        <p:tgtEl>
                                          <p:spTgt spid="24"/>
                                        </p:tgtEl>
                                        <p:attrNameLst>
                                          <p:attrName>ppt_x</p:attrName>
                                        </p:attrNameLst>
                                      </p:cBhvr>
                                      <p:tavLst>
                                        <p:tav tm="0">
                                          <p:val>
                                            <p:strVal val="#ppt_x"/>
                                          </p:val>
                                        </p:tav>
                                        <p:tav tm="100000">
                                          <p:val>
                                            <p:strVal val="#ppt_x"/>
                                          </p:val>
                                        </p:tav>
                                      </p:tavLst>
                                    </p:anim>
                                    <p:anim calcmode="lin" valueType="num">
                                      <p:cBhvr additive="base">
                                        <p:cTn id="66" dur="500" fill="hold"/>
                                        <p:tgtEl>
                                          <p:spTgt spid="24"/>
                                        </p:tgtEl>
                                        <p:attrNameLst>
                                          <p:attrName>ppt_y</p:attrName>
                                        </p:attrNameLst>
                                      </p:cBhvr>
                                      <p:tavLst>
                                        <p:tav tm="0">
                                          <p:val>
                                            <p:strVal val="#ppt_y+0.1"/>
                                          </p:val>
                                        </p:tav>
                                        <p:tav tm="100000">
                                          <p:val>
                                            <p:strVal val="#ppt_y"/>
                                          </p:val>
                                        </p:tav>
                                      </p:tavLst>
                                    </p:anim>
                                    <p:animEffect transition="in" filter="fade">
                                      <p:cBhvr>
                                        <p:cTn id="67" dur="500"/>
                                        <p:tgtEl>
                                          <p:spTgt spid="24"/>
                                        </p:tgtEl>
                                      </p:cBhvr>
                                    </p:animEffect>
                                  </p:childTnLst>
                                </p:cTn>
                              </p:par>
                              <p:par>
                                <p:cTn id="73" presetID="2" presetClass="entr" presetSubtype="4" fill="hold" grpId="0" nodeType="withEffect">
                                  <p:stCondLst>
                                    <p:cond delay="150"/>
                                  </p:stCondLst>
                                  <p:childTnLst>
                                    <p:set>
                                      <p:cBhvr>
                                        <p:cTn id="69" dur="1" fill="hold">
                                          <p:stCondLst>
                                            <p:cond delay="0"/>
                                          </p:stCondLst>
                                        </p:cTn>
                                        <p:tgtEl>
                                          <p:spTgt spid="25"/>
                                        </p:tgtEl>
                                        <p:attrNameLst>
                                          <p:attrName>style.visibility</p:attrName>
                                        </p:attrNameLst>
                                      </p:cBhvr>
                                      <p:to>
                                        <p:strVal val="visible"/>
                                      </p:to>
                                    </p:set>
                                    <p:anim calcmode="lin" valueType="num">
                                      <p:cBhvr additive="base">
                                        <p:cTn id="70" dur="500" fill="hold"/>
                                        <p:tgtEl>
                                          <p:spTgt spid="25"/>
                                        </p:tgtEl>
                                        <p:attrNameLst>
                                          <p:attrName>ppt_x</p:attrName>
                                        </p:attrNameLst>
                                      </p:cBhvr>
                                      <p:tavLst>
                                        <p:tav tm="0">
                                          <p:val>
                                            <p:strVal val="#ppt_x"/>
                                          </p:val>
                                        </p:tav>
                                        <p:tav tm="100000">
                                          <p:val>
                                            <p:strVal val="#ppt_x"/>
                                          </p:val>
                                        </p:tav>
                                      </p:tavLst>
                                    </p:anim>
                                    <p:anim calcmode="lin" valueType="num">
                                      <p:cBhvr additive="base">
                                        <p:cTn id="71" dur="500" fill="hold"/>
                                        <p:tgtEl>
                                          <p:spTgt spid="25"/>
                                        </p:tgtEl>
                                        <p:attrNameLst>
                                          <p:attrName>ppt_y</p:attrName>
                                        </p:attrNameLst>
                                      </p:cBhvr>
                                      <p:tavLst>
                                        <p:tav tm="0">
                                          <p:val>
                                            <p:strVal val="#ppt_y+0.1"/>
                                          </p:val>
                                        </p:tav>
                                        <p:tav tm="100000">
                                          <p:val>
                                            <p:strVal val="#ppt_y"/>
                                          </p:val>
                                        </p:tav>
                                      </p:tavLst>
                                    </p:anim>
                                    <p:animEffect transition="in" filter="fade">
                                      <p:cBhvr>
                                        <p:cTn id="72" dur="500"/>
                                        <p:tgtEl>
                                          <p:spTgt spid="25"/>
                                        </p:tgtEl>
                                      </p:cBhvr>
                                    </p:animEffect>
                                  </p:childTnLst>
                                </p:cTn>
                              </p:par>
                              <p:par>
                                <p:cTn id="78" presetID="2" presetClass="entr" presetSubtype="4" fill="hold" grpId="0" nodeType="withEffect">
                                  <p:stCondLst>
                                    <p:cond delay="300"/>
                                  </p:stCondLst>
                                  <p:childTnLst>
                                    <p:set>
                                      <p:cBhvr>
                                        <p:cTn id="74" dur="1" fill="hold">
                                          <p:stCondLst>
                                            <p:cond delay="0"/>
                                          </p:stCondLst>
                                        </p:cTn>
                                        <p:tgtEl>
                                          <p:spTgt spid="26"/>
                                        </p:tgtEl>
                                        <p:attrNameLst>
                                          <p:attrName>style.visibility</p:attrName>
                                        </p:attrNameLst>
                                      </p:cBhvr>
                                      <p:to>
                                        <p:strVal val="visible"/>
                                      </p:to>
                                    </p:set>
                                    <p:anim calcmode="lin" valueType="num">
                                      <p:cBhvr additive="base">
                                        <p:cTn id="75" dur="500" fill="hold"/>
                                        <p:tgtEl>
                                          <p:spTgt spid="26"/>
                                        </p:tgtEl>
                                        <p:attrNameLst>
                                          <p:attrName>ppt_x</p:attrName>
                                        </p:attrNameLst>
                                      </p:cBhvr>
                                      <p:tavLst>
                                        <p:tav tm="0">
                                          <p:val>
                                            <p:strVal val="#ppt_x"/>
                                          </p:val>
                                        </p:tav>
                                        <p:tav tm="100000">
                                          <p:val>
                                            <p:strVal val="#ppt_x"/>
                                          </p:val>
                                        </p:tav>
                                      </p:tavLst>
                                    </p:anim>
                                    <p:anim calcmode="lin" valueType="num">
                                      <p:cBhvr additive="base">
                                        <p:cTn id="76" dur="500" fill="hold"/>
                                        <p:tgtEl>
                                          <p:spTgt spid="26"/>
                                        </p:tgtEl>
                                        <p:attrNameLst>
                                          <p:attrName>ppt_y</p:attrName>
                                        </p:attrNameLst>
                                      </p:cBhvr>
                                      <p:tavLst>
                                        <p:tav tm="0">
                                          <p:val>
                                            <p:strVal val="#ppt_y+0.1"/>
                                          </p:val>
                                        </p:tav>
                                        <p:tav tm="100000">
                                          <p:val>
                                            <p:strVal val="#ppt_y"/>
                                          </p:val>
                                        </p:tav>
                                      </p:tavLst>
                                    </p:anim>
                                    <p:animEffect transition="in" filter="fade">
                                      <p:cBhvr>
                                        <p:cTn id="77" dur="500"/>
                                        <p:tgtEl>
                                          <p:spTgt spid="26"/>
                                        </p:tgtEl>
                                      </p:cBhvr>
                                    </p:animEffect>
                                  </p:childTnLst>
                                </p:cTn>
                              </p:par>
                            </p:childTnLst>
                          </p:cTn>
                        </p:par>
                      </p:childTnLst>
                    </p:cTn>
                  </p:par>
                  <p:par>
                    <p:cTn id="79" fill="hold">
                      <p:stCondLst>
                        <p:cond delay="indefinite"/>
                      </p:stCondLst>
                      <p:childTnLst>
                        <p:par>
                          <p:cTn id="80" fill="hold">
                            <p:stCondLst>
                              <p:cond delay="0"/>
                            </p:stCondLst>
                            <p:childTnLst>
                              <p:par>
                                <p:cTn id="85" presetID="2" presetClass="entr" presetSubtype="4" fill="hold" grpId="0" nodeType="clickEffect">
                                  <p:stCondLst>
                                    <p:cond delay="0"/>
                                  </p:stCondLst>
                                  <p:childTnLst>
                                    <p:set>
                                      <p:cBhvr>
                                        <p:cTn id="81" dur="1" fill="hold">
                                          <p:stCondLst>
                                            <p:cond delay="0"/>
                                          </p:stCondLst>
                                        </p:cTn>
                                        <p:tgtEl>
                                          <p:spTgt spid="27"/>
                                        </p:tgtEl>
                                        <p:attrNameLst>
                                          <p:attrName>style.visibility</p:attrName>
                                        </p:attrNameLst>
                                      </p:cBhvr>
                                      <p:to>
                                        <p:strVal val="visible"/>
                                      </p:to>
                                    </p:set>
                                    <p:anim calcmode="lin" valueType="num">
                                      <p:cBhvr additive="base">
                                        <p:cTn id="82" dur="500" fill="hold"/>
                                        <p:tgtEl>
                                          <p:spTgt spid="27"/>
                                        </p:tgtEl>
                                        <p:attrNameLst>
                                          <p:attrName>ppt_x</p:attrName>
                                        </p:attrNameLst>
                                      </p:cBhvr>
                                      <p:tavLst>
                                        <p:tav tm="0">
                                          <p:val>
                                            <p:strVal val="#ppt_x"/>
                                          </p:val>
                                        </p:tav>
                                        <p:tav tm="100000">
                                          <p:val>
                                            <p:strVal val="#ppt_x"/>
                                          </p:val>
                                        </p:tav>
                                      </p:tavLst>
                                    </p:anim>
                                    <p:anim calcmode="lin" valueType="num">
                                      <p:cBhvr additive="base">
                                        <p:cTn id="83" dur="500" fill="hold"/>
                                        <p:tgtEl>
                                          <p:spTgt spid="27"/>
                                        </p:tgtEl>
                                        <p:attrNameLst>
                                          <p:attrName>ppt_y</p:attrName>
                                        </p:attrNameLst>
                                      </p:cBhvr>
                                      <p:tavLst>
                                        <p:tav tm="0">
                                          <p:val>
                                            <p:strVal val="#ppt_y+0.1"/>
                                          </p:val>
                                        </p:tav>
                                        <p:tav tm="100000">
                                          <p:val>
                                            <p:strVal val="#ppt_y"/>
                                          </p:val>
                                        </p:tav>
                                      </p:tavLst>
                                    </p:anim>
                                    <p:animEffect transition="in" filter="fade">
                                      <p:cBhvr>
                                        <p:cTn id="84" dur="500"/>
                                        <p:tgtEl>
                                          <p:spTgt spid="27"/>
                                        </p:tgtEl>
                                      </p:cBhvr>
                                    </p:animEffect>
                                  </p:childTnLst>
                                </p:cTn>
                              </p:par>
                              <p:par>
                                <p:cTn id="90" presetID="2" presetClass="entr" presetSubtype="4" fill="hold" grpId="0" nodeType="withEffect">
                                  <p:stCondLst>
                                    <p:cond delay="0"/>
                                  </p:stCondLst>
                                  <p:childTnLst>
                                    <p:set>
                                      <p:cBhvr>
                                        <p:cTn id="86" dur="1" fill="hold">
                                          <p:stCondLst>
                                            <p:cond delay="0"/>
                                          </p:stCondLst>
                                        </p:cTn>
                                        <p:tgtEl>
                                          <p:spTgt spid="28"/>
                                        </p:tgtEl>
                                        <p:attrNameLst>
                                          <p:attrName>style.visibility</p:attrName>
                                        </p:attrNameLst>
                                      </p:cBhvr>
                                      <p:to>
                                        <p:strVal val="visible"/>
                                      </p:to>
                                    </p:set>
                                    <p:anim calcmode="lin" valueType="num">
                                      <p:cBhvr additive="base">
                                        <p:cTn id="87" dur="500" fill="hold"/>
                                        <p:tgtEl>
                                          <p:spTgt spid="28"/>
                                        </p:tgtEl>
                                        <p:attrNameLst>
                                          <p:attrName>ppt_x</p:attrName>
                                        </p:attrNameLst>
                                      </p:cBhvr>
                                      <p:tavLst>
                                        <p:tav tm="0">
                                          <p:val>
                                            <p:strVal val="#ppt_x"/>
                                          </p:val>
                                        </p:tav>
                                        <p:tav tm="100000">
                                          <p:val>
                                            <p:strVal val="#ppt_x"/>
                                          </p:val>
                                        </p:tav>
                                      </p:tavLst>
                                    </p:anim>
                                    <p:anim calcmode="lin" valueType="num">
                                      <p:cBhvr additive="base">
                                        <p:cTn id="88" dur="500" fill="hold"/>
                                        <p:tgtEl>
                                          <p:spTgt spid="28"/>
                                        </p:tgtEl>
                                        <p:attrNameLst>
                                          <p:attrName>ppt_y</p:attrName>
                                        </p:attrNameLst>
                                      </p:cBhvr>
                                      <p:tavLst>
                                        <p:tav tm="0">
                                          <p:val>
                                            <p:strVal val="#ppt_y+0.1"/>
                                          </p:val>
                                        </p:tav>
                                        <p:tav tm="100000">
                                          <p:val>
                                            <p:strVal val="#ppt_y"/>
                                          </p:val>
                                        </p:tav>
                                      </p:tavLst>
                                    </p:anim>
                                    <p:animEffect transition="in" filter="fade">
                                      <p:cBhvr>
                                        <p:cTn id="89" dur="500"/>
                                        <p:tgtEl>
                                          <p:spTgt spid="28"/>
                                        </p:tgtEl>
                                      </p:cBhvr>
                                    </p:animEffect>
                                  </p:childTnLst>
                                </p:cTn>
                              </p:par>
                              <p:par>
                                <p:cTn id="95" presetID="2" presetClass="entr" presetSubtype="4" fill="hold" grpId="0" nodeType="withEffect">
                                  <p:stCondLst>
                                    <p:cond delay="120"/>
                                  </p:stCondLst>
                                  <p:childTnLst>
                                    <p:set>
                                      <p:cBhvr>
                                        <p:cTn id="91" dur="1" fill="hold">
                                          <p:stCondLst>
                                            <p:cond delay="0"/>
                                          </p:stCondLst>
                                        </p:cTn>
                                        <p:tgtEl>
                                          <p:spTgt spid="29"/>
                                        </p:tgtEl>
                                        <p:attrNameLst>
                                          <p:attrName>style.visibility</p:attrName>
                                        </p:attrNameLst>
                                      </p:cBhvr>
                                      <p:to>
                                        <p:strVal val="visible"/>
                                      </p:to>
                                    </p:set>
                                    <p:anim calcmode="lin" valueType="num">
                                      <p:cBhvr additive="base">
                                        <p:cTn id="92" dur="500" fill="hold"/>
                                        <p:tgtEl>
                                          <p:spTgt spid="29"/>
                                        </p:tgtEl>
                                        <p:attrNameLst>
                                          <p:attrName>ppt_x</p:attrName>
                                        </p:attrNameLst>
                                      </p:cBhvr>
                                      <p:tavLst>
                                        <p:tav tm="0">
                                          <p:val>
                                            <p:strVal val="#ppt_x"/>
                                          </p:val>
                                        </p:tav>
                                        <p:tav tm="100000">
                                          <p:val>
                                            <p:strVal val="#ppt_x"/>
                                          </p:val>
                                        </p:tav>
                                      </p:tavLst>
                                    </p:anim>
                                    <p:anim calcmode="lin" valueType="num">
                                      <p:cBhvr additive="base">
                                        <p:cTn id="93" dur="500" fill="hold"/>
                                        <p:tgtEl>
                                          <p:spTgt spid="29"/>
                                        </p:tgtEl>
                                        <p:attrNameLst>
                                          <p:attrName>ppt_y</p:attrName>
                                        </p:attrNameLst>
                                      </p:cBhvr>
                                      <p:tavLst>
                                        <p:tav tm="0">
                                          <p:val>
                                            <p:strVal val="#ppt_y+0.1"/>
                                          </p:val>
                                        </p:tav>
                                        <p:tav tm="100000">
                                          <p:val>
                                            <p:strVal val="#ppt_y"/>
                                          </p:val>
                                        </p:tav>
                                      </p:tavLst>
                                    </p:anim>
                                    <p:animEffect transition="in" filter="fade">
                                      <p:cBhvr>
                                        <p:cTn id="94" dur="500"/>
                                        <p:tgtEl>
                                          <p:spTgt spid="29"/>
                                        </p:tgtEl>
                                      </p:cBhvr>
                                    </p:animEffect>
                                  </p:childTnLst>
                                </p:cTn>
                              </p:par>
                              <p:par>
                                <p:cTn id="100" presetID="2" presetClass="entr" presetSubtype="4" fill="hold" grpId="0" nodeType="withEffect">
                                  <p:stCondLst>
                                    <p:cond delay="120"/>
                                  </p:stCondLst>
                                  <p:childTnLst>
                                    <p:set>
                                      <p:cBhvr>
                                        <p:cTn id="96" dur="1" fill="hold">
                                          <p:stCondLst>
                                            <p:cond delay="0"/>
                                          </p:stCondLst>
                                        </p:cTn>
                                        <p:tgtEl>
                                          <p:spTgt spid="30"/>
                                        </p:tgtEl>
                                        <p:attrNameLst>
                                          <p:attrName>style.visibility</p:attrName>
                                        </p:attrNameLst>
                                      </p:cBhvr>
                                      <p:to>
                                        <p:strVal val="visible"/>
                                      </p:to>
                                    </p:set>
                                    <p:anim calcmode="lin" valueType="num">
                                      <p:cBhvr additive="base">
                                        <p:cTn id="97" dur="500" fill="hold"/>
                                        <p:tgtEl>
                                          <p:spTgt spid="30"/>
                                        </p:tgtEl>
                                        <p:attrNameLst>
                                          <p:attrName>ppt_x</p:attrName>
                                        </p:attrNameLst>
                                      </p:cBhvr>
                                      <p:tavLst>
                                        <p:tav tm="0">
                                          <p:val>
                                            <p:strVal val="#ppt_x"/>
                                          </p:val>
                                        </p:tav>
                                        <p:tav tm="100000">
                                          <p:val>
                                            <p:strVal val="#ppt_x"/>
                                          </p:val>
                                        </p:tav>
                                      </p:tavLst>
                                    </p:anim>
                                    <p:anim calcmode="lin" valueType="num">
                                      <p:cBhvr additive="base">
                                        <p:cTn id="98" dur="500" fill="hold"/>
                                        <p:tgtEl>
                                          <p:spTgt spid="30"/>
                                        </p:tgtEl>
                                        <p:attrNameLst>
                                          <p:attrName>ppt_y</p:attrName>
                                        </p:attrNameLst>
                                      </p:cBhvr>
                                      <p:tavLst>
                                        <p:tav tm="0">
                                          <p:val>
                                            <p:strVal val="#ppt_y+0.1"/>
                                          </p:val>
                                        </p:tav>
                                        <p:tav tm="100000">
                                          <p:val>
                                            <p:strVal val="#ppt_y"/>
                                          </p:val>
                                        </p:tav>
                                      </p:tavLst>
                                    </p:anim>
                                    <p:animEffect transition="in" filter="fade">
                                      <p:cBhvr>
                                        <p:cTn id="99" dur="500"/>
                                        <p:tgtEl>
                                          <p:spTgt spid="30"/>
                                        </p:tgtEl>
                                      </p:cBhvr>
                                    </p:animEffect>
                                  </p:childTnLst>
                                </p:cTn>
                              </p:par>
                              <p:par>
                                <p:cTn id="105" presetID="2" presetClass="entr" presetSubtype="4" fill="hold" grpId="0" nodeType="withEffect">
                                  <p:stCondLst>
                                    <p:cond delay="240"/>
                                  </p:stCondLst>
                                  <p:childTnLst>
                                    <p:set>
                                      <p:cBhvr>
                                        <p:cTn id="101" dur="1" fill="hold">
                                          <p:stCondLst>
                                            <p:cond delay="0"/>
                                          </p:stCondLst>
                                        </p:cTn>
                                        <p:tgtEl>
                                          <p:spTgt spid="31"/>
                                        </p:tgtEl>
                                        <p:attrNameLst>
                                          <p:attrName>style.visibility</p:attrName>
                                        </p:attrNameLst>
                                      </p:cBhvr>
                                      <p:to>
                                        <p:strVal val="visible"/>
                                      </p:to>
                                    </p:set>
                                    <p:anim calcmode="lin" valueType="num">
                                      <p:cBhvr additive="base">
                                        <p:cTn id="102" dur="500" fill="hold"/>
                                        <p:tgtEl>
                                          <p:spTgt spid="31"/>
                                        </p:tgtEl>
                                        <p:attrNameLst>
                                          <p:attrName>ppt_x</p:attrName>
                                        </p:attrNameLst>
                                      </p:cBhvr>
                                      <p:tavLst>
                                        <p:tav tm="0">
                                          <p:val>
                                            <p:strVal val="#ppt_x"/>
                                          </p:val>
                                        </p:tav>
                                        <p:tav tm="100000">
                                          <p:val>
                                            <p:strVal val="#ppt_x"/>
                                          </p:val>
                                        </p:tav>
                                      </p:tavLst>
                                    </p:anim>
                                    <p:anim calcmode="lin" valueType="num">
                                      <p:cBhvr additive="base">
                                        <p:cTn id="103" dur="500" fill="hold"/>
                                        <p:tgtEl>
                                          <p:spTgt spid="31"/>
                                        </p:tgtEl>
                                        <p:attrNameLst>
                                          <p:attrName>ppt_y</p:attrName>
                                        </p:attrNameLst>
                                      </p:cBhvr>
                                      <p:tavLst>
                                        <p:tav tm="0">
                                          <p:val>
                                            <p:strVal val="#ppt_y+0.1"/>
                                          </p:val>
                                        </p:tav>
                                        <p:tav tm="100000">
                                          <p:val>
                                            <p:strVal val="#ppt_y"/>
                                          </p:val>
                                        </p:tav>
                                      </p:tavLst>
                                    </p:anim>
                                    <p:animEffect transition="in" filter="fade">
                                      <p:cBhvr>
                                        <p:cTn id="104" dur="500"/>
                                        <p:tgtEl>
                                          <p:spTgt spid="31"/>
                                        </p:tgtEl>
                                      </p:cBhvr>
                                    </p:animEffect>
                                  </p:childTnLst>
                                </p:cTn>
                              </p:par>
                              <p:par>
                                <p:cTn id="110" presetID="2" presetClass="entr" presetSubtype="4" fill="hold" grpId="0" nodeType="withEffect">
                                  <p:stCondLst>
                                    <p:cond delay="240"/>
                                  </p:stCondLst>
                                  <p:childTnLst>
                                    <p:set>
                                      <p:cBhvr>
                                        <p:cTn id="106" dur="1" fill="hold">
                                          <p:stCondLst>
                                            <p:cond delay="0"/>
                                          </p:stCondLst>
                                        </p:cTn>
                                        <p:tgtEl>
                                          <p:spTgt spid="32"/>
                                        </p:tgtEl>
                                        <p:attrNameLst>
                                          <p:attrName>style.visibility</p:attrName>
                                        </p:attrNameLst>
                                      </p:cBhvr>
                                      <p:to>
                                        <p:strVal val="visible"/>
                                      </p:to>
                                    </p:set>
                                    <p:anim calcmode="lin" valueType="num">
                                      <p:cBhvr additive="base">
                                        <p:cTn id="107" dur="500" fill="hold"/>
                                        <p:tgtEl>
                                          <p:spTgt spid="32"/>
                                        </p:tgtEl>
                                        <p:attrNameLst>
                                          <p:attrName>ppt_x</p:attrName>
                                        </p:attrNameLst>
                                      </p:cBhvr>
                                      <p:tavLst>
                                        <p:tav tm="0">
                                          <p:val>
                                            <p:strVal val="#ppt_x"/>
                                          </p:val>
                                        </p:tav>
                                        <p:tav tm="100000">
                                          <p:val>
                                            <p:strVal val="#ppt_x"/>
                                          </p:val>
                                        </p:tav>
                                      </p:tavLst>
                                    </p:anim>
                                    <p:anim calcmode="lin" valueType="num">
                                      <p:cBhvr additive="base">
                                        <p:cTn id="108" dur="500" fill="hold"/>
                                        <p:tgtEl>
                                          <p:spTgt spid="32"/>
                                        </p:tgtEl>
                                        <p:attrNameLst>
                                          <p:attrName>ppt_y</p:attrName>
                                        </p:attrNameLst>
                                      </p:cBhvr>
                                      <p:tavLst>
                                        <p:tav tm="0">
                                          <p:val>
                                            <p:strVal val="#ppt_y+0.1"/>
                                          </p:val>
                                        </p:tav>
                                        <p:tav tm="100000">
                                          <p:val>
                                            <p:strVal val="#ppt_y"/>
                                          </p:val>
                                        </p:tav>
                                      </p:tavLst>
                                    </p:anim>
                                    <p:animEffect transition="in" filter="fade">
                                      <p:cBhvr>
                                        <p:cTn id="109" dur="500"/>
                                        <p:tgtEl>
                                          <p:spTgt spid="32"/>
                                        </p:tgtEl>
                                      </p:cBhvr>
                                    </p:animEffect>
                                  </p:childTnLst>
                                </p:cTn>
                              </p:par>
                              <p:par>
                                <p:cTn id="115" presetID="2" presetClass="entr" presetSubtype="4" fill="hold" grpId="0" nodeType="withEffect">
                                  <p:stCondLst>
                                    <p:cond delay="360"/>
                                  </p:stCondLst>
                                  <p:childTnLst>
                                    <p:set>
                                      <p:cBhvr>
                                        <p:cTn id="111" dur="1" fill="hold">
                                          <p:stCondLst>
                                            <p:cond delay="0"/>
                                          </p:stCondLst>
                                        </p:cTn>
                                        <p:tgtEl>
                                          <p:spTgt spid="33"/>
                                        </p:tgtEl>
                                        <p:attrNameLst>
                                          <p:attrName>style.visibility</p:attrName>
                                        </p:attrNameLst>
                                      </p:cBhvr>
                                      <p:to>
                                        <p:strVal val="visible"/>
                                      </p:to>
                                    </p:set>
                                    <p:anim calcmode="lin" valueType="num">
                                      <p:cBhvr additive="base">
                                        <p:cTn id="112" dur="500" fill="hold"/>
                                        <p:tgtEl>
                                          <p:spTgt spid="33"/>
                                        </p:tgtEl>
                                        <p:attrNameLst>
                                          <p:attrName>ppt_x</p:attrName>
                                        </p:attrNameLst>
                                      </p:cBhvr>
                                      <p:tavLst>
                                        <p:tav tm="0">
                                          <p:val>
                                            <p:strVal val="#ppt_x"/>
                                          </p:val>
                                        </p:tav>
                                        <p:tav tm="100000">
                                          <p:val>
                                            <p:strVal val="#ppt_x"/>
                                          </p:val>
                                        </p:tav>
                                      </p:tavLst>
                                    </p:anim>
                                    <p:anim calcmode="lin" valueType="num">
                                      <p:cBhvr additive="base">
                                        <p:cTn id="113" dur="500" fill="hold"/>
                                        <p:tgtEl>
                                          <p:spTgt spid="33"/>
                                        </p:tgtEl>
                                        <p:attrNameLst>
                                          <p:attrName>ppt_y</p:attrName>
                                        </p:attrNameLst>
                                      </p:cBhvr>
                                      <p:tavLst>
                                        <p:tav tm="0">
                                          <p:val>
                                            <p:strVal val="#ppt_y+0.1"/>
                                          </p:val>
                                        </p:tav>
                                        <p:tav tm="100000">
                                          <p:val>
                                            <p:strVal val="#ppt_y"/>
                                          </p:val>
                                        </p:tav>
                                      </p:tavLst>
                                    </p:anim>
                                    <p:animEffect transition="in" filter="fade">
                                      <p:cBhvr>
                                        <p:cTn id="114" dur="500"/>
                                        <p:tgtEl>
                                          <p:spTgt spid="33"/>
                                        </p:tgtEl>
                                      </p:cBhvr>
                                    </p:animEffect>
                                  </p:childTnLst>
                                </p:cTn>
                              </p:par>
                              <p:par>
                                <p:cTn id="120" presetID="2" presetClass="entr" presetSubtype="4" fill="hold" grpId="0" nodeType="withEffect">
                                  <p:stCondLst>
                                    <p:cond delay="360"/>
                                  </p:stCondLst>
                                  <p:childTnLst>
                                    <p:set>
                                      <p:cBhvr>
                                        <p:cTn id="116" dur="1" fill="hold">
                                          <p:stCondLst>
                                            <p:cond delay="0"/>
                                          </p:stCondLst>
                                        </p:cTn>
                                        <p:tgtEl>
                                          <p:spTgt spid="34"/>
                                        </p:tgtEl>
                                        <p:attrNameLst>
                                          <p:attrName>style.visibility</p:attrName>
                                        </p:attrNameLst>
                                      </p:cBhvr>
                                      <p:to>
                                        <p:strVal val="visible"/>
                                      </p:to>
                                    </p:set>
                                    <p:anim calcmode="lin" valueType="num">
                                      <p:cBhvr additive="base">
                                        <p:cTn id="117" dur="500" fill="hold"/>
                                        <p:tgtEl>
                                          <p:spTgt spid="34"/>
                                        </p:tgtEl>
                                        <p:attrNameLst>
                                          <p:attrName>ppt_x</p:attrName>
                                        </p:attrNameLst>
                                      </p:cBhvr>
                                      <p:tavLst>
                                        <p:tav tm="0">
                                          <p:val>
                                            <p:strVal val="#ppt_x"/>
                                          </p:val>
                                        </p:tav>
                                        <p:tav tm="100000">
                                          <p:val>
                                            <p:strVal val="#ppt_x"/>
                                          </p:val>
                                        </p:tav>
                                      </p:tavLst>
                                    </p:anim>
                                    <p:anim calcmode="lin" valueType="num">
                                      <p:cBhvr additive="base">
                                        <p:cTn id="118" dur="500" fill="hold"/>
                                        <p:tgtEl>
                                          <p:spTgt spid="34"/>
                                        </p:tgtEl>
                                        <p:attrNameLst>
                                          <p:attrName>ppt_y</p:attrName>
                                        </p:attrNameLst>
                                      </p:cBhvr>
                                      <p:tavLst>
                                        <p:tav tm="0">
                                          <p:val>
                                            <p:strVal val="#ppt_y+0.1"/>
                                          </p:val>
                                        </p:tav>
                                        <p:tav tm="100000">
                                          <p:val>
                                            <p:strVal val="#ppt_y"/>
                                          </p:val>
                                        </p:tav>
                                      </p:tavLst>
                                    </p:anim>
                                    <p:animEffect transition="in" filter="fade">
                                      <p:cBhvr>
                                        <p:cTn id="119" dur="500"/>
                                        <p:tgtEl>
                                          <p:spTgt spid="34"/>
                                        </p:tgtEl>
                                      </p:cBhvr>
                                    </p:animEffect>
                                  </p:childTnLst>
                                </p:cTn>
                              </p:par>
                            </p:childTnLst>
                          </p:cTn>
                        </p:par>
                      </p:childTnLst>
                    </p:cTn>
                  </p:par>
                  <p:par>
                    <p:cTn id="121" fill="hold">
                      <p:stCondLst>
                        <p:cond delay="indefinite"/>
                      </p:stCondLst>
                      <p:childTnLst>
                        <p:par>
                          <p:cTn id="122" fill="hold">
                            <p:stCondLst>
                              <p:cond delay="0"/>
                            </p:stCondLst>
                            <p:childTnLst>
                              <p:par>
                                <p:cTn id="127" presetID="2" presetClass="entr" presetSubtype="4" fill="hold" grpId="0" nodeType="clickEffect">
                                  <p:stCondLst>
                                    <p:cond delay="0"/>
                                  </p:stCondLst>
                                  <p:childTnLst>
                                    <p:set>
                                      <p:cBhvr>
                                        <p:cTn id="123" dur="1" fill="hold">
                                          <p:stCondLst>
                                            <p:cond delay="0"/>
                                          </p:stCondLst>
                                        </p:cTn>
                                        <p:tgtEl>
                                          <p:spTgt spid="35"/>
                                        </p:tgtEl>
                                        <p:attrNameLst>
                                          <p:attrName>style.visibility</p:attrName>
                                        </p:attrNameLst>
                                      </p:cBhvr>
                                      <p:to>
                                        <p:strVal val="visible"/>
                                      </p:to>
                                    </p:set>
                                    <p:anim calcmode="lin" valueType="num">
                                      <p:cBhvr additive="base">
                                        <p:cTn id="124" dur="500" fill="hold"/>
                                        <p:tgtEl>
                                          <p:spTgt spid="35"/>
                                        </p:tgtEl>
                                        <p:attrNameLst>
                                          <p:attrName>ppt_x</p:attrName>
                                        </p:attrNameLst>
                                      </p:cBhvr>
                                      <p:tavLst>
                                        <p:tav tm="0">
                                          <p:val>
                                            <p:strVal val="#ppt_x"/>
                                          </p:val>
                                        </p:tav>
                                        <p:tav tm="100000">
                                          <p:val>
                                            <p:strVal val="#ppt_x"/>
                                          </p:val>
                                        </p:tav>
                                      </p:tavLst>
                                    </p:anim>
                                    <p:anim calcmode="lin" valueType="num">
                                      <p:cBhvr additive="base">
                                        <p:cTn id="125" dur="500" fill="hold"/>
                                        <p:tgtEl>
                                          <p:spTgt spid="35"/>
                                        </p:tgtEl>
                                        <p:attrNameLst>
                                          <p:attrName>ppt_y</p:attrName>
                                        </p:attrNameLst>
                                      </p:cBhvr>
                                      <p:tavLst>
                                        <p:tav tm="0">
                                          <p:val>
                                            <p:strVal val="#ppt_y+0.1"/>
                                          </p:val>
                                        </p:tav>
                                        <p:tav tm="100000">
                                          <p:val>
                                            <p:strVal val="#ppt_y"/>
                                          </p:val>
                                        </p:tav>
                                      </p:tavLst>
                                    </p:anim>
                                    <p:animEffect transition="in" filter="fade">
                                      <p:cBhvr>
                                        <p:cTn id="126" dur="500"/>
                                        <p:tgtEl>
                                          <p:spTgt spid="35"/>
                                        </p:tgtEl>
                                      </p:cBhvr>
                                    </p:animEffect>
                                  </p:childTnLst>
                                </p:cTn>
                              </p:par>
                              <p:par>
                                <p:cTn id="132" presetID="2" presetClass="entr" presetSubtype="4" fill="hold" grpId="0" nodeType="withEffect">
                                  <p:stCondLst>
                                    <p:cond delay="0"/>
                                  </p:stCondLst>
                                  <p:childTnLst>
                                    <p:set>
                                      <p:cBhvr>
                                        <p:cTn id="128" dur="1" fill="hold">
                                          <p:stCondLst>
                                            <p:cond delay="0"/>
                                          </p:stCondLst>
                                        </p:cTn>
                                        <p:tgtEl>
                                          <p:spTgt spid="36"/>
                                        </p:tgtEl>
                                        <p:attrNameLst>
                                          <p:attrName>style.visibility</p:attrName>
                                        </p:attrNameLst>
                                      </p:cBhvr>
                                      <p:to>
                                        <p:strVal val="visible"/>
                                      </p:to>
                                    </p:set>
                                    <p:anim calcmode="lin" valueType="num">
                                      <p:cBhvr additive="base">
                                        <p:cTn id="129" dur="500" fill="hold"/>
                                        <p:tgtEl>
                                          <p:spTgt spid="36"/>
                                        </p:tgtEl>
                                        <p:attrNameLst>
                                          <p:attrName>ppt_x</p:attrName>
                                        </p:attrNameLst>
                                      </p:cBhvr>
                                      <p:tavLst>
                                        <p:tav tm="0">
                                          <p:val>
                                            <p:strVal val="#ppt_x"/>
                                          </p:val>
                                        </p:tav>
                                        <p:tav tm="100000">
                                          <p:val>
                                            <p:strVal val="#ppt_x"/>
                                          </p:val>
                                        </p:tav>
                                      </p:tavLst>
                                    </p:anim>
                                    <p:anim calcmode="lin" valueType="num">
                                      <p:cBhvr additive="base">
                                        <p:cTn id="130" dur="500" fill="hold"/>
                                        <p:tgtEl>
                                          <p:spTgt spid="36"/>
                                        </p:tgtEl>
                                        <p:attrNameLst>
                                          <p:attrName>ppt_y</p:attrName>
                                        </p:attrNameLst>
                                      </p:cBhvr>
                                      <p:tavLst>
                                        <p:tav tm="0">
                                          <p:val>
                                            <p:strVal val="#ppt_y+0.1"/>
                                          </p:val>
                                        </p:tav>
                                        <p:tav tm="100000">
                                          <p:val>
                                            <p:strVal val="#ppt_y"/>
                                          </p:val>
                                        </p:tav>
                                      </p:tavLst>
                                    </p:anim>
                                    <p:animEffect transition="in" filter="fade">
                                      <p:cBhvr>
                                        <p:cTn id="131" dur="500"/>
                                        <p:tgtEl>
                                          <p:spTgt spid="36"/>
                                        </p:tgtEl>
                                      </p:cBhvr>
                                    </p:animEffect>
                                  </p:childTnLst>
                                </p:cTn>
                              </p:par>
                              <p:par>
                                <p:cTn id="137" presetID="2" presetClass="entr" presetSubtype="4" fill="hold" grpId="0" nodeType="withEffect">
                                  <p:stCondLst>
                                    <p:cond delay="0"/>
                                  </p:stCondLst>
                                  <p:childTnLst>
                                    <p:set>
                                      <p:cBhvr>
                                        <p:cTn id="133" dur="1" fill="hold">
                                          <p:stCondLst>
                                            <p:cond delay="0"/>
                                          </p:stCondLst>
                                        </p:cTn>
                                        <p:tgtEl>
                                          <p:spTgt spid="37"/>
                                        </p:tgtEl>
                                        <p:attrNameLst>
                                          <p:attrName>style.visibility</p:attrName>
                                        </p:attrNameLst>
                                      </p:cBhvr>
                                      <p:to>
                                        <p:strVal val="visible"/>
                                      </p:to>
                                    </p:set>
                                    <p:anim calcmode="lin" valueType="num">
                                      <p:cBhvr additive="base">
                                        <p:cTn id="134" dur="500" fill="hold"/>
                                        <p:tgtEl>
                                          <p:spTgt spid="37"/>
                                        </p:tgtEl>
                                        <p:attrNameLst>
                                          <p:attrName>ppt_x</p:attrName>
                                        </p:attrNameLst>
                                      </p:cBhvr>
                                      <p:tavLst>
                                        <p:tav tm="0">
                                          <p:val>
                                            <p:strVal val="#ppt_x"/>
                                          </p:val>
                                        </p:tav>
                                        <p:tav tm="100000">
                                          <p:val>
                                            <p:strVal val="#ppt_x"/>
                                          </p:val>
                                        </p:tav>
                                      </p:tavLst>
                                    </p:anim>
                                    <p:anim calcmode="lin" valueType="num">
                                      <p:cBhvr additive="base">
                                        <p:cTn id="135" dur="500" fill="hold"/>
                                        <p:tgtEl>
                                          <p:spTgt spid="37"/>
                                        </p:tgtEl>
                                        <p:attrNameLst>
                                          <p:attrName>ppt_y</p:attrName>
                                        </p:attrNameLst>
                                      </p:cBhvr>
                                      <p:tavLst>
                                        <p:tav tm="0">
                                          <p:val>
                                            <p:strVal val="#ppt_y+0.1"/>
                                          </p:val>
                                        </p:tav>
                                        <p:tav tm="100000">
                                          <p:val>
                                            <p:strVal val="#ppt_y"/>
                                          </p:val>
                                        </p:tav>
                                      </p:tavLst>
                                    </p:anim>
                                    <p:animEffect transition="in" filter="fade">
                                      <p:cBhvr>
                                        <p:cTn id="136"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Declarative Configuration</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Don't write the Elasticsearch code - somebody already has. Write some JSON.</a:t>
            </a:r>
          </a:p>
        </p:txBody>
      </p:sp>
      <p:sp>
        <p:nvSpPr>
          <p:cNvPr id="11" name="a1f_codebg10"/>
          <p:cNvSpPr/>
          <p:nvPr/>
        </p:nvSpPr>
        <p:spPr>
          <a:xfrm>
            <a:off x="457200" y="1280160"/>
            <a:ext cx="4983480" cy="2414015"/>
          </a:xfrm>
          <a:prstGeom prst="roundRect">
            <a:avLst>
              <a:gd name="adj" fmla="val 3030"/>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f_codeh11"/>
          <p:cNvSpPr txBox="1"/>
          <p:nvPr/>
        </p:nvSpPr>
        <p:spPr>
          <a:xfrm>
            <a:off x="566928" y="1335024"/>
            <a:ext cx="4764024" cy="219456"/>
          </a:xfrm>
          <a:prstGeom prst="rect">
            <a:avLst/>
          </a:prstGeom>
          <a:noFill/>
        </p:spPr>
        <p:txBody>
          <a:bodyPr wrap="square" lIns="0" tIns="0" rIns="0" bIns="0" anchor="ctr">
            <a:spAutoFit/>
          </a:bodyPr>
          <a:lstStyle/>
          <a:p>
            <a:pPr algn="l"/>
            <a:r>
              <a:rPr sz="950" b="1">
                <a:solidFill>
                  <a:srgbClr val="A8A29E"/>
                </a:solidFill>
                <a:latin typeface="Consolas"/>
              </a:rPr>
              <a:t>users-to-elastic.json  +  curl</a:t>
            </a:r>
          </a:p>
        </p:txBody>
      </p:sp>
      <p:sp>
        <p:nvSpPr>
          <p:cNvPr id="13" name="a1f_codesep12"/>
          <p:cNvSpPr/>
          <p:nvPr/>
        </p:nvSpPr>
        <p:spPr>
          <a:xfrm>
            <a:off x="566928" y="1609343"/>
            <a:ext cx="4764024" cy="109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w_code13"/>
          <p:cNvSpPr txBox="1"/>
          <p:nvPr/>
        </p:nvSpPr>
        <p:spPr>
          <a:xfrm>
            <a:off x="566928" y="1664207"/>
            <a:ext cx="4764024" cy="160020"/>
          </a:xfrm>
          <a:prstGeom prst="rect">
            <a:avLst/>
          </a:prstGeom>
          <a:noFill/>
        </p:spPr>
        <p:txBody>
          <a:bodyPr wrap="none" lIns="0" tIns="0" rIns="0" bIns="0" anchor="ctr">
            <a:spAutoFit/>
          </a:bodyPr>
          <a:lstStyle/>
          <a:p>
            <a:pPr algn="l"/>
            <a:r>
              <a:rPr sz="750" b="0">
                <a:solidFill>
                  <a:srgbClr val="E7E5E4"/>
                </a:solidFill>
                <a:latin typeface="Consolas"/>
              </a:rPr>
              <a:t>{</a:t>
            </a:r>
          </a:p>
        </p:txBody>
      </p:sp>
      <p:sp>
        <p:nvSpPr>
          <p:cNvPr id="15" name="a1wd70_code14"/>
          <p:cNvSpPr txBox="1"/>
          <p:nvPr/>
        </p:nvSpPr>
        <p:spPr>
          <a:xfrm>
            <a:off x="566928" y="1824228"/>
            <a:ext cx="4764024" cy="160020"/>
          </a:xfrm>
          <a:prstGeom prst="rect">
            <a:avLst/>
          </a:prstGeom>
          <a:noFill/>
        </p:spPr>
        <p:txBody>
          <a:bodyPr wrap="none" lIns="0" tIns="0" rIns="0" bIns="0" anchor="ctr">
            <a:spAutoFit/>
          </a:bodyPr>
          <a:lstStyle/>
          <a:p>
            <a:pPr algn="l"/>
            <a:r>
              <a:rPr sz="750" b="0">
                <a:solidFill>
                  <a:srgbClr val="E7E5E4"/>
                </a:solidFill>
                <a:latin typeface="Consolas"/>
              </a:rPr>
              <a:t>  "connector.class":</a:t>
            </a:r>
          </a:p>
        </p:txBody>
      </p:sp>
      <p:sp>
        <p:nvSpPr>
          <p:cNvPr id="16" name="a1wd140_code15"/>
          <p:cNvSpPr txBox="1"/>
          <p:nvPr/>
        </p:nvSpPr>
        <p:spPr>
          <a:xfrm>
            <a:off x="566928" y="1984248"/>
            <a:ext cx="4764024" cy="160020"/>
          </a:xfrm>
          <a:prstGeom prst="rect">
            <a:avLst/>
          </a:prstGeom>
          <a:noFill/>
        </p:spPr>
        <p:txBody>
          <a:bodyPr wrap="none" lIns="0" tIns="0" rIns="0" bIns="0" anchor="ctr">
            <a:spAutoFit/>
          </a:bodyPr>
          <a:lstStyle/>
          <a:p>
            <a:pPr algn="l"/>
            <a:r>
              <a:rPr sz="750" b="1">
                <a:solidFill>
                  <a:srgbClr val="FDBA74"/>
                </a:solidFill>
                <a:latin typeface="Consolas"/>
              </a:rPr>
              <a:t>      "io.confluent.connect.elasticsearch.ElasticsearchSinkConnector",</a:t>
            </a:r>
          </a:p>
        </p:txBody>
      </p:sp>
      <p:sp>
        <p:nvSpPr>
          <p:cNvPr id="17" name="a1wd210_code16"/>
          <p:cNvSpPr txBox="1"/>
          <p:nvPr/>
        </p:nvSpPr>
        <p:spPr>
          <a:xfrm>
            <a:off x="566928" y="2144268"/>
            <a:ext cx="4764024" cy="160020"/>
          </a:xfrm>
          <a:prstGeom prst="rect">
            <a:avLst/>
          </a:prstGeom>
          <a:noFill/>
        </p:spPr>
        <p:txBody>
          <a:bodyPr wrap="none" lIns="0" tIns="0" rIns="0" bIns="0" anchor="ctr">
            <a:spAutoFit/>
          </a:bodyPr>
          <a:lstStyle/>
          <a:p>
            <a:pPr algn="l"/>
            <a:r>
              <a:rPr sz="750" b="0">
                <a:solidFill>
                  <a:srgbClr val="E7E5E4"/>
                </a:solidFill>
                <a:latin typeface="Consolas"/>
              </a:rPr>
              <a:t>  "tasks.max": "2",</a:t>
            </a:r>
          </a:p>
        </p:txBody>
      </p:sp>
      <p:sp>
        <p:nvSpPr>
          <p:cNvPr id="18" name="a1wd280_code17"/>
          <p:cNvSpPr txBox="1"/>
          <p:nvPr/>
        </p:nvSpPr>
        <p:spPr>
          <a:xfrm>
            <a:off x="566928" y="2304287"/>
            <a:ext cx="4764024" cy="160020"/>
          </a:xfrm>
          <a:prstGeom prst="rect">
            <a:avLst/>
          </a:prstGeom>
          <a:noFill/>
        </p:spPr>
        <p:txBody>
          <a:bodyPr wrap="none" lIns="0" tIns="0" rIns="0" bIns="0" anchor="ctr">
            <a:spAutoFit/>
          </a:bodyPr>
          <a:lstStyle/>
          <a:p>
            <a:pPr algn="l"/>
            <a:r>
              <a:rPr sz="750" b="1">
                <a:solidFill>
                  <a:srgbClr val="FDBA74"/>
                </a:solidFill>
                <a:latin typeface="Consolas"/>
              </a:rPr>
              <a:t>  "topics": "users",</a:t>
            </a:r>
          </a:p>
        </p:txBody>
      </p:sp>
      <p:sp>
        <p:nvSpPr>
          <p:cNvPr id="19" name="a1wd350_code18"/>
          <p:cNvSpPr txBox="1"/>
          <p:nvPr/>
        </p:nvSpPr>
        <p:spPr>
          <a:xfrm>
            <a:off x="566928" y="2464308"/>
            <a:ext cx="4764024" cy="160020"/>
          </a:xfrm>
          <a:prstGeom prst="rect">
            <a:avLst/>
          </a:prstGeom>
          <a:noFill/>
        </p:spPr>
        <p:txBody>
          <a:bodyPr wrap="none" lIns="0" tIns="0" rIns="0" bIns="0" anchor="ctr">
            <a:spAutoFit/>
          </a:bodyPr>
          <a:lstStyle/>
          <a:p>
            <a:pPr algn="l"/>
            <a:r>
              <a:rPr sz="750" b="1">
                <a:solidFill>
                  <a:srgbClr val="FDBA74"/>
                </a:solidFill>
                <a:latin typeface="Consolas"/>
              </a:rPr>
              <a:t>  "connection.url": "https://elastic.example.com:9200",</a:t>
            </a:r>
          </a:p>
        </p:txBody>
      </p:sp>
      <p:sp>
        <p:nvSpPr>
          <p:cNvPr id="20" name="a1wd420_code19"/>
          <p:cNvSpPr txBox="1"/>
          <p:nvPr/>
        </p:nvSpPr>
        <p:spPr>
          <a:xfrm>
            <a:off x="566928" y="2624327"/>
            <a:ext cx="4764024" cy="160020"/>
          </a:xfrm>
          <a:prstGeom prst="rect">
            <a:avLst/>
          </a:prstGeom>
          <a:noFill/>
        </p:spPr>
        <p:txBody>
          <a:bodyPr wrap="none" lIns="0" tIns="0" rIns="0" bIns="0" anchor="ctr">
            <a:spAutoFit/>
          </a:bodyPr>
          <a:lstStyle/>
          <a:p>
            <a:pPr algn="l"/>
            <a:r>
              <a:rPr sz="750" b="0">
                <a:solidFill>
                  <a:srgbClr val="E7E5E4"/>
                </a:solidFill>
                <a:latin typeface="Consolas"/>
              </a:rPr>
              <a:t>  "connection.username": "connect",</a:t>
            </a:r>
          </a:p>
        </p:txBody>
      </p:sp>
      <p:sp>
        <p:nvSpPr>
          <p:cNvPr id="21" name="a1wd490_code20"/>
          <p:cNvSpPr txBox="1"/>
          <p:nvPr/>
        </p:nvSpPr>
        <p:spPr>
          <a:xfrm>
            <a:off x="566928" y="2784348"/>
            <a:ext cx="4764024" cy="160020"/>
          </a:xfrm>
          <a:prstGeom prst="rect">
            <a:avLst/>
          </a:prstGeom>
          <a:noFill/>
        </p:spPr>
        <p:txBody>
          <a:bodyPr wrap="none" lIns="0" tIns="0" rIns="0" bIns="0" anchor="ctr">
            <a:spAutoFit/>
          </a:bodyPr>
          <a:lstStyle/>
          <a:p>
            <a:pPr algn="l"/>
            <a:r>
              <a:rPr sz="750" b="0">
                <a:solidFill>
                  <a:srgbClr val="E7E5E4"/>
                </a:solidFill>
                <a:latin typeface="Consolas"/>
              </a:rPr>
              <a:t>  "connection.password": "${file:/secrets/es.properties:password}",</a:t>
            </a:r>
          </a:p>
        </p:txBody>
      </p:sp>
      <p:sp>
        <p:nvSpPr>
          <p:cNvPr id="22" name="a1wd560_code21"/>
          <p:cNvSpPr txBox="1"/>
          <p:nvPr/>
        </p:nvSpPr>
        <p:spPr>
          <a:xfrm>
            <a:off x="566928" y="2944368"/>
            <a:ext cx="4764024" cy="160020"/>
          </a:xfrm>
          <a:prstGeom prst="rect">
            <a:avLst/>
          </a:prstGeom>
          <a:noFill/>
        </p:spPr>
        <p:txBody>
          <a:bodyPr wrap="none" lIns="0" tIns="0" rIns="0" bIns="0" anchor="ctr">
            <a:spAutoFit/>
          </a:bodyPr>
          <a:lstStyle/>
          <a:p>
            <a:pPr algn="l"/>
            <a:r>
              <a:rPr sz="750" b="0">
                <a:solidFill>
                  <a:srgbClr val="E7E5E4"/>
                </a:solidFill>
                <a:latin typeface="Consolas"/>
              </a:rPr>
              <a:t>  "key.ignore": "true"</a:t>
            </a:r>
          </a:p>
        </p:txBody>
      </p:sp>
      <p:sp>
        <p:nvSpPr>
          <p:cNvPr id="23" name="a1wd630_code22"/>
          <p:cNvSpPr txBox="1"/>
          <p:nvPr/>
        </p:nvSpPr>
        <p:spPr>
          <a:xfrm>
            <a:off x="566928" y="3104387"/>
            <a:ext cx="4764024" cy="160020"/>
          </a:xfrm>
          <a:prstGeom prst="rect">
            <a:avLst/>
          </a:prstGeom>
          <a:noFill/>
        </p:spPr>
        <p:txBody>
          <a:bodyPr wrap="none" lIns="0" tIns="0" rIns="0" bIns="0" anchor="ctr">
            <a:spAutoFit/>
          </a:bodyPr>
          <a:lstStyle/>
          <a:p>
            <a:pPr algn="l"/>
            <a:r>
              <a:rPr sz="750" b="0">
                <a:solidFill>
                  <a:srgbClr val="E7E5E4"/>
                </a:solidFill>
                <a:latin typeface="Consolas"/>
              </a:rPr>
              <a:t>}</a:t>
            </a:r>
          </a:p>
        </p:txBody>
      </p:sp>
      <p:sp>
        <p:nvSpPr>
          <p:cNvPr id="24" name="a1wd700_code23"/>
          <p:cNvSpPr txBox="1"/>
          <p:nvPr/>
        </p:nvSpPr>
        <p:spPr>
          <a:xfrm>
            <a:off x="566928" y="3264408"/>
            <a:ext cx="4764024" cy="160020"/>
          </a:xfrm>
          <a:prstGeom prst="rect">
            <a:avLst/>
          </a:prstGeom>
          <a:noFill/>
        </p:spPr>
        <p:txBody>
          <a:bodyPr wrap="none" lIns="0" tIns="0" rIns="0" bIns="0" anchor="ctr">
            <a:spAutoFit/>
          </a:bodyPr>
          <a:lstStyle/>
          <a:p>
            <a:pPr algn="l"/>
            <a:r>
              <a:rPr sz="750" b="1">
                <a:solidFill>
                  <a:srgbClr val="FDBA74"/>
                </a:solidFill>
                <a:latin typeface="Consolas"/>
              </a:rPr>
              <a:t>curl -X PUT http://connect:8083/connectors/users-to-elastic/config \</a:t>
            </a:r>
          </a:p>
        </p:txBody>
      </p:sp>
      <p:sp>
        <p:nvSpPr>
          <p:cNvPr id="25" name="a1wd770_code24"/>
          <p:cNvSpPr txBox="1"/>
          <p:nvPr/>
        </p:nvSpPr>
        <p:spPr>
          <a:xfrm>
            <a:off x="566928" y="3424427"/>
            <a:ext cx="4764024" cy="160020"/>
          </a:xfrm>
          <a:prstGeom prst="rect">
            <a:avLst/>
          </a:prstGeom>
          <a:noFill/>
        </p:spPr>
        <p:txBody>
          <a:bodyPr wrap="none" lIns="0" tIns="0" rIns="0" bIns="0" anchor="ctr">
            <a:spAutoFit/>
          </a:bodyPr>
          <a:lstStyle/>
          <a:p>
            <a:pPr algn="l"/>
            <a:r>
              <a:rPr sz="750" b="0">
                <a:solidFill>
                  <a:srgbClr val="E7E5E4"/>
                </a:solidFill>
                <a:latin typeface="Consolas"/>
              </a:rPr>
              <a:t>     -H "Content-Type: application/json" -d @users-to-elastic.json</a:t>
            </a:r>
          </a:p>
        </p:txBody>
      </p:sp>
      <p:sp>
        <p:nvSpPr>
          <p:cNvPr id="26" name="a1ud100_n25"/>
          <p:cNvSpPr/>
          <p:nvPr/>
        </p:nvSpPr>
        <p:spPr>
          <a:xfrm>
            <a:off x="5715000" y="1325880"/>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1ud100_nt26"/>
          <p:cNvSpPr txBox="1"/>
          <p:nvPr/>
        </p:nvSpPr>
        <p:spPr>
          <a:xfrm>
            <a:off x="5715000" y="1325880"/>
            <a:ext cx="384048" cy="384048"/>
          </a:xfrm>
          <a:prstGeom prst="rect">
            <a:avLst/>
          </a:prstGeom>
          <a:noFill/>
        </p:spPr>
        <p:txBody>
          <a:bodyPr wrap="square" lIns="0" tIns="0" rIns="0" bIns="0" anchor="ctr">
            <a:spAutoFit/>
          </a:bodyPr>
          <a:lstStyle/>
          <a:p>
            <a:pPr algn="ctr"/>
            <a:r>
              <a:rPr sz="1150" b="0">
                <a:solidFill>
                  <a:srgbClr val="FFFFFF"/>
                </a:solidFill>
                <a:latin typeface="Bahnschrift SemiBold"/>
              </a:rPr>
              <a:t>1</a:t>
            </a:r>
          </a:p>
        </p:txBody>
      </p:sp>
      <p:sp>
        <p:nvSpPr>
          <p:cNvPr id="28" name="a1ud100_st27"/>
          <p:cNvSpPr txBox="1"/>
          <p:nvPr/>
        </p:nvSpPr>
        <p:spPr>
          <a:xfrm>
            <a:off x="6236208" y="1289304"/>
            <a:ext cx="2468880" cy="475488"/>
          </a:xfrm>
          <a:prstGeom prst="rect">
            <a:avLst/>
          </a:prstGeom>
          <a:noFill/>
        </p:spPr>
        <p:txBody>
          <a:bodyPr wrap="square" lIns="0" tIns="0" rIns="0" bIns="0" anchor="ctr">
            <a:spAutoFit/>
          </a:bodyPr>
          <a:lstStyle/>
          <a:p>
            <a:pPr algn="l"/>
            <a:r>
              <a:rPr sz="950" b="1">
                <a:solidFill>
                  <a:srgbClr val="1C1917"/>
                </a:solidFill>
                <a:latin typeface="Segoe UI"/>
              </a:rPr>
              <a:t>Write the config</a:t>
            </a:r>
          </a:p>
          <a:p>
            <a:pPr algn="l"/>
            <a:r>
              <a:rPr sz="850" b="0">
                <a:solidFill>
                  <a:srgbClr val="78716C"/>
                </a:solidFill>
                <a:latin typeface="Segoe UI"/>
              </a:rPr>
              <a:t>where, which topic, security</a:t>
            </a:r>
          </a:p>
        </p:txBody>
      </p:sp>
      <p:sp>
        <p:nvSpPr>
          <p:cNvPr id="29" name="a2ud100_n28"/>
          <p:cNvSpPr/>
          <p:nvPr/>
        </p:nvSpPr>
        <p:spPr>
          <a:xfrm>
            <a:off x="5715000" y="1929384"/>
            <a:ext cx="384048" cy="384048"/>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2ud100_nt29"/>
          <p:cNvSpPr txBox="1"/>
          <p:nvPr/>
        </p:nvSpPr>
        <p:spPr>
          <a:xfrm>
            <a:off x="5715000" y="1929384"/>
            <a:ext cx="384048" cy="384048"/>
          </a:xfrm>
          <a:prstGeom prst="rect">
            <a:avLst/>
          </a:prstGeom>
          <a:noFill/>
        </p:spPr>
        <p:txBody>
          <a:bodyPr wrap="square" lIns="0" tIns="0" rIns="0" bIns="0" anchor="ctr">
            <a:spAutoFit/>
          </a:bodyPr>
          <a:lstStyle/>
          <a:p>
            <a:pPr algn="ctr"/>
            <a:r>
              <a:rPr sz="1150" b="0">
                <a:solidFill>
                  <a:srgbClr val="FFFFFF"/>
                </a:solidFill>
                <a:latin typeface="Bahnschrift SemiBold"/>
              </a:rPr>
              <a:t>2</a:t>
            </a:r>
          </a:p>
        </p:txBody>
      </p:sp>
      <p:sp>
        <p:nvSpPr>
          <p:cNvPr id="31" name="a2ud100_st30"/>
          <p:cNvSpPr txBox="1"/>
          <p:nvPr/>
        </p:nvSpPr>
        <p:spPr>
          <a:xfrm>
            <a:off x="6236208" y="1892807"/>
            <a:ext cx="2468880" cy="475488"/>
          </a:xfrm>
          <a:prstGeom prst="rect">
            <a:avLst/>
          </a:prstGeom>
          <a:noFill/>
        </p:spPr>
        <p:txBody>
          <a:bodyPr wrap="square" lIns="0" tIns="0" rIns="0" bIns="0" anchor="ctr">
            <a:spAutoFit/>
          </a:bodyPr>
          <a:lstStyle/>
          <a:p>
            <a:pPr algn="l"/>
            <a:r>
              <a:rPr sz="950" b="1">
                <a:solidFill>
                  <a:srgbClr val="1C1917"/>
                </a:solidFill>
                <a:latin typeface="Segoe UI"/>
              </a:rPr>
              <a:t>PUT it to Connect</a:t>
            </a:r>
          </a:p>
          <a:p>
            <a:pPr algn="l"/>
            <a:r>
              <a:rPr sz="850" b="0">
                <a:solidFill>
                  <a:srgbClr val="78716C"/>
                </a:solidFill>
                <a:latin typeface="Segoe UI"/>
              </a:rPr>
              <a:t>the REST API, port 8083</a:t>
            </a:r>
          </a:p>
        </p:txBody>
      </p:sp>
      <p:sp>
        <p:nvSpPr>
          <p:cNvPr id="32" name="a3ud100_n31"/>
          <p:cNvSpPr/>
          <p:nvPr/>
        </p:nvSpPr>
        <p:spPr>
          <a:xfrm>
            <a:off x="5715000" y="2532888"/>
            <a:ext cx="384048" cy="384048"/>
          </a:xfrm>
          <a:prstGeom prst="ellipse">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3ud100_nt32"/>
          <p:cNvSpPr txBox="1"/>
          <p:nvPr/>
        </p:nvSpPr>
        <p:spPr>
          <a:xfrm>
            <a:off x="5715000" y="2532888"/>
            <a:ext cx="384048" cy="384048"/>
          </a:xfrm>
          <a:prstGeom prst="rect">
            <a:avLst/>
          </a:prstGeom>
          <a:noFill/>
        </p:spPr>
        <p:txBody>
          <a:bodyPr wrap="square" lIns="0" tIns="0" rIns="0" bIns="0" anchor="ctr">
            <a:spAutoFit/>
          </a:bodyPr>
          <a:lstStyle/>
          <a:p>
            <a:pPr algn="ctr"/>
            <a:r>
              <a:rPr sz="1150" b="0">
                <a:solidFill>
                  <a:srgbClr val="FFFFFF"/>
                </a:solidFill>
                <a:latin typeface="Bahnschrift SemiBold"/>
              </a:rPr>
              <a:t>3</a:t>
            </a:r>
          </a:p>
        </p:txBody>
      </p:sp>
      <p:sp>
        <p:nvSpPr>
          <p:cNvPr id="34" name="a3ud100_st33"/>
          <p:cNvSpPr txBox="1"/>
          <p:nvPr/>
        </p:nvSpPr>
        <p:spPr>
          <a:xfrm>
            <a:off x="6236208" y="2496312"/>
            <a:ext cx="2468880" cy="475488"/>
          </a:xfrm>
          <a:prstGeom prst="rect">
            <a:avLst/>
          </a:prstGeom>
          <a:noFill/>
        </p:spPr>
        <p:txBody>
          <a:bodyPr wrap="square" lIns="0" tIns="0" rIns="0" bIns="0" anchor="ctr">
            <a:spAutoFit/>
          </a:bodyPr>
          <a:lstStyle/>
          <a:p>
            <a:pPr algn="l"/>
            <a:r>
              <a:rPr sz="950" b="1">
                <a:solidFill>
                  <a:srgbClr val="1C1917"/>
                </a:solidFill>
                <a:latin typeface="Segoe UI"/>
              </a:rPr>
              <a:t>Class on plugin.path</a:t>
            </a:r>
          </a:p>
          <a:p>
            <a:pPr algn="l"/>
            <a:r>
              <a:rPr sz="850" b="0">
                <a:solidFill>
                  <a:srgbClr val="78716C"/>
                </a:solidFill>
                <a:latin typeface="Segoe UI"/>
              </a:rPr>
              <a:t>the worker must load it</a:t>
            </a:r>
          </a:p>
        </p:txBody>
      </p:sp>
      <p:sp>
        <p:nvSpPr>
          <p:cNvPr id="35" name="a4ud100_n34"/>
          <p:cNvSpPr/>
          <p:nvPr/>
        </p:nvSpPr>
        <p:spPr>
          <a:xfrm>
            <a:off x="5715000" y="3136391"/>
            <a:ext cx="384048" cy="384048"/>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4ud100_nt35"/>
          <p:cNvSpPr txBox="1"/>
          <p:nvPr/>
        </p:nvSpPr>
        <p:spPr>
          <a:xfrm>
            <a:off x="5715000" y="3136391"/>
            <a:ext cx="384048" cy="384048"/>
          </a:xfrm>
          <a:prstGeom prst="rect">
            <a:avLst/>
          </a:prstGeom>
          <a:noFill/>
        </p:spPr>
        <p:txBody>
          <a:bodyPr wrap="square" lIns="0" tIns="0" rIns="0" bIns="0" anchor="ctr">
            <a:spAutoFit/>
          </a:bodyPr>
          <a:lstStyle/>
          <a:p>
            <a:pPr algn="ctr"/>
            <a:r>
              <a:rPr sz="1150" b="0">
                <a:solidFill>
                  <a:srgbClr val="FFFFFF"/>
                </a:solidFill>
                <a:latin typeface="Bahnschrift SemiBold"/>
              </a:rPr>
              <a:t>4</a:t>
            </a:r>
          </a:p>
        </p:txBody>
      </p:sp>
      <p:sp>
        <p:nvSpPr>
          <p:cNvPr id="37" name="a4ud100_st36"/>
          <p:cNvSpPr txBox="1"/>
          <p:nvPr/>
        </p:nvSpPr>
        <p:spPr>
          <a:xfrm>
            <a:off x="6236208" y="3099815"/>
            <a:ext cx="2468880" cy="475488"/>
          </a:xfrm>
          <a:prstGeom prst="rect">
            <a:avLst/>
          </a:prstGeom>
          <a:noFill/>
        </p:spPr>
        <p:txBody>
          <a:bodyPr wrap="square" lIns="0" tIns="0" rIns="0" bIns="0" anchor="ctr">
            <a:spAutoFit/>
          </a:bodyPr>
          <a:lstStyle/>
          <a:p>
            <a:pPr algn="l"/>
            <a:r>
              <a:rPr sz="950" b="1">
                <a:solidFill>
                  <a:srgbClr val="1C1917"/>
                </a:solidFill>
                <a:latin typeface="Segoe UI"/>
              </a:rPr>
              <a:t>It runs</a:t>
            </a:r>
          </a:p>
          <a:p>
            <a:pPr algn="l"/>
            <a:r>
              <a:rPr sz="850" b="0">
                <a:solidFill>
                  <a:srgbClr val="78716C"/>
                </a:solidFill>
                <a:latin typeface="Segoe UI"/>
              </a:rPr>
              <a:t>tasks start, data flows</a:t>
            </a:r>
          </a:p>
        </p:txBody>
      </p:sp>
      <p:sp>
        <p:nvSpPr>
          <p:cNvPr id="38" name="a5u_nb37"/>
          <p:cNvSpPr/>
          <p:nvPr/>
        </p:nvSpPr>
        <p:spPr>
          <a:xfrm>
            <a:off x="457200" y="3931920"/>
            <a:ext cx="8229600" cy="530352"/>
          </a:xfrm>
          <a:prstGeom prst="roundRect">
            <a:avLst>
              <a:gd name="adj" fmla="val 13793"/>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5u_nacc38"/>
          <p:cNvSpPr/>
          <p:nvPr/>
        </p:nvSpPr>
        <p:spPr>
          <a:xfrm>
            <a:off x="457200" y="3931920"/>
            <a:ext cx="54864" cy="530352"/>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5u_nt39"/>
          <p:cNvSpPr txBox="1"/>
          <p:nvPr/>
        </p:nvSpPr>
        <p:spPr>
          <a:xfrm>
            <a:off x="658368" y="3931920"/>
            <a:ext cx="7827264" cy="530352"/>
          </a:xfrm>
          <a:prstGeom prst="rect">
            <a:avLst/>
          </a:prstGeom>
          <a:noFill/>
        </p:spPr>
        <p:txBody>
          <a:bodyPr wrap="square" lIns="0" tIns="0" rIns="0" bIns="0" anchor="ctr">
            <a:spAutoFit/>
          </a:bodyPr>
          <a:lstStyle/>
          <a:p>
            <a:pPr algn="l"/>
            <a:r>
              <a:rPr sz="950" b="1">
                <a:solidFill>
                  <a:srgbClr val="0E7490"/>
                </a:solidFill>
                <a:latin typeface="Segoe UI"/>
              </a:rPr>
              <a:t>KEY  </a:t>
            </a:r>
            <a:r>
              <a:rPr sz="950" b="0">
                <a:solidFill>
                  <a:srgbClr val="44403C"/>
                </a:solidFill>
                <a:latin typeface="Segoe UI"/>
              </a:rPr>
              <a:t>You supply where the system is, security, and the topic. The connector supplies everything else.</a:t>
            </a:r>
          </a:p>
        </p:txBody>
      </p:sp>
      <p:sp>
        <p:nvSpPr>
          <p:cNvPr id="41" name="ft40"/>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07</a:t>
            </a:r>
          </a:p>
        </p:txBody>
      </p:sp>
      <p:sp>
        <p:nvSpPr>
          <p:cNvPr id="42" name="ft41"/>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ft42"/>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Kafka Connect</a:t>
            </a:r>
          </a:p>
        </p:txBody>
      </p:sp>
      <p:sp>
        <p:nvSpPr>
          <p:cNvPr id="44" name="ft43"/>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9</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22" presetClass="entr" presetSubtype="8"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par>
                                <p:cTn id="19" presetID="22" presetClass="entr" presetSubtype="8" fill="hold" grpId="0" nodeType="withEffect">
                                  <p:stCondLst>
                                    <p:cond delay="7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par>
                                <p:cTn id="24" presetID="2" presetClass="entr" presetSubtype="4" fill="hold" grpId="0" nodeType="withEffect">
                                  <p:stCondLst>
                                    <p:cond delay="100"/>
                                  </p:stCondLst>
                                  <p:childTnLst>
                                    <p:set>
                                      <p:cBhvr>
                                        <p:cTn id="20" dur="1" fill="hold">
                                          <p:stCondLst>
                                            <p:cond delay="0"/>
                                          </p:stCondLst>
                                        </p:cTn>
                                        <p:tgtEl>
                                          <p:spTgt spid="26"/>
                                        </p:tgtEl>
                                        <p:attrNameLst>
                                          <p:attrName>style.visibility</p:attrName>
                                        </p:attrNameLst>
                                      </p:cBhvr>
                                      <p:to>
                                        <p:strVal val="visible"/>
                                      </p:to>
                                    </p:set>
                                    <p:anim calcmode="lin" valueType="num">
                                      <p:cBhvr additive="base">
                                        <p:cTn id="21" dur="500" fill="hold"/>
                                        <p:tgtEl>
                                          <p:spTgt spid="26"/>
                                        </p:tgtEl>
                                        <p:attrNameLst>
                                          <p:attrName>ppt_x</p:attrName>
                                        </p:attrNameLst>
                                      </p:cBhvr>
                                      <p:tavLst>
                                        <p:tav tm="0">
                                          <p:val>
                                            <p:strVal val="#ppt_x"/>
                                          </p:val>
                                        </p:tav>
                                        <p:tav tm="100000">
                                          <p:val>
                                            <p:strVal val="#ppt_x"/>
                                          </p:val>
                                        </p:tav>
                                      </p:tavLst>
                                    </p:anim>
                                    <p:anim calcmode="lin" valueType="num">
                                      <p:cBhvr additive="base">
                                        <p:cTn id="22" dur="500" fill="hold"/>
                                        <p:tgtEl>
                                          <p:spTgt spid="26"/>
                                        </p:tgtEl>
                                        <p:attrNameLst>
                                          <p:attrName>ppt_y</p:attrName>
                                        </p:attrNameLst>
                                      </p:cBhvr>
                                      <p:tavLst>
                                        <p:tav tm="0">
                                          <p:val>
                                            <p:strVal val="#ppt_y+0.1"/>
                                          </p:val>
                                        </p:tav>
                                        <p:tav tm="100000">
                                          <p:val>
                                            <p:strVal val="#ppt_y"/>
                                          </p:val>
                                        </p:tav>
                                      </p:tavLst>
                                    </p:anim>
                                    <p:animEffect transition="in" filter="fade">
                                      <p:cBhvr>
                                        <p:cTn id="23" dur="500"/>
                                        <p:tgtEl>
                                          <p:spTgt spid="26"/>
                                        </p:tgtEl>
                                      </p:cBhvr>
                                    </p:animEffect>
                                  </p:childTnLst>
                                </p:cTn>
                              </p:par>
                              <p:par>
                                <p:cTn id="29" presetID="2" presetClass="entr" presetSubtype="4" fill="hold" grpId="0" nodeType="withEffect">
                                  <p:stCondLst>
                                    <p:cond delay="100"/>
                                  </p:stCondLst>
                                  <p:childTnLst>
                                    <p:set>
                                      <p:cBhvr>
                                        <p:cTn id="25" dur="1" fill="hold">
                                          <p:stCondLst>
                                            <p:cond delay="0"/>
                                          </p:stCondLst>
                                        </p:cTn>
                                        <p:tgtEl>
                                          <p:spTgt spid="27"/>
                                        </p:tgtEl>
                                        <p:attrNameLst>
                                          <p:attrName>style.visibility</p:attrName>
                                        </p:attrNameLst>
                                      </p:cBhvr>
                                      <p:to>
                                        <p:strVal val="visible"/>
                                      </p:to>
                                    </p:set>
                                    <p:anim calcmode="lin" valueType="num">
                                      <p:cBhvr additive="base">
                                        <p:cTn id="26" dur="500" fill="hold"/>
                                        <p:tgtEl>
                                          <p:spTgt spid="27"/>
                                        </p:tgtEl>
                                        <p:attrNameLst>
                                          <p:attrName>ppt_x</p:attrName>
                                        </p:attrNameLst>
                                      </p:cBhvr>
                                      <p:tavLst>
                                        <p:tav tm="0">
                                          <p:val>
                                            <p:strVal val="#ppt_x"/>
                                          </p:val>
                                        </p:tav>
                                        <p:tav tm="100000">
                                          <p:val>
                                            <p:strVal val="#ppt_x"/>
                                          </p:val>
                                        </p:tav>
                                      </p:tavLst>
                                    </p:anim>
                                    <p:anim calcmode="lin" valueType="num">
                                      <p:cBhvr additive="base">
                                        <p:cTn id="27" dur="500" fill="hold"/>
                                        <p:tgtEl>
                                          <p:spTgt spid="27"/>
                                        </p:tgtEl>
                                        <p:attrNameLst>
                                          <p:attrName>ppt_y</p:attrName>
                                        </p:attrNameLst>
                                      </p:cBhvr>
                                      <p:tavLst>
                                        <p:tav tm="0">
                                          <p:val>
                                            <p:strVal val="#ppt_y+0.1"/>
                                          </p:val>
                                        </p:tav>
                                        <p:tav tm="100000">
                                          <p:val>
                                            <p:strVal val="#ppt_y"/>
                                          </p:val>
                                        </p:tav>
                                      </p:tavLst>
                                    </p:anim>
                                    <p:animEffect transition="in" filter="fade">
                                      <p:cBhvr>
                                        <p:cTn id="28" dur="500"/>
                                        <p:tgtEl>
                                          <p:spTgt spid="27"/>
                                        </p:tgtEl>
                                      </p:cBhvr>
                                    </p:animEffect>
                                  </p:childTnLst>
                                </p:cTn>
                              </p:par>
                              <p:par>
                                <p:cTn id="34" presetID="2" presetClass="entr" presetSubtype="4" fill="hold" grpId="0" nodeType="withEffect">
                                  <p:stCondLst>
                                    <p:cond delay="100"/>
                                  </p:stCondLst>
                                  <p:childTnLst>
                                    <p:set>
                                      <p:cBhvr>
                                        <p:cTn id="30" dur="1" fill="hold">
                                          <p:stCondLst>
                                            <p:cond delay="0"/>
                                          </p:stCondLst>
                                        </p:cTn>
                                        <p:tgtEl>
                                          <p:spTgt spid="28"/>
                                        </p:tgtEl>
                                        <p:attrNameLst>
                                          <p:attrName>style.visibility</p:attrName>
                                        </p:attrNameLst>
                                      </p:cBhvr>
                                      <p:to>
                                        <p:strVal val="visible"/>
                                      </p:to>
                                    </p:set>
                                    <p:anim calcmode="lin" valueType="num">
                                      <p:cBhvr additive="base">
                                        <p:cTn id="31" dur="500" fill="hold"/>
                                        <p:tgtEl>
                                          <p:spTgt spid="28"/>
                                        </p:tgtEl>
                                        <p:attrNameLst>
                                          <p:attrName>ppt_x</p:attrName>
                                        </p:attrNameLst>
                                      </p:cBhvr>
                                      <p:tavLst>
                                        <p:tav tm="0">
                                          <p:val>
                                            <p:strVal val="#ppt_x"/>
                                          </p:val>
                                        </p:tav>
                                        <p:tav tm="100000">
                                          <p:val>
                                            <p:strVal val="#ppt_x"/>
                                          </p:val>
                                        </p:tav>
                                      </p:tavLst>
                                    </p:anim>
                                    <p:anim calcmode="lin" valueType="num">
                                      <p:cBhvr additive="base">
                                        <p:cTn id="32" dur="500" fill="hold"/>
                                        <p:tgtEl>
                                          <p:spTgt spid="28"/>
                                        </p:tgtEl>
                                        <p:attrNameLst>
                                          <p:attrName>ppt_y</p:attrName>
                                        </p:attrNameLst>
                                      </p:cBhvr>
                                      <p:tavLst>
                                        <p:tav tm="0">
                                          <p:val>
                                            <p:strVal val="#ppt_y+0.1"/>
                                          </p:val>
                                        </p:tav>
                                        <p:tav tm="100000">
                                          <p:val>
                                            <p:strVal val="#ppt_y"/>
                                          </p:val>
                                        </p:tav>
                                      </p:tavLst>
                                    </p:anim>
                                    <p:animEffect transition="in" filter="fade">
                                      <p:cBhvr>
                                        <p:cTn id="33" dur="500"/>
                                        <p:tgtEl>
                                          <p:spTgt spid="28"/>
                                        </p:tgtEl>
                                      </p:cBhvr>
                                    </p:animEffect>
                                  </p:childTnLst>
                                </p:cTn>
                              </p:par>
                              <p:par>
                                <p:cTn id="37" presetID="22" presetClass="entr" presetSubtype="8" fill="hold" grpId="0" nodeType="withEffect">
                                  <p:stCondLst>
                                    <p:cond delay="140"/>
                                  </p:stCondLst>
                                  <p:childTnLst>
                                    <p:set>
                                      <p:cBhvr>
                                        <p:cTn id="35" dur="1" fill="hold">
                                          <p:stCondLst>
                                            <p:cond delay="0"/>
                                          </p:stCondLst>
                                        </p:cTn>
                                        <p:tgtEl>
                                          <p:spTgt spid="16"/>
                                        </p:tgtEl>
                                        <p:attrNameLst>
                                          <p:attrName>style.visibility</p:attrName>
                                        </p:attrNameLst>
                                      </p:cBhvr>
                                      <p:to>
                                        <p:strVal val="visible"/>
                                      </p:to>
                                    </p:set>
                                    <p:animEffect transition="in" filter="wipe(left)">
                                      <p:cBhvr>
                                        <p:cTn id="36" dur="500"/>
                                        <p:tgtEl>
                                          <p:spTgt spid="16"/>
                                        </p:tgtEl>
                                      </p:cBhvr>
                                    </p:animEffect>
                                  </p:childTnLst>
                                </p:cTn>
                              </p:par>
                              <p:par>
                                <p:cTn id="40" presetID="22" presetClass="entr" presetSubtype="8" fill="hold" grpId="0" nodeType="withEffect">
                                  <p:stCondLst>
                                    <p:cond delay="210"/>
                                  </p:stCondLst>
                                  <p:childTnLst>
                                    <p:set>
                                      <p:cBhvr>
                                        <p:cTn id="38" dur="1" fill="hold">
                                          <p:stCondLst>
                                            <p:cond delay="0"/>
                                          </p:stCondLst>
                                        </p:cTn>
                                        <p:tgtEl>
                                          <p:spTgt spid="17"/>
                                        </p:tgtEl>
                                        <p:attrNameLst>
                                          <p:attrName>style.visibility</p:attrName>
                                        </p:attrNameLst>
                                      </p:cBhvr>
                                      <p:to>
                                        <p:strVal val="visible"/>
                                      </p:to>
                                    </p:set>
                                    <p:animEffect transition="in" filter="wipe(left)">
                                      <p:cBhvr>
                                        <p:cTn id="39" dur="500"/>
                                        <p:tgtEl>
                                          <p:spTgt spid="17"/>
                                        </p:tgtEl>
                                      </p:cBhvr>
                                    </p:animEffect>
                                  </p:childTnLst>
                                </p:cTn>
                              </p:par>
                              <p:par>
                                <p:cTn id="43" presetID="22" presetClass="entr" presetSubtype="8" fill="hold" grpId="0" nodeType="withEffect">
                                  <p:stCondLst>
                                    <p:cond delay="280"/>
                                  </p:stCondLst>
                                  <p:childTnLst>
                                    <p:set>
                                      <p:cBhvr>
                                        <p:cTn id="41" dur="1" fill="hold">
                                          <p:stCondLst>
                                            <p:cond delay="0"/>
                                          </p:stCondLst>
                                        </p:cTn>
                                        <p:tgtEl>
                                          <p:spTgt spid="18"/>
                                        </p:tgtEl>
                                        <p:attrNameLst>
                                          <p:attrName>style.visibility</p:attrName>
                                        </p:attrNameLst>
                                      </p:cBhvr>
                                      <p:to>
                                        <p:strVal val="visible"/>
                                      </p:to>
                                    </p:set>
                                    <p:animEffect transition="in" filter="wipe(left)">
                                      <p:cBhvr>
                                        <p:cTn id="42" dur="500"/>
                                        <p:tgtEl>
                                          <p:spTgt spid="18"/>
                                        </p:tgtEl>
                                      </p:cBhvr>
                                    </p:animEffect>
                                  </p:childTnLst>
                                </p:cTn>
                              </p:par>
                              <p:par>
                                <p:cTn id="46" presetID="22" presetClass="entr" presetSubtype="8" fill="hold" grpId="0" nodeType="withEffect">
                                  <p:stCondLst>
                                    <p:cond delay="350"/>
                                  </p:stCondLst>
                                  <p:childTnLst>
                                    <p:set>
                                      <p:cBhvr>
                                        <p:cTn id="44" dur="1" fill="hold">
                                          <p:stCondLst>
                                            <p:cond delay="0"/>
                                          </p:stCondLst>
                                        </p:cTn>
                                        <p:tgtEl>
                                          <p:spTgt spid="19"/>
                                        </p:tgtEl>
                                        <p:attrNameLst>
                                          <p:attrName>style.visibility</p:attrName>
                                        </p:attrNameLst>
                                      </p:cBhvr>
                                      <p:to>
                                        <p:strVal val="visible"/>
                                      </p:to>
                                    </p:set>
                                    <p:animEffect transition="in" filter="wipe(left)">
                                      <p:cBhvr>
                                        <p:cTn id="45" dur="500"/>
                                        <p:tgtEl>
                                          <p:spTgt spid="19"/>
                                        </p:tgtEl>
                                      </p:cBhvr>
                                    </p:animEffect>
                                  </p:childTnLst>
                                </p:cTn>
                              </p:par>
                              <p:par>
                                <p:cTn id="49" presetID="22" presetClass="entr" presetSubtype="8" fill="hold" grpId="0" nodeType="withEffect">
                                  <p:stCondLst>
                                    <p:cond delay="420"/>
                                  </p:stCondLst>
                                  <p:childTnLst>
                                    <p:set>
                                      <p:cBhvr>
                                        <p:cTn id="47" dur="1" fill="hold">
                                          <p:stCondLst>
                                            <p:cond delay="0"/>
                                          </p:stCondLst>
                                        </p:cTn>
                                        <p:tgtEl>
                                          <p:spTgt spid="20"/>
                                        </p:tgtEl>
                                        <p:attrNameLst>
                                          <p:attrName>style.visibility</p:attrName>
                                        </p:attrNameLst>
                                      </p:cBhvr>
                                      <p:to>
                                        <p:strVal val="visible"/>
                                      </p:to>
                                    </p:set>
                                    <p:animEffect transition="in" filter="wipe(left)">
                                      <p:cBhvr>
                                        <p:cTn id="48" dur="500"/>
                                        <p:tgtEl>
                                          <p:spTgt spid="20"/>
                                        </p:tgtEl>
                                      </p:cBhvr>
                                    </p:animEffect>
                                  </p:childTnLst>
                                </p:cTn>
                              </p:par>
                              <p:par>
                                <p:cTn id="52" presetID="22" presetClass="entr" presetSubtype="8" fill="hold" grpId="0" nodeType="withEffect">
                                  <p:stCondLst>
                                    <p:cond delay="490"/>
                                  </p:stCondLst>
                                  <p:childTnLst>
                                    <p:set>
                                      <p:cBhvr>
                                        <p:cTn id="50" dur="1" fill="hold">
                                          <p:stCondLst>
                                            <p:cond delay="0"/>
                                          </p:stCondLst>
                                        </p:cTn>
                                        <p:tgtEl>
                                          <p:spTgt spid="21"/>
                                        </p:tgtEl>
                                        <p:attrNameLst>
                                          <p:attrName>style.visibility</p:attrName>
                                        </p:attrNameLst>
                                      </p:cBhvr>
                                      <p:to>
                                        <p:strVal val="visible"/>
                                      </p:to>
                                    </p:set>
                                    <p:animEffect transition="in" filter="wipe(left)">
                                      <p:cBhvr>
                                        <p:cTn id="51" dur="500"/>
                                        <p:tgtEl>
                                          <p:spTgt spid="21"/>
                                        </p:tgtEl>
                                      </p:cBhvr>
                                    </p:animEffect>
                                  </p:childTnLst>
                                </p:cTn>
                              </p:par>
                              <p:par>
                                <p:cTn id="55" presetID="22" presetClass="entr" presetSubtype="8" fill="hold" grpId="0" nodeType="withEffect">
                                  <p:stCondLst>
                                    <p:cond delay="560"/>
                                  </p:stCondLst>
                                  <p:childTnLst>
                                    <p:set>
                                      <p:cBhvr>
                                        <p:cTn id="53" dur="1" fill="hold">
                                          <p:stCondLst>
                                            <p:cond delay="0"/>
                                          </p:stCondLst>
                                        </p:cTn>
                                        <p:tgtEl>
                                          <p:spTgt spid="22"/>
                                        </p:tgtEl>
                                        <p:attrNameLst>
                                          <p:attrName>style.visibility</p:attrName>
                                        </p:attrNameLst>
                                      </p:cBhvr>
                                      <p:to>
                                        <p:strVal val="visible"/>
                                      </p:to>
                                    </p:set>
                                    <p:animEffect transition="in" filter="wipe(left)">
                                      <p:cBhvr>
                                        <p:cTn id="54" dur="500"/>
                                        <p:tgtEl>
                                          <p:spTgt spid="22"/>
                                        </p:tgtEl>
                                      </p:cBhvr>
                                    </p:animEffect>
                                  </p:childTnLst>
                                </p:cTn>
                              </p:par>
                              <p:par>
                                <p:cTn id="58" presetID="22" presetClass="entr" presetSubtype="8" fill="hold" grpId="0" nodeType="withEffect">
                                  <p:stCondLst>
                                    <p:cond delay="630"/>
                                  </p:stCondLst>
                                  <p:childTnLst>
                                    <p:set>
                                      <p:cBhvr>
                                        <p:cTn id="56" dur="1" fill="hold">
                                          <p:stCondLst>
                                            <p:cond delay="0"/>
                                          </p:stCondLst>
                                        </p:cTn>
                                        <p:tgtEl>
                                          <p:spTgt spid="23"/>
                                        </p:tgtEl>
                                        <p:attrNameLst>
                                          <p:attrName>style.visibility</p:attrName>
                                        </p:attrNameLst>
                                      </p:cBhvr>
                                      <p:to>
                                        <p:strVal val="visible"/>
                                      </p:to>
                                    </p:set>
                                    <p:animEffect transition="in" filter="wipe(left)">
                                      <p:cBhvr>
                                        <p:cTn id="57" dur="500"/>
                                        <p:tgtEl>
                                          <p:spTgt spid="23"/>
                                        </p:tgtEl>
                                      </p:cBhvr>
                                    </p:animEffect>
                                  </p:childTnLst>
                                </p:cTn>
                              </p:par>
                              <p:par>
                                <p:cTn id="61" presetID="22" presetClass="entr" presetSubtype="8" fill="hold" grpId="0" nodeType="withEffect">
                                  <p:stCondLst>
                                    <p:cond delay="700"/>
                                  </p:stCondLst>
                                  <p:childTnLst>
                                    <p:set>
                                      <p:cBhvr>
                                        <p:cTn id="59" dur="1" fill="hold">
                                          <p:stCondLst>
                                            <p:cond delay="0"/>
                                          </p:stCondLst>
                                        </p:cTn>
                                        <p:tgtEl>
                                          <p:spTgt spid="24"/>
                                        </p:tgtEl>
                                        <p:attrNameLst>
                                          <p:attrName>style.visibility</p:attrName>
                                        </p:attrNameLst>
                                      </p:cBhvr>
                                      <p:to>
                                        <p:strVal val="visible"/>
                                      </p:to>
                                    </p:set>
                                    <p:animEffect transition="in" filter="wipe(left)">
                                      <p:cBhvr>
                                        <p:cTn id="60" dur="500"/>
                                        <p:tgtEl>
                                          <p:spTgt spid="24"/>
                                        </p:tgtEl>
                                      </p:cBhvr>
                                    </p:animEffect>
                                  </p:childTnLst>
                                </p:cTn>
                              </p:par>
                              <p:par>
                                <p:cTn id="64" presetID="22" presetClass="entr" presetSubtype="8" fill="hold" grpId="0" nodeType="withEffect">
                                  <p:stCondLst>
                                    <p:cond delay="770"/>
                                  </p:stCondLst>
                                  <p:childTnLst>
                                    <p:set>
                                      <p:cBhvr>
                                        <p:cTn id="62" dur="1" fill="hold">
                                          <p:stCondLst>
                                            <p:cond delay="0"/>
                                          </p:stCondLst>
                                        </p:cTn>
                                        <p:tgtEl>
                                          <p:spTgt spid="25"/>
                                        </p:tgtEl>
                                        <p:attrNameLst>
                                          <p:attrName>style.visibility</p:attrName>
                                        </p:attrNameLst>
                                      </p:cBhvr>
                                      <p:to>
                                        <p:strVal val="visible"/>
                                      </p:to>
                                    </p:set>
                                    <p:animEffect transition="in" filter="wipe(left)">
                                      <p:cBhvr>
                                        <p:cTn id="63" dur="500"/>
                                        <p:tgtEl>
                                          <p:spTgt spid="25"/>
                                        </p:tgtEl>
                                      </p:cBhvr>
                                    </p:animEffect>
                                  </p:childTnLst>
                                </p:cTn>
                              </p:par>
                            </p:childTnLst>
                          </p:cTn>
                        </p:par>
                      </p:childTnLst>
                    </p:cTn>
                  </p:par>
                  <p:par>
                    <p:cTn id="65" fill="hold">
                      <p:stCondLst>
                        <p:cond delay="indefinite"/>
                      </p:stCondLst>
                      <p:childTnLst>
                        <p:par>
                          <p:cTn id="66" fill="hold">
                            <p:stCondLst>
                              <p:cond delay="0"/>
                            </p:stCondLst>
                            <p:childTnLst>
                              <p:par>
                                <p:cTn id="71" presetID="2" presetClass="entr" presetSubtype="4" fill="hold" grpId="0" nodeType="clickEffect">
                                  <p:stCondLst>
                                    <p:cond delay="100"/>
                                  </p:stCondLst>
                                  <p:childTnLst>
                                    <p:set>
                                      <p:cBhvr>
                                        <p:cTn id="67" dur="1" fill="hold">
                                          <p:stCondLst>
                                            <p:cond delay="0"/>
                                          </p:stCondLst>
                                        </p:cTn>
                                        <p:tgtEl>
                                          <p:spTgt spid="29"/>
                                        </p:tgtEl>
                                        <p:attrNameLst>
                                          <p:attrName>style.visibility</p:attrName>
                                        </p:attrNameLst>
                                      </p:cBhvr>
                                      <p:to>
                                        <p:strVal val="visible"/>
                                      </p:to>
                                    </p:set>
                                    <p:anim calcmode="lin" valueType="num">
                                      <p:cBhvr additive="base">
                                        <p:cTn id="68" dur="500" fill="hold"/>
                                        <p:tgtEl>
                                          <p:spTgt spid="29"/>
                                        </p:tgtEl>
                                        <p:attrNameLst>
                                          <p:attrName>ppt_x</p:attrName>
                                        </p:attrNameLst>
                                      </p:cBhvr>
                                      <p:tavLst>
                                        <p:tav tm="0">
                                          <p:val>
                                            <p:strVal val="#ppt_x"/>
                                          </p:val>
                                        </p:tav>
                                        <p:tav tm="100000">
                                          <p:val>
                                            <p:strVal val="#ppt_x"/>
                                          </p:val>
                                        </p:tav>
                                      </p:tavLst>
                                    </p:anim>
                                    <p:anim calcmode="lin" valueType="num">
                                      <p:cBhvr additive="base">
                                        <p:cTn id="69" dur="500" fill="hold"/>
                                        <p:tgtEl>
                                          <p:spTgt spid="29"/>
                                        </p:tgtEl>
                                        <p:attrNameLst>
                                          <p:attrName>ppt_y</p:attrName>
                                        </p:attrNameLst>
                                      </p:cBhvr>
                                      <p:tavLst>
                                        <p:tav tm="0">
                                          <p:val>
                                            <p:strVal val="#ppt_y+0.1"/>
                                          </p:val>
                                        </p:tav>
                                        <p:tav tm="100000">
                                          <p:val>
                                            <p:strVal val="#ppt_y"/>
                                          </p:val>
                                        </p:tav>
                                      </p:tavLst>
                                    </p:anim>
                                    <p:animEffect transition="in" filter="fade">
                                      <p:cBhvr>
                                        <p:cTn id="70" dur="500"/>
                                        <p:tgtEl>
                                          <p:spTgt spid="29"/>
                                        </p:tgtEl>
                                      </p:cBhvr>
                                    </p:animEffect>
                                  </p:childTnLst>
                                </p:cTn>
                              </p:par>
                              <p:par>
                                <p:cTn id="76" presetID="2" presetClass="entr" presetSubtype="4" fill="hold" grpId="0" nodeType="withEffect">
                                  <p:stCondLst>
                                    <p:cond delay="100"/>
                                  </p:stCondLst>
                                  <p:childTnLst>
                                    <p:set>
                                      <p:cBhvr>
                                        <p:cTn id="72" dur="1" fill="hold">
                                          <p:stCondLst>
                                            <p:cond delay="0"/>
                                          </p:stCondLst>
                                        </p:cTn>
                                        <p:tgtEl>
                                          <p:spTgt spid="30"/>
                                        </p:tgtEl>
                                        <p:attrNameLst>
                                          <p:attrName>style.visibility</p:attrName>
                                        </p:attrNameLst>
                                      </p:cBhvr>
                                      <p:to>
                                        <p:strVal val="visible"/>
                                      </p:to>
                                    </p:set>
                                    <p:anim calcmode="lin" valueType="num">
                                      <p:cBhvr additive="base">
                                        <p:cTn id="73" dur="500" fill="hold"/>
                                        <p:tgtEl>
                                          <p:spTgt spid="30"/>
                                        </p:tgtEl>
                                        <p:attrNameLst>
                                          <p:attrName>ppt_x</p:attrName>
                                        </p:attrNameLst>
                                      </p:cBhvr>
                                      <p:tavLst>
                                        <p:tav tm="0">
                                          <p:val>
                                            <p:strVal val="#ppt_x"/>
                                          </p:val>
                                        </p:tav>
                                        <p:tav tm="100000">
                                          <p:val>
                                            <p:strVal val="#ppt_x"/>
                                          </p:val>
                                        </p:tav>
                                      </p:tavLst>
                                    </p:anim>
                                    <p:anim calcmode="lin" valueType="num">
                                      <p:cBhvr additive="base">
                                        <p:cTn id="74" dur="500" fill="hold"/>
                                        <p:tgtEl>
                                          <p:spTgt spid="30"/>
                                        </p:tgtEl>
                                        <p:attrNameLst>
                                          <p:attrName>ppt_y</p:attrName>
                                        </p:attrNameLst>
                                      </p:cBhvr>
                                      <p:tavLst>
                                        <p:tav tm="0">
                                          <p:val>
                                            <p:strVal val="#ppt_y+0.1"/>
                                          </p:val>
                                        </p:tav>
                                        <p:tav tm="100000">
                                          <p:val>
                                            <p:strVal val="#ppt_y"/>
                                          </p:val>
                                        </p:tav>
                                      </p:tavLst>
                                    </p:anim>
                                    <p:animEffect transition="in" filter="fade">
                                      <p:cBhvr>
                                        <p:cTn id="75" dur="500"/>
                                        <p:tgtEl>
                                          <p:spTgt spid="30"/>
                                        </p:tgtEl>
                                      </p:cBhvr>
                                    </p:animEffect>
                                  </p:childTnLst>
                                </p:cTn>
                              </p:par>
                              <p:par>
                                <p:cTn id="81" presetID="2" presetClass="entr" presetSubtype="4" fill="hold" grpId="0" nodeType="withEffect">
                                  <p:stCondLst>
                                    <p:cond delay="100"/>
                                  </p:stCondLst>
                                  <p:childTnLst>
                                    <p:set>
                                      <p:cBhvr>
                                        <p:cTn id="77" dur="1" fill="hold">
                                          <p:stCondLst>
                                            <p:cond delay="0"/>
                                          </p:stCondLst>
                                        </p:cTn>
                                        <p:tgtEl>
                                          <p:spTgt spid="31"/>
                                        </p:tgtEl>
                                        <p:attrNameLst>
                                          <p:attrName>style.visibility</p:attrName>
                                        </p:attrNameLst>
                                      </p:cBhvr>
                                      <p:to>
                                        <p:strVal val="visible"/>
                                      </p:to>
                                    </p:set>
                                    <p:anim calcmode="lin" valueType="num">
                                      <p:cBhvr additive="base">
                                        <p:cTn id="78" dur="500" fill="hold"/>
                                        <p:tgtEl>
                                          <p:spTgt spid="31"/>
                                        </p:tgtEl>
                                        <p:attrNameLst>
                                          <p:attrName>ppt_x</p:attrName>
                                        </p:attrNameLst>
                                      </p:cBhvr>
                                      <p:tavLst>
                                        <p:tav tm="0">
                                          <p:val>
                                            <p:strVal val="#ppt_x"/>
                                          </p:val>
                                        </p:tav>
                                        <p:tav tm="100000">
                                          <p:val>
                                            <p:strVal val="#ppt_x"/>
                                          </p:val>
                                        </p:tav>
                                      </p:tavLst>
                                    </p:anim>
                                    <p:anim calcmode="lin" valueType="num">
                                      <p:cBhvr additive="base">
                                        <p:cTn id="79" dur="500" fill="hold"/>
                                        <p:tgtEl>
                                          <p:spTgt spid="31"/>
                                        </p:tgtEl>
                                        <p:attrNameLst>
                                          <p:attrName>ppt_y</p:attrName>
                                        </p:attrNameLst>
                                      </p:cBhvr>
                                      <p:tavLst>
                                        <p:tav tm="0">
                                          <p:val>
                                            <p:strVal val="#ppt_y+0.1"/>
                                          </p:val>
                                        </p:tav>
                                        <p:tav tm="100000">
                                          <p:val>
                                            <p:strVal val="#ppt_y"/>
                                          </p:val>
                                        </p:tav>
                                      </p:tavLst>
                                    </p:anim>
                                    <p:animEffect transition="in" filter="fade">
                                      <p:cBhvr>
                                        <p:cTn id="80" dur="500"/>
                                        <p:tgtEl>
                                          <p:spTgt spid="31"/>
                                        </p:tgtEl>
                                      </p:cBhvr>
                                    </p:animEffect>
                                  </p:childTnLst>
                                </p:cTn>
                              </p:par>
                            </p:childTnLst>
                          </p:cTn>
                        </p:par>
                      </p:childTnLst>
                    </p:cTn>
                  </p:par>
                  <p:par>
                    <p:cTn id="82" fill="hold">
                      <p:stCondLst>
                        <p:cond delay="indefinite"/>
                      </p:stCondLst>
                      <p:childTnLst>
                        <p:par>
                          <p:cTn id="83" fill="hold">
                            <p:stCondLst>
                              <p:cond delay="0"/>
                            </p:stCondLst>
                            <p:childTnLst>
                              <p:par>
                                <p:cTn id="88" presetID="2" presetClass="entr" presetSubtype="4" fill="hold" grpId="0" nodeType="clickEffect">
                                  <p:stCondLst>
                                    <p:cond delay="100"/>
                                  </p:stCondLst>
                                  <p:childTnLst>
                                    <p:set>
                                      <p:cBhvr>
                                        <p:cTn id="84" dur="1" fill="hold">
                                          <p:stCondLst>
                                            <p:cond delay="0"/>
                                          </p:stCondLst>
                                        </p:cTn>
                                        <p:tgtEl>
                                          <p:spTgt spid="32"/>
                                        </p:tgtEl>
                                        <p:attrNameLst>
                                          <p:attrName>style.visibility</p:attrName>
                                        </p:attrNameLst>
                                      </p:cBhvr>
                                      <p:to>
                                        <p:strVal val="visible"/>
                                      </p:to>
                                    </p:set>
                                    <p:anim calcmode="lin" valueType="num">
                                      <p:cBhvr additive="base">
                                        <p:cTn id="85" dur="500" fill="hold"/>
                                        <p:tgtEl>
                                          <p:spTgt spid="32"/>
                                        </p:tgtEl>
                                        <p:attrNameLst>
                                          <p:attrName>ppt_x</p:attrName>
                                        </p:attrNameLst>
                                      </p:cBhvr>
                                      <p:tavLst>
                                        <p:tav tm="0">
                                          <p:val>
                                            <p:strVal val="#ppt_x"/>
                                          </p:val>
                                        </p:tav>
                                        <p:tav tm="100000">
                                          <p:val>
                                            <p:strVal val="#ppt_x"/>
                                          </p:val>
                                        </p:tav>
                                      </p:tavLst>
                                    </p:anim>
                                    <p:anim calcmode="lin" valueType="num">
                                      <p:cBhvr additive="base">
                                        <p:cTn id="86" dur="500" fill="hold"/>
                                        <p:tgtEl>
                                          <p:spTgt spid="32"/>
                                        </p:tgtEl>
                                        <p:attrNameLst>
                                          <p:attrName>ppt_y</p:attrName>
                                        </p:attrNameLst>
                                      </p:cBhvr>
                                      <p:tavLst>
                                        <p:tav tm="0">
                                          <p:val>
                                            <p:strVal val="#ppt_y+0.1"/>
                                          </p:val>
                                        </p:tav>
                                        <p:tav tm="100000">
                                          <p:val>
                                            <p:strVal val="#ppt_y"/>
                                          </p:val>
                                        </p:tav>
                                      </p:tavLst>
                                    </p:anim>
                                    <p:animEffect transition="in" filter="fade">
                                      <p:cBhvr>
                                        <p:cTn id="87" dur="500"/>
                                        <p:tgtEl>
                                          <p:spTgt spid="32"/>
                                        </p:tgtEl>
                                      </p:cBhvr>
                                    </p:animEffect>
                                  </p:childTnLst>
                                </p:cTn>
                              </p:par>
                              <p:par>
                                <p:cTn id="93" presetID="2" presetClass="entr" presetSubtype="4" fill="hold" grpId="0" nodeType="withEffect">
                                  <p:stCondLst>
                                    <p:cond delay="100"/>
                                  </p:stCondLst>
                                  <p:childTnLst>
                                    <p:set>
                                      <p:cBhvr>
                                        <p:cTn id="89" dur="1" fill="hold">
                                          <p:stCondLst>
                                            <p:cond delay="0"/>
                                          </p:stCondLst>
                                        </p:cTn>
                                        <p:tgtEl>
                                          <p:spTgt spid="33"/>
                                        </p:tgtEl>
                                        <p:attrNameLst>
                                          <p:attrName>style.visibility</p:attrName>
                                        </p:attrNameLst>
                                      </p:cBhvr>
                                      <p:to>
                                        <p:strVal val="visible"/>
                                      </p:to>
                                    </p:set>
                                    <p:anim calcmode="lin" valueType="num">
                                      <p:cBhvr additive="base">
                                        <p:cTn id="90" dur="500" fill="hold"/>
                                        <p:tgtEl>
                                          <p:spTgt spid="33"/>
                                        </p:tgtEl>
                                        <p:attrNameLst>
                                          <p:attrName>ppt_x</p:attrName>
                                        </p:attrNameLst>
                                      </p:cBhvr>
                                      <p:tavLst>
                                        <p:tav tm="0">
                                          <p:val>
                                            <p:strVal val="#ppt_x"/>
                                          </p:val>
                                        </p:tav>
                                        <p:tav tm="100000">
                                          <p:val>
                                            <p:strVal val="#ppt_x"/>
                                          </p:val>
                                        </p:tav>
                                      </p:tavLst>
                                    </p:anim>
                                    <p:anim calcmode="lin" valueType="num">
                                      <p:cBhvr additive="base">
                                        <p:cTn id="91" dur="500" fill="hold"/>
                                        <p:tgtEl>
                                          <p:spTgt spid="33"/>
                                        </p:tgtEl>
                                        <p:attrNameLst>
                                          <p:attrName>ppt_y</p:attrName>
                                        </p:attrNameLst>
                                      </p:cBhvr>
                                      <p:tavLst>
                                        <p:tav tm="0">
                                          <p:val>
                                            <p:strVal val="#ppt_y+0.1"/>
                                          </p:val>
                                        </p:tav>
                                        <p:tav tm="100000">
                                          <p:val>
                                            <p:strVal val="#ppt_y"/>
                                          </p:val>
                                        </p:tav>
                                      </p:tavLst>
                                    </p:anim>
                                    <p:animEffect transition="in" filter="fade">
                                      <p:cBhvr>
                                        <p:cTn id="92" dur="500"/>
                                        <p:tgtEl>
                                          <p:spTgt spid="33"/>
                                        </p:tgtEl>
                                      </p:cBhvr>
                                    </p:animEffect>
                                  </p:childTnLst>
                                </p:cTn>
                              </p:par>
                              <p:par>
                                <p:cTn id="98" presetID="2" presetClass="entr" presetSubtype="4" fill="hold" grpId="0" nodeType="withEffect">
                                  <p:stCondLst>
                                    <p:cond delay="100"/>
                                  </p:stCondLst>
                                  <p:childTnLst>
                                    <p:set>
                                      <p:cBhvr>
                                        <p:cTn id="94" dur="1" fill="hold">
                                          <p:stCondLst>
                                            <p:cond delay="0"/>
                                          </p:stCondLst>
                                        </p:cTn>
                                        <p:tgtEl>
                                          <p:spTgt spid="34"/>
                                        </p:tgtEl>
                                        <p:attrNameLst>
                                          <p:attrName>style.visibility</p:attrName>
                                        </p:attrNameLst>
                                      </p:cBhvr>
                                      <p:to>
                                        <p:strVal val="visible"/>
                                      </p:to>
                                    </p:set>
                                    <p:anim calcmode="lin" valueType="num">
                                      <p:cBhvr additive="base">
                                        <p:cTn id="95" dur="500" fill="hold"/>
                                        <p:tgtEl>
                                          <p:spTgt spid="34"/>
                                        </p:tgtEl>
                                        <p:attrNameLst>
                                          <p:attrName>ppt_x</p:attrName>
                                        </p:attrNameLst>
                                      </p:cBhvr>
                                      <p:tavLst>
                                        <p:tav tm="0">
                                          <p:val>
                                            <p:strVal val="#ppt_x"/>
                                          </p:val>
                                        </p:tav>
                                        <p:tav tm="100000">
                                          <p:val>
                                            <p:strVal val="#ppt_x"/>
                                          </p:val>
                                        </p:tav>
                                      </p:tavLst>
                                    </p:anim>
                                    <p:anim calcmode="lin" valueType="num">
                                      <p:cBhvr additive="base">
                                        <p:cTn id="96" dur="500" fill="hold"/>
                                        <p:tgtEl>
                                          <p:spTgt spid="34"/>
                                        </p:tgtEl>
                                        <p:attrNameLst>
                                          <p:attrName>ppt_y</p:attrName>
                                        </p:attrNameLst>
                                      </p:cBhvr>
                                      <p:tavLst>
                                        <p:tav tm="0">
                                          <p:val>
                                            <p:strVal val="#ppt_y+0.1"/>
                                          </p:val>
                                        </p:tav>
                                        <p:tav tm="100000">
                                          <p:val>
                                            <p:strVal val="#ppt_y"/>
                                          </p:val>
                                        </p:tav>
                                      </p:tavLst>
                                    </p:anim>
                                    <p:animEffect transition="in" filter="fade">
                                      <p:cBhvr>
                                        <p:cTn id="97" dur="500"/>
                                        <p:tgtEl>
                                          <p:spTgt spid="34"/>
                                        </p:tgtEl>
                                      </p:cBhvr>
                                    </p:animEffect>
                                  </p:childTnLst>
                                </p:cTn>
                              </p:par>
                            </p:childTnLst>
                          </p:cTn>
                        </p:par>
                      </p:childTnLst>
                    </p:cTn>
                  </p:par>
                  <p:par>
                    <p:cTn id="99" fill="hold">
                      <p:stCondLst>
                        <p:cond delay="indefinite"/>
                      </p:stCondLst>
                      <p:childTnLst>
                        <p:par>
                          <p:cTn id="100" fill="hold">
                            <p:stCondLst>
                              <p:cond delay="0"/>
                            </p:stCondLst>
                            <p:childTnLst>
                              <p:par>
                                <p:cTn id="105" presetID="2" presetClass="entr" presetSubtype="4" fill="hold" grpId="0" nodeType="clickEffect">
                                  <p:stCondLst>
                                    <p:cond delay="100"/>
                                  </p:stCondLst>
                                  <p:childTnLst>
                                    <p:set>
                                      <p:cBhvr>
                                        <p:cTn id="101" dur="1" fill="hold">
                                          <p:stCondLst>
                                            <p:cond delay="0"/>
                                          </p:stCondLst>
                                        </p:cTn>
                                        <p:tgtEl>
                                          <p:spTgt spid="35"/>
                                        </p:tgtEl>
                                        <p:attrNameLst>
                                          <p:attrName>style.visibility</p:attrName>
                                        </p:attrNameLst>
                                      </p:cBhvr>
                                      <p:to>
                                        <p:strVal val="visible"/>
                                      </p:to>
                                    </p:set>
                                    <p:anim calcmode="lin" valueType="num">
                                      <p:cBhvr additive="base">
                                        <p:cTn id="102" dur="500" fill="hold"/>
                                        <p:tgtEl>
                                          <p:spTgt spid="35"/>
                                        </p:tgtEl>
                                        <p:attrNameLst>
                                          <p:attrName>ppt_x</p:attrName>
                                        </p:attrNameLst>
                                      </p:cBhvr>
                                      <p:tavLst>
                                        <p:tav tm="0">
                                          <p:val>
                                            <p:strVal val="#ppt_x"/>
                                          </p:val>
                                        </p:tav>
                                        <p:tav tm="100000">
                                          <p:val>
                                            <p:strVal val="#ppt_x"/>
                                          </p:val>
                                        </p:tav>
                                      </p:tavLst>
                                    </p:anim>
                                    <p:anim calcmode="lin" valueType="num">
                                      <p:cBhvr additive="base">
                                        <p:cTn id="103" dur="500" fill="hold"/>
                                        <p:tgtEl>
                                          <p:spTgt spid="35"/>
                                        </p:tgtEl>
                                        <p:attrNameLst>
                                          <p:attrName>ppt_y</p:attrName>
                                        </p:attrNameLst>
                                      </p:cBhvr>
                                      <p:tavLst>
                                        <p:tav tm="0">
                                          <p:val>
                                            <p:strVal val="#ppt_y+0.1"/>
                                          </p:val>
                                        </p:tav>
                                        <p:tav tm="100000">
                                          <p:val>
                                            <p:strVal val="#ppt_y"/>
                                          </p:val>
                                        </p:tav>
                                      </p:tavLst>
                                    </p:anim>
                                    <p:animEffect transition="in" filter="fade">
                                      <p:cBhvr>
                                        <p:cTn id="104" dur="500"/>
                                        <p:tgtEl>
                                          <p:spTgt spid="35"/>
                                        </p:tgtEl>
                                      </p:cBhvr>
                                    </p:animEffect>
                                  </p:childTnLst>
                                </p:cTn>
                              </p:par>
                              <p:par>
                                <p:cTn id="110" presetID="2" presetClass="entr" presetSubtype="4" fill="hold" grpId="0" nodeType="withEffect">
                                  <p:stCondLst>
                                    <p:cond delay="100"/>
                                  </p:stCondLst>
                                  <p:childTnLst>
                                    <p:set>
                                      <p:cBhvr>
                                        <p:cTn id="106" dur="1" fill="hold">
                                          <p:stCondLst>
                                            <p:cond delay="0"/>
                                          </p:stCondLst>
                                        </p:cTn>
                                        <p:tgtEl>
                                          <p:spTgt spid="36"/>
                                        </p:tgtEl>
                                        <p:attrNameLst>
                                          <p:attrName>style.visibility</p:attrName>
                                        </p:attrNameLst>
                                      </p:cBhvr>
                                      <p:to>
                                        <p:strVal val="visible"/>
                                      </p:to>
                                    </p:set>
                                    <p:anim calcmode="lin" valueType="num">
                                      <p:cBhvr additive="base">
                                        <p:cTn id="107" dur="500" fill="hold"/>
                                        <p:tgtEl>
                                          <p:spTgt spid="36"/>
                                        </p:tgtEl>
                                        <p:attrNameLst>
                                          <p:attrName>ppt_x</p:attrName>
                                        </p:attrNameLst>
                                      </p:cBhvr>
                                      <p:tavLst>
                                        <p:tav tm="0">
                                          <p:val>
                                            <p:strVal val="#ppt_x"/>
                                          </p:val>
                                        </p:tav>
                                        <p:tav tm="100000">
                                          <p:val>
                                            <p:strVal val="#ppt_x"/>
                                          </p:val>
                                        </p:tav>
                                      </p:tavLst>
                                    </p:anim>
                                    <p:anim calcmode="lin" valueType="num">
                                      <p:cBhvr additive="base">
                                        <p:cTn id="108" dur="500" fill="hold"/>
                                        <p:tgtEl>
                                          <p:spTgt spid="36"/>
                                        </p:tgtEl>
                                        <p:attrNameLst>
                                          <p:attrName>ppt_y</p:attrName>
                                        </p:attrNameLst>
                                      </p:cBhvr>
                                      <p:tavLst>
                                        <p:tav tm="0">
                                          <p:val>
                                            <p:strVal val="#ppt_y+0.1"/>
                                          </p:val>
                                        </p:tav>
                                        <p:tav tm="100000">
                                          <p:val>
                                            <p:strVal val="#ppt_y"/>
                                          </p:val>
                                        </p:tav>
                                      </p:tavLst>
                                    </p:anim>
                                    <p:animEffect transition="in" filter="fade">
                                      <p:cBhvr>
                                        <p:cTn id="109" dur="500"/>
                                        <p:tgtEl>
                                          <p:spTgt spid="36"/>
                                        </p:tgtEl>
                                      </p:cBhvr>
                                    </p:animEffect>
                                  </p:childTnLst>
                                </p:cTn>
                              </p:par>
                              <p:par>
                                <p:cTn id="115" presetID="2" presetClass="entr" presetSubtype="4" fill="hold" grpId="0" nodeType="withEffect">
                                  <p:stCondLst>
                                    <p:cond delay="100"/>
                                  </p:stCondLst>
                                  <p:childTnLst>
                                    <p:set>
                                      <p:cBhvr>
                                        <p:cTn id="111" dur="1" fill="hold">
                                          <p:stCondLst>
                                            <p:cond delay="0"/>
                                          </p:stCondLst>
                                        </p:cTn>
                                        <p:tgtEl>
                                          <p:spTgt spid="37"/>
                                        </p:tgtEl>
                                        <p:attrNameLst>
                                          <p:attrName>style.visibility</p:attrName>
                                        </p:attrNameLst>
                                      </p:cBhvr>
                                      <p:to>
                                        <p:strVal val="visible"/>
                                      </p:to>
                                    </p:set>
                                    <p:anim calcmode="lin" valueType="num">
                                      <p:cBhvr additive="base">
                                        <p:cTn id="112" dur="500" fill="hold"/>
                                        <p:tgtEl>
                                          <p:spTgt spid="37"/>
                                        </p:tgtEl>
                                        <p:attrNameLst>
                                          <p:attrName>ppt_x</p:attrName>
                                        </p:attrNameLst>
                                      </p:cBhvr>
                                      <p:tavLst>
                                        <p:tav tm="0">
                                          <p:val>
                                            <p:strVal val="#ppt_x"/>
                                          </p:val>
                                        </p:tav>
                                        <p:tav tm="100000">
                                          <p:val>
                                            <p:strVal val="#ppt_x"/>
                                          </p:val>
                                        </p:tav>
                                      </p:tavLst>
                                    </p:anim>
                                    <p:anim calcmode="lin" valueType="num">
                                      <p:cBhvr additive="base">
                                        <p:cTn id="113" dur="500" fill="hold"/>
                                        <p:tgtEl>
                                          <p:spTgt spid="37"/>
                                        </p:tgtEl>
                                        <p:attrNameLst>
                                          <p:attrName>ppt_y</p:attrName>
                                        </p:attrNameLst>
                                      </p:cBhvr>
                                      <p:tavLst>
                                        <p:tav tm="0">
                                          <p:val>
                                            <p:strVal val="#ppt_y+0.1"/>
                                          </p:val>
                                        </p:tav>
                                        <p:tav tm="100000">
                                          <p:val>
                                            <p:strVal val="#ppt_y"/>
                                          </p:val>
                                        </p:tav>
                                      </p:tavLst>
                                    </p:anim>
                                    <p:animEffect transition="in" filter="fade">
                                      <p:cBhvr>
                                        <p:cTn id="114" dur="500"/>
                                        <p:tgtEl>
                                          <p:spTgt spid="37"/>
                                        </p:tgtEl>
                                      </p:cBhvr>
                                    </p:animEffect>
                                  </p:childTnLst>
                                </p:cTn>
                              </p:par>
                            </p:childTnLst>
                          </p:cTn>
                        </p:par>
                      </p:childTnLst>
                    </p:cTn>
                  </p:par>
                  <p:par>
                    <p:cTn id="116" fill="hold">
                      <p:stCondLst>
                        <p:cond delay="indefinite"/>
                      </p:stCondLst>
                      <p:childTnLst>
                        <p:par>
                          <p:cTn id="117" fill="hold">
                            <p:stCondLst>
                              <p:cond delay="0"/>
                            </p:stCondLst>
                            <p:childTnLst>
                              <p:par>
                                <p:cTn id="122" presetID="2" presetClass="entr" presetSubtype="4" fill="hold" grpId="0" nodeType="clickEffect">
                                  <p:stCondLst>
                                    <p:cond delay="0"/>
                                  </p:stCondLst>
                                  <p:childTnLst>
                                    <p:set>
                                      <p:cBhvr>
                                        <p:cTn id="118" dur="1" fill="hold">
                                          <p:stCondLst>
                                            <p:cond delay="0"/>
                                          </p:stCondLst>
                                        </p:cTn>
                                        <p:tgtEl>
                                          <p:spTgt spid="38"/>
                                        </p:tgtEl>
                                        <p:attrNameLst>
                                          <p:attrName>style.visibility</p:attrName>
                                        </p:attrNameLst>
                                      </p:cBhvr>
                                      <p:to>
                                        <p:strVal val="visible"/>
                                      </p:to>
                                    </p:set>
                                    <p:anim calcmode="lin" valueType="num">
                                      <p:cBhvr additive="base">
                                        <p:cTn id="119" dur="500" fill="hold"/>
                                        <p:tgtEl>
                                          <p:spTgt spid="38"/>
                                        </p:tgtEl>
                                        <p:attrNameLst>
                                          <p:attrName>ppt_x</p:attrName>
                                        </p:attrNameLst>
                                      </p:cBhvr>
                                      <p:tavLst>
                                        <p:tav tm="0">
                                          <p:val>
                                            <p:strVal val="#ppt_x"/>
                                          </p:val>
                                        </p:tav>
                                        <p:tav tm="100000">
                                          <p:val>
                                            <p:strVal val="#ppt_x"/>
                                          </p:val>
                                        </p:tav>
                                      </p:tavLst>
                                    </p:anim>
                                    <p:anim calcmode="lin" valueType="num">
                                      <p:cBhvr additive="base">
                                        <p:cTn id="120" dur="500" fill="hold"/>
                                        <p:tgtEl>
                                          <p:spTgt spid="38"/>
                                        </p:tgtEl>
                                        <p:attrNameLst>
                                          <p:attrName>ppt_y</p:attrName>
                                        </p:attrNameLst>
                                      </p:cBhvr>
                                      <p:tavLst>
                                        <p:tav tm="0">
                                          <p:val>
                                            <p:strVal val="#ppt_y+0.1"/>
                                          </p:val>
                                        </p:tav>
                                        <p:tav tm="100000">
                                          <p:val>
                                            <p:strVal val="#ppt_y"/>
                                          </p:val>
                                        </p:tav>
                                      </p:tavLst>
                                    </p:anim>
                                    <p:animEffect transition="in" filter="fade">
                                      <p:cBhvr>
                                        <p:cTn id="121" dur="500"/>
                                        <p:tgtEl>
                                          <p:spTgt spid="38"/>
                                        </p:tgtEl>
                                      </p:cBhvr>
                                    </p:animEffect>
                                  </p:childTnLst>
                                </p:cTn>
                              </p:par>
                              <p:par>
                                <p:cTn id="127" presetID="2" presetClass="entr" presetSubtype="4" fill="hold" grpId="0" nodeType="withEffect">
                                  <p:stCondLst>
                                    <p:cond delay="0"/>
                                  </p:stCondLst>
                                  <p:childTnLst>
                                    <p:set>
                                      <p:cBhvr>
                                        <p:cTn id="123" dur="1" fill="hold">
                                          <p:stCondLst>
                                            <p:cond delay="0"/>
                                          </p:stCondLst>
                                        </p:cTn>
                                        <p:tgtEl>
                                          <p:spTgt spid="39"/>
                                        </p:tgtEl>
                                        <p:attrNameLst>
                                          <p:attrName>style.visibility</p:attrName>
                                        </p:attrNameLst>
                                      </p:cBhvr>
                                      <p:to>
                                        <p:strVal val="visible"/>
                                      </p:to>
                                    </p:set>
                                    <p:anim calcmode="lin" valueType="num">
                                      <p:cBhvr additive="base">
                                        <p:cTn id="124" dur="500" fill="hold"/>
                                        <p:tgtEl>
                                          <p:spTgt spid="39"/>
                                        </p:tgtEl>
                                        <p:attrNameLst>
                                          <p:attrName>ppt_x</p:attrName>
                                        </p:attrNameLst>
                                      </p:cBhvr>
                                      <p:tavLst>
                                        <p:tav tm="0">
                                          <p:val>
                                            <p:strVal val="#ppt_x"/>
                                          </p:val>
                                        </p:tav>
                                        <p:tav tm="100000">
                                          <p:val>
                                            <p:strVal val="#ppt_x"/>
                                          </p:val>
                                        </p:tav>
                                      </p:tavLst>
                                    </p:anim>
                                    <p:anim calcmode="lin" valueType="num">
                                      <p:cBhvr additive="base">
                                        <p:cTn id="125" dur="500" fill="hold"/>
                                        <p:tgtEl>
                                          <p:spTgt spid="39"/>
                                        </p:tgtEl>
                                        <p:attrNameLst>
                                          <p:attrName>ppt_y</p:attrName>
                                        </p:attrNameLst>
                                      </p:cBhvr>
                                      <p:tavLst>
                                        <p:tav tm="0">
                                          <p:val>
                                            <p:strVal val="#ppt_y+0.1"/>
                                          </p:val>
                                        </p:tav>
                                        <p:tav tm="100000">
                                          <p:val>
                                            <p:strVal val="#ppt_y"/>
                                          </p:val>
                                        </p:tav>
                                      </p:tavLst>
                                    </p:anim>
                                    <p:animEffect transition="in" filter="fade">
                                      <p:cBhvr>
                                        <p:cTn id="126" dur="500"/>
                                        <p:tgtEl>
                                          <p:spTgt spid="39"/>
                                        </p:tgtEl>
                                      </p:cBhvr>
                                    </p:animEffect>
                                  </p:childTnLst>
                                </p:cTn>
                              </p:par>
                              <p:par>
                                <p:cTn id="132" presetID="2" presetClass="entr" presetSubtype="4" fill="hold" grpId="0" nodeType="withEffect">
                                  <p:stCondLst>
                                    <p:cond delay="0"/>
                                  </p:stCondLst>
                                  <p:childTnLst>
                                    <p:set>
                                      <p:cBhvr>
                                        <p:cTn id="128" dur="1" fill="hold">
                                          <p:stCondLst>
                                            <p:cond delay="0"/>
                                          </p:stCondLst>
                                        </p:cTn>
                                        <p:tgtEl>
                                          <p:spTgt spid="40"/>
                                        </p:tgtEl>
                                        <p:attrNameLst>
                                          <p:attrName>style.visibility</p:attrName>
                                        </p:attrNameLst>
                                      </p:cBhvr>
                                      <p:to>
                                        <p:strVal val="visible"/>
                                      </p:to>
                                    </p:set>
                                    <p:anim calcmode="lin" valueType="num">
                                      <p:cBhvr additive="base">
                                        <p:cTn id="129" dur="500" fill="hold"/>
                                        <p:tgtEl>
                                          <p:spTgt spid="40"/>
                                        </p:tgtEl>
                                        <p:attrNameLst>
                                          <p:attrName>ppt_x</p:attrName>
                                        </p:attrNameLst>
                                      </p:cBhvr>
                                      <p:tavLst>
                                        <p:tav tm="0">
                                          <p:val>
                                            <p:strVal val="#ppt_x"/>
                                          </p:val>
                                        </p:tav>
                                        <p:tav tm="100000">
                                          <p:val>
                                            <p:strVal val="#ppt_x"/>
                                          </p:val>
                                        </p:tav>
                                      </p:tavLst>
                                    </p:anim>
                                    <p:anim calcmode="lin" valueType="num">
                                      <p:cBhvr additive="base">
                                        <p:cTn id="130" dur="500" fill="hold"/>
                                        <p:tgtEl>
                                          <p:spTgt spid="40"/>
                                        </p:tgtEl>
                                        <p:attrNameLst>
                                          <p:attrName>ppt_y</p:attrName>
                                        </p:attrNameLst>
                                      </p:cBhvr>
                                      <p:tavLst>
                                        <p:tav tm="0">
                                          <p:val>
                                            <p:strVal val="#ppt_y+0.1"/>
                                          </p:val>
                                        </p:tav>
                                        <p:tav tm="100000">
                                          <p:val>
                                            <p:strVal val="#ppt_y"/>
                                          </p:val>
                                        </p:tav>
                                      </p:tavLst>
                                    </p:anim>
                                    <p:animEffect transition="in" filter="fade">
                                      <p:cBhvr>
                                        <p:cTn id="131"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Single Message Transforms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Small, stateless edits to each message as it passes through a connector</a:t>
            </a:r>
          </a:p>
        </p:txBody>
      </p:sp>
      <p:sp>
        <p:nvSpPr>
          <p:cNvPr id="11" name="a1u_card10"/>
          <p:cNvSpPr/>
          <p:nvPr/>
        </p:nvSpPr>
        <p:spPr>
          <a:xfrm>
            <a:off x="457200" y="1280160"/>
            <a:ext cx="2615184" cy="1115568"/>
          </a:xfrm>
          <a:prstGeom prst="roundRect">
            <a:avLst>
              <a:gd name="adj" fmla="val 9836"/>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80160"/>
            <a:ext cx="2615184" cy="457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tt12"/>
          <p:cNvSpPr txBox="1"/>
          <p:nvPr/>
        </p:nvSpPr>
        <p:spPr>
          <a:xfrm>
            <a:off x="603504" y="1389888"/>
            <a:ext cx="2340864" cy="256032"/>
          </a:xfrm>
          <a:prstGeom prst="rect">
            <a:avLst/>
          </a:prstGeom>
          <a:noFill/>
        </p:spPr>
        <p:txBody>
          <a:bodyPr wrap="square" lIns="0" tIns="0" rIns="0" bIns="0" anchor="ctr">
            <a:spAutoFit/>
          </a:bodyPr>
          <a:lstStyle/>
          <a:p>
            <a:pPr algn="l"/>
            <a:r>
              <a:rPr sz="1100" b="1">
                <a:solidFill>
                  <a:srgbClr val="1C1917"/>
                </a:solidFill>
                <a:latin typeface="Segoe UI"/>
              </a:rPr>
              <a:t>Filter</a:t>
            </a:r>
          </a:p>
        </p:txBody>
      </p:sp>
      <p:sp>
        <p:nvSpPr>
          <p:cNvPr id="14" name="a1ud60_tb13"/>
          <p:cNvSpPr txBox="1"/>
          <p:nvPr/>
        </p:nvSpPr>
        <p:spPr>
          <a:xfrm>
            <a:off x="603504" y="1682495"/>
            <a:ext cx="2340864" cy="658368"/>
          </a:xfrm>
          <a:prstGeom prst="rect">
            <a:avLst/>
          </a:prstGeom>
          <a:noFill/>
        </p:spPr>
        <p:txBody>
          <a:bodyPr wrap="square" lIns="0" tIns="0" rIns="0" bIns="0" anchor="t">
            <a:spAutoFit/>
          </a:bodyPr>
          <a:lstStyle/>
          <a:p>
            <a:pPr algn="l"/>
            <a:r>
              <a:rPr sz="900" b="0">
                <a:solidFill>
                  <a:srgbClr val="44403C"/>
                </a:solidFill>
                <a:latin typeface="Segoe UI"/>
              </a:rPr>
              <a:t>drop messages you don't want</a:t>
            </a:r>
          </a:p>
        </p:txBody>
      </p:sp>
      <p:sp>
        <p:nvSpPr>
          <p:cNvPr id="15" name="a1ud120_pill14"/>
          <p:cNvSpPr/>
          <p:nvPr/>
        </p:nvSpPr>
        <p:spPr>
          <a:xfrm>
            <a:off x="603504" y="2011680"/>
            <a:ext cx="2286000" cy="256032"/>
          </a:xfrm>
          <a:prstGeom prst="roundRect">
            <a:avLst>
              <a:gd name="adj" fmla="val 50000"/>
            </a:avLst>
          </a:prstGeom>
          <a:solidFill>
            <a:srgbClr val="FFE4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9F1239"/>
                </a:solidFill>
                <a:latin typeface="Consolas"/>
              </a:rPr>
              <a:t>Filter + a predicate</a:t>
            </a:r>
          </a:p>
        </p:txBody>
      </p:sp>
      <p:sp>
        <p:nvSpPr>
          <p:cNvPr id="16" name="a1u_card15"/>
          <p:cNvSpPr/>
          <p:nvPr/>
        </p:nvSpPr>
        <p:spPr>
          <a:xfrm>
            <a:off x="3264408" y="1280160"/>
            <a:ext cx="2615184" cy="1115568"/>
          </a:xfrm>
          <a:prstGeom prst="roundRect">
            <a:avLst>
              <a:gd name="adj" fmla="val 9836"/>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_acc16"/>
          <p:cNvSpPr/>
          <p:nvPr/>
        </p:nvSpPr>
        <p:spPr>
          <a:xfrm>
            <a:off x="3264408" y="1280160"/>
            <a:ext cx="2615184"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1u_tt17"/>
          <p:cNvSpPr txBox="1"/>
          <p:nvPr/>
        </p:nvSpPr>
        <p:spPr>
          <a:xfrm>
            <a:off x="3410712" y="1389888"/>
            <a:ext cx="2340864" cy="256032"/>
          </a:xfrm>
          <a:prstGeom prst="rect">
            <a:avLst/>
          </a:prstGeom>
          <a:noFill/>
        </p:spPr>
        <p:txBody>
          <a:bodyPr wrap="square" lIns="0" tIns="0" rIns="0" bIns="0" anchor="ctr">
            <a:spAutoFit/>
          </a:bodyPr>
          <a:lstStyle/>
          <a:p>
            <a:pPr algn="l"/>
            <a:r>
              <a:rPr sz="1100" b="1">
                <a:solidFill>
                  <a:srgbClr val="1C1917"/>
                </a:solidFill>
                <a:latin typeface="Segoe UI"/>
              </a:rPr>
              <a:t>Add a field</a:t>
            </a:r>
          </a:p>
        </p:txBody>
      </p:sp>
      <p:sp>
        <p:nvSpPr>
          <p:cNvPr id="19" name="a1ud60_tb18"/>
          <p:cNvSpPr txBox="1"/>
          <p:nvPr/>
        </p:nvSpPr>
        <p:spPr>
          <a:xfrm>
            <a:off x="3410712" y="1682495"/>
            <a:ext cx="2340864" cy="658368"/>
          </a:xfrm>
          <a:prstGeom prst="rect">
            <a:avLst/>
          </a:prstGeom>
          <a:noFill/>
        </p:spPr>
        <p:txBody>
          <a:bodyPr wrap="square" lIns="0" tIns="0" rIns="0" bIns="0" anchor="t">
            <a:spAutoFit/>
          </a:bodyPr>
          <a:lstStyle/>
          <a:p>
            <a:pPr algn="l"/>
            <a:r>
              <a:rPr sz="900" b="0">
                <a:solidFill>
                  <a:srgbClr val="44403C"/>
                </a:solidFill>
                <a:latin typeface="Segoe UI"/>
              </a:rPr>
              <a:t>context such as the source system</a:t>
            </a:r>
          </a:p>
        </p:txBody>
      </p:sp>
      <p:sp>
        <p:nvSpPr>
          <p:cNvPr id="20" name="a1ud120_pill19"/>
          <p:cNvSpPr/>
          <p:nvPr/>
        </p:nvSpPr>
        <p:spPr>
          <a:xfrm>
            <a:off x="3410712" y="2011680"/>
            <a:ext cx="2286000" cy="256032"/>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C2410C"/>
                </a:solidFill>
                <a:latin typeface="Consolas"/>
              </a:rPr>
              <a:t>InsertField</a:t>
            </a:r>
          </a:p>
        </p:txBody>
      </p:sp>
      <p:sp>
        <p:nvSpPr>
          <p:cNvPr id="21" name="a1u_card20"/>
          <p:cNvSpPr/>
          <p:nvPr/>
        </p:nvSpPr>
        <p:spPr>
          <a:xfrm>
            <a:off x="6071616" y="1280160"/>
            <a:ext cx="2615184" cy="1115568"/>
          </a:xfrm>
          <a:prstGeom prst="roundRect">
            <a:avLst>
              <a:gd name="adj" fmla="val 9836"/>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1u_acc21"/>
          <p:cNvSpPr/>
          <p:nvPr/>
        </p:nvSpPr>
        <p:spPr>
          <a:xfrm>
            <a:off x="6071616" y="1280160"/>
            <a:ext cx="2615184" cy="457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u_tt22"/>
          <p:cNvSpPr txBox="1"/>
          <p:nvPr/>
        </p:nvSpPr>
        <p:spPr>
          <a:xfrm>
            <a:off x="6217920" y="1389888"/>
            <a:ext cx="2340864" cy="256032"/>
          </a:xfrm>
          <a:prstGeom prst="rect">
            <a:avLst/>
          </a:prstGeom>
          <a:noFill/>
        </p:spPr>
        <p:txBody>
          <a:bodyPr wrap="square" lIns="0" tIns="0" rIns="0" bIns="0" anchor="ctr">
            <a:spAutoFit/>
          </a:bodyPr>
          <a:lstStyle/>
          <a:p>
            <a:pPr algn="l"/>
            <a:r>
              <a:rPr sz="1100" b="1">
                <a:solidFill>
                  <a:srgbClr val="1C1917"/>
                </a:solidFill>
                <a:latin typeface="Segoe UI"/>
              </a:rPr>
              <a:t>Rename a field</a:t>
            </a:r>
          </a:p>
        </p:txBody>
      </p:sp>
      <p:sp>
        <p:nvSpPr>
          <p:cNvPr id="24" name="a1ud60_tb23"/>
          <p:cNvSpPr txBox="1"/>
          <p:nvPr/>
        </p:nvSpPr>
        <p:spPr>
          <a:xfrm>
            <a:off x="6217920" y="1682495"/>
            <a:ext cx="2340864" cy="658368"/>
          </a:xfrm>
          <a:prstGeom prst="rect">
            <a:avLst/>
          </a:prstGeom>
          <a:noFill/>
        </p:spPr>
        <p:txBody>
          <a:bodyPr wrap="square" lIns="0" tIns="0" rIns="0" bIns="0" anchor="t">
            <a:spAutoFit/>
          </a:bodyPr>
          <a:lstStyle/>
          <a:p>
            <a:pPr algn="l"/>
            <a:r>
              <a:rPr sz="900" b="0">
                <a:solidFill>
                  <a:srgbClr val="44403C"/>
                </a:solidFill>
                <a:latin typeface="Segoe UI"/>
              </a:rPr>
              <a:t>or drop fields altogether</a:t>
            </a:r>
          </a:p>
        </p:txBody>
      </p:sp>
      <p:sp>
        <p:nvSpPr>
          <p:cNvPr id="25" name="a1ud120_pill24"/>
          <p:cNvSpPr/>
          <p:nvPr/>
        </p:nvSpPr>
        <p:spPr>
          <a:xfrm>
            <a:off x="6217920" y="2011680"/>
            <a:ext cx="2286000" cy="256032"/>
          </a:xfrm>
          <a:prstGeom prst="roundRect">
            <a:avLst>
              <a:gd name="adj" fmla="val 50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0E7490"/>
                </a:solidFill>
                <a:latin typeface="Consolas"/>
              </a:rPr>
              <a:t>ReplaceField</a:t>
            </a:r>
          </a:p>
        </p:txBody>
      </p:sp>
      <p:sp>
        <p:nvSpPr>
          <p:cNvPr id="26" name="a2u_card25"/>
          <p:cNvSpPr/>
          <p:nvPr/>
        </p:nvSpPr>
        <p:spPr>
          <a:xfrm>
            <a:off x="457200" y="2542032"/>
            <a:ext cx="2615184" cy="1115568"/>
          </a:xfrm>
          <a:prstGeom prst="roundRect">
            <a:avLst>
              <a:gd name="adj" fmla="val 9836"/>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2u_acc26"/>
          <p:cNvSpPr/>
          <p:nvPr/>
        </p:nvSpPr>
        <p:spPr>
          <a:xfrm>
            <a:off x="457200" y="2542032"/>
            <a:ext cx="2615184" cy="4572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2u_tt27"/>
          <p:cNvSpPr txBox="1"/>
          <p:nvPr/>
        </p:nvSpPr>
        <p:spPr>
          <a:xfrm>
            <a:off x="603504" y="2651760"/>
            <a:ext cx="2340864" cy="256032"/>
          </a:xfrm>
          <a:prstGeom prst="rect">
            <a:avLst/>
          </a:prstGeom>
          <a:noFill/>
        </p:spPr>
        <p:txBody>
          <a:bodyPr wrap="square" lIns="0" tIns="0" rIns="0" bIns="0" anchor="ctr">
            <a:spAutoFit/>
          </a:bodyPr>
          <a:lstStyle/>
          <a:p>
            <a:pPr algn="l"/>
            <a:r>
              <a:rPr sz="1100" b="1">
                <a:solidFill>
                  <a:srgbClr val="1C1917"/>
                </a:solidFill>
                <a:latin typeface="Segoe UI"/>
              </a:rPr>
              <a:t>Mask PII</a:t>
            </a:r>
          </a:p>
        </p:txBody>
      </p:sp>
      <p:sp>
        <p:nvSpPr>
          <p:cNvPr id="29" name="a2ud60_tb28"/>
          <p:cNvSpPr txBox="1"/>
          <p:nvPr/>
        </p:nvSpPr>
        <p:spPr>
          <a:xfrm>
            <a:off x="603504" y="2944368"/>
            <a:ext cx="2340864" cy="658368"/>
          </a:xfrm>
          <a:prstGeom prst="rect">
            <a:avLst/>
          </a:prstGeom>
          <a:noFill/>
        </p:spPr>
        <p:txBody>
          <a:bodyPr wrap="square" lIns="0" tIns="0" rIns="0" bIns="0" anchor="t">
            <a:spAutoFit/>
          </a:bodyPr>
          <a:lstStyle/>
          <a:p>
            <a:pPr algn="l"/>
            <a:r>
              <a:rPr sz="900" b="0">
                <a:solidFill>
                  <a:srgbClr val="44403C"/>
                </a:solidFill>
                <a:latin typeface="Segoe UI"/>
              </a:rPr>
              <a:t>blank out a card number or email</a:t>
            </a:r>
          </a:p>
        </p:txBody>
      </p:sp>
      <p:sp>
        <p:nvSpPr>
          <p:cNvPr id="30" name="a2ud120_pill29"/>
          <p:cNvSpPr/>
          <p:nvPr/>
        </p:nvSpPr>
        <p:spPr>
          <a:xfrm>
            <a:off x="603504" y="3273552"/>
            <a:ext cx="2286000" cy="256032"/>
          </a:xfrm>
          <a:prstGeom prst="roundRect">
            <a:avLst>
              <a:gd name="adj" fmla="val 50000"/>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A16207"/>
                </a:solidFill>
                <a:latin typeface="Consolas"/>
              </a:rPr>
              <a:t>MaskField</a:t>
            </a:r>
          </a:p>
        </p:txBody>
      </p:sp>
      <p:sp>
        <p:nvSpPr>
          <p:cNvPr id="31" name="a2u_card30"/>
          <p:cNvSpPr/>
          <p:nvPr/>
        </p:nvSpPr>
        <p:spPr>
          <a:xfrm>
            <a:off x="3264408" y="2542032"/>
            <a:ext cx="2615184" cy="1115568"/>
          </a:xfrm>
          <a:prstGeom prst="roundRect">
            <a:avLst>
              <a:gd name="adj" fmla="val 9836"/>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2u_acc31"/>
          <p:cNvSpPr/>
          <p:nvPr/>
        </p:nvSpPr>
        <p:spPr>
          <a:xfrm>
            <a:off x="3264408" y="2542032"/>
            <a:ext cx="2615184"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2u_tt32"/>
          <p:cNvSpPr txBox="1"/>
          <p:nvPr/>
        </p:nvSpPr>
        <p:spPr>
          <a:xfrm>
            <a:off x="3410712" y="2651760"/>
            <a:ext cx="2340864" cy="256032"/>
          </a:xfrm>
          <a:prstGeom prst="rect">
            <a:avLst/>
          </a:prstGeom>
          <a:noFill/>
        </p:spPr>
        <p:txBody>
          <a:bodyPr wrap="square" lIns="0" tIns="0" rIns="0" bIns="0" anchor="ctr">
            <a:spAutoFit/>
          </a:bodyPr>
          <a:lstStyle/>
          <a:p>
            <a:pPr algn="l"/>
            <a:r>
              <a:rPr sz="1100" b="1">
                <a:solidFill>
                  <a:srgbClr val="1C1917"/>
                </a:solidFill>
                <a:latin typeface="Segoe UI"/>
              </a:rPr>
              <a:t>Modify values</a:t>
            </a:r>
          </a:p>
        </p:txBody>
      </p:sp>
      <p:sp>
        <p:nvSpPr>
          <p:cNvPr id="34" name="a2ud60_tb33"/>
          <p:cNvSpPr txBox="1"/>
          <p:nvPr/>
        </p:nvSpPr>
        <p:spPr>
          <a:xfrm>
            <a:off x="3410712" y="2944368"/>
            <a:ext cx="2340864" cy="658368"/>
          </a:xfrm>
          <a:prstGeom prst="rect">
            <a:avLst/>
          </a:prstGeom>
          <a:noFill/>
        </p:spPr>
        <p:txBody>
          <a:bodyPr wrap="square" lIns="0" tIns="0" rIns="0" bIns="0" anchor="t">
            <a:spAutoFit/>
          </a:bodyPr>
          <a:lstStyle/>
          <a:p>
            <a:pPr algn="l"/>
            <a:r>
              <a:rPr sz="900" b="0">
                <a:solidFill>
                  <a:srgbClr val="44403C"/>
                </a:solidFill>
                <a:latin typeface="Segoe UI"/>
              </a:rPr>
              <a:t>change a value's type, format a date</a:t>
            </a:r>
          </a:p>
        </p:txBody>
      </p:sp>
      <p:sp>
        <p:nvSpPr>
          <p:cNvPr id="35" name="a2ud120_pill34"/>
          <p:cNvSpPr/>
          <p:nvPr/>
        </p:nvSpPr>
        <p:spPr>
          <a:xfrm>
            <a:off x="3410712" y="3273552"/>
            <a:ext cx="2286000" cy="256032"/>
          </a:xfrm>
          <a:prstGeom prst="roundRect">
            <a:avLst>
              <a:gd name="adj" fmla="val 50000"/>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4F46E5"/>
                </a:solidFill>
                <a:latin typeface="Consolas"/>
              </a:rPr>
              <a:t>Cast, TimestampConverter</a:t>
            </a:r>
          </a:p>
        </p:txBody>
      </p:sp>
      <p:sp>
        <p:nvSpPr>
          <p:cNvPr id="36" name="a2u_card35"/>
          <p:cNvSpPr/>
          <p:nvPr/>
        </p:nvSpPr>
        <p:spPr>
          <a:xfrm>
            <a:off x="6071616" y="2542032"/>
            <a:ext cx="2615184" cy="1115568"/>
          </a:xfrm>
          <a:prstGeom prst="roundRect">
            <a:avLst>
              <a:gd name="adj" fmla="val 9836"/>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2u_acc36"/>
          <p:cNvSpPr/>
          <p:nvPr/>
        </p:nvSpPr>
        <p:spPr>
          <a:xfrm>
            <a:off x="6071616" y="2542032"/>
            <a:ext cx="2615184" cy="4572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2u_tt37"/>
          <p:cNvSpPr txBox="1"/>
          <p:nvPr/>
        </p:nvSpPr>
        <p:spPr>
          <a:xfrm>
            <a:off x="6217920" y="2651760"/>
            <a:ext cx="2340864" cy="256032"/>
          </a:xfrm>
          <a:prstGeom prst="rect">
            <a:avLst/>
          </a:prstGeom>
          <a:noFill/>
        </p:spPr>
        <p:txBody>
          <a:bodyPr wrap="square" lIns="0" tIns="0" rIns="0" bIns="0" anchor="ctr">
            <a:spAutoFit/>
          </a:bodyPr>
          <a:lstStyle/>
          <a:p>
            <a:pPr algn="l"/>
            <a:r>
              <a:rPr sz="1100" b="1">
                <a:solidFill>
                  <a:srgbClr val="1C1917"/>
                </a:solidFill>
                <a:latin typeface="Segoe UI"/>
              </a:rPr>
              <a:t>Extract a key</a:t>
            </a:r>
          </a:p>
        </p:txBody>
      </p:sp>
      <p:sp>
        <p:nvSpPr>
          <p:cNvPr id="39" name="a2ud60_tb38"/>
          <p:cNvSpPr txBox="1"/>
          <p:nvPr/>
        </p:nvSpPr>
        <p:spPr>
          <a:xfrm>
            <a:off x="6217920" y="2944368"/>
            <a:ext cx="2340864" cy="658368"/>
          </a:xfrm>
          <a:prstGeom prst="rect">
            <a:avLst/>
          </a:prstGeom>
          <a:noFill/>
        </p:spPr>
        <p:txBody>
          <a:bodyPr wrap="square" lIns="0" tIns="0" rIns="0" bIns="0" anchor="t">
            <a:spAutoFit/>
          </a:bodyPr>
          <a:lstStyle/>
          <a:p>
            <a:pPr algn="l"/>
            <a:r>
              <a:rPr sz="900" b="0">
                <a:solidFill>
                  <a:srgbClr val="44403C"/>
                </a:solidFill>
                <a:latin typeface="Segoe UI"/>
              </a:rPr>
              <a:t>take the key from the value</a:t>
            </a:r>
          </a:p>
        </p:txBody>
      </p:sp>
      <p:sp>
        <p:nvSpPr>
          <p:cNvPr id="40" name="a2ud120_pill39"/>
          <p:cNvSpPr/>
          <p:nvPr/>
        </p:nvSpPr>
        <p:spPr>
          <a:xfrm>
            <a:off x="6217920" y="3273552"/>
            <a:ext cx="2286000" cy="256032"/>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15803D"/>
                </a:solidFill>
                <a:latin typeface="Consolas"/>
              </a:rPr>
              <a:t>ValueToKey</a:t>
            </a:r>
          </a:p>
        </p:txBody>
      </p:sp>
      <p:sp>
        <p:nvSpPr>
          <p:cNvPr id="41" name="a3u_nb40"/>
          <p:cNvSpPr/>
          <p:nvPr/>
        </p:nvSpPr>
        <p:spPr>
          <a:xfrm>
            <a:off x="457200" y="3886200"/>
            <a:ext cx="8229600" cy="566928"/>
          </a:xfrm>
          <a:prstGeom prst="roundRect">
            <a:avLst>
              <a:gd name="adj" fmla="val 12903"/>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3u_nacc41"/>
          <p:cNvSpPr/>
          <p:nvPr/>
        </p:nvSpPr>
        <p:spPr>
          <a:xfrm>
            <a:off x="457200" y="3886200"/>
            <a:ext cx="54864"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3u_nt42"/>
          <p:cNvSpPr txBox="1"/>
          <p:nvPr/>
        </p:nvSpPr>
        <p:spPr>
          <a:xfrm>
            <a:off x="658368" y="3886200"/>
            <a:ext cx="7827264" cy="566928"/>
          </a:xfrm>
          <a:prstGeom prst="rect">
            <a:avLst/>
          </a:prstGeom>
          <a:noFill/>
        </p:spPr>
        <p:txBody>
          <a:bodyPr wrap="square" lIns="0" tIns="0" rIns="0" bIns="0" anchor="ctr">
            <a:spAutoFit/>
          </a:bodyPr>
          <a:lstStyle/>
          <a:p>
            <a:pPr algn="l"/>
            <a:r>
              <a:rPr sz="950" b="1">
                <a:solidFill>
                  <a:srgbClr val="C2410C"/>
                </a:solidFill>
                <a:latin typeface="Segoe UI"/>
              </a:rPr>
              <a:t>i  </a:t>
            </a:r>
            <a:r>
              <a:rPr sz="950" b="0">
                <a:solidFill>
                  <a:srgbClr val="44403C"/>
                </a:solidFill>
                <a:latin typeface="Segoe UI"/>
              </a:rPr>
              <a:t>All of these ship with Apache Kafka (org.apache.kafka.connect.transforms) - no extra plugin needed.</a:t>
            </a:r>
          </a:p>
        </p:txBody>
      </p:sp>
      <p:sp>
        <p:nvSpPr>
          <p:cNvPr id="44" name="ft43"/>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08</a:t>
            </a:r>
          </a:p>
        </p:txBody>
      </p:sp>
      <p:sp>
        <p:nvSpPr>
          <p:cNvPr id="45" name="ft44"/>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ft45"/>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Kafka Connect</a:t>
            </a:r>
          </a:p>
        </p:txBody>
      </p:sp>
      <p:sp>
        <p:nvSpPr>
          <p:cNvPr id="47" name="ft46"/>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9</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additive="base">
                                        <p:cTn id="21" dur="500" fill="hold"/>
                                        <p:tgtEl>
                                          <p:spTgt spid="16"/>
                                        </p:tgtEl>
                                        <p:attrNameLst>
                                          <p:attrName>ppt_x</p:attrName>
                                        </p:attrNameLst>
                                      </p:cBhvr>
                                      <p:tavLst>
                                        <p:tav tm="0">
                                          <p:val>
                                            <p:strVal val="#ppt_x"/>
                                          </p:val>
                                        </p:tav>
                                        <p:tav tm="100000">
                                          <p:val>
                                            <p:strVal val="#ppt_x"/>
                                          </p:val>
                                        </p:tav>
                                      </p:tavLst>
                                    </p:anim>
                                    <p:anim calcmode="lin" valueType="num">
                                      <p:cBhvr additive="base">
                                        <p:cTn id="22" dur="500" fill="hold"/>
                                        <p:tgtEl>
                                          <p:spTgt spid="16"/>
                                        </p:tgtEl>
                                        <p:attrNameLst>
                                          <p:attrName>ppt_y</p:attrName>
                                        </p:attrNameLst>
                                      </p:cBhvr>
                                      <p:tavLst>
                                        <p:tav tm="0">
                                          <p:val>
                                            <p:strVal val="#ppt_y+0.1"/>
                                          </p:val>
                                        </p:tav>
                                        <p:tav tm="100000">
                                          <p:val>
                                            <p:strVal val="#ppt_y"/>
                                          </p:val>
                                        </p:tav>
                                      </p:tavLst>
                                    </p:anim>
                                    <p:animEffect transition="in" filter="fade">
                                      <p:cBhvr>
                                        <p:cTn id="23" dur="500"/>
                                        <p:tgtEl>
                                          <p:spTgt spid="16"/>
                                        </p:tgtEl>
                                      </p:cBhvr>
                                    </p:animEffect>
                                  </p:childTnLst>
                                </p:cTn>
                              </p:par>
                              <p:par>
                                <p:cTn id="29" presetID="2" presetClass="entr" presetSubtype="4"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 calcmode="lin" valueType="num">
                                      <p:cBhvr additive="base">
                                        <p:cTn id="26" dur="500" fill="hold"/>
                                        <p:tgtEl>
                                          <p:spTgt spid="17"/>
                                        </p:tgtEl>
                                        <p:attrNameLst>
                                          <p:attrName>ppt_x</p:attrName>
                                        </p:attrNameLst>
                                      </p:cBhvr>
                                      <p:tavLst>
                                        <p:tav tm="0">
                                          <p:val>
                                            <p:strVal val="#ppt_x"/>
                                          </p:val>
                                        </p:tav>
                                        <p:tav tm="100000">
                                          <p:val>
                                            <p:strVal val="#ppt_x"/>
                                          </p:val>
                                        </p:tav>
                                      </p:tavLst>
                                    </p:anim>
                                    <p:anim calcmode="lin" valueType="num">
                                      <p:cBhvr additive="base">
                                        <p:cTn id="27" dur="500" fill="hold"/>
                                        <p:tgtEl>
                                          <p:spTgt spid="17"/>
                                        </p:tgtEl>
                                        <p:attrNameLst>
                                          <p:attrName>ppt_y</p:attrName>
                                        </p:attrNameLst>
                                      </p:cBhvr>
                                      <p:tavLst>
                                        <p:tav tm="0">
                                          <p:val>
                                            <p:strVal val="#ppt_y+0.1"/>
                                          </p:val>
                                        </p:tav>
                                        <p:tav tm="100000">
                                          <p:val>
                                            <p:strVal val="#ppt_y"/>
                                          </p:val>
                                        </p:tav>
                                      </p:tavLst>
                                    </p:anim>
                                    <p:animEffect transition="in" filter="fade">
                                      <p:cBhvr>
                                        <p:cTn id="28" dur="500"/>
                                        <p:tgtEl>
                                          <p:spTgt spid="17"/>
                                        </p:tgtEl>
                                      </p:cBhvr>
                                    </p:animEffect>
                                  </p:childTnLst>
                                </p:cTn>
                              </p:par>
                              <p:par>
                                <p:cTn id="34" presetID="2" presetClass="entr" presetSubtype="4"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ppt_x"/>
                                          </p:val>
                                        </p:tav>
                                        <p:tav tm="100000">
                                          <p:val>
                                            <p:strVal val="#ppt_x"/>
                                          </p:val>
                                        </p:tav>
                                      </p:tavLst>
                                    </p:anim>
                                    <p:anim calcmode="lin" valueType="num">
                                      <p:cBhvr additive="base">
                                        <p:cTn id="32" dur="500" fill="hold"/>
                                        <p:tgtEl>
                                          <p:spTgt spid="18"/>
                                        </p:tgtEl>
                                        <p:attrNameLst>
                                          <p:attrName>ppt_y</p:attrName>
                                        </p:attrNameLst>
                                      </p:cBhvr>
                                      <p:tavLst>
                                        <p:tav tm="0">
                                          <p:val>
                                            <p:strVal val="#ppt_y+0.1"/>
                                          </p:val>
                                        </p:tav>
                                        <p:tav tm="100000">
                                          <p:val>
                                            <p:strVal val="#ppt_y"/>
                                          </p:val>
                                        </p:tav>
                                      </p:tavLst>
                                    </p:anim>
                                    <p:animEffect transition="in" filter="fade">
                                      <p:cBhvr>
                                        <p:cTn id="33" dur="500"/>
                                        <p:tgtEl>
                                          <p:spTgt spid="18"/>
                                        </p:tgtEl>
                                      </p:cBhvr>
                                    </p:animEffect>
                                  </p:childTnLst>
                                </p:cTn>
                              </p:par>
                              <p:par>
                                <p:cTn id="39" presetID="2" presetClass="entr" presetSubtype="4"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 calcmode="lin" valueType="num">
                                      <p:cBhvr additive="base">
                                        <p:cTn id="36" dur="500" fill="hold"/>
                                        <p:tgtEl>
                                          <p:spTgt spid="21"/>
                                        </p:tgtEl>
                                        <p:attrNameLst>
                                          <p:attrName>ppt_x</p:attrName>
                                        </p:attrNameLst>
                                      </p:cBhvr>
                                      <p:tavLst>
                                        <p:tav tm="0">
                                          <p:val>
                                            <p:strVal val="#ppt_x"/>
                                          </p:val>
                                        </p:tav>
                                        <p:tav tm="100000">
                                          <p:val>
                                            <p:strVal val="#ppt_x"/>
                                          </p:val>
                                        </p:tav>
                                      </p:tavLst>
                                    </p:anim>
                                    <p:anim calcmode="lin" valueType="num">
                                      <p:cBhvr additive="base">
                                        <p:cTn id="37" dur="500" fill="hold"/>
                                        <p:tgtEl>
                                          <p:spTgt spid="21"/>
                                        </p:tgtEl>
                                        <p:attrNameLst>
                                          <p:attrName>ppt_y</p:attrName>
                                        </p:attrNameLst>
                                      </p:cBhvr>
                                      <p:tavLst>
                                        <p:tav tm="0">
                                          <p:val>
                                            <p:strVal val="#ppt_y+0.1"/>
                                          </p:val>
                                        </p:tav>
                                        <p:tav tm="100000">
                                          <p:val>
                                            <p:strVal val="#ppt_y"/>
                                          </p:val>
                                        </p:tav>
                                      </p:tavLst>
                                    </p:anim>
                                    <p:animEffect transition="in" filter="fade">
                                      <p:cBhvr>
                                        <p:cTn id="38" dur="500"/>
                                        <p:tgtEl>
                                          <p:spTgt spid="21"/>
                                        </p:tgtEl>
                                      </p:cBhvr>
                                    </p:animEffect>
                                  </p:childTnLst>
                                </p:cTn>
                              </p:par>
                              <p:par>
                                <p:cTn id="44" presetID="2" presetClass="entr" presetSubtype="4"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anim calcmode="lin" valueType="num">
                                      <p:cBhvr additive="base">
                                        <p:cTn id="41" dur="500" fill="hold"/>
                                        <p:tgtEl>
                                          <p:spTgt spid="22"/>
                                        </p:tgtEl>
                                        <p:attrNameLst>
                                          <p:attrName>ppt_x</p:attrName>
                                        </p:attrNameLst>
                                      </p:cBhvr>
                                      <p:tavLst>
                                        <p:tav tm="0">
                                          <p:val>
                                            <p:strVal val="#ppt_x"/>
                                          </p:val>
                                        </p:tav>
                                        <p:tav tm="100000">
                                          <p:val>
                                            <p:strVal val="#ppt_x"/>
                                          </p:val>
                                        </p:tav>
                                      </p:tavLst>
                                    </p:anim>
                                    <p:anim calcmode="lin" valueType="num">
                                      <p:cBhvr additive="base">
                                        <p:cTn id="42" dur="500" fill="hold"/>
                                        <p:tgtEl>
                                          <p:spTgt spid="22"/>
                                        </p:tgtEl>
                                        <p:attrNameLst>
                                          <p:attrName>ppt_y</p:attrName>
                                        </p:attrNameLst>
                                      </p:cBhvr>
                                      <p:tavLst>
                                        <p:tav tm="0">
                                          <p:val>
                                            <p:strVal val="#ppt_y+0.1"/>
                                          </p:val>
                                        </p:tav>
                                        <p:tav tm="100000">
                                          <p:val>
                                            <p:strVal val="#ppt_y"/>
                                          </p:val>
                                        </p:tav>
                                      </p:tavLst>
                                    </p:anim>
                                    <p:animEffect transition="in" filter="fade">
                                      <p:cBhvr>
                                        <p:cTn id="43" dur="500"/>
                                        <p:tgtEl>
                                          <p:spTgt spid="22"/>
                                        </p:tgtEl>
                                      </p:cBhvr>
                                    </p:animEffect>
                                  </p:childTnLst>
                                </p:cTn>
                              </p:par>
                              <p:par>
                                <p:cTn id="49" presetID="2" presetClass="entr" presetSubtype="4" fill="hold" grpId="0" nodeType="withEffect">
                                  <p:stCondLst>
                                    <p:cond delay="0"/>
                                  </p:stCondLst>
                                  <p:childTnLst>
                                    <p:set>
                                      <p:cBhvr>
                                        <p:cTn id="45" dur="1" fill="hold">
                                          <p:stCondLst>
                                            <p:cond delay="0"/>
                                          </p:stCondLst>
                                        </p:cTn>
                                        <p:tgtEl>
                                          <p:spTgt spid="23"/>
                                        </p:tgtEl>
                                        <p:attrNameLst>
                                          <p:attrName>style.visibility</p:attrName>
                                        </p:attrNameLst>
                                      </p:cBhvr>
                                      <p:to>
                                        <p:strVal val="visible"/>
                                      </p:to>
                                    </p:set>
                                    <p:anim calcmode="lin" valueType="num">
                                      <p:cBhvr additive="base">
                                        <p:cTn id="46" dur="500" fill="hold"/>
                                        <p:tgtEl>
                                          <p:spTgt spid="23"/>
                                        </p:tgtEl>
                                        <p:attrNameLst>
                                          <p:attrName>ppt_x</p:attrName>
                                        </p:attrNameLst>
                                      </p:cBhvr>
                                      <p:tavLst>
                                        <p:tav tm="0">
                                          <p:val>
                                            <p:strVal val="#ppt_x"/>
                                          </p:val>
                                        </p:tav>
                                        <p:tav tm="100000">
                                          <p:val>
                                            <p:strVal val="#ppt_x"/>
                                          </p:val>
                                        </p:tav>
                                      </p:tavLst>
                                    </p:anim>
                                    <p:anim calcmode="lin" valueType="num">
                                      <p:cBhvr additive="base">
                                        <p:cTn id="47" dur="500" fill="hold"/>
                                        <p:tgtEl>
                                          <p:spTgt spid="23"/>
                                        </p:tgtEl>
                                        <p:attrNameLst>
                                          <p:attrName>ppt_y</p:attrName>
                                        </p:attrNameLst>
                                      </p:cBhvr>
                                      <p:tavLst>
                                        <p:tav tm="0">
                                          <p:val>
                                            <p:strVal val="#ppt_y+0.1"/>
                                          </p:val>
                                        </p:tav>
                                        <p:tav tm="100000">
                                          <p:val>
                                            <p:strVal val="#ppt_y"/>
                                          </p:val>
                                        </p:tav>
                                      </p:tavLst>
                                    </p:anim>
                                    <p:animEffect transition="in" filter="fade">
                                      <p:cBhvr>
                                        <p:cTn id="48" dur="500"/>
                                        <p:tgtEl>
                                          <p:spTgt spid="23"/>
                                        </p:tgtEl>
                                      </p:cBhvr>
                                    </p:animEffect>
                                  </p:childTnLst>
                                </p:cTn>
                              </p:par>
                              <p:par>
                                <p:cTn id="54" presetID="2" presetClass="entr" presetSubtype="4" fill="hold" grpId="0" nodeType="withEffect">
                                  <p:stCondLst>
                                    <p:cond delay="60"/>
                                  </p:stCondLst>
                                  <p:childTnLst>
                                    <p:set>
                                      <p:cBhvr>
                                        <p:cTn id="50" dur="1" fill="hold">
                                          <p:stCondLst>
                                            <p:cond delay="0"/>
                                          </p:stCondLst>
                                        </p:cTn>
                                        <p:tgtEl>
                                          <p:spTgt spid="14"/>
                                        </p:tgtEl>
                                        <p:attrNameLst>
                                          <p:attrName>style.visibility</p:attrName>
                                        </p:attrNameLst>
                                      </p:cBhvr>
                                      <p:to>
                                        <p:strVal val="visible"/>
                                      </p:to>
                                    </p:set>
                                    <p:anim calcmode="lin" valueType="num">
                                      <p:cBhvr additive="base">
                                        <p:cTn id="51" dur="500" fill="hold"/>
                                        <p:tgtEl>
                                          <p:spTgt spid="14"/>
                                        </p:tgtEl>
                                        <p:attrNameLst>
                                          <p:attrName>ppt_x</p:attrName>
                                        </p:attrNameLst>
                                      </p:cBhvr>
                                      <p:tavLst>
                                        <p:tav tm="0">
                                          <p:val>
                                            <p:strVal val="#ppt_x"/>
                                          </p:val>
                                        </p:tav>
                                        <p:tav tm="100000">
                                          <p:val>
                                            <p:strVal val="#ppt_x"/>
                                          </p:val>
                                        </p:tav>
                                      </p:tavLst>
                                    </p:anim>
                                    <p:anim calcmode="lin" valueType="num">
                                      <p:cBhvr additive="base">
                                        <p:cTn id="52" dur="500" fill="hold"/>
                                        <p:tgtEl>
                                          <p:spTgt spid="14"/>
                                        </p:tgtEl>
                                        <p:attrNameLst>
                                          <p:attrName>ppt_y</p:attrName>
                                        </p:attrNameLst>
                                      </p:cBhvr>
                                      <p:tavLst>
                                        <p:tav tm="0">
                                          <p:val>
                                            <p:strVal val="#ppt_y+0.1"/>
                                          </p:val>
                                        </p:tav>
                                        <p:tav tm="100000">
                                          <p:val>
                                            <p:strVal val="#ppt_y"/>
                                          </p:val>
                                        </p:tav>
                                      </p:tavLst>
                                    </p:anim>
                                    <p:animEffect transition="in" filter="fade">
                                      <p:cBhvr>
                                        <p:cTn id="53" dur="500"/>
                                        <p:tgtEl>
                                          <p:spTgt spid="14"/>
                                        </p:tgtEl>
                                      </p:cBhvr>
                                    </p:animEffect>
                                  </p:childTnLst>
                                </p:cTn>
                              </p:par>
                              <p:par>
                                <p:cTn id="59" presetID="2" presetClass="entr" presetSubtype="4" fill="hold" grpId="0" nodeType="withEffect">
                                  <p:stCondLst>
                                    <p:cond delay="60"/>
                                  </p:stCondLst>
                                  <p:childTnLst>
                                    <p:set>
                                      <p:cBhvr>
                                        <p:cTn id="55" dur="1" fill="hold">
                                          <p:stCondLst>
                                            <p:cond delay="0"/>
                                          </p:stCondLst>
                                        </p:cTn>
                                        <p:tgtEl>
                                          <p:spTgt spid="19"/>
                                        </p:tgtEl>
                                        <p:attrNameLst>
                                          <p:attrName>style.visibility</p:attrName>
                                        </p:attrNameLst>
                                      </p:cBhvr>
                                      <p:to>
                                        <p:strVal val="visible"/>
                                      </p:to>
                                    </p:set>
                                    <p:anim calcmode="lin" valueType="num">
                                      <p:cBhvr additive="base">
                                        <p:cTn id="56" dur="500" fill="hold"/>
                                        <p:tgtEl>
                                          <p:spTgt spid="19"/>
                                        </p:tgtEl>
                                        <p:attrNameLst>
                                          <p:attrName>ppt_x</p:attrName>
                                        </p:attrNameLst>
                                      </p:cBhvr>
                                      <p:tavLst>
                                        <p:tav tm="0">
                                          <p:val>
                                            <p:strVal val="#ppt_x"/>
                                          </p:val>
                                        </p:tav>
                                        <p:tav tm="100000">
                                          <p:val>
                                            <p:strVal val="#ppt_x"/>
                                          </p:val>
                                        </p:tav>
                                      </p:tavLst>
                                    </p:anim>
                                    <p:anim calcmode="lin" valueType="num">
                                      <p:cBhvr additive="base">
                                        <p:cTn id="57" dur="500" fill="hold"/>
                                        <p:tgtEl>
                                          <p:spTgt spid="19"/>
                                        </p:tgtEl>
                                        <p:attrNameLst>
                                          <p:attrName>ppt_y</p:attrName>
                                        </p:attrNameLst>
                                      </p:cBhvr>
                                      <p:tavLst>
                                        <p:tav tm="0">
                                          <p:val>
                                            <p:strVal val="#ppt_y+0.1"/>
                                          </p:val>
                                        </p:tav>
                                        <p:tav tm="100000">
                                          <p:val>
                                            <p:strVal val="#ppt_y"/>
                                          </p:val>
                                        </p:tav>
                                      </p:tavLst>
                                    </p:anim>
                                    <p:animEffect transition="in" filter="fade">
                                      <p:cBhvr>
                                        <p:cTn id="58" dur="500"/>
                                        <p:tgtEl>
                                          <p:spTgt spid="19"/>
                                        </p:tgtEl>
                                      </p:cBhvr>
                                    </p:animEffect>
                                  </p:childTnLst>
                                </p:cTn>
                              </p:par>
                              <p:par>
                                <p:cTn id="64" presetID="2" presetClass="entr" presetSubtype="4" fill="hold" grpId="0" nodeType="withEffect">
                                  <p:stCondLst>
                                    <p:cond delay="60"/>
                                  </p:stCondLst>
                                  <p:childTnLst>
                                    <p:set>
                                      <p:cBhvr>
                                        <p:cTn id="60" dur="1" fill="hold">
                                          <p:stCondLst>
                                            <p:cond delay="0"/>
                                          </p:stCondLst>
                                        </p:cTn>
                                        <p:tgtEl>
                                          <p:spTgt spid="24"/>
                                        </p:tgtEl>
                                        <p:attrNameLst>
                                          <p:attrName>style.visibility</p:attrName>
                                        </p:attrNameLst>
                                      </p:cBhvr>
                                      <p:to>
                                        <p:strVal val="visible"/>
                                      </p:to>
                                    </p:set>
                                    <p:anim calcmode="lin" valueType="num">
                                      <p:cBhvr additive="base">
                                        <p:cTn id="61" dur="500" fill="hold"/>
                                        <p:tgtEl>
                                          <p:spTgt spid="24"/>
                                        </p:tgtEl>
                                        <p:attrNameLst>
                                          <p:attrName>ppt_x</p:attrName>
                                        </p:attrNameLst>
                                      </p:cBhvr>
                                      <p:tavLst>
                                        <p:tav tm="0">
                                          <p:val>
                                            <p:strVal val="#ppt_x"/>
                                          </p:val>
                                        </p:tav>
                                        <p:tav tm="100000">
                                          <p:val>
                                            <p:strVal val="#ppt_x"/>
                                          </p:val>
                                        </p:tav>
                                      </p:tavLst>
                                    </p:anim>
                                    <p:anim calcmode="lin" valueType="num">
                                      <p:cBhvr additive="base">
                                        <p:cTn id="62" dur="500" fill="hold"/>
                                        <p:tgtEl>
                                          <p:spTgt spid="24"/>
                                        </p:tgtEl>
                                        <p:attrNameLst>
                                          <p:attrName>ppt_y</p:attrName>
                                        </p:attrNameLst>
                                      </p:cBhvr>
                                      <p:tavLst>
                                        <p:tav tm="0">
                                          <p:val>
                                            <p:strVal val="#ppt_y+0.1"/>
                                          </p:val>
                                        </p:tav>
                                        <p:tav tm="100000">
                                          <p:val>
                                            <p:strVal val="#ppt_y"/>
                                          </p:val>
                                        </p:tav>
                                      </p:tavLst>
                                    </p:anim>
                                    <p:animEffect transition="in" filter="fade">
                                      <p:cBhvr>
                                        <p:cTn id="63" dur="500"/>
                                        <p:tgtEl>
                                          <p:spTgt spid="24"/>
                                        </p:tgtEl>
                                      </p:cBhvr>
                                    </p:animEffect>
                                  </p:childTnLst>
                                </p:cTn>
                              </p:par>
                              <p:par>
                                <p:cTn id="69" presetID="2" presetClass="entr" presetSubtype="4" fill="hold" grpId="0" nodeType="withEffect">
                                  <p:stCondLst>
                                    <p:cond delay="120"/>
                                  </p:stCondLst>
                                  <p:childTnLst>
                                    <p:set>
                                      <p:cBhvr>
                                        <p:cTn id="65" dur="1" fill="hold">
                                          <p:stCondLst>
                                            <p:cond delay="0"/>
                                          </p:stCondLst>
                                        </p:cTn>
                                        <p:tgtEl>
                                          <p:spTgt spid="15"/>
                                        </p:tgtEl>
                                        <p:attrNameLst>
                                          <p:attrName>style.visibility</p:attrName>
                                        </p:attrNameLst>
                                      </p:cBhvr>
                                      <p:to>
                                        <p:strVal val="visible"/>
                                      </p:to>
                                    </p:set>
                                    <p:anim calcmode="lin" valueType="num">
                                      <p:cBhvr additive="base">
                                        <p:cTn id="66" dur="500" fill="hold"/>
                                        <p:tgtEl>
                                          <p:spTgt spid="15"/>
                                        </p:tgtEl>
                                        <p:attrNameLst>
                                          <p:attrName>ppt_x</p:attrName>
                                        </p:attrNameLst>
                                      </p:cBhvr>
                                      <p:tavLst>
                                        <p:tav tm="0">
                                          <p:val>
                                            <p:strVal val="#ppt_x"/>
                                          </p:val>
                                        </p:tav>
                                        <p:tav tm="100000">
                                          <p:val>
                                            <p:strVal val="#ppt_x"/>
                                          </p:val>
                                        </p:tav>
                                      </p:tavLst>
                                    </p:anim>
                                    <p:anim calcmode="lin" valueType="num">
                                      <p:cBhvr additive="base">
                                        <p:cTn id="67" dur="500" fill="hold"/>
                                        <p:tgtEl>
                                          <p:spTgt spid="15"/>
                                        </p:tgtEl>
                                        <p:attrNameLst>
                                          <p:attrName>ppt_y</p:attrName>
                                        </p:attrNameLst>
                                      </p:cBhvr>
                                      <p:tavLst>
                                        <p:tav tm="0">
                                          <p:val>
                                            <p:strVal val="#ppt_y+0.1"/>
                                          </p:val>
                                        </p:tav>
                                        <p:tav tm="100000">
                                          <p:val>
                                            <p:strVal val="#ppt_y"/>
                                          </p:val>
                                        </p:tav>
                                      </p:tavLst>
                                    </p:anim>
                                    <p:animEffect transition="in" filter="fade">
                                      <p:cBhvr>
                                        <p:cTn id="68" dur="500"/>
                                        <p:tgtEl>
                                          <p:spTgt spid="15"/>
                                        </p:tgtEl>
                                      </p:cBhvr>
                                    </p:animEffect>
                                  </p:childTnLst>
                                </p:cTn>
                              </p:par>
                              <p:par>
                                <p:cTn id="74" presetID="2" presetClass="entr" presetSubtype="4" fill="hold" grpId="0" nodeType="withEffect">
                                  <p:stCondLst>
                                    <p:cond delay="120"/>
                                  </p:stCondLst>
                                  <p:childTnLst>
                                    <p:set>
                                      <p:cBhvr>
                                        <p:cTn id="70" dur="1" fill="hold">
                                          <p:stCondLst>
                                            <p:cond delay="0"/>
                                          </p:stCondLst>
                                        </p:cTn>
                                        <p:tgtEl>
                                          <p:spTgt spid="20"/>
                                        </p:tgtEl>
                                        <p:attrNameLst>
                                          <p:attrName>style.visibility</p:attrName>
                                        </p:attrNameLst>
                                      </p:cBhvr>
                                      <p:to>
                                        <p:strVal val="visible"/>
                                      </p:to>
                                    </p:set>
                                    <p:anim calcmode="lin" valueType="num">
                                      <p:cBhvr additive="base">
                                        <p:cTn id="71" dur="500" fill="hold"/>
                                        <p:tgtEl>
                                          <p:spTgt spid="20"/>
                                        </p:tgtEl>
                                        <p:attrNameLst>
                                          <p:attrName>ppt_x</p:attrName>
                                        </p:attrNameLst>
                                      </p:cBhvr>
                                      <p:tavLst>
                                        <p:tav tm="0">
                                          <p:val>
                                            <p:strVal val="#ppt_x"/>
                                          </p:val>
                                        </p:tav>
                                        <p:tav tm="100000">
                                          <p:val>
                                            <p:strVal val="#ppt_x"/>
                                          </p:val>
                                        </p:tav>
                                      </p:tavLst>
                                    </p:anim>
                                    <p:anim calcmode="lin" valueType="num">
                                      <p:cBhvr additive="base">
                                        <p:cTn id="72" dur="500" fill="hold"/>
                                        <p:tgtEl>
                                          <p:spTgt spid="20"/>
                                        </p:tgtEl>
                                        <p:attrNameLst>
                                          <p:attrName>ppt_y</p:attrName>
                                        </p:attrNameLst>
                                      </p:cBhvr>
                                      <p:tavLst>
                                        <p:tav tm="0">
                                          <p:val>
                                            <p:strVal val="#ppt_y+0.1"/>
                                          </p:val>
                                        </p:tav>
                                        <p:tav tm="100000">
                                          <p:val>
                                            <p:strVal val="#ppt_y"/>
                                          </p:val>
                                        </p:tav>
                                      </p:tavLst>
                                    </p:anim>
                                    <p:animEffect transition="in" filter="fade">
                                      <p:cBhvr>
                                        <p:cTn id="73" dur="500"/>
                                        <p:tgtEl>
                                          <p:spTgt spid="20"/>
                                        </p:tgtEl>
                                      </p:cBhvr>
                                    </p:animEffect>
                                  </p:childTnLst>
                                </p:cTn>
                              </p:par>
                              <p:par>
                                <p:cTn id="79" presetID="2" presetClass="entr" presetSubtype="4" fill="hold" grpId="0" nodeType="withEffect">
                                  <p:stCondLst>
                                    <p:cond delay="120"/>
                                  </p:stCondLst>
                                  <p:childTnLst>
                                    <p:set>
                                      <p:cBhvr>
                                        <p:cTn id="75" dur="1" fill="hold">
                                          <p:stCondLst>
                                            <p:cond delay="0"/>
                                          </p:stCondLst>
                                        </p:cTn>
                                        <p:tgtEl>
                                          <p:spTgt spid="25"/>
                                        </p:tgtEl>
                                        <p:attrNameLst>
                                          <p:attrName>style.visibility</p:attrName>
                                        </p:attrNameLst>
                                      </p:cBhvr>
                                      <p:to>
                                        <p:strVal val="visible"/>
                                      </p:to>
                                    </p:set>
                                    <p:anim calcmode="lin" valueType="num">
                                      <p:cBhvr additive="base">
                                        <p:cTn id="76" dur="500" fill="hold"/>
                                        <p:tgtEl>
                                          <p:spTgt spid="25"/>
                                        </p:tgtEl>
                                        <p:attrNameLst>
                                          <p:attrName>ppt_x</p:attrName>
                                        </p:attrNameLst>
                                      </p:cBhvr>
                                      <p:tavLst>
                                        <p:tav tm="0">
                                          <p:val>
                                            <p:strVal val="#ppt_x"/>
                                          </p:val>
                                        </p:tav>
                                        <p:tav tm="100000">
                                          <p:val>
                                            <p:strVal val="#ppt_x"/>
                                          </p:val>
                                        </p:tav>
                                      </p:tavLst>
                                    </p:anim>
                                    <p:anim calcmode="lin" valueType="num">
                                      <p:cBhvr additive="base">
                                        <p:cTn id="77" dur="500" fill="hold"/>
                                        <p:tgtEl>
                                          <p:spTgt spid="25"/>
                                        </p:tgtEl>
                                        <p:attrNameLst>
                                          <p:attrName>ppt_y</p:attrName>
                                        </p:attrNameLst>
                                      </p:cBhvr>
                                      <p:tavLst>
                                        <p:tav tm="0">
                                          <p:val>
                                            <p:strVal val="#ppt_y+0.1"/>
                                          </p:val>
                                        </p:tav>
                                        <p:tav tm="100000">
                                          <p:val>
                                            <p:strVal val="#ppt_y"/>
                                          </p:val>
                                        </p:tav>
                                      </p:tavLst>
                                    </p:anim>
                                    <p:animEffect transition="in" filter="fade">
                                      <p:cBhvr>
                                        <p:cTn id="78" dur="500"/>
                                        <p:tgtEl>
                                          <p:spTgt spid="25"/>
                                        </p:tgtEl>
                                      </p:cBhvr>
                                    </p:animEffect>
                                  </p:childTnLst>
                                </p:cTn>
                              </p:par>
                            </p:childTnLst>
                          </p:cTn>
                        </p:par>
                      </p:childTnLst>
                    </p:cTn>
                  </p:par>
                  <p:par>
                    <p:cTn id="80" fill="hold">
                      <p:stCondLst>
                        <p:cond delay="indefinite"/>
                      </p:stCondLst>
                      <p:childTnLst>
                        <p:par>
                          <p:cTn id="81" fill="hold">
                            <p:stCondLst>
                              <p:cond delay="0"/>
                            </p:stCondLst>
                            <p:childTnLst>
                              <p:par>
                                <p:cTn id="86" presetID="2" presetClass="entr" presetSubtype="4" fill="hold" grpId="0" nodeType="clickEffect">
                                  <p:stCondLst>
                                    <p:cond delay="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500" fill="hold"/>
                                        <p:tgtEl>
                                          <p:spTgt spid="26"/>
                                        </p:tgtEl>
                                        <p:attrNameLst>
                                          <p:attrName>ppt_x</p:attrName>
                                        </p:attrNameLst>
                                      </p:cBhvr>
                                      <p:tavLst>
                                        <p:tav tm="0">
                                          <p:val>
                                            <p:strVal val="#ppt_x"/>
                                          </p:val>
                                        </p:tav>
                                        <p:tav tm="100000">
                                          <p:val>
                                            <p:strVal val="#ppt_x"/>
                                          </p:val>
                                        </p:tav>
                                      </p:tavLst>
                                    </p:anim>
                                    <p:anim calcmode="lin" valueType="num">
                                      <p:cBhvr additive="base">
                                        <p:cTn id="84" dur="500" fill="hold"/>
                                        <p:tgtEl>
                                          <p:spTgt spid="26"/>
                                        </p:tgtEl>
                                        <p:attrNameLst>
                                          <p:attrName>ppt_y</p:attrName>
                                        </p:attrNameLst>
                                      </p:cBhvr>
                                      <p:tavLst>
                                        <p:tav tm="0">
                                          <p:val>
                                            <p:strVal val="#ppt_y+0.1"/>
                                          </p:val>
                                        </p:tav>
                                        <p:tav tm="100000">
                                          <p:val>
                                            <p:strVal val="#ppt_y"/>
                                          </p:val>
                                        </p:tav>
                                      </p:tavLst>
                                    </p:anim>
                                    <p:animEffect transition="in" filter="fade">
                                      <p:cBhvr>
                                        <p:cTn id="85" dur="500"/>
                                        <p:tgtEl>
                                          <p:spTgt spid="26"/>
                                        </p:tgtEl>
                                      </p:cBhvr>
                                    </p:animEffect>
                                  </p:childTnLst>
                                </p:cTn>
                              </p:par>
                              <p:par>
                                <p:cTn id="91" presetID="2" presetClass="entr" presetSubtype="4" fill="hold" grpId="0" nodeType="withEffect">
                                  <p:stCondLst>
                                    <p:cond delay="0"/>
                                  </p:stCondLst>
                                  <p:childTnLst>
                                    <p:set>
                                      <p:cBhvr>
                                        <p:cTn id="87" dur="1" fill="hold">
                                          <p:stCondLst>
                                            <p:cond delay="0"/>
                                          </p:stCondLst>
                                        </p:cTn>
                                        <p:tgtEl>
                                          <p:spTgt spid="27"/>
                                        </p:tgtEl>
                                        <p:attrNameLst>
                                          <p:attrName>style.visibility</p:attrName>
                                        </p:attrNameLst>
                                      </p:cBhvr>
                                      <p:to>
                                        <p:strVal val="visible"/>
                                      </p:to>
                                    </p:set>
                                    <p:anim calcmode="lin" valueType="num">
                                      <p:cBhvr additive="base">
                                        <p:cTn id="88" dur="500" fill="hold"/>
                                        <p:tgtEl>
                                          <p:spTgt spid="27"/>
                                        </p:tgtEl>
                                        <p:attrNameLst>
                                          <p:attrName>ppt_x</p:attrName>
                                        </p:attrNameLst>
                                      </p:cBhvr>
                                      <p:tavLst>
                                        <p:tav tm="0">
                                          <p:val>
                                            <p:strVal val="#ppt_x"/>
                                          </p:val>
                                        </p:tav>
                                        <p:tav tm="100000">
                                          <p:val>
                                            <p:strVal val="#ppt_x"/>
                                          </p:val>
                                        </p:tav>
                                      </p:tavLst>
                                    </p:anim>
                                    <p:anim calcmode="lin" valueType="num">
                                      <p:cBhvr additive="base">
                                        <p:cTn id="89" dur="500" fill="hold"/>
                                        <p:tgtEl>
                                          <p:spTgt spid="27"/>
                                        </p:tgtEl>
                                        <p:attrNameLst>
                                          <p:attrName>ppt_y</p:attrName>
                                        </p:attrNameLst>
                                      </p:cBhvr>
                                      <p:tavLst>
                                        <p:tav tm="0">
                                          <p:val>
                                            <p:strVal val="#ppt_y+0.1"/>
                                          </p:val>
                                        </p:tav>
                                        <p:tav tm="100000">
                                          <p:val>
                                            <p:strVal val="#ppt_y"/>
                                          </p:val>
                                        </p:tav>
                                      </p:tavLst>
                                    </p:anim>
                                    <p:animEffect transition="in" filter="fade">
                                      <p:cBhvr>
                                        <p:cTn id="90" dur="500"/>
                                        <p:tgtEl>
                                          <p:spTgt spid="27"/>
                                        </p:tgtEl>
                                      </p:cBhvr>
                                    </p:animEffect>
                                  </p:childTnLst>
                                </p:cTn>
                              </p:par>
                              <p:par>
                                <p:cTn id="96" presetID="2" presetClass="entr" presetSubtype="4" fill="hold" grpId="0" nodeType="withEffect">
                                  <p:stCondLst>
                                    <p:cond delay="0"/>
                                  </p:stCondLst>
                                  <p:childTnLst>
                                    <p:set>
                                      <p:cBhvr>
                                        <p:cTn id="92" dur="1" fill="hold">
                                          <p:stCondLst>
                                            <p:cond delay="0"/>
                                          </p:stCondLst>
                                        </p:cTn>
                                        <p:tgtEl>
                                          <p:spTgt spid="28"/>
                                        </p:tgtEl>
                                        <p:attrNameLst>
                                          <p:attrName>style.visibility</p:attrName>
                                        </p:attrNameLst>
                                      </p:cBhvr>
                                      <p:to>
                                        <p:strVal val="visible"/>
                                      </p:to>
                                    </p:set>
                                    <p:anim calcmode="lin" valueType="num">
                                      <p:cBhvr additive="base">
                                        <p:cTn id="93" dur="500" fill="hold"/>
                                        <p:tgtEl>
                                          <p:spTgt spid="28"/>
                                        </p:tgtEl>
                                        <p:attrNameLst>
                                          <p:attrName>ppt_x</p:attrName>
                                        </p:attrNameLst>
                                      </p:cBhvr>
                                      <p:tavLst>
                                        <p:tav tm="0">
                                          <p:val>
                                            <p:strVal val="#ppt_x"/>
                                          </p:val>
                                        </p:tav>
                                        <p:tav tm="100000">
                                          <p:val>
                                            <p:strVal val="#ppt_x"/>
                                          </p:val>
                                        </p:tav>
                                      </p:tavLst>
                                    </p:anim>
                                    <p:anim calcmode="lin" valueType="num">
                                      <p:cBhvr additive="base">
                                        <p:cTn id="94" dur="500" fill="hold"/>
                                        <p:tgtEl>
                                          <p:spTgt spid="28"/>
                                        </p:tgtEl>
                                        <p:attrNameLst>
                                          <p:attrName>ppt_y</p:attrName>
                                        </p:attrNameLst>
                                      </p:cBhvr>
                                      <p:tavLst>
                                        <p:tav tm="0">
                                          <p:val>
                                            <p:strVal val="#ppt_y+0.1"/>
                                          </p:val>
                                        </p:tav>
                                        <p:tav tm="100000">
                                          <p:val>
                                            <p:strVal val="#ppt_y"/>
                                          </p:val>
                                        </p:tav>
                                      </p:tavLst>
                                    </p:anim>
                                    <p:animEffect transition="in" filter="fade">
                                      <p:cBhvr>
                                        <p:cTn id="95" dur="500"/>
                                        <p:tgtEl>
                                          <p:spTgt spid="28"/>
                                        </p:tgtEl>
                                      </p:cBhvr>
                                    </p:animEffect>
                                  </p:childTnLst>
                                </p:cTn>
                              </p:par>
                              <p:par>
                                <p:cTn id="101" presetID="2" presetClass="entr" presetSubtype="4" fill="hold" grpId="0" nodeType="withEffect">
                                  <p:stCondLst>
                                    <p:cond delay="0"/>
                                  </p:stCondLst>
                                  <p:childTnLst>
                                    <p:set>
                                      <p:cBhvr>
                                        <p:cTn id="97" dur="1" fill="hold">
                                          <p:stCondLst>
                                            <p:cond delay="0"/>
                                          </p:stCondLst>
                                        </p:cTn>
                                        <p:tgtEl>
                                          <p:spTgt spid="31"/>
                                        </p:tgtEl>
                                        <p:attrNameLst>
                                          <p:attrName>style.visibility</p:attrName>
                                        </p:attrNameLst>
                                      </p:cBhvr>
                                      <p:to>
                                        <p:strVal val="visible"/>
                                      </p:to>
                                    </p:set>
                                    <p:anim calcmode="lin" valueType="num">
                                      <p:cBhvr additive="base">
                                        <p:cTn id="98" dur="500" fill="hold"/>
                                        <p:tgtEl>
                                          <p:spTgt spid="31"/>
                                        </p:tgtEl>
                                        <p:attrNameLst>
                                          <p:attrName>ppt_x</p:attrName>
                                        </p:attrNameLst>
                                      </p:cBhvr>
                                      <p:tavLst>
                                        <p:tav tm="0">
                                          <p:val>
                                            <p:strVal val="#ppt_x"/>
                                          </p:val>
                                        </p:tav>
                                        <p:tav tm="100000">
                                          <p:val>
                                            <p:strVal val="#ppt_x"/>
                                          </p:val>
                                        </p:tav>
                                      </p:tavLst>
                                    </p:anim>
                                    <p:anim calcmode="lin" valueType="num">
                                      <p:cBhvr additive="base">
                                        <p:cTn id="99" dur="500" fill="hold"/>
                                        <p:tgtEl>
                                          <p:spTgt spid="31"/>
                                        </p:tgtEl>
                                        <p:attrNameLst>
                                          <p:attrName>ppt_y</p:attrName>
                                        </p:attrNameLst>
                                      </p:cBhvr>
                                      <p:tavLst>
                                        <p:tav tm="0">
                                          <p:val>
                                            <p:strVal val="#ppt_y+0.1"/>
                                          </p:val>
                                        </p:tav>
                                        <p:tav tm="100000">
                                          <p:val>
                                            <p:strVal val="#ppt_y"/>
                                          </p:val>
                                        </p:tav>
                                      </p:tavLst>
                                    </p:anim>
                                    <p:animEffect transition="in" filter="fade">
                                      <p:cBhvr>
                                        <p:cTn id="100" dur="500"/>
                                        <p:tgtEl>
                                          <p:spTgt spid="31"/>
                                        </p:tgtEl>
                                      </p:cBhvr>
                                    </p:animEffect>
                                  </p:childTnLst>
                                </p:cTn>
                              </p:par>
                              <p:par>
                                <p:cTn id="106" presetID="2" presetClass="entr" presetSubtype="4" fill="hold" grpId="0" nodeType="withEffect">
                                  <p:stCondLst>
                                    <p:cond delay="0"/>
                                  </p:stCondLst>
                                  <p:childTnLst>
                                    <p:set>
                                      <p:cBhvr>
                                        <p:cTn id="102" dur="1" fill="hold">
                                          <p:stCondLst>
                                            <p:cond delay="0"/>
                                          </p:stCondLst>
                                        </p:cTn>
                                        <p:tgtEl>
                                          <p:spTgt spid="32"/>
                                        </p:tgtEl>
                                        <p:attrNameLst>
                                          <p:attrName>style.visibility</p:attrName>
                                        </p:attrNameLst>
                                      </p:cBhvr>
                                      <p:to>
                                        <p:strVal val="visible"/>
                                      </p:to>
                                    </p:set>
                                    <p:anim calcmode="lin" valueType="num">
                                      <p:cBhvr additive="base">
                                        <p:cTn id="103" dur="500" fill="hold"/>
                                        <p:tgtEl>
                                          <p:spTgt spid="32"/>
                                        </p:tgtEl>
                                        <p:attrNameLst>
                                          <p:attrName>ppt_x</p:attrName>
                                        </p:attrNameLst>
                                      </p:cBhvr>
                                      <p:tavLst>
                                        <p:tav tm="0">
                                          <p:val>
                                            <p:strVal val="#ppt_x"/>
                                          </p:val>
                                        </p:tav>
                                        <p:tav tm="100000">
                                          <p:val>
                                            <p:strVal val="#ppt_x"/>
                                          </p:val>
                                        </p:tav>
                                      </p:tavLst>
                                    </p:anim>
                                    <p:anim calcmode="lin" valueType="num">
                                      <p:cBhvr additive="base">
                                        <p:cTn id="104" dur="500" fill="hold"/>
                                        <p:tgtEl>
                                          <p:spTgt spid="32"/>
                                        </p:tgtEl>
                                        <p:attrNameLst>
                                          <p:attrName>ppt_y</p:attrName>
                                        </p:attrNameLst>
                                      </p:cBhvr>
                                      <p:tavLst>
                                        <p:tav tm="0">
                                          <p:val>
                                            <p:strVal val="#ppt_y+0.1"/>
                                          </p:val>
                                        </p:tav>
                                        <p:tav tm="100000">
                                          <p:val>
                                            <p:strVal val="#ppt_y"/>
                                          </p:val>
                                        </p:tav>
                                      </p:tavLst>
                                    </p:anim>
                                    <p:animEffect transition="in" filter="fade">
                                      <p:cBhvr>
                                        <p:cTn id="105" dur="500"/>
                                        <p:tgtEl>
                                          <p:spTgt spid="32"/>
                                        </p:tgtEl>
                                      </p:cBhvr>
                                    </p:animEffect>
                                  </p:childTnLst>
                                </p:cTn>
                              </p:par>
                              <p:par>
                                <p:cTn id="111" presetID="2" presetClass="entr" presetSubtype="4" fill="hold" grpId="0" nodeType="withEffect">
                                  <p:stCondLst>
                                    <p:cond delay="0"/>
                                  </p:stCondLst>
                                  <p:childTnLst>
                                    <p:set>
                                      <p:cBhvr>
                                        <p:cTn id="107" dur="1" fill="hold">
                                          <p:stCondLst>
                                            <p:cond delay="0"/>
                                          </p:stCondLst>
                                        </p:cTn>
                                        <p:tgtEl>
                                          <p:spTgt spid="33"/>
                                        </p:tgtEl>
                                        <p:attrNameLst>
                                          <p:attrName>style.visibility</p:attrName>
                                        </p:attrNameLst>
                                      </p:cBhvr>
                                      <p:to>
                                        <p:strVal val="visible"/>
                                      </p:to>
                                    </p:set>
                                    <p:anim calcmode="lin" valueType="num">
                                      <p:cBhvr additive="base">
                                        <p:cTn id="108" dur="500" fill="hold"/>
                                        <p:tgtEl>
                                          <p:spTgt spid="33"/>
                                        </p:tgtEl>
                                        <p:attrNameLst>
                                          <p:attrName>ppt_x</p:attrName>
                                        </p:attrNameLst>
                                      </p:cBhvr>
                                      <p:tavLst>
                                        <p:tav tm="0">
                                          <p:val>
                                            <p:strVal val="#ppt_x"/>
                                          </p:val>
                                        </p:tav>
                                        <p:tav tm="100000">
                                          <p:val>
                                            <p:strVal val="#ppt_x"/>
                                          </p:val>
                                        </p:tav>
                                      </p:tavLst>
                                    </p:anim>
                                    <p:anim calcmode="lin" valueType="num">
                                      <p:cBhvr additive="base">
                                        <p:cTn id="109" dur="500" fill="hold"/>
                                        <p:tgtEl>
                                          <p:spTgt spid="33"/>
                                        </p:tgtEl>
                                        <p:attrNameLst>
                                          <p:attrName>ppt_y</p:attrName>
                                        </p:attrNameLst>
                                      </p:cBhvr>
                                      <p:tavLst>
                                        <p:tav tm="0">
                                          <p:val>
                                            <p:strVal val="#ppt_y+0.1"/>
                                          </p:val>
                                        </p:tav>
                                        <p:tav tm="100000">
                                          <p:val>
                                            <p:strVal val="#ppt_y"/>
                                          </p:val>
                                        </p:tav>
                                      </p:tavLst>
                                    </p:anim>
                                    <p:animEffect transition="in" filter="fade">
                                      <p:cBhvr>
                                        <p:cTn id="110" dur="500"/>
                                        <p:tgtEl>
                                          <p:spTgt spid="33"/>
                                        </p:tgtEl>
                                      </p:cBhvr>
                                    </p:animEffect>
                                  </p:childTnLst>
                                </p:cTn>
                              </p:par>
                              <p:par>
                                <p:cTn id="116" presetID="2" presetClass="entr" presetSubtype="4" fill="hold" grpId="0" nodeType="withEffect">
                                  <p:stCondLst>
                                    <p:cond delay="0"/>
                                  </p:stCondLst>
                                  <p:childTnLst>
                                    <p:set>
                                      <p:cBhvr>
                                        <p:cTn id="112" dur="1" fill="hold">
                                          <p:stCondLst>
                                            <p:cond delay="0"/>
                                          </p:stCondLst>
                                        </p:cTn>
                                        <p:tgtEl>
                                          <p:spTgt spid="36"/>
                                        </p:tgtEl>
                                        <p:attrNameLst>
                                          <p:attrName>style.visibility</p:attrName>
                                        </p:attrNameLst>
                                      </p:cBhvr>
                                      <p:to>
                                        <p:strVal val="visible"/>
                                      </p:to>
                                    </p:set>
                                    <p:anim calcmode="lin" valueType="num">
                                      <p:cBhvr additive="base">
                                        <p:cTn id="113" dur="500" fill="hold"/>
                                        <p:tgtEl>
                                          <p:spTgt spid="36"/>
                                        </p:tgtEl>
                                        <p:attrNameLst>
                                          <p:attrName>ppt_x</p:attrName>
                                        </p:attrNameLst>
                                      </p:cBhvr>
                                      <p:tavLst>
                                        <p:tav tm="0">
                                          <p:val>
                                            <p:strVal val="#ppt_x"/>
                                          </p:val>
                                        </p:tav>
                                        <p:tav tm="100000">
                                          <p:val>
                                            <p:strVal val="#ppt_x"/>
                                          </p:val>
                                        </p:tav>
                                      </p:tavLst>
                                    </p:anim>
                                    <p:anim calcmode="lin" valueType="num">
                                      <p:cBhvr additive="base">
                                        <p:cTn id="114" dur="500" fill="hold"/>
                                        <p:tgtEl>
                                          <p:spTgt spid="36"/>
                                        </p:tgtEl>
                                        <p:attrNameLst>
                                          <p:attrName>ppt_y</p:attrName>
                                        </p:attrNameLst>
                                      </p:cBhvr>
                                      <p:tavLst>
                                        <p:tav tm="0">
                                          <p:val>
                                            <p:strVal val="#ppt_y+0.1"/>
                                          </p:val>
                                        </p:tav>
                                        <p:tav tm="100000">
                                          <p:val>
                                            <p:strVal val="#ppt_y"/>
                                          </p:val>
                                        </p:tav>
                                      </p:tavLst>
                                    </p:anim>
                                    <p:animEffect transition="in" filter="fade">
                                      <p:cBhvr>
                                        <p:cTn id="115" dur="500"/>
                                        <p:tgtEl>
                                          <p:spTgt spid="36"/>
                                        </p:tgtEl>
                                      </p:cBhvr>
                                    </p:animEffect>
                                  </p:childTnLst>
                                </p:cTn>
                              </p:par>
                              <p:par>
                                <p:cTn id="121" presetID="2" presetClass="entr" presetSubtype="4" fill="hold" grpId="0" nodeType="withEffect">
                                  <p:stCondLst>
                                    <p:cond delay="0"/>
                                  </p:stCondLst>
                                  <p:childTnLst>
                                    <p:set>
                                      <p:cBhvr>
                                        <p:cTn id="117" dur="1" fill="hold">
                                          <p:stCondLst>
                                            <p:cond delay="0"/>
                                          </p:stCondLst>
                                        </p:cTn>
                                        <p:tgtEl>
                                          <p:spTgt spid="37"/>
                                        </p:tgtEl>
                                        <p:attrNameLst>
                                          <p:attrName>style.visibility</p:attrName>
                                        </p:attrNameLst>
                                      </p:cBhvr>
                                      <p:to>
                                        <p:strVal val="visible"/>
                                      </p:to>
                                    </p:set>
                                    <p:anim calcmode="lin" valueType="num">
                                      <p:cBhvr additive="base">
                                        <p:cTn id="118" dur="500" fill="hold"/>
                                        <p:tgtEl>
                                          <p:spTgt spid="37"/>
                                        </p:tgtEl>
                                        <p:attrNameLst>
                                          <p:attrName>ppt_x</p:attrName>
                                        </p:attrNameLst>
                                      </p:cBhvr>
                                      <p:tavLst>
                                        <p:tav tm="0">
                                          <p:val>
                                            <p:strVal val="#ppt_x"/>
                                          </p:val>
                                        </p:tav>
                                        <p:tav tm="100000">
                                          <p:val>
                                            <p:strVal val="#ppt_x"/>
                                          </p:val>
                                        </p:tav>
                                      </p:tavLst>
                                    </p:anim>
                                    <p:anim calcmode="lin" valueType="num">
                                      <p:cBhvr additive="base">
                                        <p:cTn id="119" dur="500" fill="hold"/>
                                        <p:tgtEl>
                                          <p:spTgt spid="37"/>
                                        </p:tgtEl>
                                        <p:attrNameLst>
                                          <p:attrName>ppt_y</p:attrName>
                                        </p:attrNameLst>
                                      </p:cBhvr>
                                      <p:tavLst>
                                        <p:tav tm="0">
                                          <p:val>
                                            <p:strVal val="#ppt_y+0.1"/>
                                          </p:val>
                                        </p:tav>
                                        <p:tav tm="100000">
                                          <p:val>
                                            <p:strVal val="#ppt_y"/>
                                          </p:val>
                                        </p:tav>
                                      </p:tavLst>
                                    </p:anim>
                                    <p:animEffect transition="in" filter="fade">
                                      <p:cBhvr>
                                        <p:cTn id="120" dur="500"/>
                                        <p:tgtEl>
                                          <p:spTgt spid="37"/>
                                        </p:tgtEl>
                                      </p:cBhvr>
                                    </p:animEffect>
                                  </p:childTnLst>
                                </p:cTn>
                              </p:par>
                              <p:par>
                                <p:cTn id="126" presetID="2" presetClass="entr" presetSubtype="4" fill="hold" grpId="0" nodeType="withEffect">
                                  <p:stCondLst>
                                    <p:cond delay="0"/>
                                  </p:stCondLst>
                                  <p:childTnLst>
                                    <p:set>
                                      <p:cBhvr>
                                        <p:cTn id="122" dur="1" fill="hold">
                                          <p:stCondLst>
                                            <p:cond delay="0"/>
                                          </p:stCondLst>
                                        </p:cTn>
                                        <p:tgtEl>
                                          <p:spTgt spid="38"/>
                                        </p:tgtEl>
                                        <p:attrNameLst>
                                          <p:attrName>style.visibility</p:attrName>
                                        </p:attrNameLst>
                                      </p:cBhvr>
                                      <p:to>
                                        <p:strVal val="visible"/>
                                      </p:to>
                                    </p:set>
                                    <p:anim calcmode="lin" valueType="num">
                                      <p:cBhvr additive="base">
                                        <p:cTn id="123" dur="500" fill="hold"/>
                                        <p:tgtEl>
                                          <p:spTgt spid="38"/>
                                        </p:tgtEl>
                                        <p:attrNameLst>
                                          <p:attrName>ppt_x</p:attrName>
                                        </p:attrNameLst>
                                      </p:cBhvr>
                                      <p:tavLst>
                                        <p:tav tm="0">
                                          <p:val>
                                            <p:strVal val="#ppt_x"/>
                                          </p:val>
                                        </p:tav>
                                        <p:tav tm="100000">
                                          <p:val>
                                            <p:strVal val="#ppt_x"/>
                                          </p:val>
                                        </p:tav>
                                      </p:tavLst>
                                    </p:anim>
                                    <p:anim calcmode="lin" valueType="num">
                                      <p:cBhvr additive="base">
                                        <p:cTn id="124" dur="500" fill="hold"/>
                                        <p:tgtEl>
                                          <p:spTgt spid="38"/>
                                        </p:tgtEl>
                                        <p:attrNameLst>
                                          <p:attrName>ppt_y</p:attrName>
                                        </p:attrNameLst>
                                      </p:cBhvr>
                                      <p:tavLst>
                                        <p:tav tm="0">
                                          <p:val>
                                            <p:strVal val="#ppt_y+0.1"/>
                                          </p:val>
                                        </p:tav>
                                        <p:tav tm="100000">
                                          <p:val>
                                            <p:strVal val="#ppt_y"/>
                                          </p:val>
                                        </p:tav>
                                      </p:tavLst>
                                    </p:anim>
                                    <p:animEffect transition="in" filter="fade">
                                      <p:cBhvr>
                                        <p:cTn id="125" dur="500"/>
                                        <p:tgtEl>
                                          <p:spTgt spid="38"/>
                                        </p:tgtEl>
                                      </p:cBhvr>
                                    </p:animEffect>
                                  </p:childTnLst>
                                </p:cTn>
                              </p:par>
                              <p:par>
                                <p:cTn id="131" presetID="2" presetClass="entr" presetSubtype="4" fill="hold" grpId="0" nodeType="withEffect">
                                  <p:stCondLst>
                                    <p:cond delay="60"/>
                                  </p:stCondLst>
                                  <p:childTnLst>
                                    <p:set>
                                      <p:cBhvr>
                                        <p:cTn id="127" dur="1" fill="hold">
                                          <p:stCondLst>
                                            <p:cond delay="0"/>
                                          </p:stCondLst>
                                        </p:cTn>
                                        <p:tgtEl>
                                          <p:spTgt spid="29"/>
                                        </p:tgtEl>
                                        <p:attrNameLst>
                                          <p:attrName>style.visibility</p:attrName>
                                        </p:attrNameLst>
                                      </p:cBhvr>
                                      <p:to>
                                        <p:strVal val="visible"/>
                                      </p:to>
                                    </p:set>
                                    <p:anim calcmode="lin" valueType="num">
                                      <p:cBhvr additive="base">
                                        <p:cTn id="128" dur="500" fill="hold"/>
                                        <p:tgtEl>
                                          <p:spTgt spid="29"/>
                                        </p:tgtEl>
                                        <p:attrNameLst>
                                          <p:attrName>ppt_x</p:attrName>
                                        </p:attrNameLst>
                                      </p:cBhvr>
                                      <p:tavLst>
                                        <p:tav tm="0">
                                          <p:val>
                                            <p:strVal val="#ppt_x"/>
                                          </p:val>
                                        </p:tav>
                                        <p:tav tm="100000">
                                          <p:val>
                                            <p:strVal val="#ppt_x"/>
                                          </p:val>
                                        </p:tav>
                                      </p:tavLst>
                                    </p:anim>
                                    <p:anim calcmode="lin" valueType="num">
                                      <p:cBhvr additive="base">
                                        <p:cTn id="129" dur="500" fill="hold"/>
                                        <p:tgtEl>
                                          <p:spTgt spid="29"/>
                                        </p:tgtEl>
                                        <p:attrNameLst>
                                          <p:attrName>ppt_y</p:attrName>
                                        </p:attrNameLst>
                                      </p:cBhvr>
                                      <p:tavLst>
                                        <p:tav tm="0">
                                          <p:val>
                                            <p:strVal val="#ppt_y+0.1"/>
                                          </p:val>
                                        </p:tav>
                                        <p:tav tm="100000">
                                          <p:val>
                                            <p:strVal val="#ppt_y"/>
                                          </p:val>
                                        </p:tav>
                                      </p:tavLst>
                                    </p:anim>
                                    <p:animEffect transition="in" filter="fade">
                                      <p:cBhvr>
                                        <p:cTn id="130" dur="500"/>
                                        <p:tgtEl>
                                          <p:spTgt spid="29"/>
                                        </p:tgtEl>
                                      </p:cBhvr>
                                    </p:animEffect>
                                  </p:childTnLst>
                                </p:cTn>
                              </p:par>
                              <p:par>
                                <p:cTn id="136" presetID="2" presetClass="entr" presetSubtype="4" fill="hold" grpId="0" nodeType="withEffect">
                                  <p:stCondLst>
                                    <p:cond delay="60"/>
                                  </p:stCondLst>
                                  <p:childTnLst>
                                    <p:set>
                                      <p:cBhvr>
                                        <p:cTn id="132" dur="1" fill="hold">
                                          <p:stCondLst>
                                            <p:cond delay="0"/>
                                          </p:stCondLst>
                                        </p:cTn>
                                        <p:tgtEl>
                                          <p:spTgt spid="34"/>
                                        </p:tgtEl>
                                        <p:attrNameLst>
                                          <p:attrName>style.visibility</p:attrName>
                                        </p:attrNameLst>
                                      </p:cBhvr>
                                      <p:to>
                                        <p:strVal val="visible"/>
                                      </p:to>
                                    </p:set>
                                    <p:anim calcmode="lin" valueType="num">
                                      <p:cBhvr additive="base">
                                        <p:cTn id="133" dur="500" fill="hold"/>
                                        <p:tgtEl>
                                          <p:spTgt spid="34"/>
                                        </p:tgtEl>
                                        <p:attrNameLst>
                                          <p:attrName>ppt_x</p:attrName>
                                        </p:attrNameLst>
                                      </p:cBhvr>
                                      <p:tavLst>
                                        <p:tav tm="0">
                                          <p:val>
                                            <p:strVal val="#ppt_x"/>
                                          </p:val>
                                        </p:tav>
                                        <p:tav tm="100000">
                                          <p:val>
                                            <p:strVal val="#ppt_x"/>
                                          </p:val>
                                        </p:tav>
                                      </p:tavLst>
                                    </p:anim>
                                    <p:anim calcmode="lin" valueType="num">
                                      <p:cBhvr additive="base">
                                        <p:cTn id="134" dur="500" fill="hold"/>
                                        <p:tgtEl>
                                          <p:spTgt spid="34"/>
                                        </p:tgtEl>
                                        <p:attrNameLst>
                                          <p:attrName>ppt_y</p:attrName>
                                        </p:attrNameLst>
                                      </p:cBhvr>
                                      <p:tavLst>
                                        <p:tav tm="0">
                                          <p:val>
                                            <p:strVal val="#ppt_y+0.1"/>
                                          </p:val>
                                        </p:tav>
                                        <p:tav tm="100000">
                                          <p:val>
                                            <p:strVal val="#ppt_y"/>
                                          </p:val>
                                        </p:tav>
                                      </p:tavLst>
                                    </p:anim>
                                    <p:animEffect transition="in" filter="fade">
                                      <p:cBhvr>
                                        <p:cTn id="135" dur="500"/>
                                        <p:tgtEl>
                                          <p:spTgt spid="34"/>
                                        </p:tgtEl>
                                      </p:cBhvr>
                                    </p:animEffect>
                                  </p:childTnLst>
                                </p:cTn>
                              </p:par>
                              <p:par>
                                <p:cTn id="141" presetID="2" presetClass="entr" presetSubtype="4" fill="hold" grpId="0" nodeType="withEffect">
                                  <p:stCondLst>
                                    <p:cond delay="60"/>
                                  </p:stCondLst>
                                  <p:childTnLst>
                                    <p:set>
                                      <p:cBhvr>
                                        <p:cTn id="137" dur="1" fill="hold">
                                          <p:stCondLst>
                                            <p:cond delay="0"/>
                                          </p:stCondLst>
                                        </p:cTn>
                                        <p:tgtEl>
                                          <p:spTgt spid="39"/>
                                        </p:tgtEl>
                                        <p:attrNameLst>
                                          <p:attrName>style.visibility</p:attrName>
                                        </p:attrNameLst>
                                      </p:cBhvr>
                                      <p:to>
                                        <p:strVal val="visible"/>
                                      </p:to>
                                    </p:set>
                                    <p:anim calcmode="lin" valueType="num">
                                      <p:cBhvr additive="base">
                                        <p:cTn id="138" dur="500" fill="hold"/>
                                        <p:tgtEl>
                                          <p:spTgt spid="39"/>
                                        </p:tgtEl>
                                        <p:attrNameLst>
                                          <p:attrName>ppt_x</p:attrName>
                                        </p:attrNameLst>
                                      </p:cBhvr>
                                      <p:tavLst>
                                        <p:tav tm="0">
                                          <p:val>
                                            <p:strVal val="#ppt_x"/>
                                          </p:val>
                                        </p:tav>
                                        <p:tav tm="100000">
                                          <p:val>
                                            <p:strVal val="#ppt_x"/>
                                          </p:val>
                                        </p:tav>
                                      </p:tavLst>
                                    </p:anim>
                                    <p:anim calcmode="lin" valueType="num">
                                      <p:cBhvr additive="base">
                                        <p:cTn id="139" dur="500" fill="hold"/>
                                        <p:tgtEl>
                                          <p:spTgt spid="39"/>
                                        </p:tgtEl>
                                        <p:attrNameLst>
                                          <p:attrName>ppt_y</p:attrName>
                                        </p:attrNameLst>
                                      </p:cBhvr>
                                      <p:tavLst>
                                        <p:tav tm="0">
                                          <p:val>
                                            <p:strVal val="#ppt_y+0.1"/>
                                          </p:val>
                                        </p:tav>
                                        <p:tav tm="100000">
                                          <p:val>
                                            <p:strVal val="#ppt_y"/>
                                          </p:val>
                                        </p:tav>
                                      </p:tavLst>
                                    </p:anim>
                                    <p:animEffect transition="in" filter="fade">
                                      <p:cBhvr>
                                        <p:cTn id="140" dur="500"/>
                                        <p:tgtEl>
                                          <p:spTgt spid="39"/>
                                        </p:tgtEl>
                                      </p:cBhvr>
                                    </p:animEffect>
                                  </p:childTnLst>
                                </p:cTn>
                              </p:par>
                              <p:par>
                                <p:cTn id="146" presetID="2" presetClass="entr" presetSubtype="4" fill="hold" grpId="0" nodeType="withEffect">
                                  <p:stCondLst>
                                    <p:cond delay="120"/>
                                  </p:stCondLst>
                                  <p:childTnLst>
                                    <p:set>
                                      <p:cBhvr>
                                        <p:cTn id="142" dur="1" fill="hold">
                                          <p:stCondLst>
                                            <p:cond delay="0"/>
                                          </p:stCondLst>
                                        </p:cTn>
                                        <p:tgtEl>
                                          <p:spTgt spid="30"/>
                                        </p:tgtEl>
                                        <p:attrNameLst>
                                          <p:attrName>style.visibility</p:attrName>
                                        </p:attrNameLst>
                                      </p:cBhvr>
                                      <p:to>
                                        <p:strVal val="visible"/>
                                      </p:to>
                                    </p:set>
                                    <p:anim calcmode="lin" valueType="num">
                                      <p:cBhvr additive="base">
                                        <p:cTn id="143" dur="500" fill="hold"/>
                                        <p:tgtEl>
                                          <p:spTgt spid="30"/>
                                        </p:tgtEl>
                                        <p:attrNameLst>
                                          <p:attrName>ppt_x</p:attrName>
                                        </p:attrNameLst>
                                      </p:cBhvr>
                                      <p:tavLst>
                                        <p:tav tm="0">
                                          <p:val>
                                            <p:strVal val="#ppt_x"/>
                                          </p:val>
                                        </p:tav>
                                        <p:tav tm="100000">
                                          <p:val>
                                            <p:strVal val="#ppt_x"/>
                                          </p:val>
                                        </p:tav>
                                      </p:tavLst>
                                    </p:anim>
                                    <p:anim calcmode="lin" valueType="num">
                                      <p:cBhvr additive="base">
                                        <p:cTn id="144" dur="500" fill="hold"/>
                                        <p:tgtEl>
                                          <p:spTgt spid="30"/>
                                        </p:tgtEl>
                                        <p:attrNameLst>
                                          <p:attrName>ppt_y</p:attrName>
                                        </p:attrNameLst>
                                      </p:cBhvr>
                                      <p:tavLst>
                                        <p:tav tm="0">
                                          <p:val>
                                            <p:strVal val="#ppt_y+0.1"/>
                                          </p:val>
                                        </p:tav>
                                        <p:tav tm="100000">
                                          <p:val>
                                            <p:strVal val="#ppt_y"/>
                                          </p:val>
                                        </p:tav>
                                      </p:tavLst>
                                    </p:anim>
                                    <p:animEffect transition="in" filter="fade">
                                      <p:cBhvr>
                                        <p:cTn id="145" dur="500"/>
                                        <p:tgtEl>
                                          <p:spTgt spid="30"/>
                                        </p:tgtEl>
                                      </p:cBhvr>
                                    </p:animEffect>
                                  </p:childTnLst>
                                </p:cTn>
                              </p:par>
                              <p:par>
                                <p:cTn id="151" presetID="2" presetClass="entr" presetSubtype="4" fill="hold" grpId="0" nodeType="withEffect">
                                  <p:stCondLst>
                                    <p:cond delay="120"/>
                                  </p:stCondLst>
                                  <p:childTnLst>
                                    <p:set>
                                      <p:cBhvr>
                                        <p:cTn id="147" dur="1" fill="hold">
                                          <p:stCondLst>
                                            <p:cond delay="0"/>
                                          </p:stCondLst>
                                        </p:cTn>
                                        <p:tgtEl>
                                          <p:spTgt spid="35"/>
                                        </p:tgtEl>
                                        <p:attrNameLst>
                                          <p:attrName>style.visibility</p:attrName>
                                        </p:attrNameLst>
                                      </p:cBhvr>
                                      <p:to>
                                        <p:strVal val="visible"/>
                                      </p:to>
                                    </p:set>
                                    <p:anim calcmode="lin" valueType="num">
                                      <p:cBhvr additive="base">
                                        <p:cTn id="148" dur="500" fill="hold"/>
                                        <p:tgtEl>
                                          <p:spTgt spid="35"/>
                                        </p:tgtEl>
                                        <p:attrNameLst>
                                          <p:attrName>ppt_x</p:attrName>
                                        </p:attrNameLst>
                                      </p:cBhvr>
                                      <p:tavLst>
                                        <p:tav tm="0">
                                          <p:val>
                                            <p:strVal val="#ppt_x"/>
                                          </p:val>
                                        </p:tav>
                                        <p:tav tm="100000">
                                          <p:val>
                                            <p:strVal val="#ppt_x"/>
                                          </p:val>
                                        </p:tav>
                                      </p:tavLst>
                                    </p:anim>
                                    <p:anim calcmode="lin" valueType="num">
                                      <p:cBhvr additive="base">
                                        <p:cTn id="149" dur="500" fill="hold"/>
                                        <p:tgtEl>
                                          <p:spTgt spid="35"/>
                                        </p:tgtEl>
                                        <p:attrNameLst>
                                          <p:attrName>ppt_y</p:attrName>
                                        </p:attrNameLst>
                                      </p:cBhvr>
                                      <p:tavLst>
                                        <p:tav tm="0">
                                          <p:val>
                                            <p:strVal val="#ppt_y+0.1"/>
                                          </p:val>
                                        </p:tav>
                                        <p:tav tm="100000">
                                          <p:val>
                                            <p:strVal val="#ppt_y"/>
                                          </p:val>
                                        </p:tav>
                                      </p:tavLst>
                                    </p:anim>
                                    <p:animEffect transition="in" filter="fade">
                                      <p:cBhvr>
                                        <p:cTn id="150" dur="500"/>
                                        <p:tgtEl>
                                          <p:spTgt spid="35"/>
                                        </p:tgtEl>
                                      </p:cBhvr>
                                    </p:animEffect>
                                  </p:childTnLst>
                                </p:cTn>
                              </p:par>
                              <p:par>
                                <p:cTn id="156" presetID="2" presetClass="entr" presetSubtype="4" fill="hold" grpId="0" nodeType="withEffect">
                                  <p:stCondLst>
                                    <p:cond delay="120"/>
                                  </p:stCondLst>
                                  <p:childTnLst>
                                    <p:set>
                                      <p:cBhvr>
                                        <p:cTn id="152" dur="1" fill="hold">
                                          <p:stCondLst>
                                            <p:cond delay="0"/>
                                          </p:stCondLst>
                                        </p:cTn>
                                        <p:tgtEl>
                                          <p:spTgt spid="40"/>
                                        </p:tgtEl>
                                        <p:attrNameLst>
                                          <p:attrName>style.visibility</p:attrName>
                                        </p:attrNameLst>
                                      </p:cBhvr>
                                      <p:to>
                                        <p:strVal val="visible"/>
                                      </p:to>
                                    </p:set>
                                    <p:anim calcmode="lin" valueType="num">
                                      <p:cBhvr additive="base">
                                        <p:cTn id="153" dur="500" fill="hold"/>
                                        <p:tgtEl>
                                          <p:spTgt spid="40"/>
                                        </p:tgtEl>
                                        <p:attrNameLst>
                                          <p:attrName>ppt_x</p:attrName>
                                        </p:attrNameLst>
                                      </p:cBhvr>
                                      <p:tavLst>
                                        <p:tav tm="0">
                                          <p:val>
                                            <p:strVal val="#ppt_x"/>
                                          </p:val>
                                        </p:tav>
                                        <p:tav tm="100000">
                                          <p:val>
                                            <p:strVal val="#ppt_x"/>
                                          </p:val>
                                        </p:tav>
                                      </p:tavLst>
                                    </p:anim>
                                    <p:anim calcmode="lin" valueType="num">
                                      <p:cBhvr additive="base">
                                        <p:cTn id="154" dur="500" fill="hold"/>
                                        <p:tgtEl>
                                          <p:spTgt spid="40"/>
                                        </p:tgtEl>
                                        <p:attrNameLst>
                                          <p:attrName>ppt_y</p:attrName>
                                        </p:attrNameLst>
                                      </p:cBhvr>
                                      <p:tavLst>
                                        <p:tav tm="0">
                                          <p:val>
                                            <p:strVal val="#ppt_y+0.1"/>
                                          </p:val>
                                        </p:tav>
                                        <p:tav tm="100000">
                                          <p:val>
                                            <p:strVal val="#ppt_y"/>
                                          </p:val>
                                        </p:tav>
                                      </p:tavLst>
                                    </p:anim>
                                    <p:animEffect transition="in" filter="fade">
                                      <p:cBhvr>
                                        <p:cTn id="155" dur="500"/>
                                        <p:tgtEl>
                                          <p:spTgt spid="40"/>
                                        </p:tgtEl>
                                      </p:cBhvr>
                                    </p:animEffect>
                                  </p:childTnLst>
                                </p:cTn>
                              </p:par>
                            </p:childTnLst>
                          </p:cTn>
                        </p:par>
                      </p:childTnLst>
                    </p:cTn>
                  </p:par>
                  <p:par>
                    <p:cTn id="157" fill="hold">
                      <p:stCondLst>
                        <p:cond delay="indefinite"/>
                      </p:stCondLst>
                      <p:childTnLst>
                        <p:par>
                          <p:cTn id="158" fill="hold">
                            <p:stCondLst>
                              <p:cond delay="0"/>
                            </p:stCondLst>
                            <p:childTnLst>
                              <p:par>
                                <p:cTn id="163" presetID="2" presetClass="entr" presetSubtype="4" fill="hold" grpId="0" nodeType="clickEffect">
                                  <p:stCondLst>
                                    <p:cond delay="0"/>
                                  </p:stCondLst>
                                  <p:childTnLst>
                                    <p:set>
                                      <p:cBhvr>
                                        <p:cTn id="159" dur="1" fill="hold">
                                          <p:stCondLst>
                                            <p:cond delay="0"/>
                                          </p:stCondLst>
                                        </p:cTn>
                                        <p:tgtEl>
                                          <p:spTgt spid="41"/>
                                        </p:tgtEl>
                                        <p:attrNameLst>
                                          <p:attrName>style.visibility</p:attrName>
                                        </p:attrNameLst>
                                      </p:cBhvr>
                                      <p:to>
                                        <p:strVal val="visible"/>
                                      </p:to>
                                    </p:set>
                                    <p:anim calcmode="lin" valueType="num">
                                      <p:cBhvr additive="base">
                                        <p:cTn id="160" dur="500" fill="hold"/>
                                        <p:tgtEl>
                                          <p:spTgt spid="41"/>
                                        </p:tgtEl>
                                        <p:attrNameLst>
                                          <p:attrName>ppt_x</p:attrName>
                                        </p:attrNameLst>
                                      </p:cBhvr>
                                      <p:tavLst>
                                        <p:tav tm="0">
                                          <p:val>
                                            <p:strVal val="#ppt_x"/>
                                          </p:val>
                                        </p:tav>
                                        <p:tav tm="100000">
                                          <p:val>
                                            <p:strVal val="#ppt_x"/>
                                          </p:val>
                                        </p:tav>
                                      </p:tavLst>
                                    </p:anim>
                                    <p:anim calcmode="lin" valueType="num">
                                      <p:cBhvr additive="base">
                                        <p:cTn id="161" dur="500" fill="hold"/>
                                        <p:tgtEl>
                                          <p:spTgt spid="41"/>
                                        </p:tgtEl>
                                        <p:attrNameLst>
                                          <p:attrName>ppt_y</p:attrName>
                                        </p:attrNameLst>
                                      </p:cBhvr>
                                      <p:tavLst>
                                        <p:tav tm="0">
                                          <p:val>
                                            <p:strVal val="#ppt_y+0.1"/>
                                          </p:val>
                                        </p:tav>
                                        <p:tav tm="100000">
                                          <p:val>
                                            <p:strVal val="#ppt_y"/>
                                          </p:val>
                                        </p:tav>
                                      </p:tavLst>
                                    </p:anim>
                                    <p:animEffect transition="in" filter="fade">
                                      <p:cBhvr>
                                        <p:cTn id="162" dur="500"/>
                                        <p:tgtEl>
                                          <p:spTgt spid="41"/>
                                        </p:tgtEl>
                                      </p:cBhvr>
                                    </p:animEffect>
                                  </p:childTnLst>
                                </p:cTn>
                              </p:par>
                              <p:par>
                                <p:cTn id="168" presetID="2" presetClass="entr" presetSubtype="4" fill="hold" grpId="0" nodeType="withEffect">
                                  <p:stCondLst>
                                    <p:cond delay="0"/>
                                  </p:stCondLst>
                                  <p:childTnLst>
                                    <p:set>
                                      <p:cBhvr>
                                        <p:cTn id="164" dur="1" fill="hold">
                                          <p:stCondLst>
                                            <p:cond delay="0"/>
                                          </p:stCondLst>
                                        </p:cTn>
                                        <p:tgtEl>
                                          <p:spTgt spid="42"/>
                                        </p:tgtEl>
                                        <p:attrNameLst>
                                          <p:attrName>style.visibility</p:attrName>
                                        </p:attrNameLst>
                                      </p:cBhvr>
                                      <p:to>
                                        <p:strVal val="visible"/>
                                      </p:to>
                                    </p:set>
                                    <p:anim calcmode="lin" valueType="num">
                                      <p:cBhvr additive="base">
                                        <p:cTn id="165" dur="500" fill="hold"/>
                                        <p:tgtEl>
                                          <p:spTgt spid="42"/>
                                        </p:tgtEl>
                                        <p:attrNameLst>
                                          <p:attrName>ppt_x</p:attrName>
                                        </p:attrNameLst>
                                      </p:cBhvr>
                                      <p:tavLst>
                                        <p:tav tm="0">
                                          <p:val>
                                            <p:strVal val="#ppt_x"/>
                                          </p:val>
                                        </p:tav>
                                        <p:tav tm="100000">
                                          <p:val>
                                            <p:strVal val="#ppt_x"/>
                                          </p:val>
                                        </p:tav>
                                      </p:tavLst>
                                    </p:anim>
                                    <p:anim calcmode="lin" valueType="num">
                                      <p:cBhvr additive="base">
                                        <p:cTn id="166" dur="500" fill="hold"/>
                                        <p:tgtEl>
                                          <p:spTgt spid="42"/>
                                        </p:tgtEl>
                                        <p:attrNameLst>
                                          <p:attrName>ppt_y</p:attrName>
                                        </p:attrNameLst>
                                      </p:cBhvr>
                                      <p:tavLst>
                                        <p:tav tm="0">
                                          <p:val>
                                            <p:strVal val="#ppt_y+0.1"/>
                                          </p:val>
                                        </p:tav>
                                        <p:tav tm="100000">
                                          <p:val>
                                            <p:strVal val="#ppt_y"/>
                                          </p:val>
                                        </p:tav>
                                      </p:tavLst>
                                    </p:anim>
                                    <p:animEffect transition="in" filter="fade">
                                      <p:cBhvr>
                                        <p:cTn id="167" dur="500"/>
                                        <p:tgtEl>
                                          <p:spTgt spid="42"/>
                                        </p:tgtEl>
                                      </p:cBhvr>
                                    </p:animEffect>
                                  </p:childTnLst>
                                </p:cTn>
                              </p:par>
                              <p:par>
                                <p:cTn id="173" presetID="2" presetClass="entr" presetSubtype="4" fill="hold" grpId="0" nodeType="withEffect">
                                  <p:stCondLst>
                                    <p:cond delay="0"/>
                                  </p:stCondLst>
                                  <p:childTnLst>
                                    <p:set>
                                      <p:cBhvr>
                                        <p:cTn id="169" dur="1" fill="hold">
                                          <p:stCondLst>
                                            <p:cond delay="0"/>
                                          </p:stCondLst>
                                        </p:cTn>
                                        <p:tgtEl>
                                          <p:spTgt spid="43"/>
                                        </p:tgtEl>
                                        <p:attrNameLst>
                                          <p:attrName>style.visibility</p:attrName>
                                        </p:attrNameLst>
                                      </p:cBhvr>
                                      <p:to>
                                        <p:strVal val="visible"/>
                                      </p:to>
                                    </p:set>
                                    <p:anim calcmode="lin" valueType="num">
                                      <p:cBhvr additive="base">
                                        <p:cTn id="170" dur="500" fill="hold"/>
                                        <p:tgtEl>
                                          <p:spTgt spid="43"/>
                                        </p:tgtEl>
                                        <p:attrNameLst>
                                          <p:attrName>ppt_x</p:attrName>
                                        </p:attrNameLst>
                                      </p:cBhvr>
                                      <p:tavLst>
                                        <p:tav tm="0">
                                          <p:val>
                                            <p:strVal val="#ppt_x"/>
                                          </p:val>
                                        </p:tav>
                                        <p:tav tm="100000">
                                          <p:val>
                                            <p:strVal val="#ppt_x"/>
                                          </p:val>
                                        </p:tav>
                                      </p:tavLst>
                                    </p:anim>
                                    <p:anim calcmode="lin" valueType="num">
                                      <p:cBhvr additive="base">
                                        <p:cTn id="171" dur="500" fill="hold"/>
                                        <p:tgtEl>
                                          <p:spTgt spid="43"/>
                                        </p:tgtEl>
                                        <p:attrNameLst>
                                          <p:attrName>ppt_y</p:attrName>
                                        </p:attrNameLst>
                                      </p:cBhvr>
                                      <p:tavLst>
                                        <p:tav tm="0">
                                          <p:val>
                                            <p:strVal val="#ppt_y+0.1"/>
                                          </p:val>
                                        </p:tav>
                                        <p:tav tm="100000">
                                          <p:val>
                                            <p:strVal val="#ppt_y"/>
                                          </p:val>
                                        </p:tav>
                                      </p:tavLst>
                                    </p:anim>
                                    <p:animEffect transition="in" filter="fade">
                                      <p:cBhvr>
                                        <p:cTn id="17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An SMT in Action: Tagging the Source</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A Postgres source connector adds source_system = users_db to every message</a:t>
            </a:r>
          </a:p>
        </p:txBody>
      </p:sp>
      <p:sp>
        <p:nvSpPr>
          <p:cNvPr id="11" name="a1f_codebg10"/>
          <p:cNvSpPr/>
          <p:nvPr/>
        </p:nvSpPr>
        <p:spPr>
          <a:xfrm>
            <a:off x="457200" y="1280160"/>
            <a:ext cx="4800600" cy="2596896"/>
          </a:xfrm>
          <a:prstGeom prst="roundRect">
            <a:avLst>
              <a:gd name="adj" fmla="val 2816"/>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f_codeh11"/>
          <p:cNvSpPr txBox="1"/>
          <p:nvPr/>
        </p:nvSpPr>
        <p:spPr>
          <a:xfrm>
            <a:off x="576072" y="1335024"/>
            <a:ext cx="4562856" cy="219456"/>
          </a:xfrm>
          <a:prstGeom prst="rect">
            <a:avLst/>
          </a:prstGeom>
          <a:noFill/>
        </p:spPr>
        <p:txBody>
          <a:bodyPr wrap="square" lIns="0" tIns="0" rIns="0" bIns="0" anchor="ctr">
            <a:spAutoFit/>
          </a:bodyPr>
          <a:lstStyle/>
          <a:p>
            <a:pPr algn="l"/>
            <a:r>
              <a:rPr sz="950" b="1">
                <a:solidFill>
                  <a:srgbClr val="A8A29E"/>
                </a:solidFill>
                <a:latin typeface="Consolas"/>
              </a:rPr>
              <a:t>users-source.json</a:t>
            </a:r>
          </a:p>
        </p:txBody>
      </p:sp>
      <p:sp>
        <p:nvSpPr>
          <p:cNvPr id="13" name="a1f_codesep12"/>
          <p:cNvSpPr/>
          <p:nvPr/>
        </p:nvSpPr>
        <p:spPr>
          <a:xfrm>
            <a:off x="576072" y="1609343"/>
            <a:ext cx="4562856" cy="109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w_code13"/>
          <p:cNvSpPr txBox="1"/>
          <p:nvPr/>
        </p:nvSpPr>
        <p:spPr>
          <a:xfrm>
            <a:off x="576072" y="1673352"/>
            <a:ext cx="4562856" cy="173736"/>
          </a:xfrm>
          <a:prstGeom prst="rect">
            <a:avLst/>
          </a:prstGeom>
          <a:noFill/>
        </p:spPr>
        <p:txBody>
          <a:bodyPr wrap="none" lIns="0" tIns="0" rIns="0" bIns="0" anchor="ctr">
            <a:spAutoFit/>
          </a:bodyPr>
          <a:lstStyle/>
          <a:p>
            <a:pPr algn="l"/>
            <a:r>
              <a:rPr sz="750" b="0">
                <a:solidFill>
                  <a:srgbClr val="E7E5E4"/>
                </a:solidFill>
                <a:latin typeface="Consolas"/>
              </a:rPr>
              <a:t>{</a:t>
            </a:r>
          </a:p>
        </p:txBody>
      </p:sp>
      <p:sp>
        <p:nvSpPr>
          <p:cNvPr id="15" name="a1wd70_code14"/>
          <p:cNvSpPr txBox="1"/>
          <p:nvPr/>
        </p:nvSpPr>
        <p:spPr>
          <a:xfrm>
            <a:off x="576072" y="1847088"/>
            <a:ext cx="4562856" cy="173736"/>
          </a:xfrm>
          <a:prstGeom prst="rect">
            <a:avLst/>
          </a:prstGeom>
          <a:noFill/>
        </p:spPr>
        <p:txBody>
          <a:bodyPr wrap="none" lIns="0" tIns="0" rIns="0" bIns="0" anchor="ctr">
            <a:spAutoFit/>
          </a:bodyPr>
          <a:lstStyle/>
          <a:p>
            <a:pPr algn="l"/>
            <a:r>
              <a:rPr sz="750" b="0">
                <a:solidFill>
                  <a:srgbClr val="E7E5E4"/>
                </a:solidFill>
                <a:latin typeface="Consolas"/>
              </a:rPr>
              <a:t>  "connector.class":</a:t>
            </a:r>
          </a:p>
        </p:txBody>
      </p:sp>
      <p:sp>
        <p:nvSpPr>
          <p:cNvPr id="16" name="a1wd140_code15"/>
          <p:cNvSpPr txBox="1"/>
          <p:nvPr/>
        </p:nvSpPr>
        <p:spPr>
          <a:xfrm>
            <a:off x="576072" y="2020824"/>
            <a:ext cx="4562856" cy="173736"/>
          </a:xfrm>
          <a:prstGeom prst="rect">
            <a:avLst/>
          </a:prstGeom>
          <a:noFill/>
        </p:spPr>
        <p:txBody>
          <a:bodyPr wrap="none" lIns="0" tIns="0" rIns="0" bIns="0" anchor="ctr">
            <a:spAutoFit/>
          </a:bodyPr>
          <a:lstStyle/>
          <a:p>
            <a:pPr algn="l"/>
            <a:r>
              <a:rPr sz="750" b="0">
                <a:solidFill>
                  <a:srgbClr val="E7E5E4"/>
                </a:solidFill>
                <a:latin typeface="Consolas"/>
              </a:rPr>
              <a:t>      "io.confluent.connect.jdbc.JdbcSourceConnector",</a:t>
            </a:r>
          </a:p>
        </p:txBody>
      </p:sp>
      <p:sp>
        <p:nvSpPr>
          <p:cNvPr id="17" name="a1wd210_code16"/>
          <p:cNvSpPr txBox="1"/>
          <p:nvPr/>
        </p:nvSpPr>
        <p:spPr>
          <a:xfrm>
            <a:off x="576072" y="2194560"/>
            <a:ext cx="4562856" cy="173736"/>
          </a:xfrm>
          <a:prstGeom prst="rect">
            <a:avLst/>
          </a:prstGeom>
          <a:noFill/>
        </p:spPr>
        <p:txBody>
          <a:bodyPr wrap="none" lIns="0" tIns="0" rIns="0" bIns="0" anchor="ctr">
            <a:spAutoFit/>
          </a:bodyPr>
          <a:lstStyle/>
          <a:p>
            <a:pPr algn="l"/>
            <a:r>
              <a:rPr sz="750" b="0">
                <a:solidFill>
                  <a:srgbClr val="E7E5E4"/>
                </a:solidFill>
                <a:latin typeface="Consolas"/>
              </a:rPr>
              <a:t>  "connection.url": "jdbc:postgresql://postgres:5432/shop",</a:t>
            </a:r>
          </a:p>
        </p:txBody>
      </p:sp>
      <p:sp>
        <p:nvSpPr>
          <p:cNvPr id="18" name="a1wd280_code17"/>
          <p:cNvSpPr txBox="1"/>
          <p:nvPr/>
        </p:nvSpPr>
        <p:spPr>
          <a:xfrm>
            <a:off x="576072" y="2368296"/>
            <a:ext cx="4562856" cy="173736"/>
          </a:xfrm>
          <a:prstGeom prst="rect">
            <a:avLst/>
          </a:prstGeom>
          <a:noFill/>
        </p:spPr>
        <p:txBody>
          <a:bodyPr wrap="none" lIns="0" tIns="0" rIns="0" bIns="0" anchor="ctr">
            <a:spAutoFit/>
          </a:bodyPr>
          <a:lstStyle/>
          <a:p>
            <a:pPr algn="l"/>
            <a:r>
              <a:rPr sz="750" b="0">
                <a:solidFill>
                  <a:srgbClr val="E7E5E4"/>
                </a:solidFill>
                <a:latin typeface="Consolas"/>
              </a:rPr>
              <a:t>  "table.whitelist": "users",</a:t>
            </a:r>
          </a:p>
        </p:txBody>
      </p:sp>
      <p:sp>
        <p:nvSpPr>
          <p:cNvPr id="19" name="a1wd350_code18"/>
          <p:cNvSpPr txBox="1"/>
          <p:nvPr/>
        </p:nvSpPr>
        <p:spPr>
          <a:xfrm>
            <a:off x="576072" y="2542032"/>
            <a:ext cx="4562856" cy="173736"/>
          </a:xfrm>
          <a:prstGeom prst="rect">
            <a:avLst/>
          </a:prstGeom>
          <a:noFill/>
        </p:spPr>
        <p:txBody>
          <a:bodyPr wrap="none" lIns="0" tIns="0" rIns="0" bIns="0" anchor="ctr">
            <a:spAutoFit/>
          </a:bodyPr>
          <a:lstStyle/>
          <a:p>
            <a:pPr algn="l"/>
            <a:r>
              <a:rPr sz="750" b="0">
                <a:solidFill>
                  <a:srgbClr val="E7E5E4"/>
                </a:solidFill>
                <a:latin typeface="Consolas"/>
              </a:rPr>
              <a:t>  "mode": "incrementing",  "incrementing.column.name": "id",</a:t>
            </a:r>
          </a:p>
        </p:txBody>
      </p:sp>
      <p:sp>
        <p:nvSpPr>
          <p:cNvPr id="20" name="a1wd420_code19"/>
          <p:cNvSpPr txBox="1"/>
          <p:nvPr/>
        </p:nvSpPr>
        <p:spPr>
          <a:xfrm>
            <a:off x="576072" y="2715768"/>
            <a:ext cx="4562856" cy="173736"/>
          </a:xfrm>
          <a:prstGeom prst="rect">
            <a:avLst/>
          </a:prstGeom>
          <a:noFill/>
        </p:spPr>
        <p:txBody>
          <a:bodyPr wrap="none" lIns="0" tIns="0" rIns="0" bIns="0" anchor="ctr">
            <a:spAutoFit/>
          </a:bodyPr>
          <a:lstStyle/>
          <a:p>
            <a:pPr algn="l"/>
            <a:r>
              <a:rPr sz="750" b="1">
                <a:solidFill>
                  <a:srgbClr val="FDBA74"/>
                </a:solidFill>
                <a:latin typeface="Consolas"/>
              </a:rPr>
              <a:t>  "transforms": "addSource",</a:t>
            </a:r>
          </a:p>
        </p:txBody>
      </p:sp>
      <p:sp>
        <p:nvSpPr>
          <p:cNvPr id="21" name="a1wd490_code20"/>
          <p:cNvSpPr txBox="1"/>
          <p:nvPr/>
        </p:nvSpPr>
        <p:spPr>
          <a:xfrm>
            <a:off x="576072" y="2889504"/>
            <a:ext cx="4562856" cy="173736"/>
          </a:xfrm>
          <a:prstGeom prst="rect">
            <a:avLst/>
          </a:prstGeom>
          <a:noFill/>
        </p:spPr>
        <p:txBody>
          <a:bodyPr wrap="none" lIns="0" tIns="0" rIns="0" bIns="0" anchor="ctr">
            <a:spAutoFit/>
          </a:bodyPr>
          <a:lstStyle/>
          <a:p>
            <a:pPr algn="l"/>
            <a:r>
              <a:rPr sz="750" b="1">
                <a:solidFill>
                  <a:srgbClr val="FDBA74"/>
                </a:solidFill>
                <a:latin typeface="Consolas"/>
              </a:rPr>
              <a:t>  "transforms.addSource.type":</a:t>
            </a:r>
          </a:p>
        </p:txBody>
      </p:sp>
      <p:sp>
        <p:nvSpPr>
          <p:cNvPr id="22" name="a1wd560_code21"/>
          <p:cNvSpPr txBox="1"/>
          <p:nvPr/>
        </p:nvSpPr>
        <p:spPr>
          <a:xfrm>
            <a:off x="576072" y="3063240"/>
            <a:ext cx="4562856" cy="173736"/>
          </a:xfrm>
          <a:prstGeom prst="rect">
            <a:avLst/>
          </a:prstGeom>
          <a:noFill/>
        </p:spPr>
        <p:txBody>
          <a:bodyPr wrap="none" lIns="0" tIns="0" rIns="0" bIns="0" anchor="ctr">
            <a:spAutoFit/>
          </a:bodyPr>
          <a:lstStyle/>
          <a:p>
            <a:pPr algn="l"/>
            <a:r>
              <a:rPr sz="750" b="1">
                <a:solidFill>
                  <a:srgbClr val="FDBA74"/>
                </a:solidFill>
                <a:latin typeface="Consolas"/>
              </a:rPr>
              <a:t>      "org.apache.kafka.connect.transforms.InsertField$Value",</a:t>
            </a:r>
          </a:p>
        </p:txBody>
      </p:sp>
      <p:sp>
        <p:nvSpPr>
          <p:cNvPr id="23" name="a1wd630_code22"/>
          <p:cNvSpPr txBox="1"/>
          <p:nvPr/>
        </p:nvSpPr>
        <p:spPr>
          <a:xfrm>
            <a:off x="576072" y="3236976"/>
            <a:ext cx="4562856" cy="173736"/>
          </a:xfrm>
          <a:prstGeom prst="rect">
            <a:avLst/>
          </a:prstGeom>
          <a:noFill/>
        </p:spPr>
        <p:txBody>
          <a:bodyPr wrap="none" lIns="0" tIns="0" rIns="0" bIns="0" anchor="ctr">
            <a:spAutoFit/>
          </a:bodyPr>
          <a:lstStyle/>
          <a:p>
            <a:pPr algn="l"/>
            <a:r>
              <a:rPr sz="750" b="1">
                <a:solidFill>
                  <a:srgbClr val="FDBA74"/>
                </a:solidFill>
                <a:latin typeface="Consolas"/>
              </a:rPr>
              <a:t>  "transforms.addSource.static.field": "source_system",</a:t>
            </a:r>
          </a:p>
        </p:txBody>
      </p:sp>
      <p:sp>
        <p:nvSpPr>
          <p:cNvPr id="24" name="a1wd700_code23"/>
          <p:cNvSpPr txBox="1"/>
          <p:nvPr/>
        </p:nvSpPr>
        <p:spPr>
          <a:xfrm>
            <a:off x="576072" y="3410712"/>
            <a:ext cx="4562856" cy="173736"/>
          </a:xfrm>
          <a:prstGeom prst="rect">
            <a:avLst/>
          </a:prstGeom>
          <a:noFill/>
        </p:spPr>
        <p:txBody>
          <a:bodyPr wrap="none" lIns="0" tIns="0" rIns="0" bIns="0" anchor="ctr">
            <a:spAutoFit/>
          </a:bodyPr>
          <a:lstStyle/>
          <a:p>
            <a:pPr algn="l"/>
            <a:r>
              <a:rPr sz="750" b="1">
                <a:solidFill>
                  <a:srgbClr val="FDBA74"/>
                </a:solidFill>
                <a:latin typeface="Consolas"/>
              </a:rPr>
              <a:t>  "transforms.addSource.static.value": "users_db"</a:t>
            </a:r>
          </a:p>
        </p:txBody>
      </p:sp>
      <p:sp>
        <p:nvSpPr>
          <p:cNvPr id="25" name="a1wd770_code24"/>
          <p:cNvSpPr txBox="1"/>
          <p:nvPr/>
        </p:nvSpPr>
        <p:spPr>
          <a:xfrm>
            <a:off x="576072" y="3584448"/>
            <a:ext cx="4562856" cy="173736"/>
          </a:xfrm>
          <a:prstGeom prst="rect">
            <a:avLst/>
          </a:prstGeom>
          <a:noFill/>
        </p:spPr>
        <p:txBody>
          <a:bodyPr wrap="none" lIns="0" tIns="0" rIns="0" bIns="0" anchor="ctr">
            <a:spAutoFit/>
          </a:bodyPr>
          <a:lstStyle/>
          <a:p>
            <a:pPr algn="l"/>
            <a:r>
              <a:rPr sz="750" b="0">
                <a:solidFill>
                  <a:srgbClr val="E7E5E4"/>
                </a:solidFill>
                <a:latin typeface="Consolas"/>
              </a:rPr>
              <a:t>}</a:t>
            </a:r>
          </a:p>
        </p:txBody>
      </p:sp>
      <p:sp>
        <p:nvSpPr>
          <p:cNvPr id="26" name="a2u_lb25"/>
          <p:cNvSpPr txBox="1"/>
          <p:nvPr/>
        </p:nvSpPr>
        <p:spPr>
          <a:xfrm>
            <a:off x="5532120" y="1280160"/>
            <a:ext cx="3154680" cy="201168"/>
          </a:xfrm>
          <a:prstGeom prst="rect">
            <a:avLst/>
          </a:prstGeom>
          <a:noFill/>
        </p:spPr>
        <p:txBody>
          <a:bodyPr wrap="square" lIns="0" tIns="0" rIns="0" bIns="0" anchor="ctr">
            <a:spAutoFit/>
          </a:bodyPr>
          <a:lstStyle/>
          <a:p>
            <a:pPr algn="l"/>
            <a:r>
              <a:rPr sz="850" b="1">
                <a:solidFill>
                  <a:srgbClr val="78716C"/>
                </a:solidFill>
                <a:latin typeface="Segoe UI"/>
              </a:rPr>
              <a:t>ROW IN THE TABLE</a:t>
            </a:r>
          </a:p>
        </p:txBody>
      </p:sp>
      <p:sp>
        <p:nvSpPr>
          <p:cNvPr id="27" name="a2u_card26"/>
          <p:cNvSpPr/>
          <p:nvPr/>
        </p:nvSpPr>
        <p:spPr>
          <a:xfrm>
            <a:off x="5532120" y="1536192"/>
            <a:ext cx="3154680" cy="566928"/>
          </a:xfrm>
          <a:prstGeom prst="roundRect">
            <a:avLst>
              <a:gd name="adj" fmla="val 1935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2u_row27"/>
          <p:cNvSpPr txBox="1"/>
          <p:nvPr/>
        </p:nvSpPr>
        <p:spPr>
          <a:xfrm>
            <a:off x="5669280" y="1536192"/>
            <a:ext cx="2926080" cy="566928"/>
          </a:xfrm>
          <a:prstGeom prst="rect">
            <a:avLst/>
          </a:prstGeom>
          <a:noFill/>
        </p:spPr>
        <p:txBody>
          <a:bodyPr wrap="square" lIns="0" tIns="0" rIns="0" bIns="0" anchor="ctr">
            <a:spAutoFit/>
          </a:bodyPr>
          <a:lstStyle/>
          <a:p>
            <a:pPr algn="l"/>
            <a:r>
              <a:rPr sz="950" b="0">
                <a:solidFill>
                  <a:srgbClr val="44403C"/>
                </a:solidFill>
                <a:latin typeface="Consolas"/>
              </a:rPr>
              <a:t>id 7  ·  name ana  ·  email ana@ex.io</a:t>
            </a:r>
          </a:p>
        </p:txBody>
      </p:sp>
      <p:cxnSp>
        <p:nvCxnSpPr>
          <p:cNvPr id="29" name="a3u_ar28"/>
          <p:cNvCxnSpPr/>
          <p:nvPr/>
        </p:nvCxnSpPr>
        <p:spPr>
          <a:xfrm>
            <a:off x="7104888" y="2139696"/>
            <a:ext cx="0" cy="256032"/>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a3u_lb29"/>
          <p:cNvSpPr txBox="1"/>
          <p:nvPr/>
        </p:nvSpPr>
        <p:spPr>
          <a:xfrm>
            <a:off x="7178040" y="2157984"/>
            <a:ext cx="1508760" cy="201168"/>
          </a:xfrm>
          <a:prstGeom prst="rect">
            <a:avLst/>
          </a:prstGeom>
          <a:noFill/>
        </p:spPr>
        <p:txBody>
          <a:bodyPr wrap="square" lIns="0" tIns="0" rIns="0" bIns="0" anchor="ctr">
            <a:spAutoFit/>
          </a:bodyPr>
          <a:lstStyle/>
          <a:p>
            <a:pPr algn="l"/>
            <a:r>
              <a:rPr sz="850" b="1">
                <a:solidFill>
                  <a:srgbClr val="C2410C"/>
                </a:solidFill>
                <a:latin typeface="Consolas"/>
              </a:rPr>
              <a:t>InsertField</a:t>
            </a:r>
          </a:p>
        </p:txBody>
      </p:sp>
      <p:sp>
        <p:nvSpPr>
          <p:cNvPr id="31" name="a3ud100_lb30"/>
          <p:cNvSpPr txBox="1"/>
          <p:nvPr/>
        </p:nvSpPr>
        <p:spPr>
          <a:xfrm>
            <a:off x="5532120" y="2432304"/>
            <a:ext cx="3154680" cy="201168"/>
          </a:xfrm>
          <a:prstGeom prst="rect">
            <a:avLst/>
          </a:prstGeom>
          <a:noFill/>
        </p:spPr>
        <p:txBody>
          <a:bodyPr wrap="square" lIns="0" tIns="0" rIns="0" bIns="0" anchor="ctr">
            <a:spAutoFit/>
          </a:bodyPr>
          <a:lstStyle/>
          <a:p>
            <a:pPr algn="l"/>
            <a:r>
              <a:rPr sz="850" b="1">
                <a:solidFill>
                  <a:srgbClr val="78716C"/>
                </a:solidFill>
                <a:latin typeface="Segoe UI"/>
              </a:rPr>
              <a:t>MESSAGE VALUE IN THE TOPIC</a:t>
            </a:r>
          </a:p>
        </p:txBody>
      </p:sp>
      <p:sp>
        <p:nvSpPr>
          <p:cNvPr id="32" name="a3ud100_msg31"/>
          <p:cNvSpPr/>
          <p:nvPr/>
        </p:nvSpPr>
        <p:spPr>
          <a:xfrm>
            <a:off x="5532120" y="2688336"/>
            <a:ext cx="3154680" cy="960120"/>
          </a:xfrm>
          <a:prstGeom prst="roundRect">
            <a:avLst>
              <a:gd name="adj" fmla="val 7619"/>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3ud100_msgt32"/>
          <p:cNvSpPr txBox="1"/>
          <p:nvPr/>
        </p:nvSpPr>
        <p:spPr>
          <a:xfrm>
            <a:off x="5669280" y="2724912"/>
            <a:ext cx="2926080" cy="896112"/>
          </a:xfrm>
          <a:prstGeom prst="rect">
            <a:avLst/>
          </a:prstGeom>
          <a:noFill/>
        </p:spPr>
        <p:txBody>
          <a:bodyPr wrap="square" lIns="0" tIns="0" rIns="0" bIns="0" anchor="ctr">
            <a:spAutoFit/>
          </a:bodyPr>
          <a:lstStyle/>
          <a:p>
            <a:pPr algn="l">
              <a:lnSpc>
                <a:spcPct val="110000"/>
              </a:lnSpc>
            </a:pPr>
            <a:r>
              <a:rPr sz="900" b="0">
                <a:solidFill>
                  <a:srgbClr val="44403C"/>
                </a:solidFill>
                <a:latin typeface="Consolas"/>
              </a:rPr>
              <a:t>{"id": 7, "name": "ana",</a:t>
            </a:r>
          </a:p>
          <a:p>
            <a:pPr algn="l">
              <a:lnSpc>
                <a:spcPct val="110000"/>
              </a:lnSpc>
            </a:pPr>
            <a:r>
              <a:rPr sz="900" b="0">
                <a:solidFill>
                  <a:srgbClr val="44403C"/>
                </a:solidFill>
                <a:latin typeface="Consolas"/>
              </a:rPr>
              <a:t>  "email": "ana@ex.io",</a:t>
            </a:r>
          </a:p>
          <a:p>
            <a:pPr algn="l">
              <a:lnSpc>
                <a:spcPct val="110000"/>
              </a:lnSpc>
            </a:pPr>
            <a:r>
              <a:rPr sz="900" b="1">
                <a:solidFill>
                  <a:srgbClr val="C2410C"/>
                </a:solidFill>
                <a:latin typeface="Consolas"/>
              </a:rPr>
              <a:t>  "source_system": "users_db"}</a:t>
            </a:r>
          </a:p>
        </p:txBody>
      </p:sp>
      <p:sp>
        <p:nvSpPr>
          <p:cNvPr id="34" name="a4u_nb33"/>
          <p:cNvSpPr/>
          <p:nvPr/>
        </p:nvSpPr>
        <p:spPr>
          <a:xfrm>
            <a:off x="457200" y="3931920"/>
            <a:ext cx="8229600" cy="530352"/>
          </a:xfrm>
          <a:prstGeom prst="roundRect">
            <a:avLst>
              <a:gd name="adj" fmla="val 13793"/>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4u_nacc34"/>
          <p:cNvSpPr/>
          <p:nvPr/>
        </p:nvSpPr>
        <p:spPr>
          <a:xfrm>
            <a:off x="457200" y="3931920"/>
            <a:ext cx="54864" cy="530352"/>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4u_nt35"/>
          <p:cNvSpPr txBox="1"/>
          <p:nvPr/>
        </p:nvSpPr>
        <p:spPr>
          <a:xfrm>
            <a:off x="658368" y="3931920"/>
            <a:ext cx="7827264" cy="530352"/>
          </a:xfrm>
          <a:prstGeom prst="rect">
            <a:avLst/>
          </a:prstGeom>
          <a:noFill/>
        </p:spPr>
        <p:txBody>
          <a:bodyPr wrap="square" lIns="0" tIns="0" rIns="0" bIns="0" anchor="ctr">
            <a:spAutoFit/>
          </a:bodyPr>
          <a:lstStyle/>
          <a:p>
            <a:pPr algn="l"/>
            <a:r>
              <a:rPr sz="950" b="1">
                <a:solidFill>
                  <a:srgbClr val="C2410C"/>
                </a:solidFill>
                <a:latin typeface="Segoe UI"/>
              </a:rPr>
              <a:t>KEY  </a:t>
            </a:r>
            <a:r>
              <a:rPr sz="950" b="0">
                <a:solidFill>
                  <a:srgbClr val="44403C"/>
                </a:solidFill>
                <a:latin typeface="Segoe UI"/>
              </a:rPr>
              <a:t>source_system is in every message - though it was never a column in the table.</a:t>
            </a:r>
          </a:p>
        </p:txBody>
      </p:sp>
      <p:sp>
        <p:nvSpPr>
          <p:cNvPr id="37" name="ft36"/>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09</a:t>
            </a:r>
          </a:p>
        </p:txBody>
      </p:sp>
      <p:sp>
        <p:nvSpPr>
          <p:cNvPr id="38" name="ft37"/>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ft38"/>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Kafka Connect</a:t>
            </a:r>
          </a:p>
        </p:txBody>
      </p:sp>
      <p:sp>
        <p:nvSpPr>
          <p:cNvPr id="40" name="ft39"/>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9</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22" presetClass="entr" presetSubtype="8"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par>
                                <p:cTn id="19" presetID="22" presetClass="entr" presetSubtype="8" fill="hold" grpId="0" nodeType="withEffect">
                                  <p:stCondLst>
                                    <p:cond delay="7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par>
                                <p:cTn id="22" presetID="22" presetClass="entr" presetSubtype="8" fill="hold" grpId="0" nodeType="withEffect">
                                  <p:stCondLst>
                                    <p:cond delay="140"/>
                                  </p:stCondLst>
                                  <p:childTnLst>
                                    <p:set>
                                      <p:cBhvr>
                                        <p:cTn id="20" dur="1" fill="hold">
                                          <p:stCondLst>
                                            <p:cond delay="0"/>
                                          </p:stCondLst>
                                        </p:cTn>
                                        <p:tgtEl>
                                          <p:spTgt spid="16"/>
                                        </p:tgtEl>
                                        <p:attrNameLst>
                                          <p:attrName>style.visibility</p:attrName>
                                        </p:attrNameLst>
                                      </p:cBhvr>
                                      <p:to>
                                        <p:strVal val="visible"/>
                                      </p:to>
                                    </p:set>
                                    <p:animEffect transition="in" filter="wipe(left)">
                                      <p:cBhvr>
                                        <p:cTn id="21" dur="500"/>
                                        <p:tgtEl>
                                          <p:spTgt spid="16"/>
                                        </p:tgtEl>
                                      </p:cBhvr>
                                    </p:animEffect>
                                  </p:childTnLst>
                                </p:cTn>
                              </p:par>
                              <p:par>
                                <p:cTn id="25" presetID="22" presetClass="entr" presetSubtype="8" fill="hold" grpId="0" nodeType="withEffect">
                                  <p:stCondLst>
                                    <p:cond delay="21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500"/>
                                        <p:tgtEl>
                                          <p:spTgt spid="17"/>
                                        </p:tgtEl>
                                      </p:cBhvr>
                                    </p:animEffect>
                                  </p:childTnLst>
                                </p:cTn>
                              </p:par>
                              <p:par>
                                <p:cTn id="28" presetID="22" presetClass="entr" presetSubtype="8" fill="hold" grpId="0" nodeType="withEffect">
                                  <p:stCondLst>
                                    <p:cond delay="28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par>
                                <p:cTn id="31" presetID="22" presetClass="entr" presetSubtype="8" fill="hold" grpId="0" nodeType="withEffect">
                                  <p:stCondLst>
                                    <p:cond delay="350"/>
                                  </p:stCondLst>
                                  <p:childTnLst>
                                    <p:set>
                                      <p:cBhvr>
                                        <p:cTn id="29" dur="1" fill="hold">
                                          <p:stCondLst>
                                            <p:cond delay="0"/>
                                          </p:stCondLst>
                                        </p:cTn>
                                        <p:tgtEl>
                                          <p:spTgt spid="19"/>
                                        </p:tgtEl>
                                        <p:attrNameLst>
                                          <p:attrName>style.visibility</p:attrName>
                                        </p:attrNameLst>
                                      </p:cBhvr>
                                      <p:to>
                                        <p:strVal val="visible"/>
                                      </p:to>
                                    </p:set>
                                    <p:animEffect transition="in" filter="wipe(left)">
                                      <p:cBhvr>
                                        <p:cTn id="30" dur="500"/>
                                        <p:tgtEl>
                                          <p:spTgt spid="19"/>
                                        </p:tgtEl>
                                      </p:cBhvr>
                                    </p:animEffect>
                                  </p:childTnLst>
                                </p:cTn>
                              </p:par>
                              <p:par>
                                <p:cTn id="34" presetID="22" presetClass="entr" presetSubtype="8" fill="hold" grpId="0" nodeType="withEffect">
                                  <p:stCondLst>
                                    <p:cond delay="420"/>
                                  </p:stCondLst>
                                  <p:childTnLst>
                                    <p:set>
                                      <p:cBhvr>
                                        <p:cTn id="32" dur="1" fill="hold">
                                          <p:stCondLst>
                                            <p:cond delay="0"/>
                                          </p:stCondLst>
                                        </p:cTn>
                                        <p:tgtEl>
                                          <p:spTgt spid="20"/>
                                        </p:tgtEl>
                                        <p:attrNameLst>
                                          <p:attrName>style.visibility</p:attrName>
                                        </p:attrNameLst>
                                      </p:cBhvr>
                                      <p:to>
                                        <p:strVal val="visible"/>
                                      </p:to>
                                    </p:set>
                                    <p:animEffect transition="in" filter="wipe(left)">
                                      <p:cBhvr>
                                        <p:cTn id="33" dur="500"/>
                                        <p:tgtEl>
                                          <p:spTgt spid="20"/>
                                        </p:tgtEl>
                                      </p:cBhvr>
                                    </p:animEffect>
                                  </p:childTnLst>
                                </p:cTn>
                              </p:par>
                              <p:par>
                                <p:cTn id="37" presetID="22" presetClass="entr" presetSubtype="8" fill="hold" grpId="0" nodeType="withEffect">
                                  <p:stCondLst>
                                    <p:cond delay="490"/>
                                  </p:stCondLst>
                                  <p:childTnLst>
                                    <p:set>
                                      <p:cBhvr>
                                        <p:cTn id="35" dur="1" fill="hold">
                                          <p:stCondLst>
                                            <p:cond delay="0"/>
                                          </p:stCondLst>
                                        </p:cTn>
                                        <p:tgtEl>
                                          <p:spTgt spid="21"/>
                                        </p:tgtEl>
                                        <p:attrNameLst>
                                          <p:attrName>style.visibility</p:attrName>
                                        </p:attrNameLst>
                                      </p:cBhvr>
                                      <p:to>
                                        <p:strVal val="visible"/>
                                      </p:to>
                                    </p:set>
                                    <p:animEffect transition="in" filter="wipe(left)">
                                      <p:cBhvr>
                                        <p:cTn id="36" dur="500"/>
                                        <p:tgtEl>
                                          <p:spTgt spid="21"/>
                                        </p:tgtEl>
                                      </p:cBhvr>
                                    </p:animEffect>
                                  </p:childTnLst>
                                </p:cTn>
                              </p:par>
                              <p:par>
                                <p:cTn id="40" presetID="22" presetClass="entr" presetSubtype="8" fill="hold" grpId="0" nodeType="withEffect">
                                  <p:stCondLst>
                                    <p:cond delay="560"/>
                                  </p:stCondLst>
                                  <p:childTnLst>
                                    <p:set>
                                      <p:cBhvr>
                                        <p:cTn id="38" dur="1" fill="hold">
                                          <p:stCondLst>
                                            <p:cond delay="0"/>
                                          </p:stCondLst>
                                        </p:cTn>
                                        <p:tgtEl>
                                          <p:spTgt spid="22"/>
                                        </p:tgtEl>
                                        <p:attrNameLst>
                                          <p:attrName>style.visibility</p:attrName>
                                        </p:attrNameLst>
                                      </p:cBhvr>
                                      <p:to>
                                        <p:strVal val="visible"/>
                                      </p:to>
                                    </p:set>
                                    <p:animEffect transition="in" filter="wipe(left)">
                                      <p:cBhvr>
                                        <p:cTn id="39" dur="500"/>
                                        <p:tgtEl>
                                          <p:spTgt spid="22"/>
                                        </p:tgtEl>
                                      </p:cBhvr>
                                    </p:animEffect>
                                  </p:childTnLst>
                                </p:cTn>
                              </p:par>
                              <p:par>
                                <p:cTn id="43" presetID="22" presetClass="entr" presetSubtype="8" fill="hold" grpId="0" nodeType="withEffect">
                                  <p:stCondLst>
                                    <p:cond delay="630"/>
                                  </p:stCondLst>
                                  <p:childTnLst>
                                    <p:set>
                                      <p:cBhvr>
                                        <p:cTn id="41" dur="1" fill="hold">
                                          <p:stCondLst>
                                            <p:cond delay="0"/>
                                          </p:stCondLst>
                                        </p:cTn>
                                        <p:tgtEl>
                                          <p:spTgt spid="23"/>
                                        </p:tgtEl>
                                        <p:attrNameLst>
                                          <p:attrName>style.visibility</p:attrName>
                                        </p:attrNameLst>
                                      </p:cBhvr>
                                      <p:to>
                                        <p:strVal val="visible"/>
                                      </p:to>
                                    </p:set>
                                    <p:animEffect transition="in" filter="wipe(left)">
                                      <p:cBhvr>
                                        <p:cTn id="42" dur="500"/>
                                        <p:tgtEl>
                                          <p:spTgt spid="23"/>
                                        </p:tgtEl>
                                      </p:cBhvr>
                                    </p:animEffect>
                                  </p:childTnLst>
                                </p:cTn>
                              </p:par>
                              <p:par>
                                <p:cTn id="46" presetID="22" presetClass="entr" presetSubtype="8" fill="hold" grpId="0" nodeType="withEffect">
                                  <p:stCondLst>
                                    <p:cond delay="700"/>
                                  </p:stCondLst>
                                  <p:childTnLst>
                                    <p:set>
                                      <p:cBhvr>
                                        <p:cTn id="44" dur="1" fill="hold">
                                          <p:stCondLst>
                                            <p:cond delay="0"/>
                                          </p:stCondLst>
                                        </p:cTn>
                                        <p:tgtEl>
                                          <p:spTgt spid="24"/>
                                        </p:tgtEl>
                                        <p:attrNameLst>
                                          <p:attrName>style.visibility</p:attrName>
                                        </p:attrNameLst>
                                      </p:cBhvr>
                                      <p:to>
                                        <p:strVal val="visible"/>
                                      </p:to>
                                    </p:set>
                                    <p:animEffect transition="in" filter="wipe(left)">
                                      <p:cBhvr>
                                        <p:cTn id="45" dur="500"/>
                                        <p:tgtEl>
                                          <p:spTgt spid="24"/>
                                        </p:tgtEl>
                                      </p:cBhvr>
                                    </p:animEffect>
                                  </p:childTnLst>
                                </p:cTn>
                              </p:par>
                              <p:par>
                                <p:cTn id="49" presetID="22" presetClass="entr" presetSubtype="8" fill="hold" grpId="0" nodeType="withEffect">
                                  <p:stCondLst>
                                    <p:cond delay="770"/>
                                  </p:stCondLst>
                                  <p:childTnLst>
                                    <p:set>
                                      <p:cBhvr>
                                        <p:cTn id="47" dur="1" fill="hold">
                                          <p:stCondLst>
                                            <p:cond delay="0"/>
                                          </p:stCondLst>
                                        </p:cTn>
                                        <p:tgtEl>
                                          <p:spTgt spid="25"/>
                                        </p:tgtEl>
                                        <p:attrNameLst>
                                          <p:attrName>style.visibility</p:attrName>
                                        </p:attrNameLst>
                                      </p:cBhvr>
                                      <p:to>
                                        <p:strVal val="visible"/>
                                      </p:to>
                                    </p:set>
                                    <p:animEffect transition="in" filter="wipe(left)">
                                      <p:cBhvr>
                                        <p:cTn id="48" dur="500"/>
                                        <p:tgtEl>
                                          <p:spTgt spid="25"/>
                                        </p:tgtEl>
                                      </p:cBhvr>
                                    </p:animEffect>
                                  </p:childTnLst>
                                </p:cTn>
                              </p:par>
                            </p:childTnLst>
                          </p:cTn>
                        </p:par>
                      </p:childTnLst>
                    </p:cTn>
                  </p:par>
                  <p:par>
                    <p:cTn id="50" fill="hold">
                      <p:stCondLst>
                        <p:cond delay="indefinite"/>
                      </p:stCondLst>
                      <p:childTnLst>
                        <p:par>
                          <p:cTn id="51" fill="hold">
                            <p:stCondLst>
                              <p:cond delay="0"/>
                            </p:stCondLst>
                            <p:childTnLst>
                              <p:par>
                                <p:cTn id="56" presetID="2" presetClass="entr" presetSubtype="4" fill="hold" grpId="0" nodeType="clickEffect">
                                  <p:stCondLst>
                                    <p:cond delay="0"/>
                                  </p:stCondLst>
                                  <p:childTnLst>
                                    <p:set>
                                      <p:cBhvr>
                                        <p:cTn id="52" dur="1" fill="hold">
                                          <p:stCondLst>
                                            <p:cond delay="0"/>
                                          </p:stCondLst>
                                        </p:cTn>
                                        <p:tgtEl>
                                          <p:spTgt spid="26"/>
                                        </p:tgtEl>
                                        <p:attrNameLst>
                                          <p:attrName>style.visibility</p:attrName>
                                        </p:attrNameLst>
                                      </p:cBhvr>
                                      <p:to>
                                        <p:strVal val="visible"/>
                                      </p:to>
                                    </p:set>
                                    <p:anim calcmode="lin" valueType="num">
                                      <p:cBhvr additive="base">
                                        <p:cTn id="53" dur="500" fill="hold"/>
                                        <p:tgtEl>
                                          <p:spTgt spid="26"/>
                                        </p:tgtEl>
                                        <p:attrNameLst>
                                          <p:attrName>ppt_x</p:attrName>
                                        </p:attrNameLst>
                                      </p:cBhvr>
                                      <p:tavLst>
                                        <p:tav tm="0">
                                          <p:val>
                                            <p:strVal val="#ppt_x"/>
                                          </p:val>
                                        </p:tav>
                                        <p:tav tm="100000">
                                          <p:val>
                                            <p:strVal val="#ppt_x"/>
                                          </p:val>
                                        </p:tav>
                                      </p:tavLst>
                                    </p:anim>
                                    <p:anim calcmode="lin" valueType="num">
                                      <p:cBhvr additive="base">
                                        <p:cTn id="54" dur="500" fill="hold"/>
                                        <p:tgtEl>
                                          <p:spTgt spid="26"/>
                                        </p:tgtEl>
                                        <p:attrNameLst>
                                          <p:attrName>ppt_y</p:attrName>
                                        </p:attrNameLst>
                                      </p:cBhvr>
                                      <p:tavLst>
                                        <p:tav tm="0">
                                          <p:val>
                                            <p:strVal val="#ppt_y+0.1"/>
                                          </p:val>
                                        </p:tav>
                                        <p:tav tm="100000">
                                          <p:val>
                                            <p:strVal val="#ppt_y"/>
                                          </p:val>
                                        </p:tav>
                                      </p:tavLst>
                                    </p:anim>
                                    <p:animEffect transition="in" filter="fade">
                                      <p:cBhvr>
                                        <p:cTn id="55" dur="500"/>
                                        <p:tgtEl>
                                          <p:spTgt spid="26"/>
                                        </p:tgtEl>
                                      </p:cBhvr>
                                    </p:animEffect>
                                  </p:childTnLst>
                                </p:cTn>
                              </p:par>
                              <p:par>
                                <p:cTn id="61" presetID="2" presetClass="entr" presetSubtype="4" fill="hold" grpId="0" nodeType="withEffect">
                                  <p:stCondLst>
                                    <p:cond delay="0"/>
                                  </p:stCondLst>
                                  <p:childTnLst>
                                    <p:set>
                                      <p:cBhvr>
                                        <p:cTn id="57" dur="1" fill="hold">
                                          <p:stCondLst>
                                            <p:cond delay="0"/>
                                          </p:stCondLst>
                                        </p:cTn>
                                        <p:tgtEl>
                                          <p:spTgt spid="27"/>
                                        </p:tgtEl>
                                        <p:attrNameLst>
                                          <p:attrName>style.visibility</p:attrName>
                                        </p:attrNameLst>
                                      </p:cBhvr>
                                      <p:to>
                                        <p:strVal val="visible"/>
                                      </p:to>
                                    </p:set>
                                    <p:anim calcmode="lin" valueType="num">
                                      <p:cBhvr additive="base">
                                        <p:cTn id="58" dur="500" fill="hold"/>
                                        <p:tgtEl>
                                          <p:spTgt spid="27"/>
                                        </p:tgtEl>
                                        <p:attrNameLst>
                                          <p:attrName>ppt_x</p:attrName>
                                        </p:attrNameLst>
                                      </p:cBhvr>
                                      <p:tavLst>
                                        <p:tav tm="0">
                                          <p:val>
                                            <p:strVal val="#ppt_x"/>
                                          </p:val>
                                        </p:tav>
                                        <p:tav tm="100000">
                                          <p:val>
                                            <p:strVal val="#ppt_x"/>
                                          </p:val>
                                        </p:tav>
                                      </p:tavLst>
                                    </p:anim>
                                    <p:anim calcmode="lin" valueType="num">
                                      <p:cBhvr additive="base">
                                        <p:cTn id="59" dur="500" fill="hold"/>
                                        <p:tgtEl>
                                          <p:spTgt spid="27"/>
                                        </p:tgtEl>
                                        <p:attrNameLst>
                                          <p:attrName>ppt_y</p:attrName>
                                        </p:attrNameLst>
                                      </p:cBhvr>
                                      <p:tavLst>
                                        <p:tav tm="0">
                                          <p:val>
                                            <p:strVal val="#ppt_y+0.1"/>
                                          </p:val>
                                        </p:tav>
                                        <p:tav tm="100000">
                                          <p:val>
                                            <p:strVal val="#ppt_y"/>
                                          </p:val>
                                        </p:tav>
                                      </p:tavLst>
                                    </p:anim>
                                    <p:animEffect transition="in" filter="fade">
                                      <p:cBhvr>
                                        <p:cTn id="60" dur="500"/>
                                        <p:tgtEl>
                                          <p:spTgt spid="27"/>
                                        </p:tgtEl>
                                      </p:cBhvr>
                                    </p:animEffect>
                                  </p:childTnLst>
                                </p:cTn>
                              </p:par>
                              <p:par>
                                <p:cTn id="66" presetID="2" presetClass="entr" presetSubtype="4" fill="hold" grpId="0" nodeType="withEffect">
                                  <p:stCondLst>
                                    <p:cond delay="0"/>
                                  </p:stCondLst>
                                  <p:childTnLst>
                                    <p:set>
                                      <p:cBhvr>
                                        <p:cTn id="62" dur="1" fill="hold">
                                          <p:stCondLst>
                                            <p:cond delay="0"/>
                                          </p:stCondLst>
                                        </p:cTn>
                                        <p:tgtEl>
                                          <p:spTgt spid="28"/>
                                        </p:tgtEl>
                                        <p:attrNameLst>
                                          <p:attrName>style.visibility</p:attrName>
                                        </p:attrNameLst>
                                      </p:cBhvr>
                                      <p:to>
                                        <p:strVal val="visible"/>
                                      </p:to>
                                    </p:set>
                                    <p:anim calcmode="lin" valueType="num">
                                      <p:cBhvr additive="base">
                                        <p:cTn id="63" dur="500" fill="hold"/>
                                        <p:tgtEl>
                                          <p:spTgt spid="28"/>
                                        </p:tgtEl>
                                        <p:attrNameLst>
                                          <p:attrName>ppt_x</p:attrName>
                                        </p:attrNameLst>
                                      </p:cBhvr>
                                      <p:tavLst>
                                        <p:tav tm="0">
                                          <p:val>
                                            <p:strVal val="#ppt_x"/>
                                          </p:val>
                                        </p:tav>
                                        <p:tav tm="100000">
                                          <p:val>
                                            <p:strVal val="#ppt_x"/>
                                          </p:val>
                                        </p:tav>
                                      </p:tavLst>
                                    </p:anim>
                                    <p:anim calcmode="lin" valueType="num">
                                      <p:cBhvr additive="base">
                                        <p:cTn id="64" dur="500" fill="hold"/>
                                        <p:tgtEl>
                                          <p:spTgt spid="28"/>
                                        </p:tgtEl>
                                        <p:attrNameLst>
                                          <p:attrName>ppt_y</p:attrName>
                                        </p:attrNameLst>
                                      </p:cBhvr>
                                      <p:tavLst>
                                        <p:tav tm="0">
                                          <p:val>
                                            <p:strVal val="#ppt_y+0.1"/>
                                          </p:val>
                                        </p:tav>
                                        <p:tav tm="100000">
                                          <p:val>
                                            <p:strVal val="#ppt_y"/>
                                          </p:val>
                                        </p:tav>
                                      </p:tavLst>
                                    </p:anim>
                                    <p:animEffect transition="in" filter="fade">
                                      <p:cBhvr>
                                        <p:cTn id="65" dur="500"/>
                                        <p:tgtEl>
                                          <p:spTgt spid="28"/>
                                        </p:tgtEl>
                                      </p:cBhvr>
                                    </p:animEffect>
                                  </p:childTnLst>
                                </p:cTn>
                              </p:par>
                            </p:childTnLst>
                          </p:cTn>
                        </p:par>
                      </p:childTnLst>
                    </p:cTn>
                  </p:par>
                  <p:par>
                    <p:cTn id="67" fill="hold">
                      <p:stCondLst>
                        <p:cond delay="indefinite"/>
                      </p:stCondLst>
                      <p:childTnLst>
                        <p:par>
                          <p:cTn id="68" fill="hold">
                            <p:stCondLst>
                              <p:cond delay="0"/>
                            </p:stCondLst>
                            <p:childTnLst>
                              <p:par>
                                <p:cTn id="73" presetID="2" presetClass="entr" presetSubtype="4" fill="hold" grpId="0" nodeType="clickEffect">
                                  <p:stCondLst>
                                    <p:cond delay="0"/>
                                  </p:stCondLst>
                                  <p:childTnLst>
                                    <p:set>
                                      <p:cBhvr>
                                        <p:cTn id="69" dur="1" fill="hold">
                                          <p:stCondLst>
                                            <p:cond delay="0"/>
                                          </p:stCondLst>
                                        </p:cTn>
                                        <p:tgtEl>
                                          <p:spTgt spid="29"/>
                                        </p:tgtEl>
                                        <p:attrNameLst>
                                          <p:attrName>style.visibility</p:attrName>
                                        </p:attrNameLst>
                                      </p:cBhvr>
                                      <p:to>
                                        <p:strVal val="visible"/>
                                      </p:to>
                                    </p:set>
                                    <p:anim calcmode="lin" valueType="num">
                                      <p:cBhvr additive="base">
                                        <p:cTn id="70" dur="500" fill="hold"/>
                                        <p:tgtEl>
                                          <p:spTgt spid="29"/>
                                        </p:tgtEl>
                                        <p:attrNameLst>
                                          <p:attrName>ppt_x</p:attrName>
                                        </p:attrNameLst>
                                      </p:cBhvr>
                                      <p:tavLst>
                                        <p:tav tm="0">
                                          <p:val>
                                            <p:strVal val="#ppt_x"/>
                                          </p:val>
                                        </p:tav>
                                        <p:tav tm="100000">
                                          <p:val>
                                            <p:strVal val="#ppt_x"/>
                                          </p:val>
                                        </p:tav>
                                      </p:tavLst>
                                    </p:anim>
                                    <p:anim calcmode="lin" valueType="num">
                                      <p:cBhvr additive="base">
                                        <p:cTn id="71" dur="500" fill="hold"/>
                                        <p:tgtEl>
                                          <p:spTgt spid="29"/>
                                        </p:tgtEl>
                                        <p:attrNameLst>
                                          <p:attrName>ppt_y</p:attrName>
                                        </p:attrNameLst>
                                      </p:cBhvr>
                                      <p:tavLst>
                                        <p:tav tm="0">
                                          <p:val>
                                            <p:strVal val="#ppt_y+0.1"/>
                                          </p:val>
                                        </p:tav>
                                        <p:tav tm="100000">
                                          <p:val>
                                            <p:strVal val="#ppt_y"/>
                                          </p:val>
                                        </p:tav>
                                      </p:tavLst>
                                    </p:anim>
                                    <p:animEffect transition="in" filter="fade">
                                      <p:cBhvr>
                                        <p:cTn id="72" dur="500"/>
                                        <p:tgtEl>
                                          <p:spTgt spid="29"/>
                                        </p:tgtEl>
                                      </p:cBhvr>
                                    </p:animEffect>
                                  </p:childTnLst>
                                </p:cTn>
                              </p:par>
                              <p:par>
                                <p:cTn id="78" presetID="2" presetClass="entr" presetSubtype="4" fill="hold" grpId="0" nodeType="withEffect">
                                  <p:stCondLst>
                                    <p:cond delay="0"/>
                                  </p:stCondLst>
                                  <p:childTnLst>
                                    <p:set>
                                      <p:cBhvr>
                                        <p:cTn id="74" dur="1" fill="hold">
                                          <p:stCondLst>
                                            <p:cond delay="0"/>
                                          </p:stCondLst>
                                        </p:cTn>
                                        <p:tgtEl>
                                          <p:spTgt spid="30"/>
                                        </p:tgtEl>
                                        <p:attrNameLst>
                                          <p:attrName>style.visibility</p:attrName>
                                        </p:attrNameLst>
                                      </p:cBhvr>
                                      <p:to>
                                        <p:strVal val="visible"/>
                                      </p:to>
                                    </p:set>
                                    <p:anim calcmode="lin" valueType="num">
                                      <p:cBhvr additive="base">
                                        <p:cTn id="75" dur="500" fill="hold"/>
                                        <p:tgtEl>
                                          <p:spTgt spid="30"/>
                                        </p:tgtEl>
                                        <p:attrNameLst>
                                          <p:attrName>ppt_x</p:attrName>
                                        </p:attrNameLst>
                                      </p:cBhvr>
                                      <p:tavLst>
                                        <p:tav tm="0">
                                          <p:val>
                                            <p:strVal val="#ppt_x"/>
                                          </p:val>
                                        </p:tav>
                                        <p:tav tm="100000">
                                          <p:val>
                                            <p:strVal val="#ppt_x"/>
                                          </p:val>
                                        </p:tav>
                                      </p:tavLst>
                                    </p:anim>
                                    <p:anim calcmode="lin" valueType="num">
                                      <p:cBhvr additive="base">
                                        <p:cTn id="76" dur="500" fill="hold"/>
                                        <p:tgtEl>
                                          <p:spTgt spid="30"/>
                                        </p:tgtEl>
                                        <p:attrNameLst>
                                          <p:attrName>ppt_y</p:attrName>
                                        </p:attrNameLst>
                                      </p:cBhvr>
                                      <p:tavLst>
                                        <p:tav tm="0">
                                          <p:val>
                                            <p:strVal val="#ppt_y+0.1"/>
                                          </p:val>
                                        </p:tav>
                                        <p:tav tm="100000">
                                          <p:val>
                                            <p:strVal val="#ppt_y"/>
                                          </p:val>
                                        </p:tav>
                                      </p:tavLst>
                                    </p:anim>
                                    <p:animEffect transition="in" filter="fade">
                                      <p:cBhvr>
                                        <p:cTn id="77" dur="500"/>
                                        <p:tgtEl>
                                          <p:spTgt spid="30"/>
                                        </p:tgtEl>
                                      </p:cBhvr>
                                    </p:animEffect>
                                  </p:childTnLst>
                                </p:cTn>
                              </p:par>
                              <p:par>
                                <p:cTn id="83" presetID="2" presetClass="entr" presetSubtype="4" fill="hold" grpId="0" nodeType="withEffect">
                                  <p:stCondLst>
                                    <p:cond delay="100"/>
                                  </p:stCondLst>
                                  <p:childTnLst>
                                    <p:set>
                                      <p:cBhvr>
                                        <p:cTn id="79" dur="1" fill="hold">
                                          <p:stCondLst>
                                            <p:cond delay="0"/>
                                          </p:stCondLst>
                                        </p:cTn>
                                        <p:tgtEl>
                                          <p:spTgt spid="31"/>
                                        </p:tgtEl>
                                        <p:attrNameLst>
                                          <p:attrName>style.visibility</p:attrName>
                                        </p:attrNameLst>
                                      </p:cBhvr>
                                      <p:to>
                                        <p:strVal val="visible"/>
                                      </p:to>
                                    </p:set>
                                    <p:anim calcmode="lin" valueType="num">
                                      <p:cBhvr additive="base">
                                        <p:cTn id="80" dur="500" fill="hold"/>
                                        <p:tgtEl>
                                          <p:spTgt spid="31"/>
                                        </p:tgtEl>
                                        <p:attrNameLst>
                                          <p:attrName>ppt_x</p:attrName>
                                        </p:attrNameLst>
                                      </p:cBhvr>
                                      <p:tavLst>
                                        <p:tav tm="0">
                                          <p:val>
                                            <p:strVal val="#ppt_x"/>
                                          </p:val>
                                        </p:tav>
                                        <p:tav tm="100000">
                                          <p:val>
                                            <p:strVal val="#ppt_x"/>
                                          </p:val>
                                        </p:tav>
                                      </p:tavLst>
                                    </p:anim>
                                    <p:anim calcmode="lin" valueType="num">
                                      <p:cBhvr additive="base">
                                        <p:cTn id="81" dur="500" fill="hold"/>
                                        <p:tgtEl>
                                          <p:spTgt spid="31"/>
                                        </p:tgtEl>
                                        <p:attrNameLst>
                                          <p:attrName>ppt_y</p:attrName>
                                        </p:attrNameLst>
                                      </p:cBhvr>
                                      <p:tavLst>
                                        <p:tav tm="0">
                                          <p:val>
                                            <p:strVal val="#ppt_y+0.1"/>
                                          </p:val>
                                        </p:tav>
                                        <p:tav tm="100000">
                                          <p:val>
                                            <p:strVal val="#ppt_y"/>
                                          </p:val>
                                        </p:tav>
                                      </p:tavLst>
                                    </p:anim>
                                    <p:animEffect transition="in" filter="fade">
                                      <p:cBhvr>
                                        <p:cTn id="82" dur="500"/>
                                        <p:tgtEl>
                                          <p:spTgt spid="31"/>
                                        </p:tgtEl>
                                      </p:cBhvr>
                                    </p:animEffect>
                                  </p:childTnLst>
                                </p:cTn>
                              </p:par>
                              <p:par>
                                <p:cTn id="88" presetID="2" presetClass="entr" presetSubtype="4" fill="hold" grpId="0" nodeType="withEffect">
                                  <p:stCondLst>
                                    <p:cond delay="100"/>
                                  </p:stCondLst>
                                  <p:childTnLst>
                                    <p:set>
                                      <p:cBhvr>
                                        <p:cTn id="84" dur="1" fill="hold">
                                          <p:stCondLst>
                                            <p:cond delay="0"/>
                                          </p:stCondLst>
                                        </p:cTn>
                                        <p:tgtEl>
                                          <p:spTgt spid="32"/>
                                        </p:tgtEl>
                                        <p:attrNameLst>
                                          <p:attrName>style.visibility</p:attrName>
                                        </p:attrNameLst>
                                      </p:cBhvr>
                                      <p:to>
                                        <p:strVal val="visible"/>
                                      </p:to>
                                    </p:set>
                                    <p:anim calcmode="lin" valueType="num">
                                      <p:cBhvr additive="base">
                                        <p:cTn id="85" dur="500" fill="hold"/>
                                        <p:tgtEl>
                                          <p:spTgt spid="32"/>
                                        </p:tgtEl>
                                        <p:attrNameLst>
                                          <p:attrName>ppt_x</p:attrName>
                                        </p:attrNameLst>
                                      </p:cBhvr>
                                      <p:tavLst>
                                        <p:tav tm="0">
                                          <p:val>
                                            <p:strVal val="#ppt_x"/>
                                          </p:val>
                                        </p:tav>
                                        <p:tav tm="100000">
                                          <p:val>
                                            <p:strVal val="#ppt_x"/>
                                          </p:val>
                                        </p:tav>
                                      </p:tavLst>
                                    </p:anim>
                                    <p:anim calcmode="lin" valueType="num">
                                      <p:cBhvr additive="base">
                                        <p:cTn id="86" dur="500" fill="hold"/>
                                        <p:tgtEl>
                                          <p:spTgt spid="32"/>
                                        </p:tgtEl>
                                        <p:attrNameLst>
                                          <p:attrName>ppt_y</p:attrName>
                                        </p:attrNameLst>
                                      </p:cBhvr>
                                      <p:tavLst>
                                        <p:tav tm="0">
                                          <p:val>
                                            <p:strVal val="#ppt_y+0.1"/>
                                          </p:val>
                                        </p:tav>
                                        <p:tav tm="100000">
                                          <p:val>
                                            <p:strVal val="#ppt_y"/>
                                          </p:val>
                                        </p:tav>
                                      </p:tavLst>
                                    </p:anim>
                                    <p:animEffect transition="in" filter="fade">
                                      <p:cBhvr>
                                        <p:cTn id="87" dur="500"/>
                                        <p:tgtEl>
                                          <p:spTgt spid="32"/>
                                        </p:tgtEl>
                                      </p:cBhvr>
                                    </p:animEffect>
                                  </p:childTnLst>
                                </p:cTn>
                              </p:par>
                              <p:par>
                                <p:cTn id="93" presetID="2" presetClass="entr" presetSubtype="4" fill="hold" grpId="0" nodeType="withEffect">
                                  <p:stCondLst>
                                    <p:cond delay="100"/>
                                  </p:stCondLst>
                                  <p:childTnLst>
                                    <p:set>
                                      <p:cBhvr>
                                        <p:cTn id="89" dur="1" fill="hold">
                                          <p:stCondLst>
                                            <p:cond delay="0"/>
                                          </p:stCondLst>
                                        </p:cTn>
                                        <p:tgtEl>
                                          <p:spTgt spid="33"/>
                                        </p:tgtEl>
                                        <p:attrNameLst>
                                          <p:attrName>style.visibility</p:attrName>
                                        </p:attrNameLst>
                                      </p:cBhvr>
                                      <p:to>
                                        <p:strVal val="visible"/>
                                      </p:to>
                                    </p:set>
                                    <p:anim calcmode="lin" valueType="num">
                                      <p:cBhvr additive="base">
                                        <p:cTn id="90" dur="500" fill="hold"/>
                                        <p:tgtEl>
                                          <p:spTgt spid="33"/>
                                        </p:tgtEl>
                                        <p:attrNameLst>
                                          <p:attrName>ppt_x</p:attrName>
                                        </p:attrNameLst>
                                      </p:cBhvr>
                                      <p:tavLst>
                                        <p:tav tm="0">
                                          <p:val>
                                            <p:strVal val="#ppt_x"/>
                                          </p:val>
                                        </p:tav>
                                        <p:tav tm="100000">
                                          <p:val>
                                            <p:strVal val="#ppt_x"/>
                                          </p:val>
                                        </p:tav>
                                      </p:tavLst>
                                    </p:anim>
                                    <p:anim calcmode="lin" valueType="num">
                                      <p:cBhvr additive="base">
                                        <p:cTn id="91" dur="500" fill="hold"/>
                                        <p:tgtEl>
                                          <p:spTgt spid="33"/>
                                        </p:tgtEl>
                                        <p:attrNameLst>
                                          <p:attrName>ppt_y</p:attrName>
                                        </p:attrNameLst>
                                      </p:cBhvr>
                                      <p:tavLst>
                                        <p:tav tm="0">
                                          <p:val>
                                            <p:strVal val="#ppt_y+0.1"/>
                                          </p:val>
                                        </p:tav>
                                        <p:tav tm="100000">
                                          <p:val>
                                            <p:strVal val="#ppt_y"/>
                                          </p:val>
                                        </p:tav>
                                      </p:tavLst>
                                    </p:anim>
                                    <p:animEffect transition="in" filter="fade">
                                      <p:cBhvr>
                                        <p:cTn id="92" dur="500"/>
                                        <p:tgtEl>
                                          <p:spTgt spid="33"/>
                                        </p:tgtEl>
                                      </p:cBhvr>
                                    </p:animEffect>
                                  </p:childTnLst>
                                </p:cTn>
                              </p:par>
                            </p:childTnLst>
                          </p:cTn>
                        </p:par>
                      </p:childTnLst>
                    </p:cTn>
                  </p:par>
                  <p:par>
                    <p:cTn id="94" fill="hold">
                      <p:stCondLst>
                        <p:cond delay="indefinite"/>
                      </p:stCondLst>
                      <p:childTnLst>
                        <p:par>
                          <p:cTn id="95" fill="hold">
                            <p:stCondLst>
                              <p:cond delay="0"/>
                            </p:stCondLst>
                            <p:childTnLst>
                              <p:par>
                                <p:cTn id="100" presetID="2" presetClass="entr" presetSubtype="4" fill="hold" grpId="0" nodeType="clickEffect">
                                  <p:stCondLst>
                                    <p:cond delay="0"/>
                                  </p:stCondLst>
                                  <p:childTnLst>
                                    <p:set>
                                      <p:cBhvr>
                                        <p:cTn id="96" dur="1" fill="hold">
                                          <p:stCondLst>
                                            <p:cond delay="0"/>
                                          </p:stCondLst>
                                        </p:cTn>
                                        <p:tgtEl>
                                          <p:spTgt spid="34"/>
                                        </p:tgtEl>
                                        <p:attrNameLst>
                                          <p:attrName>style.visibility</p:attrName>
                                        </p:attrNameLst>
                                      </p:cBhvr>
                                      <p:to>
                                        <p:strVal val="visible"/>
                                      </p:to>
                                    </p:set>
                                    <p:anim calcmode="lin" valueType="num">
                                      <p:cBhvr additive="base">
                                        <p:cTn id="97" dur="500" fill="hold"/>
                                        <p:tgtEl>
                                          <p:spTgt spid="34"/>
                                        </p:tgtEl>
                                        <p:attrNameLst>
                                          <p:attrName>ppt_x</p:attrName>
                                        </p:attrNameLst>
                                      </p:cBhvr>
                                      <p:tavLst>
                                        <p:tav tm="0">
                                          <p:val>
                                            <p:strVal val="#ppt_x"/>
                                          </p:val>
                                        </p:tav>
                                        <p:tav tm="100000">
                                          <p:val>
                                            <p:strVal val="#ppt_x"/>
                                          </p:val>
                                        </p:tav>
                                      </p:tavLst>
                                    </p:anim>
                                    <p:anim calcmode="lin" valueType="num">
                                      <p:cBhvr additive="base">
                                        <p:cTn id="98" dur="500" fill="hold"/>
                                        <p:tgtEl>
                                          <p:spTgt spid="34"/>
                                        </p:tgtEl>
                                        <p:attrNameLst>
                                          <p:attrName>ppt_y</p:attrName>
                                        </p:attrNameLst>
                                      </p:cBhvr>
                                      <p:tavLst>
                                        <p:tav tm="0">
                                          <p:val>
                                            <p:strVal val="#ppt_y+0.1"/>
                                          </p:val>
                                        </p:tav>
                                        <p:tav tm="100000">
                                          <p:val>
                                            <p:strVal val="#ppt_y"/>
                                          </p:val>
                                        </p:tav>
                                      </p:tavLst>
                                    </p:anim>
                                    <p:animEffect transition="in" filter="fade">
                                      <p:cBhvr>
                                        <p:cTn id="99" dur="500"/>
                                        <p:tgtEl>
                                          <p:spTgt spid="34"/>
                                        </p:tgtEl>
                                      </p:cBhvr>
                                    </p:animEffect>
                                  </p:childTnLst>
                                </p:cTn>
                              </p:par>
                              <p:par>
                                <p:cTn id="105" presetID="2" presetClass="entr" presetSubtype="4" fill="hold" grpId="0" nodeType="withEffect">
                                  <p:stCondLst>
                                    <p:cond delay="0"/>
                                  </p:stCondLst>
                                  <p:childTnLst>
                                    <p:set>
                                      <p:cBhvr>
                                        <p:cTn id="101" dur="1" fill="hold">
                                          <p:stCondLst>
                                            <p:cond delay="0"/>
                                          </p:stCondLst>
                                        </p:cTn>
                                        <p:tgtEl>
                                          <p:spTgt spid="35"/>
                                        </p:tgtEl>
                                        <p:attrNameLst>
                                          <p:attrName>style.visibility</p:attrName>
                                        </p:attrNameLst>
                                      </p:cBhvr>
                                      <p:to>
                                        <p:strVal val="visible"/>
                                      </p:to>
                                    </p:set>
                                    <p:anim calcmode="lin" valueType="num">
                                      <p:cBhvr additive="base">
                                        <p:cTn id="102" dur="500" fill="hold"/>
                                        <p:tgtEl>
                                          <p:spTgt spid="35"/>
                                        </p:tgtEl>
                                        <p:attrNameLst>
                                          <p:attrName>ppt_x</p:attrName>
                                        </p:attrNameLst>
                                      </p:cBhvr>
                                      <p:tavLst>
                                        <p:tav tm="0">
                                          <p:val>
                                            <p:strVal val="#ppt_x"/>
                                          </p:val>
                                        </p:tav>
                                        <p:tav tm="100000">
                                          <p:val>
                                            <p:strVal val="#ppt_x"/>
                                          </p:val>
                                        </p:tav>
                                      </p:tavLst>
                                    </p:anim>
                                    <p:anim calcmode="lin" valueType="num">
                                      <p:cBhvr additive="base">
                                        <p:cTn id="103" dur="500" fill="hold"/>
                                        <p:tgtEl>
                                          <p:spTgt spid="35"/>
                                        </p:tgtEl>
                                        <p:attrNameLst>
                                          <p:attrName>ppt_y</p:attrName>
                                        </p:attrNameLst>
                                      </p:cBhvr>
                                      <p:tavLst>
                                        <p:tav tm="0">
                                          <p:val>
                                            <p:strVal val="#ppt_y+0.1"/>
                                          </p:val>
                                        </p:tav>
                                        <p:tav tm="100000">
                                          <p:val>
                                            <p:strVal val="#ppt_y"/>
                                          </p:val>
                                        </p:tav>
                                      </p:tavLst>
                                    </p:anim>
                                    <p:animEffect transition="in" filter="fade">
                                      <p:cBhvr>
                                        <p:cTn id="104" dur="500"/>
                                        <p:tgtEl>
                                          <p:spTgt spid="35"/>
                                        </p:tgtEl>
                                      </p:cBhvr>
                                    </p:animEffect>
                                  </p:childTnLst>
                                </p:cTn>
                              </p:par>
                              <p:par>
                                <p:cTn id="110" presetID="2" presetClass="entr" presetSubtype="4" fill="hold" grpId="0" nodeType="withEffect">
                                  <p:stCondLst>
                                    <p:cond delay="0"/>
                                  </p:stCondLst>
                                  <p:childTnLst>
                                    <p:set>
                                      <p:cBhvr>
                                        <p:cTn id="106" dur="1" fill="hold">
                                          <p:stCondLst>
                                            <p:cond delay="0"/>
                                          </p:stCondLst>
                                        </p:cTn>
                                        <p:tgtEl>
                                          <p:spTgt spid="36"/>
                                        </p:tgtEl>
                                        <p:attrNameLst>
                                          <p:attrName>style.visibility</p:attrName>
                                        </p:attrNameLst>
                                      </p:cBhvr>
                                      <p:to>
                                        <p:strVal val="visible"/>
                                      </p:to>
                                    </p:set>
                                    <p:anim calcmode="lin" valueType="num">
                                      <p:cBhvr additive="base">
                                        <p:cTn id="107" dur="500" fill="hold"/>
                                        <p:tgtEl>
                                          <p:spTgt spid="36"/>
                                        </p:tgtEl>
                                        <p:attrNameLst>
                                          <p:attrName>ppt_x</p:attrName>
                                        </p:attrNameLst>
                                      </p:cBhvr>
                                      <p:tavLst>
                                        <p:tav tm="0">
                                          <p:val>
                                            <p:strVal val="#ppt_x"/>
                                          </p:val>
                                        </p:tav>
                                        <p:tav tm="100000">
                                          <p:val>
                                            <p:strVal val="#ppt_x"/>
                                          </p:val>
                                        </p:tav>
                                      </p:tavLst>
                                    </p:anim>
                                    <p:anim calcmode="lin" valueType="num">
                                      <p:cBhvr additive="base">
                                        <p:cTn id="108" dur="500" fill="hold"/>
                                        <p:tgtEl>
                                          <p:spTgt spid="36"/>
                                        </p:tgtEl>
                                        <p:attrNameLst>
                                          <p:attrName>ppt_y</p:attrName>
                                        </p:attrNameLst>
                                      </p:cBhvr>
                                      <p:tavLst>
                                        <p:tav tm="0">
                                          <p:val>
                                            <p:strVal val="#ppt_y+0.1"/>
                                          </p:val>
                                        </p:tav>
                                        <p:tav tm="100000">
                                          <p:val>
                                            <p:strVal val="#ppt_y"/>
                                          </p:val>
                                        </p:tav>
                                      </p:tavLst>
                                    </p:anim>
                                    <p:animEffect transition="in" filter="fade">
                                      <p:cBhvr>
                                        <p:cTn id="109"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SMTs Are Stateless - On Purpose</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One message in, at most one message out. Anything with memory is stream processing.</a:t>
            </a:r>
          </a:p>
        </p:txBody>
      </p:sp>
      <p:sp>
        <p:nvSpPr>
          <p:cNvPr id="11" name="a1u_card10"/>
          <p:cNvSpPr/>
          <p:nvPr/>
        </p:nvSpPr>
        <p:spPr>
          <a:xfrm>
            <a:off x="457200" y="1280160"/>
            <a:ext cx="4023360" cy="2011680"/>
          </a:xfrm>
          <a:prstGeom prst="roundRect">
            <a:avLst>
              <a:gd name="adj" fmla="val 545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80160"/>
            <a:ext cx="50292" cy="201168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hh12"/>
          <p:cNvSpPr txBox="1"/>
          <p:nvPr/>
        </p:nvSpPr>
        <p:spPr>
          <a:xfrm>
            <a:off x="658368" y="1389888"/>
            <a:ext cx="3657600" cy="237744"/>
          </a:xfrm>
          <a:prstGeom prst="rect">
            <a:avLst/>
          </a:prstGeom>
          <a:noFill/>
        </p:spPr>
        <p:txBody>
          <a:bodyPr wrap="square" lIns="0" tIns="0" rIns="0" bIns="0" anchor="ctr">
            <a:spAutoFit/>
          </a:bodyPr>
          <a:lstStyle/>
          <a:p>
            <a:pPr algn="l"/>
            <a:r>
              <a:rPr sz="900" b="1">
                <a:solidFill>
                  <a:srgbClr val="15803D"/>
                </a:solidFill>
                <a:latin typeface="Segoe UI"/>
              </a:rPr>
              <a:t>FINE IN AN SMT</a:t>
            </a:r>
          </a:p>
        </p:txBody>
      </p:sp>
      <p:sp>
        <p:nvSpPr>
          <p:cNvPr id="14" name="a1ud80_dot13"/>
          <p:cNvSpPr/>
          <p:nvPr/>
        </p:nvSpPr>
        <p:spPr>
          <a:xfrm>
            <a:off x="658368" y="1815084"/>
            <a:ext cx="91440" cy="91440"/>
          </a:xfrm>
          <a:prstGeom prst="roundRect">
            <a:avLst>
              <a:gd name="adj" fmla="val 25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ud80_b14"/>
          <p:cNvSpPr txBox="1"/>
          <p:nvPr/>
        </p:nvSpPr>
        <p:spPr>
          <a:xfrm>
            <a:off x="877824" y="1719072"/>
            <a:ext cx="3401568" cy="310896"/>
          </a:xfrm>
          <a:prstGeom prst="rect">
            <a:avLst/>
          </a:prstGeom>
          <a:noFill/>
        </p:spPr>
        <p:txBody>
          <a:bodyPr wrap="square" lIns="0" tIns="0" rIns="0" bIns="0" anchor="t">
            <a:spAutoFit/>
          </a:bodyPr>
          <a:lstStyle/>
          <a:p>
            <a:pPr algn="l"/>
            <a:r>
              <a:rPr sz="950" b="0">
                <a:solidFill>
                  <a:srgbClr val="44403C"/>
                </a:solidFill>
                <a:latin typeface="Segoe UI"/>
              </a:rPr>
              <a:t>add, rename, drop or mask a field</a:t>
            </a:r>
          </a:p>
        </p:txBody>
      </p:sp>
      <p:sp>
        <p:nvSpPr>
          <p:cNvPr id="16" name="a1ud180_dot15"/>
          <p:cNvSpPr/>
          <p:nvPr/>
        </p:nvSpPr>
        <p:spPr>
          <a:xfrm>
            <a:off x="658368" y="2162556"/>
            <a:ext cx="91440" cy="91440"/>
          </a:xfrm>
          <a:prstGeom prst="roundRect">
            <a:avLst>
              <a:gd name="adj" fmla="val 25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180_b16"/>
          <p:cNvSpPr txBox="1"/>
          <p:nvPr/>
        </p:nvSpPr>
        <p:spPr>
          <a:xfrm>
            <a:off x="877824" y="2066543"/>
            <a:ext cx="3401568" cy="310896"/>
          </a:xfrm>
          <a:prstGeom prst="rect">
            <a:avLst/>
          </a:prstGeom>
          <a:noFill/>
        </p:spPr>
        <p:txBody>
          <a:bodyPr wrap="square" lIns="0" tIns="0" rIns="0" bIns="0" anchor="t">
            <a:spAutoFit/>
          </a:bodyPr>
          <a:lstStyle/>
          <a:p>
            <a:pPr algn="l"/>
            <a:r>
              <a:rPr sz="950" b="0">
                <a:solidFill>
                  <a:srgbClr val="44403C"/>
                </a:solidFill>
                <a:latin typeface="Segoe UI"/>
              </a:rPr>
              <a:t>filter a message out</a:t>
            </a:r>
          </a:p>
        </p:txBody>
      </p:sp>
      <p:sp>
        <p:nvSpPr>
          <p:cNvPr id="18" name="a1ud280_dot17"/>
          <p:cNvSpPr/>
          <p:nvPr/>
        </p:nvSpPr>
        <p:spPr>
          <a:xfrm>
            <a:off x="658368" y="2510027"/>
            <a:ext cx="91440" cy="91440"/>
          </a:xfrm>
          <a:prstGeom prst="roundRect">
            <a:avLst>
              <a:gd name="adj" fmla="val 25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ud280_b18"/>
          <p:cNvSpPr txBox="1"/>
          <p:nvPr/>
        </p:nvSpPr>
        <p:spPr>
          <a:xfrm>
            <a:off x="877824" y="2414015"/>
            <a:ext cx="3401568" cy="310896"/>
          </a:xfrm>
          <a:prstGeom prst="rect">
            <a:avLst/>
          </a:prstGeom>
          <a:noFill/>
        </p:spPr>
        <p:txBody>
          <a:bodyPr wrap="square" lIns="0" tIns="0" rIns="0" bIns="0" anchor="t">
            <a:spAutoFit/>
          </a:bodyPr>
          <a:lstStyle/>
          <a:p>
            <a:pPr algn="l"/>
            <a:r>
              <a:rPr sz="950" b="0">
                <a:solidFill>
                  <a:srgbClr val="44403C"/>
                </a:solidFill>
                <a:latin typeface="Segoe UI"/>
              </a:rPr>
              <a:t>route it to another topic</a:t>
            </a:r>
          </a:p>
        </p:txBody>
      </p:sp>
      <p:sp>
        <p:nvSpPr>
          <p:cNvPr id="20" name="a1ud380_dot19"/>
          <p:cNvSpPr/>
          <p:nvPr/>
        </p:nvSpPr>
        <p:spPr>
          <a:xfrm>
            <a:off x="658368" y="2857499"/>
            <a:ext cx="91440" cy="91440"/>
          </a:xfrm>
          <a:prstGeom prst="roundRect">
            <a:avLst>
              <a:gd name="adj" fmla="val 25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ud380_b20"/>
          <p:cNvSpPr txBox="1"/>
          <p:nvPr/>
        </p:nvSpPr>
        <p:spPr>
          <a:xfrm>
            <a:off x="877824" y="2761487"/>
            <a:ext cx="3401568" cy="310896"/>
          </a:xfrm>
          <a:prstGeom prst="rect">
            <a:avLst/>
          </a:prstGeom>
          <a:noFill/>
        </p:spPr>
        <p:txBody>
          <a:bodyPr wrap="square" lIns="0" tIns="0" rIns="0" bIns="0" anchor="t">
            <a:spAutoFit/>
          </a:bodyPr>
          <a:lstStyle/>
          <a:p>
            <a:pPr algn="l"/>
            <a:r>
              <a:rPr sz="950" b="0">
                <a:solidFill>
                  <a:srgbClr val="44403C"/>
                </a:solidFill>
                <a:latin typeface="Segoe UI"/>
              </a:rPr>
              <a:t>copy a field into the key</a:t>
            </a:r>
          </a:p>
        </p:txBody>
      </p:sp>
      <p:sp>
        <p:nvSpPr>
          <p:cNvPr id="22" name="a2u_card21"/>
          <p:cNvSpPr/>
          <p:nvPr/>
        </p:nvSpPr>
        <p:spPr>
          <a:xfrm>
            <a:off x="4663440" y="1280160"/>
            <a:ext cx="4023360" cy="2011680"/>
          </a:xfrm>
          <a:prstGeom prst="roundRect">
            <a:avLst>
              <a:gd name="adj" fmla="val 545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2u_acc22"/>
          <p:cNvSpPr/>
          <p:nvPr/>
        </p:nvSpPr>
        <p:spPr>
          <a:xfrm>
            <a:off x="4663440" y="1280160"/>
            <a:ext cx="50292" cy="20116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2u_hh23"/>
          <p:cNvSpPr txBox="1"/>
          <p:nvPr/>
        </p:nvSpPr>
        <p:spPr>
          <a:xfrm>
            <a:off x="4864607" y="1389888"/>
            <a:ext cx="3657600" cy="237744"/>
          </a:xfrm>
          <a:prstGeom prst="rect">
            <a:avLst/>
          </a:prstGeom>
          <a:noFill/>
        </p:spPr>
        <p:txBody>
          <a:bodyPr wrap="square" lIns="0" tIns="0" rIns="0" bIns="0" anchor="ctr">
            <a:spAutoFit/>
          </a:bodyPr>
          <a:lstStyle/>
          <a:p>
            <a:pPr algn="l"/>
            <a:r>
              <a:rPr sz="900" b="1">
                <a:solidFill>
                  <a:srgbClr val="E11D48"/>
                </a:solidFill>
                <a:latin typeface="Segoe UI"/>
              </a:rPr>
              <a:t>NOT AN SMT - NEEDS STATE</a:t>
            </a:r>
          </a:p>
        </p:txBody>
      </p:sp>
      <p:sp>
        <p:nvSpPr>
          <p:cNvPr id="25" name="a2ud80_dot24"/>
          <p:cNvSpPr/>
          <p:nvPr/>
        </p:nvSpPr>
        <p:spPr>
          <a:xfrm>
            <a:off x="4864607" y="1815084"/>
            <a:ext cx="91440" cy="91440"/>
          </a:xfrm>
          <a:prstGeom prst="roundRect">
            <a:avLst>
              <a:gd name="adj" fmla="val 25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2ud80_b25"/>
          <p:cNvSpPr txBox="1"/>
          <p:nvPr/>
        </p:nvSpPr>
        <p:spPr>
          <a:xfrm>
            <a:off x="5084064" y="1719072"/>
            <a:ext cx="3401568" cy="310896"/>
          </a:xfrm>
          <a:prstGeom prst="rect">
            <a:avLst/>
          </a:prstGeom>
          <a:noFill/>
        </p:spPr>
        <p:txBody>
          <a:bodyPr wrap="square" lIns="0" tIns="0" rIns="0" bIns="0" anchor="t">
            <a:spAutoFit/>
          </a:bodyPr>
          <a:lstStyle/>
          <a:p>
            <a:pPr algn="l"/>
            <a:r>
              <a:rPr sz="950" b="0">
                <a:solidFill>
                  <a:srgbClr val="44403C"/>
                </a:solidFill>
                <a:latin typeface="Segoe UI"/>
              </a:rPr>
              <a:t>count orders per customer</a:t>
            </a:r>
          </a:p>
        </p:txBody>
      </p:sp>
      <p:sp>
        <p:nvSpPr>
          <p:cNvPr id="27" name="a2ud180_dot26"/>
          <p:cNvSpPr/>
          <p:nvPr/>
        </p:nvSpPr>
        <p:spPr>
          <a:xfrm>
            <a:off x="4864607" y="2162556"/>
            <a:ext cx="91440" cy="91440"/>
          </a:xfrm>
          <a:prstGeom prst="roundRect">
            <a:avLst>
              <a:gd name="adj" fmla="val 25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2ud180_b27"/>
          <p:cNvSpPr txBox="1"/>
          <p:nvPr/>
        </p:nvSpPr>
        <p:spPr>
          <a:xfrm>
            <a:off x="5084064" y="2066543"/>
            <a:ext cx="3401568" cy="310896"/>
          </a:xfrm>
          <a:prstGeom prst="rect">
            <a:avLst/>
          </a:prstGeom>
          <a:noFill/>
        </p:spPr>
        <p:txBody>
          <a:bodyPr wrap="square" lIns="0" tIns="0" rIns="0" bIns="0" anchor="t">
            <a:spAutoFit/>
          </a:bodyPr>
          <a:lstStyle/>
          <a:p>
            <a:pPr algn="l"/>
            <a:r>
              <a:rPr sz="950" b="0">
                <a:solidFill>
                  <a:srgbClr val="44403C"/>
                </a:solidFill>
                <a:latin typeface="Segoe UI"/>
              </a:rPr>
              <a:t>join two topics</a:t>
            </a:r>
          </a:p>
        </p:txBody>
      </p:sp>
      <p:sp>
        <p:nvSpPr>
          <p:cNvPr id="29" name="a2ud280_dot28"/>
          <p:cNvSpPr/>
          <p:nvPr/>
        </p:nvSpPr>
        <p:spPr>
          <a:xfrm>
            <a:off x="4864607" y="2510027"/>
            <a:ext cx="91440" cy="91440"/>
          </a:xfrm>
          <a:prstGeom prst="roundRect">
            <a:avLst>
              <a:gd name="adj" fmla="val 25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2ud280_b29"/>
          <p:cNvSpPr txBox="1"/>
          <p:nvPr/>
        </p:nvSpPr>
        <p:spPr>
          <a:xfrm>
            <a:off x="5084064" y="2414015"/>
            <a:ext cx="3401568" cy="310896"/>
          </a:xfrm>
          <a:prstGeom prst="rect">
            <a:avLst/>
          </a:prstGeom>
          <a:noFill/>
        </p:spPr>
        <p:txBody>
          <a:bodyPr wrap="square" lIns="0" tIns="0" rIns="0" bIns="0" anchor="t">
            <a:spAutoFit/>
          </a:bodyPr>
          <a:lstStyle/>
          <a:p>
            <a:pPr algn="l"/>
            <a:r>
              <a:rPr sz="950" b="0">
                <a:solidFill>
                  <a:srgbClr val="44403C"/>
                </a:solidFill>
                <a:latin typeface="Segoe UI"/>
              </a:rPr>
              <a:t>drop duplicates</a:t>
            </a:r>
          </a:p>
        </p:txBody>
      </p:sp>
      <p:sp>
        <p:nvSpPr>
          <p:cNvPr id="31" name="a2ud380_dot30"/>
          <p:cNvSpPr/>
          <p:nvPr/>
        </p:nvSpPr>
        <p:spPr>
          <a:xfrm>
            <a:off x="4864607" y="2857499"/>
            <a:ext cx="91440" cy="91440"/>
          </a:xfrm>
          <a:prstGeom prst="roundRect">
            <a:avLst>
              <a:gd name="adj" fmla="val 25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2ud380_b31"/>
          <p:cNvSpPr txBox="1"/>
          <p:nvPr/>
        </p:nvSpPr>
        <p:spPr>
          <a:xfrm>
            <a:off x="5084064" y="2761487"/>
            <a:ext cx="3401568" cy="310896"/>
          </a:xfrm>
          <a:prstGeom prst="rect">
            <a:avLst/>
          </a:prstGeom>
          <a:noFill/>
        </p:spPr>
        <p:txBody>
          <a:bodyPr wrap="square" lIns="0" tIns="0" rIns="0" bIns="0" anchor="t">
            <a:spAutoFit/>
          </a:bodyPr>
          <a:lstStyle/>
          <a:p>
            <a:pPr algn="l"/>
            <a:r>
              <a:rPr sz="950" b="0">
                <a:solidFill>
                  <a:srgbClr val="44403C"/>
                </a:solidFill>
                <a:latin typeface="Segoe UI"/>
              </a:rPr>
              <a:t>aggregate over a time window</a:t>
            </a:r>
          </a:p>
        </p:txBody>
      </p:sp>
      <p:sp>
        <p:nvSpPr>
          <p:cNvPr id="33" name="a3u_pill32"/>
          <p:cNvSpPr/>
          <p:nvPr/>
        </p:nvSpPr>
        <p:spPr>
          <a:xfrm>
            <a:off x="457200" y="3474720"/>
            <a:ext cx="1828800" cy="310896"/>
          </a:xfrm>
          <a:prstGeom prst="roundRect">
            <a:avLst>
              <a:gd name="adj" fmla="val 50000"/>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C2410C"/>
                </a:solidFill>
                <a:latin typeface="Segoe UI"/>
              </a:rPr>
              <a:t>Connect</a:t>
            </a:r>
          </a:p>
        </p:txBody>
      </p:sp>
      <p:sp>
        <p:nvSpPr>
          <p:cNvPr id="34" name="a3ud100_pill33"/>
          <p:cNvSpPr/>
          <p:nvPr/>
        </p:nvSpPr>
        <p:spPr>
          <a:xfrm>
            <a:off x="2560320" y="3474720"/>
            <a:ext cx="1828800" cy="310896"/>
          </a:xfrm>
          <a:prstGeom prst="roundRect">
            <a:avLst>
              <a:gd name="adj" fmla="val 50000"/>
            </a:avLst>
          </a:prstGeom>
          <a:solidFill>
            <a:srgbClr val="D9F2F7"/>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0E7490"/>
                </a:solidFill>
                <a:latin typeface="Consolas"/>
              </a:rPr>
              <a:t>topic</a:t>
            </a:r>
          </a:p>
        </p:txBody>
      </p:sp>
      <p:cxnSp>
        <p:nvCxnSpPr>
          <p:cNvPr id="35" name="a3ud100_ar34"/>
          <p:cNvCxnSpPr/>
          <p:nvPr/>
        </p:nvCxnSpPr>
        <p:spPr>
          <a:xfrm>
            <a:off x="2304287" y="3630168"/>
            <a:ext cx="237745" cy="0"/>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a3ud200_pill35"/>
          <p:cNvSpPr/>
          <p:nvPr/>
        </p:nvSpPr>
        <p:spPr>
          <a:xfrm>
            <a:off x="4663440" y="3474720"/>
            <a:ext cx="1828800" cy="310896"/>
          </a:xfrm>
          <a:prstGeom prst="roundRect">
            <a:avLst>
              <a:gd name="adj" fmla="val 50000"/>
            </a:avLst>
          </a:prstGeom>
          <a:solidFill>
            <a:srgbClr val="E0E7FF"/>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4F46E5"/>
                </a:solidFill>
                <a:latin typeface="Segoe UI"/>
              </a:rPr>
              <a:t>Flink · Kafka Streams</a:t>
            </a:r>
          </a:p>
        </p:txBody>
      </p:sp>
      <p:cxnSp>
        <p:nvCxnSpPr>
          <p:cNvPr id="37" name="a3ud200_ar36"/>
          <p:cNvCxnSpPr/>
          <p:nvPr/>
        </p:nvCxnSpPr>
        <p:spPr>
          <a:xfrm>
            <a:off x="4407407" y="3630168"/>
            <a:ext cx="237745" cy="0"/>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a3ud300_pill37"/>
          <p:cNvSpPr/>
          <p:nvPr/>
        </p:nvSpPr>
        <p:spPr>
          <a:xfrm>
            <a:off x="6766559" y="3474720"/>
            <a:ext cx="1828800" cy="310896"/>
          </a:xfrm>
          <a:prstGeom prst="roundRect">
            <a:avLst>
              <a:gd name="adj" fmla="val 50000"/>
            </a:avLst>
          </a:prstGeom>
          <a:solidFill>
            <a:srgbClr val="D9F2F7"/>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0E7490"/>
                </a:solidFill>
                <a:latin typeface="Consolas"/>
              </a:rPr>
              <a:t>topic</a:t>
            </a:r>
          </a:p>
        </p:txBody>
      </p:sp>
      <p:cxnSp>
        <p:nvCxnSpPr>
          <p:cNvPr id="39" name="a3ud300_ar38"/>
          <p:cNvCxnSpPr/>
          <p:nvPr/>
        </p:nvCxnSpPr>
        <p:spPr>
          <a:xfrm>
            <a:off x="6510527" y="3630168"/>
            <a:ext cx="237745" cy="0"/>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a4u_nb39"/>
          <p:cNvSpPr/>
          <p:nvPr/>
        </p:nvSpPr>
        <p:spPr>
          <a:xfrm>
            <a:off x="457200" y="3977639"/>
            <a:ext cx="8229600" cy="502920"/>
          </a:xfrm>
          <a:prstGeom prst="roundRect">
            <a:avLst>
              <a:gd name="adj" fmla="val 14545"/>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4u_nacc40"/>
          <p:cNvSpPr/>
          <p:nvPr/>
        </p:nvSpPr>
        <p:spPr>
          <a:xfrm>
            <a:off x="457200" y="3977639"/>
            <a:ext cx="54864" cy="5029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4u_nt41"/>
          <p:cNvSpPr txBox="1"/>
          <p:nvPr/>
        </p:nvSpPr>
        <p:spPr>
          <a:xfrm>
            <a:off x="658368" y="3977639"/>
            <a:ext cx="7827264" cy="502920"/>
          </a:xfrm>
          <a:prstGeom prst="rect">
            <a:avLst/>
          </a:prstGeom>
          <a:noFill/>
        </p:spPr>
        <p:txBody>
          <a:bodyPr wrap="square" lIns="0" tIns="0" rIns="0" bIns="0" anchor="ctr">
            <a:spAutoFit/>
          </a:bodyPr>
          <a:lstStyle/>
          <a:p>
            <a:pPr algn="l"/>
            <a:r>
              <a:rPr sz="950" b="1">
                <a:solidFill>
                  <a:srgbClr val="4F46E5"/>
                </a:solidFill>
                <a:latin typeface="Segoe UI"/>
              </a:rPr>
              <a:t>KEY  </a:t>
            </a:r>
            <a:r>
              <a:rPr sz="950" b="0">
                <a:solidFill>
                  <a:srgbClr val="44403C"/>
                </a:solidFill>
                <a:latin typeface="Segoe UI"/>
              </a:rPr>
              <a:t>Get the data into Kafka with Connect - then do the stateful work with stream processing.</a:t>
            </a:r>
          </a:p>
        </p:txBody>
      </p:sp>
      <p:sp>
        <p:nvSpPr>
          <p:cNvPr id="43" name="ft42"/>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10</a:t>
            </a:r>
          </a:p>
        </p:txBody>
      </p:sp>
      <p:sp>
        <p:nvSpPr>
          <p:cNvPr id="44" name="ft43"/>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ft44"/>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Kafka Connect</a:t>
            </a:r>
          </a:p>
        </p:txBody>
      </p:sp>
      <p:sp>
        <p:nvSpPr>
          <p:cNvPr id="46" name="ft45"/>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9</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8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8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18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18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28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28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par>
                                <p:cTn id="54" presetID="2" presetClass="entr" presetSubtype="4" fill="hold" grpId="0" nodeType="withEffect">
                                  <p:stCondLst>
                                    <p:cond delay="38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0.1"/>
                                          </p:val>
                                        </p:tav>
                                        <p:tav tm="100000">
                                          <p:val>
                                            <p:strVal val="#ppt_y"/>
                                          </p:val>
                                        </p:tav>
                                      </p:tavLst>
                                    </p:anim>
                                    <p:animEffect transition="in" filter="fade">
                                      <p:cBhvr>
                                        <p:cTn id="53" dur="500"/>
                                        <p:tgtEl>
                                          <p:spTgt spid="20"/>
                                        </p:tgtEl>
                                      </p:cBhvr>
                                    </p:animEffect>
                                  </p:childTnLst>
                                </p:cTn>
                              </p:par>
                              <p:par>
                                <p:cTn id="59" presetID="2" presetClass="entr" presetSubtype="4" fill="hold" grpId="0" nodeType="withEffect">
                                  <p:stCondLst>
                                    <p:cond delay="380"/>
                                  </p:stCondLst>
                                  <p:childTnLst>
                                    <p:set>
                                      <p:cBhvr>
                                        <p:cTn id="55" dur="1" fill="hold">
                                          <p:stCondLst>
                                            <p:cond delay="0"/>
                                          </p:stCondLst>
                                        </p:cTn>
                                        <p:tgtEl>
                                          <p:spTgt spid="21"/>
                                        </p:tgtEl>
                                        <p:attrNameLst>
                                          <p:attrName>style.visibility</p:attrName>
                                        </p:attrNameLst>
                                      </p:cBhvr>
                                      <p:to>
                                        <p:strVal val="visible"/>
                                      </p:to>
                                    </p:set>
                                    <p:anim calcmode="lin" valueType="num">
                                      <p:cBhvr additive="base">
                                        <p:cTn id="56" dur="500" fill="hold"/>
                                        <p:tgtEl>
                                          <p:spTgt spid="21"/>
                                        </p:tgtEl>
                                        <p:attrNameLst>
                                          <p:attrName>ppt_x</p:attrName>
                                        </p:attrNameLst>
                                      </p:cBhvr>
                                      <p:tavLst>
                                        <p:tav tm="0">
                                          <p:val>
                                            <p:strVal val="#ppt_x"/>
                                          </p:val>
                                        </p:tav>
                                        <p:tav tm="100000">
                                          <p:val>
                                            <p:strVal val="#ppt_x"/>
                                          </p:val>
                                        </p:tav>
                                      </p:tavLst>
                                    </p:anim>
                                    <p:anim calcmode="lin" valueType="num">
                                      <p:cBhvr additive="base">
                                        <p:cTn id="57" dur="500" fill="hold"/>
                                        <p:tgtEl>
                                          <p:spTgt spid="21"/>
                                        </p:tgtEl>
                                        <p:attrNameLst>
                                          <p:attrName>ppt_y</p:attrName>
                                        </p:attrNameLst>
                                      </p:cBhvr>
                                      <p:tavLst>
                                        <p:tav tm="0">
                                          <p:val>
                                            <p:strVal val="#ppt_y+0.1"/>
                                          </p:val>
                                        </p:tav>
                                        <p:tav tm="100000">
                                          <p:val>
                                            <p:strVal val="#ppt_y"/>
                                          </p:val>
                                        </p:tav>
                                      </p:tavLst>
                                    </p:anim>
                                    <p:animEffect transition="in" filter="fade">
                                      <p:cBhvr>
                                        <p:cTn id="58" dur="5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6" presetID="2" presetClass="entr" presetSubtype="4"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 calcmode="lin" valueType="num">
                                      <p:cBhvr additive="base">
                                        <p:cTn id="63" dur="500" fill="hold"/>
                                        <p:tgtEl>
                                          <p:spTgt spid="22"/>
                                        </p:tgtEl>
                                        <p:attrNameLst>
                                          <p:attrName>ppt_x</p:attrName>
                                        </p:attrNameLst>
                                      </p:cBhvr>
                                      <p:tavLst>
                                        <p:tav tm="0">
                                          <p:val>
                                            <p:strVal val="#ppt_x"/>
                                          </p:val>
                                        </p:tav>
                                        <p:tav tm="100000">
                                          <p:val>
                                            <p:strVal val="#ppt_x"/>
                                          </p:val>
                                        </p:tav>
                                      </p:tavLst>
                                    </p:anim>
                                    <p:anim calcmode="lin" valueType="num">
                                      <p:cBhvr additive="base">
                                        <p:cTn id="64" dur="500" fill="hold"/>
                                        <p:tgtEl>
                                          <p:spTgt spid="22"/>
                                        </p:tgtEl>
                                        <p:attrNameLst>
                                          <p:attrName>ppt_y</p:attrName>
                                        </p:attrNameLst>
                                      </p:cBhvr>
                                      <p:tavLst>
                                        <p:tav tm="0">
                                          <p:val>
                                            <p:strVal val="#ppt_y+0.1"/>
                                          </p:val>
                                        </p:tav>
                                        <p:tav tm="100000">
                                          <p:val>
                                            <p:strVal val="#ppt_y"/>
                                          </p:val>
                                        </p:tav>
                                      </p:tavLst>
                                    </p:anim>
                                    <p:animEffect transition="in" filter="fade">
                                      <p:cBhvr>
                                        <p:cTn id="65" dur="500"/>
                                        <p:tgtEl>
                                          <p:spTgt spid="22"/>
                                        </p:tgtEl>
                                      </p:cBhvr>
                                    </p:animEffect>
                                  </p:childTnLst>
                                </p:cTn>
                              </p:par>
                              <p:par>
                                <p:cTn id="71" presetID="2" presetClass="entr" presetSubtype="4" fill="hold" grpId="0" nodeType="withEffect">
                                  <p:stCondLst>
                                    <p:cond delay="0"/>
                                  </p:stCondLst>
                                  <p:childTnLst>
                                    <p:set>
                                      <p:cBhvr>
                                        <p:cTn id="67" dur="1" fill="hold">
                                          <p:stCondLst>
                                            <p:cond delay="0"/>
                                          </p:stCondLst>
                                        </p:cTn>
                                        <p:tgtEl>
                                          <p:spTgt spid="23"/>
                                        </p:tgtEl>
                                        <p:attrNameLst>
                                          <p:attrName>style.visibility</p:attrName>
                                        </p:attrNameLst>
                                      </p:cBhvr>
                                      <p:to>
                                        <p:strVal val="visible"/>
                                      </p:to>
                                    </p:set>
                                    <p:anim calcmode="lin" valueType="num">
                                      <p:cBhvr additive="base">
                                        <p:cTn id="68" dur="500" fill="hold"/>
                                        <p:tgtEl>
                                          <p:spTgt spid="23"/>
                                        </p:tgtEl>
                                        <p:attrNameLst>
                                          <p:attrName>ppt_x</p:attrName>
                                        </p:attrNameLst>
                                      </p:cBhvr>
                                      <p:tavLst>
                                        <p:tav tm="0">
                                          <p:val>
                                            <p:strVal val="#ppt_x"/>
                                          </p:val>
                                        </p:tav>
                                        <p:tav tm="100000">
                                          <p:val>
                                            <p:strVal val="#ppt_x"/>
                                          </p:val>
                                        </p:tav>
                                      </p:tavLst>
                                    </p:anim>
                                    <p:anim calcmode="lin" valueType="num">
                                      <p:cBhvr additive="base">
                                        <p:cTn id="69" dur="500" fill="hold"/>
                                        <p:tgtEl>
                                          <p:spTgt spid="23"/>
                                        </p:tgtEl>
                                        <p:attrNameLst>
                                          <p:attrName>ppt_y</p:attrName>
                                        </p:attrNameLst>
                                      </p:cBhvr>
                                      <p:tavLst>
                                        <p:tav tm="0">
                                          <p:val>
                                            <p:strVal val="#ppt_y+0.1"/>
                                          </p:val>
                                        </p:tav>
                                        <p:tav tm="100000">
                                          <p:val>
                                            <p:strVal val="#ppt_y"/>
                                          </p:val>
                                        </p:tav>
                                      </p:tavLst>
                                    </p:anim>
                                    <p:animEffect transition="in" filter="fade">
                                      <p:cBhvr>
                                        <p:cTn id="70" dur="500"/>
                                        <p:tgtEl>
                                          <p:spTgt spid="23"/>
                                        </p:tgtEl>
                                      </p:cBhvr>
                                    </p:animEffect>
                                  </p:childTnLst>
                                </p:cTn>
                              </p:par>
                              <p:par>
                                <p:cTn id="76" presetID="2" presetClass="entr" presetSubtype="4"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 calcmode="lin" valueType="num">
                                      <p:cBhvr additive="base">
                                        <p:cTn id="73" dur="500" fill="hold"/>
                                        <p:tgtEl>
                                          <p:spTgt spid="24"/>
                                        </p:tgtEl>
                                        <p:attrNameLst>
                                          <p:attrName>ppt_x</p:attrName>
                                        </p:attrNameLst>
                                      </p:cBhvr>
                                      <p:tavLst>
                                        <p:tav tm="0">
                                          <p:val>
                                            <p:strVal val="#ppt_x"/>
                                          </p:val>
                                        </p:tav>
                                        <p:tav tm="100000">
                                          <p:val>
                                            <p:strVal val="#ppt_x"/>
                                          </p:val>
                                        </p:tav>
                                      </p:tavLst>
                                    </p:anim>
                                    <p:anim calcmode="lin" valueType="num">
                                      <p:cBhvr additive="base">
                                        <p:cTn id="74" dur="500" fill="hold"/>
                                        <p:tgtEl>
                                          <p:spTgt spid="24"/>
                                        </p:tgtEl>
                                        <p:attrNameLst>
                                          <p:attrName>ppt_y</p:attrName>
                                        </p:attrNameLst>
                                      </p:cBhvr>
                                      <p:tavLst>
                                        <p:tav tm="0">
                                          <p:val>
                                            <p:strVal val="#ppt_y+0.1"/>
                                          </p:val>
                                        </p:tav>
                                        <p:tav tm="100000">
                                          <p:val>
                                            <p:strVal val="#ppt_y"/>
                                          </p:val>
                                        </p:tav>
                                      </p:tavLst>
                                    </p:anim>
                                    <p:animEffect transition="in" filter="fade">
                                      <p:cBhvr>
                                        <p:cTn id="75" dur="500"/>
                                        <p:tgtEl>
                                          <p:spTgt spid="24"/>
                                        </p:tgtEl>
                                      </p:cBhvr>
                                    </p:animEffect>
                                  </p:childTnLst>
                                </p:cTn>
                              </p:par>
                              <p:par>
                                <p:cTn id="81" presetID="2" presetClass="entr" presetSubtype="4" fill="hold" grpId="0" nodeType="withEffect">
                                  <p:stCondLst>
                                    <p:cond delay="80"/>
                                  </p:stCondLst>
                                  <p:childTnLst>
                                    <p:set>
                                      <p:cBhvr>
                                        <p:cTn id="77" dur="1" fill="hold">
                                          <p:stCondLst>
                                            <p:cond delay="0"/>
                                          </p:stCondLst>
                                        </p:cTn>
                                        <p:tgtEl>
                                          <p:spTgt spid="25"/>
                                        </p:tgtEl>
                                        <p:attrNameLst>
                                          <p:attrName>style.visibility</p:attrName>
                                        </p:attrNameLst>
                                      </p:cBhvr>
                                      <p:to>
                                        <p:strVal val="visible"/>
                                      </p:to>
                                    </p:set>
                                    <p:anim calcmode="lin" valueType="num">
                                      <p:cBhvr additive="base">
                                        <p:cTn id="78" dur="500" fill="hold"/>
                                        <p:tgtEl>
                                          <p:spTgt spid="25"/>
                                        </p:tgtEl>
                                        <p:attrNameLst>
                                          <p:attrName>ppt_x</p:attrName>
                                        </p:attrNameLst>
                                      </p:cBhvr>
                                      <p:tavLst>
                                        <p:tav tm="0">
                                          <p:val>
                                            <p:strVal val="#ppt_x"/>
                                          </p:val>
                                        </p:tav>
                                        <p:tav tm="100000">
                                          <p:val>
                                            <p:strVal val="#ppt_x"/>
                                          </p:val>
                                        </p:tav>
                                      </p:tavLst>
                                    </p:anim>
                                    <p:anim calcmode="lin" valueType="num">
                                      <p:cBhvr additive="base">
                                        <p:cTn id="79" dur="500" fill="hold"/>
                                        <p:tgtEl>
                                          <p:spTgt spid="25"/>
                                        </p:tgtEl>
                                        <p:attrNameLst>
                                          <p:attrName>ppt_y</p:attrName>
                                        </p:attrNameLst>
                                      </p:cBhvr>
                                      <p:tavLst>
                                        <p:tav tm="0">
                                          <p:val>
                                            <p:strVal val="#ppt_y+0.1"/>
                                          </p:val>
                                        </p:tav>
                                        <p:tav tm="100000">
                                          <p:val>
                                            <p:strVal val="#ppt_y"/>
                                          </p:val>
                                        </p:tav>
                                      </p:tavLst>
                                    </p:anim>
                                    <p:animEffect transition="in" filter="fade">
                                      <p:cBhvr>
                                        <p:cTn id="80" dur="500"/>
                                        <p:tgtEl>
                                          <p:spTgt spid="25"/>
                                        </p:tgtEl>
                                      </p:cBhvr>
                                    </p:animEffect>
                                  </p:childTnLst>
                                </p:cTn>
                              </p:par>
                              <p:par>
                                <p:cTn id="86" presetID="2" presetClass="entr" presetSubtype="4" fill="hold" grpId="0" nodeType="withEffect">
                                  <p:stCondLst>
                                    <p:cond delay="8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500" fill="hold"/>
                                        <p:tgtEl>
                                          <p:spTgt spid="26"/>
                                        </p:tgtEl>
                                        <p:attrNameLst>
                                          <p:attrName>ppt_x</p:attrName>
                                        </p:attrNameLst>
                                      </p:cBhvr>
                                      <p:tavLst>
                                        <p:tav tm="0">
                                          <p:val>
                                            <p:strVal val="#ppt_x"/>
                                          </p:val>
                                        </p:tav>
                                        <p:tav tm="100000">
                                          <p:val>
                                            <p:strVal val="#ppt_x"/>
                                          </p:val>
                                        </p:tav>
                                      </p:tavLst>
                                    </p:anim>
                                    <p:anim calcmode="lin" valueType="num">
                                      <p:cBhvr additive="base">
                                        <p:cTn id="84" dur="500" fill="hold"/>
                                        <p:tgtEl>
                                          <p:spTgt spid="26"/>
                                        </p:tgtEl>
                                        <p:attrNameLst>
                                          <p:attrName>ppt_y</p:attrName>
                                        </p:attrNameLst>
                                      </p:cBhvr>
                                      <p:tavLst>
                                        <p:tav tm="0">
                                          <p:val>
                                            <p:strVal val="#ppt_y+0.1"/>
                                          </p:val>
                                        </p:tav>
                                        <p:tav tm="100000">
                                          <p:val>
                                            <p:strVal val="#ppt_y"/>
                                          </p:val>
                                        </p:tav>
                                      </p:tavLst>
                                    </p:anim>
                                    <p:animEffect transition="in" filter="fade">
                                      <p:cBhvr>
                                        <p:cTn id="85" dur="500"/>
                                        <p:tgtEl>
                                          <p:spTgt spid="26"/>
                                        </p:tgtEl>
                                      </p:cBhvr>
                                    </p:animEffect>
                                  </p:childTnLst>
                                </p:cTn>
                              </p:par>
                              <p:par>
                                <p:cTn id="91" presetID="2" presetClass="entr" presetSubtype="4" fill="hold" grpId="0" nodeType="withEffect">
                                  <p:stCondLst>
                                    <p:cond delay="180"/>
                                  </p:stCondLst>
                                  <p:childTnLst>
                                    <p:set>
                                      <p:cBhvr>
                                        <p:cTn id="87" dur="1" fill="hold">
                                          <p:stCondLst>
                                            <p:cond delay="0"/>
                                          </p:stCondLst>
                                        </p:cTn>
                                        <p:tgtEl>
                                          <p:spTgt spid="27"/>
                                        </p:tgtEl>
                                        <p:attrNameLst>
                                          <p:attrName>style.visibility</p:attrName>
                                        </p:attrNameLst>
                                      </p:cBhvr>
                                      <p:to>
                                        <p:strVal val="visible"/>
                                      </p:to>
                                    </p:set>
                                    <p:anim calcmode="lin" valueType="num">
                                      <p:cBhvr additive="base">
                                        <p:cTn id="88" dur="500" fill="hold"/>
                                        <p:tgtEl>
                                          <p:spTgt spid="27"/>
                                        </p:tgtEl>
                                        <p:attrNameLst>
                                          <p:attrName>ppt_x</p:attrName>
                                        </p:attrNameLst>
                                      </p:cBhvr>
                                      <p:tavLst>
                                        <p:tav tm="0">
                                          <p:val>
                                            <p:strVal val="#ppt_x"/>
                                          </p:val>
                                        </p:tav>
                                        <p:tav tm="100000">
                                          <p:val>
                                            <p:strVal val="#ppt_x"/>
                                          </p:val>
                                        </p:tav>
                                      </p:tavLst>
                                    </p:anim>
                                    <p:anim calcmode="lin" valueType="num">
                                      <p:cBhvr additive="base">
                                        <p:cTn id="89" dur="500" fill="hold"/>
                                        <p:tgtEl>
                                          <p:spTgt spid="27"/>
                                        </p:tgtEl>
                                        <p:attrNameLst>
                                          <p:attrName>ppt_y</p:attrName>
                                        </p:attrNameLst>
                                      </p:cBhvr>
                                      <p:tavLst>
                                        <p:tav tm="0">
                                          <p:val>
                                            <p:strVal val="#ppt_y+0.1"/>
                                          </p:val>
                                        </p:tav>
                                        <p:tav tm="100000">
                                          <p:val>
                                            <p:strVal val="#ppt_y"/>
                                          </p:val>
                                        </p:tav>
                                      </p:tavLst>
                                    </p:anim>
                                    <p:animEffect transition="in" filter="fade">
                                      <p:cBhvr>
                                        <p:cTn id="90" dur="500"/>
                                        <p:tgtEl>
                                          <p:spTgt spid="27"/>
                                        </p:tgtEl>
                                      </p:cBhvr>
                                    </p:animEffect>
                                  </p:childTnLst>
                                </p:cTn>
                              </p:par>
                              <p:par>
                                <p:cTn id="96" presetID="2" presetClass="entr" presetSubtype="4" fill="hold" grpId="0" nodeType="withEffect">
                                  <p:stCondLst>
                                    <p:cond delay="180"/>
                                  </p:stCondLst>
                                  <p:childTnLst>
                                    <p:set>
                                      <p:cBhvr>
                                        <p:cTn id="92" dur="1" fill="hold">
                                          <p:stCondLst>
                                            <p:cond delay="0"/>
                                          </p:stCondLst>
                                        </p:cTn>
                                        <p:tgtEl>
                                          <p:spTgt spid="28"/>
                                        </p:tgtEl>
                                        <p:attrNameLst>
                                          <p:attrName>style.visibility</p:attrName>
                                        </p:attrNameLst>
                                      </p:cBhvr>
                                      <p:to>
                                        <p:strVal val="visible"/>
                                      </p:to>
                                    </p:set>
                                    <p:anim calcmode="lin" valueType="num">
                                      <p:cBhvr additive="base">
                                        <p:cTn id="93" dur="500" fill="hold"/>
                                        <p:tgtEl>
                                          <p:spTgt spid="28"/>
                                        </p:tgtEl>
                                        <p:attrNameLst>
                                          <p:attrName>ppt_x</p:attrName>
                                        </p:attrNameLst>
                                      </p:cBhvr>
                                      <p:tavLst>
                                        <p:tav tm="0">
                                          <p:val>
                                            <p:strVal val="#ppt_x"/>
                                          </p:val>
                                        </p:tav>
                                        <p:tav tm="100000">
                                          <p:val>
                                            <p:strVal val="#ppt_x"/>
                                          </p:val>
                                        </p:tav>
                                      </p:tavLst>
                                    </p:anim>
                                    <p:anim calcmode="lin" valueType="num">
                                      <p:cBhvr additive="base">
                                        <p:cTn id="94" dur="500" fill="hold"/>
                                        <p:tgtEl>
                                          <p:spTgt spid="28"/>
                                        </p:tgtEl>
                                        <p:attrNameLst>
                                          <p:attrName>ppt_y</p:attrName>
                                        </p:attrNameLst>
                                      </p:cBhvr>
                                      <p:tavLst>
                                        <p:tav tm="0">
                                          <p:val>
                                            <p:strVal val="#ppt_y+0.1"/>
                                          </p:val>
                                        </p:tav>
                                        <p:tav tm="100000">
                                          <p:val>
                                            <p:strVal val="#ppt_y"/>
                                          </p:val>
                                        </p:tav>
                                      </p:tavLst>
                                    </p:anim>
                                    <p:animEffect transition="in" filter="fade">
                                      <p:cBhvr>
                                        <p:cTn id="95" dur="500"/>
                                        <p:tgtEl>
                                          <p:spTgt spid="28"/>
                                        </p:tgtEl>
                                      </p:cBhvr>
                                    </p:animEffect>
                                  </p:childTnLst>
                                </p:cTn>
                              </p:par>
                              <p:par>
                                <p:cTn id="101" presetID="2" presetClass="entr" presetSubtype="4" fill="hold" grpId="0" nodeType="withEffect">
                                  <p:stCondLst>
                                    <p:cond delay="280"/>
                                  </p:stCondLst>
                                  <p:childTnLst>
                                    <p:set>
                                      <p:cBhvr>
                                        <p:cTn id="97" dur="1" fill="hold">
                                          <p:stCondLst>
                                            <p:cond delay="0"/>
                                          </p:stCondLst>
                                        </p:cTn>
                                        <p:tgtEl>
                                          <p:spTgt spid="29"/>
                                        </p:tgtEl>
                                        <p:attrNameLst>
                                          <p:attrName>style.visibility</p:attrName>
                                        </p:attrNameLst>
                                      </p:cBhvr>
                                      <p:to>
                                        <p:strVal val="visible"/>
                                      </p:to>
                                    </p:set>
                                    <p:anim calcmode="lin" valueType="num">
                                      <p:cBhvr additive="base">
                                        <p:cTn id="98" dur="500" fill="hold"/>
                                        <p:tgtEl>
                                          <p:spTgt spid="29"/>
                                        </p:tgtEl>
                                        <p:attrNameLst>
                                          <p:attrName>ppt_x</p:attrName>
                                        </p:attrNameLst>
                                      </p:cBhvr>
                                      <p:tavLst>
                                        <p:tav tm="0">
                                          <p:val>
                                            <p:strVal val="#ppt_x"/>
                                          </p:val>
                                        </p:tav>
                                        <p:tav tm="100000">
                                          <p:val>
                                            <p:strVal val="#ppt_x"/>
                                          </p:val>
                                        </p:tav>
                                      </p:tavLst>
                                    </p:anim>
                                    <p:anim calcmode="lin" valueType="num">
                                      <p:cBhvr additive="base">
                                        <p:cTn id="99" dur="500" fill="hold"/>
                                        <p:tgtEl>
                                          <p:spTgt spid="29"/>
                                        </p:tgtEl>
                                        <p:attrNameLst>
                                          <p:attrName>ppt_y</p:attrName>
                                        </p:attrNameLst>
                                      </p:cBhvr>
                                      <p:tavLst>
                                        <p:tav tm="0">
                                          <p:val>
                                            <p:strVal val="#ppt_y+0.1"/>
                                          </p:val>
                                        </p:tav>
                                        <p:tav tm="100000">
                                          <p:val>
                                            <p:strVal val="#ppt_y"/>
                                          </p:val>
                                        </p:tav>
                                      </p:tavLst>
                                    </p:anim>
                                    <p:animEffect transition="in" filter="fade">
                                      <p:cBhvr>
                                        <p:cTn id="100" dur="500"/>
                                        <p:tgtEl>
                                          <p:spTgt spid="29"/>
                                        </p:tgtEl>
                                      </p:cBhvr>
                                    </p:animEffect>
                                  </p:childTnLst>
                                </p:cTn>
                              </p:par>
                              <p:par>
                                <p:cTn id="106" presetID="2" presetClass="entr" presetSubtype="4" fill="hold" grpId="0" nodeType="withEffect">
                                  <p:stCondLst>
                                    <p:cond delay="280"/>
                                  </p:stCondLst>
                                  <p:childTnLst>
                                    <p:set>
                                      <p:cBhvr>
                                        <p:cTn id="102" dur="1" fill="hold">
                                          <p:stCondLst>
                                            <p:cond delay="0"/>
                                          </p:stCondLst>
                                        </p:cTn>
                                        <p:tgtEl>
                                          <p:spTgt spid="30"/>
                                        </p:tgtEl>
                                        <p:attrNameLst>
                                          <p:attrName>style.visibility</p:attrName>
                                        </p:attrNameLst>
                                      </p:cBhvr>
                                      <p:to>
                                        <p:strVal val="visible"/>
                                      </p:to>
                                    </p:set>
                                    <p:anim calcmode="lin" valueType="num">
                                      <p:cBhvr additive="base">
                                        <p:cTn id="103" dur="500" fill="hold"/>
                                        <p:tgtEl>
                                          <p:spTgt spid="30"/>
                                        </p:tgtEl>
                                        <p:attrNameLst>
                                          <p:attrName>ppt_x</p:attrName>
                                        </p:attrNameLst>
                                      </p:cBhvr>
                                      <p:tavLst>
                                        <p:tav tm="0">
                                          <p:val>
                                            <p:strVal val="#ppt_x"/>
                                          </p:val>
                                        </p:tav>
                                        <p:tav tm="100000">
                                          <p:val>
                                            <p:strVal val="#ppt_x"/>
                                          </p:val>
                                        </p:tav>
                                      </p:tavLst>
                                    </p:anim>
                                    <p:anim calcmode="lin" valueType="num">
                                      <p:cBhvr additive="base">
                                        <p:cTn id="104" dur="500" fill="hold"/>
                                        <p:tgtEl>
                                          <p:spTgt spid="30"/>
                                        </p:tgtEl>
                                        <p:attrNameLst>
                                          <p:attrName>ppt_y</p:attrName>
                                        </p:attrNameLst>
                                      </p:cBhvr>
                                      <p:tavLst>
                                        <p:tav tm="0">
                                          <p:val>
                                            <p:strVal val="#ppt_y+0.1"/>
                                          </p:val>
                                        </p:tav>
                                        <p:tav tm="100000">
                                          <p:val>
                                            <p:strVal val="#ppt_y"/>
                                          </p:val>
                                        </p:tav>
                                      </p:tavLst>
                                    </p:anim>
                                    <p:animEffect transition="in" filter="fade">
                                      <p:cBhvr>
                                        <p:cTn id="105" dur="500"/>
                                        <p:tgtEl>
                                          <p:spTgt spid="30"/>
                                        </p:tgtEl>
                                      </p:cBhvr>
                                    </p:animEffect>
                                  </p:childTnLst>
                                </p:cTn>
                              </p:par>
                              <p:par>
                                <p:cTn id="111" presetID="2" presetClass="entr" presetSubtype="4" fill="hold" grpId="0" nodeType="withEffect">
                                  <p:stCondLst>
                                    <p:cond delay="380"/>
                                  </p:stCondLst>
                                  <p:childTnLst>
                                    <p:set>
                                      <p:cBhvr>
                                        <p:cTn id="107" dur="1" fill="hold">
                                          <p:stCondLst>
                                            <p:cond delay="0"/>
                                          </p:stCondLst>
                                        </p:cTn>
                                        <p:tgtEl>
                                          <p:spTgt spid="31"/>
                                        </p:tgtEl>
                                        <p:attrNameLst>
                                          <p:attrName>style.visibility</p:attrName>
                                        </p:attrNameLst>
                                      </p:cBhvr>
                                      <p:to>
                                        <p:strVal val="visible"/>
                                      </p:to>
                                    </p:set>
                                    <p:anim calcmode="lin" valueType="num">
                                      <p:cBhvr additive="base">
                                        <p:cTn id="108" dur="500" fill="hold"/>
                                        <p:tgtEl>
                                          <p:spTgt spid="31"/>
                                        </p:tgtEl>
                                        <p:attrNameLst>
                                          <p:attrName>ppt_x</p:attrName>
                                        </p:attrNameLst>
                                      </p:cBhvr>
                                      <p:tavLst>
                                        <p:tav tm="0">
                                          <p:val>
                                            <p:strVal val="#ppt_x"/>
                                          </p:val>
                                        </p:tav>
                                        <p:tav tm="100000">
                                          <p:val>
                                            <p:strVal val="#ppt_x"/>
                                          </p:val>
                                        </p:tav>
                                      </p:tavLst>
                                    </p:anim>
                                    <p:anim calcmode="lin" valueType="num">
                                      <p:cBhvr additive="base">
                                        <p:cTn id="109" dur="500" fill="hold"/>
                                        <p:tgtEl>
                                          <p:spTgt spid="31"/>
                                        </p:tgtEl>
                                        <p:attrNameLst>
                                          <p:attrName>ppt_y</p:attrName>
                                        </p:attrNameLst>
                                      </p:cBhvr>
                                      <p:tavLst>
                                        <p:tav tm="0">
                                          <p:val>
                                            <p:strVal val="#ppt_y+0.1"/>
                                          </p:val>
                                        </p:tav>
                                        <p:tav tm="100000">
                                          <p:val>
                                            <p:strVal val="#ppt_y"/>
                                          </p:val>
                                        </p:tav>
                                      </p:tavLst>
                                    </p:anim>
                                    <p:animEffect transition="in" filter="fade">
                                      <p:cBhvr>
                                        <p:cTn id="110" dur="500"/>
                                        <p:tgtEl>
                                          <p:spTgt spid="31"/>
                                        </p:tgtEl>
                                      </p:cBhvr>
                                    </p:animEffect>
                                  </p:childTnLst>
                                </p:cTn>
                              </p:par>
                              <p:par>
                                <p:cTn id="116" presetID="2" presetClass="entr" presetSubtype="4" fill="hold" grpId="0" nodeType="withEffect">
                                  <p:stCondLst>
                                    <p:cond delay="380"/>
                                  </p:stCondLst>
                                  <p:childTnLst>
                                    <p:set>
                                      <p:cBhvr>
                                        <p:cTn id="112" dur="1" fill="hold">
                                          <p:stCondLst>
                                            <p:cond delay="0"/>
                                          </p:stCondLst>
                                        </p:cTn>
                                        <p:tgtEl>
                                          <p:spTgt spid="32"/>
                                        </p:tgtEl>
                                        <p:attrNameLst>
                                          <p:attrName>style.visibility</p:attrName>
                                        </p:attrNameLst>
                                      </p:cBhvr>
                                      <p:to>
                                        <p:strVal val="visible"/>
                                      </p:to>
                                    </p:set>
                                    <p:anim calcmode="lin" valueType="num">
                                      <p:cBhvr additive="base">
                                        <p:cTn id="113" dur="500" fill="hold"/>
                                        <p:tgtEl>
                                          <p:spTgt spid="32"/>
                                        </p:tgtEl>
                                        <p:attrNameLst>
                                          <p:attrName>ppt_x</p:attrName>
                                        </p:attrNameLst>
                                      </p:cBhvr>
                                      <p:tavLst>
                                        <p:tav tm="0">
                                          <p:val>
                                            <p:strVal val="#ppt_x"/>
                                          </p:val>
                                        </p:tav>
                                        <p:tav tm="100000">
                                          <p:val>
                                            <p:strVal val="#ppt_x"/>
                                          </p:val>
                                        </p:tav>
                                      </p:tavLst>
                                    </p:anim>
                                    <p:anim calcmode="lin" valueType="num">
                                      <p:cBhvr additive="base">
                                        <p:cTn id="114" dur="500" fill="hold"/>
                                        <p:tgtEl>
                                          <p:spTgt spid="32"/>
                                        </p:tgtEl>
                                        <p:attrNameLst>
                                          <p:attrName>ppt_y</p:attrName>
                                        </p:attrNameLst>
                                      </p:cBhvr>
                                      <p:tavLst>
                                        <p:tav tm="0">
                                          <p:val>
                                            <p:strVal val="#ppt_y+0.1"/>
                                          </p:val>
                                        </p:tav>
                                        <p:tav tm="100000">
                                          <p:val>
                                            <p:strVal val="#ppt_y"/>
                                          </p:val>
                                        </p:tav>
                                      </p:tavLst>
                                    </p:anim>
                                    <p:animEffect transition="in" filter="fade">
                                      <p:cBhvr>
                                        <p:cTn id="115" dur="500"/>
                                        <p:tgtEl>
                                          <p:spTgt spid="32"/>
                                        </p:tgtEl>
                                      </p:cBhvr>
                                    </p:animEffect>
                                  </p:childTnLst>
                                </p:cTn>
                              </p:par>
                            </p:childTnLst>
                          </p:cTn>
                        </p:par>
                      </p:childTnLst>
                    </p:cTn>
                  </p:par>
                  <p:par>
                    <p:cTn id="117" fill="hold">
                      <p:stCondLst>
                        <p:cond delay="indefinite"/>
                      </p:stCondLst>
                      <p:childTnLst>
                        <p:par>
                          <p:cTn id="118" fill="hold">
                            <p:stCondLst>
                              <p:cond delay="0"/>
                            </p:stCondLst>
                            <p:childTnLst>
                              <p:par>
                                <p:cTn id="123" presetID="2" presetClass="entr" presetSubtype="4" fill="hold" grpId="0" nodeType="clickEffect">
                                  <p:stCondLst>
                                    <p:cond delay="0"/>
                                  </p:stCondLst>
                                  <p:childTnLst>
                                    <p:set>
                                      <p:cBhvr>
                                        <p:cTn id="119" dur="1" fill="hold">
                                          <p:stCondLst>
                                            <p:cond delay="0"/>
                                          </p:stCondLst>
                                        </p:cTn>
                                        <p:tgtEl>
                                          <p:spTgt spid="33"/>
                                        </p:tgtEl>
                                        <p:attrNameLst>
                                          <p:attrName>style.visibility</p:attrName>
                                        </p:attrNameLst>
                                      </p:cBhvr>
                                      <p:to>
                                        <p:strVal val="visible"/>
                                      </p:to>
                                    </p:set>
                                    <p:anim calcmode="lin" valueType="num">
                                      <p:cBhvr additive="base">
                                        <p:cTn id="120" dur="500" fill="hold"/>
                                        <p:tgtEl>
                                          <p:spTgt spid="33"/>
                                        </p:tgtEl>
                                        <p:attrNameLst>
                                          <p:attrName>ppt_x</p:attrName>
                                        </p:attrNameLst>
                                      </p:cBhvr>
                                      <p:tavLst>
                                        <p:tav tm="0">
                                          <p:val>
                                            <p:strVal val="#ppt_x"/>
                                          </p:val>
                                        </p:tav>
                                        <p:tav tm="100000">
                                          <p:val>
                                            <p:strVal val="#ppt_x"/>
                                          </p:val>
                                        </p:tav>
                                      </p:tavLst>
                                    </p:anim>
                                    <p:anim calcmode="lin" valueType="num">
                                      <p:cBhvr additive="base">
                                        <p:cTn id="121" dur="500" fill="hold"/>
                                        <p:tgtEl>
                                          <p:spTgt spid="33"/>
                                        </p:tgtEl>
                                        <p:attrNameLst>
                                          <p:attrName>ppt_y</p:attrName>
                                        </p:attrNameLst>
                                      </p:cBhvr>
                                      <p:tavLst>
                                        <p:tav tm="0">
                                          <p:val>
                                            <p:strVal val="#ppt_y+0.1"/>
                                          </p:val>
                                        </p:tav>
                                        <p:tav tm="100000">
                                          <p:val>
                                            <p:strVal val="#ppt_y"/>
                                          </p:val>
                                        </p:tav>
                                      </p:tavLst>
                                    </p:anim>
                                    <p:animEffect transition="in" filter="fade">
                                      <p:cBhvr>
                                        <p:cTn id="122" dur="500"/>
                                        <p:tgtEl>
                                          <p:spTgt spid="33"/>
                                        </p:tgtEl>
                                      </p:cBhvr>
                                    </p:animEffect>
                                  </p:childTnLst>
                                </p:cTn>
                              </p:par>
                              <p:par>
                                <p:cTn id="128" presetID="2" presetClass="entr" presetSubtype="4" fill="hold" grpId="0" nodeType="withEffect">
                                  <p:stCondLst>
                                    <p:cond delay="100"/>
                                  </p:stCondLst>
                                  <p:childTnLst>
                                    <p:set>
                                      <p:cBhvr>
                                        <p:cTn id="124" dur="1" fill="hold">
                                          <p:stCondLst>
                                            <p:cond delay="0"/>
                                          </p:stCondLst>
                                        </p:cTn>
                                        <p:tgtEl>
                                          <p:spTgt spid="34"/>
                                        </p:tgtEl>
                                        <p:attrNameLst>
                                          <p:attrName>style.visibility</p:attrName>
                                        </p:attrNameLst>
                                      </p:cBhvr>
                                      <p:to>
                                        <p:strVal val="visible"/>
                                      </p:to>
                                    </p:set>
                                    <p:anim calcmode="lin" valueType="num">
                                      <p:cBhvr additive="base">
                                        <p:cTn id="125" dur="500" fill="hold"/>
                                        <p:tgtEl>
                                          <p:spTgt spid="34"/>
                                        </p:tgtEl>
                                        <p:attrNameLst>
                                          <p:attrName>ppt_x</p:attrName>
                                        </p:attrNameLst>
                                      </p:cBhvr>
                                      <p:tavLst>
                                        <p:tav tm="0">
                                          <p:val>
                                            <p:strVal val="#ppt_x"/>
                                          </p:val>
                                        </p:tav>
                                        <p:tav tm="100000">
                                          <p:val>
                                            <p:strVal val="#ppt_x"/>
                                          </p:val>
                                        </p:tav>
                                      </p:tavLst>
                                    </p:anim>
                                    <p:anim calcmode="lin" valueType="num">
                                      <p:cBhvr additive="base">
                                        <p:cTn id="126" dur="500" fill="hold"/>
                                        <p:tgtEl>
                                          <p:spTgt spid="34"/>
                                        </p:tgtEl>
                                        <p:attrNameLst>
                                          <p:attrName>ppt_y</p:attrName>
                                        </p:attrNameLst>
                                      </p:cBhvr>
                                      <p:tavLst>
                                        <p:tav tm="0">
                                          <p:val>
                                            <p:strVal val="#ppt_y+0.1"/>
                                          </p:val>
                                        </p:tav>
                                        <p:tav tm="100000">
                                          <p:val>
                                            <p:strVal val="#ppt_y"/>
                                          </p:val>
                                        </p:tav>
                                      </p:tavLst>
                                    </p:anim>
                                    <p:animEffect transition="in" filter="fade">
                                      <p:cBhvr>
                                        <p:cTn id="127" dur="500"/>
                                        <p:tgtEl>
                                          <p:spTgt spid="34"/>
                                        </p:tgtEl>
                                      </p:cBhvr>
                                    </p:animEffect>
                                  </p:childTnLst>
                                </p:cTn>
                              </p:par>
                              <p:par>
                                <p:cTn id="133" presetID="2" presetClass="entr" presetSubtype="4" fill="hold" grpId="0" nodeType="withEffect">
                                  <p:stCondLst>
                                    <p:cond delay="100"/>
                                  </p:stCondLst>
                                  <p:childTnLst>
                                    <p:set>
                                      <p:cBhvr>
                                        <p:cTn id="129" dur="1" fill="hold">
                                          <p:stCondLst>
                                            <p:cond delay="0"/>
                                          </p:stCondLst>
                                        </p:cTn>
                                        <p:tgtEl>
                                          <p:spTgt spid="35"/>
                                        </p:tgtEl>
                                        <p:attrNameLst>
                                          <p:attrName>style.visibility</p:attrName>
                                        </p:attrNameLst>
                                      </p:cBhvr>
                                      <p:to>
                                        <p:strVal val="visible"/>
                                      </p:to>
                                    </p:set>
                                    <p:anim calcmode="lin" valueType="num">
                                      <p:cBhvr additive="base">
                                        <p:cTn id="130" dur="500" fill="hold"/>
                                        <p:tgtEl>
                                          <p:spTgt spid="35"/>
                                        </p:tgtEl>
                                        <p:attrNameLst>
                                          <p:attrName>ppt_x</p:attrName>
                                        </p:attrNameLst>
                                      </p:cBhvr>
                                      <p:tavLst>
                                        <p:tav tm="0">
                                          <p:val>
                                            <p:strVal val="#ppt_x"/>
                                          </p:val>
                                        </p:tav>
                                        <p:tav tm="100000">
                                          <p:val>
                                            <p:strVal val="#ppt_x"/>
                                          </p:val>
                                        </p:tav>
                                      </p:tavLst>
                                    </p:anim>
                                    <p:anim calcmode="lin" valueType="num">
                                      <p:cBhvr additive="base">
                                        <p:cTn id="131" dur="500" fill="hold"/>
                                        <p:tgtEl>
                                          <p:spTgt spid="35"/>
                                        </p:tgtEl>
                                        <p:attrNameLst>
                                          <p:attrName>ppt_y</p:attrName>
                                        </p:attrNameLst>
                                      </p:cBhvr>
                                      <p:tavLst>
                                        <p:tav tm="0">
                                          <p:val>
                                            <p:strVal val="#ppt_y+0.1"/>
                                          </p:val>
                                        </p:tav>
                                        <p:tav tm="100000">
                                          <p:val>
                                            <p:strVal val="#ppt_y"/>
                                          </p:val>
                                        </p:tav>
                                      </p:tavLst>
                                    </p:anim>
                                    <p:animEffect transition="in" filter="fade">
                                      <p:cBhvr>
                                        <p:cTn id="132" dur="500"/>
                                        <p:tgtEl>
                                          <p:spTgt spid="35"/>
                                        </p:tgtEl>
                                      </p:cBhvr>
                                    </p:animEffect>
                                  </p:childTnLst>
                                </p:cTn>
                              </p:par>
                              <p:par>
                                <p:cTn id="138" presetID="2" presetClass="entr" presetSubtype="4" fill="hold" grpId="0" nodeType="withEffect">
                                  <p:stCondLst>
                                    <p:cond delay="200"/>
                                  </p:stCondLst>
                                  <p:childTnLst>
                                    <p:set>
                                      <p:cBhvr>
                                        <p:cTn id="134" dur="1" fill="hold">
                                          <p:stCondLst>
                                            <p:cond delay="0"/>
                                          </p:stCondLst>
                                        </p:cTn>
                                        <p:tgtEl>
                                          <p:spTgt spid="36"/>
                                        </p:tgtEl>
                                        <p:attrNameLst>
                                          <p:attrName>style.visibility</p:attrName>
                                        </p:attrNameLst>
                                      </p:cBhvr>
                                      <p:to>
                                        <p:strVal val="visible"/>
                                      </p:to>
                                    </p:set>
                                    <p:anim calcmode="lin" valueType="num">
                                      <p:cBhvr additive="base">
                                        <p:cTn id="135" dur="500" fill="hold"/>
                                        <p:tgtEl>
                                          <p:spTgt spid="36"/>
                                        </p:tgtEl>
                                        <p:attrNameLst>
                                          <p:attrName>ppt_x</p:attrName>
                                        </p:attrNameLst>
                                      </p:cBhvr>
                                      <p:tavLst>
                                        <p:tav tm="0">
                                          <p:val>
                                            <p:strVal val="#ppt_x"/>
                                          </p:val>
                                        </p:tav>
                                        <p:tav tm="100000">
                                          <p:val>
                                            <p:strVal val="#ppt_x"/>
                                          </p:val>
                                        </p:tav>
                                      </p:tavLst>
                                    </p:anim>
                                    <p:anim calcmode="lin" valueType="num">
                                      <p:cBhvr additive="base">
                                        <p:cTn id="136" dur="500" fill="hold"/>
                                        <p:tgtEl>
                                          <p:spTgt spid="36"/>
                                        </p:tgtEl>
                                        <p:attrNameLst>
                                          <p:attrName>ppt_y</p:attrName>
                                        </p:attrNameLst>
                                      </p:cBhvr>
                                      <p:tavLst>
                                        <p:tav tm="0">
                                          <p:val>
                                            <p:strVal val="#ppt_y+0.1"/>
                                          </p:val>
                                        </p:tav>
                                        <p:tav tm="100000">
                                          <p:val>
                                            <p:strVal val="#ppt_y"/>
                                          </p:val>
                                        </p:tav>
                                      </p:tavLst>
                                    </p:anim>
                                    <p:animEffect transition="in" filter="fade">
                                      <p:cBhvr>
                                        <p:cTn id="137" dur="500"/>
                                        <p:tgtEl>
                                          <p:spTgt spid="36"/>
                                        </p:tgtEl>
                                      </p:cBhvr>
                                    </p:animEffect>
                                  </p:childTnLst>
                                </p:cTn>
                              </p:par>
                              <p:par>
                                <p:cTn id="143" presetID="2" presetClass="entr" presetSubtype="4" fill="hold" grpId="0" nodeType="withEffect">
                                  <p:stCondLst>
                                    <p:cond delay="200"/>
                                  </p:stCondLst>
                                  <p:childTnLst>
                                    <p:set>
                                      <p:cBhvr>
                                        <p:cTn id="139" dur="1" fill="hold">
                                          <p:stCondLst>
                                            <p:cond delay="0"/>
                                          </p:stCondLst>
                                        </p:cTn>
                                        <p:tgtEl>
                                          <p:spTgt spid="37"/>
                                        </p:tgtEl>
                                        <p:attrNameLst>
                                          <p:attrName>style.visibility</p:attrName>
                                        </p:attrNameLst>
                                      </p:cBhvr>
                                      <p:to>
                                        <p:strVal val="visible"/>
                                      </p:to>
                                    </p:set>
                                    <p:anim calcmode="lin" valueType="num">
                                      <p:cBhvr additive="base">
                                        <p:cTn id="140" dur="500" fill="hold"/>
                                        <p:tgtEl>
                                          <p:spTgt spid="37"/>
                                        </p:tgtEl>
                                        <p:attrNameLst>
                                          <p:attrName>ppt_x</p:attrName>
                                        </p:attrNameLst>
                                      </p:cBhvr>
                                      <p:tavLst>
                                        <p:tav tm="0">
                                          <p:val>
                                            <p:strVal val="#ppt_x"/>
                                          </p:val>
                                        </p:tav>
                                        <p:tav tm="100000">
                                          <p:val>
                                            <p:strVal val="#ppt_x"/>
                                          </p:val>
                                        </p:tav>
                                      </p:tavLst>
                                    </p:anim>
                                    <p:anim calcmode="lin" valueType="num">
                                      <p:cBhvr additive="base">
                                        <p:cTn id="141" dur="500" fill="hold"/>
                                        <p:tgtEl>
                                          <p:spTgt spid="37"/>
                                        </p:tgtEl>
                                        <p:attrNameLst>
                                          <p:attrName>ppt_y</p:attrName>
                                        </p:attrNameLst>
                                      </p:cBhvr>
                                      <p:tavLst>
                                        <p:tav tm="0">
                                          <p:val>
                                            <p:strVal val="#ppt_y+0.1"/>
                                          </p:val>
                                        </p:tav>
                                        <p:tav tm="100000">
                                          <p:val>
                                            <p:strVal val="#ppt_y"/>
                                          </p:val>
                                        </p:tav>
                                      </p:tavLst>
                                    </p:anim>
                                    <p:animEffect transition="in" filter="fade">
                                      <p:cBhvr>
                                        <p:cTn id="142" dur="500"/>
                                        <p:tgtEl>
                                          <p:spTgt spid="37"/>
                                        </p:tgtEl>
                                      </p:cBhvr>
                                    </p:animEffect>
                                  </p:childTnLst>
                                </p:cTn>
                              </p:par>
                              <p:par>
                                <p:cTn id="148" presetID="2" presetClass="entr" presetSubtype="4" fill="hold" grpId="0" nodeType="withEffect">
                                  <p:stCondLst>
                                    <p:cond delay="300"/>
                                  </p:stCondLst>
                                  <p:childTnLst>
                                    <p:set>
                                      <p:cBhvr>
                                        <p:cTn id="144" dur="1" fill="hold">
                                          <p:stCondLst>
                                            <p:cond delay="0"/>
                                          </p:stCondLst>
                                        </p:cTn>
                                        <p:tgtEl>
                                          <p:spTgt spid="38"/>
                                        </p:tgtEl>
                                        <p:attrNameLst>
                                          <p:attrName>style.visibility</p:attrName>
                                        </p:attrNameLst>
                                      </p:cBhvr>
                                      <p:to>
                                        <p:strVal val="visible"/>
                                      </p:to>
                                    </p:set>
                                    <p:anim calcmode="lin" valueType="num">
                                      <p:cBhvr additive="base">
                                        <p:cTn id="145" dur="500" fill="hold"/>
                                        <p:tgtEl>
                                          <p:spTgt spid="38"/>
                                        </p:tgtEl>
                                        <p:attrNameLst>
                                          <p:attrName>ppt_x</p:attrName>
                                        </p:attrNameLst>
                                      </p:cBhvr>
                                      <p:tavLst>
                                        <p:tav tm="0">
                                          <p:val>
                                            <p:strVal val="#ppt_x"/>
                                          </p:val>
                                        </p:tav>
                                        <p:tav tm="100000">
                                          <p:val>
                                            <p:strVal val="#ppt_x"/>
                                          </p:val>
                                        </p:tav>
                                      </p:tavLst>
                                    </p:anim>
                                    <p:anim calcmode="lin" valueType="num">
                                      <p:cBhvr additive="base">
                                        <p:cTn id="146" dur="500" fill="hold"/>
                                        <p:tgtEl>
                                          <p:spTgt spid="38"/>
                                        </p:tgtEl>
                                        <p:attrNameLst>
                                          <p:attrName>ppt_y</p:attrName>
                                        </p:attrNameLst>
                                      </p:cBhvr>
                                      <p:tavLst>
                                        <p:tav tm="0">
                                          <p:val>
                                            <p:strVal val="#ppt_y+0.1"/>
                                          </p:val>
                                        </p:tav>
                                        <p:tav tm="100000">
                                          <p:val>
                                            <p:strVal val="#ppt_y"/>
                                          </p:val>
                                        </p:tav>
                                      </p:tavLst>
                                    </p:anim>
                                    <p:animEffect transition="in" filter="fade">
                                      <p:cBhvr>
                                        <p:cTn id="147" dur="500"/>
                                        <p:tgtEl>
                                          <p:spTgt spid="38"/>
                                        </p:tgtEl>
                                      </p:cBhvr>
                                    </p:animEffect>
                                  </p:childTnLst>
                                </p:cTn>
                              </p:par>
                              <p:par>
                                <p:cTn id="153" presetID="2" presetClass="entr" presetSubtype="4" fill="hold" grpId="0" nodeType="withEffect">
                                  <p:stCondLst>
                                    <p:cond delay="300"/>
                                  </p:stCondLst>
                                  <p:childTnLst>
                                    <p:set>
                                      <p:cBhvr>
                                        <p:cTn id="149" dur="1" fill="hold">
                                          <p:stCondLst>
                                            <p:cond delay="0"/>
                                          </p:stCondLst>
                                        </p:cTn>
                                        <p:tgtEl>
                                          <p:spTgt spid="39"/>
                                        </p:tgtEl>
                                        <p:attrNameLst>
                                          <p:attrName>style.visibility</p:attrName>
                                        </p:attrNameLst>
                                      </p:cBhvr>
                                      <p:to>
                                        <p:strVal val="visible"/>
                                      </p:to>
                                    </p:set>
                                    <p:anim calcmode="lin" valueType="num">
                                      <p:cBhvr additive="base">
                                        <p:cTn id="150" dur="500" fill="hold"/>
                                        <p:tgtEl>
                                          <p:spTgt spid="39"/>
                                        </p:tgtEl>
                                        <p:attrNameLst>
                                          <p:attrName>ppt_x</p:attrName>
                                        </p:attrNameLst>
                                      </p:cBhvr>
                                      <p:tavLst>
                                        <p:tav tm="0">
                                          <p:val>
                                            <p:strVal val="#ppt_x"/>
                                          </p:val>
                                        </p:tav>
                                        <p:tav tm="100000">
                                          <p:val>
                                            <p:strVal val="#ppt_x"/>
                                          </p:val>
                                        </p:tav>
                                      </p:tavLst>
                                    </p:anim>
                                    <p:anim calcmode="lin" valueType="num">
                                      <p:cBhvr additive="base">
                                        <p:cTn id="151" dur="500" fill="hold"/>
                                        <p:tgtEl>
                                          <p:spTgt spid="39"/>
                                        </p:tgtEl>
                                        <p:attrNameLst>
                                          <p:attrName>ppt_y</p:attrName>
                                        </p:attrNameLst>
                                      </p:cBhvr>
                                      <p:tavLst>
                                        <p:tav tm="0">
                                          <p:val>
                                            <p:strVal val="#ppt_y+0.1"/>
                                          </p:val>
                                        </p:tav>
                                        <p:tav tm="100000">
                                          <p:val>
                                            <p:strVal val="#ppt_y"/>
                                          </p:val>
                                        </p:tav>
                                      </p:tavLst>
                                    </p:anim>
                                    <p:animEffect transition="in" filter="fade">
                                      <p:cBhvr>
                                        <p:cTn id="152" dur="500"/>
                                        <p:tgtEl>
                                          <p:spTgt spid="39"/>
                                        </p:tgtEl>
                                      </p:cBhvr>
                                    </p:animEffect>
                                  </p:childTnLst>
                                </p:cTn>
                              </p:par>
                            </p:childTnLst>
                          </p:cTn>
                        </p:par>
                      </p:childTnLst>
                    </p:cTn>
                  </p:par>
                  <p:par>
                    <p:cTn id="154" fill="hold">
                      <p:stCondLst>
                        <p:cond delay="indefinite"/>
                      </p:stCondLst>
                      <p:childTnLst>
                        <p:par>
                          <p:cTn id="155" fill="hold">
                            <p:stCondLst>
                              <p:cond delay="0"/>
                            </p:stCondLst>
                            <p:childTnLst>
                              <p:par>
                                <p:cTn id="160" presetID="2" presetClass="entr" presetSubtype="4" fill="hold" grpId="0" nodeType="clickEffect">
                                  <p:stCondLst>
                                    <p:cond delay="0"/>
                                  </p:stCondLst>
                                  <p:childTnLst>
                                    <p:set>
                                      <p:cBhvr>
                                        <p:cTn id="156" dur="1" fill="hold">
                                          <p:stCondLst>
                                            <p:cond delay="0"/>
                                          </p:stCondLst>
                                        </p:cTn>
                                        <p:tgtEl>
                                          <p:spTgt spid="40"/>
                                        </p:tgtEl>
                                        <p:attrNameLst>
                                          <p:attrName>style.visibility</p:attrName>
                                        </p:attrNameLst>
                                      </p:cBhvr>
                                      <p:to>
                                        <p:strVal val="visible"/>
                                      </p:to>
                                    </p:set>
                                    <p:anim calcmode="lin" valueType="num">
                                      <p:cBhvr additive="base">
                                        <p:cTn id="157" dur="500" fill="hold"/>
                                        <p:tgtEl>
                                          <p:spTgt spid="40"/>
                                        </p:tgtEl>
                                        <p:attrNameLst>
                                          <p:attrName>ppt_x</p:attrName>
                                        </p:attrNameLst>
                                      </p:cBhvr>
                                      <p:tavLst>
                                        <p:tav tm="0">
                                          <p:val>
                                            <p:strVal val="#ppt_x"/>
                                          </p:val>
                                        </p:tav>
                                        <p:tav tm="100000">
                                          <p:val>
                                            <p:strVal val="#ppt_x"/>
                                          </p:val>
                                        </p:tav>
                                      </p:tavLst>
                                    </p:anim>
                                    <p:anim calcmode="lin" valueType="num">
                                      <p:cBhvr additive="base">
                                        <p:cTn id="158" dur="500" fill="hold"/>
                                        <p:tgtEl>
                                          <p:spTgt spid="40"/>
                                        </p:tgtEl>
                                        <p:attrNameLst>
                                          <p:attrName>ppt_y</p:attrName>
                                        </p:attrNameLst>
                                      </p:cBhvr>
                                      <p:tavLst>
                                        <p:tav tm="0">
                                          <p:val>
                                            <p:strVal val="#ppt_y+0.1"/>
                                          </p:val>
                                        </p:tav>
                                        <p:tav tm="100000">
                                          <p:val>
                                            <p:strVal val="#ppt_y"/>
                                          </p:val>
                                        </p:tav>
                                      </p:tavLst>
                                    </p:anim>
                                    <p:animEffect transition="in" filter="fade">
                                      <p:cBhvr>
                                        <p:cTn id="159" dur="500"/>
                                        <p:tgtEl>
                                          <p:spTgt spid="40"/>
                                        </p:tgtEl>
                                      </p:cBhvr>
                                    </p:animEffect>
                                  </p:childTnLst>
                                </p:cTn>
                              </p:par>
                              <p:par>
                                <p:cTn id="165" presetID="2" presetClass="entr" presetSubtype="4" fill="hold" grpId="0" nodeType="withEffect">
                                  <p:stCondLst>
                                    <p:cond delay="0"/>
                                  </p:stCondLst>
                                  <p:childTnLst>
                                    <p:set>
                                      <p:cBhvr>
                                        <p:cTn id="161" dur="1" fill="hold">
                                          <p:stCondLst>
                                            <p:cond delay="0"/>
                                          </p:stCondLst>
                                        </p:cTn>
                                        <p:tgtEl>
                                          <p:spTgt spid="41"/>
                                        </p:tgtEl>
                                        <p:attrNameLst>
                                          <p:attrName>style.visibility</p:attrName>
                                        </p:attrNameLst>
                                      </p:cBhvr>
                                      <p:to>
                                        <p:strVal val="visible"/>
                                      </p:to>
                                    </p:set>
                                    <p:anim calcmode="lin" valueType="num">
                                      <p:cBhvr additive="base">
                                        <p:cTn id="162" dur="500" fill="hold"/>
                                        <p:tgtEl>
                                          <p:spTgt spid="41"/>
                                        </p:tgtEl>
                                        <p:attrNameLst>
                                          <p:attrName>ppt_x</p:attrName>
                                        </p:attrNameLst>
                                      </p:cBhvr>
                                      <p:tavLst>
                                        <p:tav tm="0">
                                          <p:val>
                                            <p:strVal val="#ppt_x"/>
                                          </p:val>
                                        </p:tav>
                                        <p:tav tm="100000">
                                          <p:val>
                                            <p:strVal val="#ppt_x"/>
                                          </p:val>
                                        </p:tav>
                                      </p:tavLst>
                                    </p:anim>
                                    <p:anim calcmode="lin" valueType="num">
                                      <p:cBhvr additive="base">
                                        <p:cTn id="163" dur="500" fill="hold"/>
                                        <p:tgtEl>
                                          <p:spTgt spid="41"/>
                                        </p:tgtEl>
                                        <p:attrNameLst>
                                          <p:attrName>ppt_y</p:attrName>
                                        </p:attrNameLst>
                                      </p:cBhvr>
                                      <p:tavLst>
                                        <p:tav tm="0">
                                          <p:val>
                                            <p:strVal val="#ppt_y+0.1"/>
                                          </p:val>
                                        </p:tav>
                                        <p:tav tm="100000">
                                          <p:val>
                                            <p:strVal val="#ppt_y"/>
                                          </p:val>
                                        </p:tav>
                                      </p:tavLst>
                                    </p:anim>
                                    <p:animEffect transition="in" filter="fade">
                                      <p:cBhvr>
                                        <p:cTn id="164" dur="500"/>
                                        <p:tgtEl>
                                          <p:spTgt spid="41"/>
                                        </p:tgtEl>
                                      </p:cBhvr>
                                    </p:animEffect>
                                  </p:childTnLst>
                                </p:cTn>
                              </p:par>
                              <p:par>
                                <p:cTn id="170" presetID="2" presetClass="entr" presetSubtype="4" fill="hold" grpId="0" nodeType="withEffect">
                                  <p:stCondLst>
                                    <p:cond delay="0"/>
                                  </p:stCondLst>
                                  <p:childTnLst>
                                    <p:set>
                                      <p:cBhvr>
                                        <p:cTn id="166" dur="1" fill="hold">
                                          <p:stCondLst>
                                            <p:cond delay="0"/>
                                          </p:stCondLst>
                                        </p:cTn>
                                        <p:tgtEl>
                                          <p:spTgt spid="42"/>
                                        </p:tgtEl>
                                        <p:attrNameLst>
                                          <p:attrName>style.visibility</p:attrName>
                                        </p:attrNameLst>
                                      </p:cBhvr>
                                      <p:to>
                                        <p:strVal val="visible"/>
                                      </p:to>
                                    </p:set>
                                    <p:anim calcmode="lin" valueType="num">
                                      <p:cBhvr additive="base">
                                        <p:cTn id="167" dur="500" fill="hold"/>
                                        <p:tgtEl>
                                          <p:spTgt spid="42"/>
                                        </p:tgtEl>
                                        <p:attrNameLst>
                                          <p:attrName>ppt_x</p:attrName>
                                        </p:attrNameLst>
                                      </p:cBhvr>
                                      <p:tavLst>
                                        <p:tav tm="0">
                                          <p:val>
                                            <p:strVal val="#ppt_x"/>
                                          </p:val>
                                        </p:tav>
                                        <p:tav tm="100000">
                                          <p:val>
                                            <p:strVal val="#ppt_x"/>
                                          </p:val>
                                        </p:tav>
                                      </p:tavLst>
                                    </p:anim>
                                    <p:anim calcmode="lin" valueType="num">
                                      <p:cBhvr additive="base">
                                        <p:cTn id="168" dur="500" fill="hold"/>
                                        <p:tgtEl>
                                          <p:spTgt spid="42"/>
                                        </p:tgtEl>
                                        <p:attrNameLst>
                                          <p:attrName>ppt_y</p:attrName>
                                        </p:attrNameLst>
                                      </p:cBhvr>
                                      <p:tavLst>
                                        <p:tav tm="0">
                                          <p:val>
                                            <p:strVal val="#ppt_y+0.1"/>
                                          </p:val>
                                        </p:tav>
                                        <p:tav tm="100000">
                                          <p:val>
                                            <p:strVal val="#ppt_y"/>
                                          </p:val>
                                        </p:tav>
                                      </p:tavLst>
                                    </p:anim>
                                    <p:animEffect transition="in" filter="fade">
                                      <p:cBhvr>
                                        <p:cTn id="169"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The Ecosystem: A Power Law</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A few connectors do most of the world's integration work - and they are battle-tested</a:t>
            </a:r>
          </a:p>
        </p:txBody>
      </p:sp>
      <p:sp>
        <p:nvSpPr>
          <p:cNvPr id="11" name="a1u_bar10"/>
          <p:cNvSpPr/>
          <p:nvPr/>
        </p:nvSpPr>
        <p:spPr>
          <a:xfrm>
            <a:off x="502920" y="1417319"/>
            <a:ext cx="219456" cy="20574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d40_bar11"/>
          <p:cNvSpPr/>
          <p:nvPr/>
        </p:nvSpPr>
        <p:spPr>
          <a:xfrm>
            <a:off x="777240" y="2333305"/>
            <a:ext cx="219456" cy="114141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d80_bar12"/>
          <p:cNvSpPr/>
          <p:nvPr/>
        </p:nvSpPr>
        <p:spPr>
          <a:xfrm>
            <a:off x="1051560" y="2666060"/>
            <a:ext cx="219456" cy="808659"/>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ud120_bar13"/>
          <p:cNvSpPr/>
          <p:nvPr/>
        </p:nvSpPr>
        <p:spPr>
          <a:xfrm>
            <a:off x="1325880" y="2841480"/>
            <a:ext cx="219456" cy="633239"/>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ud160_bar14"/>
          <p:cNvSpPr/>
          <p:nvPr/>
        </p:nvSpPr>
        <p:spPr>
          <a:xfrm>
            <a:off x="1600200" y="2950885"/>
            <a:ext cx="219456" cy="52383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1ud200_bar15"/>
          <p:cNvSpPr/>
          <p:nvPr/>
        </p:nvSpPr>
        <p:spPr>
          <a:xfrm>
            <a:off x="1874519" y="3026088"/>
            <a:ext cx="219456" cy="448631"/>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240_bar16"/>
          <p:cNvSpPr/>
          <p:nvPr/>
        </p:nvSpPr>
        <p:spPr>
          <a:xfrm>
            <a:off x="2148839" y="3081183"/>
            <a:ext cx="219456" cy="393536"/>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1ud280_bar17"/>
          <p:cNvSpPr/>
          <p:nvPr/>
        </p:nvSpPr>
        <p:spPr>
          <a:xfrm>
            <a:off x="2423160" y="3123408"/>
            <a:ext cx="219456" cy="351311"/>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ud320_bar18"/>
          <p:cNvSpPr/>
          <p:nvPr/>
        </p:nvSpPr>
        <p:spPr>
          <a:xfrm>
            <a:off x="2697480" y="3156877"/>
            <a:ext cx="219456" cy="317842"/>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ud360_bar19"/>
          <p:cNvSpPr/>
          <p:nvPr/>
        </p:nvSpPr>
        <p:spPr>
          <a:xfrm>
            <a:off x="2971800" y="3184104"/>
            <a:ext cx="219456" cy="290615"/>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ud400_bar20"/>
          <p:cNvSpPr/>
          <p:nvPr/>
        </p:nvSpPr>
        <p:spPr>
          <a:xfrm>
            <a:off x="3246120" y="3206719"/>
            <a:ext cx="219456" cy="26800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1ud440_bar21"/>
          <p:cNvSpPr/>
          <p:nvPr/>
        </p:nvSpPr>
        <p:spPr>
          <a:xfrm>
            <a:off x="3520439" y="3225825"/>
            <a:ext cx="219456" cy="248894"/>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ud480_bar22"/>
          <p:cNvSpPr/>
          <p:nvPr/>
        </p:nvSpPr>
        <p:spPr>
          <a:xfrm>
            <a:off x="3794759" y="3242196"/>
            <a:ext cx="219456" cy="232523"/>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1ud520_bar23"/>
          <p:cNvSpPr/>
          <p:nvPr/>
        </p:nvSpPr>
        <p:spPr>
          <a:xfrm>
            <a:off x="4069080" y="3256391"/>
            <a:ext cx="219456" cy="218328"/>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1ud560_bar24"/>
          <p:cNvSpPr/>
          <p:nvPr/>
        </p:nvSpPr>
        <p:spPr>
          <a:xfrm>
            <a:off x="4343400" y="3268827"/>
            <a:ext cx="219456" cy="205892"/>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1ud600_bar25"/>
          <p:cNvSpPr/>
          <p:nvPr/>
        </p:nvSpPr>
        <p:spPr>
          <a:xfrm>
            <a:off x="4617720" y="3279817"/>
            <a:ext cx="219456" cy="194902"/>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7" name="a1u_ax26"/>
          <p:cNvCxnSpPr/>
          <p:nvPr/>
        </p:nvCxnSpPr>
        <p:spPr>
          <a:xfrm>
            <a:off x="457200" y="3474720"/>
            <a:ext cx="4480560" cy="0"/>
          </a:xfrm>
          <a:prstGeom prst="line">
            <a:avLst/>
          </a:prstGeom>
          <a:ln w="12700">
            <a:solidFill>
              <a:srgbClr val="A8A29E"/>
            </a:solidFill>
          </a:ln>
        </p:spPr>
        <p:style>
          <a:lnRef idx="2">
            <a:schemeClr val="accent1"/>
          </a:lnRef>
          <a:fillRef idx="0">
            <a:schemeClr val="accent1"/>
          </a:fillRef>
          <a:effectRef idx="1">
            <a:schemeClr val="accent1"/>
          </a:effectRef>
          <a:fontRef idx="minor">
            <a:schemeClr val="tx1"/>
          </a:fontRef>
        </p:style>
      </p:cxnSp>
      <p:sp>
        <p:nvSpPr>
          <p:cNvPr id="28" name="a2u_lb27"/>
          <p:cNvSpPr txBox="1"/>
          <p:nvPr/>
        </p:nvSpPr>
        <p:spPr>
          <a:xfrm>
            <a:off x="822960" y="1325880"/>
            <a:ext cx="4023360" cy="201168"/>
          </a:xfrm>
          <a:prstGeom prst="rect">
            <a:avLst/>
          </a:prstGeom>
          <a:noFill/>
        </p:spPr>
        <p:txBody>
          <a:bodyPr wrap="square" lIns="0" tIns="0" rIns="0" bIns="0" anchor="ctr">
            <a:spAutoFit/>
          </a:bodyPr>
          <a:lstStyle/>
          <a:p>
            <a:pPr algn="l"/>
            <a:r>
              <a:rPr sz="850" b="1">
                <a:solidFill>
                  <a:srgbClr val="C2410C"/>
                </a:solidFill>
                <a:latin typeface="Segoe UI"/>
              </a:rPr>
              <a:t>the head: JDBC, Debezium, S3, Elasticsearch ...</a:t>
            </a:r>
          </a:p>
        </p:txBody>
      </p:sp>
      <p:sp>
        <p:nvSpPr>
          <p:cNvPr id="29" name="a2ud200_lb28"/>
          <p:cNvSpPr txBox="1"/>
          <p:nvPr/>
        </p:nvSpPr>
        <p:spPr>
          <a:xfrm>
            <a:off x="2468880" y="2788920"/>
            <a:ext cx="2468880" cy="201168"/>
          </a:xfrm>
          <a:prstGeom prst="rect">
            <a:avLst/>
          </a:prstGeom>
          <a:noFill/>
        </p:spPr>
        <p:txBody>
          <a:bodyPr wrap="square" lIns="0" tIns="0" rIns="0" bIns="0" anchor="ctr">
            <a:spAutoFit/>
          </a:bodyPr>
          <a:lstStyle/>
          <a:p>
            <a:pPr algn="l"/>
            <a:r>
              <a:rPr sz="850" b="1">
                <a:solidFill>
                  <a:srgbClr val="78716C"/>
                </a:solidFill>
                <a:latin typeface="Segoe UI"/>
              </a:rPr>
              <a:t>the long tail: thousands more</a:t>
            </a:r>
          </a:p>
        </p:txBody>
      </p:sp>
      <p:sp>
        <p:nvSpPr>
          <p:cNvPr id="30" name="a3u_card29"/>
          <p:cNvSpPr/>
          <p:nvPr/>
        </p:nvSpPr>
        <p:spPr>
          <a:xfrm>
            <a:off x="5257800" y="1280160"/>
            <a:ext cx="3429000" cy="1051560"/>
          </a:xfrm>
          <a:prstGeom prst="roundRect">
            <a:avLst>
              <a:gd name="adj" fmla="val 1043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3u_acc30"/>
          <p:cNvSpPr/>
          <p:nvPr/>
        </p:nvSpPr>
        <p:spPr>
          <a:xfrm>
            <a:off x="5257800" y="1280160"/>
            <a:ext cx="3429000"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3u_tt31"/>
          <p:cNvSpPr txBox="1"/>
          <p:nvPr/>
        </p:nvSpPr>
        <p:spPr>
          <a:xfrm>
            <a:off x="5404104" y="1389888"/>
            <a:ext cx="3154680" cy="256032"/>
          </a:xfrm>
          <a:prstGeom prst="rect">
            <a:avLst/>
          </a:prstGeom>
          <a:noFill/>
        </p:spPr>
        <p:txBody>
          <a:bodyPr wrap="square" lIns="0" tIns="0" rIns="0" bIns="0" anchor="ctr">
            <a:spAutoFit/>
          </a:bodyPr>
          <a:lstStyle/>
          <a:p>
            <a:pPr algn="l"/>
            <a:r>
              <a:rPr sz="1100" b="1">
                <a:solidFill>
                  <a:srgbClr val="1C1917"/>
                </a:solidFill>
                <a:latin typeface="Segoe UI"/>
              </a:rPr>
              <a:t>~5-10% of connectors</a:t>
            </a:r>
          </a:p>
        </p:txBody>
      </p:sp>
      <p:sp>
        <p:nvSpPr>
          <p:cNvPr id="33" name="a3ud60_tb32"/>
          <p:cNvSpPr txBox="1"/>
          <p:nvPr/>
        </p:nvSpPr>
        <p:spPr>
          <a:xfrm>
            <a:off x="5404104" y="1682495"/>
            <a:ext cx="3154680" cy="594359"/>
          </a:xfrm>
          <a:prstGeom prst="rect">
            <a:avLst/>
          </a:prstGeom>
          <a:noFill/>
        </p:spPr>
        <p:txBody>
          <a:bodyPr wrap="square" lIns="0" tIns="0" rIns="0" bIns="0" anchor="t">
            <a:spAutoFit/>
          </a:bodyPr>
          <a:lstStyle/>
          <a:p>
            <a:pPr algn="l"/>
            <a:r>
              <a:rPr sz="900" b="0">
                <a:solidFill>
                  <a:srgbClr val="44403C"/>
                </a:solidFill>
                <a:latin typeface="Segoe UI"/>
              </a:rPr>
              <a:t>account for ~90% of the actual integration work</a:t>
            </a:r>
          </a:p>
        </p:txBody>
      </p:sp>
      <p:sp>
        <p:nvSpPr>
          <p:cNvPr id="34" name="a4u_card33"/>
          <p:cNvSpPr/>
          <p:nvPr/>
        </p:nvSpPr>
        <p:spPr>
          <a:xfrm>
            <a:off x="5257800" y="2514600"/>
            <a:ext cx="3429000" cy="1051560"/>
          </a:xfrm>
          <a:prstGeom prst="roundRect">
            <a:avLst>
              <a:gd name="adj" fmla="val 1043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4u_acc34"/>
          <p:cNvSpPr/>
          <p:nvPr/>
        </p:nvSpPr>
        <p:spPr>
          <a:xfrm>
            <a:off x="5257800" y="2514600"/>
            <a:ext cx="3429000" cy="4572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4u_tt35"/>
          <p:cNvSpPr txBox="1"/>
          <p:nvPr/>
        </p:nvSpPr>
        <p:spPr>
          <a:xfrm>
            <a:off x="5404104" y="2624328"/>
            <a:ext cx="3154680" cy="256032"/>
          </a:xfrm>
          <a:prstGeom prst="rect">
            <a:avLst/>
          </a:prstGeom>
          <a:noFill/>
        </p:spPr>
        <p:txBody>
          <a:bodyPr wrap="square" lIns="0" tIns="0" rIns="0" bIns="0" anchor="ctr">
            <a:spAutoFit/>
          </a:bodyPr>
          <a:lstStyle/>
          <a:p>
            <a:pPr algn="l"/>
            <a:r>
              <a:rPr sz="1100" b="1">
                <a:solidFill>
                  <a:srgbClr val="1C1917"/>
                </a:solidFill>
                <a:latin typeface="Segoe UI"/>
              </a:rPr>
              <a:t>Battle-tested</a:t>
            </a:r>
          </a:p>
        </p:txBody>
      </p:sp>
      <p:sp>
        <p:nvSpPr>
          <p:cNvPr id="37" name="a4ud60_tb36"/>
          <p:cNvSpPr txBox="1"/>
          <p:nvPr/>
        </p:nvSpPr>
        <p:spPr>
          <a:xfrm>
            <a:off x="5404104" y="2916936"/>
            <a:ext cx="3154680" cy="594359"/>
          </a:xfrm>
          <a:prstGeom prst="rect">
            <a:avLst/>
          </a:prstGeom>
          <a:noFill/>
        </p:spPr>
        <p:txBody>
          <a:bodyPr wrap="square" lIns="0" tIns="0" rIns="0" bIns="0" anchor="t">
            <a:spAutoFit/>
          </a:bodyPr>
          <a:lstStyle/>
          <a:p>
            <a:pPr algn="l"/>
            <a:r>
              <a:rPr sz="900" b="0">
                <a:solidFill>
                  <a:srgbClr val="44403C"/>
                </a:solidFill>
                <a:latin typeface="Segoe UI"/>
              </a:rPr>
              <a:t>deployed by many teams, for years - the bugs you'd hit are fixed</a:t>
            </a:r>
          </a:p>
        </p:txBody>
      </p:sp>
      <p:sp>
        <p:nvSpPr>
          <p:cNvPr id="38" name="a5u_nb37"/>
          <p:cNvSpPr/>
          <p:nvPr/>
        </p:nvSpPr>
        <p:spPr>
          <a:xfrm>
            <a:off x="457200" y="3886200"/>
            <a:ext cx="8229600" cy="566928"/>
          </a:xfrm>
          <a:prstGeom prst="roundRect">
            <a:avLst>
              <a:gd name="adj" fmla="val 12903"/>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5u_nacc38"/>
          <p:cNvSpPr/>
          <p:nvPr/>
        </p:nvSpPr>
        <p:spPr>
          <a:xfrm>
            <a:off x="457200" y="3886200"/>
            <a:ext cx="54864"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5u_nt39"/>
          <p:cNvSpPr txBox="1"/>
          <p:nvPr/>
        </p:nvSpPr>
        <p:spPr>
          <a:xfrm>
            <a:off x="658368" y="3886200"/>
            <a:ext cx="7827264" cy="566928"/>
          </a:xfrm>
          <a:prstGeom prst="rect">
            <a:avLst/>
          </a:prstGeom>
          <a:noFill/>
        </p:spPr>
        <p:txBody>
          <a:bodyPr wrap="square" lIns="0" tIns="0" rIns="0" bIns="0" anchor="ctr">
            <a:spAutoFit/>
          </a:bodyPr>
          <a:lstStyle/>
          <a:p>
            <a:pPr algn="l"/>
            <a:r>
              <a:rPr sz="950" b="1">
                <a:solidFill>
                  <a:srgbClr val="C2410C"/>
                </a:solidFill>
                <a:latin typeface="Segoe UI"/>
              </a:rPr>
              <a:t>KEY  </a:t>
            </a:r>
            <a:r>
              <a:rPr sz="950" b="0">
                <a:solidFill>
                  <a:srgbClr val="44403C"/>
                </a:solidFill>
                <a:latin typeface="Segoe UI"/>
              </a:rPr>
              <a:t>Whatever you connect to is probably standard - and that connector already exists.</a:t>
            </a:r>
          </a:p>
        </p:txBody>
      </p:sp>
      <p:sp>
        <p:nvSpPr>
          <p:cNvPr id="41" name="ft40"/>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11</a:t>
            </a:r>
          </a:p>
        </p:txBody>
      </p:sp>
      <p:sp>
        <p:nvSpPr>
          <p:cNvPr id="42" name="ft41"/>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ft42"/>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Kafka Connect</a:t>
            </a:r>
          </a:p>
        </p:txBody>
      </p:sp>
      <p:sp>
        <p:nvSpPr>
          <p:cNvPr id="44" name="ft43"/>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9</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anim calcmode="lin" valueType="num">
                                      <p:cBhvr additive="base">
                                        <p:cTn id="11" dur="500" fill="hold"/>
                                        <p:tgtEl>
                                          <p:spTgt spid="27"/>
                                        </p:tgtEl>
                                        <p:attrNameLst>
                                          <p:attrName>ppt_x</p:attrName>
                                        </p:attrNameLst>
                                      </p:cBhvr>
                                      <p:tavLst>
                                        <p:tav tm="0">
                                          <p:val>
                                            <p:strVal val="#ppt_x"/>
                                          </p:val>
                                        </p:tav>
                                        <p:tav tm="100000">
                                          <p:val>
                                            <p:strVal val="#ppt_x"/>
                                          </p:val>
                                        </p:tav>
                                      </p:tavLst>
                                    </p:anim>
                                    <p:anim calcmode="lin" valueType="num">
                                      <p:cBhvr additive="base">
                                        <p:cTn id="12" dur="500" fill="hold"/>
                                        <p:tgtEl>
                                          <p:spTgt spid="27"/>
                                        </p:tgtEl>
                                        <p:attrNameLst>
                                          <p:attrName>ppt_y</p:attrName>
                                        </p:attrNameLst>
                                      </p:cBhvr>
                                      <p:tavLst>
                                        <p:tav tm="0">
                                          <p:val>
                                            <p:strVal val="#ppt_y+0.1"/>
                                          </p:val>
                                        </p:tav>
                                        <p:tav tm="100000">
                                          <p:val>
                                            <p:strVal val="#ppt_y"/>
                                          </p:val>
                                        </p:tav>
                                      </p:tavLst>
                                    </p:anim>
                                    <p:animEffect transition="in" filter="fade">
                                      <p:cBhvr>
                                        <p:cTn id="13" dur="500"/>
                                        <p:tgtEl>
                                          <p:spTgt spid="27"/>
                                        </p:tgtEl>
                                      </p:cBhvr>
                                    </p:animEffect>
                                  </p:childTnLst>
                                </p:cTn>
                              </p:par>
                              <p:par>
                                <p:cTn id="19" presetID="2" presetClass="entr" presetSubtype="4" fill="hold" grpId="0" nodeType="withEffect">
                                  <p:stCondLst>
                                    <p:cond delay="4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fill="hold"/>
                                        <p:tgtEl>
                                          <p:spTgt spid="12"/>
                                        </p:tgtEl>
                                        <p:attrNameLst>
                                          <p:attrName>ppt_x</p:attrName>
                                        </p:attrNameLst>
                                      </p:cBhvr>
                                      <p:tavLst>
                                        <p:tav tm="0">
                                          <p:val>
                                            <p:strVal val="#ppt_x"/>
                                          </p:val>
                                        </p:tav>
                                        <p:tav tm="100000">
                                          <p:val>
                                            <p:strVal val="#ppt_x"/>
                                          </p:val>
                                        </p:tav>
                                      </p:tavLst>
                                    </p:anim>
                                    <p:anim calcmode="lin" valueType="num">
                                      <p:cBhvr additive="base">
                                        <p:cTn id="17" dur="500" fill="hold"/>
                                        <p:tgtEl>
                                          <p:spTgt spid="12"/>
                                        </p:tgtEl>
                                        <p:attrNameLst>
                                          <p:attrName>ppt_y</p:attrName>
                                        </p:attrNameLst>
                                      </p:cBhvr>
                                      <p:tavLst>
                                        <p:tav tm="0">
                                          <p:val>
                                            <p:strVal val="#ppt_y+0.1"/>
                                          </p:val>
                                        </p:tav>
                                        <p:tav tm="100000">
                                          <p:val>
                                            <p:strVal val="#ppt_y"/>
                                          </p:val>
                                        </p:tav>
                                      </p:tavLst>
                                    </p:anim>
                                    <p:animEffect transition="in" filter="fade">
                                      <p:cBhvr>
                                        <p:cTn id="18" dur="500"/>
                                        <p:tgtEl>
                                          <p:spTgt spid="12"/>
                                        </p:tgtEl>
                                      </p:cBhvr>
                                    </p:animEffect>
                                  </p:childTnLst>
                                </p:cTn>
                              </p:par>
                              <p:par>
                                <p:cTn id="24" presetID="2" presetClass="entr" presetSubtype="4" fill="hold" grpId="0" nodeType="withEffect">
                                  <p:stCondLst>
                                    <p:cond delay="80"/>
                                  </p:stCondLst>
                                  <p:childTnLst>
                                    <p:set>
                                      <p:cBhvr>
                                        <p:cTn id="20" dur="1" fill="hold">
                                          <p:stCondLst>
                                            <p:cond delay="0"/>
                                          </p:stCondLst>
                                        </p:cTn>
                                        <p:tgtEl>
                                          <p:spTgt spid="13"/>
                                        </p:tgtEl>
                                        <p:attrNameLst>
                                          <p:attrName>style.visibility</p:attrName>
                                        </p:attrNameLst>
                                      </p:cBhvr>
                                      <p:to>
                                        <p:strVal val="visible"/>
                                      </p:to>
                                    </p:set>
                                    <p:anim calcmode="lin" valueType="num">
                                      <p:cBhvr additive="base">
                                        <p:cTn id="21" dur="500" fill="hold"/>
                                        <p:tgtEl>
                                          <p:spTgt spid="13"/>
                                        </p:tgtEl>
                                        <p:attrNameLst>
                                          <p:attrName>ppt_x</p:attrName>
                                        </p:attrNameLst>
                                      </p:cBhvr>
                                      <p:tavLst>
                                        <p:tav tm="0">
                                          <p:val>
                                            <p:strVal val="#ppt_x"/>
                                          </p:val>
                                        </p:tav>
                                        <p:tav tm="100000">
                                          <p:val>
                                            <p:strVal val="#ppt_x"/>
                                          </p:val>
                                        </p:tav>
                                      </p:tavLst>
                                    </p:anim>
                                    <p:anim calcmode="lin" valueType="num">
                                      <p:cBhvr additive="base">
                                        <p:cTn id="22" dur="500" fill="hold"/>
                                        <p:tgtEl>
                                          <p:spTgt spid="13"/>
                                        </p:tgtEl>
                                        <p:attrNameLst>
                                          <p:attrName>ppt_y</p:attrName>
                                        </p:attrNameLst>
                                      </p:cBhvr>
                                      <p:tavLst>
                                        <p:tav tm="0">
                                          <p:val>
                                            <p:strVal val="#ppt_y+0.1"/>
                                          </p:val>
                                        </p:tav>
                                        <p:tav tm="100000">
                                          <p:val>
                                            <p:strVal val="#ppt_y"/>
                                          </p:val>
                                        </p:tav>
                                      </p:tavLst>
                                    </p:anim>
                                    <p:animEffect transition="in" filter="fade">
                                      <p:cBhvr>
                                        <p:cTn id="23" dur="500"/>
                                        <p:tgtEl>
                                          <p:spTgt spid="13"/>
                                        </p:tgtEl>
                                      </p:cBhvr>
                                    </p:animEffect>
                                  </p:childTnLst>
                                </p:cTn>
                              </p:par>
                              <p:par>
                                <p:cTn id="29" presetID="2" presetClass="entr" presetSubtype="4" fill="hold" grpId="0" nodeType="withEffect">
                                  <p:stCondLst>
                                    <p:cond delay="120"/>
                                  </p:stCondLst>
                                  <p:childTnLst>
                                    <p:set>
                                      <p:cBhvr>
                                        <p:cTn id="25" dur="1" fill="hold">
                                          <p:stCondLst>
                                            <p:cond delay="0"/>
                                          </p:stCondLst>
                                        </p:cTn>
                                        <p:tgtEl>
                                          <p:spTgt spid="14"/>
                                        </p:tgtEl>
                                        <p:attrNameLst>
                                          <p:attrName>style.visibility</p:attrName>
                                        </p:attrNameLst>
                                      </p:cBhvr>
                                      <p:to>
                                        <p:strVal val="visible"/>
                                      </p:to>
                                    </p:set>
                                    <p:anim calcmode="lin" valueType="num">
                                      <p:cBhvr additive="base">
                                        <p:cTn id="26" dur="500" fill="hold"/>
                                        <p:tgtEl>
                                          <p:spTgt spid="14"/>
                                        </p:tgtEl>
                                        <p:attrNameLst>
                                          <p:attrName>ppt_x</p:attrName>
                                        </p:attrNameLst>
                                      </p:cBhvr>
                                      <p:tavLst>
                                        <p:tav tm="0">
                                          <p:val>
                                            <p:strVal val="#ppt_x"/>
                                          </p:val>
                                        </p:tav>
                                        <p:tav tm="100000">
                                          <p:val>
                                            <p:strVal val="#ppt_x"/>
                                          </p:val>
                                        </p:tav>
                                      </p:tavLst>
                                    </p:anim>
                                    <p:anim calcmode="lin" valueType="num">
                                      <p:cBhvr additive="base">
                                        <p:cTn id="27" dur="500" fill="hold"/>
                                        <p:tgtEl>
                                          <p:spTgt spid="14"/>
                                        </p:tgtEl>
                                        <p:attrNameLst>
                                          <p:attrName>ppt_y</p:attrName>
                                        </p:attrNameLst>
                                      </p:cBhvr>
                                      <p:tavLst>
                                        <p:tav tm="0">
                                          <p:val>
                                            <p:strVal val="#ppt_y+0.1"/>
                                          </p:val>
                                        </p:tav>
                                        <p:tav tm="100000">
                                          <p:val>
                                            <p:strVal val="#ppt_y"/>
                                          </p:val>
                                        </p:tav>
                                      </p:tavLst>
                                    </p:anim>
                                    <p:animEffect transition="in" filter="fade">
                                      <p:cBhvr>
                                        <p:cTn id="28" dur="500"/>
                                        <p:tgtEl>
                                          <p:spTgt spid="14"/>
                                        </p:tgtEl>
                                      </p:cBhvr>
                                    </p:animEffect>
                                  </p:childTnLst>
                                </p:cTn>
                              </p:par>
                              <p:par>
                                <p:cTn id="34" presetID="2" presetClass="entr" presetSubtype="4" fill="hold" grpId="0" nodeType="withEffect">
                                  <p:stCondLst>
                                    <p:cond delay="16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ppt_y+0.1"/>
                                          </p:val>
                                        </p:tav>
                                        <p:tav tm="100000">
                                          <p:val>
                                            <p:strVal val="#ppt_y"/>
                                          </p:val>
                                        </p:tav>
                                      </p:tavLst>
                                    </p:anim>
                                    <p:animEffect transition="in" filter="fade">
                                      <p:cBhvr>
                                        <p:cTn id="33" dur="500"/>
                                        <p:tgtEl>
                                          <p:spTgt spid="15"/>
                                        </p:tgtEl>
                                      </p:cBhvr>
                                    </p:animEffect>
                                  </p:childTnLst>
                                </p:cTn>
                              </p:par>
                              <p:par>
                                <p:cTn id="39" presetID="2" presetClass="entr" presetSubtype="4" fill="hold" grpId="0" nodeType="withEffect">
                                  <p:stCondLst>
                                    <p:cond delay="200"/>
                                  </p:stCondLst>
                                  <p:childTnLst>
                                    <p:set>
                                      <p:cBhvr>
                                        <p:cTn id="35" dur="1" fill="hold">
                                          <p:stCondLst>
                                            <p:cond delay="0"/>
                                          </p:stCondLst>
                                        </p:cTn>
                                        <p:tgtEl>
                                          <p:spTgt spid="16"/>
                                        </p:tgtEl>
                                        <p:attrNameLst>
                                          <p:attrName>style.visibility</p:attrName>
                                        </p:attrNameLst>
                                      </p:cBhvr>
                                      <p:to>
                                        <p:strVal val="visible"/>
                                      </p:to>
                                    </p:set>
                                    <p:anim calcmode="lin" valueType="num">
                                      <p:cBhvr additive="base">
                                        <p:cTn id="36" dur="500" fill="hold"/>
                                        <p:tgtEl>
                                          <p:spTgt spid="16"/>
                                        </p:tgtEl>
                                        <p:attrNameLst>
                                          <p:attrName>ppt_x</p:attrName>
                                        </p:attrNameLst>
                                      </p:cBhvr>
                                      <p:tavLst>
                                        <p:tav tm="0">
                                          <p:val>
                                            <p:strVal val="#ppt_x"/>
                                          </p:val>
                                        </p:tav>
                                        <p:tav tm="100000">
                                          <p:val>
                                            <p:strVal val="#ppt_x"/>
                                          </p:val>
                                        </p:tav>
                                      </p:tavLst>
                                    </p:anim>
                                    <p:anim calcmode="lin" valueType="num">
                                      <p:cBhvr additive="base">
                                        <p:cTn id="37" dur="500" fill="hold"/>
                                        <p:tgtEl>
                                          <p:spTgt spid="16"/>
                                        </p:tgtEl>
                                        <p:attrNameLst>
                                          <p:attrName>ppt_y</p:attrName>
                                        </p:attrNameLst>
                                      </p:cBhvr>
                                      <p:tavLst>
                                        <p:tav tm="0">
                                          <p:val>
                                            <p:strVal val="#ppt_y+0.1"/>
                                          </p:val>
                                        </p:tav>
                                        <p:tav tm="100000">
                                          <p:val>
                                            <p:strVal val="#ppt_y"/>
                                          </p:val>
                                        </p:tav>
                                      </p:tavLst>
                                    </p:anim>
                                    <p:animEffect transition="in" filter="fade">
                                      <p:cBhvr>
                                        <p:cTn id="38" dur="500"/>
                                        <p:tgtEl>
                                          <p:spTgt spid="16"/>
                                        </p:tgtEl>
                                      </p:cBhvr>
                                    </p:animEffect>
                                  </p:childTnLst>
                                </p:cTn>
                              </p:par>
                              <p:par>
                                <p:cTn id="44" presetID="2" presetClass="entr" presetSubtype="4" fill="hold" grpId="0" nodeType="withEffect">
                                  <p:stCondLst>
                                    <p:cond delay="240"/>
                                  </p:stCondLst>
                                  <p:childTnLst>
                                    <p:set>
                                      <p:cBhvr>
                                        <p:cTn id="40" dur="1" fill="hold">
                                          <p:stCondLst>
                                            <p:cond delay="0"/>
                                          </p:stCondLst>
                                        </p:cTn>
                                        <p:tgtEl>
                                          <p:spTgt spid="17"/>
                                        </p:tgtEl>
                                        <p:attrNameLst>
                                          <p:attrName>style.visibility</p:attrName>
                                        </p:attrNameLst>
                                      </p:cBhvr>
                                      <p:to>
                                        <p:strVal val="visible"/>
                                      </p:to>
                                    </p:set>
                                    <p:anim calcmode="lin" valueType="num">
                                      <p:cBhvr additive="base">
                                        <p:cTn id="41" dur="500" fill="hold"/>
                                        <p:tgtEl>
                                          <p:spTgt spid="17"/>
                                        </p:tgtEl>
                                        <p:attrNameLst>
                                          <p:attrName>ppt_x</p:attrName>
                                        </p:attrNameLst>
                                      </p:cBhvr>
                                      <p:tavLst>
                                        <p:tav tm="0">
                                          <p:val>
                                            <p:strVal val="#ppt_x"/>
                                          </p:val>
                                        </p:tav>
                                        <p:tav tm="100000">
                                          <p:val>
                                            <p:strVal val="#ppt_x"/>
                                          </p:val>
                                        </p:tav>
                                      </p:tavLst>
                                    </p:anim>
                                    <p:anim calcmode="lin" valueType="num">
                                      <p:cBhvr additive="base">
                                        <p:cTn id="42" dur="500" fill="hold"/>
                                        <p:tgtEl>
                                          <p:spTgt spid="17"/>
                                        </p:tgtEl>
                                        <p:attrNameLst>
                                          <p:attrName>ppt_y</p:attrName>
                                        </p:attrNameLst>
                                      </p:cBhvr>
                                      <p:tavLst>
                                        <p:tav tm="0">
                                          <p:val>
                                            <p:strVal val="#ppt_y+0.1"/>
                                          </p:val>
                                        </p:tav>
                                        <p:tav tm="100000">
                                          <p:val>
                                            <p:strVal val="#ppt_y"/>
                                          </p:val>
                                        </p:tav>
                                      </p:tavLst>
                                    </p:anim>
                                    <p:animEffect transition="in" filter="fade">
                                      <p:cBhvr>
                                        <p:cTn id="43" dur="500"/>
                                        <p:tgtEl>
                                          <p:spTgt spid="17"/>
                                        </p:tgtEl>
                                      </p:cBhvr>
                                    </p:animEffect>
                                  </p:childTnLst>
                                </p:cTn>
                              </p:par>
                              <p:par>
                                <p:cTn id="49" presetID="2" presetClass="entr" presetSubtype="4" fill="hold" grpId="0" nodeType="withEffect">
                                  <p:stCondLst>
                                    <p:cond delay="280"/>
                                  </p:stCondLst>
                                  <p:childTnLst>
                                    <p:set>
                                      <p:cBhvr>
                                        <p:cTn id="45" dur="1" fill="hold">
                                          <p:stCondLst>
                                            <p:cond delay="0"/>
                                          </p:stCondLst>
                                        </p:cTn>
                                        <p:tgtEl>
                                          <p:spTgt spid="18"/>
                                        </p:tgtEl>
                                        <p:attrNameLst>
                                          <p:attrName>style.visibility</p:attrName>
                                        </p:attrNameLst>
                                      </p:cBhvr>
                                      <p:to>
                                        <p:strVal val="visible"/>
                                      </p:to>
                                    </p:set>
                                    <p:anim calcmode="lin" valueType="num">
                                      <p:cBhvr additive="base">
                                        <p:cTn id="46" dur="500" fill="hold"/>
                                        <p:tgtEl>
                                          <p:spTgt spid="18"/>
                                        </p:tgtEl>
                                        <p:attrNameLst>
                                          <p:attrName>ppt_x</p:attrName>
                                        </p:attrNameLst>
                                      </p:cBhvr>
                                      <p:tavLst>
                                        <p:tav tm="0">
                                          <p:val>
                                            <p:strVal val="#ppt_x"/>
                                          </p:val>
                                        </p:tav>
                                        <p:tav tm="100000">
                                          <p:val>
                                            <p:strVal val="#ppt_x"/>
                                          </p:val>
                                        </p:tav>
                                      </p:tavLst>
                                    </p:anim>
                                    <p:anim calcmode="lin" valueType="num">
                                      <p:cBhvr additive="base">
                                        <p:cTn id="47" dur="500" fill="hold"/>
                                        <p:tgtEl>
                                          <p:spTgt spid="18"/>
                                        </p:tgtEl>
                                        <p:attrNameLst>
                                          <p:attrName>ppt_y</p:attrName>
                                        </p:attrNameLst>
                                      </p:cBhvr>
                                      <p:tavLst>
                                        <p:tav tm="0">
                                          <p:val>
                                            <p:strVal val="#ppt_y+0.1"/>
                                          </p:val>
                                        </p:tav>
                                        <p:tav tm="100000">
                                          <p:val>
                                            <p:strVal val="#ppt_y"/>
                                          </p:val>
                                        </p:tav>
                                      </p:tavLst>
                                    </p:anim>
                                    <p:animEffect transition="in" filter="fade">
                                      <p:cBhvr>
                                        <p:cTn id="48" dur="500"/>
                                        <p:tgtEl>
                                          <p:spTgt spid="18"/>
                                        </p:tgtEl>
                                      </p:cBhvr>
                                    </p:animEffect>
                                  </p:childTnLst>
                                </p:cTn>
                              </p:par>
                              <p:par>
                                <p:cTn id="54" presetID="2" presetClass="entr" presetSubtype="4" fill="hold" grpId="0" nodeType="withEffect">
                                  <p:stCondLst>
                                    <p:cond delay="320"/>
                                  </p:stCondLst>
                                  <p:childTnLst>
                                    <p:set>
                                      <p:cBhvr>
                                        <p:cTn id="50" dur="1" fill="hold">
                                          <p:stCondLst>
                                            <p:cond delay="0"/>
                                          </p:stCondLst>
                                        </p:cTn>
                                        <p:tgtEl>
                                          <p:spTgt spid="19"/>
                                        </p:tgtEl>
                                        <p:attrNameLst>
                                          <p:attrName>style.visibility</p:attrName>
                                        </p:attrNameLst>
                                      </p:cBhvr>
                                      <p:to>
                                        <p:strVal val="visible"/>
                                      </p:to>
                                    </p:set>
                                    <p:anim calcmode="lin" valueType="num">
                                      <p:cBhvr additive="base">
                                        <p:cTn id="51" dur="500" fill="hold"/>
                                        <p:tgtEl>
                                          <p:spTgt spid="19"/>
                                        </p:tgtEl>
                                        <p:attrNameLst>
                                          <p:attrName>ppt_x</p:attrName>
                                        </p:attrNameLst>
                                      </p:cBhvr>
                                      <p:tavLst>
                                        <p:tav tm="0">
                                          <p:val>
                                            <p:strVal val="#ppt_x"/>
                                          </p:val>
                                        </p:tav>
                                        <p:tav tm="100000">
                                          <p:val>
                                            <p:strVal val="#ppt_x"/>
                                          </p:val>
                                        </p:tav>
                                      </p:tavLst>
                                    </p:anim>
                                    <p:anim calcmode="lin" valueType="num">
                                      <p:cBhvr additive="base">
                                        <p:cTn id="52" dur="500" fill="hold"/>
                                        <p:tgtEl>
                                          <p:spTgt spid="19"/>
                                        </p:tgtEl>
                                        <p:attrNameLst>
                                          <p:attrName>ppt_y</p:attrName>
                                        </p:attrNameLst>
                                      </p:cBhvr>
                                      <p:tavLst>
                                        <p:tav tm="0">
                                          <p:val>
                                            <p:strVal val="#ppt_y+0.1"/>
                                          </p:val>
                                        </p:tav>
                                        <p:tav tm="100000">
                                          <p:val>
                                            <p:strVal val="#ppt_y"/>
                                          </p:val>
                                        </p:tav>
                                      </p:tavLst>
                                    </p:anim>
                                    <p:animEffect transition="in" filter="fade">
                                      <p:cBhvr>
                                        <p:cTn id="53" dur="500"/>
                                        <p:tgtEl>
                                          <p:spTgt spid="19"/>
                                        </p:tgtEl>
                                      </p:cBhvr>
                                    </p:animEffect>
                                  </p:childTnLst>
                                </p:cTn>
                              </p:par>
                              <p:par>
                                <p:cTn id="59" presetID="2" presetClass="entr" presetSubtype="4" fill="hold" grpId="0" nodeType="withEffect">
                                  <p:stCondLst>
                                    <p:cond delay="360"/>
                                  </p:stCondLst>
                                  <p:childTnLst>
                                    <p:set>
                                      <p:cBhvr>
                                        <p:cTn id="55" dur="1" fill="hold">
                                          <p:stCondLst>
                                            <p:cond delay="0"/>
                                          </p:stCondLst>
                                        </p:cTn>
                                        <p:tgtEl>
                                          <p:spTgt spid="20"/>
                                        </p:tgtEl>
                                        <p:attrNameLst>
                                          <p:attrName>style.visibility</p:attrName>
                                        </p:attrNameLst>
                                      </p:cBhvr>
                                      <p:to>
                                        <p:strVal val="visible"/>
                                      </p:to>
                                    </p:set>
                                    <p:anim calcmode="lin" valueType="num">
                                      <p:cBhvr additive="base">
                                        <p:cTn id="56" dur="500" fill="hold"/>
                                        <p:tgtEl>
                                          <p:spTgt spid="20"/>
                                        </p:tgtEl>
                                        <p:attrNameLst>
                                          <p:attrName>ppt_x</p:attrName>
                                        </p:attrNameLst>
                                      </p:cBhvr>
                                      <p:tavLst>
                                        <p:tav tm="0">
                                          <p:val>
                                            <p:strVal val="#ppt_x"/>
                                          </p:val>
                                        </p:tav>
                                        <p:tav tm="100000">
                                          <p:val>
                                            <p:strVal val="#ppt_x"/>
                                          </p:val>
                                        </p:tav>
                                      </p:tavLst>
                                    </p:anim>
                                    <p:anim calcmode="lin" valueType="num">
                                      <p:cBhvr additive="base">
                                        <p:cTn id="57" dur="500" fill="hold"/>
                                        <p:tgtEl>
                                          <p:spTgt spid="20"/>
                                        </p:tgtEl>
                                        <p:attrNameLst>
                                          <p:attrName>ppt_y</p:attrName>
                                        </p:attrNameLst>
                                      </p:cBhvr>
                                      <p:tavLst>
                                        <p:tav tm="0">
                                          <p:val>
                                            <p:strVal val="#ppt_y+0.1"/>
                                          </p:val>
                                        </p:tav>
                                        <p:tav tm="100000">
                                          <p:val>
                                            <p:strVal val="#ppt_y"/>
                                          </p:val>
                                        </p:tav>
                                      </p:tavLst>
                                    </p:anim>
                                    <p:animEffect transition="in" filter="fade">
                                      <p:cBhvr>
                                        <p:cTn id="58" dur="500"/>
                                        <p:tgtEl>
                                          <p:spTgt spid="20"/>
                                        </p:tgtEl>
                                      </p:cBhvr>
                                    </p:animEffect>
                                  </p:childTnLst>
                                </p:cTn>
                              </p:par>
                              <p:par>
                                <p:cTn id="64" presetID="2" presetClass="entr" presetSubtype="4" fill="hold" grpId="0" nodeType="withEffect">
                                  <p:stCondLst>
                                    <p:cond delay="400"/>
                                  </p:stCondLst>
                                  <p:childTnLst>
                                    <p:set>
                                      <p:cBhvr>
                                        <p:cTn id="60" dur="1" fill="hold">
                                          <p:stCondLst>
                                            <p:cond delay="0"/>
                                          </p:stCondLst>
                                        </p:cTn>
                                        <p:tgtEl>
                                          <p:spTgt spid="21"/>
                                        </p:tgtEl>
                                        <p:attrNameLst>
                                          <p:attrName>style.visibility</p:attrName>
                                        </p:attrNameLst>
                                      </p:cBhvr>
                                      <p:to>
                                        <p:strVal val="visible"/>
                                      </p:to>
                                    </p:set>
                                    <p:anim calcmode="lin" valueType="num">
                                      <p:cBhvr additive="base">
                                        <p:cTn id="61" dur="500" fill="hold"/>
                                        <p:tgtEl>
                                          <p:spTgt spid="21"/>
                                        </p:tgtEl>
                                        <p:attrNameLst>
                                          <p:attrName>ppt_x</p:attrName>
                                        </p:attrNameLst>
                                      </p:cBhvr>
                                      <p:tavLst>
                                        <p:tav tm="0">
                                          <p:val>
                                            <p:strVal val="#ppt_x"/>
                                          </p:val>
                                        </p:tav>
                                        <p:tav tm="100000">
                                          <p:val>
                                            <p:strVal val="#ppt_x"/>
                                          </p:val>
                                        </p:tav>
                                      </p:tavLst>
                                    </p:anim>
                                    <p:anim calcmode="lin" valueType="num">
                                      <p:cBhvr additive="base">
                                        <p:cTn id="62" dur="500" fill="hold"/>
                                        <p:tgtEl>
                                          <p:spTgt spid="21"/>
                                        </p:tgtEl>
                                        <p:attrNameLst>
                                          <p:attrName>ppt_y</p:attrName>
                                        </p:attrNameLst>
                                      </p:cBhvr>
                                      <p:tavLst>
                                        <p:tav tm="0">
                                          <p:val>
                                            <p:strVal val="#ppt_y+0.1"/>
                                          </p:val>
                                        </p:tav>
                                        <p:tav tm="100000">
                                          <p:val>
                                            <p:strVal val="#ppt_y"/>
                                          </p:val>
                                        </p:tav>
                                      </p:tavLst>
                                    </p:anim>
                                    <p:animEffect transition="in" filter="fade">
                                      <p:cBhvr>
                                        <p:cTn id="63" dur="500"/>
                                        <p:tgtEl>
                                          <p:spTgt spid="21"/>
                                        </p:tgtEl>
                                      </p:cBhvr>
                                    </p:animEffect>
                                  </p:childTnLst>
                                </p:cTn>
                              </p:par>
                              <p:par>
                                <p:cTn id="69" presetID="2" presetClass="entr" presetSubtype="4" fill="hold" grpId="0" nodeType="withEffect">
                                  <p:stCondLst>
                                    <p:cond delay="440"/>
                                  </p:stCondLst>
                                  <p:childTnLst>
                                    <p:set>
                                      <p:cBhvr>
                                        <p:cTn id="65" dur="1" fill="hold">
                                          <p:stCondLst>
                                            <p:cond delay="0"/>
                                          </p:stCondLst>
                                        </p:cTn>
                                        <p:tgtEl>
                                          <p:spTgt spid="22"/>
                                        </p:tgtEl>
                                        <p:attrNameLst>
                                          <p:attrName>style.visibility</p:attrName>
                                        </p:attrNameLst>
                                      </p:cBhvr>
                                      <p:to>
                                        <p:strVal val="visible"/>
                                      </p:to>
                                    </p:set>
                                    <p:anim calcmode="lin" valueType="num">
                                      <p:cBhvr additive="base">
                                        <p:cTn id="66" dur="500" fill="hold"/>
                                        <p:tgtEl>
                                          <p:spTgt spid="22"/>
                                        </p:tgtEl>
                                        <p:attrNameLst>
                                          <p:attrName>ppt_x</p:attrName>
                                        </p:attrNameLst>
                                      </p:cBhvr>
                                      <p:tavLst>
                                        <p:tav tm="0">
                                          <p:val>
                                            <p:strVal val="#ppt_x"/>
                                          </p:val>
                                        </p:tav>
                                        <p:tav tm="100000">
                                          <p:val>
                                            <p:strVal val="#ppt_x"/>
                                          </p:val>
                                        </p:tav>
                                      </p:tavLst>
                                    </p:anim>
                                    <p:anim calcmode="lin" valueType="num">
                                      <p:cBhvr additive="base">
                                        <p:cTn id="67" dur="500" fill="hold"/>
                                        <p:tgtEl>
                                          <p:spTgt spid="22"/>
                                        </p:tgtEl>
                                        <p:attrNameLst>
                                          <p:attrName>ppt_y</p:attrName>
                                        </p:attrNameLst>
                                      </p:cBhvr>
                                      <p:tavLst>
                                        <p:tav tm="0">
                                          <p:val>
                                            <p:strVal val="#ppt_y+0.1"/>
                                          </p:val>
                                        </p:tav>
                                        <p:tav tm="100000">
                                          <p:val>
                                            <p:strVal val="#ppt_y"/>
                                          </p:val>
                                        </p:tav>
                                      </p:tavLst>
                                    </p:anim>
                                    <p:animEffect transition="in" filter="fade">
                                      <p:cBhvr>
                                        <p:cTn id="68" dur="500"/>
                                        <p:tgtEl>
                                          <p:spTgt spid="22"/>
                                        </p:tgtEl>
                                      </p:cBhvr>
                                    </p:animEffect>
                                  </p:childTnLst>
                                </p:cTn>
                              </p:par>
                              <p:par>
                                <p:cTn id="74" presetID="2" presetClass="entr" presetSubtype="4" fill="hold" grpId="0" nodeType="withEffect">
                                  <p:stCondLst>
                                    <p:cond delay="480"/>
                                  </p:stCondLst>
                                  <p:childTnLst>
                                    <p:set>
                                      <p:cBhvr>
                                        <p:cTn id="70" dur="1" fill="hold">
                                          <p:stCondLst>
                                            <p:cond delay="0"/>
                                          </p:stCondLst>
                                        </p:cTn>
                                        <p:tgtEl>
                                          <p:spTgt spid="23"/>
                                        </p:tgtEl>
                                        <p:attrNameLst>
                                          <p:attrName>style.visibility</p:attrName>
                                        </p:attrNameLst>
                                      </p:cBhvr>
                                      <p:to>
                                        <p:strVal val="visible"/>
                                      </p:to>
                                    </p:set>
                                    <p:anim calcmode="lin" valueType="num">
                                      <p:cBhvr additive="base">
                                        <p:cTn id="71" dur="500" fill="hold"/>
                                        <p:tgtEl>
                                          <p:spTgt spid="23"/>
                                        </p:tgtEl>
                                        <p:attrNameLst>
                                          <p:attrName>ppt_x</p:attrName>
                                        </p:attrNameLst>
                                      </p:cBhvr>
                                      <p:tavLst>
                                        <p:tav tm="0">
                                          <p:val>
                                            <p:strVal val="#ppt_x"/>
                                          </p:val>
                                        </p:tav>
                                        <p:tav tm="100000">
                                          <p:val>
                                            <p:strVal val="#ppt_x"/>
                                          </p:val>
                                        </p:tav>
                                      </p:tavLst>
                                    </p:anim>
                                    <p:anim calcmode="lin" valueType="num">
                                      <p:cBhvr additive="base">
                                        <p:cTn id="72" dur="500" fill="hold"/>
                                        <p:tgtEl>
                                          <p:spTgt spid="23"/>
                                        </p:tgtEl>
                                        <p:attrNameLst>
                                          <p:attrName>ppt_y</p:attrName>
                                        </p:attrNameLst>
                                      </p:cBhvr>
                                      <p:tavLst>
                                        <p:tav tm="0">
                                          <p:val>
                                            <p:strVal val="#ppt_y+0.1"/>
                                          </p:val>
                                        </p:tav>
                                        <p:tav tm="100000">
                                          <p:val>
                                            <p:strVal val="#ppt_y"/>
                                          </p:val>
                                        </p:tav>
                                      </p:tavLst>
                                    </p:anim>
                                    <p:animEffect transition="in" filter="fade">
                                      <p:cBhvr>
                                        <p:cTn id="73" dur="500"/>
                                        <p:tgtEl>
                                          <p:spTgt spid="23"/>
                                        </p:tgtEl>
                                      </p:cBhvr>
                                    </p:animEffect>
                                  </p:childTnLst>
                                </p:cTn>
                              </p:par>
                              <p:par>
                                <p:cTn id="79" presetID="2" presetClass="entr" presetSubtype="4" fill="hold" grpId="0" nodeType="withEffect">
                                  <p:stCondLst>
                                    <p:cond delay="520"/>
                                  </p:stCondLst>
                                  <p:childTnLst>
                                    <p:set>
                                      <p:cBhvr>
                                        <p:cTn id="75" dur="1" fill="hold">
                                          <p:stCondLst>
                                            <p:cond delay="0"/>
                                          </p:stCondLst>
                                        </p:cTn>
                                        <p:tgtEl>
                                          <p:spTgt spid="24"/>
                                        </p:tgtEl>
                                        <p:attrNameLst>
                                          <p:attrName>style.visibility</p:attrName>
                                        </p:attrNameLst>
                                      </p:cBhvr>
                                      <p:to>
                                        <p:strVal val="visible"/>
                                      </p:to>
                                    </p:set>
                                    <p:anim calcmode="lin" valueType="num">
                                      <p:cBhvr additive="base">
                                        <p:cTn id="76" dur="500" fill="hold"/>
                                        <p:tgtEl>
                                          <p:spTgt spid="24"/>
                                        </p:tgtEl>
                                        <p:attrNameLst>
                                          <p:attrName>ppt_x</p:attrName>
                                        </p:attrNameLst>
                                      </p:cBhvr>
                                      <p:tavLst>
                                        <p:tav tm="0">
                                          <p:val>
                                            <p:strVal val="#ppt_x"/>
                                          </p:val>
                                        </p:tav>
                                        <p:tav tm="100000">
                                          <p:val>
                                            <p:strVal val="#ppt_x"/>
                                          </p:val>
                                        </p:tav>
                                      </p:tavLst>
                                    </p:anim>
                                    <p:anim calcmode="lin" valueType="num">
                                      <p:cBhvr additive="base">
                                        <p:cTn id="77" dur="500" fill="hold"/>
                                        <p:tgtEl>
                                          <p:spTgt spid="24"/>
                                        </p:tgtEl>
                                        <p:attrNameLst>
                                          <p:attrName>ppt_y</p:attrName>
                                        </p:attrNameLst>
                                      </p:cBhvr>
                                      <p:tavLst>
                                        <p:tav tm="0">
                                          <p:val>
                                            <p:strVal val="#ppt_y+0.1"/>
                                          </p:val>
                                        </p:tav>
                                        <p:tav tm="100000">
                                          <p:val>
                                            <p:strVal val="#ppt_y"/>
                                          </p:val>
                                        </p:tav>
                                      </p:tavLst>
                                    </p:anim>
                                    <p:animEffect transition="in" filter="fade">
                                      <p:cBhvr>
                                        <p:cTn id="78" dur="500"/>
                                        <p:tgtEl>
                                          <p:spTgt spid="24"/>
                                        </p:tgtEl>
                                      </p:cBhvr>
                                    </p:animEffect>
                                  </p:childTnLst>
                                </p:cTn>
                              </p:par>
                              <p:par>
                                <p:cTn id="84" presetID="2" presetClass="entr" presetSubtype="4" fill="hold" grpId="0" nodeType="withEffect">
                                  <p:stCondLst>
                                    <p:cond delay="560"/>
                                  </p:stCondLst>
                                  <p:childTnLst>
                                    <p:set>
                                      <p:cBhvr>
                                        <p:cTn id="80" dur="1" fill="hold">
                                          <p:stCondLst>
                                            <p:cond delay="0"/>
                                          </p:stCondLst>
                                        </p:cTn>
                                        <p:tgtEl>
                                          <p:spTgt spid="25"/>
                                        </p:tgtEl>
                                        <p:attrNameLst>
                                          <p:attrName>style.visibility</p:attrName>
                                        </p:attrNameLst>
                                      </p:cBhvr>
                                      <p:to>
                                        <p:strVal val="visible"/>
                                      </p:to>
                                    </p:set>
                                    <p:anim calcmode="lin" valueType="num">
                                      <p:cBhvr additive="base">
                                        <p:cTn id="81" dur="500" fill="hold"/>
                                        <p:tgtEl>
                                          <p:spTgt spid="25"/>
                                        </p:tgtEl>
                                        <p:attrNameLst>
                                          <p:attrName>ppt_x</p:attrName>
                                        </p:attrNameLst>
                                      </p:cBhvr>
                                      <p:tavLst>
                                        <p:tav tm="0">
                                          <p:val>
                                            <p:strVal val="#ppt_x"/>
                                          </p:val>
                                        </p:tav>
                                        <p:tav tm="100000">
                                          <p:val>
                                            <p:strVal val="#ppt_x"/>
                                          </p:val>
                                        </p:tav>
                                      </p:tavLst>
                                    </p:anim>
                                    <p:anim calcmode="lin" valueType="num">
                                      <p:cBhvr additive="base">
                                        <p:cTn id="82" dur="500" fill="hold"/>
                                        <p:tgtEl>
                                          <p:spTgt spid="25"/>
                                        </p:tgtEl>
                                        <p:attrNameLst>
                                          <p:attrName>ppt_y</p:attrName>
                                        </p:attrNameLst>
                                      </p:cBhvr>
                                      <p:tavLst>
                                        <p:tav tm="0">
                                          <p:val>
                                            <p:strVal val="#ppt_y+0.1"/>
                                          </p:val>
                                        </p:tav>
                                        <p:tav tm="100000">
                                          <p:val>
                                            <p:strVal val="#ppt_y"/>
                                          </p:val>
                                        </p:tav>
                                      </p:tavLst>
                                    </p:anim>
                                    <p:animEffect transition="in" filter="fade">
                                      <p:cBhvr>
                                        <p:cTn id="83" dur="500"/>
                                        <p:tgtEl>
                                          <p:spTgt spid="25"/>
                                        </p:tgtEl>
                                      </p:cBhvr>
                                    </p:animEffect>
                                  </p:childTnLst>
                                </p:cTn>
                              </p:par>
                              <p:par>
                                <p:cTn id="89" presetID="2" presetClass="entr" presetSubtype="4" fill="hold" grpId="0" nodeType="withEffect">
                                  <p:stCondLst>
                                    <p:cond delay="600"/>
                                  </p:stCondLst>
                                  <p:childTnLst>
                                    <p:set>
                                      <p:cBhvr>
                                        <p:cTn id="85" dur="1" fill="hold">
                                          <p:stCondLst>
                                            <p:cond delay="0"/>
                                          </p:stCondLst>
                                        </p:cTn>
                                        <p:tgtEl>
                                          <p:spTgt spid="26"/>
                                        </p:tgtEl>
                                        <p:attrNameLst>
                                          <p:attrName>style.visibility</p:attrName>
                                        </p:attrNameLst>
                                      </p:cBhvr>
                                      <p:to>
                                        <p:strVal val="visible"/>
                                      </p:to>
                                    </p:set>
                                    <p:anim calcmode="lin" valueType="num">
                                      <p:cBhvr additive="base">
                                        <p:cTn id="86" dur="500" fill="hold"/>
                                        <p:tgtEl>
                                          <p:spTgt spid="26"/>
                                        </p:tgtEl>
                                        <p:attrNameLst>
                                          <p:attrName>ppt_x</p:attrName>
                                        </p:attrNameLst>
                                      </p:cBhvr>
                                      <p:tavLst>
                                        <p:tav tm="0">
                                          <p:val>
                                            <p:strVal val="#ppt_x"/>
                                          </p:val>
                                        </p:tav>
                                        <p:tav tm="100000">
                                          <p:val>
                                            <p:strVal val="#ppt_x"/>
                                          </p:val>
                                        </p:tav>
                                      </p:tavLst>
                                    </p:anim>
                                    <p:anim calcmode="lin" valueType="num">
                                      <p:cBhvr additive="base">
                                        <p:cTn id="87" dur="500" fill="hold"/>
                                        <p:tgtEl>
                                          <p:spTgt spid="26"/>
                                        </p:tgtEl>
                                        <p:attrNameLst>
                                          <p:attrName>ppt_y</p:attrName>
                                        </p:attrNameLst>
                                      </p:cBhvr>
                                      <p:tavLst>
                                        <p:tav tm="0">
                                          <p:val>
                                            <p:strVal val="#ppt_y+0.1"/>
                                          </p:val>
                                        </p:tav>
                                        <p:tav tm="100000">
                                          <p:val>
                                            <p:strVal val="#ppt_y"/>
                                          </p:val>
                                        </p:tav>
                                      </p:tavLst>
                                    </p:anim>
                                    <p:animEffect transition="in" filter="fade">
                                      <p:cBhvr>
                                        <p:cTn id="88" dur="500"/>
                                        <p:tgtEl>
                                          <p:spTgt spid="26"/>
                                        </p:tgtEl>
                                      </p:cBhvr>
                                    </p:animEffect>
                                  </p:childTnLst>
                                </p:cTn>
                              </p:par>
                            </p:childTnLst>
                          </p:cTn>
                        </p:par>
                      </p:childTnLst>
                    </p:cTn>
                  </p:par>
                  <p:par>
                    <p:cTn id="90" fill="hold">
                      <p:stCondLst>
                        <p:cond delay="indefinite"/>
                      </p:stCondLst>
                      <p:childTnLst>
                        <p:par>
                          <p:cTn id="91" fill="hold">
                            <p:stCondLst>
                              <p:cond delay="0"/>
                            </p:stCondLst>
                            <p:childTnLst>
                              <p:par>
                                <p:cTn id="96" presetID="2" presetClass="entr" presetSubtype="4" fill="hold" grpId="0" nodeType="clickEffect">
                                  <p:stCondLst>
                                    <p:cond delay="0"/>
                                  </p:stCondLst>
                                  <p:childTnLst>
                                    <p:set>
                                      <p:cBhvr>
                                        <p:cTn id="92" dur="1" fill="hold">
                                          <p:stCondLst>
                                            <p:cond delay="0"/>
                                          </p:stCondLst>
                                        </p:cTn>
                                        <p:tgtEl>
                                          <p:spTgt spid="28"/>
                                        </p:tgtEl>
                                        <p:attrNameLst>
                                          <p:attrName>style.visibility</p:attrName>
                                        </p:attrNameLst>
                                      </p:cBhvr>
                                      <p:to>
                                        <p:strVal val="visible"/>
                                      </p:to>
                                    </p:set>
                                    <p:anim calcmode="lin" valueType="num">
                                      <p:cBhvr additive="base">
                                        <p:cTn id="93" dur="500" fill="hold"/>
                                        <p:tgtEl>
                                          <p:spTgt spid="28"/>
                                        </p:tgtEl>
                                        <p:attrNameLst>
                                          <p:attrName>ppt_x</p:attrName>
                                        </p:attrNameLst>
                                      </p:cBhvr>
                                      <p:tavLst>
                                        <p:tav tm="0">
                                          <p:val>
                                            <p:strVal val="#ppt_x"/>
                                          </p:val>
                                        </p:tav>
                                        <p:tav tm="100000">
                                          <p:val>
                                            <p:strVal val="#ppt_x"/>
                                          </p:val>
                                        </p:tav>
                                      </p:tavLst>
                                    </p:anim>
                                    <p:anim calcmode="lin" valueType="num">
                                      <p:cBhvr additive="base">
                                        <p:cTn id="94" dur="500" fill="hold"/>
                                        <p:tgtEl>
                                          <p:spTgt spid="28"/>
                                        </p:tgtEl>
                                        <p:attrNameLst>
                                          <p:attrName>ppt_y</p:attrName>
                                        </p:attrNameLst>
                                      </p:cBhvr>
                                      <p:tavLst>
                                        <p:tav tm="0">
                                          <p:val>
                                            <p:strVal val="#ppt_y+0.1"/>
                                          </p:val>
                                        </p:tav>
                                        <p:tav tm="100000">
                                          <p:val>
                                            <p:strVal val="#ppt_y"/>
                                          </p:val>
                                        </p:tav>
                                      </p:tavLst>
                                    </p:anim>
                                    <p:animEffect transition="in" filter="fade">
                                      <p:cBhvr>
                                        <p:cTn id="95" dur="500"/>
                                        <p:tgtEl>
                                          <p:spTgt spid="28"/>
                                        </p:tgtEl>
                                      </p:cBhvr>
                                    </p:animEffect>
                                  </p:childTnLst>
                                </p:cTn>
                              </p:par>
                              <p:par>
                                <p:cTn id="101" presetID="2" presetClass="entr" presetSubtype="4" fill="hold" grpId="0" nodeType="withEffect">
                                  <p:stCondLst>
                                    <p:cond delay="200"/>
                                  </p:stCondLst>
                                  <p:childTnLst>
                                    <p:set>
                                      <p:cBhvr>
                                        <p:cTn id="97" dur="1" fill="hold">
                                          <p:stCondLst>
                                            <p:cond delay="0"/>
                                          </p:stCondLst>
                                        </p:cTn>
                                        <p:tgtEl>
                                          <p:spTgt spid="29"/>
                                        </p:tgtEl>
                                        <p:attrNameLst>
                                          <p:attrName>style.visibility</p:attrName>
                                        </p:attrNameLst>
                                      </p:cBhvr>
                                      <p:to>
                                        <p:strVal val="visible"/>
                                      </p:to>
                                    </p:set>
                                    <p:anim calcmode="lin" valueType="num">
                                      <p:cBhvr additive="base">
                                        <p:cTn id="98" dur="500" fill="hold"/>
                                        <p:tgtEl>
                                          <p:spTgt spid="29"/>
                                        </p:tgtEl>
                                        <p:attrNameLst>
                                          <p:attrName>ppt_x</p:attrName>
                                        </p:attrNameLst>
                                      </p:cBhvr>
                                      <p:tavLst>
                                        <p:tav tm="0">
                                          <p:val>
                                            <p:strVal val="#ppt_x"/>
                                          </p:val>
                                        </p:tav>
                                        <p:tav tm="100000">
                                          <p:val>
                                            <p:strVal val="#ppt_x"/>
                                          </p:val>
                                        </p:tav>
                                      </p:tavLst>
                                    </p:anim>
                                    <p:anim calcmode="lin" valueType="num">
                                      <p:cBhvr additive="base">
                                        <p:cTn id="99" dur="500" fill="hold"/>
                                        <p:tgtEl>
                                          <p:spTgt spid="29"/>
                                        </p:tgtEl>
                                        <p:attrNameLst>
                                          <p:attrName>ppt_y</p:attrName>
                                        </p:attrNameLst>
                                      </p:cBhvr>
                                      <p:tavLst>
                                        <p:tav tm="0">
                                          <p:val>
                                            <p:strVal val="#ppt_y+0.1"/>
                                          </p:val>
                                        </p:tav>
                                        <p:tav tm="100000">
                                          <p:val>
                                            <p:strVal val="#ppt_y"/>
                                          </p:val>
                                        </p:tav>
                                      </p:tavLst>
                                    </p:anim>
                                    <p:animEffect transition="in" filter="fade">
                                      <p:cBhvr>
                                        <p:cTn id="100" dur="500"/>
                                        <p:tgtEl>
                                          <p:spTgt spid="29"/>
                                        </p:tgtEl>
                                      </p:cBhvr>
                                    </p:animEffect>
                                  </p:childTnLst>
                                </p:cTn>
                              </p:par>
                            </p:childTnLst>
                          </p:cTn>
                        </p:par>
                      </p:childTnLst>
                    </p:cTn>
                  </p:par>
                  <p:par>
                    <p:cTn id="102" fill="hold">
                      <p:stCondLst>
                        <p:cond delay="indefinite"/>
                      </p:stCondLst>
                      <p:childTnLst>
                        <p:par>
                          <p:cTn id="103" fill="hold">
                            <p:stCondLst>
                              <p:cond delay="0"/>
                            </p:stCondLst>
                            <p:childTnLst>
                              <p:par>
                                <p:cTn id="108" presetID="2" presetClass="entr" presetSubtype="4" fill="hold" grpId="0" nodeType="clickEffect">
                                  <p:stCondLst>
                                    <p:cond delay="0"/>
                                  </p:stCondLst>
                                  <p:childTnLst>
                                    <p:set>
                                      <p:cBhvr>
                                        <p:cTn id="104" dur="1" fill="hold">
                                          <p:stCondLst>
                                            <p:cond delay="0"/>
                                          </p:stCondLst>
                                        </p:cTn>
                                        <p:tgtEl>
                                          <p:spTgt spid="30"/>
                                        </p:tgtEl>
                                        <p:attrNameLst>
                                          <p:attrName>style.visibility</p:attrName>
                                        </p:attrNameLst>
                                      </p:cBhvr>
                                      <p:to>
                                        <p:strVal val="visible"/>
                                      </p:to>
                                    </p:set>
                                    <p:anim calcmode="lin" valueType="num">
                                      <p:cBhvr additive="base">
                                        <p:cTn id="105" dur="500" fill="hold"/>
                                        <p:tgtEl>
                                          <p:spTgt spid="30"/>
                                        </p:tgtEl>
                                        <p:attrNameLst>
                                          <p:attrName>ppt_x</p:attrName>
                                        </p:attrNameLst>
                                      </p:cBhvr>
                                      <p:tavLst>
                                        <p:tav tm="0">
                                          <p:val>
                                            <p:strVal val="#ppt_x"/>
                                          </p:val>
                                        </p:tav>
                                        <p:tav tm="100000">
                                          <p:val>
                                            <p:strVal val="#ppt_x"/>
                                          </p:val>
                                        </p:tav>
                                      </p:tavLst>
                                    </p:anim>
                                    <p:anim calcmode="lin" valueType="num">
                                      <p:cBhvr additive="base">
                                        <p:cTn id="106" dur="500" fill="hold"/>
                                        <p:tgtEl>
                                          <p:spTgt spid="30"/>
                                        </p:tgtEl>
                                        <p:attrNameLst>
                                          <p:attrName>ppt_y</p:attrName>
                                        </p:attrNameLst>
                                      </p:cBhvr>
                                      <p:tavLst>
                                        <p:tav tm="0">
                                          <p:val>
                                            <p:strVal val="#ppt_y+0.1"/>
                                          </p:val>
                                        </p:tav>
                                        <p:tav tm="100000">
                                          <p:val>
                                            <p:strVal val="#ppt_y"/>
                                          </p:val>
                                        </p:tav>
                                      </p:tavLst>
                                    </p:anim>
                                    <p:animEffect transition="in" filter="fade">
                                      <p:cBhvr>
                                        <p:cTn id="107" dur="500"/>
                                        <p:tgtEl>
                                          <p:spTgt spid="30"/>
                                        </p:tgtEl>
                                      </p:cBhvr>
                                    </p:animEffect>
                                  </p:childTnLst>
                                </p:cTn>
                              </p:par>
                              <p:par>
                                <p:cTn id="113" presetID="2" presetClass="entr" presetSubtype="4" fill="hold" grpId="0" nodeType="withEffect">
                                  <p:stCondLst>
                                    <p:cond delay="0"/>
                                  </p:stCondLst>
                                  <p:childTnLst>
                                    <p:set>
                                      <p:cBhvr>
                                        <p:cTn id="109" dur="1" fill="hold">
                                          <p:stCondLst>
                                            <p:cond delay="0"/>
                                          </p:stCondLst>
                                        </p:cTn>
                                        <p:tgtEl>
                                          <p:spTgt spid="31"/>
                                        </p:tgtEl>
                                        <p:attrNameLst>
                                          <p:attrName>style.visibility</p:attrName>
                                        </p:attrNameLst>
                                      </p:cBhvr>
                                      <p:to>
                                        <p:strVal val="visible"/>
                                      </p:to>
                                    </p:set>
                                    <p:anim calcmode="lin" valueType="num">
                                      <p:cBhvr additive="base">
                                        <p:cTn id="110" dur="500" fill="hold"/>
                                        <p:tgtEl>
                                          <p:spTgt spid="31"/>
                                        </p:tgtEl>
                                        <p:attrNameLst>
                                          <p:attrName>ppt_x</p:attrName>
                                        </p:attrNameLst>
                                      </p:cBhvr>
                                      <p:tavLst>
                                        <p:tav tm="0">
                                          <p:val>
                                            <p:strVal val="#ppt_x"/>
                                          </p:val>
                                        </p:tav>
                                        <p:tav tm="100000">
                                          <p:val>
                                            <p:strVal val="#ppt_x"/>
                                          </p:val>
                                        </p:tav>
                                      </p:tavLst>
                                    </p:anim>
                                    <p:anim calcmode="lin" valueType="num">
                                      <p:cBhvr additive="base">
                                        <p:cTn id="111" dur="500" fill="hold"/>
                                        <p:tgtEl>
                                          <p:spTgt spid="31"/>
                                        </p:tgtEl>
                                        <p:attrNameLst>
                                          <p:attrName>ppt_y</p:attrName>
                                        </p:attrNameLst>
                                      </p:cBhvr>
                                      <p:tavLst>
                                        <p:tav tm="0">
                                          <p:val>
                                            <p:strVal val="#ppt_y+0.1"/>
                                          </p:val>
                                        </p:tav>
                                        <p:tav tm="100000">
                                          <p:val>
                                            <p:strVal val="#ppt_y"/>
                                          </p:val>
                                        </p:tav>
                                      </p:tavLst>
                                    </p:anim>
                                    <p:animEffect transition="in" filter="fade">
                                      <p:cBhvr>
                                        <p:cTn id="112" dur="500"/>
                                        <p:tgtEl>
                                          <p:spTgt spid="31"/>
                                        </p:tgtEl>
                                      </p:cBhvr>
                                    </p:animEffect>
                                  </p:childTnLst>
                                </p:cTn>
                              </p:par>
                              <p:par>
                                <p:cTn id="118" presetID="2" presetClass="entr" presetSubtype="4" fill="hold" grpId="0" nodeType="withEffect">
                                  <p:stCondLst>
                                    <p:cond delay="0"/>
                                  </p:stCondLst>
                                  <p:childTnLst>
                                    <p:set>
                                      <p:cBhvr>
                                        <p:cTn id="114" dur="1" fill="hold">
                                          <p:stCondLst>
                                            <p:cond delay="0"/>
                                          </p:stCondLst>
                                        </p:cTn>
                                        <p:tgtEl>
                                          <p:spTgt spid="32"/>
                                        </p:tgtEl>
                                        <p:attrNameLst>
                                          <p:attrName>style.visibility</p:attrName>
                                        </p:attrNameLst>
                                      </p:cBhvr>
                                      <p:to>
                                        <p:strVal val="visible"/>
                                      </p:to>
                                    </p:set>
                                    <p:anim calcmode="lin" valueType="num">
                                      <p:cBhvr additive="base">
                                        <p:cTn id="115" dur="500" fill="hold"/>
                                        <p:tgtEl>
                                          <p:spTgt spid="32"/>
                                        </p:tgtEl>
                                        <p:attrNameLst>
                                          <p:attrName>ppt_x</p:attrName>
                                        </p:attrNameLst>
                                      </p:cBhvr>
                                      <p:tavLst>
                                        <p:tav tm="0">
                                          <p:val>
                                            <p:strVal val="#ppt_x"/>
                                          </p:val>
                                        </p:tav>
                                        <p:tav tm="100000">
                                          <p:val>
                                            <p:strVal val="#ppt_x"/>
                                          </p:val>
                                        </p:tav>
                                      </p:tavLst>
                                    </p:anim>
                                    <p:anim calcmode="lin" valueType="num">
                                      <p:cBhvr additive="base">
                                        <p:cTn id="116" dur="500" fill="hold"/>
                                        <p:tgtEl>
                                          <p:spTgt spid="32"/>
                                        </p:tgtEl>
                                        <p:attrNameLst>
                                          <p:attrName>ppt_y</p:attrName>
                                        </p:attrNameLst>
                                      </p:cBhvr>
                                      <p:tavLst>
                                        <p:tav tm="0">
                                          <p:val>
                                            <p:strVal val="#ppt_y+0.1"/>
                                          </p:val>
                                        </p:tav>
                                        <p:tav tm="100000">
                                          <p:val>
                                            <p:strVal val="#ppt_y"/>
                                          </p:val>
                                        </p:tav>
                                      </p:tavLst>
                                    </p:anim>
                                    <p:animEffect transition="in" filter="fade">
                                      <p:cBhvr>
                                        <p:cTn id="117" dur="500"/>
                                        <p:tgtEl>
                                          <p:spTgt spid="32"/>
                                        </p:tgtEl>
                                      </p:cBhvr>
                                    </p:animEffect>
                                  </p:childTnLst>
                                </p:cTn>
                              </p:par>
                              <p:par>
                                <p:cTn id="123" presetID="2" presetClass="entr" presetSubtype="4" fill="hold" grpId="0" nodeType="withEffect">
                                  <p:stCondLst>
                                    <p:cond delay="60"/>
                                  </p:stCondLst>
                                  <p:childTnLst>
                                    <p:set>
                                      <p:cBhvr>
                                        <p:cTn id="119" dur="1" fill="hold">
                                          <p:stCondLst>
                                            <p:cond delay="0"/>
                                          </p:stCondLst>
                                        </p:cTn>
                                        <p:tgtEl>
                                          <p:spTgt spid="33"/>
                                        </p:tgtEl>
                                        <p:attrNameLst>
                                          <p:attrName>style.visibility</p:attrName>
                                        </p:attrNameLst>
                                      </p:cBhvr>
                                      <p:to>
                                        <p:strVal val="visible"/>
                                      </p:to>
                                    </p:set>
                                    <p:anim calcmode="lin" valueType="num">
                                      <p:cBhvr additive="base">
                                        <p:cTn id="120" dur="500" fill="hold"/>
                                        <p:tgtEl>
                                          <p:spTgt spid="33"/>
                                        </p:tgtEl>
                                        <p:attrNameLst>
                                          <p:attrName>ppt_x</p:attrName>
                                        </p:attrNameLst>
                                      </p:cBhvr>
                                      <p:tavLst>
                                        <p:tav tm="0">
                                          <p:val>
                                            <p:strVal val="#ppt_x"/>
                                          </p:val>
                                        </p:tav>
                                        <p:tav tm="100000">
                                          <p:val>
                                            <p:strVal val="#ppt_x"/>
                                          </p:val>
                                        </p:tav>
                                      </p:tavLst>
                                    </p:anim>
                                    <p:anim calcmode="lin" valueType="num">
                                      <p:cBhvr additive="base">
                                        <p:cTn id="121" dur="500" fill="hold"/>
                                        <p:tgtEl>
                                          <p:spTgt spid="33"/>
                                        </p:tgtEl>
                                        <p:attrNameLst>
                                          <p:attrName>ppt_y</p:attrName>
                                        </p:attrNameLst>
                                      </p:cBhvr>
                                      <p:tavLst>
                                        <p:tav tm="0">
                                          <p:val>
                                            <p:strVal val="#ppt_y+0.1"/>
                                          </p:val>
                                        </p:tav>
                                        <p:tav tm="100000">
                                          <p:val>
                                            <p:strVal val="#ppt_y"/>
                                          </p:val>
                                        </p:tav>
                                      </p:tavLst>
                                    </p:anim>
                                    <p:animEffect transition="in" filter="fade">
                                      <p:cBhvr>
                                        <p:cTn id="122" dur="500"/>
                                        <p:tgtEl>
                                          <p:spTgt spid="33"/>
                                        </p:tgtEl>
                                      </p:cBhvr>
                                    </p:animEffect>
                                  </p:childTnLst>
                                </p:cTn>
                              </p:par>
                            </p:childTnLst>
                          </p:cTn>
                        </p:par>
                      </p:childTnLst>
                    </p:cTn>
                  </p:par>
                  <p:par>
                    <p:cTn id="124" fill="hold">
                      <p:stCondLst>
                        <p:cond delay="indefinite"/>
                      </p:stCondLst>
                      <p:childTnLst>
                        <p:par>
                          <p:cTn id="125" fill="hold">
                            <p:stCondLst>
                              <p:cond delay="0"/>
                            </p:stCondLst>
                            <p:childTnLst>
                              <p:par>
                                <p:cTn id="130" presetID="2" presetClass="entr" presetSubtype="4" fill="hold" grpId="0" nodeType="clickEffect">
                                  <p:stCondLst>
                                    <p:cond delay="0"/>
                                  </p:stCondLst>
                                  <p:childTnLst>
                                    <p:set>
                                      <p:cBhvr>
                                        <p:cTn id="126" dur="1" fill="hold">
                                          <p:stCondLst>
                                            <p:cond delay="0"/>
                                          </p:stCondLst>
                                        </p:cTn>
                                        <p:tgtEl>
                                          <p:spTgt spid="34"/>
                                        </p:tgtEl>
                                        <p:attrNameLst>
                                          <p:attrName>style.visibility</p:attrName>
                                        </p:attrNameLst>
                                      </p:cBhvr>
                                      <p:to>
                                        <p:strVal val="visible"/>
                                      </p:to>
                                    </p:set>
                                    <p:anim calcmode="lin" valueType="num">
                                      <p:cBhvr additive="base">
                                        <p:cTn id="127" dur="500" fill="hold"/>
                                        <p:tgtEl>
                                          <p:spTgt spid="34"/>
                                        </p:tgtEl>
                                        <p:attrNameLst>
                                          <p:attrName>ppt_x</p:attrName>
                                        </p:attrNameLst>
                                      </p:cBhvr>
                                      <p:tavLst>
                                        <p:tav tm="0">
                                          <p:val>
                                            <p:strVal val="#ppt_x"/>
                                          </p:val>
                                        </p:tav>
                                        <p:tav tm="100000">
                                          <p:val>
                                            <p:strVal val="#ppt_x"/>
                                          </p:val>
                                        </p:tav>
                                      </p:tavLst>
                                    </p:anim>
                                    <p:anim calcmode="lin" valueType="num">
                                      <p:cBhvr additive="base">
                                        <p:cTn id="128" dur="500" fill="hold"/>
                                        <p:tgtEl>
                                          <p:spTgt spid="34"/>
                                        </p:tgtEl>
                                        <p:attrNameLst>
                                          <p:attrName>ppt_y</p:attrName>
                                        </p:attrNameLst>
                                      </p:cBhvr>
                                      <p:tavLst>
                                        <p:tav tm="0">
                                          <p:val>
                                            <p:strVal val="#ppt_y+0.1"/>
                                          </p:val>
                                        </p:tav>
                                        <p:tav tm="100000">
                                          <p:val>
                                            <p:strVal val="#ppt_y"/>
                                          </p:val>
                                        </p:tav>
                                      </p:tavLst>
                                    </p:anim>
                                    <p:animEffect transition="in" filter="fade">
                                      <p:cBhvr>
                                        <p:cTn id="129" dur="500"/>
                                        <p:tgtEl>
                                          <p:spTgt spid="34"/>
                                        </p:tgtEl>
                                      </p:cBhvr>
                                    </p:animEffect>
                                  </p:childTnLst>
                                </p:cTn>
                              </p:par>
                              <p:par>
                                <p:cTn id="135" presetID="2" presetClass="entr" presetSubtype="4" fill="hold" grpId="0" nodeType="withEffect">
                                  <p:stCondLst>
                                    <p:cond delay="0"/>
                                  </p:stCondLst>
                                  <p:childTnLst>
                                    <p:set>
                                      <p:cBhvr>
                                        <p:cTn id="131" dur="1" fill="hold">
                                          <p:stCondLst>
                                            <p:cond delay="0"/>
                                          </p:stCondLst>
                                        </p:cTn>
                                        <p:tgtEl>
                                          <p:spTgt spid="35"/>
                                        </p:tgtEl>
                                        <p:attrNameLst>
                                          <p:attrName>style.visibility</p:attrName>
                                        </p:attrNameLst>
                                      </p:cBhvr>
                                      <p:to>
                                        <p:strVal val="visible"/>
                                      </p:to>
                                    </p:set>
                                    <p:anim calcmode="lin" valueType="num">
                                      <p:cBhvr additive="base">
                                        <p:cTn id="132" dur="500" fill="hold"/>
                                        <p:tgtEl>
                                          <p:spTgt spid="35"/>
                                        </p:tgtEl>
                                        <p:attrNameLst>
                                          <p:attrName>ppt_x</p:attrName>
                                        </p:attrNameLst>
                                      </p:cBhvr>
                                      <p:tavLst>
                                        <p:tav tm="0">
                                          <p:val>
                                            <p:strVal val="#ppt_x"/>
                                          </p:val>
                                        </p:tav>
                                        <p:tav tm="100000">
                                          <p:val>
                                            <p:strVal val="#ppt_x"/>
                                          </p:val>
                                        </p:tav>
                                      </p:tavLst>
                                    </p:anim>
                                    <p:anim calcmode="lin" valueType="num">
                                      <p:cBhvr additive="base">
                                        <p:cTn id="133" dur="500" fill="hold"/>
                                        <p:tgtEl>
                                          <p:spTgt spid="35"/>
                                        </p:tgtEl>
                                        <p:attrNameLst>
                                          <p:attrName>ppt_y</p:attrName>
                                        </p:attrNameLst>
                                      </p:cBhvr>
                                      <p:tavLst>
                                        <p:tav tm="0">
                                          <p:val>
                                            <p:strVal val="#ppt_y+0.1"/>
                                          </p:val>
                                        </p:tav>
                                        <p:tav tm="100000">
                                          <p:val>
                                            <p:strVal val="#ppt_y"/>
                                          </p:val>
                                        </p:tav>
                                      </p:tavLst>
                                    </p:anim>
                                    <p:animEffect transition="in" filter="fade">
                                      <p:cBhvr>
                                        <p:cTn id="134" dur="500"/>
                                        <p:tgtEl>
                                          <p:spTgt spid="35"/>
                                        </p:tgtEl>
                                      </p:cBhvr>
                                    </p:animEffect>
                                  </p:childTnLst>
                                </p:cTn>
                              </p:par>
                              <p:par>
                                <p:cTn id="140" presetID="2" presetClass="entr" presetSubtype="4" fill="hold" grpId="0" nodeType="withEffect">
                                  <p:stCondLst>
                                    <p:cond delay="0"/>
                                  </p:stCondLst>
                                  <p:childTnLst>
                                    <p:set>
                                      <p:cBhvr>
                                        <p:cTn id="136" dur="1" fill="hold">
                                          <p:stCondLst>
                                            <p:cond delay="0"/>
                                          </p:stCondLst>
                                        </p:cTn>
                                        <p:tgtEl>
                                          <p:spTgt spid="36"/>
                                        </p:tgtEl>
                                        <p:attrNameLst>
                                          <p:attrName>style.visibility</p:attrName>
                                        </p:attrNameLst>
                                      </p:cBhvr>
                                      <p:to>
                                        <p:strVal val="visible"/>
                                      </p:to>
                                    </p:set>
                                    <p:anim calcmode="lin" valueType="num">
                                      <p:cBhvr additive="base">
                                        <p:cTn id="137" dur="500" fill="hold"/>
                                        <p:tgtEl>
                                          <p:spTgt spid="36"/>
                                        </p:tgtEl>
                                        <p:attrNameLst>
                                          <p:attrName>ppt_x</p:attrName>
                                        </p:attrNameLst>
                                      </p:cBhvr>
                                      <p:tavLst>
                                        <p:tav tm="0">
                                          <p:val>
                                            <p:strVal val="#ppt_x"/>
                                          </p:val>
                                        </p:tav>
                                        <p:tav tm="100000">
                                          <p:val>
                                            <p:strVal val="#ppt_x"/>
                                          </p:val>
                                        </p:tav>
                                      </p:tavLst>
                                    </p:anim>
                                    <p:anim calcmode="lin" valueType="num">
                                      <p:cBhvr additive="base">
                                        <p:cTn id="138" dur="500" fill="hold"/>
                                        <p:tgtEl>
                                          <p:spTgt spid="36"/>
                                        </p:tgtEl>
                                        <p:attrNameLst>
                                          <p:attrName>ppt_y</p:attrName>
                                        </p:attrNameLst>
                                      </p:cBhvr>
                                      <p:tavLst>
                                        <p:tav tm="0">
                                          <p:val>
                                            <p:strVal val="#ppt_y+0.1"/>
                                          </p:val>
                                        </p:tav>
                                        <p:tav tm="100000">
                                          <p:val>
                                            <p:strVal val="#ppt_y"/>
                                          </p:val>
                                        </p:tav>
                                      </p:tavLst>
                                    </p:anim>
                                    <p:animEffect transition="in" filter="fade">
                                      <p:cBhvr>
                                        <p:cTn id="139" dur="500"/>
                                        <p:tgtEl>
                                          <p:spTgt spid="36"/>
                                        </p:tgtEl>
                                      </p:cBhvr>
                                    </p:animEffect>
                                  </p:childTnLst>
                                </p:cTn>
                              </p:par>
                              <p:par>
                                <p:cTn id="145" presetID="2" presetClass="entr" presetSubtype="4" fill="hold" grpId="0" nodeType="withEffect">
                                  <p:stCondLst>
                                    <p:cond delay="60"/>
                                  </p:stCondLst>
                                  <p:childTnLst>
                                    <p:set>
                                      <p:cBhvr>
                                        <p:cTn id="141" dur="1" fill="hold">
                                          <p:stCondLst>
                                            <p:cond delay="0"/>
                                          </p:stCondLst>
                                        </p:cTn>
                                        <p:tgtEl>
                                          <p:spTgt spid="37"/>
                                        </p:tgtEl>
                                        <p:attrNameLst>
                                          <p:attrName>style.visibility</p:attrName>
                                        </p:attrNameLst>
                                      </p:cBhvr>
                                      <p:to>
                                        <p:strVal val="visible"/>
                                      </p:to>
                                    </p:set>
                                    <p:anim calcmode="lin" valueType="num">
                                      <p:cBhvr additive="base">
                                        <p:cTn id="142" dur="500" fill="hold"/>
                                        <p:tgtEl>
                                          <p:spTgt spid="37"/>
                                        </p:tgtEl>
                                        <p:attrNameLst>
                                          <p:attrName>ppt_x</p:attrName>
                                        </p:attrNameLst>
                                      </p:cBhvr>
                                      <p:tavLst>
                                        <p:tav tm="0">
                                          <p:val>
                                            <p:strVal val="#ppt_x"/>
                                          </p:val>
                                        </p:tav>
                                        <p:tav tm="100000">
                                          <p:val>
                                            <p:strVal val="#ppt_x"/>
                                          </p:val>
                                        </p:tav>
                                      </p:tavLst>
                                    </p:anim>
                                    <p:anim calcmode="lin" valueType="num">
                                      <p:cBhvr additive="base">
                                        <p:cTn id="143" dur="500" fill="hold"/>
                                        <p:tgtEl>
                                          <p:spTgt spid="37"/>
                                        </p:tgtEl>
                                        <p:attrNameLst>
                                          <p:attrName>ppt_y</p:attrName>
                                        </p:attrNameLst>
                                      </p:cBhvr>
                                      <p:tavLst>
                                        <p:tav tm="0">
                                          <p:val>
                                            <p:strVal val="#ppt_y+0.1"/>
                                          </p:val>
                                        </p:tav>
                                        <p:tav tm="100000">
                                          <p:val>
                                            <p:strVal val="#ppt_y"/>
                                          </p:val>
                                        </p:tav>
                                      </p:tavLst>
                                    </p:anim>
                                    <p:animEffect transition="in" filter="fade">
                                      <p:cBhvr>
                                        <p:cTn id="144" dur="500"/>
                                        <p:tgtEl>
                                          <p:spTgt spid="37"/>
                                        </p:tgtEl>
                                      </p:cBhvr>
                                    </p:animEffect>
                                  </p:childTnLst>
                                </p:cTn>
                              </p:par>
                            </p:childTnLst>
                          </p:cTn>
                        </p:par>
                      </p:childTnLst>
                    </p:cTn>
                  </p:par>
                  <p:par>
                    <p:cTn id="146" fill="hold">
                      <p:stCondLst>
                        <p:cond delay="indefinite"/>
                      </p:stCondLst>
                      <p:childTnLst>
                        <p:par>
                          <p:cTn id="147" fill="hold">
                            <p:stCondLst>
                              <p:cond delay="0"/>
                            </p:stCondLst>
                            <p:childTnLst>
                              <p:par>
                                <p:cTn id="152" presetID="2" presetClass="entr" presetSubtype="4" fill="hold" grpId="0" nodeType="clickEffect">
                                  <p:stCondLst>
                                    <p:cond delay="0"/>
                                  </p:stCondLst>
                                  <p:childTnLst>
                                    <p:set>
                                      <p:cBhvr>
                                        <p:cTn id="148" dur="1" fill="hold">
                                          <p:stCondLst>
                                            <p:cond delay="0"/>
                                          </p:stCondLst>
                                        </p:cTn>
                                        <p:tgtEl>
                                          <p:spTgt spid="38"/>
                                        </p:tgtEl>
                                        <p:attrNameLst>
                                          <p:attrName>style.visibility</p:attrName>
                                        </p:attrNameLst>
                                      </p:cBhvr>
                                      <p:to>
                                        <p:strVal val="visible"/>
                                      </p:to>
                                    </p:set>
                                    <p:anim calcmode="lin" valueType="num">
                                      <p:cBhvr additive="base">
                                        <p:cTn id="149" dur="500" fill="hold"/>
                                        <p:tgtEl>
                                          <p:spTgt spid="38"/>
                                        </p:tgtEl>
                                        <p:attrNameLst>
                                          <p:attrName>ppt_x</p:attrName>
                                        </p:attrNameLst>
                                      </p:cBhvr>
                                      <p:tavLst>
                                        <p:tav tm="0">
                                          <p:val>
                                            <p:strVal val="#ppt_x"/>
                                          </p:val>
                                        </p:tav>
                                        <p:tav tm="100000">
                                          <p:val>
                                            <p:strVal val="#ppt_x"/>
                                          </p:val>
                                        </p:tav>
                                      </p:tavLst>
                                    </p:anim>
                                    <p:anim calcmode="lin" valueType="num">
                                      <p:cBhvr additive="base">
                                        <p:cTn id="150" dur="500" fill="hold"/>
                                        <p:tgtEl>
                                          <p:spTgt spid="38"/>
                                        </p:tgtEl>
                                        <p:attrNameLst>
                                          <p:attrName>ppt_y</p:attrName>
                                        </p:attrNameLst>
                                      </p:cBhvr>
                                      <p:tavLst>
                                        <p:tav tm="0">
                                          <p:val>
                                            <p:strVal val="#ppt_y+0.1"/>
                                          </p:val>
                                        </p:tav>
                                        <p:tav tm="100000">
                                          <p:val>
                                            <p:strVal val="#ppt_y"/>
                                          </p:val>
                                        </p:tav>
                                      </p:tavLst>
                                    </p:anim>
                                    <p:animEffect transition="in" filter="fade">
                                      <p:cBhvr>
                                        <p:cTn id="151" dur="500"/>
                                        <p:tgtEl>
                                          <p:spTgt spid="38"/>
                                        </p:tgtEl>
                                      </p:cBhvr>
                                    </p:animEffect>
                                  </p:childTnLst>
                                </p:cTn>
                              </p:par>
                              <p:par>
                                <p:cTn id="157" presetID="2" presetClass="entr" presetSubtype="4" fill="hold" grpId="0" nodeType="withEffect">
                                  <p:stCondLst>
                                    <p:cond delay="0"/>
                                  </p:stCondLst>
                                  <p:childTnLst>
                                    <p:set>
                                      <p:cBhvr>
                                        <p:cTn id="153" dur="1" fill="hold">
                                          <p:stCondLst>
                                            <p:cond delay="0"/>
                                          </p:stCondLst>
                                        </p:cTn>
                                        <p:tgtEl>
                                          <p:spTgt spid="39"/>
                                        </p:tgtEl>
                                        <p:attrNameLst>
                                          <p:attrName>style.visibility</p:attrName>
                                        </p:attrNameLst>
                                      </p:cBhvr>
                                      <p:to>
                                        <p:strVal val="visible"/>
                                      </p:to>
                                    </p:set>
                                    <p:anim calcmode="lin" valueType="num">
                                      <p:cBhvr additive="base">
                                        <p:cTn id="154" dur="500" fill="hold"/>
                                        <p:tgtEl>
                                          <p:spTgt spid="39"/>
                                        </p:tgtEl>
                                        <p:attrNameLst>
                                          <p:attrName>ppt_x</p:attrName>
                                        </p:attrNameLst>
                                      </p:cBhvr>
                                      <p:tavLst>
                                        <p:tav tm="0">
                                          <p:val>
                                            <p:strVal val="#ppt_x"/>
                                          </p:val>
                                        </p:tav>
                                        <p:tav tm="100000">
                                          <p:val>
                                            <p:strVal val="#ppt_x"/>
                                          </p:val>
                                        </p:tav>
                                      </p:tavLst>
                                    </p:anim>
                                    <p:anim calcmode="lin" valueType="num">
                                      <p:cBhvr additive="base">
                                        <p:cTn id="155" dur="500" fill="hold"/>
                                        <p:tgtEl>
                                          <p:spTgt spid="39"/>
                                        </p:tgtEl>
                                        <p:attrNameLst>
                                          <p:attrName>ppt_y</p:attrName>
                                        </p:attrNameLst>
                                      </p:cBhvr>
                                      <p:tavLst>
                                        <p:tav tm="0">
                                          <p:val>
                                            <p:strVal val="#ppt_y+0.1"/>
                                          </p:val>
                                        </p:tav>
                                        <p:tav tm="100000">
                                          <p:val>
                                            <p:strVal val="#ppt_y"/>
                                          </p:val>
                                        </p:tav>
                                      </p:tavLst>
                                    </p:anim>
                                    <p:animEffect transition="in" filter="fade">
                                      <p:cBhvr>
                                        <p:cTn id="156" dur="500"/>
                                        <p:tgtEl>
                                          <p:spTgt spid="39"/>
                                        </p:tgtEl>
                                      </p:cBhvr>
                                    </p:animEffect>
                                  </p:childTnLst>
                                </p:cTn>
                              </p:par>
                              <p:par>
                                <p:cTn id="162" presetID="2" presetClass="entr" presetSubtype="4" fill="hold" grpId="0" nodeType="withEffect">
                                  <p:stCondLst>
                                    <p:cond delay="0"/>
                                  </p:stCondLst>
                                  <p:childTnLst>
                                    <p:set>
                                      <p:cBhvr>
                                        <p:cTn id="158" dur="1" fill="hold">
                                          <p:stCondLst>
                                            <p:cond delay="0"/>
                                          </p:stCondLst>
                                        </p:cTn>
                                        <p:tgtEl>
                                          <p:spTgt spid="40"/>
                                        </p:tgtEl>
                                        <p:attrNameLst>
                                          <p:attrName>style.visibility</p:attrName>
                                        </p:attrNameLst>
                                      </p:cBhvr>
                                      <p:to>
                                        <p:strVal val="visible"/>
                                      </p:to>
                                    </p:set>
                                    <p:anim calcmode="lin" valueType="num">
                                      <p:cBhvr additive="base">
                                        <p:cTn id="159" dur="500" fill="hold"/>
                                        <p:tgtEl>
                                          <p:spTgt spid="40"/>
                                        </p:tgtEl>
                                        <p:attrNameLst>
                                          <p:attrName>ppt_x</p:attrName>
                                        </p:attrNameLst>
                                      </p:cBhvr>
                                      <p:tavLst>
                                        <p:tav tm="0">
                                          <p:val>
                                            <p:strVal val="#ppt_x"/>
                                          </p:val>
                                        </p:tav>
                                        <p:tav tm="100000">
                                          <p:val>
                                            <p:strVal val="#ppt_x"/>
                                          </p:val>
                                        </p:tav>
                                      </p:tavLst>
                                    </p:anim>
                                    <p:anim calcmode="lin" valueType="num">
                                      <p:cBhvr additive="base">
                                        <p:cTn id="160" dur="500" fill="hold"/>
                                        <p:tgtEl>
                                          <p:spTgt spid="40"/>
                                        </p:tgtEl>
                                        <p:attrNameLst>
                                          <p:attrName>ppt_y</p:attrName>
                                        </p:attrNameLst>
                                      </p:cBhvr>
                                      <p:tavLst>
                                        <p:tav tm="0">
                                          <p:val>
                                            <p:strVal val="#ppt_y+0.1"/>
                                          </p:val>
                                        </p:tav>
                                        <p:tav tm="100000">
                                          <p:val>
                                            <p:strVal val="#ppt_y"/>
                                          </p:val>
                                        </p:tav>
                                      </p:tavLst>
                                    </p:anim>
                                    <p:animEffect transition="in" filter="fade">
                                      <p:cBhvr>
                                        <p:cTn id="161"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The Long Tail: Free as in Puppy</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Over 4,000 connectors on GitHub - in various stages of usefulness</a:t>
            </a:r>
          </a:p>
        </p:txBody>
      </p:sp>
      <p:sp>
        <p:nvSpPr>
          <p:cNvPr id="11" name="a1u_card10"/>
          <p:cNvSpPr/>
          <p:nvPr/>
        </p:nvSpPr>
        <p:spPr>
          <a:xfrm>
            <a:off x="457200" y="1280160"/>
            <a:ext cx="2615184" cy="960120"/>
          </a:xfrm>
          <a:prstGeom prst="roundRect">
            <a:avLst>
              <a:gd name="adj" fmla="val 11428"/>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80160"/>
            <a:ext cx="2615184" cy="45720"/>
          </a:xfrm>
          <a:prstGeom prst="rect">
            <a:avLst/>
          </a:prstGeom>
          <a:solidFill>
            <a:srgbClr val="7871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tt12"/>
          <p:cNvSpPr txBox="1"/>
          <p:nvPr/>
        </p:nvSpPr>
        <p:spPr>
          <a:xfrm>
            <a:off x="603504" y="1389888"/>
            <a:ext cx="2340864" cy="256032"/>
          </a:xfrm>
          <a:prstGeom prst="rect">
            <a:avLst/>
          </a:prstGeom>
          <a:noFill/>
        </p:spPr>
        <p:txBody>
          <a:bodyPr wrap="square" lIns="0" tIns="0" rIns="0" bIns="0" anchor="ctr">
            <a:spAutoFit/>
          </a:bodyPr>
          <a:lstStyle/>
          <a:p>
            <a:pPr algn="l"/>
            <a:r>
              <a:rPr sz="1100" b="1">
                <a:solidFill>
                  <a:srgbClr val="1C1917"/>
                </a:solidFill>
                <a:latin typeface="Segoe UI"/>
              </a:rPr>
              <a:t>Free as in speech</a:t>
            </a:r>
          </a:p>
        </p:txBody>
      </p:sp>
      <p:sp>
        <p:nvSpPr>
          <p:cNvPr id="14" name="a1ud60_tb13"/>
          <p:cNvSpPr txBox="1"/>
          <p:nvPr/>
        </p:nvSpPr>
        <p:spPr>
          <a:xfrm>
            <a:off x="603504" y="1682495"/>
            <a:ext cx="2340864" cy="502920"/>
          </a:xfrm>
          <a:prstGeom prst="rect">
            <a:avLst/>
          </a:prstGeom>
          <a:noFill/>
        </p:spPr>
        <p:txBody>
          <a:bodyPr wrap="square" lIns="0" tIns="0" rIns="0" bIns="0" anchor="t">
            <a:spAutoFit/>
          </a:bodyPr>
          <a:lstStyle/>
          <a:p>
            <a:pPr algn="l"/>
            <a:r>
              <a:rPr sz="900" b="0">
                <a:solidFill>
                  <a:srgbClr val="44403C"/>
                </a:solidFill>
                <a:latin typeface="Segoe UI"/>
              </a:rPr>
              <a:t>you may read and change the code</a:t>
            </a:r>
          </a:p>
        </p:txBody>
      </p:sp>
      <p:sp>
        <p:nvSpPr>
          <p:cNvPr id="15" name="a1u_card14"/>
          <p:cNvSpPr/>
          <p:nvPr/>
        </p:nvSpPr>
        <p:spPr>
          <a:xfrm>
            <a:off x="3264408" y="1280160"/>
            <a:ext cx="2615184" cy="960120"/>
          </a:xfrm>
          <a:prstGeom prst="roundRect">
            <a:avLst>
              <a:gd name="adj" fmla="val 11428"/>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1u_acc15"/>
          <p:cNvSpPr/>
          <p:nvPr/>
        </p:nvSpPr>
        <p:spPr>
          <a:xfrm>
            <a:off x="3264408" y="1280160"/>
            <a:ext cx="2615184" cy="45720"/>
          </a:xfrm>
          <a:prstGeom prst="rect">
            <a:avLst/>
          </a:prstGeom>
          <a:solidFill>
            <a:srgbClr val="7871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_tt16"/>
          <p:cNvSpPr txBox="1"/>
          <p:nvPr/>
        </p:nvSpPr>
        <p:spPr>
          <a:xfrm>
            <a:off x="3410712" y="1389888"/>
            <a:ext cx="2340864" cy="256032"/>
          </a:xfrm>
          <a:prstGeom prst="rect">
            <a:avLst/>
          </a:prstGeom>
          <a:noFill/>
        </p:spPr>
        <p:txBody>
          <a:bodyPr wrap="square" lIns="0" tIns="0" rIns="0" bIns="0" anchor="ctr">
            <a:spAutoFit/>
          </a:bodyPr>
          <a:lstStyle/>
          <a:p>
            <a:pPr algn="l"/>
            <a:r>
              <a:rPr sz="1100" b="1">
                <a:solidFill>
                  <a:srgbClr val="1C1917"/>
                </a:solidFill>
                <a:latin typeface="Segoe UI"/>
              </a:rPr>
              <a:t>Free as in beer</a:t>
            </a:r>
          </a:p>
        </p:txBody>
      </p:sp>
      <p:sp>
        <p:nvSpPr>
          <p:cNvPr id="18" name="a1ud60_tb17"/>
          <p:cNvSpPr txBox="1"/>
          <p:nvPr/>
        </p:nvSpPr>
        <p:spPr>
          <a:xfrm>
            <a:off x="3410712" y="1682495"/>
            <a:ext cx="2340864" cy="502920"/>
          </a:xfrm>
          <a:prstGeom prst="rect">
            <a:avLst/>
          </a:prstGeom>
          <a:noFill/>
        </p:spPr>
        <p:txBody>
          <a:bodyPr wrap="square" lIns="0" tIns="0" rIns="0" bIns="0" anchor="t">
            <a:spAutoFit/>
          </a:bodyPr>
          <a:lstStyle/>
          <a:p>
            <a:pPr algn="l"/>
            <a:r>
              <a:rPr sz="900" b="0">
                <a:solidFill>
                  <a:srgbClr val="44403C"/>
                </a:solidFill>
                <a:latin typeface="Segoe UI"/>
              </a:rPr>
              <a:t>it costs nothing to download</a:t>
            </a:r>
          </a:p>
        </p:txBody>
      </p:sp>
      <p:sp>
        <p:nvSpPr>
          <p:cNvPr id="19" name="a2u_card18"/>
          <p:cNvSpPr/>
          <p:nvPr/>
        </p:nvSpPr>
        <p:spPr>
          <a:xfrm>
            <a:off x="6071616" y="1280160"/>
            <a:ext cx="2615184" cy="960120"/>
          </a:xfrm>
          <a:prstGeom prst="roundRect">
            <a:avLst>
              <a:gd name="adj" fmla="val 11428"/>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2u_acc19"/>
          <p:cNvSpPr/>
          <p:nvPr/>
        </p:nvSpPr>
        <p:spPr>
          <a:xfrm>
            <a:off x="6071616" y="1280160"/>
            <a:ext cx="2615184" cy="4572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2u_tt20"/>
          <p:cNvSpPr txBox="1"/>
          <p:nvPr/>
        </p:nvSpPr>
        <p:spPr>
          <a:xfrm>
            <a:off x="6217920" y="1389888"/>
            <a:ext cx="2340864" cy="256032"/>
          </a:xfrm>
          <a:prstGeom prst="rect">
            <a:avLst/>
          </a:prstGeom>
          <a:noFill/>
        </p:spPr>
        <p:txBody>
          <a:bodyPr wrap="square" lIns="0" tIns="0" rIns="0" bIns="0" anchor="ctr">
            <a:spAutoFit/>
          </a:bodyPr>
          <a:lstStyle/>
          <a:p>
            <a:pPr algn="l"/>
            <a:r>
              <a:rPr sz="1100" b="1">
                <a:solidFill>
                  <a:srgbClr val="1C1917"/>
                </a:solidFill>
                <a:latin typeface="Segoe UI"/>
              </a:rPr>
              <a:t>Free as in puppy</a:t>
            </a:r>
          </a:p>
        </p:txBody>
      </p:sp>
      <p:sp>
        <p:nvSpPr>
          <p:cNvPr id="22" name="a2ud60_tb21"/>
          <p:cNvSpPr txBox="1"/>
          <p:nvPr/>
        </p:nvSpPr>
        <p:spPr>
          <a:xfrm>
            <a:off x="6217920" y="1682495"/>
            <a:ext cx="2340864" cy="502920"/>
          </a:xfrm>
          <a:prstGeom prst="rect">
            <a:avLst/>
          </a:prstGeom>
          <a:noFill/>
        </p:spPr>
        <p:txBody>
          <a:bodyPr wrap="square" lIns="0" tIns="0" rIns="0" bIns="0" anchor="t">
            <a:spAutoFit/>
          </a:bodyPr>
          <a:lstStyle/>
          <a:p>
            <a:pPr algn="l"/>
            <a:r>
              <a:rPr sz="900" b="0">
                <a:solidFill>
                  <a:srgbClr val="44403C"/>
                </a:solidFill>
                <a:latin typeface="Segoe UI"/>
              </a:rPr>
              <a:t>it's yours now - feed it, fix it, update it, for years</a:t>
            </a:r>
          </a:p>
        </p:txBody>
      </p:sp>
      <p:sp>
        <p:nvSpPr>
          <p:cNvPr id="23" name="a3u_card22"/>
          <p:cNvSpPr/>
          <p:nvPr/>
        </p:nvSpPr>
        <p:spPr>
          <a:xfrm>
            <a:off x="457200" y="2423160"/>
            <a:ext cx="8229600" cy="1280160"/>
          </a:xfrm>
          <a:prstGeom prst="roundRect">
            <a:avLst>
              <a:gd name="adj" fmla="val 8571"/>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3u_acc23"/>
          <p:cNvSpPr/>
          <p:nvPr/>
        </p:nvSpPr>
        <p:spPr>
          <a:xfrm>
            <a:off x="457200" y="2423160"/>
            <a:ext cx="50292" cy="128016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3u_hh24"/>
          <p:cNvSpPr txBox="1"/>
          <p:nvPr/>
        </p:nvSpPr>
        <p:spPr>
          <a:xfrm>
            <a:off x="658368" y="2532888"/>
            <a:ext cx="7863840" cy="237744"/>
          </a:xfrm>
          <a:prstGeom prst="rect">
            <a:avLst/>
          </a:prstGeom>
          <a:noFill/>
        </p:spPr>
        <p:txBody>
          <a:bodyPr wrap="square" lIns="0" tIns="0" rIns="0" bIns="0" anchor="ctr">
            <a:spAutoFit/>
          </a:bodyPr>
          <a:lstStyle/>
          <a:p>
            <a:pPr algn="l"/>
            <a:r>
              <a:rPr sz="900" b="1">
                <a:solidFill>
                  <a:srgbClr val="A16207"/>
                </a:solidFill>
                <a:latin typeface="Segoe UI"/>
              </a:rPr>
              <a:t>BEFORE YOU ADOPT A LONG-TAIL CONNECTOR, ASK</a:t>
            </a:r>
          </a:p>
        </p:txBody>
      </p:sp>
      <p:sp>
        <p:nvSpPr>
          <p:cNvPr id="26" name="a3ud100_pill25"/>
          <p:cNvSpPr/>
          <p:nvPr/>
        </p:nvSpPr>
        <p:spPr>
          <a:xfrm>
            <a:off x="658368" y="2788920"/>
            <a:ext cx="1216152"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C2410C"/>
                </a:solidFill>
                <a:latin typeface="Consolas"/>
              </a:rPr>
              <a:t>last release?</a:t>
            </a:r>
          </a:p>
        </p:txBody>
      </p:sp>
      <p:sp>
        <p:nvSpPr>
          <p:cNvPr id="27" name="a3ud190_pill26"/>
          <p:cNvSpPr/>
          <p:nvPr/>
        </p:nvSpPr>
        <p:spPr>
          <a:xfrm>
            <a:off x="1965960" y="2788920"/>
            <a:ext cx="1216152"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C2410C"/>
                </a:solidFill>
                <a:latin typeface="Consolas"/>
              </a:rPr>
              <a:t>open issues?</a:t>
            </a:r>
          </a:p>
        </p:txBody>
      </p:sp>
      <p:sp>
        <p:nvSpPr>
          <p:cNvPr id="28" name="a3ud280_pill27"/>
          <p:cNvSpPr/>
          <p:nvPr/>
        </p:nvSpPr>
        <p:spPr>
          <a:xfrm>
            <a:off x="3273552" y="2788920"/>
            <a:ext cx="1216152"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C2410C"/>
                </a:solidFill>
                <a:latin typeface="Consolas"/>
              </a:rPr>
              <a:t>license?</a:t>
            </a:r>
          </a:p>
        </p:txBody>
      </p:sp>
      <p:sp>
        <p:nvSpPr>
          <p:cNvPr id="29" name="a3ud370_pill28"/>
          <p:cNvSpPr/>
          <p:nvPr/>
        </p:nvSpPr>
        <p:spPr>
          <a:xfrm>
            <a:off x="4581144" y="2788920"/>
            <a:ext cx="1216152"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C2410C"/>
                </a:solidFill>
                <a:latin typeface="Consolas"/>
              </a:rPr>
              <a:t>tests?</a:t>
            </a:r>
          </a:p>
        </p:txBody>
      </p:sp>
      <p:sp>
        <p:nvSpPr>
          <p:cNvPr id="30" name="a3ud460_pill29"/>
          <p:cNvSpPr/>
          <p:nvPr/>
        </p:nvSpPr>
        <p:spPr>
          <a:xfrm>
            <a:off x="5888736" y="2788920"/>
            <a:ext cx="1216152"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C2410C"/>
                </a:solidFill>
                <a:latin typeface="Consolas"/>
              </a:rPr>
              <a:t>Kafka version?</a:t>
            </a:r>
          </a:p>
        </p:txBody>
      </p:sp>
      <p:sp>
        <p:nvSpPr>
          <p:cNvPr id="31" name="a3ud550_pill30"/>
          <p:cNvSpPr/>
          <p:nvPr/>
        </p:nvSpPr>
        <p:spPr>
          <a:xfrm>
            <a:off x="7196328" y="2788920"/>
            <a:ext cx="1216152"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C2410C"/>
                </a:solidFill>
                <a:latin typeface="Consolas"/>
              </a:rPr>
              <a:t>who fixes it?</a:t>
            </a:r>
          </a:p>
        </p:txBody>
      </p:sp>
      <p:sp>
        <p:nvSpPr>
          <p:cNvPr id="32" name="a3ud400_lt31"/>
          <p:cNvSpPr txBox="1"/>
          <p:nvPr/>
        </p:nvSpPr>
        <p:spPr>
          <a:xfrm>
            <a:off x="658368" y="3200400"/>
            <a:ext cx="7863840" cy="411480"/>
          </a:xfrm>
          <a:prstGeom prst="rect">
            <a:avLst/>
          </a:prstGeom>
          <a:noFill/>
        </p:spPr>
        <p:txBody>
          <a:bodyPr wrap="square" lIns="0" tIns="0" rIns="0" bIns="0" anchor="ctr">
            <a:spAutoFit/>
          </a:bodyPr>
          <a:lstStyle/>
          <a:p>
            <a:pPr algn="l"/>
            <a:r>
              <a:rPr sz="900" b="0">
                <a:solidFill>
                  <a:srgbClr val="44403C"/>
                </a:solidFill>
                <a:latin typeface="Segoe UI"/>
              </a:rPr>
              <a:t>Somebody wrote it for their use case, and it worked for them. It may not work for yours.</a:t>
            </a:r>
          </a:p>
        </p:txBody>
      </p:sp>
      <p:sp>
        <p:nvSpPr>
          <p:cNvPr id="33" name="a4u_nb32"/>
          <p:cNvSpPr/>
          <p:nvPr/>
        </p:nvSpPr>
        <p:spPr>
          <a:xfrm>
            <a:off x="457200" y="3886200"/>
            <a:ext cx="8229600" cy="566928"/>
          </a:xfrm>
          <a:prstGeom prst="roundRect">
            <a:avLst>
              <a:gd name="adj" fmla="val 12903"/>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4u_nacc33"/>
          <p:cNvSpPr/>
          <p:nvPr/>
        </p:nvSpPr>
        <p:spPr>
          <a:xfrm>
            <a:off x="457200" y="3886200"/>
            <a:ext cx="54864" cy="566928"/>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4u_nt34"/>
          <p:cNvSpPr txBox="1"/>
          <p:nvPr/>
        </p:nvSpPr>
        <p:spPr>
          <a:xfrm>
            <a:off x="658368" y="3886200"/>
            <a:ext cx="7827264" cy="566928"/>
          </a:xfrm>
          <a:prstGeom prst="rect">
            <a:avLst/>
          </a:prstGeom>
          <a:noFill/>
        </p:spPr>
        <p:txBody>
          <a:bodyPr wrap="square" lIns="0" tIns="0" rIns="0" bIns="0" anchor="ctr">
            <a:spAutoFit/>
          </a:bodyPr>
          <a:lstStyle/>
          <a:p>
            <a:pPr algn="l"/>
            <a:r>
              <a:rPr sz="950" b="1">
                <a:solidFill>
                  <a:srgbClr val="A16207"/>
                </a:solidFill>
                <a:latin typeface="Segoe UI"/>
              </a:rPr>
              <a:t>LAB  </a:t>
            </a:r>
            <a:r>
              <a:rPr sz="950" b="0">
                <a:solidFill>
                  <a:srgbClr val="44403C"/>
                </a:solidFill>
                <a:latin typeface="Segoe UI"/>
              </a:rPr>
              <a:t>The big use cases are covered well. The lab uses only free connectors: FileStream and JDBC.</a:t>
            </a:r>
          </a:p>
        </p:txBody>
      </p:sp>
      <p:sp>
        <p:nvSpPr>
          <p:cNvPr id="36" name="ft35"/>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12</a:t>
            </a:r>
          </a:p>
        </p:txBody>
      </p:sp>
      <p:sp>
        <p:nvSpPr>
          <p:cNvPr id="37" name="ft36"/>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ft37"/>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Kafka Connect</a:t>
            </a:r>
          </a:p>
        </p:txBody>
      </p:sp>
      <p:sp>
        <p:nvSpPr>
          <p:cNvPr id="39" name="ft38"/>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9</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ppt_x"/>
                                          </p:val>
                                        </p:tav>
                                        <p:tav tm="100000">
                                          <p:val>
                                            <p:strVal val="#ppt_x"/>
                                          </p:val>
                                        </p:tav>
                                      </p:tavLst>
                                    </p:anim>
                                    <p:anim calcmode="lin" valueType="num">
                                      <p:cBhvr additive="base">
                                        <p:cTn id="22" dur="500" fill="hold"/>
                                        <p:tgtEl>
                                          <p:spTgt spid="15"/>
                                        </p:tgtEl>
                                        <p:attrNameLst>
                                          <p:attrName>ppt_y</p:attrName>
                                        </p:attrNameLst>
                                      </p:cBhvr>
                                      <p:tavLst>
                                        <p:tav tm="0">
                                          <p:val>
                                            <p:strVal val="#ppt_y+0.1"/>
                                          </p:val>
                                        </p:tav>
                                        <p:tav tm="100000">
                                          <p:val>
                                            <p:strVal val="#ppt_y"/>
                                          </p:val>
                                        </p:tav>
                                      </p:tavLst>
                                    </p:anim>
                                    <p:animEffect transition="in" filter="fade">
                                      <p:cBhvr>
                                        <p:cTn id="23" dur="500"/>
                                        <p:tgtEl>
                                          <p:spTgt spid="15"/>
                                        </p:tgtEl>
                                      </p:cBhvr>
                                    </p:animEffect>
                                  </p:childTnLst>
                                </p:cTn>
                              </p:par>
                              <p:par>
                                <p:cTn id="29" presetID="2" presetClass="entr" presetSubtype="4"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 calcmode="lin" valueType="num">
                                      <p:cBhvr additive="base">
                                        <p:cTn id="26" dur="500" fill="hold"/>
                                        <p:tgtEl>
                                          <p:spTgt spid="16"/>
                                        </p:tgtEl>
                                        <p:attrNameLst>
                                          <p:attrName>ppt_x</p:attrName>
                                        </p:attrNameLst>
                                      </p:cBhvr>
                                      <p:tavLst>
                                        <p:tav tm="0">
                                          <p:val>
                                            <p:strVal val="#ppt_x"/>
                                          </p:val>
                                        </p:tav>
                                        <p:tav tm="100000">
                                          <p:val>
                                            <p:strVal val="#ppt_x"/>
                                          </p:val>
                                        </p:tav>
                                      </p:tavLst>
                                    </p:anim>
                                    <p:anim calcmode="lin" valueType="num">
                                      <p:cBhvr additive="base">
                                        <p:cTn id="27" dur="500" fill="hold"/>
                                        <p:tgtEl>
                                          <p:spTgt spid="16"/>
                                        </p:tgtEl>
                                        <p:attrNameLst>
                                          <p:attrName>ppt_y</p:attrName>
                                        </p:attrNameLst>
                                      </p:cBhvr>
                                      <p:tavLst>
                                        <p:tav tm="0">
                                          <p:val>
                                            <p:strVal val="#ppt_y+0.1"/>
                                          </p:val>
                                        </p:tav>
                                        <p:tav tm="100000">
                                          <p:val>
                                            <p:strVal val="#ppt_y"/>
                                          </p:val>
                                        </p:tav>
                                      </p:tavLst>
                                    </p:anim>
                                    <p:animEffect transition="in" filter="fade">
                                      <p:cBhvr>
                                        <p:cTn id="28" dur="500"/>
                                        <p:tgtEl>
                                          <p:spTgt spid="16"/>
                                        </p:tgtEl>
                                      </p:cBhvr>
                                    </p:animEffect>
                                  </p:childTnLst>
                                </p:cTn>
                              </p:par>
                              <p:par>
                                <p:cTn id="34" presetID="2" presetClass="entr" presetSubtype="4"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ppt_y+0.1"/>
                                          </p:val>
                                        </p:tav>
                                        <p:tav tm="100000">
                                          <p:val>
                                            <p:strVal val="#ppt_y"/>
                                          </p:val>
                                        </p:tav>
                                      </p:tavLst>
                                    </p:anim>
                                    <p:animEffect transition="in" filter="fade">
                                      <p:cBhvr>
                                        <p:cTn id="33" dur="500"/>
                                        <p:tgtEl>
                                          <p:spTgt spid="17"/>
                                        </p:tgtEl>
                                      </p:cBhvr>
                                    </p:animEffect>
                                  </p:childTnLst>
                                </p:cTn>
                              </p:par>
                              <p:par>
                                <p:cTn id="39" presetID="2" presetClass="entr" presetSubtype="4" fill="hold" grpId="0" nodeType="withEffect">
                                  <p:stCondLst>
                                    <p:cond delay="60"/>
                                  </p:stCondLst>
                                  <p:childTnLst>
                                    <p:set>
                                      <p:cBhvr>
                                        <p:cTn id="35" dur="1" fill="hold">
                                          <p:stCondLst>
                                            <p:cond delay="0"/>
                                          </p:stCondLst>
                                        </p:cTn>
                                        <p:tgtEl>
                                          <p:spTgt spid="14"/>
                                        </p:tgtEl>
                                        <p:attrNameLst>
                                          <p:attrName>style.visibility</p:attrName>
                                        </p:attrNameLst>
                                      </p:cBhvr>
                                      <p:to>
                                        <p:strVal val="visible"/>
                                      </p:to>
                                    </p:set>
                                    <p:anim calcmode="lin" valueType="num">
                                      <p:cBhvr additive="base">
                                        <p:cTn id="36" dur="500" fill="hold"/>
                                        <p:tgtEl>
                                          <p:spTgt spid="14"/>
                                        </p:tgtEl>
                                        <p:attrNameLst>
                                          <p:attrName>ppt_x</p:attrName>
                                        </p:attrNameLst>
                                      </p:cBhvr>
                                      <p:tavLst>
                                        <p:tav tm="0">
                                          <p:val>
                                            <p:strVal val="#ppt_x"/>
                                          </p:val>
                                        </p:tav>
                                        <p:tav tm="100000">
                                          <p:val>
                                            <p:strVal val="#ppt_x"/>
                                          </p:val>
                                        </p:tav>
                                      </p:tavLst>
                                    </p:anim>
                                    <p:anim calcmode="lin" valueType="num">
                                      <p:cBhvr additive="base">
                                        <p:cTn id="37" dur="500" fill="hold"/>
                                        <p:tgtEl>
                                          <p:spTgt spid="14"/>
                                        </p:tgtEl>
                                        <p:attrNameLst>
                                          <p:attrName>ppt_y</p:attrName>
                                        </p:attrNameLst>
                                      </p:cBhvr>
                                      <p:tavLst>
                                        <p:tav tm="0">
                                          <p:val>
                                            <p:strVal val="#ppt_y+0.1"/>
                                          </p:val>
                                        </p:tav>
                                        <p:tav tm="100000">
                                          <p:val>
                                            <p:strVal val="#ppt_y"/>
                                          </p:val>
                                        </p:tav>
                                      </p:tavLst>
                                    </p:anim>
                                    <p:animEffect transition="in" filter="fade">
                                      <p:cBhvr>
                                        <p:cTn id="38" dur="500"/>
                                        <p:tgtEl>
                                          <p:spTgt spid="14"/>
                                        </p:tgtEl>
                                      </p:cBhvr>
                                    </p:animEffect>
                                  </p:childTnLst>
                                </p:cTn>
                              </p:par>
                              <p:par>
                                <p:cTn id="44" presetID="2" presetClass="entr" presetSubtype="4" fill="hold" grpId="0" nodeType="withEffect">
                                  <p:stCondLst>
                                    <p:cond delay="6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childTnLst>
                          </p:cTn>
                        </p:par>
                      </p:childTnLst>
                    </p:cTn>
                  </p:par>
                  <p:par>
                    <p:cTn id="45" fill="hold">
                      <p:stCondLst>
                        <p:cond delay="indefinite"/>
                      </p:stCondLst>
                      <p:childTnLst>
                        <p:par>
                          <p:cTn id="46" fill="hold">
                            <p:stCondLst>
                              <p:cond delay="0"/>
                            </p:stCondLst>
                            <p:childTnLst>
                              <p:par>
                                <p:cTn id="51" presetID="2" presetClass="entr" presetSubtype="4" fill="hold" grpId="0" nodeType="clickEffect">
                                  <p:stCondLst>
                                    <p:cond delay="0"/>
                                  </p:stCondLst>
                                  <p:childTnLst>
                                    <p:set>
                                      <p:cBhvr>
                                        <p:cTn id="47" dur="1" fill="hold">
                                          <p:stCondLst>
                                            <p:cond delay="0"/>
                                          </p:stCondLst>
                                        </p:cTn>
                                        <p:tgtEl>
                                          <p:spTgt spid="19"/>
                                        </p:tgtEl>
                                        <p:attrNameLst>
                                          <p:attrName>style.visibility</p:attrName>
                                        </p:attrNameLst>
                                      </p:cBhvr>
                                      <p:to>
                                        <p:strVal val="visible"/>
                                      </p:to>
                                    </p:set>
                                    <p:anim calcmode="lin" valueType="num">
                                      <p:cBhvr additive="base">
                                        <p:cTn id="48" dur="500" fill="hold"/>
                                        <p:tgtEl>
                                          <p:spTgt spid="19"/>
                                        </p:tgtEl>
                                        <p:attrNameLst>
                                          <p:attrName>ppt_x</p:attrName>
                                        </p:attrNameLst>
                                      </p:cBhvr>
                                      <p:tavLst>
                                        <p:tav tm="0">
                                          <p:val>
                                            <p:strVal val="#ppt_x"/>
                                          </p:val>
                                        </p:tav>
                                        <p:tav tm="100000">
                                          <p:val>
                                            <p:strVal val="#ppt_x"/>
                                          </p:val>
                                        </p:tav>
                                      </p:tavLst>
                                    </p:anim>
                                    <p:anim calcmode="lin" valueType="num">
                                      <p:cBhvr additive="base">
                                        <p:cTn id="49" dur="500" fill="hold"/>
                                        <p:tgtEl>
                                          <p:spTgt spid="19"/>
                                        </p:tgtEl>
                                        <p:attrNameLst>
                                          <p:attrName>ppt_y</p:attrName>
                                        </p:attrNameLst>
                                      </p:cBhvr>
                                      <p:tavLst>
                                        <p:tav tm="0">
                                          <p:val>
                                            <p:strVal val="#ppt_y+0.1"/>
                                          </p:val>
                                        </p:tav>
                                        <p:tav tm="100000">
                                          <p:val>
                                            <p:strVal val="#ppt_y"/>
                                          </p:val>
                                        </p:tav>
                                      </p:tavLst>
                                    </p:anim>
                                    <p:animEffect transition="in" filter="fade">
                                      <p:cBhvr>
                                        <p:cTn id="50" dur="500"/>
                                        <p:tgtEl>
                                          <p:spTgt spid="19"/>
                                        </p:tgtEl>
                                      </p:cBhvr>
                                    </p:animEffect>
                                  </p:childTnLst>
                                </p:cTn>
                              </p:par>
                              <p:par>
                                <p:cTn id="56" presetID="2" presetClass="entr" presetSubtype="4"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 calcmode="lin" valueType="num">
                                      <p:cBhvr additive="base">
                                        <p:cTn id="53" dur="500" fill="hold"/>
                                        <p:tgtEl>
                                          <p:spTgt spid="20"/>
                                        </p:tgtEl>
                                        <p:attrNameLst>
                                          <p:attrName>ppt_x</p:attrName>
                                        </p:attrNameLst>
                                      </p:cBhvr>
                                      <p:tavLst>
                                        <p:tav tm="0">
                                          <p:val>
                                            <p:strVal val="#ppt_x"/>
                                          </p:val>
                                        </p:tav>
                                        <p:tav tm="100000">
                                          <p:val>
                                            <p:strVal val="#ppt_x"/>
                                          </p:val>
                                        </p:tav>
                                      </p:tavLst>
                                    </p:anim>
                                    <p:anim calcmode="lin" valueType="num">
                                      <p:cBhvr additive="base">
                                        <p:cTn id="54" dur="500" fill="hold"/>
                                        <p:tgtEl>
                                          <p:spTgt spid="20"/>
                                        </p:tgtEl>
                                        <p:attrNameLst>
                                          <p:attrName>ppt_y</p:attrName>
                                        </p:attrNameLst>
                                      </p:cBhvr>
                                      <p:tavLst>
                                        <p:tav tm="0">
                                          <p:val>
                                            <p:strVal val="#ppt_y+0.1"/>
                                          </p:val>
                                        </p:tav>
                                        <p:tav tm="100000">
                                          <p:val>
                                            <p:strVal val="#ppt_y"/>
                                          </p:val>
                                        </p:tav>
                                      </p:tavLst>
                                    </p:anim>
                                    <p:animEffect transition="in" filter="fade">
                                      <p:cBhvr>
                                        <p:cTn id="55" dur="500"/>
                                        <p:tgtEl>
                                          <p:spTgt spid="20"/>
                                        </p:tgtEl>
                                      </p:cBhvr>
                                    </p:animEffect>
                                  </p:childTnLst>
                                </p:cTn>
                              </p:par>
                              <p:par>
                                <p:cTn id="61" presetID="2" presetClass="entr" presetSubtype="4"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 calcmode="lin" valueType="num">
                                      <p:cBhvr additive="base">
                                        <p:cTn id="58" dur="500" fill="hold"/>
                                        <p:tgtEl>
                                          <p:spTgt spid="21"/>
                                        </p:tgtEl>
                                        <p:attrNameLst>
                                          <p:attrName>ppt_x</p:attrName>
                                        </p:attrNameLst>
                                      </p:cBhvr>
                                      <p:tavLst>
                                        <p:tav tm="0">
                                          <p:val>
                                            <p:strVal val="#ppt_x"/>
                                          </p:val>
                                        </p:tav>
                                        <p:tav tm="100000">
                                          <p:val>
                                            <p:strVal val="#ppt_x"/>
                                          </p:val>
                                        </p:tav>
                                      </p:tavLst>
                                    </p:anim>
                                    <p:anim calcmode="lin" valueType="num">
                                      <p:cBhvr additive="base">
                                        <p:cTn id="59" dur="500" fill="hold"/>
                                        <p:tgtEl>
                                          <p:spTgt spid="21"/>
                                        </p:tgtEl>
                                        <p:attrNameLst>
                                          <p:attrName>ppt_y</p:attrName>
                                        </p:attrNameLst>
                                      </p:cBhvr>
                                      <p:tavLst>
                                        <p:tav tm="0">
                                          <p:val>
                                            <p:strVal val="#ppt_y+0.1"/>
                                          </p:val>
                                        </p:tav>
                                        <p:tav tm="100000">
                                          <p:val>
                                            <p:strVal val="#ppt_y"/>
                                          </p:val>
                                        </p:tav>
                                      </p:tavLst>
                                    </p:anim>
                                    <p:animEffect transition="in" filter="fade">
                                      <p:cBhvr>
                                        <p:cTn id="60" dur="500"/>
                                        <p:tgtEl>
                                          <p:spTgt spid="21"/>
                                        </p:tgtEl>
                                      </p:cBhvr>
                                    </p:animEffect>
                                  </p:childTnLst>
                                </p:cTn>
                              </p:par>
                              <p:par>
                                <p:cTn id="66" presetID="2" presetClass="entr" presetSubtype="4" fill="hold" grpId="0" nodeType="withEffect">
                                  <p:stCondLst>
                                    <p:cond delay="60"/>
                                  </p:stCondLst>
                                  <p:childTnLst>
                                    <p:set>
                                      <p:cBhvr>
                                        <p:cTn id="62" dur="1" fill="hold">
                                          <p:stCondLst>
                                            <p:cond delay="0"/>
                                          </p:stCondLst>
                                        </p:cTn>
                                        <p:tgtEl>
                                          <p:spTgt spid="22"/>
                                        </p:tgtEl>
                                        <p:attrNameLst>
                                          <p:attrName>style.visibility</p:attrName>
                                        </p:attrNameLst>
                                      </p:cBhvr>
                                      <p:to>
                                        <p:strVal val="visible"/>
                                      </p:to>
                                    </p:set>
                                    <p:anim calcmode="lin" valueType="num">
                                      <p:cBhvr additive="base">
                                        <p:cTn id="63" dur="500" fill="hold"/>
                                        <p:tgtEl>
                                          <p:spTgt spid="22"/>
                                        </p:tgtEl>
                                        <p:attrNameLst>
                                          <p:attrName>ppt_x</p:attrName>
                                        </p:attrNameLst>
                                      </p:cBhvr>
                                      <p:tavLst>
                                        <p:tav tm="0">
                                          <p:val>
                                            <p:strVal val="#ppt_x"/>
                                          </p:val>
                                        </p:tav>
                                        <p:tav tm="100000">
                                          <p:val>
                                            <p:strVal val="#ppt_x"/>
                                          </p:val>
                                        </p:tav>
                                      </p:tavLst>
                                    </p:anim>
                                    <p:anim calcmode="lin" valueType="num">
                                      <p:cBhvr additive="base">
                                        <p:cTn id="64" dur="500" fill="hold"/>
                                        <p:tgtEl>
                                          <p:spTgt spid="22"/>
                                        </p:tgtEl>
                                        <p:attrNameLst>
                                          <p:attrName>ppt_y</p:attrName>
                                        </p:attrNameLst>
                                      </p:cBhvr>
                                      <p:tavLst>
                                        <p:tav tm="0">
                                          <p:val>
                                            <p:strVal val="#ppt_y+0.1"/>
                                          </p:val>
                                        </p:tav>
                                        <p:tav tm="100000">
                                          <p:val>
                                            <p:strVal val="#ppt_y"/>
                                          </p:val>
                                        </p:tav>
                                      </p:tavLst>
                                    </p:anim>
                                    <p:animEffect transition="in" filter="fade">
                                      <p:cBhvr>
                                        <p:cTn id="65" dur="500"/>
                                        <p:tgtEl>
                                          <p:spTgt spid="22"/>
                                        </p:tgtEl>
                                      </p:cBhvr>
                                    </p:animEffect>
                                  </p:childTnLst>
                                </p:cTn>
                              </p:par>
                            </p:childTnLst>
                          </p:cTn>
                        </p:par>
                      </p:childTnLst>
                    </p:cTn>
                  </p:par>
                  <p:par>
                    <p:cTn id="67" fill="hold">
                      <p:stCondLst>
                        <p:cond delay="indefinite"/>
                      </p:stCondLst>
                      <p:childTnLst>
                        <p:par>
                          <p:cTn id="68" fill="hold">
                            <p:stCondLst>
                              <p:cond delay="0"/>
                            </p:stCondLst>
                            <p:childTnLst>
                              <p:par>
                                <p:cTn id="73" presetID="2" presetClass="entr" presetSubtype="4" fill="hold" grpId="0" nodeType="clickEffect">
                                  <p:stCondLst>
                                    <p:cond delay="0"/>
                                  </p:stCondLst>
                                  <p:childTnLst>
                                    <p:set>
                                      <p:cBhvr>
                                        <p:cTn id="69" dur="1" fill="hold">
                                          <p:stCondLst>
                                            <p:cond delay="0"/>
                                          </p:stCondLst>
                                        </p:cTn>
                                        <p:tgtEl>
                                          <p:spTgt spid="23"/>
                                        </p:tgtEl>
                                        <p:attrNameLst>
                                          <p:attrName>style.visibility</p:attrName>
                                        </p:attrNameLst>
                                      </p:cBhvr>
                                      <p:to>
                                        <p:strVal val="visible"/>
                                      </p:to>
                                    </p:set>
                                    <p:anim calcmode="lin" valueType="num">
                                      <p:cBhvr additive="base">
                                        <p:cTn id="70" dur="500" fill="hold"/>
                                        <p:tgtEl>
                                          <p:spTgt spid="23"/>
                                        </p:tgtEl>
                                        <p:attrNameLst>
                                          <p:attrName>ppt_x</p:attrName>
                                        </p:attrNameLst>
                                      </p:cBhvr>
                                      <p:tavLst>
                                        <p:tav tm="0">
                                          <p:val>
                                            <p:strVal val="#ppt_x"/>
                                          </p:val>
                                        </p:tav>
                                        <p:tav tm="100000">
                                          <p:val>
                                            <p:strVal val="#ppt_x"/>
                                          </p:val>
                                        </p:tav>
                                      </p:tavLst>
                                    </p:anim>
                                    <p:anim calcmode="lin" valueType="num">
                                      <p:cBhvr additive="base">
                                        <p:cTn id="71" dur="500" fill="hold"/>
                                        <p:tgtEl>
                                          <p:spTgt spid="23"/>
                                        </p:tgtEl>
                                        <p:attrNameLst>
                                          <p:attrName>ppt_y</p:attrName>
                                        </p:attrNameLst>
                                      </p:cBhvr>
                                      <p:tavLst>
                                        <p:tav tm="0">
                                          <p:val>
                                            <p:strVal val="#ppt_y+0.1"/>
                                          </p:val>
                                        </p:tav>
                                        <p:tav tm="100000">
                                          <p:val>
                                            <p:strVal val="#ppt_y"/>
                                          </p:val>
                                        </p:tav>
                                      </p:tavLst>
                                    </p:anim>
                                    <p:animEffect transition="in" filter="fade">
                                      <p:cBhvr>
                                        <p:cTn id="72" dur="500"/>
                                        <p:tgtEl>
                                          <p:spTgt spid="23"/>
                                        </p:tgtEl>
                                      </p:cBhvr>
                                    </p:animEffect>
                                  </p:childTnLst>
                                </p:cTn>
                              </p:par>
                              <p:par>
                                <p:cTn id="78" presetID="2" presetClass="entr" presetSubtype="4" fill="hold" grpId="0" nodeType="withEffect">
                                  <p:stCondLst>
                                    <p:cond delay="0"/>
                                  </p:stCondLst>
                                  <p:childTnLst>
                                    <p:set>
                                      <p:cBhvr>
                                        <p:cTn id="74" dur="1" fill="hold">
                                          <p:stCondLst>
                                            <p:cond delay="0"/>
                                          </p:stCondLst>
                                        </p:cTn>
                                        <p:tgtEl>
                                          <p:spTgt spid="24"/>
                                        </p:tgtEl>
                                        <p:attrNameLst>
                                          <p:attrName>style.visibility</p:attrName>
                                        </p:attrNameLst>
                                      </p:cBhvr>
                                      <p:to>
                                        <p:strVal val="visible"/>
                                      </p:to>
                                    </p:set>
                                    <p:anim calcmode="lin" valueType="num">
                                      <p:cBhvr additive="base">
                                        <p:cTn id="75" dur="500" fill="hold"/>
                                        <p:tgtEl>
                                          <p:spTgt spid="24"/>
                                        </p:tgtEl>
                                        <p:attrNameLst>
                                          <p:attrName>ppt_x</p:attrName>
                                        </p:attrNameLst>
                                      </p:cBhvr>
                                      <p:tavLst>
                                        <p:tav tm="0">
                                          <p:val>
                                            <p:strVal val="#ppt_x"/>
                                          </p:val>
                                        </p:tav>
                                        <p:tav tm="100000">
                                          <p:val>
                                            <p:strVal val="#ppt_x"/>
                                          </p:val>
                                        </p:tav>
                                      </p:tavLst>
                                    </p:anim>
                                    <p:anim calcmode="lin" valueType="num">
                                      <p:cBhvr additive="base">
                                        <p:cTn id="76" dur="500" fill="hold"/>
                                        <p:tgtEl>
                                          <p:spTgt spid="24"/>
                                        </p:tgtEl>
                                        <p:attrNameLst>
                                          <p:attrName>ppt_y</p:attrName>
                                        </p:attrNameLst>
                                      </p:cBhvr>
                                      <p:tavLst>
                                        <p:tav tm="0">
                                          <p:val>
                                            <p:strVal val="#ppt_y+0.1"/>
                                          </p:val>
                                        </p:tav>
                                        <p:tav tm="100000">
                                          <p:val>
                                            <p:strVal val="#ppt_y"/>
                                          </p:val>
                                        </p:tav>
                                      </p:tavLst>
                                    </p:anim>
                                    <p:animEffect transition="in" filter="fade">
                                      <p:cBhvr>
                                        <p:cTn id="77" dur="500"/>
                                        <p:tgtEl>
                                          <p:spTgt spid="24"/>
                                        </p:tgtEl>
                                      </p:cBhvr>
                                    </p:animEffect>
                                  </p:childTnLst>
                                </p:cTn>
                              </p:par>
                              <p:par>
                                <p:cTn id="83" presetID="2" presetClass="entr" presetSubtype="4" fill="hold" grpId="0" nodeType="withEffect">
                                  <p:stCondLst>
                                    <p:cond delay="0"/>
                                  </p:stCondLst>
                                  <p:childTnLst>
                                    <p:set>
                                      <p:cBhvr>
                                        <p:cTn id="79" dur="1" fill="hold">
                                          <p:stCondLst>
                                            <p:cond delay="0"/>
                                          </p:stCondLst>
                                        </p:cTn>
                                        <p:tgtEl>
                                          <p:spTgt spid="25"/>
                                        </p:tgtEl>
                                        <p:attrNameLst>
                                          <p:attrName>style.visibility</p:attrName>
                                        </p:attrNameLst>
                                      </p:cBhvr>
                                      <p:to>
                                        <p:strVal val="visible"/>
                                      </p:to>
                                    </p:set>
                                    <p:anim calcmode="lin" valueType="num">
                                      <p:cBhvr additive="base">
                                        <p:cTn id="80" dur="500" fill="hold"/>
                                        <p:tgtEl>
                                          <p:spTgt spid="25"/>
                                        </p:tgtEl>
                                        <p:attrNameLst>
                                          <p:attrName>ppt_x</p:attrName>
                                        </p:attrNameLst>
                                      </p:cBhvr>
                                      <p:tavLst>
                                        <p:tav tm="0">
                                          <p:val>
                                            <p:strVal val="#ppt_x"/>
                                          </p:val>
                                        </p:tav>
                                        <p:tav tm="100000">
                                          <p:val>
                                            <p:strVal val="#ppt_x"/>
                                          </p:val>
                                        </p:tav>
                                      </p:tavLst>
                                    </p:anim>
                                    <p:anim calcmode="lin" valueType="num">
                                      <p:cBhvr additive="base">
                                        <p:cTn id="81" dur="500" fill="hold"/>
                                        <p:tgtEl>
                                          <p:spTgt spid="25"/>
                                        </p:tgtEl>
                                        <p:attrNameLst>
                                          <p:attrName>ppt_y</p:attrName>
                                        </p:attrNameLst>
                                      </p:cBhvr>
                                      <p:tavLst>
                                        <p:tav tm="0">
                                          <p:val>
                                            <p:strVal val="#ppt_y+0.1"/>
                                          </p:val>
                                        </p:tav>
                                        <p:tav tm="100000">
                                          <p:val>
                                            <p:strVal val="#ppt_y"/>
                                          </p:val>
                                        </p:tav>
                                      </p:tavLst>
                                    </p:anim>
                                    <p:animEffect transition="in" filter="fade">
                                      <p:cBhvr>
                                        <p:cTn id="82" dur="500"/>
                                        <p:tgtEl>
                                          <p:spTgt spid="25"/>
                                        </p:tgtEl>
                                      </p:cBhvr>
                                    </p:animEffect>
                                  </p:childTnLst>
                                </p:cTn>
                              </p:par>
                              <p:par>
                                <p:cTn id="88" presetID="2" presetClass="entr" presetSubtype="4" fill="hold" grpId="0" nodeType="withEffect">
                                  <p:stCondLst>
                                    <p:cond delay="100"/>
                                  </p:stCondLst>
                                  <p:childTnLst>
                                    <p:set>
                                      <p:cBhvr>
                                        <p:cTn id="84" dur="1" fill="hold">
                                          <p:stCondLst>
                                            <p:cond delay="0"/>
                                          </p:stCondLst>
                                        </p:cTn>
                                        <p:tgtEl>
                                          <p:spTgt spid="26"/>
                                        </p:tgtEl>
                                        <p:attrNameLst>
                                          <p:attrName>style.visibility</p:attrName>
                                        </p:attrNameLst>
                                      </p:cBhvr>
                                      <p:to>
                                        <p:strVal val="visible"/>
                                      </p:to>
                                    </p:set>
                                    <p:anim calcmode="lin" valueType="num">
                                      <p:cBhvr additive="base">
                                        <p:cTn id="85" dur="500" fill="hold"/>
                                        <p:tgtEl>
                                          <p:spTgt spid="26"/>
                                        </p:tgtEl>
                                        <p:attrNameLst>
                                          <p:attrName>ppt_x</p:attrName>
                                        </p:attrNameLst>
                                      </p:cBhvr>
                                      <p:tavLst>
                                        <p:tav tm="0">
                                          <p:val>
                                            <p:strVal val="#ppt_x"/>
                                          </p:val>
                                        </p:tav>
                                        <p:tav tm="100000">
                                          <p:val>
                                            <p:strVal val="#ppt_x"/>
                                          </p:val>
                                        </p:tav>
                                      </p:tavLst>
                                    </p:anim>
                                    <p:anim calcmode="lin" valueType="num">
                                      <p:cBhvr additive="base">
                                        <p:cTn id="86" dur="500" fill="hold"/>
                                        <p:tgtEl>
                                          <p:spTgt spid="26"/>
                                        </p:tgtEl>
                                        <p:attrNameLst>
                                          <p:attrName>ppt_y</p:attrName>
                                        </p:attrNameLst>
                                      </p:cBhvr>
                                      <p:tavLst>
                                        <p:tav tm="0">
                                          <p:val>
                                            <p:strVal val="#ppt_y+0.1"/>
                                          </p:val>
                                        </p:tav>
                                        <p:tav tm="100000">
                                          <p:val>
                                            <p:strVal val="#ppt_y"/>
                                          </p:val>
                                        </p:tav>
                                      </p:tavLst>
                                    </p:anim>
                                    <p:animEffect transition="in" filter="fade">
                                      <p:cBhvr>
                                        <p:cTn id="87" dur="500"/>
                                        <p:tgtEl>
                                          <p:spTgt spid="26"/>
                                        </p:tgtEl>
                                      </p:cBhvr>
                                    </p:animEffect>
                                  </p:childTnLst>
                                </p:cTn>
                              </p:par>
                              <p:par>
                                <p:cTn id="93" presetID="2" presetClass="entr" presetSubtype="4" fill="hold" grpId="0" nodeType="withEffect">
                                  <p:stCondLst>
                                    <p:cond delay="190"/>
                                  </p:stCondLst>
                                  <p:childTnLst>
                                    <p:set>
                                      <p:cBhvr>
                                        <p:cTn id="89" dur="1" fill="hold">
                                          <p:stCondLst>
                                            <p:cond delay="0"/>
                                          </p:stCondLst>
                                        </p:cTn>
                                        <p:tgtEl>
                                          <p:spTgt spid="27"/>
                                        </p:tgtEl>
                                        <p:attrNameLst>
                                          <p:attrName>style.visibility</p:attrName>
                                        </p:attrNameLst>
                                      </p:cBhvr>
                                      <p:to>
                                        <p:strVal val="visible"/>
                                      </p:to>
                                    </p:set>
                                    <p:anim calcmode="lin" valueType="num">
                                      <p:cBhvr additive="base">
                                        <p:cTn id="90" dur="500" fill="hold"/>
                                        <p:tgtEl>
                                          <p:spTgt spid="27"/>
                                        </p:tgtEl>
                                        <p:attrNameLst>
                                          <p:attrName>ppt_x</p:attrName>
                                        </p:attrNameLst>
                                      </p:cBhvr>
                                      <p:tavLst>
                                        <p:tav tm="0">
                                          <p:val>
                                            <p:strVal val="#ppt_x"/>
                                          </p:val>
                                        </p:tav>
                                        <p:tav tm="100000">
                                          <p:val>
                                            <p:strVal val="#ppt_x"/>
                                          </p:val>
                                        </p:tav>
                                      </p:tavLst>
                                    </p:anim>
                                    <p:anim calcmode="lin" valueType="num">
                                      <p:cBhvr additive="base">
                                        <p:cTn id="91" dur="500" fill="hold"/>
                                        <p:tgtEl>
                                          <p:spTgt spid="27"/>
                                        </p:tgtEl>
                                        <p:attrNameLst>
                                          <p:attrName>ppt_y</p:attrName>
                                        </p:attrNameLst>
                                      </p:cBhvr>
                                      <p:tavLst>
                                        <p:tav tm="0">
                                          <p:val>
                                            <p:strVal val="#ppt_y+0.1"/>
                                          </p:val>
                                        </p:tav>
                                        <p:tav tm="100000">
                                          <p:val>
                                            <p:strVal val="#ppt_y"/>
                                          </p:val>
                                        </p:tav>
                                      </p:tavLst>
                                    </p:anim>
                                    <p:animEffect transition="in" filter="fade">
                                      <p:cBhvr>
                                        <p:cTn id="92" dur="500"/>
                                        <p:tgtEl>
                                          <p:spTgt spid="27"/>
                                        </p:tgtEl>
                                      </p:cBhvr>
                                    </p:animEffect>
                                  </p:childTnLst>
                                </p:cTn>
                              </p:par>
                              <p:par>
                                <p:cTn id="98" presetID="2" presetClass="entr" presetSubtype="4" fill="hold" grpId="0" nodeType="withEffect">
                                  <p:stCondLst>
                                    <p:cond delay="280"/>
                                  </p:stCondLst>
                                  <p:childTnLst>
                                    <p:set>
                                      <p:cBhvr>
                                        <p:cTn id="94" dur="1" fill="hold">
                                          <p:stCondLst>
                                            <p:cond delay="0"/>
                                          </p:stCondLst>
                                        </p:cTn>
                                        <p:tgtEl>
                                          <p:spTgt spid="28"/>
                                        </p:tgtEl>
                                        <p:attrNameLst>
                                          <p:attrName>style.visibility</p:attrName>
                                        </p:attrNameLst>
                                      </p:cBhvr>
                                      <p:to>
                                        <p:strVal val="visible"/>
                                      </p:to>
                                    </p:set>
                                    <p:anim calcmode="lin" valueType="num">
                                      <p:cBhvr additive="base">
                                        <p:cTn id="95" dur="500" fill="hold"/>
                                        <p:tgtEl>
                                          <p:spTgt spid="28"/>
                                        </p:tgtEl>
                                        <p:attrNameLst>
                                          <p:attrName>ppt_x</p:attrName>
                                        </p:attrNameLst>
                                      </p:cBhvr>
                                      <p:tavLst>
                                        <p:tav tm="0">
                                          <p:val>
                                            <p:strVal val="#ppt_x"/>
                                          </p:val>
                                        </p:tav>
                                        <p:tav tm="100000">
                                          <p:val>
                                            <p:strVal val="#ppt_x"/>
                                          </p:val>
                                        </p:tav>
                                      </p:tavLst>
                                    </p:anim>
                                    <p:anim calcmode="lin" valueType="num">
                                      <p:cBhvr additive="base">
                                        <p:cTn id="96" dur="500" fill="hold"/>
                                        <p:tgtEl>
                                          <p:spTgt spid="28"/>
                                        </p:tgtEl>
                                        <p:attrNameLst>
                                          <p:attrName>ppt_y</p:attrName>
                                        </p:attrNameLst>
                                      </p:cBhvr>
                                      <p:tavLst>
                                        <p:tav tm="0">
                                          <p:val>
                                            <p:strVal val="#ppt_y+0.1"/>
                                          </p:val>
                                        </p:tav>
                                        <p:tav tm="100000">
                                          <p:val>
                                            <p:strVal val="#ppt_y"/>
                                          </p:val>
                                        </p:tav>
                                      </p:tavLst>
                                    </p:anim>
                                    <p:animEffect transition="in" filter="fade">
                                      <p:cBhvr>
                                        <p:cTn id="97" dur="500"/>
                                        <p:tgtEl>
                                          <p:spTgt spid="28"/>
                                        </p:tgtEl>
                                      </p:cBhvr>
                                    </p:animEffect>
                                  </p:childTnLst>
                                </p:cTn>
                              </p:par>
                              <p:par>
                                <p:cTn id="103" presetID="2" presetClass="entr" presetSubtype="4" fill="hold" grpId="0" nodeType="withEffect">
                                  <p:stCondLst>
                                    <p:cond delay="370"/>
                                  </p:stCondLst>
                                  <p:childTnLst>
                                    <p:set>
                                      <p:cBhvr>
                                        <p:cTn id="99" dur="1" fill="hold">
                                          <p:stCondLst>
                                            <p:cond delay="0"/>
                                          </p:stCondLst>
                                        </p:cTn>
                                        <p:tgtEl>
                                          <p:spTgt spid="29"/>
                                        </p:tgtEl>
                                        <p:attrNameLst>
                                          <p:attrName>style.visibility</p:attrName>
                                        </p:attrNameLst>
                                      </p:cBhvr>
                                      <p:to>
                                        <p:strVal val="visible"/>
                                      </p:to>
                                    </p:set>
                                    <p:anim calcmode="lin" valueType="num">
                                      <p:cBhvr additive="base">
                                        <p:cTn id="100" dur="500" fill="hold"/>
                                        <p:tgtEl>
                                          <p:spTgt spid="29"/>
                                        </p:tgtEl>
                                        <p:attrNameLst>
                                          <p:attrName>ppt_x</p:attrName>
                                        </p:attrNameLst>
                                      </p:cBhvr>
                                      <p:tavLst>
                                        <p:tav tm="0">
                                          <p:val>
                                            <p:strVal val="#ppt_x"/>
                                          </p:val>
                                        </p:tav>
                                        <p:tav tm="100000">
                                          <p:val>
                                            <p:strVal val="#ppt_x"/>
                                          </p:val>
                                        </p:tav>
                                      </p:tavLst>
                                    </p:anim>
                                    <p:anim calcmode="lin" valueType="num">
                                      <p:cBhvr additive="base">
                                        <p:cTn id="101" dur="500" fill="hold"/>
                                        <p:tgtEl>
                                          <p:spTgt spid="29"/>
                                        </p:tgtEl>
                                        <p:attrNameLst>
                                          <p:attrName>ppt_y</p:attrName>
                                        </p:attrNameLst>
                                      </p:cBhvr>
                                      <p:tavLst>
                                        <p:tav tm="0">
                                          <p:val>
                                            <p:strVal val="#ppt_y+0.1"/>
                                          </p:val>
                                        </p:tav>
                                        <p:tav tm="100000">
                                          <p:val>
                                            <p:strVal val="#ppt_y"/>
                                          </p:val>
                                        </p:tav>
                                      </p:tavLst>
                                    </p:anim>
                                    <p:animEffect transition="in" filter="fade">
                                      <p:cBhvr>
                                        <p:cTn id="102" dur="500"/>
                                        <p:tgtEl>
                                          <p:spTgt spid="29"/>
                                        </p:tgtEl>
                                      </p:cBhvr>
                                    </p:animEffect>
                                  </p:childTnLst>
                                </p:cTn>
                              </p:par>
                              <p:par>
                                <p:cTn id="108" presetID="2" presetClass="entr" presetSubtype="4" fill="hold" grpId="0" nodeType="withEffect">
                                  <p:stCondLst>
                                    <p:cond delay="400"/>
                                  </p:stCondLst>
                                  <p:childTnLst>
                                    <p:set>
                                      <p:cBhvr>
                                        <p:cTn id="104" dur="1" fill="hold">
                                          <p:stCondLst>
                                            <p:cond delay="0"/>
                                          </p:stCondLst>
                                        </p:cTn>
                                        <p:tgtEl>
                                          <p:spTgt spid="32"/>
                                        </p:tgtEl>
                                        <p:attrNameLst>
                                          <p:attrName>style.visibility</p:attrName>
                                        </p:attrNameLst>
                                      </p:cBhvr>
                                      <p:to>
                                        <p:strVal val="visible"/>
                                      </p:to>
                                    </p:set>
                                    <p:anim calcmode="lin" valueType="num">
                                      <p:cBhvr additive="base">
                                        <p:cTn id="105" dur="500" fill="hold"/>
                                        <p:tgtEl>
                                          <p:spTgt spid="32"/>
                                        </p:tgtEl>
                                        <p:attrNameLst>
                                          <p:attrName>ppt_x</p:attrName>
                                        </p:attrNameLst>
                                      </p:cBhvr>
                                      <p:tavLst>
                                        <p:tav tm="0">
                                          <p:val>
                                            <p:strVal val="#ppt_x"/>
                                          </p:val>
                                        </p:tav>
                                        <p:tav tm="100000">
                                          <p:val>
                                            <p:strVal val="#ppt_x"/>
                                          </p:val>
                                        </p:tav>
                                      </p:tavLst>
                                    </p:anim>
                                    <p:anim calcmode="lin" valueType="num">
                                      <p:cBhvr additive="base">
                                        <p:cTn id="106" dur="500" fill="hold"/>
                                        <p:tgtEl>
                                          <p:spTgt spid="32"/>
                                        </p:tgtEl>
                                        <p:attrNameLst>
                                          <p:attrName>ppt_y</p:attrName>
                                        </p:attrNameLst>
                                      </p:cBhvr>
                                      <p:tavLst>
                                        <p:tav tm="0">
                                          <p:val>
                                            <p:strVal val="#ppt_y+0.1"/>
                                          </p:val>
                                        </p:tav>
                                        <p:tav tm="100000">
                                          <p:val>
                                            <p:strVal val="#ppt_y"/>
                                          </p:val>
                                        </p:tav>
                                      </p:tavLst>
                                    </p:anim>
                                    <p:animEffect transition="in" filter="fade">
                                      <p:cBhvr>
                                        <p:cTn id="107" dur="500"/>
                                        <p:tgtEl>
                                          <p:spTgt spid="32"/>
                                        </p:tgtEl>
                                      </p:cBhvr>
                                    </p:animEffect>
                                  </p:childTnLst>
                                </p:cTn>
                              </p:par>
                              <p:par>
                                <p:cTn id="113" presetID="2" presetClass="entr" presetSubtype="4" fill="hold" grpId="0" nodeType="withEffect">
                                  <p:stCondLst>
                                    <p:cond delay="460"/>
                                  </p:stCondLst>
                                  <p:childTnLst>
                                    <p:set>
                                      <p:cBhvr>
                                        <p:cTn id="109" dur="1" fill="hold">
                                          <p:stCondLst>
                                            <p:cond delay="0"/>
                                          </p:stCondLst>
                                        </p:cTn>
                                        <p:tgtEl>
                                          <p:spTgt spid="30"/>
                                        </p:tgtEl>
                                        <p:attrNameLst>
                                          <p:attrName>style.visibility</p:attrName>
                                        </p:attrNameLst>
                                      </p:cBhvr>
                                      <p:to>
                                        <p:strVal val="visible"/>
                                      </p:to>
                                    </p:set>
                                    <p:anim calcmode="lin" valueType="num">
                                      <p:cBhvr additive="base">
                                        <p:cTn id="110" dur="500" fill="hold"/>
                                        <p:tgtEl>
                                          <p:spTgt spid="30"/>
                                        </p:tgtEl>
                                        <p:attrNameLst>
                                          <p:attrName>ppt_x</p:attrName>
                                        </p:attrNameLst>
                                      </p:cBhvr>
                                      <p:tavLst>
                                        <p:tav tm="0">
                                          <p:val>
                                            <p:strVal val="#ppt_x"/>
                                          </p:val>
                                        </p:tav>
                                        <p:tav tm="100000">
                                          <p:val>
                                            <p:strVal val="#ppt_x"/>
                                          </p:val>
                                        </p:tav>
                                      </p:tavLst>
                                    </p:anim>
                                    <p:anim calcmode="lin" valueType="num">
                                      <p:cBhvr additive="base">
                                        <p:cTn id="111" dur="500" fill="hold"/>
                                        <p:tgtEl>
                                          <p:spTgt spid="30"/>
                                        </p:tgtEl>
                                        <p:attrNameLst>
                                          <p:attrName>ppt_y</p:attrName>
                                        </p:attrNameLst>
                                      </p:cBhvr>
                                      <p:tavLst>
                                        <p:tav tm="0">
                                          <p:val>
                                            <p:strVal val="#ppt_y+0.1"/>
                                          </p:val>
                                        </p:tav>
                                        <p:tav tm="100000">
                                          <p:val>
                                            <p:strVal val="#ppt_y"/>
                                          </p:val>
                                        </p:tav>
                                      </p:tavLst>
                                    </p:anim>
                                    <p:animEffect transition="in" filter="fade">
                                      <p:cBhvr>
                                        <p:cTn id="112" dur="500"/>
                                        <p:tgtEl>
                                          <p:spTgt spid="30"/>
                                        </p:tgtEl>
                                      </p:cBhvr>
                                    </p:animEffect>
                                  </p:childTnLst>
                                </p:cTn>
                              </p:par>
                              <p:par>
                                <p:cTn id="118" presetID="2" presetClass="entr" presetSubtype="4" fill="hold" grpId="0" nodeType="withEffect">
                                  <p:stCondLst>
                                    <p:cond delay="550"/>
                                  </p:stCondLst>
                                  <p:childTnLst>
                                    <p:set>
                                      <p:cBhvr>
                                        <p:cTn id="114" dur="1" fill="hold">
                                          <p:stCondLst>
                                            <p:cond delay="0"/>
                                          </p:stCondLst>
                                        </p:cTn>
                                        <p:tgtEl>
                                          <p:spTgt spid="31"/>
                                        </p:tgtEl>
                                        <p:attrNameLst>
                                          <p:attrName>style.visibility</p:attrName>
                                        </p:attrNameLst>
                                      </p:cBhvr>
                                      <p:to>
                                        <p:strVal val="visible"/>
                                      </p:to>
                                    </p:set>
                                    <p:anim calcmode="lin" valueType="num">
                                      <p:cBhvr additive="base">
                                        <p:cTn id="115" dur="500" fill="hold"/>
                                        <p:tgtEl>
                                          <p:spTgt spid="31"/>
                                        </p:tgtEl>
                                        <p:attrNameLst>
                                          <p:attrName>ppt_x</p:attrName>
                                        </p:attrNameLst>
                                      </p:cBhvr>
                                      <p:tavLst>
                                        <p:tav tm="0">
                                          <p:val>
                                            <p:strVal val="#ppt_x"/>
                                          </p:val>
                                        </p:tav>
                                        <p:tav tm="100000">
                                          <p:val>
                                            <p:strVal val="#ppt_x"/>
                                          </p:val>
                                        </p:tav>
                                      </p:tavLst>
                                    </p:anim>
                                    <p:anim calcmode="lin" valueType="num">
                                      <p:cBhvr additive="base">
                                        <p:cTn id="116" dur="500" fill="hold"/>
                                        <p:tgtEl>
                                          <p:spTgt spid="31"/>
                                        </p:tgtEl>
                                        <p:attrNameLst>
                                          <p:attrName>ppt_y</p:attrName>
                                        </p:attrNameLst>
                                      </p:cBhvr>
                                      <p:tavLst>
                                        <p:tav tm="0">
                                          <p:val>
                                            <p:strVal val="#ppt_y+0.1"/>
                                          </p:val>
                                        </p:tav>
                                        <p:tav tm="100000">
                                          <p:val>
                                            <p:strVal val="#ppt_y"/>
                                          </p:val>
                                        </p:tav>
                                      </p:tavLst>
                                    </p:anim>
                                    <p:animEffect transition="in" filter="fade">
                                      <p:cBhvr>
                                        <p:cTn id="117" dur="500"/>
                                        <p:tgtEl>
                                          <p:spTgt spid="31"/>
                                        </p:tgtEl>
                                      </p:cBhvr>
                                    </p:animEffect>
                                  </p:childTnLst>
                                </p:cTn>
                              </p:par>
                            </p:childTnLst>
                          </p:cTn>
                        </p:par>
                      </p:childTnLst>
                    </p:cTn>
                  </p:par>
                  <p:par>
                    <p:cTn id="119" fill="hold">
                      <p:stCondLst>
                        <p:cond delay="indefinite"/>
                      </p:stCondLst>
                      <p:childTnLst>
                        <p:par>
                          <p:cTn id="120" fill="hold">
                            <p:stCondLst>
                              <p:cond delay="0"/>
                            </p:stCondLst>
                            <p:childTnLst>
                              <p:par>
                                <p:cTn id="125" presetID="2" presetClass="entr" presetSubtype="4" fill="hold" grpId="0" nodeType="clickEffect">
                                  <p:stCondLst>
                                    <p:cond delay="0"/>
                                  </p:stCondLst>
                                  <p:childTnLst>
                                    <p:set>
                                      <p:cBhvr>
                                        <p:cTn id="121" dur="1" fill="hold">
                                          <p:stCondLst>
                                            <p:cond delay="0"/>
                                          </p:stCondLst>
                                        </p:cTn>
                                        <p:tgtEl>
                                          <p:spTgt spid="33"/>
                                        </p:tgtEl>
                                        <p:attrNameLst>
                                          <p:attrName>style.visibility</p:attrName>
                                        </p:attrNameLst>
                                      </p:cBhvr>
                                      <p:to>
                                        <p:strVal val="visible"/>
                                      </p:to>
                                    </p:set>
                                    <p:anim calcmode="lin" valueType="num">
                                      <p:cBhvr additive="base">
                                        <p:cTn id="122" dur="500" fill="hold"/>
                                        <p:tgtEl>
                                          <p:spTgt spid="33"/>
                                        </p:tgtEl>
                                        <p:attrNameLst>
                                          <p:attrName>ppt_x</p:attrName>
                                        </p:attrNameLst>
                                      </p:cBhvr>
                                      <p:tavLst>
                                        <p:tav tm="0">
                                          <p:val>
                                            <p:strVal val="#ppt_x"/>
                                          </p:val>
                                        </p:tav>
                                        <p:tav tm="100000">
                                          <p:val>
                                            <p:strVal val="#ppt_x"/>
                                          </p:val>
                                        </p:tav>
                                      </p:tavLst>
                                    </p:anim>
                                    <p:anim calcmode="lin" valueType="num">
                                      <p:cBhvr additive="base">
                                        <p:cTn id="123" dur="500" fill="hold"/>
                                        <p:tgtEl>
                                          <p:spTgt spid="33"/>
                                        </p:tgtEl>
                                        <p:attrNameLst>
                                          <p:attrName>ppt_y</p:attrName>
                                        </p:attrNameLst>
                                      </p:cBhvr>
                                      <p:tavLst>
                                        <p:tav tm="0">
                                          <p:val>
                                            <p:strVal val="#ppt_y+0.1"/>
                                          </p:val>
                                        </p:tav>
                                        <p:tav tm="100000">
                                          <p:val>
                                            <p:strVal val="#ppt_y"/>
                                          </p:val>
                                        </p:tav>
                                      </p:tavLst>
                                    </p:anim>
                                    <p:animEffect transition="in" filter="fade">
                                      <p:cBhvr>
                                        <p:cTn id="124" dur="500"/>
                                        <p:tgtEl>
                                          <p:spTgt spid="33"/>
                                        </p:tgtEl>
                                      </p:cBhvr>
                                    </p:animEffect>
                                  </p:childTnLst>
                                </p:cTn>
                              </p:par>
                              <p:par>
                                <p:cTn id="130" presetID="2" presetClass="entr" presetSubtype="4" fill="hold" grpId="0" nodeType="withEffect">
                                  <p:stCondLst>
                                    <p:cond delay="0"/>
                                  </p:stCondLst>
                                  <p:childTnLst>
                                    <p:set>
                                      <p:cBhvr>
                                        <p:cTn id="126" dur="1" fill="hold">
                                          <p:stCondLst>
                                            <p:cond delay="0"/>
                                          </p:stCondLst>
                                        </p:cTn>
                                        <p:tgtEl>
                                          <p:spTgt spid="34"/>
                                        </p:tgtEl>
                                        <p:attrNameLst>
                                          <p:attrName>style.visibility</p:attrName>
                                        </p:attrNameLst>
                                      </p:cBhvr>
                                      <p:to>
                                        <p:strVal val="visible"/>
                                      </p:to>
                                    </p:set>
                                    <p:anim calcmode="lin" valueType="num">
                                      <p:cBhvr additive="base">
                                        <p:cTn id="127" dur="500" fill="hold"/>
                                        <p:tgtEl>
                                          <p:spTgt spid="34"/>
                                        </p:tgtEl>
                                        <p:attrNameLst>
                                          <p:attrName>ppt_x</p:attrName>
                                        </p:attrNameLst>
                                      </p:cBhvr>
                                      <p:tavLst>
                                        <p:tav tm="0">
                                          <p:val>
                                            <p:strVal val="#ppt_x"/>
                                          </p:val>
                                        </p:tav>
                                        <p:tav tm="100000">
                                          <p:val>
                                            <p:strVal val="#ppt_x"/>
                                          </p:val>
                                        </p:tav>
                                      </p:tavLst>
                                    </p:anim>
                                    <p:anim calcmode="lin" valueType="num">
                                      <p:cBhvr additive="base">
                                        <p:cTn id="128" dur="500" fill="hold"/>
                                        <p:tgtEl>
                                          <p:spTgt spid="34"/>
                                        </p:tgtEl>
                                        <p:attrNameLst>
                                          <p:attrName>ppt_y</p:attrName>
                                        </p:attrNameLst>
                                      </p:cBhvr>
                                      <p:tavLst>
                                        <p:tav tm="0">
                                          <p:val>
                                            <p:strVal val="#ppt_y+0.1"/>
                                          </p:val>
                                        </p:tav>
                                        <p:tav tm="100000">
                                          <p:val>
                                            <p:strVal val="#ppt_y"/>
                                          </p:val>
                                        </p:tav>
                                      </p:tavLst>
                                    </p:anim>
                                    <p:animEffect transition="in" filter="fade">
                                      <p:cBhvr>
                                        <p:cTn id="129" dur="500"/>
                                        <p:tgtEl>
                                          <p:spTgt spid="34"/>
                                        </p:tgtEl>
                                      </p:cBhvr>
                                    </p:animEffect>
                                  </p:childTnLst>
                                </p:cTn>
                              </p:par>
                              <p:par>
                                <p:cTn id="135" presetID="2" presetClass="entr" presetSubtype="4" fill="hold" grpId="0" nodeType="withEffect">
                                  <p:stCondLst>
                                    <p:cond delay="0"/>
                                  </p:stCondLst>
                                  <p:childTnLst>
                                    <p:set>
                                      <p:cBhvr>
                                        <p:cTn id="131" dur="1" fill="hold">
                                          <p:stCondLst>
                                            <p:cond delay="0"/>
                                          </p:stCondLst>
                                        </p:cTn>
                                        <p:tgtEl>
                                          <p:spTgt spid="35"/>
                                        </p:tgtEl>
                                        <p:attrNameLst>
                                          <p:attrName>style.visibility</p:attrName>
                                        </p:attrNameLst>
                                      </p:cBhvr>
                                      <p:to>
                                        <p:strVal val="visible"/>
                                      </p:to>
                                    </p:set>
                                    <p:anim calcmode="lin" valueType="num">
                                      <p:cBhvr additive="base">
                                        <p:cTn id="132" dur="500" fill="hold"/>
                                        <p:tgtEl>
                                          <p:spTgt spid="35"/>
                                        </p:tgtEl>
                                        <p:attrNameLst>
                                          <p:attrName>ppt_x</p:attrName>
                                        </p:attrNameLst>
                                      </p:cBhvr>
                                      <p:tavLst>
                                        <p:tav tm="0">
                                          <p:val>
                                            <p:strVal val="#ppt_x"/>
                                          </p:val>
                                        </p:tav>
                                        <p:tav tm="100000">
                                          <p:val>
                                            <p:strVal val="#ppt_x"/>
                                          </p:val>
                                        </p:tav>
                                      </p:tavLst>
                                    </p:anim>
                                    <p:anim calcmode="lin" valueType="num">
                                      <p:cBhvr additive="base">
                                        <p:cTn id="133" dur="500" fill="hold"/>
                                        <p:tgtEl>
                                          <p:spTgt spid="35"/>
                                        </p:tgtEl>
                                        <p:attrNameLst>
                                          <p:attrName>ppt_y</p:attrName>
                                        </p:attrNameLst>
                                      </p:cBhvr>
                                      <p:tavLst>
                                        <p:tav tm="0">
                                          <p:val>
                                            <p:strVal val="#ppt_y+0.1"/>
                                          </p:val>
                                        </p:tav>
                                        <p:tav tm="100000">
                                          <p:val>
                                            <p:strVal val="#ppt_y"/>
                                          </p:val>
                                        </p:tav>
                                      </p:tavLst>
                                    </p:anim>
                                    <p:animEffect transition="in" filter="fade">
                                      <p:cBhvr>
                                        <p:cTn id="134"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Finding Connectors: Confluent Hub</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Browse hub.confluent.io - then run them yourself, or let a cloud service run them</a:t>
            </a:r>
          </a:p>
        </p:txBody>
      </p:sp>
      <p:sp>
        <p:nvSpPr>
          <p:cNvPr id="11" name="a1u_card10"/>
          <p:cNvSpPr/>
          <p:nvPr/>
        </p:nvSpPr>
        <p:spPr>
          <a:xfrm>
            <a:off x="457200" y="1280160"/>
            <a:ext cx="4251960" cy="2395728"/>
          </a:xfrm>
          <a:prstGeom prst="roundRect">
            <a:avLst>
              <a:gd name="adj" fmla="val 458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pill11"/>
          <p:cNvSpPr/>
          <p:nvPr/>
        </p:nvSpPr>
        <p:spPr>
          <a:xfrm>
            <a:off x="621792" y="1417320"/>
            <a:ext cx="3922776" cy="310896"/>
          </a:xfrm>
          <a:prstGeom prst="roundRect">
            <a:avLst>
              <a:gd name="adj" fmla="val 50000"/>
            </a:avLst>
          </a:prstGeom>
          <a:solidFill>
            <a:srgbClr val="FFFFFF"/>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0">
                <a:solidFill>
                  <a:srgbClr val="78716C"/>
                </a:solidFill>
                <a:latin typeface="Consolas"/>
              </a:rPr>
              <a:t>confluent.io/hub    search: postgres</a:t>
            </a:r>
          </a:p>
        </p:txBody>
      </p:sp>
      <p:sp>
        <p:nvSpPr>
          <p:cNvPr id="13" name="a1ud100_hr12"/>
          <p:cNvSpPr/>
          <p:nvPr/>
        </p:nvSpPr>
        <p:spPr>
          <a:xfrm>
            <a:off x="621792" y="1847088"/>
            <a:ext cx="3922776" cy="292608"/>
          </a:xfrm>
          <a:prstGeom prst="rect">
            <a:avLst/>
          </a:prstGeom>
          <a:solidFill>
            <a:srgbClr val="FFFFFF"/>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ud100_hn13"/>
          <p:cNvSpPr txBox="1"/>
          <p:nvPr/>
        </p:nvSpPr>
        <p:spPr>
          <a:xfrm>
            <a:off x="731520" y="1847088"/>
            <a:ext cx="2651760" cy="292608"/>
          </a:xfrm>
          <a:prstGeom prst="rect">
            <a:avLst/>
          </a:prstGeom>
          <a:noFill/>
        </p:spPr>
        <p:txBody>
          <a:bodyPr wrap="square" lIns="0" tIns="0" rIns="0" bIns="0" anchor="ctr">
            <a:spAutoFit/>
          </a:bodyPr>
          <a:lstStyle/>
          <a:p>
            <a:pPr algn="l"/>
            <a:r>
              <a:rPr sz="850" b="1">
                <a:solidFill>
                  <a:srgbClr val="1C1917"/>
                </a:solidFill>
                <a:latin typeface="Segoe UI"/>
              </a:rPr>
              <a:t>JDBC Source and Sink</a:t>
            </a:r>
          </a:p>
        </p:txBody>
      </p:sp>
      <p:sp>
        <p:nvSpPr>
          <p:cNvPr id="15" name="a1ud100_hb14"/>
          <p:cNvSpPr txBox="1"/>
          <p:nvPr/>
        </p:nvSpPr>
        <p:spPr>
          <a:xfrm>
            <a:off x="3383280" y="1847088"/>
            <a:ext cx="1097280" cy="292608"/>
          </a:xfrm>
          <a:prstGeom prst="rect">
            <a:avLst/>
          </a:prstGeom>
          <a:noFill/>
        </p:spPr>
        <p:txBody>
          <a:bodyPr wrap="square" lIns="0" tIns="0" rIns="0" bIns="0" anchor="ctr">
            <a:spAutoFit/>
          </a:bodyPr>
          <a:lstStyle/>
          <a:p>
            <a:pPr algn="r"/>
            <a:r>
              <a:rPr sz="800" b="0">
                <a:solidFill>
                  <a:srgbClr val="78716C"/>
                </a:solidFill>
                <a:latin typeface="Segoe UI"/>
              </a:rPr>
              <a:t>Confluent</a:t>
            </a:r>
          </a:p>
        </p:txBody>
      </p:sp>
      <p:sp>
        <p:nvSpPr>
          <p:cNvPr id="16" name="a1ud180_hr15"/>
          <p:cNvSpPr/>
          <p:nvPr/>
        </p:nvSpPr>
        <p:spPr>
          <a:xfrm>
            <a:off x="621792" y="2194560"/>
            <a:ext cx="3922776" cy="292608"/>
          </a:xfrm>
          <a:prstGeom prst="rect">
            <a:avLst/>
          </a:prstGeom>
          <a:solidFill>
            <a:srgbClr val="FFFFFF"/>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180_hn16"/>
          <p:cNvSpPr txBox="1"/>
          <p:nvPr/>
        </p:nvSpPr>
        <p:spPr>
          <a:xfrm>
            <a:off x="731520" y="2194560"/>
            <a:ext cx="2651760" cy="292608"/>
          </a:xfrm>
          <a:prstGeom prst="rect">
            <a:avLst/>
          </a:prstGeom>
          <a:noFill/>
        </p:spPr>
        <p:txBody>
          <a:bodyPr wrap="square" lIns="0" tIns="0" rIns="0" bIns="0" anchor="ctr">
            <a:spAutoFit/>
          </a:bodyPr>
          <a:lstStyle/>
          <a:p>
            <a:pPr algn="l"/>
            <a:r>
              <a:rPr sz="850" b="1">
                <a:solidFill>
                  <a:srgbClr val="1C1917"/>
                </a:solidFill>
                <a:latin typeface="Segoe UI"/>
              </a:rPr>
              <a:t>Debezium PostgreSQL CDC</a:t>
            </a:r>
          </a:p>
        </p:txBody>
      </p:sp>
      <p:sp>
        <p:nvSpPr>
          <p:cNvPr id="18" name="a1ud180_hb17"/>
          <p:cNvSpPr txBox="1"/>
          <p:nvPr/>
        </p:nvSpPr>
        <p:spPr>
          <a:xfrm>
            <a:off x="3383280" y="2194560"/>
            <a:ext cx="1097280" cy="292608"/>
          </a:xfrm>
          <a:prstGeom prst="rect">
            <a:avLst/>
          </a:prstGeom>
          <a:noFill/>
        </p:spPr>
        <p:txBody>
          <a:bodyPr wrap="square" lIns="0" tIns="0" rIns="0" bIns="0" anchor="ctr">
            <a:spAutoFit/>
          </a:bodyPr>
          <a:lstStyle/>
          <a:p>
            <a:pPr algn="r"/>
            <a:r>
              <a:rPr sz="800" b="0">
                <a:solidFill>
                  <a:srgbClr val="78716C"/>
                </a:solidFill>
                <a:latin typeface="Segoe UI"/>
              </a:rPr>
              <a:t>Debezium</a:t>
            </a:r>
          </a:p>
        </p:txBody>
      </p:sp>
      <p:sp>
        <p:nvSpPr>
          <p:cNvPr id="19" name="a1ud260_hr18"/>
          <p:cNvSpPr/>
          <p:nvPr/>
        </p:nvSpPr>
        <p:spPr>
          <a:xfrm>
            <a:off x="621792" y="2542032"/>
            <a:ext cx="3922776" cy="292608"/>
          </a:xfrm>
          <a:prstGeom prst="rect">
            <a:avLst/>
          </a:prstGeom>
          <a:solidFill>
            <a:srgbClr val="FFFFFF"/>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ud260_hn19"/>
          <p:cNvSpPr txBox="1"/>
          <p:nvPr/>
        </p:nvSpPr>
        <p:spPr>
          <a:xfrm>
            <a:off x="731520" y="2542032"/>
            <a:ext cx="2651760" cy="292608"/>
          </a:xfrm>
          <a:prstGeom prst="rect">
            <a:avLst/>
          </a:prstGeom>
          <a:noFill/>
        </p:spPr>
        <p:txBody>
          <a:bodyPr wrap="square" lIns="0" tIns="0" rIns="0" bIns="0" anchor="ctr">
            <a:spAutoFit/>
          </a:bodyPr>
          <a:lstStyle/>
          <a:p>
            <a:pPr algn="l"/>
            <a:r>
              <a:rPr sz="850" b="1">
                <a:solidFill>
                  <a:srgbClr val="1C1917"/>
                </a:solidFill>
                <a:latin typeface="Segoe UI"/>
              </a:rPr>
              <a:t>Elasticsearch Sink</a:t>
            </a:r>
          </a:p>
        </p:txBody>
      </p:sp>
      <p:sp>
        <p:nvSpPr>
          <p:cNvPr id="21" name="a1ud260_hb20"/>
          <p:cNvSpPr txBox="1"/>
          <p:nvPr/>
        </p:nvSpPr>
        <p:spPr>
          <a:xfrm>
            <a:off x="3383280" y="2542032"/>
            <a:ext cx="1097280" cy="292608"/>
          </a:xfrm>
          <a:prstGeom prst="rect">
            <a:avLst/>
          </a:prstGeom>
          <a:noFill/>
        </p:spPr>
        <p:txBody>
          <a:bodyPr wrap="square" lIns="0" tIns="0" rIns="0" bIns="0" anchor="ctr">
            <a:spAutoFit/>
          </a:bodyPr>
          <a:lstStyle/>
          <a:p>
            <a:pPr algn="r"/>
            <a:r>
              <a:rPr sz="800" b="0">
                <a:solidFill>
                  <a:srgbClr val="78716C"/>
                </a:solidFill>
                <a:latin typeface="Segoe UI"/>
              </a:rPr>
              <a:t>Confluent</a:t>
            </a:r>
          </a:p>
        </p:txBody>
      </p:sp>
      <p:sp>
        <p:nvSpPr>
          <p:cNvPr id="22" name="a1ud340_hr21"/>
          <p:cNvSpPr/>
          <p:nvPr/>
        </p:nvSpPr>
        <p:spPr>
          <a:xfrm>
            <a:off x="621792" y="2889504"/>
            <a:ext cx="3922776" cy="292608"/>
          </a:xfrm>
          <a:prstGeom prst="rect">
            <a:avLst/>
          </a:prstGeom>
          <a:solidFill>
            <a:srgbClr val="FFFFFF"/>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ud340_hn22"/>
          <p:cNvSpPr txBox="1"/>
          <p:nvPr/>
        </p:nvSpPr>
        <p:spPr>
          <a:xfrm>
            <a:off x="731520" y="2889504"/>
            <a:ext cx="2651760" cy="292608"/>
          </a:xfrm>
          <a:prstGeom prst="rect">
            <a:avLst/>
          </a:prstGeom>
          <a:noFill/>
        </p:spPr>
        <p:txBody>
          <a:bodyPr wrap="square" lIns="0" tIns="0" rIns="0" bIns="0" anchor="ctr">
            <a:spAutoFit/>
          </a:bodyPr>
          <a:lstStyle/>
          <a:p>
            <a:pPr algn="l"/>
            <a:r>
              <a:rPr sz="850" b="1">
                <a:solidFill>
                  <a:srgbClr val="1C1917"/>
                </a:solidFill>
                <a:latin typeface="Segoe UI"/>
              </a:rPr>
              <a:t>Amazon S3 Sink</a:t>
            </a:r>
          </a:p>
        </p:txBody>
      </p:sp>
      <p:sp>
        <p:nvSpPr>
          <p:cNvPr id="24" name="a1ud340_hb23"/>
          <p:cNvSpPr txBox="1"/>
          <p:nvPr/>
        </p:nvSpPr>
        <p:spPr>
          <a:xfrm>
            <a:off x="3383280" y="2889504"/>
            <a:ext cx="1097280" cy="292608"/>
          </a:xfrm>
          <a:prstGeom prst="rect">
            <a:avLst/>
          </a:prstGeom>
          <a:noFill/>
        </p:spPr>
        <p:txBody>
          <a:bodyPr wrap="square" lIns="0" tIns="0" rIns="0" bIns="0" anchor="ctr">
            <a:spAutoFit/>
          </a:bodyPr>
          <a:lstStyle/>
          <a:p>
            <a:pPr algn="r"/>
            <a:r>
              <a:rPr sz="800" b="0">
                <a:solidFill>
                  <a:srgbClr val="78716C"/>
                </a:solidFill>
                <a:latin typeface="Segoe UI"/>
              </a:rPr>
              <a:t>Confluent</a:t>
            </a:r>
          </a:p>
        </p:txBody>
      </p:sp>
      <p:sp>
        <p:nvSpPr>
          <p:cNvPr id="25" name="a1ud420_hr24"/>
          <p:cNvSpPr/>
          <p:nvPr/>
        </p:nvSpPr>
        <p:spPr>
          <a:xfrm>
            <a:off x="621792" y="3236976"/>
            <a:ext cx="3922776" cy="292608"/>
          </a:xfrm>
          <a:prstGeom prst="rect">
            <a:avLst/>
          </a:prstGeom>
          <a:solidFill>
            <a:srgbClr val="FFFFFF"/>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1ud420_hn25"/>
          <p:cNvSpPr txBox="1"/>
          <p:nvPr/>
        </p:nvSpPr>
        <p:spPr>
          <a:xfrm>
            <a:off x="731520" y="3236976"/>
            <a:ext cx="2651760" cy="292608"/>
          </a:xfrm>
          <a:prstGeom prst="rect">
            <a:avLst/>
          </a:prstGeom>
          <a:noFill/>
        </p:spPr>
        <p:txBody>
          <a:bodyPr wrap="square" lIns="0" tIns="0" rIns="0" bIns="0" anchor="ctr">
            <a:spAutoFit/>
          </a:bodyPr>
          <a:lstStyle/>
          <a:p>
            <a:pPr algn="l"/>
            <a:r>
              <a:rPr sz="850" b="1">
                <a:solidFill>
                  <a:srgbClr val="1C1917"/>
                </a:solidFill>
                <a:latin typeface="Segoe UI"/>
              </a:rPr>
              <a:t>Datagen Source</a:t>
            </a:r>
          </a:p>
        </p:txBody>
      </p:sp>
      <p:sp>
        <p:nvSpPr>
          <p:cNvPr id="27" name="a1ud420_hb26"/>
          <p:cNvSpPr txBox="1"/>
          <p:nvPr/>
        </p:nvSpPr>
        <p:spPr>
          <a:xfrm>
            <a:off x="3383280" y="3236976"/>
            <a:ext cx="1097280" cy="292608"/>
          </a:xfrm>
          <a:prstGeom prst="rect">
            <a:avLst/>
          </a:prstGeom>
          <a:noFill/>
        </p:spPr>
        <p:txBody>
          <a:bodyPr wrap="square" lIns="0" tIns="0" rIns="0" bIns="0" anchor="ctr">
            <a:spAutoFit/>
          </a:bodyPr>
          <a:lstStyle/>
          <a:p>
            <a:pPr algn="r"/>
            <a:r>
              <a:rPr sz="800" b="0">
                <a:solidFill>
                  <a:srgbClr val="78716C"/>
                </a:solidFill>
                <a:latin typeface="Segoe UI"/>
              </a:rPr>
              <a:t>Confluent</a:t>
            </a:r>
          </a:p>
        </p:txBody>
      </p:sp>
      <p:sp>
        <p:nvSpPr>
          <p:cNvPr id="28" name="a2u_card27"/>
          <p:cNvSpPr/>
          <p:nvPr/>
        </p:nvSpPr>
        <p:spPr>
          <a:xfrm>
            <a:off x="4937760" y="1280160"/>
            <a:ext cx="3749039" cy="1115568"/>
          </a:xfrm>
          <a:prstGeom prst="roundRect">
            <a:avLst>
              <a:gd name="adj" fmla="val 9836"/>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2u_acc28"/>
          <p:cNvSpPr/>
          <p:nvPr/>
        </p:nvSpPr>
        <p:spPr>
          <a:xfrm>
            <a:off x="4937760" y="1280160"/>
            <a:ext cx="3749039" cy="457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2u_tt29"/>
          <p:cNvSpPr txBox="1"/>
          <p:nvPr/>
        </p:nvSpPr>
        <p:spPr>
          <a:xfrm>
            <a:off x="5084064" y="1389888"/>
            <a:ext cx="3474720" cy="256032"/>
          </a:xfrm>
          <a:prstGeom prst="rect">
            <a:avLst/>
          </a:prstGeom>
          <a:noFill/>
        </p:spPr>
        <p:txBody>
          <a:bodyPr wrap="square" lIns="0" tIns="0" rIns="0" bIns="0" anchor="ctr">
            <a:spAutoFit/>
          </a:bodyPr>
          <a:lstStyle/>
          <a:p>
            <a:pPr algn="l"/>
            <a:r>
              <a:rPr sz="1100" b="1">
                <a:solidFill>
                  <a:srgbClr val="1C1917"/>
                </a:solidFill>
                <a:latin typeface="Segoe UI"/>
              </a:rPr>
              <a:t>Self-managed</a:t>
            </a:r>
          </a:p>
        </p:txBody>
      </p:sp>
      <p:sp>
        <p:nvSpPr>
          <p:cNvPr id="31" name="a2ud60_tb30"/>
          <p:cNvSpPr txBox="1"/>
          <p:nvPr/>
        </p:nvSpPr>
        <p:spPr>
          <a:xfrm>
            <a:off x="5084064" y="1682495"/>
            <a:ext cx="3474720" cy="658368"/>
          </a:xfrm>
          <a:prstGeom prst="rect">
            <a:avLst/>
          </a:prstGeom>
          <a:noFill/>
        </p:spPr>
        <p:txBody>
          <a:bodyPr wrap="square" lIns="0" tIns="0" rIns="0" bIns="0" anchor="t">
            <a:spAutoFit/>
          </a:bodyPr>
          <a:lstStyle/>
          <a:p>
            <a:pPr algn="l"/>
            <a:r>
              <a:rPr sz="900" b="0">
                <a:solidFill>
                  <a:srgbClr val="44403C"/>
                </a:solidFill>
                <a:latin typeface="Segoe UI"/>
              </a:rPr>
              <a:t>you run the Connect cluster - Apache Kafka or Confluent Platform; 100+ pre-built connectors supported</a:t>
            </a:r>
          </a:p>
        </p:txBody>
      </p:sp>
      <p:sp>
        <p:nvSpPr>
          <p:cNvPr id="32" name="a3u_card31"/>
          <p:cNvSpPr/>
          <p:nvPr/>
        </p:nvSpPr>
        <p:spPr>
          <a:xfrm>
            <a:off x="4937760" y="2560320"/>
            <a:ext cx="3749039" cy="1115568"/>
          </a:xfrm>
          <a:prstGeom prst="roundRect">
            <a:avLst>
              <a:gd name="adj" fmla="val 9836"/>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3u_acc32"/>
          <p:cNvSpPr/>
          <p:nvPr/>
        </p:nvSpPr>
        <p:spPr>
          <a:xfrm>
            <a:off x="4937760" y="2560320"/>
            <a:ext cx="3749039"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3u_tt33"/>
          <p:cNvSpPr txBox="1"/>
          <p:nvPr/>
        </p:nvSpPr>
        <p:spPr>
          <a:xfrm>
            <a:off x="5084064" y="2670048"/>
            <a:ext cx="3474720" cy="256032"/>
          </a:xfrm>
          <a:prstGeom prst="rect">
            <a:avLst/>
          </a:prstGeom>
          <a:noFill/>
        </p:spPr>
        <p:txBody>
          <a:bodyPr wrap="square" lIns="0" tIns="0" rIns="0" bIns="0" anchor="ctr">
            <a:spAutoFit/>
          </a:bodyPr>
          <a:lstStyle/>
          <a:p>
            <a:pPr algn="l"/>
            <a:r>
              <a:rPr sz="1100" b="1">
                <a:solidFill>
                  <a:srgbClr val="1C1917"/>
                </a:solidFill>
                <a:latin typeface="Segoe UI"/>
              </a:rPr>
              <a:t>Fully managed</a:t>
            </a:r>
          </a:p>
        </p:txBody>
      </p:sp>
      <p:sp>
        <p:nvSpPr>
          <p:cNvPr id="35" name="a3ud60_tb34"/>
          <p:cNvSpPr txBox="1"/>
          <p:nvPr/>
        </p:nvSpPr>
        <p:spPr>
          <a:xfrm>
            <a:off x="5084064" y="2962656"/>
            <a:ext cx="3474720" cy="658368"/>
          </a:xfrm>
          <a:prstGeom prst="rect">
            <a:avLst/>
          </a:prstGeom>
          <a:noFill/>
        </p:spPr>
        <p:txBody>
          <a:bodyPr wrap="square" lIns="0" tIns="0" rIns="0" bIns="0" anchor="t">
            <a:spAutoFit/>
          </a:bodyPr>
          <a:lstStyle/>
          <a:p>
            <a:pPr algn="l"/>
            <a:r>
              <a:rPr sz="900" b="0">
                <a:solidFill>
                  <a:srgbClr val="44403C"/>
                </a:solidFill>
                <a:latin typeface="Segoe UI"/>
              </a:rPr>
              <a:t>Confluent Cloud runs 80+ connectors for you - configure them, never operate a Connect cluster</a:t>
            </a:r>
          </a:p>
        </p:txBody>
      </p:sp>
      <p:sp>
        <p:nvSpPr>
          <p:cNvPr id="36" name="a4u_nb35"/>
          <p:cNvSpPr/>
          <p:nvPr/>
        </p:nvSpPr>
        <p:spPr>
          <a:xfrm>
            <a:off x="457200" y="3886200"/>
            <a:ext cx="8229600" cy="566928"/>
          </a:xfrm>
          <a:prstGeom prst="roundRect">
            <a:avLst>
              <a:gd name="adj" fmla="val 12903"/>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4u_nacc36"/>
          <p:cNvSpPr/>
          <p:nvPr/>
        </p:nvSpPr>
        <p:spPr>
          <a:xfrm>
            <a:off x="457200" y="3886200"/>
            <a:ext cx="54864" cy="56692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4u_nt37"/>
          <p:cNvSpPr txBox="1"/>
          <p:nvPr/>
        </p:nvSpPr>
        <p:spPr>
          <a:xfrm>
            <a:off x="658368" y="3886200"/>
            <a:ext cx="7827264" cy="566928"/>
          </a:xfrm>
          <a:prstGeom prst="rect">
            <a:avLst/>
          </a:prstGeom>
          <a:noFill/>
        </p:spPr>
        <p:txBody>
          <a:bodyPr wrap="square" lIns="0" tIns="0" rIns="0" bIns="0" anchor="ctr">
            <a:spAutoFit/>
          </a:bodyPr>
          <a:lstStyle/>
          <a:p>
            <a:pPr algn="l"/>
            <a:r>
              <a:rPr sz="950" b="1">
                <a:solidFill>
                  <a:srgbClr val="0E7490"/>
                </a:solidFill>
                <a:latin typeface="Segoe UI"/>
              </a:rPr>
              <a:t>KEY  </a:t>
            </a:r>
            <a:r>
              <a:rPr sz="950" b="0">
                <a:solidFill>
                  <a:srgbClr val="44403C"/>
                </a:solidFill>
                <a:latin typeface="Segoe UI"/>
              </a:rPr>
              <a:t>Either way, Connect is the standard way to integrate Kafka with the systems that aren't Kafka.</a:t>
            </a:r>
          </a:p>
        </p:txBody>
      </p:sp>
      <p:sp>
        <p:nvSpPr>
          <p:cNvPr id="39" name="ft38"/>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13</a:t>
            </a:r>
          </a:p>
        </p:txBody>
      </p:sp>
      <p:sp>
        <p:nvSpPr>
          <p:cNvPr id="40" name="ft39"/>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ft40"/>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Kafka Connect</a:t>
            </a:r>
          </a:p>
        </p:txBody>
      </p:sp>
      <p:sp>
        <p:nvSpPr>
          <p:cNvPr id="42" name="ft41"/>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9</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10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10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10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18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18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18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26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par>
                                <p:cTn id="54" presetID="2" presetClass="entr" presetSubtype="4" fill="hold" grpId="0" nodeType="withEffect">
                                  <p:stCondLst>
                                    <p:cond delay="26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0.1"/>
                                          </p:val>
                                        </p:tav>
                                        <p:tav tm="100000">
                                          <p:val>
                                            <p:strVal val="#ppt_y"/>
                                          </p:val>
                                        </p:tav>
                                      </p:tavLst>
                                    </p:anim>
                                    <p:animEffect transition="in" filter="fade">
                                      <p:cBhvr>
                                        <p:cTn id="53" dur="500"/>
                                        <p:tgtEl>
                                          <p:spTgt spid="20"/>
                                        </p:tgtEl>
                                      </p:cBhvr>
                                    </p:animEffect>
                                  </p:childTnLst>
                                </p:cTn>
                              </p:par>
                              <p:par>
                                <p:cTn id="59" presetID="2" presetClass="entr" presetSubtype="4" fill="hold" grpId="0" nodeType="withEffect">
                                  <p:stCondLst>
                                    <p:cond delay="260"/>
                                  </p:stCondLst>
                                  <p:childTnLst>
                                    <p:set>
                                      <p:cBhvr>
                                        <p:cTn id="55" dur="1" fill="hold">
                                          <p:stCondLst>
                                            <p:cond delay="0"/>
                                          </p:stCondLst>
                                        </p:cTn>
                                        <p:tgtEl>
                                          <p:spTgt spid="21"/>
                                        </p:tgtEl>
                                        <p:attrNameLst>
                                          <p:attrName>style.visibility</p:attrName>
                                        </p:attrNameLst>
                                      </p:cBhvr>
                                      <p:to>
                                        <p:strVal val="visible"/>
                                      </p:to>
                                    </p:set>
                                    <p:anim calcmode="lin" valueType="num">
                                      <p:cBhvr additive="base">
                                        <p:cTn id="56" dur="500" fill="hold"/>
                                        <p:tgtEl>
                                          <p:spTgt spid="21"/>
                                        </p:tgtEl>
                                        <p:attrNameLst>
                                          <p:attrName>ppt_x</p:attrName>
                                        </p:attrNameLst>
                                      </p:cBhvr>
                                      <p:tavLst>
                                        <p:tav tm="0">
                                          <p:val>
                                            <p:strVal val="#ppt_x"/>
                                          </p:val>
                                        </p:tav>
                                        <p:tav tm="100000">
                                          <p:val>
                                            <p:strVal val="#ppt_x"/>
                                          </p:val>
                                        </p:tav>
                                      </p:tavLst>
                                    </p:anim>
                                    <p:anim calcmode="lin" valueType="num">
                                      <p:cBhvr additive="base">
                                        <p:cTn id="57" dur="500" fill="hold"/>
                                        <p:tgtEl>
                                          <p:spTgt spid="21"/>
                                        </p:tgtEl>
                                        <p:attrNameLst>
                                          <p:attrName>ppt_y</p:attrName>
                                        </p:attrNameLst>
                                      </p:cBhvr>
                                      <p:tavLst>
                                        <p:tav tm="0">
                                          <p:val>
                                            <p:strVal val="#ppt_y+0.1"/>
                                          </p:val>
                                        </p:tav>
                                        <p:tav tm="100000">
                                          <p:val>
                                            <p:strVal val="#ppt_y"/>
                                          </p:val>
                                        </p:tav>
                                      </p:tavLst>
                                    </p:anim>
                                    <p:animEffect transition="in" filter="fade">
                                      <p:cBhvr>
                                        <p:cTn id="58" dur="500"/>
                                        <p:tgtEl>
                                          <p:spTgt spid="21"/>
                                        </p:tgtEl>
                                      </p:cBhvr>
                                    </p:animEffect>
                                  </p:childTnLst>
                                </p:cTn>
                              </p:par>
                              <p:par>
                                <p:cTn id="64" presetID="2" presetClass="entr" presetSubtype="4" fill="hold" grpId="0" nodeType="withEffect">
                                  <p:stCondLst>
                                    <p:cond delay="340"/>
                                  </p:stCondLst>
                                  <p:childTnLst>
                                    <p:set>
                                      <p:cBhvr>
                                        <p:cTn id="60" dur="1" fill="hold">
                                          <p:stCondLst>
                                            <p:cond delay="0"/>
                                          </p:stCondLst>
                                        </p:cTn>
                                        <p:tgtEl>
                                          <p:spTgt spid="22"/>
                                        </p:tgtEl>
                                        <p:attrNameLst>
                                          <p:attrName>style.visibility</p:attrName>
                                        </p:attrNameLst>
                                      </p:cBhvr>
                                      <p:to>
                                        <p:strVal val="visible"/>
                                      </p:to>
                                    </p:set>
                                    <p:anim calcmode="lin" valueType="num">
                                      <p:cBhvr additive="base">
                                        <p:cTn id="61" dur="500" fill="hold"/>
                                        <p:tgtEl>
                                          <p:spTgt spid="22"/>
                                        </p:tgtEl>
                                        <p:attrNameLst>
                                          <p:attrName>ppt_x</p:attrName>
                                        </p:attrNameLst>
                                      </p:cBhvr>
                                      <p:tavLst>
                                        <p:tav tm="0">
                                          <p:val>
                                            <p:strVal val="#ppt_x"/>
                                          </p:val>
                                        </p:tav>
                                        <p:tav tm="100000">
                                          <p:val>
                                            <p:strVal val="#ppt_x"/>
                                          </p:val>
                                        </p:tav>
                                      </p:tavLst>
                                    </p:anim>
                                    <p:anim calcmode="lin" valueType="num">
                                      <p:cBhvr additive="base">
                                        <p:cTn id="62" dur="500" fill="hold"/>
                                        <p:tgtEl>
                                          <p:spTgt spid="22"/>
                                        </p:tgtEl>
                                        <p:attrNameLst>
                                          <p:attrName>ppt_y</p:attrName>
                                        </p:attrNameLst>
                                      </p:cBhvr>
                                      <p:tavLst>
                                        <p:tav tm="0">
                                          <p:val>
                                            <p:strVal val="#ppt_y+0.1"/>
                                          </p:val>
                                        </p:tav>
                                        <p:tav tm="100000">
                                          <p:val>
                                            <p:strVal val="#ppt_y"/>
                                          </p:val>
                                        </p:tav>
                                      </p:tavLst>
                                    </p:anim>
                                    <p:animEffect transition="in" filter="fade">
                                      <p:cBhvr>
                                        <p:cTn id="63" dur="500"/>
                                        <p:tgtEl>
                                          <p:spTgt spid="22"/>
                                        </p:tgtEl>
                                      </p:cBhvr>
                                    </p:animEffect>
                                  </p:childTnLst>
                                </p:cTn>
                              </p:par>
                              <p:par>
                                <p:cTn id="69" presetID="2" presetClass="entr" presetSubtype="4" fill="hold" grpId="0" nodeType="withEffect">
                                  <p:stCondLst>
                                    <p:cond delay="340"/>
                                  </p:stCondLst>
                                  <p:childTnLst>
                                    <p:set>
                                      <p:cBhvr>
                                        <p:cTn id="65" dur="1" fill="hold">
                                          <p:stCondLst>
                                            <p:cond delay="0"/>
                                          </p:stCondLst>
                                        </p:cTn>
                                        <p:tgtEl>
                                          <p:spTgt spid="23"/>
                                        </p:tgtEl>
                                        <p:attrNameLst>
                                          <p:attrName>style.visibility</p:attrName>
                                        </p:attrNameLst>
                                      </p:cBhvr>
                                      <p:to>
                                        <p:strVal val="visible"/>
                                      </p:to>
                                    </p:set>
                                    <p:anim calcmode="lin" valueType="num">
                                      <p:cBhvr additive="base">
                                        <p:cTn id="66" dur="500" fill="hold"/>
                                        <p:tgtEl>
                                          <p:spTgt spid="23"/>
                                        </p:tgtEl>
                                        <p:attrNameLst>
                                          <p:attrName>ppt_x</p:attrName>
                                        </p:attrNameLst>
                                      </p:cBhvr>
                                      <p:tavLst>
                                        <p:tav tm="0">
                                          <p:val>
                                            <p:strVal val="#ppt_x"/>
                                          </p:val>
                                        </p:tav>
                                        <p:tav tm="100000">
                                          <p:val>
                                            <p:strVal val="#ppt_x"/>
                                          </p:val>
                                        </p:tav>
                                      </p:tavLst>
                                    </p:anim>
                                    <p:anim calcmode="lin" valueType="num">
                                      <p:cBhvr additive="base">
                                        <p:cTn id="67" dur="500" fill="hold"/>
                                        <p:tgtEl>
                                          <p:spTgt spid="23"/>
                                        </p:tgtEl>
                                        <p:attrNameLst>
                                          <p:attrName>ppt_y</p:attrName>
                                        </p:attrNameLst>
                                      </p:cBhvr>
                                      <p:tavLst>
                                        <p:tav tm="0">
                                          <p:val>
                                            <p:strVal val="#ppt_y+0.1"/>
                                          </p:val>
                                        </p:tav>
                                        <p:tav tm="100000">
                                          <p:val>
                                            <p:strVal val="#ppt_y"/>
                                          </p:val>
                                        </p:tav>
                                      </p:tavLst>
                                    </p:anim>
                                    <p:animEffect transition="in" filter="fade">
                                      <p:cBhvr>
                                        <p:cTn id="68" dur="500"/>
                                        <p:tgtEl>
                                          <p:spTgt spid="23"/>
                                        </p:tgtEl>
                                      </p:cBhvr>
                                    </p:animEffect>
                                  </p:childTnLst>
                                </p:cTn>
                              </p:par>
                              <p:par>
                                <p:cTn id="74" presetID="2" presetClass="entr" presetSubtype="4" fill="hold" grpId="0" nodeType="withEffect">
                                  <p:stCondLst>
                                    <p:cond delay="340"/>
                                  </p:stCondLst>
                                  <p:childTnLst>
                                    <p:set>
                                      <p:cBhvr>
                                        <p:cTn id="70" dur="1" fill="hold">
                                          <p:stCondLst>
                                            <p:cond delay="0"/>
                                          </p:stCondLst>
                                        </p:cTn>
                                        <p:tgtEl>
                                          <p:spTgt spid="24"/>
                                        </p:tgtEl>
                                        <p:attrNameLst>
                                          <p:attrName>style.visibility</p:attrName>
                                        </p:attrNameLst>
                                      </p:cBhvr>
                                      <p:to>
                                        <p:strVal val="visible"/>
                                      </p:to>
                                    </p:set>
                                    <p:anim calcmode="lin" valueType="num">
                                      <p:cBhvr additive="base">
                                        <p:cTn id="71" dur="500" fill="hold"/>
                                        <p:tgtEl>
                                          <p:spTgt spid="24"/>
                                        </p:tgtEl>
                                        <p:attrNameLst>
                                          <p:attrName>ppt_x</p:attrName>
                                        </p:attrNameLst>
                                      </p:cBhvr>
                                      <p:tavLst>
                                        <p:tav tm="0">
                                          <p:val>
                                            <p:strVal val="#ppt_x"/>
                                          </p:val>
                                        </p:tav>
                                        <p:tav tm="100000">
                                          <p:val>
                                            <p:strVal val="#ppt_x"/>
                                          </p:val>
                                        </p:tav>
                                      </p:tavLst>
                                    </p:anim>
                                    <p:anim calcmode="lin" valueType="num">
                                      <p:cBhvr additive="base">
                                        <p:cTn id="72" dur="500" fill="hold"/>
                                        <p:tgtEl>
                                          <p:spTgt spid="24"/>
                                        </p:tgtEl>
                                        <p:attrNameLst>
                                          <p:attrName>ppt_y</p:attrName>
                                        </p:attrNameLst>
                                      </p:cBhvr>
                                      <p:tavLst>
                                        <p:tav tm="0">
                                          <p:val>
                                            <p:strVal val="#ppt_y+0.1"/>
                                          </p:val>
                                        </p:tav>
                                        <p:tav tm="100000">
                                          <p:val>
                                            <p:strVal val="#ppt_y"/>
                                          </p:val>
                                        </p:tav>
                                      </p:tavLst>
                                    </p:anim>
                                    <p:animEffect transition="in" filter="fade">
                                      <p:cBhvr>
                                        <p:cTn id="73" dur="500"/>
                                        <p:tgtEl>
                                          <p:spTgt spid="24"/>
                                        </p:tgtEl>
                                      </p:cBhvr>
                                    </p:animEffect>
                                  </p:childTnLst>
                                </p:cTn>
                              </p:par>
                              <p:par>
                                <p:cTn id="79" presetID="2" presetClass="entr" presetSubtype="4" fill="hold" grpId="0" nodeType="withEffect">
                                  <p:stCondLst>
                                    <p:cond delay="420"/>
                                  </p:stCondLst>
                                  <p:childTnLst>
                                    <p:set>
                                      <p:cBhvr>
                                        <p:cTn id="75" dur="1" fill="hold">
                                          <p:stCondLst>
                                            <p:cond delay="0"/>
                                          </p:stCondLst>
                                        </p:cTn>
                                        <p:tgtEl>
                                          <p:spTgt spid="25"/>
                                        </p:tgtEl>
                                        <p:attrNameLst>
                                          <p:attrName>style.visibility</p:attrName>
                                        </p:attrNameLst>
                                      </p:cBhvr>
                                      <p:to>
                                        <p:strVal val="visible"/>
                                      </p:to>
                                    </p:set>
                                    <p:anim calcmode="lin" valueType="num">
                                      <p:cBhvr additive="base">
                                        <p:cTn id="76" dur="500" fill="hold"/>
                                        <p:tgtEl>
                                          <p:spTgt spid="25"/>
                                        </p:tgtEl>
                                        <p:attrNameLst>
                                          <p:attrName>ppt_x</p:attrName>
                                        </p:attrNameLst>
                                      </p:cBhvr>
                                      <p:tavLst>
                                        <p:tav tm="0">
                                          <p:val>
                                            <p:strVal val="#ppt_x"/>
                                          </p:val>
                                        </p:tav>
                                        <p:tav tm="100000">
                                          <p:val>
                                            <p:strVal val="#ppt_x"/>
                                          </p:val>
                                        </p:tav>
                                      </p:tavLst>
                                    </p:anim>
                                    <p:anim calcmode="lin" valueType="num">
                                      <p:cBhvr additive="base">
                                        <p:cTn id="77" dur="500" fill="hold"/>
                                        <p:tgtEl>
                                          <p:spTgt spid="25"/>
                                        </p:tgtEl>
                                        <p:attrNameLst>
                                          <p:attrName>ppt_y</p:attrName>
                                        </p:attrNameLst>
                                      </p:cBhvr>
                                      <p:tavLst>
                                        <p:tav tm="0">
                                          <p:val>
                                            <p:strVal val="#ppt_y+0.1"/>
                                          </p:val>
                                        </p:tav>
                                        <p:tav tm="100000">
                                          <p:val>
                                            <p:strVal val="#ppt_y"/>
                                          </p:val>
                                        </p:tav>
                                      </p:tavLst>
                                    </p:anim>
                                    <p:animEffect transition="in" filter="fade">
                                      <p:cBhvr>
                                        <p:cTn id="78" dur="500"/>
                                        <p:tgtEl>
                                          <p:spTgt spid="25"/>
                                        </p:tgtEl>
                                      </p:cBhvr>
                                    </p:animEffect>
                                  </p:childTnLst>
                                </p:cTn>
                              </p:par>
                              <p:par>
                                <p:cTn id="84" presetID="2" presetClass="entr" presetSubtype="4" fill="hold" grpId="0" nodeType="withEffect">
                                  <p:stCondLst>
                                    <p:cond delay="420"/>
                                  </p:stCondLst>
                                  <p:childTnLst>
                                    <p:set>
                                      <p:cBhvr>
                                        <p:cTn id="80" dur="1" fill="hold">
                                          <p:stCondLst>
                                            <p:cond delay="0"/>
                                          </p:stCondLst>
                                        </p:cTn>
                                        <p:tgtEl>
                                          <p:spTgt spid="26"/>
                                        </p:tgtEl>
                                        <p:attrNameLst>
                                          <p:attrName>style.visibility</p:attrName>
                                        </p:attrNameLst>
                                      </p:cBhvr>
                                      <p:to>
                                        <p:strVal val="visible"/>
                                      </p:to>
                                    </p:set>
                                    <p:anim calcmode="lin" valueType="num">
                                      <p:cBhvr additive="base">
                                        <p:cTn id="81" dur="500" fill="hold"/>
                                        <p:tgtEl>
                                          <p:spTgt spid="26"/>
                                        </p:tgtEl>
                                        <p:attrNameLst>
                                          <p:attrName>ppt_x</p:attrName>
                                        </p:attrNameLst>
                                      </p:cBhvr>
                                      <p:tavLst>
                                        <p:tav tm="0">
                                          <p:val>
                                            <p:strVal val="#ppt_x"/>
                                          </p:val>
                                        </p:tav>
                                        <p:tav tm="100000">
                                          <p:val>
                                            <p:strVal val="#ppt_x"/>
                                          </p:val>
                                        </p:tav>
                                      </p:tavLst>
                                    </p:anim>
                                    <p:anim calcmode="lin" valueType="num">
                                      <p:cBhvr additive="base">
                                        <p:cTn id="82" dur="500" fill="hold"/>
                                        <p:tgtEl>
                                          <p:spTgt spid="26"/>
                                        </p:tgtEl>
                                        <p:attrNameLst>
                                          <p:attrName>ppt_y</p:attrName>
                                        </p:attrNameLst>
                                      </p:cBhvr>
                                      <p:tavLst>
                                        <p:tav tm="0">
                                          <p:val>
                                            <p:strVal val="#ppt_y+0.1"/>
                                          </p:val>
                                        </p:tav>
                                        <p:tav tm="100000">
                                          <p:val>
                                            <p:strVal val="#ppt_y"/>
                                          </p:val>
                                        </p:tav>
                                      </p:tavLst>
                                    </p:anim>
                                    <p:animEffect transition="in" filter="fade">
                                      <p:cBhvr>
                                        <p:cTn id="83" dur="500"/>
                                        <p:tgtEl>
                                          <p:spTgt spid="26"/>
                                        </p:tgtEl>
                                      </p:cBhvr>
                                    </p:animEffect>
                                  </p:childTnLst>
                                </p:cTn>
                              </p:par>
                              <p:par>
                                <p:cTn id="89" presetID="2" presetClass="entr" presetSubtype="4" fill="hold" grpId="0" nodeType="withEffect">
                                  <p:stCondLst>
                                    <p:cond delay="420"/>
                                  </p:stCondLst>
                                  <p:childTnLst>
                                    <p:set>
                                      <p:cBhvr>
                                        <p:cTn id="85" dur="1" fill="hold">
                                          <p:stCondLst>
                                            <p:cond delay="0"/>
                                          </p:stCondLst>
                                        </p:cTn>
                                        <p:tgtEl>
                                          <p:spTgt spid="27"/>
                                        </p:tgtEl>
                                        <p:attrNameLst>
                                          <p:attrName>style.visibility</p:attrName>
                                        </p:attrNameLst>
                                      </p:cBhvr>
                                      <p:to>
                                        <p:strVal val="visible"/>
                                      </p:to>
                                    </p:set>
                                    <p:anim calcmode="lin" valueType="num">
                                      <p:cBhvr additive="base">
                                        <p:cTn id="86" dur="500" fill="hold"/>
                                        <p:tgtEl>
                                          <p:spTgt spid="27"/>
                                        </p:tgtEl>
                                        <p:attrNameLst>
                                          <p:attrName>ppt_x</p:attrName>
                                        </p:attrNameLst>
                                      </p:cBhvr>
                                      <p:tavLst>
                                        <p:tav tm="0">
                                          <p:val>
                                            <p:strVal val="#ppt_x"/>
                                          </p:val>
                                        </p:tav>
                                        <p:tav tm="100000">
                                          <p:val>
                                            <p:strVal val="#ppt_x"/>
                                          </p:val>
                                        </p:tav>
                                      </p:tavLst>
                                    </p:anim>
                                    <p:anim calcmode="lin" valueType="num">
                                      <p:cBhvr additive="base">
                                        <p:cTn id="87" dur="500" fill="hold"/>
                                        <p:tgtEl>
                                          <p:spTgt spid="27"/>
                                        </p:tgtEl>
                                        <p:attrNameLst>
                                          <p:attrName>ppt_y</p:attrName>
                                        </p:attrNameLst>
                                      </p:cBhvr>
                                      <p:tavLst>
                                        <p:tav tm="0">
                                          <p:val>
                                            <p:strVal val="#ppt_y+0.1"/>
                                          </p:val>
                                        </p:tav>
                                        <p:tav tm="100000">
                                          <p:val>
                                            <p:strVal val="#ppt_y"/>
                                          </p:val>
                                        </p:tav>
                                      </p:tavLst>
                                    </p:anim>
                                    <p:animEffect transition="in" filter="fade">
                                      <p:cBhvr>
                                        <p:cTn id="88" dur="500"/>
                                        <p:tgtEl>
                                          <p:spTgt spid="27"/>
                                        </p:tgtEl>
                                      </p:cBhvr>
                                    </p:animEffect>
                                  </p:childTnLst>
                                </p:cTn>
                              </p:par>
                            </p:childTnLst>
                          </p:cTn>
                        </p:par>
                      </p:childTnLst>
                    </p:cTn>
                  </p:par>
                  <p:par>
                    <p:cTn id="90" fill="hold">
                      <p:stCondLst>
                        <p:cond delay="indefinite"/>
                      </p:stCondLst>
                      <p:childTnLst>
                        <p:par>
                          <p:cTn id="91" fill="hold">
                            <p:stCondLst>
                              <p:cond delay="0"/>
                            </p:stCondLst>
                            <p:childTnLst>
                              <p:par>
                                <p:cTn id="96" presetID="2" presetClass="entr" presetSubtype="4" fill="hold" grpId="0" nodeType="clickEffect">
                                  <p:stCondLst>
                                    <p:cond delay="0"/>
                                  </p:stCondLst>
                                  <p:childTnLst>
                                    <p:set>
                                      <p:cBhvr>
                                        <p:cTn id="92" dur="1" fill="hold">
                                          <p:stCondLst>
                                            <p:cond delay="0"/>
                                          </p:stCondLst>
                                        </p:cTn>
                                        <p:tgtEl>
                                          <p:spTgt spid="28"/>
                                        </p:tgtEl>
                                        <p:attrNameLst>
                                          <p:attrName>style.visibility</p:attrName>
                                        </p:attrNameLst>
                                      </p:cBhvr>
                                      <p:to>
                                        <p:strVal val="visible"/>
                                      </p:to>
                                    </p:set>
                                    <p:anim calcmode="lin" valueType="num">
                                      <p:cBhvr additive="base">
                                        <p:cTn id="93" dur="500" fill="hold"/>
                                        <p:tgtEl>
                                          <p:spTgt spid="28"/>
                                        </p:tgtEl>
                                        <p:attrNameLst>
                                          <p:attrName>ppt_x</p:attrName>
                                        </p:attrNameLst>
                                      </p:cBhvr>
                                      <p:tavLst>
                                        <p:tav tm="0">
                                          <p:val>
                                            <p:strVal val="#ppt_x"/>
                                          </p:val>
                                        </p:tav>
                                        <p:tav tm="100000">
                                          <p:val>
                                            <p:strVal val="#ppt_x"/>
                                          </p:val>
                                        </p:tav>
                                      </p:tavLst>
                                    </p:anim>
                                    <p:anim calcmode="lin" valueType="num">
                                      <p:cBhvr additive="base">
                                        <p:cTn id="94" dur="500" fill="hold"/>
                                        <p:tgtEl>
                                          <p:spTgt spid="28"/>
                                        </p:tgtEl>
                                        <p:attrNameLst>
                                          <p:attrName>ppt_y</p:attrName>
                                        </p:attrNameLst>
                                      </p:cBhvr>
                                      <p:tavLst>
                                        <p:tav tm="0">
                                          <p:val>
                                            <p:strVal val="#ppt_y+0.1"/>
                                          </p:val>
                                        </p:tav>
                                        <p:tav tm="100000">
                                          <p:val>
                                            <p:strVal val="#ppt_y"/>
                                          </p:val>
                                        </p:tav>
                                      </p:tavLst>
                                    </p:anim>
                                    <p:animEffect transition="in" filter="fade">
                                      <p:cBhvr>
                                        <p:cTn id="95" dur="500"/>
                                        <p:tgtEl>
                                          <p:spTgt spid="28"/>
                                        </p:tgtEl>
                                      </p:cBhvr>
                                    </p:animEffect>
                                  </p:childTnLst>
                                </p:cTn>
                              </p:par>
                              <p:par>
                                <p:cTn id="101" presetID="2" presetClass="entr" presetSubtype="4" fill="hold" grpId="0" nodeType="withEffect">
                                  <p:stCondLst>
                                    <p:cond delay="0"/>
                                  </p:stCondLst>
                                  <p:childTnLst>
                                    <p:set>
                                      <p:cBhvr>
                                        <p:cTn id="97" dur="1" fill="hold">
                                          <p:stCondLst>
                                            <p:cond delay="0"/>
                                          </p:stCondLst>
                                        </p:cTn>
                                        <p:tgtEl>
                                          <p:spTgt spid="29"/>
                                        </p:tgtEl>
                                        <p:attrNameLst>
                                          <p:attrName>style.visibility</p:attrName>
                                        </p:attrNameLst>
                                      </p:cBhvr>
                                      <p:to>
                                        <p:strVal val="visible"/>
                                      </p:to>
                                    </p:set>
                                    <p:anim calcmode="lin" valueType="num">
                                      <p:cBhvr additive="base">
                                        <p:cTn id="98" dur="500" fill="hold"/>
                                        <p:tgtEl>
                                          <p:spTgt spid="29"/>
                                        </p:tgtEl>
                                        <p:attrNameLst>
                                          <p:attrName>ppt_x</p:attrName>
                                        </p:attrNameLst>
                                      </p:cBhvr>
                                      <p:tavLst>
                                        <p:tav tm="0">
                                          <p:val>
                                            <p:strVal val="#ppt_x"/>
                                          </p:val>
                                        </p:tav>
                                        <p:tav tm="100000">
                                          <p:val>
                                            <p:strVal val="#ppt_x"/>
                                          </p:val>
                                        </p:tav>
                                      </p:tavLst>
                                    </p:anim>
                                    <p:anim calcmode="lin" valueType="num">
                                      <p:cBhvr additive="base">
                                        <p:cTn id="99" dur="500" fill="hold"/>
                                        <p:tgtEl>
                                          <p:spTgt spid="29"/>
                                        </p:tgtEl>
                                        <p:attrNameLst>
                                          <p:attrName>ppt_y</p:attrName>
                                        </p:attrNameLst>
                                      </p:cBhvr>
                                      <p:tavLst>
                                        <p:tav tm="0">
                                          <p:val>
                                            <p:strVal val="#ppt_y+0.1"/>
                                          </p:val>
                                        </p:tav>
                                        <p:tav tm="100000">
                                          <p:val>
                                            <p:strVal val="#ppt_y"/>
                                          </p:val>
                                        </p:tav>
                                      </p:tavLst>
                                    </p:anim>
                                    <p:animEffect transition="in" filter="fade">
                                      <p:cBhvr>
                                        <p:cTn id="100" dur="500"/>
                                        <p:tgtEl>
                                          <p:spTgt spid="29"/>
                                        </p:tgtEl>
                                      </p:cBhvr>
                                    </p:animEffect>
                                  </p:childTnLst>
                                </p:cTn>
                              </p:par>
                              <p:par>
                                <p:cTn id="106" presetID="2" presetClass="entr" presetSubtype="4" fill="hold" grpId="0" nodeType="withEffect">
                                  <p:stCondLst>
                                    <p:cond delay="0"/>
                                  </p:stCondLst>
                                  <p:childTnLst>
                                    <p:set>
                                      <p:cBhvr>
                                        <p:cTn id="102" dur="1" fill="hold">
                                          <p:stCondLst>
                                            <p:cond delay="0"/>
                                          </p:stCondLst>
                                        </p:cTn>
                                        <p:tgtEl>
                                          <p:spTgt spid="30"/>
                                        </p:tgtEl>
                                        <p:attrNameLst>
                                          <p:attrName>style.visibility</p:attrName>
                                        </p:attrNameLst>
                                      </p:cBhvr>
                                      <p:to>
                                        <p:strVal val="visible"/>
                                      </p:to>
                                    </p:set>
                                    <p:anim calcmode="lin" valueType="num">
                                      <p:cBhvr additive="base">
                                        <p:cTn id="103" dur="500" fill="hold"/>
                                        <p:tgtEl>
                                          <p:spTgt spid="30"/>
                                        </p:tgtEl>
                                        <p:attrNameLst>
                                          <p:attrName>ppt_x</p:attrName>
                                        </p:attrNameLst>
                                      </p:cBhvr>
                                      <p:tavLst>
                                        <p:tav tm="0">
                                          <p:val>
                                            <p:strVal val="#ppt_x"/>
                                          </p:val>
                                        </p:tav>
                                        <p:tav tm="100000">
                                          <p:val>
                                            <p:strVal val="#ppt_x"/>
                                          </p:val>
                                        </p:tav>
                                      </p:tavLst>
                                    </p:anim>
                                    <p:anim calcmode="lin" valueType="num">
                                      <p:cBhvr additive="base">
                                        <p:cTn id="104" dur="500" fill="hold"/>
                                        <p:tgtEl>
                                          <p:spTgt spid="30"/>
                                        </p:tgtEl>
                                        <p:attrNameLst>
                                          <p:attrName>ppt_y</p:attrName>
                                        </p:attrNameLst>
                                      </p:cBhvr>
                                      <p:tavLst>
                                        <p:tav tm="0">
                                          <p:val>
                                            <p:strVal val="#ppt_y+0.1"/>
                                          </p:val>
                                        </p:tav>
                                        <p:tav tm="100000">
                                          <p:val>
                                            <p:strVal val="#ppt_y"/>
                                          </p:val>
                                        </p:tav>
                                      </p:tavLst>
                                    </p:anim>
                                    <p:animEffect transition="in" filter="fade">
                                      <p:cBhvr>
                                        <p:cTn id="105" dur="500"/>
                                        <p:tgtEl>
                                          <p:spTgt spid="30"/>
                                        </p:tgtEl>
                                      </p:cBhvr>
                                    </p:animEffect>
                                  </p:childTnLst>
                                </p:cTn>
                              </p:par>
                              <p:par>
                                <p:cTn id="111" presetID="2" presetClass="entr" presetSubtype="4" fill="hold" grpId="0" nodeType="withEffect">
                                  <p:stCondLst>
                                    <p:cond delay="60"/>
                                  </p:stCondLst>
                                  <p:childTnLst>
                                    <p:set>
                                      <p:cBhvr>
                                        <p:cTn id="107" dur="1" fill="hold">
                                          <p:stCondLst>
                                            <p:cond delay="0"/>
                                          </p:stCondLst>
                                        </p:cTn>
                                        <p:tgtEl>
                                          <p:spTgt spid="31"/>
                                        </p:tgtEl>
                                        <p:attrNameLst>
                                          <p:attrName>style.visibility</p:attrName>
                                        </p:attrNameLst>
                                      </p:cBhvr>
                                      <p:to>
                                        <p:strVal val="visible"/>
                                      </p:to>
                                    </p:set>
                                    <p:anim calcmode="lin" valueType="num">
                                      <p:cBhvr additive="base">
                                        <p:cTn id="108" dur="500" fill="hold"/>
                                        <p:tgtEl>
                                          <p:spTgt spid="31"/>
                                        </p:tgtEl>
                                        <p:attrNameLst>
                                          <p:attrName>ppt_x</p:attrName>
                                        </p:attrNameLst>
                                      </p:cBhvr>
                                      <p:tavLst>
                                        <p:tav tm="0">
                                          <p:val>
                                            <p:strVal val="#ppt_x"/>
                                          </p:val>
                                        </p:tav>
                                        <p:tav tm="100000">
                                          <p:val>
                                            <p:strVal val="#ppt_x"/>
                                          </p:val>
                                        </p:tav>
                                      </p:tavLst>
                                    </p:anim>
                                    <p:anim calcmode="lin" valueType="num">
                                      <p:cBhvr additive="base">
                                        <p:cTn id="109" dur="500" fill="hold"/>
                                        <p:tgtEl>
                                          <p:spTgt spid="31"/>
                                        </p:tgtEl>
                                        <p:attrNameLst>
                                          <p:attrName>ppt_y</p:attrName>
                                        </p:attrNameLst>
                                      </p:cBhvr>
                                      <p:tavLst>
                                        <p:tav tm="0">
                                          <p:val>
                                            <p:strVal val="#ppt_y+0.1"/>
                                          </p:val>
                                        </p:tav>
                                        <p:tav tm="100000">
                                          <p:val>
                                            <p:strVal val="#ppt_y"/>
                                          </p:val>
                                        </p:tav>
                                      </p:tavLst>
                                    </p:anim>
                                    <p:animEffect transition="in" filter="fade">
                                      <p:cBhvr>
                                        <p:cTn id="110" dur="500"/>
                                        <p:tgtEl>
                                          <p:spTgt spid="31"/>
                                        </p:tgtEl>
                                      </p:cBhvr>
                                    </p:animEffect>
                                  </p:childTnLst>
                                </p:cTn>
                              </p:par>
                            </p:childTnLst>
                          </p:cTn>
                        </p:par>
                      </p:childTnLst>
                    </p:cTn>
                  </p:par>
                  <p:par>
                    <p:cTn id="112" fill="hold">
                      <p:stCondLst>
                        <p:cond delay="indefinite"/>
                      </p:stCondLst>
                      <p:childTnLst>
                        <p:par>
                          <p:cTn id="113" fill="hold">
                            <p:stCondLst>
                              <p:cond delay="0"/>
                            </p:stCondLst>
                            <p:childTnLst>
                              <p:par>
                                <p:cTn id="118" presetID="2" presetClass="entr" presetSubtype="4" fill="hold" grpId="0" nodeType="clickEffect">
                                  <p:stCondLst>
                                    <p:cond delay="0"/>
                                  </p:stCondLst>
                                  <p:childTnLst>
                                    <p:set>
                                      <p:cBhvr>
                                        <p:cTn id="114" dur="1" fill="hold">
                                          <p:stCondLst>
                                            <p:cond delay="0"/>
                                          </p:stCondLst>
                                        </p:cTn>
                                        <p:tgtEl>
                                          <p:spTgt spid="32"/>
                                        </p:tgtEl>
                                        <p:attrNameLst>
                                          <p:attrName>style.visibility</p:attrName>
                                        </p:attrNameLst>
                                      </p:cBhvr>
                                      <p:to>
                                        <p:strVal val="visible"/>
                                      </p:to>
                                    </p:set>
                                    <p:anim calcmode="lin" valueType="num">
                                      <p:cBhvr additive="base">
                                        <p:cTn id="115" dur="500" fill="hold"/>
                                        <p:tgtEl>
                                          <p:spTgt spid="32"/>
                                        </p:tgtEl>
                                        <p:attrNameLst>
                                          <p:attrName>ppt_x</p:attrName>
                                        </p:attrNameLst>
                                      </p:cBhvr>
                                      <p:tavLst>
                                        <p:tav tm="0">
                                          <p:val>
                                            <p:strVal val="#ppt_x"/>
                                          </p:val>
                                        </p:tav>
                                        <p:tav tm="100000">
                                          <p:val>
                                            <p:strVal val="#ppt_x"/>
                                          </p:val>
                                        </p:tav>
                                      </p:tavLst>
                                    </p:anim>
                                    <p:anim calcmode="lin" valueType="num">
                                      <p:cBhvr additive="base">
                                        <p:cTn id="116" dur="500" fill="hold"/>
                                        <p:tgtEl>
                                          <p:spTgt spid="32"/>
                                        </p:tgtEl>
                                        <p:attrNameLst>
                                          <p:attrName>ppt_y</p:attrName>
                                        </p:attrNameLst>
                                      </p:cBhvr>
                                      <p:tavLst>
                                        <p:tav tm="0">
                                          <p:val>
                                            <p:strVal val="#ppt_y+0.1"/>
                                          </p:val>
                                        </p:tav>
                                        <p:tav tm="100000">
                                          <p:val>
                                            <p:strVal val="#ppt_y"/>
                                          </p:val>
                                        </p:tav>
                                      </p:tavLst>
                                    </p:anim>
                                    <p:animEffect transition="in" filter="fade">
                                      <p:cBhvr>
                                        <p:cTn id="117" dur="500"/>
                                        <p:tgtEl>
                                          <p:spTgt spid="32"/>
                                        </p:tgtEl>
                                      </p:cBhvr>
                                    </p:animEffect>
                                  </p:childTnLst>
                                </p:cTn>
                              </p:par>
                              <p:par>
                                <p:cTn id="123" presetID="2" presetClass="entr" presetSubtype="4" fill="hold" grpId="0" nodeType="withEffect">
                                  <p:stCondLst>
                                    <p:cond delay="0"/>
                                  </p:stCondLst>
                                  <p:childTnLst>
                                    <p:set>
                                      <p:cBhvr>
                                        <p:cTn id="119" dur="1" fill="hold">
                                          <p:stCondLst>
                                            <p:cond delay="0"/>
                                          </p:stCondLst>
                                        </p:cTn>
                                        <p:tgtEl>
                                          <p:spTgt spid="33"/>
                                        </p:tgtEl>
                                        <p:attrNameLst>
                                          <p:attrName>style.visibility</p:attrName>
                                        </p:attrNameLst>
                                      </p:cBhvr>
                                      <p:to>
                                        <p:strVal val="visible"/>
                                      </p:to>
                                    </p:set>
                                    <p:anim calcmode="lin" valueType="num">
                                      <p:cBhvr additive="base">
                                        <p:cTn id="120" dur="500" fill="hold"/>
                                        <p:tgtEl>
                                          <p:spTgt spid="33"/>
                                        </p:tgtEl>
                                        <p:attrNameLst>
                                          <p:attrName>ppt_x</p:attrName>
                                        </p:attrNameLst>
                                      </p:cBhvr>
                                      <p:tavLst>
                                        <p:tav tm="0">
                                          <p:val>
                                            <p:strVal val="#ppt_x"/>
                                          </p:val>
                                        </p:tav>
                                        <p:tav tm="100000">
                                          <p:val>
                                            <p:strVal val="#ppt_x"/>
                                          </p:val>
                                        </p:tav>
                                      </p:tavLst>
                                    </p:anim>
                                    <p:anim calcmode="lin" valueType="num">
                                      <p:cBhvr additive="base">
                                        <p:cTn id="121" dur="500" fill="hold"/>
                                        <p:tgtEl>
                                          <p:spTgt spid="33"/>
                                        </p:tgtEl>
                                        <p:attrNameLst>
                                          <p:attrName>ppt_y</p:attrName>
                                        </p:attrNameLst>
                                      </p:cBhvr>
                                      <p:tavLst>
                                        <p:tav tm="0">
                                          <p:val>
                                            <p:strVal val="#ppt_y+0.1"/>
                                          </p:val>
                                        </p:tav>
                                        <p:tav tm="100000">
                                          <p:val>
                                            <p:strVal val="#ppt_y"/>
                                          </p:val>
                                        </p:tav>
                                      </p:tavLst>
                                    </p:anim>
                                    <p:animEffect transition="in" filter="fade">
                                      <p:cBhvr>
                                        <p:cTn id="122" dur="500"/>
                                        <p:tgtEl>
                                          <p:spTgt spid="33"/>
                                        </p:tgtEl>
                                      </p:cBhvr>
                                    </p:animEffect>
                                  </p:childTnLst>
                                </p:cTn>
                              </p:par>
                              <p:par>
                                <p:cTn id="128" presetID="2" presetClass="entr" presetSubtype="4" fill="hold" grpId="0" nodeType="withEffect">
                                  <p:stCondLst>
                                    <p:cond delay="0"/>
                                  </p:stCondLst>
                                  <p:childTnLst>
                                    <p:set>
                                      <p:cBhvr>
                                        <p:cTn id="124" dur="1" fill="hold">
                                          <p:stCondLst>
                                            <p:cond delay="0"/>
                                          </p:stCondLst>
                                        </p:cTn>
                                        <p:tgtEl>
                                          <p:spTgt spid="34"/>
                                        </p:tgtEl>
                                        <p:attrNameLst>
                                          <p:attrName>style.visibility</p:attrName>
                                        </p:attrNameLst>
                                      </p:cBhvr>
                                      <p:to>
                                        <p:strVal val="visible"/>
                                      </p:to>
                                    </p:set>
                                    <p:anim calcmode="lin" valueType="num">
                                      <p:cBhvr additive="base">
                                        <p:cTn id="125" dur="500" fill="hold"/>
                                        <p:tgtEl>
                                          <p:spTgt spid="34"/>
                                        </p:tgtEl>
                                        <p:attrNameLst>
                                          <p:attrName>ppt_x</p:attrName>
                                        </p:attrNameLst>
                                      </p:cBhvr>
                                      <p:tavLst>
                                        <p:tav tm="0">
                                          <p:val>
                                            <p:strVal val="#ppt_x"/>
                                          </p:val>
                                        </p:tav>
                                        <p:tav tm="100000">
                                          <p:val>
                                            <p:strVal val="#ppt_x"/>
                                          </p:val>
                                        </p:tav>
                                      </p:tavLst>
                                    </p:anim>
                                    <p:anim calcmode="lin" valueType="num">
                                      <p:cBhvr additive="base">
                                        <p:cTn id="126" dur="500" fill="hold"/>
                                        <p:tgtEl>
                                          <p:spTgt spid="34"/>
                                        </p:tgtEl>
                                        <p:attrNameLst>
                                          <p:attrName>ppt_y</p:attrName>
                                        </p:attrNameLst>
                                      </p:cBhvr>
                                      <p:tavLst>
                                        <p:tav tm="0">
                                          <p:val>
                                            <p:strVal val="#ppt_y+0.1"/>
                                          </p:val>
                                        </p:tav>
                                        <p:tav tm="100000">
                                          <p:val>
                                            <p:strVal val="#ppt_y"/>
                                          </p:val>
                                        </p:tav>
                                      </p:tavLst>
                                    </p:anim>
                                    <p:animEffect transition="in" filter="fade">
                                      <p:cBhvr>
                                        <p:cTn id="127" dur="500"/>
                                        <p:tgtEl>
                                          <p:spTgt spid="34"/>
                                        </p:tgtEl>
                                      </p:cBhvr>
                                    </p:animEffect>
                                  </p:childTnLst>
                                </p:cTn>
                              </p:par>
                              <p:par>
                                <p:cTn id="133" presetID="2" presetClass="entr" presetSubtype="4" fill="hold" grpId="0" nodeType="withEffect">
                                  <p:stCondLst>
                                    <p:cond delay="60"/>
                                  </p:stCondLst>
                                  <p:childTnLst>
                                    <p:set>
                                      <p:cBhvr>
                                        <p:cTn id="129" dur="1" fill="hold">
                                          <p:stCondLst>
                                            <p:cond delay="0"/>
                                          </p:stCondLst>
                                        </p:cTn>
                                        <p:tgtEl>
                                          <p:spTgt spid="35"/>
                                        </p:tgtEl>
                                        <p:attrNameLst>
                                          <p:attrName>style.visibility</p:attrName>
                                        </p:attrNameLst>
                                      </p:cBhvr>
                                      <p:to>
                                        <p:strVal val="visible"/>
                                      </p:to>
                                    </p:set>
                                    <p:anim calcmode="lin" valueType="num">
                                      <p:cBhvr additive="base">
                                        <p:cTn id="130" dur="500" fill="hold"/>
                                        <p:tgtEl>
                                          <p:spTgt spid="35"/>
                                        </p:tgtEl>
                                        <p:attrNameLst>
                                          <p:attrName>ppt_x</p:attrName>
                                        </p:attrNameLst>
                                      </p:cBhvr>
                                      <p:tavLst>
                                        <p:tav tm="0">
                                          <p:val>
                                            <p:strVal val="#ppt_x"/>
                                          </p:val>
                                        </p:tav>
                                        <p:tav tm="100000">
                                          <p:val>
                                            <p:strVal val="#ppt_x"/>
                                          </p:val>
                                        </p:tav>
                                      </p:tavLst>
                                    </p:anim>
                                    <p:anim calcmode="lin" valueType="num">
                                      <p:cBhvr additive="base">
                                        <p:cTn id="131" dur="500" fill="hold"/>
                                        <p:tgtEl>
                                          <p:spTgt spid="35"/>
                                        </p:tgtEl>
                                        <p:attrNameLst>
                                          <p:attrName>ppt_y</p:attrName>
                                        </p:attrNameLst>
                                      </p:cBhvr>
                                      <p:tavLst>
                                        <p:tav tm="0">
                                          <p:val>
                                            <p:strVal val="#ppt_y+0.1"/>
                                          </p:val>
                                        </p:tav>
                                        <p:tav tm="100000">
                                          <p:val>
                                            <p:strVal val="#ppt_y"/>
                                          </p:val>
                                        </p:tav>
                                      </p:tavLst>
                                    </p:anim>
                                    <p:animEffect transition="in" filter="fade">
                                      <p:cBhvr>
                                        <p:cTn id="132" dur="500"/>
                                        <p:tgtEl>
                                          <p:spTgt spid="35"/>
                                        </p:tgtEl>
                                      </p:cBhvr>
                                    </p:animEffect>
                                  </p:childTnLst>
                                </p:cTn>
                              </p:par>
                            </p:childTnLst>
                          </p:cTn>
                        </p:par>
                      </p:childTnLst>
                    </p:cTn>
                  </p:par>
                  <p:par>
                    <p:cTn id="134" fill="hold">
                      <p:stCondLst>
                        <p:cond delay="indefinite"/>
                      </p:stCondLst>
                      <p:childTnLst>
                        <p:par>
                          <p:cTn id="135" fill="hold">
                            <p:stCondLst>
                              <p:cond delay="0"/>
                            </p:stCondLst>
                            <p:childTnLst>
                              <p:par>
                                <p:cTn id="140" presetID="2" presetClass="entr" presetSubtype="4" fill="hold" grpId="0" nodeType="clickEffect">
                                  <p:stCondLst>
                                    <p:cond delay="0"/>
                                  </p:stCondLst>
                                  <p:childTnLst>
                                    <p:set>
                                      <p:cBhvr>
                                        <p:cTn id="136" dur="1" fill="hold">
                                          <p:stCondLst>
                                            <p:cond delay="0"/>
                                          </p:stCondLst>
                                        </p:cTn>
                                        <p:tgtEl>
                                          <p:spTgt spid="36"/>
                                        </p:tgtEl>
                                        <p:attrNameLst>
                                          <p:attrName>style.visibility</p:attrName>
                                        </p:attrNameLst>
                                      </p:cBhvr>
                                      <p:to>
                                        <p:strVal val="visible"/>
                                      </p:to>
                                    </p:set>
                                    <p:anim calcmode="lin" valueType="num">
                                      <p:cBhvr additive="base">
                                        <p:cTn id="137" dur="500" fill="hold"/>
                                        <p:tgtEl>
                                          <p:spTgt spid="36"/>
                                        </p:tgtEl>
                                        <p:attrNameLst>
                                          <p:attrName>ppt_x</p:attrName>
                                        </p:attrNameLst>
                                      </p:cBhvr>
                                      <p:tavLst>
                                        <p:tav tm="0">
                                          <p:val>
                                            <p:strVal val="#ppt_x"/>
                                          </p:val>
                                        </p:tav>
                                        <p:tav tm="100000">
                                          <p:val>
                                            <p:strVal val="#ppt_x"/>
                                          </p:val>
                                        </p:tav>
                                      </p:tavLst>
                                    </p:anim>
                                    <p:anim calcmode="lin" valueType="num">
                                      <p:cBhvr additive="base">
                                        <p:cTn id="138" dur="500" fill="hold"/>
                                        <p:tgtEl>
                                          <p:spTgt spid="36"/>
                                        </p:tgtEl>
                                        <p:attrNameLst>
                                          <p:attrName>ppt_y</p:attrName>
                                        </p:attrNameLst>
                                      </p:cBhvr>
                                      <p:tavLst>
                                        <p:tav tm="0">
                                          <p:val>
                                            <p:strVal val="#ppt_y+0.1"/>
                                          </p:val>
                                        </p:tav>
                                        <p:tav tm="100000">
                                          <p:val>
                                            <p:strVal val="#ppt_y"/>
                                          </p:val>
                                        </p:tav>
                                      </p:tavLst>
                                    </p:anim>
                                    <p:animEffect transition="in" filter="fade">
                                      <p:cBhvr>
                                        <p:cTn id="139" dur="500"/>
                                        <p:tgtEl>
                                          <p:spTgt spid="36"/>
                                        </p:tgtEl>
                                      </p:cBhvr>
                                    </p:animEffect>
                                  </p:childTnLst>
                                </p:cTn>
                              </p:par>
                              <p:par>
                                <p:cTn id="145" presetID="2" presetClass="entr" presetSubtype="4" fill="hold" grpId="0" nodeType="withEffect">
                                  <p:stCondLst>
                                    <p:cond delay="0"/>
                                  </p:stCondLst>
                                  <p:childTnLst>
                                    <p:set>
                                      <p:cBhvr>
                                        <p:cTn id="141" dur="1" fill="hold">
                                          <p:stCondLst>
                                            <p:cond delay="0"/>
                                          </p:stCondLst>
                                        </p:cTn>
                                        <p:tgtEl>
                                          <p:spTgt spid="37"/>
                                        </p:tgtEl>
                                        <p:attrNameLst>
                                          <p:attrName>style.visibility</p:attrName>
                                        </p:attrNameLst>
                                      </p:cBhvr>
                                      <p:to>
                                        <p:strVal val="visible"/>
                                      </p:to>
                                    </p:set>
                                    <p:anim calcmode="lin" valueType="num">
                                      <p:cBhvr additive="base">
                                        <p:cTn id="142" dur="500" fill="hold"/>
                                        <p:tgtEl>
                                          <p:spTgt spid="37"/>
                                        </p:tgtEl>
                                        <p:attrNameLst>
                                          <p:attrName>ppt_x</p:attrName>
                                        </p:attrNameLst>
                                      </p:cBhvr>
                                      <p:tavLst>
                                        <p:tav tm="0">
                                          <p:val>
                                            <p:strVal val="#ppt_x"/>
                                          </p:val>
                                        </p:tav>
                                        <p:tav tm="100000">
                                          <p:val>
                                            <p:strVal val="#ppt_x"/>
                                          </p:val>
                                        </p:tav>
                                      </p:tavLst>
                                    </p:anim>
                                    <p:anim calcmode="lin" valueType="num">
                                      <p:cBhvr additive="base">
                                        <p:cTn id="143" dur="500" fill="hold"/>
                                        <p:tgtEl>
                                          <p:spTgt spid="37"/>
                                        </p:tgtEl>
                                        <p:attrNameLst>
                                          <p:attrName>ppt_y</p:attrName>
                                        </p:attrNameLst>
                                      </p:cBhvr>
                                      <p:tavLst>
                                        <p:tav tm="0">
                                          <p:val>
                                            <p:strVal val="#ppt_y+0.1"/>
                                          </p:val>
                                        </p:tav>
                                        <p:tav tm="100000">
                                          <p:val>
                                            <p:strVal val="#ppt_y"/>
                                          </p:val>
                                        </p:tav>
                                      </p:tavLst>
                                    </p:anim>
                                    <p:animEffect transition="in" filter="fade">
                                      <p:cBhvr>
                                        <p:cTn id="144" dur="500"/>
                                        <p:tgtEl>
                                          <p:spTgt spid="37"/>
                                        </p:tgtEl>
                                      </p:cBhvr>
                                    </p:animEffect>
                                  </p:childTnLst>
                                </p:cTn>
                              </p:par>
                              <p:par>
                                <p:cTn id="150" presetID="2" presetClass="entr" presetSubtype="4" fill="hold" grpId="0" nodeType="withEffect">
                                  <p:stCondLst>
                                    <p:cond delay="0"/>
                                  </p:stCondLst>
                                  <p:childTnLst>
                                    <p:set>
                                      <p:cBhvr>
                                        <p:cTn id="146" dur="1" fill="hold">
                                          <p:stCondLst>
                                            <p:cond delay="0"/>
                                          </p:stCondLst>
                                        </p:cTn>
                                        <p:tgtEl>
                                          <p:spTgt spid="38"/>
                                        </p:tgtEl>
                                        <p:attrNameLst>
                                          <p:attrName>style.visibility</p:attrName>
                                        </p:attrNameLst>
                                      </p:cBhvr>
                                      <p:to>
                                        <p:strVal val="visible"/>
                                      </p:to>
                                    </p:set>
                                    <p:anim calcmode="lin" valueType="num">
                                      <p:cBhvr additive="base">
                                        <p:cTn id="147" dur="500" fill="hold"/>
                                        <p:tgtEl>
                                          <p:spTgt spid="38"/>
                                        </p:tgtEl>
                                        <p:attrNameLst>
                                          <p:attrName>ppt_x</p:attrName>
                                        </p:attrNameLst>
                                      </p:cBhvr>
                                      <p:tavLst>
                                        <p:tav tm="0">
                                          <p:val>
                                            <p:strVal val="#ppt_x"/>
                                          </p:val>
                                        </p:tav>
                                        <p:tav tm="100000">
                                          <p:val>
                                            <p:strVal val="#ppt_x"/>
                                          </p:val>
                                        </p:tav>
                                      </p:tavLst>
                                    </p:anim>
                                    <p:anim calcmode="lin" valueType="num">
                                      <p:cBhvr additive="base">
                                        <p:cTn id="148" dur="500" fill="hold"/>
                                        <p:tgtEl>
                                          <p:spTgt spid="38"/>
                                        </p:tgtEl>
                                        <p:attrNameLst>
                                          <p:attrName>ppt_y</p:attrName>
                                        </p:attrNameLst>
                                      </p:cBhvr>
                                      <p:tavLst>
                                        <p:tav tm="0">
                                          <p:val>
                                            <p:strVal val="#ppt_y+0.1"/>
                                          </p:val>
                                        </p:tav>
                                        <p:tav tm="100000">
                                          <p:val>
                                            <p:strVal val="#ppt_y"/>
                                          </p:val>
                                        </p:tav>
                                      </p:tavLst>
                                    </p:anim>
                                    <p:animEffect transition="in" filter="fade">
                                      <p:cBhvr>
                                        <p:cTn id="14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8181B"/>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9A34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7C2D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a0f_h8"/>
          <p:cNvSpPr txBox="1"/>
          <p:nvPr/>
        </p:nvSpPr>
        <p:spPr>
          <a:xfrm>
            <a:off x="548640" y="384048"/>
            <a:ext cx="7315200" cy="640080"/>
          </a:xfrm>
          <a:prstGeom prst="rect">
            <a:avLst/>
          </a:prstGeom>
          <a:noFill/>
        </p:spPr>
        <p:txBody>
          <a:bodyPr wrap="square" lIns="0" tIns="0" rIns="0" bIns="0" anchor="ctr">
            <a:spAutoFit/>
          </a:bodyPr>
          <a:lstStyle/>
          <a:p>
            <a:pPr algn="l"/>
            <a:r>
              <a:rPr sz="3050" b="0">
                <a:solidFill>
                  <a:srgbClr val="FFFFFF"/>
                </a:solidFill>
                <a:latin typeface="Bahnschrift SemiBold"/>
              </a:rPr>
              <a:t>Summary</a:t>
            </a:r>
          </a:p>
        </p:txBody>
      </p:sp>
      <p:sp>
        <p:nvSpPr>
          <p:cNvPr id="10" name="a1u_n9"/>
          <p:cNvSpPr/>
          <p:nvPr/>
        </p:nvSpPr>
        <p:spPr>
          <a:xfrm>
            <a:off x="548640" y="1234440"/>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a1u_nt10"/>
          <p:cNvSpPr txBox="1"/>
          <p:nvPr/>
        </p:nvSpPr>
        <p:spPr>
          <a:xfrm>
            <a:off x="548640" y="1234440"/>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1</a:t>
            </a:r>
          </a:p>
        </p:txBody>
      </p:sp>
      <p:sp>
        <p:nvSpPr>
          <p:cNvPr id="12" name="a1u_nb11"/>
          <p:cNvSpPr txBox="1"/>
          <p:nvPr/>
        </p:nvSpPr>
        <p:spPr>
          <a:xfrm>
            <a:off x="1133856" y="1188720"/>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Connect is Kafka's integration subsystem</a:t>
            </a:r>
          </a:p>
          <a:p>
            <a:pPr algn="l">
              <a:spcAft>
                <a:spcPts val="100"/>
              </a:spcAft>
            </a:pPr>
            <a:r>
              <a:rPr sz="1000" b="0">
                <a:solidFill>
                  <a:srgbClr val="D6D3D1"/>
                </a:solidFill>
                <a:latin typeface="Segoe UI"/>
              </a:rPr>
              <a:t>Connectors, plus the workers that run them</a:t>
            </a:r>
          </a:p>
        </p:txBody>
      </p:sp>
      <p:sp>
        <p:nvSpPr>
          <p:cNvPr id="13" name="a1ud200_n12"/>
          <p:cNvSpPr/>
          <p:nvPr/>
        </p:nvSpPr>
        <p:spPr>
          <a:xfrm>
            <a:off x="548640" y="1892808"/>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ud200_nt13"/>
          <p:cNvSpPr txBox="1"/>
          <p:nvPr/>
        </p:nvSpPr>
        <p:spPr>
          <a:xfrm>
            <a:off x="548640" y="1892808"/>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2</a:t>
            </a:r>
          </a:p>
        </p:txBody>
      </p:sp>
      <p:sp>
        <p:nvSpPr>
          <p:cNvPr id="15" name="a1ud200_nb14"/>
          <p:cNvSpPr txBox="1"/>
          <p:nvPr/>
        </p:nvSpPr>
        <p:spPr>
          <a:xfrm>
            <a:off x="1133856" y="1847088"/>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Source in, sink out</a:t>
            </a:r>
          </a:p>
          <a:p>
            <a:pPr algn="l">
              <a:spcAft>
                <a:spcPts val="100"/>
              </a:spcAft>
            </a:pPr>
            <a:r>
              <a:rPr sz="1000" b="0">
                <a:solidFill>
                  <a:srgbClr val="D6D3D1"/>
                </a:solidFill>
                <a:latin typeface="Segoe UI"/>
              </a:rPr>
              <a:t>A producer on one side, a consumer on the other</a:t>
            </a:r>
          </a:p>
        </p:txBody>
      </p:sp>
      <p:sp>
        <p:nvSpPr>
          <p:cNvPr id="16" name="a1ud400_n15"/>
          <p:cNvSpPr/>
          <p:nvPr/>
        </p:nvSpPr>
        <p:spPr>
          <a:xfrm>
            <a:off x="548640" y="2551176"/>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400_nt16"/>
          <p:cNvSpPr txBox="1"/>
          <p:nvPr/>
        </p:nvSpPr>
        <p:spPr>
          <a:xfrm>
            <a:off x="548640" y="2551176"/>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3</a:t>
            </a:r>
          </a:p>
        </p:txBody>
      </p:sp>
      <p:sp>
        <p:nvSpPr>
          <p:cNvPr id="18" name="a1ud400_nb17"/>
          <p:cNvSpPr txBox="1"/>
          <p:nvPr/>
        </p:nvSpPr>
        <p:spPr>
          <a:xfrm>
            <a:off x="1133856" y="2505456"/>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Declarative</a:t>
            </a:r>
          </a:p>
          <a:p>
            <a:pPr algn="l">
              <a:spcAft>
                <a:spcPts val="100"/>
              </a:spcAft>
            </a:pPr>
            <a:r>
              <a:rPr sz="1000" b="0">
                <a:solidFill>
                  <a:srgbClr val="D6D3D1"/>
                </a:solidFill>
                <a:latin typeface="Segoe UI"/>
              </a:rPr>
              <a:t>JSON config to a REST endpoint - no integration code</a:t>
            </a:r>
          </a:p>
        </p:txBody>
      </p:sp>
      <p:sp>
        <p:nvSpPr>
          <p:cNvPr id="19" name="a1ud600_n18"/>
          <p:cNvSpPr/>
          <p:nvPr/>
        </p:nvSpPr>
        <p:spPr>
          <a:xfrm>
            <a:off x="548640" y="3209544"/>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ud600_nt19"/>
          <p:cNvSpPr txBox="1"/>
          <p:nvPr/>
        </p:nvSpPr>
        <p:spPr>
          <a:xfrm>
            <a:off x="548640" y="3209544"/>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4</a:t>
            </a:r>
          </a:p>
        </p:txBody>
      </p:sp>
      <p:sp>
        <p:nvSpPr>
          <p:cNvPr id="21" name="a1ud600_nb20"/>
          <p:cNvSpPr txBox="1"/>
          <p:nvPr/>
        </p:nvSpPr>
        <p:spPr>
          <a:xfrm>
            <a:off x="1133856" y="3163824"/>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SMTs: small and stateless</a:t>
            </a:r>
          </a:p>
          <a:p>
            <a:pPr algn="l">
              <a:spcAft>
                <a:spcPts val="100"/>
              </a:spcAft>
            </a:pPr>
            <a:r>
              <a:rPr sz="1000" b="0">
                <a:solidFill>
                  <a:srgbClr val="D6D3D1"/>
                </a:solidFill>
                <a:latin typeface="Segoe UI"/>
              </a:rPr>
              <a:t>Filter, add, rename, mask - stateful work is streaming</a:t>
            </a:r>
          </a:p>
        </p:txBody>
      </p:sp>
      <p:sp>
        <p:nvSpPr>
          <p:cNvPr id="22" name="a1ud800_n21"/>
          <p:cNvSpPr/>
          <p:nvPr/>
        </p:nvSpPr>
        <p:spPr>
          <a:xfrm>
            <a:off x="548640" y="3867911"/>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ud800_nt22"/>
          <p:cNvSpPr txBox="1"/>
          <p:nvPr/>
        </p:nvSpPr>
        <p:spPr>
          <a:xfrm>
            <a:off x="548640" y="3867911"/>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5</a:t>
            </a:r>
          </a:p>
        </p:txBody>
      </p:sp>
      <p:sp>
        <p:nvSpPr>
          <p:cNvPr id="24" name="a1ud800_nb23"/>
          <p:cNvSpPr txBox="1"/>
          <p:nvPr/>
        </p:nvSpPr>
        <p:spPr>
          <a:xfrm>
            <a:off x="1133856" y="3822191"/>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Use the ecosystem</a:t>
            </a:r>
          </a:p>
          <a:p>
            <a:pPr algn="l">
              <a:spcAft>
                <a:spcPts val="100"/>
              </a:spcAft>
            </a:pPr>
            <a:r>
              <a:rPr sz="1000" b="0">
                <a:solidFill>
                  <a:srgbClr val="D6D3D1"/>
                </a:solidFill>
                <a:latin typeface="Segoe UI"/>
              </a:rPr>
              <a:t>Standard connectors are battle-tested; vet the long tail</a:t>
            </a:r>
          </a:p>
        </p:txBody>
      </p:sp>
      <p:sp>
        <p:nvSpPr>
          <p:cNvPr id="25" name="a2u_next24"/>
          <p:cNvSpPr/>
          <p:nvPr/>
        </p:nvSpPr>
        <p:spPr>
          <a:xfrm>
            <a:off x="6263640" y="1234440"/>
            <a:ext cx="2423160" cy="1097280"/>
          </a:xfrm>
          <a:prstGeom prst="roundRect">
            <a:avLst>
              <a:gd name="adj" fmla="val 8333"/>
            </a:avLst>
          </a:prstGeom>
          <a:solidFill>
            <a:srgbClr val="27272A"/>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2u_nextt25"/>
          <p:cNvSpPr txBox="1"/>
          <p:nvPr/>
        </p:nvSpPr>
        <p:spPr>
          <a:xfrm>
            <a:off x="6446520" y="1353312"/>
            <a:ext cx="2103120" cy="868680"/>
          </a:xfrm>
          <a:prstGeom prst="rect">
            <a:avLst/>
          </a:prstGeom>
          <a:noFill/>
        </p:spPr>
        <p:txBody>
          <a:bodyPr wrap="square" lIns="0" tIns="0" rIns="0" bIns="0" anchor="t">
            <a:spAutoFit/>
          </a:bodyPr>
          <a:lstStyle/>
          <a:p>
            <a:pPr algn="l">
              <a:spcAft>
                <a:spcPts val="400"/>
              </a:spcAft>
            </a:pPr>
            <a:r>
              <a:rPr sz="850" b="1" spc="220">
                <a:solidFill>
                  <a:srgbClr val="FB923C"/>
                </a:solidFill>
                <a:latin typeface="Segoe UI"/>
              </a:rPr>
              <a:t>UP NEXT</a:t>
            </a:r>
          </a:p>
          <a:p>
            <a:pPr algn="l">
              <a:spcAft>
                <a:spcPts val="400"/>
              </a:spcAft>
            </a:pPr>
            <a:r>
              <a:rPr sz="1050" b="0">
                <a:solidFill>
                  <a:srgbClr val="E7E5E4"/>
                </a:solidFill>
                <a:latin typeface="Segoe UI"/>
              </a:rPr>
              <a:t>Module 10 - Stream Processing</a:t>
            </a:r>
          </a:p>
          <a:p>
            <a:pPr algn="l">
              <a:spcAft>
                <a:spcPts val="400"/>
              </a:spcAft>
            </a:pPr>
            <a:r>
              <a:rPr sz="850" b="0">
                <a:solidFill>
                  <a:srgbClr val="A8A29E"/>
                </a:solidFill>
                <a:latin typeface="Segoe UI"/>
              </a:rPr>
              <a:t>Flink and Kafka Streams</a:t>
            </a:r>
          </a:p>
        </p:txBody>
      </p:sp>
      <p:sp>
        <p:nvSpPr>
          <p:cNvPr id="27" name="a3u_src26"/>
          <p:cNvSpPr/>
          <p:nvPr/>
        </p:nvSpPr>
        <p:spPr>
          <a:xfrm>
            <a:off x="6263640" y="2514600"/>
            <a:ext cx="2423160" cy="1188720"/>
          </a:xfrm>
          <a:prstGeom prst="roundRect">
            <a:avLst>
              <a:gd name="adj" fmla="val 7692"/>
            </a:avLst>
          </a:prstGeom>
          <a:solidFill>
            <a:srgbClr val="27272A"/>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3u_srct27"/>
          <p:cNvSpPr txBox="1"/>
          <p:nvPr/>
        </p:nvSpPr>
        <p:spPr>
          <a:xfrm>
            <a:off x="6446520" y="2633472"/>
            <a:ext cx="2103120" cy="960120"/>
          </a:xfrm>
          <a:prstGeom prst="rect">
            <a:avLst/>
          </a:prstGeom>
          <a:noFill/>
        </p:spPr>
        <p:txBody>
          <a:bodyPr wrap="square" lIns="0" tIns="0" rIns="0" bIns="0" anchor="t">
            <a:spAutoFit/>
          </a:bodyPr>
          <a:lstStyle/>
          <a:p>
            <a:pPr algn="l">
              <a:spcAft>
                <a:spcPts val="400"/>
              </a:spcAft>
            </a:pPr>
            <a:r>
              <a:rPr sz="850" b="1" spc="220">
                <a:solidFill>
                  <a:srgbClr val="FB923C"/>
                </a:solidFill>
                <a:latin typeface="Segoe UI"/>
              </a:rPr>
              <a:t>SOURCE</a:t>
            </a:r>
          </a:p>
          <a:p>
            <a:pPr algn="l">
              <a:spcAft>
                <a:spcPts val="400"/>
              </a:spcAft>
            </a:pPr>
            <a:r>
              <a:rPr sz="850" b="0">
                <a:solidFill>
                  <a:srgbClr val="D6D3D1"/>
                </a:solidFill>
                <a:latin typeface="Segoe UI"/>
              </a:rPr>
              <a:t>Apache Kafka 101, Kafka Connect - Tim Berglund, Confluent Developer (developer.confluent.io)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4" presetID="2" presetClass="entr" presetSubtype="4"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ppt_y+0.1"/>
                                          </p:val>
                                        </p:tav>
                                        <p:tav tm="100000">
                                          <p:val>
                                            <p:strVal val="#ppt_y"/>
                                          </p:val>
                                        </p:tav>
                                      </p:tavLst>
                                    </p:anim>
                                    <p:animEffect transition="in" filter="fade">
                                      <p:cBhvr>
                                        <p:cTn id="13" dur="500"/>
                                        <p:tgtEl>
                                          <p:spTgt spid="10"/>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fill="hold"/>
                                        <p:tgtEl>
                                          <p:spTgt spid="11"/>
                                        </p:tgtEl>
                                        <p:attrNameLst>
                                          <p:attrName>ppt_x</p:attrName>
                                        </p:attrNameLst>
                                      </p:cBhvr>
                                      <p:tavLst>
                                        <p:tav tm="0">
                                          <p:val>
                                            <p:strVal val="#ppt_x"/>
                                          </p:val>
                                        </p:tav>
                                        <p:tav tm="100000">
                                          <p:val>
                                            <p:strVal val="#ppt_x"/>
                                          </p:val>
                                        </p:tav>
                                      </p:tavLst>
                                    </p:anim>
                                    <p:anim calcmode="lin" valueType="num">
                                      <p:cBhvr additive="base">
                                        <p:cTn id="17" dur="500" fill="hold"/>
                                        <p:tgtEl>
                                          <p:spTgt spid="11"/>
                                        </p:tgtEl>
                                        <p:attrNameLst>
                                          <p:attrName>ppt_y</p:attrName>
                                        </p:attrNameLst>
                                      </p:cBhvr>
                                      <p:tavLst>
                                        <p:tav tm="0">
                                          <p:val>
                                            <p:strVal val="#ppt_y+0.1"/>
                                          </p:val>
                                        </p:tav>
                                        <p:tav tm="100000">
                                          <p:val>
                                            <p:strVal val="#ppt_y"/>
                                          </p:val>
                                        </p:tav>
                                      </p:tavLst>
                                    </p:anim>
                                    <p:animEffect transition="in" filter="fade">
                                      <p:cBhvr>
                                        <p:cTn id="18" dur="500"/>
                                        <p:tgtEl>
                                          <p:spTgt spid="11"/>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ppt_y+0.1"/>
                                          </p:val>
                                        </p:tav>
                                        <p:tav tm="100000">
                                          <p:val>
                                            <p:strVal val="#ppt_y"/>
                                          </p:val>
                                        </p:tav>
                                      </p:tavLst>
                                    </p:anim>
                                    <p:animEffect transition="in" filter="fade">
                                      <p:cBhvr>
                                        <p:cTn id="23" dur="500"/>
                                        <p:tgtEl>
                                          <p:spTgt spid="12"/>
                                        </p:tgtEl>
                                      </p:cBhvr>
                                    </p:animEffect>
                                  </p:childTnLst>
                                </p:cTn>
                              </p:par>
                              <p:par>
                                <p:cTn id="29" presetID="2" presetClass="entr" presetSubtype="4" fill="hold" grpId="0" nodeType="withEffect">
                                  <p:stCondLst>
                                    <p:cond delay="200"/>
                                  </p:stCondLst>
                                  <p:childTnLst>
                                    <p:set>
                                      <p:cBhvr>
                                        <p:cTn id="25" dur="1" fill="hold">
                                          <p:stCondLst>
                                            <p:cond delay="0"/>
                                          </p:stCondLst>
                                        </p:cTn>
                                        <p:tgtEl>
                                          <p:spTgt spid="13"/>
                                        </p:tgtEl>
                                        <p:attrNameLst>
                                          <p:attrName>style.visibility</p:attrName>
                                        </p:attrNameLst>
                                      </p:cBhvr>
                                      <p:to>
                                        <p:strVal val="visible"/>
                                      </p:to>
                                    </p:set>
                                    <p:anim calcmode="lin" valueType="num">
                                      <p:cBhvr additive="base">
                                        <p:cTn id="26" dur="500" fill="hold"/>
                                        <p:tgtEl>
                                          <p:spTgt spid="13"/>
                                        </p:tgtEl>
                                        <p:attrNameLst>
                                          <p:attrName>ppt_x</p:attrName>
                                        </p:attrNameLst>
                                      </p:cBhvr>
                                      <p:tavLst>
                                        <p:tav tm="0">
                                          <p:val>
                                            <p:strVal val="#ppt_x"/>
                                          </p:val>
                                        </p:tav>
                                        <p:tav tm="100000">
                                          <p:val>
                                            <p:strVal val="#ppt_x"/>
                                          </p:val>
                                        </p:tav>
                                      </p:tavLst>
                                    </p:anim>
                                    <p:anim calcmode="lin" valueType="num">
                                      <p:cBhvr additive="base">
                                        <p:cTn id="27" dur="500" fill="hold"/>
                                        <p:tgtEl>
                                          <p:spTgt spid="13"/>
                                        </p:tgtEl>
                                        <p:attrNameLst>
                                          <p:attrName>ppt_y</p:attrName>
                                        </p:attrNameLst>
                                      </p:cBhvr>
                                      <p:tavLst>
                                        <p:tav tm="0">
                                          <p:val>
                                            <p:strVal val="#ppt_y+0.1"/>
                                          </p:val>
                                        </p:tav>
                                        <p:tav tm="100000">
                                          <p:val>
                                            <p:strVal val="#ppt_y"/>
                                          </p:val>
                                        </p:tav>
                                      </p:tavLst>
                                    </p:anim>
                                    <p:animEffect transition="in" filter="fade">
                                      <p:cBhvr>
                                        <p:cTn id="28" dur="500"/>
                                        <p:tgtEl>
                                          <p:spTgt spid="13"/>
                                        </p:tgtEl>
                                      </p:cBhvr>
                                    </p:animEffect>
                                  </p:childTnLst>
                                </p:cTn>
                              </p:par>
                              <p:par>
                                <p:cTn id="34" presetID="2" presetClass="entr" presetSubtype="4" fill="hold" grpId="0" nodeType="withEffect">
                                  <p:stCondLst>
                                    <p:cond delay="20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ppt_y+0.1"/>
                                          </p:val>
                                        </p:tav>
                                        <p:tav tm="100000">
                                          <p:val>
                                            <p:strVal val="#ppt_y"/>
                                          </p:val>
                                        </p:tav>
                                      </p:tavLst>
                                    </p:anim>
                                    <p:animEffect transition="in" filter="fade">
                                      <p:cBhvr>
                                        <p:cTn id="33" dur="500"/>
                                        <p:tgtEl>
                                          <p:spTgt spid="14"/>
                                        </p:tgtEl>
                                      </p:cBhvr>
                                    </p:animEffect>
                                  </p:childTnLst>
                                </p:cTn>
                              </p:par>
                              <p:par>
                                <p:cTn id="39" presetID="2" presetClass="entr" presetSubtype="4" fill="hold" grpId="0" nodeType="withEffect">
                                  <p:stCondLst>
                                    <p:cond delay="200"/>
                                  </p:stCondLst>
                                  <p:childTnLst>
                                    <p:set>
                                      <p:cBhvr>
                                        <p:cTn id="35" dur="1" fill="hold">
                                          <p:stCondLst>
                                            <p:cond delay="0"/>
                                          </p:stCondLst>
                                        </p:cTn>
                                        <p:tgtEl>
                                          <p:spTgt spid="15"/>
                                        </p:tgtEl>
                                        <p:attrNameLst>
                                          <p:attrName>style.visibility</p:attrName>
                                        </p:attrNameLst>
                                      </p:cBhvr>
                                      <p:to>
                                        <p:strVal val="visible"/>
                                      </p:to>
                                    </p:set>
                                    <p:anim calcmode="lin" valueType="num">
                                      <p:cBhvr additive="base">
                                        <p:cTn id="36" dur="500" fill="hold"/>
                                        <p:tgtEl>
                                          <p:spTgt spid="15"/>
                                        </p:tgtEl>
                                        <p:attrNameLst>
                                          <p:attrName>ppt_x</p:attrName>
                                        </p:attrNameLst>
                                      </p:cBhvr>
                                      <p:tavLst>
                                        <p:tav tm="0">
                                          <p:val>
                                            <p:strVal val="#ppt_x"/>
                                          </p:val>
                                        </p:tav>
                                        <p:tav tm="100000">
                                          <p:val>
                                            <p:strVal val="#ppt_x"/>
                                          </p:val>
                                        </p:tav>
                                      </p:tavLst>
                                    </p:anim>
                                    <p:anim calcmode="lin" valueType="num">
                                      <p:cBhvr additive="base">
                                        <p:cTn id="37" dur="500" fill="hold"/>
                                        <p:tgtEl>
                                          <p:spTgt spid="15"/>
                                        </p:tgtEl>
                                        <p:attrNameLst>
                                          <p:attrName>ppt_y</p:attrName>
                                        </p:attrNameLst>
                                      </p:cBhvr>
                                      <p:tavLst>
                                        <p:tav tm="0">
                                          <p:val>
                                            <p:strVal val="#ppt_y+0.1"/>
                                          </p:val>
                                        </p:tav>
                                        <p:tav tm="100000">
                                          <p:val>
                                            <p:strVal val="#ppt_y"/>
                                          </p:val>
                                        </p:tav>
                                      </p:tavLst>
                                    </p:anim>
                                    <p:animEffect transition="in" filter="fade">
                                      <p:cBhvr>
                                        <p:cTn id="38" dur="500"/>
                                        <p:tgtEl>
                                          <p:spTgt spid="15"/>
                                        </p:tgtEl>
                                      </p:cBhvr>
                                    </p:animEffect>
                                  </p:childTnLst>
                                </p:cTn>
                              </p:par>
                              <p:par>
                                <p:cTn id="44" presetID="2" presetClass="entr" presetSubtype="4" fill="hold" grpId="0" nodeType="withEffect">
                                  <p:stCondLst>
                                    <p:cond delay="400"/>
                                  </p:stCondLst>
                                  <p:childTnLst>
                                    <p:set>
                                      <p:cBhvr>
                                        <p:cTn id="40" dur="1" fill="hold">
                                          <p:stCondLst>
                                            <p:cond delay="0"/>
                                          </p:stCondLst>
                                        </p:cTn>
                                        <p:tgtEl>
                                          <p:spTgt spid="16"/>
                                        </p:tgtEl>
                                        <p:attrNameLst>
                                          <p:attrName>style.visibility</p:attrName>
                                        </p:attrNameLst>
                                      </p:cBhvr>
                                      <p:to>
                                        <p:strVal val="visible"/>
                                      </p:to>
                                    </p:set>
                                    <p:anim calcmode="lin" valueType="num">
                                      <p:cBhvr additive="base">
                                        <p:cTn id="41" dur="500" fill="hold"/>
                                        <p:tgtEl>
                                          <p:spTgt spid="16"/>
                                        </p:tgtEl>
                                        <p:attrNameLst>
                                          <p:attrName>ppt_x</p:attrName>
                                        </p:attrNameLst>
                                      </p:cBhvr>
                                      <p:tavLst>
                                        <p:tav tm="0">
                                          <p:val>
                                            <p:strVal val="#ppt_x"/>
                                          </p:val>
                                        </p:tav>
                                        <p:tav tm="100000">
                                          <p:val>
                                            <p:strVal val="#ppt_x"/>
                                          </p:val>
                                        </p:tav>
                                      </p:tavLst>
                                    </p:anim>
                                    <p:anim calcmode="lin" valueType="num">
                                      <p:cBhvr additive="base">
                                        <p:cTn id="42" dur="500" fill="hold"/>
                                        <p:tgtEl>
                                          <p:spTgt spid="16"/>
                                        </p:tgtEl>
                                        <p:attrNameLst>
                                          <p:attrName>ppt_y</p:attrName>
                                        </p:attrNameLst>
                                      </p:cBhvr>
                                      <p:tavLst>
                                        <p:tav tm="0">
                                          <p:val>
                                            <p:strVal val="#ppt_y+0.1"/>
                                          </p:val>
                                        </p:tav>
                                        <p:tav tm="100000">
                                          <p:val>
                                            <p:strVal val="#ppt_y"/>
                                          </p:val>
                                        </p:tav>
                                      </p:tavLst>
                                    </p:anim>
                                    <p:animEffect transition="in" filter="fade">
                                      <p:cBhvr>
                                        <p:cTn id="43" dur="500"/>
                                        <p:tgtEl>
                                          <p:spTgt spid="16"/>
                                        </p:tgtEl>
                                      </p:cBhvr>
                                    </p:animEffect>
                                  </p:childTnLst>
                                </p:cTn>
                              </p:par>
                              <p:par>
                                <p:cTn id="49" presetID="2" presetClass="entr" presetSubtype="4" fill="hold" grpId="0" nodeType="withEffect">
                                  <p:stCondLst>
                                    <p:cond delay="400"/>
                                  </p:stCondLst>
                                  <p:childTnLst>
                                    <p:set>
                                      <p:cBhvr>
                                        <p:cTn id="45" dur="1" fill="hold">
                                          <p:stCondLst>
                                            <p:cond delay="0"/>
                                          </p:stCondLst>
                                        </p:cTn>
                                        <p:tgtEl>
                                          <p:spTgt spid="17"/>
                                        </p:tgtEl>
                                        <p:attrNameLst>
                                          <p:attrName>style.visibility</p:attrName>
                                        </p:attrNameLst>
                                      </p:cBhvr>
                                      <p:to>
                                        <p:strVal val="visible"/>
                                      </p:to>
                                    </p:set>
                                    <p:anim calcmode="lin" valueType="num">
                                      <p:cBhvr additive="base">
                                        <p:cTn id="46" dur="500" fill="hold"/>
                                        <p:tgtEl>
                                          <p:spTgt spid="17"/>
                                        </p:tgtEl>
                                        <p:attrNameLst>
                                          <p:attrName>ppt_x</p:attrName>
                                        </p:attrNameLst>
                                      </p:cBhvr>
                                      <p:tavLst>
                                        <p:tav tm="0">
                                          <p:val>
                                            <p:strVal val="#ppt_x"/>
                                          </p:val>
                                        </p:tav>
                                        <p:tav tm="100000">
                                          <p:val>
                                            <p:strVal val="#ppt_x"/>
                                          </p:val>
                                        </p:tav>
                                      </p:tavLst>
                                    </p:anim>
                                    <p:anim calcmode="lin" valueType="num">
                                      <p:cBhvr additive="base">
                                        <p:cTn id="47" dur="500" fill="hold"/>
                                        <p:tgtEl>
                                          <p:spTgt spid="17"/>
                                        </p:tgtEl>
                                        <p:attrNameLst>
                                          <p:attrName>ppt_y</p:attrName>
                                        </p:attrNameLst>
                                      </p:cBhvr>
                                      <p:tavLst>
                                        <p:tav tm="0">
                                          <p:val>
                                            <p:strVal val="#ppt_y+0.1"/>
                                          </p:val>
                                        </p:tav>
                                        <p:tav tm="100000">
                                          <p:val>
                                            <p:strVal val="#ppt_y"/>
                                          </p:val>
                                        </p:tav>
                                      </p:tavLst>
                                    </p:anim>
                                    <p:animEffect transition="in" filter="fade">
                                      <p:cBhvr>
                                        <p:cTn id="48" dur="500"/>
                                        <p:tgtEl>
                                          <p:spTgt spid="17"/>
                                        </p:tgtEl>
                                      </p:cBhvr>
                                    </p:animEffect>
                                  </p:childTnLst>
                                </p:cTn>
                              </p:par>
                              <p:par>
                                <p:cTn id="54" presetID="2" presetClass="entr" presetSubtype="4" fill="hold" grpId="0" nodeType="withEffect">
                                  <p:stCondLst>
                                    <p:cond delay="40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500" fill="hold"/>
                                        <p:tgtEl>
                                          <p:spTgt spid="18"/>
                                        </p:tgtEl>
                                        <p:attrNameLst>
                                          <p:attrName>ppt_x</p:attrName>
                                        </p:attrNameLst>
                                      </p:cBhvr>
                                      <p:tavLst>
                                        <p:tav tm="0">
                                          <p:val>
                                            <p:strVal val="#ppt_x"/>
                                          </p:val>
                                        </p:tav>
                                        <p:tav tm="100000">
                                          <p:val>
                                            <p:strVal val="#ppt_x"/>
                                          </p:val>
                                        </p:tav>
                                      </p:tavLst>
                                    </p:anim>
                                    <p:anim calcmode="lin" valueType="num">
                                      <p:cBhvr additive="base">
                                        <p:cTn id="52" dur="500" fill="hold"/>
                                        <p:tgtEl>
                                          <p:spTgt spid="18"/>
                                        </p:tgtEl>
                                        <p:attrNameLst>
                                          <p:attrName>ppt_y</p:attrName>
                                        </p:attrNameLst>
                                      </p:cBhvr>
                                      <p:tavLst>
                                        <p:tav tm="0">
                                          <p:val>
                                            <p:strVal val="#ppt_y+0.1"/>
                                          </p:val>
                                        </p:tav>
                                        <p:tav tm="100000">
                                          <p:val>
                                            <p:strVal val="#ppt_y"/>
                                          </p:val>
                                        </p:tav>
                                      </p:tavLst>
                                    </p:anim>
                                    <p:animEffect transition="in" filter="fade">
                                      <p:cBhvr>
                                        <p:cTn id="53" dur="500"/>
                                        <p:tgtEl>
                                          <p:spTgt spid="18"/>
                                        </p:tgtEl>
                                      </p:cBhvr>
                                    </p:animEffect>
                                  </p:childTnLst>
                                </p:cTn>
                              </p:par>
                              <p:par>
                                <p:cTn id="59" presetID="2" presetClass="entr" presetSubtype="4" fill="hold" grpId="0" nodeType="withEffect">
                                  <p:stCondLst>
                                    <p:cond delay="600"/>
                                  </p:stCondLst>
                                  <p:childTnLst>
                                    <p:set>
                                      <p:cBhvr>
                                        <p:cTn id="55" dur="1" fill="hold">
                                          <p:stCondLst>
                                            <p:cond delay="0"/>
                                          </p:stCondLst>
                                        </p:cTn>
                                        <p:tgtEl>
                                          <p:spTgt spid="19"/>
                                        </p:tgtEl>
                                        <p:attrNameLst>
                                          <p:attrName>style.visibility</p:attrName>
                                        </p:attrNameLst>
                                      </p:cBhvr>
                                      <p:to>
                                        <p:strVal val="visible"/>
                                      </p:to>
                                    </p:set>
                                    <p:anim calcmode="lin" valueType="num">
                                      <p:cBhvr additive="base">
                                        <p:cTn id="56" dur="500" fill="hold"/>
                                        <p:tgtEl>
                                          <p:spTgt spid="19"/>
                                        </p:tgtEl>
                                        <p:attrNameLst>
                                          <p:attrName>ppt_x</p:attrName>
                                        </p:attrNameLst>
                                      </p:cBhvr>
                                      <p:tavLst>
                                        <p:tav tm="0">
                                          <p:val>
                                            <p:strVal val="#ppt_x"/>
                                          </p:val>
                                        </p:tav>
                                        <p:tav tm="100000">
                                          <p:val>
                                            <p:strVal val="#ppt_x"/>
                                          </p:val>
                                        </p:tav>
                                      </p:tavLst>
                                    </p:anim>
                                    <p:anim calcmode="lin" valueType="num">
                                      <p:cBhvr additive="base">
                                        <p:cTn id="57" dur="500" fill="hold"/>
                                        <p:tgtEl>
                                          <p:spTgt spid="19"/>
                                        </p:tgtEl>
                                        <p:attrNameLst>
                                          <p:attrName>ppt_y</p:attrName>
                                        </p:attrNameLst>
                                      </p:cBhvr>
                                      <p:tavLst>
                                        <p:tav tm="0">
                                          <p:val>
                                            <p:strVal val="#ppt_y+0.1"/>
                                          </p:val>
                                        </p:tav>
                                        <p:tav tm="100000">
                                          <p:val>
                                            <p:strVal val="#ppt_y"/>
                                          </p:val>
                                        </p:tav>
                                      </p:tavLst>
                                    </p:anim>
                                    <p:animEffect transition="in" filter="fade">
                                      <p:cBhvr>
                                        <p:cTn id="58" dur="500"/>
                                        <p:tgtEl>
                                          <p:spTgt spid="19"/>
                                        </p:tgtEl>
                                      </p:cBhvr>
                                    </p:animEffect>
                                  </p:childTnLst>
                                </p:cTn>
                              </p:par>
                              <p:par>
                                <p:cTn id="64" presetID="2" presetClass="entr" presetSubtype="4" fill="hold" grpId="0" nodeType="withEffect">
                                  <p:stCondLst>
                                    <p:cond delay="600"/>
                                  </p:stCondLst>
                                  <p:childTnLst>
                                    <p:set>
                                      <p:cBhvr>
                                        <p:cTn id="60" dur="1" fill="hold">
                                          <p:stCondLst>
                                            <p:cond delay="0"/>
                                          </p:stCondLst>
                                        </p:cTn>
                                        <p:tgtEl>
                                          <p:spTgt spid="20"/>
                                        </p:tgtEl>
                                        <p:attrNameLst>
                                          <p:attrName>style.visibility</p:attrName>
                                        </p:attrNameLst>
                                      </p:cBhvr>
                                      <p:to>
                                        <p:strVal val="visible"/>
                                      </p:to>
                                    </p:set>
                                    <p:anim calcmode="lin" valueType="num">
                                      <p:cBhvr additive="base">
                                        <p:cTn id="61" dur="500" fill="hold"/>
                                        <p:tgtEl>
                                          <p:spTgt spid="20"/>
                                        </p:tgtEl>
                                        <p:attrNameLst>
                                          <p:attrName>ppt_x</p:attrName>
                                        </p:attrNameLst>
                                      </p:cBhvr>
                                      <p:tavLst>
                                        <p:tav tm="0">
                                          <p:val>
                                            <p:strVal val="#ppt_x"/>
                                          </p:val>
                                        </p:tav>
                                        <p:tav tm="100000">
                                          <p:val>
                                            <p:strVal val="#ppt_x"/>
                                          </p:val>
                                        </p:tav>
                                      </p:tavLst>
                                    </p:anim>
                                    <p:anim calcmode="lin" valueType="num">
                                      <p:cBhvr additive="base">
                                        <p:cTn id="62" dur="500" fill="hold"/>
                                        <p:tgtEl>
                                          <p:spTgt spid="20"/>
                                        </p:tgtEl>
                                        <p:attrNameLst>
                                          <p:attrName>ppt_y</p:attrName>
                                        </p:attrNameLst>
                                      </p:cBhvr>
                                      <p:tavLst>
                                        <p:tav tm="0">
                                          <p:val>
                                            <p:strVal val="#ppt_y+0.1"/>
                                          </p:val>
                                        </p:tav>
                                        <p:tav tm="100000">
                                          <p:val>
                                            <p:strVal val="#ppt_y"/>
                                          </p:val>
                                        </p:tav>
                                      </p:tavLst>
                                    </p:anim>
                                    <p:animEffect transition="in" filter="fade">
                                      <p:cBhvr>
                                        <p:cTn id="63" dur="500"/>
                                        <p:tgtEl>
                                          <p:spTgt spid="20"/>
                                        </p:tgtEl>
                                      </p:cBhvr>
                                    </p:animEffect>
                                  </p:childTnLst>
                                </p:cTn>
                              </p:par>
                              <p:par>
                                <p:cTn id="69" presetID="2" presetClass="entr" presetSubtype="4" fill="hold" grpId="0" nodeType="withEffect">
                                  <p:stCondLst>
                                    <p:cond delay="600"/>
                                  </p:stCondLst>
                                  <p:childTnLst>
                                    <p:set>
                                      <p:cBhvr>
                                        <p:cTn id="65" dur="1" fill="hold">
                                          <p:stCondLst>
                                            <p:cond delay="0"/>
                                          </p:stCondLst>
                                        </p:cTn>
                                        <p:tgtEl>
                                          <p:spTgt spid="21"/>
                                        </p:tgtEl>
                                        <p:attrNameLst>
                                          <p:attrName>style.visibility</p:attrName>
                                        </p:attrNameLst>
                                      </p:cBhvr>
                                      <p:to>
                                        <p:strVal val="visible"/>
                                      </p:to>
                                    </p:set>
                                    <p:anim calcmode="lin" valueType="num">
                                      <p:cBhvr additive="base">
                                        <p:cTn id="66" dur="500" fill="hold"/>
                                        <p:tgtEl>
                                          <p:spTgt spid="21"/>
                                        </p:tgtEl>
                                        <p:attrNameLst>
                                          <p:attrName>ppt_x</p:attrName>
                                        </p:attrNameLst>
                                      </p:cBhvr>
                                      <p:tavLst>
                                        <p:tav tm="0">
                                          <p:val>
                                            <p:strVal val="#ppt_x"/>
                                          </p:val>
                                        </p:tav>
                                        <p:tav tm="100000">
                                          <p:val>
                                            <p:strVal val="#ppt_x"/>
                                          </p:val>
                                        </p:tav>
                                      </p:tavLst>
                                    </p:anim>
                                    <p:anim calcmode="lin" valueType="num">
                                      <p:cBhvr additive="base">
                                        <p:cTn id="67" dur="500" fill="hold"/>
                                        <p:tgtEl>
                                          <p:spTgt spid="21"/>
                                        </p:tgtEl>
                                        <p:attrNameLst>
                                          <p:attrName>ppt_y</p:attrName>
                                        </p:attrNameLst>
                                      </p:cBhvr>
                                      <p:tavLst>
                                        <p:tav tm="0">
                                          <p:val>
                                            <p:strVal val="#ppt_y+0.1"/>
                                          </p:val>
                                        </p:tav>
                                        <p:tav tm="100000">
                                          <p:val>
                                            <p:strVal val="#ppt_y"/>
                                          </p:val>
                                        </p:tav>
                                      </p:tavLst>
                                    </p:anim>
                                    <p:animEffect transition="in" filter="fade">
                                      <p:cBhvr>
                                        <p:cTn id="68" dur="500"/>
                                        <p:tgtEl>
                                          <p:spTgt spid="21"/>
                                        </p:tgtEl>
                                      </p:cBhvr>
                                    </p:animEffect>
                                  </p:childTnLst>
                                </p:cTn>
                              </p:par>
                              <p:par>
                                <p:cTn id="74" presetID="2" presetClass="entr" presetSubtype="4" fill="hold" grpId="0" nodeType="withEffect">
                                  <p:stCondLst>
                                    <p:cond delay="800"/>
                                  </p:stCondLst>
                                  <p:childTnLst>
                                    <p:set>
                                      <p:cBhvr>
                                        <p:cTn id="70" dur="1" fill="hold">
                                          <p:stCondLst>
                                            <p:cond delay="0"/>
                                          </p:stCondLst>
                                        </p:cTn>
                                        <p:tgtEl>
                                          <p:spTgt spid="22"/>
                                        </p:tgtEl>
                                        <p:attrNameLst>
                                          <p:attrName>style.visibility</p:attrName>
                                        </p:attrNameLst>
                                      </p:cBhvr>
                                      <p:to>
                                        <p:strVal val="visible"/>
                                      </p:to>
                                    </p:set>
                                    <p:anim calcmode="lin" valueType="num">
                                      <p:cBhvr additive="base">
                                        <p:cTn id="71" dur="500" fill="hold"/>
                                        <p:tgtEl>
                                          <p:spTgt spid="22"/>
                                        </p:tgtEl>
                                        <p:attrNameLst>
                                          <p:attrName>ppt_x</p:attrName>
                                        </p:attrNameLst>
                                      </p:cBhvr>
                                      <p:tavLst>
                                        <p:tav tm="0">
                                          <p:val>
                                            <p:strVal val="#ppt_x"/>
                                          </p:val>
                                        </p:tav>
                                        <p:tav tm="100000">
                                          <p:val>
                                            <p:strVal val="#ppt_x"/>
                                          </p:val>
                                        </p:tav>
                                      </p:tavLst>
                                    </p:anim>
                                    <p:anim calcmode="lin" valueType="num">
                                      <p:cBhvr additive="base">
                                        <p:cTn id="72" dur="500" fill="hold"/>
                                        <p:tgtEl>
                                          <p:spTgt spid="22"/>
                                        </p:tgtEl>
                                        <p:attrNameLst>
                                          <p:attrName>ppt_y</p:attrName>
                                        </p:attrNameLst>
                                      </p:cBhvr>
                                      <p:tavLst>
                                        <p:tav tm="0">
                                          <p:val>
                                            <p:strVal val="#ppt_y+0.1"/>
                                          </p:val>
                                        </p:tav>
                                        <p:tav tm="100000">
                                          <p:val>
                                            <p:strVal val="#ppt_y"/>
                                          </p:val>
                                        </p:tav>
                                      </p:tavLst>
                                    </p:anim>
                                    <p:animEffect transition="in" filter="fade">
                                      <p:cBhvr>
                                        <p:cTn id="73" dur="500"/>
                                        <p:tgtEl>
                                          <p:spTgt spid="22"/>
                                        </p:tgtEl>
                                      </p:cBhvr>
                                    </p:animEffect>
                                  </p:childTnLst>
                                </p:cTn>
                              </p:par>
                              <p:par>
                                <p:cTn id="79" presetID="2" presetClass="entr" presetSubtype="4" fill="hold" grpId="0" nodeType="withEffect">
                                  <p:stCondLst>
                                    <p:cond delay="800"/>
                                  </p:stCondLst>
                                  <p:childTnLst>
                                    <p:set>
                                      <p:cBhvr>
                                        <p:cTn id="75" dur="1" fill="hold">
                                          <p:stCondLst>
                                            <p:cond delay="0"/>
                                          </p:stCondLst>
                                        </p:cTn>
                                        <p:tgtEl>
                                          <p:spTgt spid="23"/>
                                        </p:tgtEl>
                                        <p:attrNameLst>
                                          <p:attrName>style.visibility</p:attrName>
                                        </p:attrNameLst>
                                      </p:cBhvr>
                                      <p:to>
                                        <p:strVal val="visible"/>
                                      </p:to>
                                    </p:set>
                                    <p:anim calcmode="lin" valueType="num">
                                      <p:cBhvr additive="base">
                                        <p:cTn id="76" dur="500" fill="hold"/>
                                        <p:tgtEl>
                                          <p:spTgt spid="23"/>
                                        </p:tgtEl>
                                        <p:attrNameLst>
                                          <p:attrName>ppt_x</p:attrName>
                                        </p:attrNameLst>
                                      </p:cBhvr>
                                      <p:tavLst>
                                        <p:tav tm="0">
                                          <p:val>
                                            <p:strVal val="#ppt_x"/>
                                          </p:val>
                                        </p:tav>
                                        <p:tav tm="100000">
                                          <p:val>
                                            <p:strVal val="#ppt_x"/>
                                          </p:val>
                                        </p:tav>
                                      </p:tavLst>
                                    </p:anim>
                                    <p:anim calcmode="lin" valueType="num">
                                      <p:cBhvr additive="base">
                                        <p:cTn id="77" dur="500" fill="hold"/>
                                        <p:tgtEl>
                                          <p:spTgt spid="23"/>
                                        </p:tgtEl>
                                        <p:attrNameLst>
                                          <p:attrName>ppt_y</p:attrName>
                                        </p:attrNameLst>
                                      </p:cBhvr>
                                      <p:tavLst>
                                        <p:tav tm="0">
                                          <p:val>
                                            <p:strVal val="#ppt_y+0.1"/>
                                          </p:val>
                                        </p:tav>
                                        <p:tav tm="100000">
                                          <p:val>
                                            <p:strVal val="#ppt_y"/>
                                          </p:val>
                                        </p:tav>
                                      </p:tavLst>
                                    </p:anim>
                                    <p:animEffect transition="in" filter="fade">
                                      <p:cBhvr>
                                        <p:cTn id="78" dur="500"/>
                                        <p:tgtEl>
                                          <p:spTgt spid="23"/>
                                        </p:tgtEl>
                                      </p:cBhvr>
                                    </p:animEffect>
                                  </p:childTnLst>
                                </p:cTn>
                              </p:par>
                              <p:par>
                                <p:cTn id="84" presetID="2" presetClass="entr" presetSubtype="4" fill="hold" grpId="0" nodeType="withEffect">
                                  <p:stCondLst>
                                    <p:cond delay="800"/>
                                  </p:stCondLst>
                                  <p:childTnLst>
                                    <p:set>
                                      <p:cBhvr>
                                        <p:cTn id="80" dur="1" fill="hold">
                                          <p:stCondLst>
                                            <p:cond delay="0"/>
                                          </p:stCondLst>
                                        </p:cTn>
                                        <p:tgtEl>
                                          <p:spTgt spid="24"/>
                                        </p:tgtEl>
                                        <p:attrNameLst>
                                          <p:attrName>style.visibility</p:attrName>
                                        </p:attrNameLst>
                                      </p:cBhvr>
                                      <p:to>
                                        <p:strVal val="visible"/>
                                      </p:to>
                                    </p:set>
                                    <p:anim calcmode="lin" valueType="num">
                                      <p:cBhvr additive="base">
                                        <p:cTn id="81" dur="500" fill="hold"/>
                                        <p:tgtEl>
                                          <p:spTgt spid="24"/>
                                        </p:tgtEl>
                                        <p:attrNameLst>
                                          <p:attrName>ppt_x</p:attrName>
                                        </p:attrNameLst>
                                      </p:cBhvr>
                                      <p:tavLst>
                                        <p:tav tm="0">
                                          <p:val>
                                            <p:strVal val="#ppt_x"/>
                                          </p:val>
                                        </p:tav>
                                        <p:tav tm="100000">
                                          <p:val>
                                            <p:strVal val="#ppt_x"/>
                                          </p:val>
                                        </p:tav>
                                      </p:tavLst>
                                    </p:anim>
                                    <p:anim calcmode="lin" valueType="num">
                                      <p:cBhvr additive="base">
                                        <p:cTn id="82" dur="500" fill="hold"/>
                                        <p:tgtEl>
                                          <p:spTgt spid="24"/>
                                        </p:tgtEl>
                                        <p:attrNameLst>
                                          <p:attrName>ppt_y</p:attrName>
                                        </p:attrNameLst>
                                      </p:cBhvr>
                                      <p:tavLst>
                                        <p:tav tm="0">
                                          <p:val>
                                            <p:strVal val="#ppt_y+0.1"/>
                                          </p:val>
                                        </p:tav>
                                        <p:tav tm="100000">
                                          <p:val>
                                            <p:strVal val="#ppt_y"/>
                                          </p:val>
                                        </p:tav>
                                      </p:tavLst>
                                    </p:anim>
                                    <p:animEffect transition="in" filter="fade">
                                      <p:cBhvr>
                                        <p:cTn id="83" dur="500"/>
                                        <p:tgtEl>
                                          <p:spTgt spid="24"/>
                                        </p:tgtEl>
                                      </p:cBhvr>
                                    </p:animEffect>
                                  </p:childTnLst>
                                </p:cTn>
                              </p:par>
                            </p:childTnLst>
                          </p:cTn>
                        </p:par>
                      </p:childTnLst>
                    </p:cTn>
                  </p:par>
                  <p:par>
                    <p:cTn id="85" fill="hold">
                      <p:stCondLst>
                        <p:cond delay="indefinite"/>
                      </p:stCondLst>
                      <p:childTnLst>
                        <p:par>
                          <p:cTn id="86" fill="hold">
                            <p:stCondLst>
                              <p:cond delay="0"/>
                            </p:stCondLst>
                            <p:childTnLst>
                              <p:par>
                                <p:cTn id="91" presetID="2" presetClass="entr" presetSubtype="4" fill="hold" grpId="0" nodeType="clickEffect">
                                  <p:stCondLst>
                                    <p:cond delay="0"/>
                                  </p:stCondLst>
                                  <p:childTnLst>
                                    <p:set>
                                      <p:cBhvr>
                                        <p:cTn id="87" dur="1" fill="hold">
                                          <p:stCondLst>
                                            <p:cond delay="0"/>
                                          </p:stCondLst>
                                        </p:cTn>
                                        <p:tgtEl>
                                          <p:spTgt spid="25"/>
                                        </p:tgtEl>
                                        <p:attrNameLst>
                                          <p:attrName>style.visibility</p:attrName>
                                        </p:attrNameLst>
                                      </p:cBhvr>
                                      <p:to>
                                        <p:strVal val="visible"/>
                                      </p:to>
                                    </p:set>
                                    <p:anim calcmode="lin" valueType="num">
                                      <p:cBhvr additive="base">
                                        <p:cTn id="88" dur="500" fill="hold"/>
                                        <p:tgtEl>
                                          <p:spTgt spid="25"/>
                                        </p:tgtEl>
                                        <p:attrNameLst>
                                          <p:attrName>ppt_x</p:attrName>
                                        </p:attrNameLst>
                                      </p:cBhvr>
                                      <p:tavLst>
                                        <p:tav tm="0">
                                          <p:val>
                                            <p:strVal val="#ppt_x"/>
                                          </p:val>
                                        </p:tav>
                                        <p:tav tm="100000">
                                          <p:val>
                                            <p:strVal val="#ppt_x"/>
                                          </p:val>
                                        </p:tav>
                                      </p:tavLst>
                                    </p:anim>
                                    <p:anim calcmode="lin" valueType="num">
                                      <p:cBhvr additive="base">
                                        <p:cTn id="89" dur="500" fill="hold"/>
                                        <p:tgtEl>
                                          <p:spTgt spid="25"/>
                                        </p:tgtEl>
                                        <p:attrNameLst>
                                          <p:attrName>ppt_y</p:attrName>
                                        </p:attrNameLst>
                                      </p:cBhvr>
                                      <p:tavLst>
                                        <p:tav tm="0">
                                          <p:val>
                                            <p:strVal val="#ppt_y+0.1"/>
                                          </p:val>
                                        </p:tav>
                                        <p:tav tm="100000">
                                          <p:val>
                                            <p:strVal val="#ppt_y"/>
                                          </p:val>
                                        </p:tav>
                                      </p:tavLst>
                                    </p:anim>
                                    <p:animEffect transition="in" filter="fade">
                                      <p:cBhvr>
                                        <p:cTn id="90" dur="500"/>
                                        <p:tgtEl>
                                          <p:spTgt spid="25"/>
                                        </p:tgtEl>
                                      </p:cBhvr>
                                    </p:animEffect>
                                  </p:childTnLst>
                                </p:cTn>
                              </p:par>
                              <p:par>
                                <p:cTn id="96" presetID="2" presetClass="entr" presetSubtype="4" fill="hold" grpId="0" nodeType="withEffect">
                                  <p:stCondLst>
                                    <p:cond delay="0"/>
                                  </p:stCondLst>
                                  <p:childTnLst>
                                    <p:set>
                                      <p:cBhvr>
                                        <p:cTn id="92" dur="1" fill="hold">
                                          <p:stCondLst>
                                            <p:cond delay="0"/>
                                          </p:stCondLst>
                                        </p:cTn>
                                        <p:tgtEl>
                                          <p:spTgt spid="26"/>
                                        </p:tgtEl>
                                        <p:attrNameLst>
                                          <p:attrName>style.visibility</p:attrName>
                                        </p:attrNameLst>
                                      </p:cBhvr>
                                      <p:to>
                                        <p:strVal val="visible"/>
                                      </p:to>
                                    </p:set>
                                    <p:anim calcmode="lin" valueType="num">
                                      <p:cBhvr additive="base">
                                        <p:cTn id="93" dur="500" fill="hold"/>
                                        <p:tgtEl>
                                          <p:spTgt spid="26"/>
                                        </p:tgtEl>
                                        <p:attrNameLst>
                                          <p:attrName>ppt_x</p:attrName>
                                        </p:attrNameLst>
                                      </p:cBhvr>
                                      <p:tavLst>
                                        <p:tav tm="0">
                                          <p:val>
                                            <p:strVal val="#ppt_x"/>
                                          </p:val>
                                        </p:tav>
                                        <p:tav tm="100000">
                                          <p:val>
                                            <p:strVal val="#ppt_x"/>
                                          </p:val>
                                        </p:tav>
                                      </p:tavLst>
                                    </p:anim>
                                    <p:anim calcmode="lin" valueType="num">
                                      <p:cBhvr additive="base">
                                        <p:cTn id="94" dur="500" fill="hold"/>
                                        <p:tgtEl>
                                          <p:spTgt spid="26"/>
                                        </p:tgtEl>
                                        <p:attrNameLst>
                                          <p:attrName>ppt_y</p:attrName>
                                        </p:attrNameLst>
                                      </p:cBhvr>
                                      <p:tavLst>
                                        <p:tav tm="0">
                                          <p:val>
                                            <p:strVal val="#ppt_y+0.1"/>
                                          </p:val>
                                        </p:tav>
                                        <p:tav tm="100000">
                                          <p:val>
                                            <p:strVal val="#ppt_y"/>
                                          </p:val>
                                        </p:tav>
                                      </p:tavLst>
                                    </p:anim>
                                    <p:animEffect transition="in" filter="fade">
                                      <p:cBhvr>
                                        <p:cTn id="95" dur="500"/>
                                        <p:tgtEl>
                                          <p:spTgt spid="26"/>
                                        </p:tgtEl>
                                      </p:cBhvr>
                                    </p:animEffect>
                                  </p:childTnLst>
                                </p:cTn>
                              </p:par>
                            </p:childTnLst>
                          </p:cTn>
                        </p:par>
                      </p:childTnLst>
                    </p:cTn>
                  </p:par>
                  <p:par>
                    <p:cTn id="97" fill="hold">
                      <p:stCondLst>
                        <p:cond delay="indefinite"/>
                      </p:stCondLst>
                      <p:childTnLst>
                        <p:par>
                          <p:cTn id="98" fill="hold">
                            <p:stCondLst>
                              <p:cond delay="0"/>
                            </p:stCondLst>
                            <p:childTnLst>
                              <p:par>
                                <p:cTn id="103" presetID="2" presetClass="entr" presetSubtype="4" fill="hold" grpId="0" nodeType="clickEffect">
                                  <p:stCondLst>
                                    <p:cond delay="0"/>
                                  </p:stCondLst>
                                  <p:childTnLst>
                                    <p:set>
                                      <p:cBhvr>
                                        <p:cTn id="99" dur="1" fill="hold">
                                          <p:stCondLst>
                                            <p:cond delay="0"/>
                                          </p:stCondLst>
                                        </p:cTn>
                                        <p:tgtEl>
                                          <p:spTgt spid="27"/>
                                        </p:tgtEl>
                                        <p:attrNameLst>
                                          <p:attrName>style.visibility</p:attrName>
                                        </p:attrNameLst>
                                      </p:cBhvr>
                                      <p:to>
                                        <p:strVal val="visible"/>
                                      </p:to>
                                    </p:set>
                                    <p:anim calcmode="lin" valueType="num">
                                      <p:cBhvr additive="base">
                                        <p:cTn id="100" dur="500" fill="hold"/>
                                        <p:tgtEl>
                                          <p:spTgt spid="27"/>
                                        </p:tgtEl>
                                        <p:attrNameLst>
                                          <p:attrName>ppt_x</p:attrName>
                                        </p:attrNameLst>
                                      </p:cBhvr>
                                      <p:tavLst>
                                        <p:tav tm="0">
                                          <p:val>
                                            <p:strVal val="#ppt_x"/>
                                          </p:val>
                                        </p:tav>
                                        <p:tav tm="100000">
                                          <p:val>
                                            <p:strVal val="#ppt_x"/>
                                          </p:val>
                                        </p:tav>
                                      </p:tavLst>
                                    </p:anim>
                                    <p:anim calcmode="lin" valueType="num">
                                      <p:cBhvr additive="base">
                                        <p:cTn id="101" dur="500" fill="hold"/>
                                        <p:tgtEl>
                                          <p:spTgt spid="27"/>
                                        </p:tgtEl>
                                        <p:attrNameLst>
                                          <p:attrName>ppt_y</p:attrName>
                                        </p:attrNameLst>
                                      </p:cBhvr>
                                      <p:tavLst>
                                        <p:tav tm="0">
                                          <p:val>
                                            <p:strVal val="#ppt_y+0.1"/>
                                          </p:val>
                                        </p:tav>
                                        <p:tav tm="100000">
                                          <p:val>
                                            <p:strVal val="#ppt_y"/>
                                          </p:val>
                                        </p:tav>
                                      </p:tavLst>
                                    </p:anim>
                                    <p:animEffect transition="in" filter="fade">
                                      <p:cBhvr>
                                        <p:cTn id="102" dur="500"/>
                                        <p:tgtEl>
                                          <p:spTgt spid="27"/>
                                        </p:tgtEl>
                                      </p:cBhvr>
                                    </p:animEffect>
                                  </p:childTnLst>
                                </p:cTn>
                              </p:par>
                              <p:par>
                                <p:cTn id="108" presetID="2" presetClass="entr" presetSubtype="4" fill="hold" grpId="0" nodeType="withEffect">
                                  <p:stCondLst>
                                    <p:cond delay="0"/>
                                  </p:stCondLst>
                                  <p:childTnLst>
                                    <p:set>
                                      <p:cBhvr>
                                        <p:cTn id="104" dur="1" fill="hold">
                                          <p:stCondLst>
                                            <p:cond delay="0"/>
                                          </p:stCondLst>
                                        </p:cTn>
                                        <p:tgtEl>
                                          <p:spTgt spid="28"/>
                                        </p:tgtEl>
                                        <p:attrNameLst>
                                          <p:attrName>style.visibility</p:attrName>
                                        </p:attrNameLst>
                                      </p:cBhvr>
                                      <p:to>
                                        <p:strVal val="visible"/>
                                      </p:to>
                                    </p:set>
                                    <p:anim calcmode="lin" valueType="num">
                                      <p:cBhvr additive="base">
                                        <p:cTn id="105" dur="500" fill="hold"/>
                                        <p:tgtEl>
                                          <p:spTgt spid="28"/>
                                        </p:tgtEl>
                                        <p:attrNameLst>
                                          <p:attrName>ppt_x</p:attrName>
                                        </p:attrNameLst>
                                      </p:cBhvr>
                                      <p:tavLst>
                                        <p:tav tm="0">
                                          <p:val>
                                            <p:strVal val="#ppt_x"/>
                                          </p:val>
                                        </p:tav>
                                        <p:tav tm="100000">
                                          <p:val>
                                            <p:strVal val="#ppt_x"/>
                                          </p:val>
                                        </p:tav>
                                      </p:tavLst>
                                    </p:anim>
                                    <p:anim calcmode="lin" valueType="num">
                                      <p:cBhvr additive="base">
                                        <p:cTn id="106" dur="500" fill="hold"/>
                                        <p:tgtEl>
                                          <p:spTgt spid="28"/>
                                        </p:tgtEl>
                                        <p:attrNameLst>
                                          <p:attrName>ppt_y</p:attrName>
                                        </p:attrNameLst>
                                      </p:cBhvr>
                                      <p:tavLst>
                                        <p:tav tm="0">
                                          <p:val>
                                            <p:strVal val="#ppt_y+0.1"/>
                                          </p:val>
                                        </p:tav>
                                        <p:tav tm="100000">
                                          <p:val>
                                            <p:strVal val="#ppt_y"/>
                                          </p:val>
                                        </p:tav>
                                      </p:tavLst>
                                    </p:anim>
                                    <p:animEffect transition="in" filter="fade">
                                      <p:cBhvr>
                                        <p:cTn id="10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